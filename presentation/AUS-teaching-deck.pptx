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3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f2d28897-c5dc-c70b-79e4-23b0469a53e2}">
          <p14:sldIdLst>
            <p14:sldId id="256"/>
          </p14:sldIdLst>
        </p14:section>
        <p14:section name="Decide before theatre" id="{d71a1b57-d2d5-3024-c8e0-c72e7e426efd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The bladder" id="{c6f039be-4950-628b-b21d-2b84c3bc47bb}">
          <p14:sldIdLst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The urethra" id="{084271e9-cfee-a765-6fa4-fe0d055098b2}">
          <p14:sldIdLst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Preparation without ritual" id="{729e10b9-2bdd-7e8b-081d-90f8da9950a8}">
          <p14:sldIdLst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The operation" id="{3cff0ef5-e945-58f2-acf9-73bdf54852fe}">
          <p14:sldIdLst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After the implant" id="{856fe37d-f185-2bf7-5c90-f15e785a6404}">
          <p14:sldIdLst>
            <p14:sldId id="294"/>
            <p14:sldId id="295"/>
            <p14:sldId id="296"/>
            <p14:sldId id="297"/>
            <p14:sldId id="298"/>
            <p14:sldId id="299"/>
            <p14:sldId id="300"/>
          </p14:sldIdLst>
        </p14:section>
        <p14:section name="Backup and references" id="{6aaf3ef6-1dc3-aac5-4479-6fe3f6e7a96f}">
          <p14:sldIdLst>
            <p14:sldId id="301"/>
            <p14:sldId id="302"/>
            <p14:sldId id="303"/>
            <p14:sldId id="304"/>
            <p14:sldId id="305"/>
            <p14:sldId id="30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Pressure</c:v>
                </c:pt>
              </c:strCache>
            </c:strRef>
          </c:tx>
          <c:spPr>
            <a:solidFill>
              <a:srgbClr val="0F7F86"/>
            </a:solidFill>
            <a:ln w="38100" cap="flat">
              <a:solidFill>
                <a:srgbClr val="0F7F8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F7F86"/>
              </a:solidFill>
              <a:ln w="9525" cap="flat">
                <a:solidFill>
                  <a:srgbClr val="0F7F8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0.4</c:v>
                </c:pt>
                <c:pt idx="4">
                  <c:v>2.8</c:v>
                </c:pt>
                <c:pt idx="5">
                  <c:v>7</c:v>
                </c:pt>
                <c:pt idx="6">
                  <c:v>1.2</c:v>
                </c:pt>
                <c:pt idx="7">
                  <c:v>0.4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B7A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B7A"/>
                    </a:solidFill>
                    <a:latin typeface="+mn-lt"/>
                  </a:rPr>
                  <a:t>Increasing filling volume →  (arbitrary units)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B7A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B7A"/>
                    </a:solidFill>
                    <a:latin typeface="+mn-lt"/>
                  </a:rPr>
                  <a:t>Pressure ↑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Pressure</c:v>
                </c:pt>
              </c:strCache>
            </c:strRef>
          </c:tx>
          <c:spPr>
            <a:solidFill>
              <a:srgbClr val="C2482D"/>
            </a:solidFill>
            <a:ln w="38100" cap="flat">
              <a:solidFill>
                <a:srgbClr val="C248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2482D"/>
              </a:solidFill>
              <a:ln w="9525" cap="flat">
                <a:solidFill>
                  <a:srgbClr val="C2482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0.3</c:v>
                </c:pt>
                <c:pt idx="2">
                  <c:v>0.7</c:v>
                </c:pt>
                <c:pt idx="3">
                  <c:v>1.2</c:v>
                </c:pt>
                <c:pt idx="4">
                  <c:v>1.8</c:v>
                </c:pt>
                <c:pt idx="5">
                  <c:v>2.6</c:v>
                </c:pt>
                <c:pt idx="6">
                  <c:v>3.5</c:v>
                </c:pt>
                <c:pt idx="7">
                  <c:v>4.6</c:v>
                </c:pt>
                <c:pt idx="8">
                  <c:v>5.8</c:v>
                </c:pt>
                <c:pt idx="9">
                  <c:v>7.2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B7A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B7A"/>
                    </a:solidFill>
                    <a:latin typeface="+mn-lt"/>
                  </a:rPr>
                  <a:t>Increasing filling volume →  (arbitrary units)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B7A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B7A"/>
                    </a:solidFill>
                    <a:latin typeface="+mn-lt"/>
                  </a:rPr>
                  <a:t>Pressure ↑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Positive cultures</c:v>
                </c:pt>
              </c:strCache>
            </c:strRef>
          </c:tx>
          <c:spPr>
            <a:solidFill>
              <a:srgbClr val="0F7F86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F7F8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2482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Chlorhexidine–alcohol</c:v>
                  </c:pt>
                  <c:pt idx="1">
                    <c:v>Povidone–iodine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</c:v>
                </c:pt>
                <c:pt idx="1">
                  <c:v>32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6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2E8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3F4F6"/>
        </a:solidFill>
        <a:ln>
          <a:noFill/>
        </a:ln>
        <a:effectLst/>
      </c:spPr>
    </c:plotArea>
    <c:plotVisOnly val="1"/>
    <c:dispBlanksAs val="span"/>
  </c:chart>
  <c:spPr>
    <a:solidFill>
      <a:srgbClr val="F3F4F6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 teaching schematic of the implanted device, captured from https://uroops3d.com/lab/aus on 10 October 2026, with clinical review pending. It is not a record of an actual operation. No personal operative experience or local outcomes are asserted.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 source: Rigicon ContiClassic IFU, CC-IFU REV.03, 12 October 2023, printed page 1 (PDF page 4). https://www.rigicon.com/files/e-labeling/ContiClassic-IFU.pdf . Manufacturer illustration, shown for component identification, without a comparative superiority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Illustration: original AI-generated teaching schematic made on 5 October 2026 for this slide (presentation/assets/anatomical-narrowing-colour-annotations-2026.png; provenance and prompt in assets/SOURCES.md and anatomical-narrowing-generation-notes-2026.md). Terminology checked against the EAU urethral strictures classification. Simplified, not to scale, not clinically validated; no patient image or UroOps3D asset was 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3D, https://uroops3d.com/lab/aus . Captured 10 October 2026. © UroOps3D / UroRef / Nity G. Teaching schematic with clinical review pending. It illustrates spatial relationships, not validated anatomy, tissue perfusion or operative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3D, https://uroops3d.com/lab/aus . Captured 10 October 2026. © UroOps3D / UroRef / Nity G. Teaching schematic with clinical review pending. It illustrates spatial relationships, not validated anatomy, tissue perfusion or operative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3D, https://uroops3d.com/lab/aus . Captured 10 October 2026. © UroOps3D / UroRef / Nity G. Teaching schematic with clinical review pending. It illustrates spatial relationships, not validated anatomy, tissue perfusion or operative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3D, https://uroops3d.com/lab/aus . Captured 10 October 2026. © UroOps3D / UroRef / Nity G. Teaching schematic with clinical review pending. It illustrates spatial relationships, not validated anatomy, tissue perfusion or operative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3D, https://uroops3d.com/lab/aus . Captured 10 October 2026. © UroOps3D / UroRef / Nity G. Teaching schematic with clinical review pending. It illustrates spatial relationships, not validated anatomy, tissue perfusion or operative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3D, https://uroops3d.com/lab/aus . Captured 10 October 2026. © UroOps3D / UroRef / Nity G. Teaching schematic with clinical review pending. It illustrates spatial relationships, not validated anatomy, tissue perfusion or operative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s://uroops3d.com/lab/aus" TargetMode="External"/><Relationship Id="rId1" Type="http://schemas.openxmlformats.org/officeDocument/2006/relationships/image" Target="../media/image-3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11/bju.16726" TargetMode="External"/><Relationship Id="rId2" Type="http://schemas.openxmlformats.org/officeDocument/2006/relationships/hyperlink" Target="https://uroweb.org/guidelines/management-of-non-neurogenic-male-luts/chapter/disease-management" TargetMode="External"/><Relationship Id="rId3" Type="http://schemas.openxmlformats.org/officeDocument/2006/relationships/hyperlink" Target="https://www.auanet.org/documents/Guidelines/PDF/2024%20Guidelines/IPT%20Unabridged%20Final%206-18-24.pdf" TargetMode="External"/><Relationship Id="rId4" Type="http://schemas.openxmlformats.org/officeDocument/2006/relationships/hyperlink" Target="https://uroweb.org/guidelines/urethral-strictures/chapter/disease-management-in-males" TargetMode="External"/><Relationship Id="rId5" Type="http://schemas.openxmlformats.org/officeDocument/2006/relationships/hyperlink" Target="https://www.ics.org/folder/standardisation/current-ics-standardisations/d/artificial-urinary-sphincter-report-of-the-2015-consensus-conference/download" TargetMode="External"/><Relationship Id="rId6" Type="http://schemas.openxmlformats.org/officeDocument/2006/relationships/hyperlink" Target="https://doi.org/10.1111/iju.15083" TargetMode="External"/><Relationship Id="rId7" Type="http://schemas.openxmlformats.org/officeDocument/2006/relationships/hyperlink" Target="https://www.rigicon.com/files/e-labeling/ContiClassic-IFU.pdf" TargetMode="External"/><Relationship Id="rId8" Type="http://schemas.openxmlformats.org/officeDocument/2006/relationships/hyperlink" Target="https://doi.org/10.1002/nau.23124" TargetMode="External"/><Relationship Id="rId9" Type="http://schemas.openxmlformats.org/officeDocument/2006/relationships/hyperlink" Target="https://doi.org/10.1097/JU.0000000000003985" TargetMode="External"/><Relationship Id="rId10" Type="http://schemas.openxmlformats.org/officeDocument/2006/relationships/hyperlink" Target="https://www.nice.org.uk/guidance/ng125/chapter/recommendations" TargetMode="External"/><Relationship Id="rId11" Type="http://schemas.openxmlformats.org/officeDocument/2006/relationships/hyperlink" Target="https://www.who.int/publications/i/item/9789241597906" TargetMode="External"/><Relationship Id="rId12" Type="http://schemas.openxmlformats.org/officeDocument/2006/relationships/hyperlink" Target="https://www.medicines.org.uk/emc/product/101238/smpc" TargetMode="External"/><Relationship Id="rId13" Type="http://schemas.openxmlformats.org/officeDocument/2006/relationships/hyperlink" Target="https://www.idsociety.org/practice-guideline/asymptomatic-bacteriuria/" TargetMode="External"/><Relationship Id="rId14" Type="http://schemas.openxmlformats.org/officeDocument/2006/relationships/hyperlink" Target="https://doi.org/10.1097/JU.0000000000000509" TargetMode="External"/><Relationship Id="rId15" Type="http://schemas.openxmlformats.org/officeDocument/2006/relationships/hyperlink" Target="https://pubmed.ncbi.nlm.nih.gov/37543658/" TargetMode="External"/><Relationship Id="rId16" Type="http://schemas.openxmlformats.org/officeDocument/2006/relationships/hyperlink" Target="https://doi.org/10.3310/TBFZ0277" TargetMode="External"/><Relationship Id="rId17" Type="http://schemas.openxmlformats.org/officeDocument/2006/relationships/hyperlink" Target="https://pubmed.ncbi.nlm.nih.gov/19371935/" TargetMode="External"/><Relationship Id="rId18" Type="http://schemas.openxmlformats.org/officeDocument/2006/relationships/hyperlink" Target="https://pubmed.ncbi.nlm.nih.gov/21497853/" TargetMode="External"/><Relationship Id="rId19" Type="http://schemas.openxmlformats.org/officeDocument/2006/relationships/hyperlink" Target="https://doi.org/10.1002/bco2.442" TargetMode="External"/><Relationship Id="rId20" Type="http://schemas.openxmlformats.org/officeDocument/2006/relationships/hyperlink" Target="https://pubmed.ncbi.nlm.nih.gov/36921845/" TargetMode="External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hyperlink" Target="https://pubmed.ncbi.nlm.nih.gov/36906798/" TargetMode="External"/><Relationship Id="rId2" Type="http://schemas.openxmlformats.org/officeDocument/2006/relationships/hyperlink" Target="https://pubmed.ncbi.nlm.nih.gov/36332702/" TargetMode="External"/><Relationship Id="rId3" Type="http://schemas.openxmlformats.org/officeDocument/2006/relationships/hyperlink" Target="https://pubmed.ncbi.nlm.nih.gov/24074987/" TargetMode="External"/><Relationship Id="rId4" Type="http://schemas.openxmlformats.org/officeDocument/2006/relationships/hyperlink" Target="https://pubmed.ncbi.nlm.nih.gov/25483765/" TargetMode="External"/><Relationship Id="rId5" Type="http://schemas.openxmlformats.org/officeDocument/2006/relationships/hyperlink" Target="https://doi.org/10.3389/fsurg.2022.825239" TargetMode="External"/><Relationship Id="rId6" Type="http://schemas.openxmlformats.org/officeDocument/2006/relationships/hyperlink" Target="https://pubmed.ncbi.nlm.nih.gov/41022035/" TargetMode="External"/><Relationship Id="rId7" Type="http://schemas.openxmlformats.org/officeDocument/2006/relationships/hyperlink" Target="https://doi.org/10.5489/cuaj.6431" TargetMode="External"/><Relationship Id="rId8" Type="http://schemas.openxmlformats.org/officeDocument/2006/relationships/hyperlink" Target="https://pubmed.ncbi.nlm.nih.gov/36749394/" TargetMode="External"/><Relationship Id="rId9" Type="http://schemas.openxmlformats.org/officeDocument/2006/relationships/hyperlink" Target="https://doi.org/10.21037/tau.2019.07.18" TargetMode="External"/><Relationship Id="rId10" Type="http://schemas.openxmlformats.org/officeDocument/2006/relationships/hyperlink" Target="https://tau.amegroups.org/article/view/130351/html" TargetMode="External"/><Relationship Id="rId11" Type="http://schemas.openxmlformats.org/officeDocument/2006/relationships/hyperlink" Target="https://pubmed.ncbi.nlm.nih.gov/23164373/" TargetMode="External"/><Relationship Id="rId12" Type="http://schemas.openxmlformats.org/officeDocument/2006/relationships/hyperlink" Target="https://doi.org/10.1016/j.urology.2017.07.064" TargetMode="External"/><Relationship Id="rId13" Type="http://schemas.openxmlformats.org/officeDocument/2006/relationships/hyperlink" Target="https://doi.org/10.5152/tud.2023.22136" TargetMode="External"/><Relationship Id="rId14" Type="http://schemas.openxmlformats.org/officeDocument/2006/relationships/hyperlink" Target="https://pubmed.ncbi.nlm.nih.gov/26135815/" TargetMode="External"/><Relationship Id="rId15" Type="http://schemas.openxmlformats.org/officeDocument/2006/relationships/hyperlink" Target="https://pmc.ncbi.nlm.nih.gov/articles/PMC12794701/" TargetMode="External"/><Relationship Id="rId16" Type="http://schemas.openxmlformats.org/officeDocument/2006/relationships/hyperlink" Target="https://helpdesk.auanet.org/hc/en-us/articles/40948838469143-Guidelines" TargetMode="External"/><Relationship Id="rId17" Type="http://schemas.openxmlformats.org/officeDocument/2006/relationships/hyperlink" Target="https://journals.sagepub.com/doi/full/10.1177/20514158261451299" TargetMode="External"/><Relationship Id="rId18" Type="http://schemas.openxmlformats.org/officeDocument/2006/relationships/hyperlink" Target="https://journals.sagepub.com/doi/full/10.1177/20514158261451299" TargetMode="External"/><Relationship Id="rId19" Type="http://schemas.openxmlformats.org/officeDocument/2006/relationships/hyperlink" Target="https://doi.org/10.1097/01.JU.0001191316.72449.22.22" TargetMode="External"/><Relationship Id="rId20" Type="http://schemas.openxmlformats.org/officeDocument/2006/relationships/hyperlink" Target="https://doi.org/10.1097/01.JU.0001191316.72449.22.18" TargetMode="External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97/01.JU.0001191316.72449.22.17" TargetMode="External"/><Relationship Id="rId2" Type="http://schemas.openxmlformats.org/officeDocument/2006/relationships/hyperlink" Target="https://doi.org/10.1016/j.euf.2026.07.012" TargetMode="External"/><Relationship Id="rId3" Type="http://schemas.openxmlformats.org/officeDocument/2006/relationships/hyperlink" Target="https://doi.org/10.1016/j.urology.2026.05.024" TargetMode="External"/><Relationship Id="rId4" Type="http://schemas.openxmlformats.org/officeDocument/2006/relationships/hyperlink" Target="https://doi.org/10.3390/antibiotics15090894" TargetMode="External"/><Relationship Id="rId5" Type="http://schemas.openxmlformats.org/officeDocument/2006/relationships/hyperlink" Target="https://doi.org/10.1007/s11255-025-04711-y" TargetMode="External"/><Relationship Id="rId6" Type="http://schemas.openxmlformats.org/officeDocument/2006/relationships/hyperlink" Target="https://doi.org/10.1016/j.fjurol.2026.103135" TargetMode="External"/><Relationship Id="rId7" Type="http://schemas.openxmlformats.org/officeDocument/2006/relationships/hyperlink" Target="https://doi.org/10.1097/ju.0000000000005102" TargetMode="External"/><Relationship Id="rId8" Type="http://schemas.openxmlformats.org/officeDocument/2006/relationships/hyperlink" Target="https://doi.org/10.1111/bju.70224" TargetMode="External"/><Relationship Id="rId9" Type="http://schemas.openxmlformats.org/officeDocument/2006/relationships/hyperlink" Target="https://doi.org/10.1016/j.urology.2025.12.031" TargetMode="External"/><Relationship Id="rId10" Type="http://schemas.openxmlformats.org/officeDocument/2006/relationships/hyperlink" Target="https://doi.org/10.1016/j.euros.2025.12.006" TargetMode="External"/><Relationship Id="rId11" Type="http://schemas.openxmlformats.org/officeDocument/2006/relationships/hyperlink" Target="https://doi.org/10.1002/nau.70417" TargetMode="External"/><Relationship Id="rId12" Type="http://schemas.openxmlformats.org/officeDocument/2006/relationships/hyperlink" Target="https://doi.org/10.1007/s00345-026-06629-1" TargetMode="External"/><Relationship Id="rId13" Type="http://schemas.openxmlformats.org/officeDocument/2006/relationships/hyperlink" Target="https://doi.org/10.1002/nau.70400" TargetMode="External"/><Relationship Id="rId14" Type="http://schemas.openxmlformats.org/officeDocument/2006/relationships/hyperlink" Target="https://doi.org/10.1590/s1677-5538.ibju.2025.0374" TargetMode="External"/><Relationship Id="rId15" Type="http://schemas.openxmlformats.org/officeDocument/2006/relationships/hyperlink" Target="https://doi.org/10.1016/j.urology.2025.11.222" TargetMode="External"/><Relationship Id="rId16" Type="http://schemas.openxmlformats.org/officeDocument/2006/relationships/hyperlink" Target="https://doi.org/10.1007/s00345-025-05625-1" TargetMode="External"/><Relationship Id="rId17" Type="http://schemas.openxmlformats.org/officeDocument/2006/relationships/hyperlink" Target="https://doi.org/10.1097/ju.0000000000004945" TargetMode="External"/><Relationship Id="rId18" Type="http://schemas.openxmlformats.org/officeDocument/2006/relationships/hyperlink" Target="https://doi.org/10.1007/s00345-026-06246-y" TargetMode="External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NityProjects\AUS-Presentation\repo\presentation\assets\uroops-c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94960" y="0"/>
            <a:ext cx="679673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0058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EXPERT TEACHING SESSION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41732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2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Artificial urinary sphincter surgery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3375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 selection, difficult bladders and difficult urethras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251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[Meeting and date]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7091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Mr Andrew Baird</a:t>
            </a:r>
            <a:pPr algn="l" indent="0" marL="0">
              <a:buNone/>
            </a:pPr>
            <a:r>
              <a:rPr lang="en-US" sz="11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Urology Consultant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09320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Mr Abu Yousif</a:t>
            </a:r>
            <a:pPr algn="l" indent="0" marL="0">
              <a:buNone/>
            </a:pPr>
            <a:r>
              <a:rPr lang="en-US" sz="11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Urology Consultant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547725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Nity G</a:t>
            </a:r>
            <a:pPr algn="l" indent="0" marL="0">
              <a:buNone/>
            </a:pPr>
            <a:r>
              <a:rPr lang="en-US" sz="11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ST5 Urology Registrar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548640" cy="54864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2402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Decide before theatre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61188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 this patient obtain useful continence while storing and emptying safely and operating the device?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THIS SECTION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64592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64592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decision before theatre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07264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0" y="207264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and device boundaries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249936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49936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Leakage mechanism and patient goals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292608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292608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Timing after prostate treatment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335280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335280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Pump use over time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223760" y="377952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680960" y="377952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Flexible cystoscopy before implantation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223760" y="420624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420624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Urodynamics: BAUS, EAU and AUA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223760" y="463296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680960" y="463296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Interpreting an imperfect study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223760" y="505968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680960" y="505968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Consent: improvement and lifetime burden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decision before theatre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AUA24  ·  ICS16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3736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Severe leakage is only the starting point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514600"/>
            <a:ext cx="2522144" cy="2788920"/>
          </a:xfrm>
          <a:prstGeom prst="roundRect">
            <a:avLst>
              <a:gd name="adj" fmla="val 5076"/>
            </a:avLst>
          </a:prstGeom>
          <a:solidFill>
            <a:srgbClr val="F3F4F6"/>
          </a:solidFill>
          <a:ln/>
        </p:spPr>
      </p:sp>
      <p:sp>
        <p:nvSpPr>
          <p:cNvPr id="8" name="Shape 6"/>
          <p:cNvSpPr/>
          <p:nvPr/>
        </p:nvSpPr>
        <p:spPr>
          <a:xfrm>
            <a:off x="932688" y="2880360"/>
            <a:ext cx="182880" cy="18288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3200400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Implant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794760"/>
            <a:ext cx="1973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SUI, safe storage, reliable emptying and usable pump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3436544" y="2514600"/>
            <a:ext cx="2522144" cy="2788920"/>
          </a:xfrm>
          <a:prstGeom prst="roundRect">
            <a:avLst>
              <a:gd name="adj" fmla="val 5076"/>
            </a:avLst>
          </a:prstGeom>
          <a:solidFill>
            <a:srgbClr val="F3F4F6"/>
          </a:solidFill>
          <a:ln/>
        </p:spPr>
      </p:sp>
      <p:sp>
        <p:nvSpPr>
          <p:cNvPr id="12" name="Shape 10"/>
          <p:cNvSpPr/>
          <p:nvPr/>
        </p:nvSpPr>
        <p:spPr>
          <a:xfrm>
            <a:off x="3729152" y="2880360"/>
            <a:ext cx="182880" cy="182880"/>
          </a:xfrm>
          <a:prstGeom prst="ellipse">
            <a:avLst/>
          </a:prstGeom>
          <a:solidFill>
            <a:srgbClr val="B8791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710864" y="3200400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B8791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Optimise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3710864" y="3794760"/>
            <a:ext cx="1973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treatable bladder or functional problem dominates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33008" y="2514600"/>
            <a:ext cx="2522144" cy="2788920"/>
          </a:xfrm>
          <a:prstGeom prst="roundRect">
            <a:avLst>
              <a:gd name="adj" fmla="val 5076"/>
            </a:avLst>
          </a:prstGeom>
          <a:solidFill>
            <a:srgbClr val="F3F4F6"/>
          </a:solidFill>
          <a:ln/>
        </p:spPr>
      </p:sp>
      <p:sp>
        <p:nvSpPr>
          <p:cNvPr id="16" name="Shape 14"/>
          <p:cNvSpPr/>
          <p:nvPr/>
        </p:nvSpPr>
        <p:spPr>
          <a:xfrm>
            <a:off x="6525616" y="2880360"/>
            <a:ext cx="182880" cy="182880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7328" y="3200400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Investigate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3794760"/>
            <a:ext cx="1973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mechanism, measurements or anatomy remain uncertain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9029471" y="2514600"/>
            <a:ext cx="2522144" cy="2788920"/>
          </a:xfrm>
          <a:prstGeom prst="roundRect">
            <a:avLst>
              <a:gd name="adj" fmla="val 5076"/>
            </a:avLst>
          </a:prstGeom>
          <a:solidFill>
            <a:srgbClr val="F3F4F6"/>
          </a:solidFill>
          <a:ln/>
        </p:spPr>
      </p:sp>
      <p:sp>
        <p:nvSpPr>
          <p:cNvPr id="20" name="Shape 18"/>
          <p:cNvSpPr/>
          <p:nvPr/>
        </p:nvSpPr>
        <p:spPr>
          <a:xfrm>
            <a:off x="9322079" y="2880360"/>
            <a:ext cx="182880" cy="182880"/>
          </a:xfrm>
          <a:prstGeom prst="ellipse">
            <a:avLst/>
          </a:prstGeom>
          <a:solidFill>
            <a:srgbClr val="C2482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303791" y="3200400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C248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Reconsider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9303791" y="3794760"/>
            <a:ext cx="1973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 function or independent device use is unlikely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Evidence and device boundaries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EAU26  ·  AUA24  ·  ICS16  ·  AP23  ·  CCIFU  ·  AUASTATUS26  ·  DEVICE26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 2025 · AUA amendment 2024 · EAU 2026. Meeting abstracts are separate evidence. Device results are not interchangeable.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0710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Source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What it can tell us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Guidelines and consensus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recommended clinical pathway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Clinical studies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Outcomes in a defined population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Manufacturer IFU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Permitted use and device precautions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Expert or local practice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practical choice with stated uncertainty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Leakage mechanism and patient goals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EAU26  ·  AUA24  ·  PAD26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Pad count is useful; 2026 data show wide weight variability at 2–4 pads/day. Measure when severity is uncertain.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Characterise the leak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Demonstrated stress leakage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Urgency, night-time symptoms and emptying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Pad use, pad weight and activity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Define useful improvement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Recovery trajectory and prior treatment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validated symptom and quality-of-life measure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activity the patient wants back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Timing after prostate treatment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AUA24  ·  BAUS25  ·  EAU26  ·  MASTER22  ·  MASTER26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MASTER 2026: sling remained non-inferior at 24 months; further surgery 11% after sling versus 2% after AUS. Selected population.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069080"/>
                <a:gridCol w="446501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Guidance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At six months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At twelve months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BAUS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 least six months’ recovery for severe SUI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 least twelve months for mild–moderate SUI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Surgery may be offered for bothersome, non-improving SUI despite conservative care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Offer surgery for persisting bothersome SUI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40080" y="40690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Severity by 24-hour pad weight: the Nitti classification BAUS uses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4480560"/>
            <a:ext cx="3454298" cy="1005840"/>
          </a:xfrm>
          <a:prstGeom prst="roundRect">
            <a:avLst>
              <a:gd name="adj" fmla="val 12727"/>
            </a:avLst>
          </a:prstGeom>
          <a:solidFill>
            <a:srgbClr val="F3F4F6"/>
          </a:solidFill>
          <a:ln/>
        </p:spPr>
      </p:sp>
      <p:sp>
        <p:nvSpPr>
          <p:cNvPr id="10" name="Shape 7"/>
          <p:cNvSpPr/>
          <p:nvPr/>
        </p:nvSpPr>
        <p:spPr>
          <a:xfrm>
            <a:off x="914400" y="4754880"/>
            <a:ext cx="164592" cy="164592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188720" y="4636008"/>
            <a:ext cx="26313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Mild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5047488"/>
            <a:ext cx="26313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Under 100 g in 24 hours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368698" y="4480560"/>
            <a:ext cx="3454298" cy="1005840"/>
          </a:xfrm>
          <a:prstGeom prst="roundRect">
            <a:avLst>
              <a:gd name="adj" fmla="val 12727"/>
            </a:avLst>
          </a:prstGeom>
          <a:solidFill>
            <a:srgbClr val="F3F4F6"/>
          </a:solidFill>
          <a:ln/>
        </p:spPr>
      </p:sp>
      <p:sp>
        <p:nvSpPr>
          <p:cNvPr id="14" name="Shape 11"/>
          <p:cNvSpPr/>
          <p:nvPr/>
        </p:nvSpPr>
        <p:spPr>
          <a:xfrm>
            <a:off x="4643018" y="4754880"/>
            <a:ext cx="164592" cy="164592"/>
          </a:xfrm>
          <a:prstGeom prst="ellipse">
            <a:avLst/>
          </a:prstGeom>
          <a:solidFill>
            <a:srgbClr val="B879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917338" y="4636008"/>
            <a:ext cx="26313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B8791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Moderate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4917338" y="5047488"/>
            <a:ext cx="26313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 to 400 g in 24 hours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097317" y="4480560"/>
            <a:ext cx="3454298" cy="1005840"/>
          </a:xfrm>
          <a:prstGeom prst="roundRect">
            <a:avLst>
              <a:gd name="adj" fmla="val 12727"/>
            </a:avLst>
          </a:prstGeom>
          <a:solidFill>
            <a:srgbClr val="F3F4F6"/>
          </a:solidFill>
          <a:ln/>
        </p:spPr>
      </p:sp>
      <p:sp>
        <p:nvSpPr>
          <p:cNvPr id="18" name="Shape 15"/>
          <p:cNvSpPr/>
          <p:nvPr/>
        </p:nvSpPr>
        <p:spPr>
          <a:xfrm>
            <a:off x="8371637" y="4754880"/>
            <a:ext cx="164592" cy="164592"/>
          </a:xfrm>
          <a:prstGeom prst="ellipse">
            <a:avLst/>
          </a:prstGeom>
          <a:solidFill>
            <a:srgbClr val="C2482D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645957" y="4636008"/>
            <a:ext cx="26313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C248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Severe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8645957" y="5047488"/>
            <a:ext cx="26313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 400 g in 24 hours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Pump use over time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AUA24  ·  ICS16  ·  CCIFU  ·  FRAIL26</a:t>
            </a:r>
            <a:endParaRPr lang="en-US" sz="800" dirty="0"/>
          </a:p>
        </p:txBody>
      </p:sp>
      <p:pic>
        <p:nvPicPr>
          <p:cNvPr id="6" name="Image 0" descr="C:\NityProjects\AUS-Presentation\repo\presentation\design\build\conticlassic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06040" y="1828800"/>
            <a:ext cx="3291840" cy="3291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523036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Rigicon ContiClassic, manufacturer illustration.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Pump assessment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Watch the patient operate a demonstration pump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reach, strength and understanding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Agree an accessible position before surgery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Assess frailty as well as future pump use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Flexible cystoscopy before implantation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AUA24  ·  EAU26  ·  EAUSTR26  ·  AUAUDS26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 2026 IP09-22 revisits testing; full results unverified. Existing cystoscopy guidance remains applicable.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Guidance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 recommends cystourethroscopy before SUI surgery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BAUS: VUDS for every candidate; cystoscopy when a narrowing is suspected, or with standard UDS where video is unavailable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Advance inspection is a practical preference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Findings that change the plan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Stricture, BNC or VUAS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Erosion, foreign material or stones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Tumour or likely repeated instrumentation</a:t>
            </a:r>
            <a:endParaRPr lang="en-US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Urodynamics: BAUS, EAU and AUA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EAU26  ·  AUA24  ·  ICS16  ·  AUASTATUS26  ·  AUAUDS26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 2025, EAU 2026 and AUA 2024 differ. AUA 2026 IP09-22 is conference material; full results remain unverified.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069080"/>
                <a:gridCol w="446501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Guideline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Position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Clinical implication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BAUS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Video-urodynamics for surgical candidates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Follow the investigation pathway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EAU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UDS before invasive treatment, weak recommendation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Interpret alongside the selective-testing narrative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UDS when diagnosis or counselling benefits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State the uncertainty the test should resolve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Interpreting an imperfect study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AUA24  ·  ICS16  ·  UDS14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Low capacity can reflect leakage. A weak laboratory contraction needs the real voiding history.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Dominant symptoms and demonstrated SUI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325880" y="2560320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578608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578608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Urine, bladder diary, free flow and repeated residual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325880" y="3310128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28416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328416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Urethral anatomy and future access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325880" y="4059936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078224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078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078224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chosen guideline-based UDS strategy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1325880" y="4809744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4828032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4828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325880" y="4828032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Storage safety, emptying and outlet stability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Consent: improvement and lifetime burden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AUSCO26  ·  CCSAFETY  ·  AUA24  ·  RT22  ·  FRAIL26  ·  REGRET26  ·  DEVICE26  ·  REPORT26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These endpoints do not compare devices. Long-term regret data reinforce counselling about leakage and future surgery.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05840" y="2103120"/>
            <a:ext cx="45642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AMS 800: zero-pad use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2468880"/>
            <a:ext cx="45642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60%</a:t>
            </a:r>
            <a:endParaRPr lang="en-US" sz="66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3794760"/>
            <a:ext cx="45642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 / 101 at 12 months after activation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AUSCO 2026: 115 primary implants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4709160"/>
            <a:ext cx="4564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Single-arm, manufacturer-funded study. Missing outcomes and one-year follow-up.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55868" y="1783080"/>
            <a:ext cx="5295748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1628" y="2103120"/>
            <a:ext cx="45642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ContiClassic: device survival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621628" y="2468880"/>
            <a:ext cx="45642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93.2%</a:t>
            </a:r>
            <a:endParaRPr lang="en-US" sz="6600" dirty="0"/>
          </a:p>
        </p:txBody>
      </p:sp>
      <p:sp>
        <p:nvSpPr>
          <p:cNvPr id="15" name="Text 13"/>
          <p:cNvSpPr txBox="1"/>
          <p:nvPr/>
        </p:nvSpPr>
        <p:spPr>
          <a:xfrm>
            <a:off x="6621628" y="3794760"/>
            <a:ext cx="45642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12-month Kaplan–Meier estimate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First 116 recipients, mixed indications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621628" y="4709160"/>
            <a:ext cx="4564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Abstract-level, no comparator. A standardised continence result is unverified.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548640" cy="54864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2402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bladder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61188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overactivity, weak contraction and poor compliance, because each leads to a different decision.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THIS SECTION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1: six pads and urgency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Urgency treatment and emptying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2: weak contraction and residual urine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Catheterisation with a cuff in place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Detrusor overactivity and poor compliance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Case 1: six pads and urgency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DO24  ·  OAB11  ·  DOFAIL23  ·  CCIFU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alone need not exclude general AUS surgery. ContiClassic labelling requires bladder conditions to be controlled or resolved.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FICTIONAL CASE 01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317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Demonstrated post-prostatectomy stress leakage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08152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Urgency leakage and detrusor overactivity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39227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831336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Reassuring compliance and emptying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40080" y="4672584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581144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Goal: walk without soaking his clothes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132320" y="1783080"/>
            <a:ext cx="4419295" cy="3611880"/>
          </a:xfrm>
          <a:prstGeom prst="roundRect">
            <a:avLst>
              <a:gd name="adj" fmla="val 3544"/>
            </a:avLst>
          </a:prstGeom>
          <a:solidFill>
            <a:srgbClr val="F3F4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0" y="2057400"/>
            <a:ext cx="3687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Implant now or optimise first?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6118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CALL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98080" y="3950208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0F7F8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3950208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IMPLANT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628278" y="3950208"/>
            <a:ext cx="1100938" cy="365760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28278" y="3950208"/>
            <a:ext cx="11009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OPTIMISE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98080" y="4425696"/>
            <a:ext cx="1397203" cy="365760"/>
          </a:xfrm>
          <a:prstGeom prst="roundRect">
            <a:avLst>
              <a:gd name="adj" fmla="val 50000"/>
            </a:avLst>
          </a:prstGeom>
          <a:solidFill>
            <a:srgbClr val="3B5BA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498080" y="4425696"/>
            <a:ext cx="13972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9023299" y="4425696"/>
            <a:ext cx="1298448" cy="365760"/>
          </a:xfrm>
          <a:prstGeom prst="roundRect">
            <a:avLst>
              <a:gd name="adj" fmla="val 50000"/>
            </a:avLst>
          </a:prstGeom>
          <a:solidFill>
            <a:srgbClr val="C2482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023299" y="4425696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RECONSIDER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Urgency treatment and emptying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AUAOAB24  ·  OAB11  ·  CCIFU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universally superior treatment sequence around a cuff has been established.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Address reversible contributors and symptom burden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325880" y="267919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69748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69748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Choose medication with cognition and residual urine in mind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325880" y="354787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56616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56616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retention and repeated access before botulinum toxin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325880" y="441655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43484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43484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Treat persistent urgency as a separate outcome after AUS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Case 2: weak contraction and residual urine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DU23  ·  AUA24  ·  ICSUDS17  ·  CCIFU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Selected DU cohorts do not establish safety in unresolved retention. There is no universal residual cutoff.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FICTIONAL CASE 02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317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Stress leakage with slow voiding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08152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Repeatedly raised residual urine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39227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831336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Weak contraction and abdominal straining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40080" y="4672584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581144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Obstruction and test inhibition remain possible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132320" y="1783080"/>
            <a:ext cx="4419295" cy="3611880"/>
          </a:xfrm>
          <a:prstGeom prst="roundRect">
            <a:avLst>
              <a:gd name="adj" fmla="val 3544"/>
            </a:avLst>
          </a:prstGeom>
          <a:solidFill>
            <a:srgbClr val="F3F4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0" y="2057400"/>
            <a:ext cx="3687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Would a reliable emptying plan change your answer?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6118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CALL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98080" y="3950208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0F7F8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3950208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IMPLANT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628278" y="3950208"/>
            <a:ext cx="1397203" cy="365760"/>
          </a:xfrm>
          <a:prstGeom prst="roundRect">
            <a:avLst>
              <a:gd name="adj" fmla="val 50000"/>
            </a:avLst>
          </a:prstGeom>
          <a:solidFill>
            <a:srgbClr val="3B5BA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28278" y="3950208"/>
            <a:ext cx="13972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98080" y="4425696"/>
            <a:ext cx="1298448" cy="365760"/>
          </a:xfrm>
          <a:prstGeom prst="roundRect">
            <a:avLst>
              <a:gd name="adj" fmla="val 50000"/>
            </a:avLst>
          </a:prstGeom>
          <a:solidFill>
            <a:srgbClr val="C2482D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498080" y="4425696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RECONSIDER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Catheterisation with a cuff in place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CIC23  ·  CATH13  ·  CCIFU  ·  ICS16  ·  BAUSSCI26  ·  INSTR26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survey highlights deactivation training gaps. Follow the actual device instructions; no universal French-size rule applies.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20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Cuff fully deflated.</a:t>
            </a:r>
            <a:endParaRPr lang="en-US" sz="3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Device deactivated.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6309360" y="1783080"/>
            <a:ext cx="5242255" cy="3657600"/>
          </a:xfrm>
          <a:prstGeom prst="roundRect">
            <a:avLst>
              <a:gd name="adj" fmla="val 3500"/>
            </a:avLst>
          </a:prstGeom>
          <a:solidFill>
            <a:srgbClr val="F3F4F6"/>
          </a:solidFill>
          <a:ln/>
        </p:spPr>
      </p:sp>
      <p:sp>
        <p:nvSpPr>
          <p:cNvPr id="9" name="Shape 7"/>
          <p:cNvSpPr/>
          <p:nvPr/>
        </p:nvSpPr>
        <p:spPr>
          <a:xfrm>
            <a:off x="6629400" y="2103120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178040" y="2084832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 the reason and likely frequency of catheterisation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6629400" y="3182112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3182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178040" y="3163824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competence and agree the drainage route before implantation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629400" y="4261104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29400" y="4261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178040" y="4242816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repeated or prolonged access with specialist input</a:t>
            </a:r>
            <a:endParaRPr lang="en-US" sz="15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Detrusor overactivity and poor compliance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UDS09  ·  ICS16  ·  BAUS25  ·  CCIFU  ·  BAUSSCI26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Schematic traces only, with arbitrary units. Confirm trace quality and assess renal function or upper tracts when indicated.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57400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DO: transient contraction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14400" y="2514600"/>
            <a:ext cx="474710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</p:spPr>
      </p:sp>
      <p:graphicFrame>
        <p:nvGraphicFramePr>
          <p:cNvPr id="10" name="Chart 0" descr=""/>
          <p:cNvGraphicFramePr/>
          <p:nvPr/>
        </p:nvGraphicFramePr>
        <p:xfrm>
          <a:off x="960120" y="2560320"/>
          <a:ext cx="4655668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960120" y="5029200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Involuntary filling contraction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55868" y="1783080"/>
            <a:ext cx="5295748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75908" y="2057400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C248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Poor compliance: sustained rise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530188" y="2514600"/>
            <a:ext cx="474710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</p:spPr>
      </p:sp>
      <p:graphicFrame>
        <p:nvGraphicFramePr>
          <p:cNvPr id="15" name="Chart 1" descr=""/>
          <p:cNvGraphicFramePr/>
          <p:nvPr/>
        </p:nvGraphicFramePr>
        <p:xfrm>
          <a:off x="6575908" y="2560320"/>
          <a:ext cx="4655668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Text 12"/>
          <p:cNvSpPr txBox="1"/>
          <p:nvPr/>
        </p:nvSpPr>
        <p:spPr>
          <a:xfrm>
            <a:off x="6575908" y="5029200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separate storage-safety problem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548640" cy="54864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2402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urethra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61188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Name the narrowing, prove the outlet is stable, and plan the tissue the cuff will need.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THIS SECTION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different sites of narrowing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Reassessment and urethral stability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3: radiation and recurrent VUAS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 after urethral reconstruction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Transcorporal placement: role and costs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different sites of narrowing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EAUSTR26  ·  BAUS25  ·  AUA24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Symptoms, flow, residual and anatomy must support a stable outlet.</a:t>
            </a:r>
            <a:endParaRPr lang="en-US" sz="1200" dirty="0"/>
          </a:p>
        </p:txBody>
      </p:sp>
      <p:pic>
        <p:nvPicPr>
          <p:cNvPr id="7" name="Image 0" descr="C:\NityProjects\AUS-Presentation\repo\presentation\design\build\narrowing-pan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6745045" cy="32918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523036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Teaching schematic, not to scale.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Anatomical distinctions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2377440"/>
            <a:ext cx="29836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Anterior stricture: urethra and spongiosum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23697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154680"/>
            <a:ext cx="29836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Bladder-neck contracture: prostate partly present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0142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3931920"/>
            <a:ext cx="29836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VUAS: anastomosis after radical prostatectomy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Reassessment and urethral stability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AUA24  ·  EAUSTR26  ·  ICS16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These intervals describe different pathways. Recurrence pattern, tissue quality and future access remain decisive.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069080"/>
                <a:gridCol w="446501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Guideline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Interval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The relevant pathway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 least 4–6 weeks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Interval cystoscopy after symptomatic BNC/VUAS treatment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EAU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3–6 months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Advice after redo vesicourethral anastomosis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BAUS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 least six months without recurrence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After treatment of post-prostatectomy narrowing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Case 3: radiation and recurrent VUAS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RT22  ·  BAUS25  ·  EAUSTR26  ·  AUA24  ·  RTTIME25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Radiation increases risk. A 2025 timing study does not establish a fixed waiting rule; stable patency and reconstruction come first.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FICTIONAL CASE 03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317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Radical prostatectomy and salvage radiotherapy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08152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Severe SUI between endoscopic treatments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39227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831336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Recurrent vesicourethral anastomotic stenosis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40080" y="4672584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581144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Patency still depends on further intervention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132320" y="1783080"/>
            <a:ext cx="4419295" cy="3611880"/>
          </a:xfrm>
          <a:prstGeom prst="roundRect">
            <a:avLst>
              <a:gd name="adj" fmla="val 3544"/>
            </a:avLst>
          </a:prstGeom>
          <a:solidFill>
            <a:srgbClr val="F3F4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0" y="2057400"/>
            <a:ext cx="3687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Implant, stage reconstruction or reconsider the endpoint?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6118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CALL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98080" y="3950208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0F7F8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3950208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IMPLANT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628278" y="3950208"/>
            <a:ext cx="804672" cy="365760"/>
          </a:xfrm>
          <a:prstGeom prst="roundRect">
            <a:avLst>
              <a:gd name="adj" fmla="val 50000"/>
            </a:avLst>
          </a:prstGeom>
          <a:solidFill>
            <a:srgbClr val="3B5BA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28278" y="3950208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560966" y="3950208"/>
            <a:ext cx="1298448" cy="365760"/>
          </a:xfrm>
          <a:prstGeom prst="roundRect">
            <a:avLst>
              <a:gd name="adj" fmla="val 50000"/>
            </a:avLst>
          </a:prstGeom>
          <a:solidFill>
            <a:srgbClr val="C2482D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560966" y="3950208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RECONSIDER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AUS after urethral reconstruction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URETH26  ·  BAUS25  ·  AUA24  ·  ICS16  ·  URETHMETA26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meta-analysis: prior urethroplasty is associated with more explantation; transecting repairs carry higher erosion risk. Observational.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reconstruction history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Repair site and operative report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Transecting or non-transecting repair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Prior erosion, graft or posterior reconstruction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next operation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Preserve remaining tissue and attachments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 viable cuff-bearing tissue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Reassess unsafe planes or stage the procedure</a:t>
            </a:r>
            <a:endParaRPr lang="en-US" sz="15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Transcorporal placement: role and costs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TC20  ·  TC23  ·  BAUS25  ·  AP23  ·  TCSYS25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Latest systematic review suggests less erosion but more revision. Non-randomised data do not prove causal protection.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Selected role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hazardous dorsal dissection plane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manoeuvre addressing a defined dissection problem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Comparative erosion protection remains uncertain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Costs and limitations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Corporal injury and bleeding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Sexual consequences and future prosthesis surgery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Confounding by indication in comparative series</a:t>
            </a:r>
            <a:endParaRPr lang="en-US" sz="15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548640" cy="54864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2402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Preparation without ritual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61188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Identify the activity, the product and the evidence before debating a duration.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THIS SECTION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fifteen-minute wash question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Skin culture reduction and clinical infection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Urine and antibiotic disagreements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Contamination control during implantation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pre-implant theatre checklist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fifteen-minute wash question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NICE  ·  WHO09  ·  PREP24  ·  IRRIG26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BAUS’s five-minute topical field scrub is consensus with extrapolation. Product timings address different activities.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direct AUS outcome evidence establishes a fixed 15-minute preparation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40080" y="2606040"/>
            <a:ext cx="5318608" cy="1325880"/>
          </a:xfrm>
          <a:prstGeom prst="roundRect">
            <a:avLst>
              <a:gd name="adj" fmla="val 9655"/>
            </a:avLst>
          </a:prstGeom>
          <a:solidFill>
            <a:srgbClr val="F3F4F6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2898648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898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880360"/>
            <a:ext cx="422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Patient washing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264408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Preoperative hygiene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33008" y="2606040"/>
            <a:ext cx="5318608" cy="1325880"/>
          </a:xfrm>
          <a:prstGeom prst="roundRect">
            <a:avLst>
              <a:gd name="adj" fmla="val 9655"/>
            </a:avLst>
          </a:prstGeom>
          <a:solidFill>
            <a:srgbClr val="F3F4F6"/>
          </a:solidFill>
          <a:ln/>
        </p:spPr>
      </p:sp>
      <p:sp>
        <p:nvSpPr>
          <p:cNvPr id="14" name="Shape 12"/>
          <p:cNvSpPr/>
          <p:nvPr/>
        </p:nvSpPr>
        <p:spPr>
          <a:xfrm>
            <a:off x="6507328" y="2898648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07328" y="2898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055968" y="2880360"/>
            <a:ext cx="422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Skin preparation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055968" y="3264408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 product, site, contact and drying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206240"/>
            <a:ext cx="5318608" cy="1325880"/>
          </a:xfrm>
          <a:prstGeom prst="roundRect">
            <a:avLst>
              <a:gd name="adj" fmla="val 9655"/>
            </a:avLst>
          </a:prstGeom>
          <a:solidFill>
            <a:srgbClr val="F3F4F6"/>
          </a:solidFill>
          <a:ln/>
        </p:spPr>
      </p:sp>
      <p:sp>
        <p:nvSpPr>
          <p:cNvPr id="19" name="Shape 17"/>
          <p:cNvSpPr/>
          <p:nvPr/>
        </p:nvSpPr>
        <p:spPr>
          <a:xfrm>
            <a:off x="914400" y="4498848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4480560"/>
            <a:ext cx="422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Hand antisepsis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4864608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team’s hands and forearms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233008" y="4206240"/>
            <a:ext cx="5318608" cy="1325880"/>
          </a:xfrm>
          <a:prstGeom prst="roundRect">
            <a:avLst>
              <a:gd name="adj" fmla="val 9655"/>
            </a:avLst>
          </a:prstGeom>
          <a:solidFill>
            <a:srgbClr val="F3F4F6"/>
          </a:solidFill>
          <a:ln/>
        </p:spPr>
      </p:sp>
      <p:sp>
        <p:nvSpPr>
          <p:cNvPr id="24" name="Shape 22"/>
          <p:cNvSpPr/>
          <p:nvPr/>
        </p:nvSpPr>
        <p:spPr>
          <a:xfrm>
            <a:off x="6507328" y="4498848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07328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055968" y="4480560"/>
            <a:ext cx="422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Irrigation and device preparation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055968" y="4864608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interventions and compatibility rules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Skin culture reduction and clinical infection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YEUNG13  ·  PREP24  ·  NICE  ·  CHLORA26  ·  BAUS25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Yeung 2013: 100 initial GU prosthetic procedures, 50 per arm. Immediate skin cultures, not AUS infection or a duration trial.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6035040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574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Positive post-preparation skin cultures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960120" y="2423160"/>
          <a:ext cx="53949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7132320" y="1828800"/>
            <a:ext cx="4419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microbiological endpoint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132320" y="2468880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Direct AUS infection evidence remains limited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132320" y="3429000"/>
            <a:ext cx="4419295" cy="1188720"/>
          </a:xfrm>
          <a:prstGeom prst="roundRect">
            <a:avLst>
              <a:gd name="adj" fmla="val 10769"/>
            </a:avLst>
          </a:prstGeom>
          <a:solidFill>
            <a:srgbClr val="F3F4F6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452360" y="3611880"/>
            <a:ext cx="37792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Correct product, anatomy and complete drying still matter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Urine and antibiotic disagreements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IDSA19  ·  BAUS25  ·  AUAABX20  ·  ABX18  ·  CCIFU  ·  AUAABX26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 2026 IP09-18 addresses postoperative antibiotics; full results unverified. Reconcile regional IFU and local microbiology policy.</a:t>
            </a:r>
            <a:endParaRPr lang="en-US" sz="1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0710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Question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Evidence or instruction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Symptomatic infection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Treat and reassess before implantation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Asymptomatic bacteriuria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BAUS urine pathway and IDSA’s AUS-specific position differ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Prophylaxis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Complete before incision and plan appropriate redosing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Postoperative antibiotics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Older observational data show no clear benefit; retrieved ContiClassic IFU differs.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Contamination control during implantation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TOUCH23  ·  NICE  ·  AP23  ·  CCIFU  ·  IRRIG26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uncoated AMS 800 cohort: 90-day SSI 1/59 with gentamicin versus 2/114 without. Wide uncertainty; no equivalence proof.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Protect the implant until the field is ready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325880" y="267919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69748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69748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Limit skin contact and unnecessary handling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325880" y="354787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56616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56616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fresh sterile gloves and a clean handling pause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325880" y="441655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43484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43484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irrigation, device dipping and internal filling</a:t>
            </a:r>
            <a:endParaRPr lang="en-US" sz="1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pre-implant theatre checklist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NICE  ·  BAUS25  ·  CCIFU  ·  AUAABX20  ·  IRRIG26</a:t>
            </a:r>
            <a:endParaRPr lang="en-US" sz="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0710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Check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Basis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Indication, infection review, prophylaxis and asepsis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Guidance-supported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Antiseptic, drying, antibiotic choice and redosing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Product and local policy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Model, sizes, pressure, preparation and drainage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Current device instructions and local plan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Clean handling pause and contamination response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Expert implementation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Fixed 15 minutes, best irrigant, prolonged prophylaxis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Unresolved evidence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NityProjects\AUS-Presentation\repo\presentation\design\build\envato-section-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326">
              <a:alpha val="70000"/>
            </a:srgbClr>
          </a:solidFill>
          <a:ln/>
        </p:spPr>
      </p:sp>
      <p:sp>
        <p:nvSpPr>
          <p:cNvPr id="4" name="divider gradient 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F2326">
                  <a:alpha val="0"/>
                </a:srgbClr>
              </a:gs>
              <a:gs pos="40000">
                <a:srgbClr val="1F2326">
                  <a:alpha val="0"/>
                </a:srgbClr>
              </a:gs>
              <a:gs pos="72000">
                <a:srgbClr val="1F2326">
                  <a:alpha val="62000"/>
                </a:srgbClr>
              </a:gs>
              <a:gs pos="100000">
                <a:srgbClr val="1F2326">
                  <a:alpha val="96000"/>
                </a:srgbClr>
              </a:gs>
            </a:gsLst>
            <a:lin ang="0" scaled="0"/>
          </a:gradFill>
          <a:ln/>
        </p:spPr>
      </p:sp>
      <p:sp>
        <p:nvSpPr>
          <p:cNvPr id="5" name="Shape 2"/>
          <p:cNvSpPr/>
          <p:nvPr/>
        </p:nvSpPr>
        <p:spPr>
          <a:xfrm>
            <a:off x="640080" y="2057400"/>
            <a:ext cx="548640" cy="54864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22402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operation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61188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Preserve tissue, measure what the cuff will enclose, follow the actual device protocol, and verify before closing.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THIS SECTION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Positioning and exposure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Bulbar dissection and tissue preservation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Cuff measurement and fit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Urethral injury or contamination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Balloon pocket and pressure selection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22376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7680960" y="3931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Pump position and patient access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223760" y="4389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80960" y="4389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checks and handover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7223760" y="4846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680960" y="4846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UroOps 3D: anatomy and component routes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Positioning and exposure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AUA24  ·  ICS16  ·  AP23</a:t>
            </a:r>
            <a:endParaRPr lang="en-US" sz="800" dirty="0"/>
          </a:p>
        </p:txBody>
      </p:sp>
      <p:pic>
        <p:nvPicPr>
          <p:cNvPr id="6" name="Image 0" descr="C:\NityProjects\AUS-Presentation\repo\presentation\assets\uroops-surge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85285"/>
            <a:ext cx="7223760" cy="297887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access plan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Respect hip mobility and protect pressure points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perineal, abdominal and pump access together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scars, mesh, previous devices and repairs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Improve limited exposure before further dissection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Bulbar dissection and tissue preservation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ICS16  ·  AP23  ·  CCIFU  ·  URETH26</a:t>
            </a:r>
            <a:endParaRPr lang="en-US" sz="800" dirty="0"/>
          </a:p>
        </p:txBody>
      </p:sp>
      <p:pic>
        <p:nvPicPr>
          <p:cNvPr id="6" name="Image 0" descr="C:\NityProjects\AUS-Presentation\repo\presentation\assets\uroops-cuff-s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85285"/>
            <a:ext cx="7223760" cy="297887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cuff-bearing segment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Viable tissue with adequate spongiosal support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Dorsal dissection under direct control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Mobilisation limited to the required length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Uncertain plane or integrity prompts reassessment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Cuff measurement and fit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ICS16  ·  CCIFU  ·  CCSAFETY  ·  AP23</a:t>
            </a:r>
            <a:endParaRPr lang="en-US" sz="800" dirty="0"/>
          </a:p>
        </p:txBody>
      </p:sp>
      <p:pic>
        <p:nvPicPr>
          <p:cNvPr id="6" name="Image 0" descr="C:\NityProjects\AUS-Presentation\repo\presentation\assets\uroops-a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852160" cy="3291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Sizing errors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Release traction and artificial compression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which tissue the cuff will enclose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the exact system’s supplied sizing method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Recheck poor fit rather than increasing pressure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Urethral injury or contamination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AP23  ·  ICS16  ·  CCIFU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improvised antiseptic soak cannot rescue a contaminated single-use implant.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20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C248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endpoint can change</a:t>
            </a:r>
            <a:endParaRPr lang="en-US" sz="3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C248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 repair and safe drainage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6309360" y="1783080"/>
            <a:ext cx="5242255" cy="3657600"/>
          </a:xfrm>
          <a:prstGeom prst="roundRect">
            <a:avLst>
              <a:gd name="adj" fmla="val 3500"/>
            </a:avLst>
          </a:prstGeom>
          <a:solidFill>
            <a:srgbClr val="F3F4F6"/>
          </a:solidFill>
          <a:ln/>
        </p:spPr>
      </p:sp>
      <p:sp>
        <p:nvSpPr>
          <p:cNvPr id="9" name="Shape 7"/>
          <p:cNvSpPr/>
          <p:nvPr/>
        </p:nvSpPr>
        <p:spPr>
          <a:xfrm>
            <a:off x="6629400" y="2103120"/>
            <a:ext cx="384048" cy="384048"/>
          </a:xfrm>
          <a:prstGeom prst="ellipse">
            <a:avLst/>
          </a:prstGeom>
          <a:solidFill>
            <a:srgbClr val="C248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178040" y="2084832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uncertain integrity with controlled testing or endoscopy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6629400" y="3182112"/>
            <a:ext cx="384048" cy="384048"/>
          </a:xfrm>
          <a:prstGeom prst="ellipse">
            <a:avLst/>
          </a:prstGeom>
          <a:solidFill>
            <a:srgbClr val="C2482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3182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178040" y="3163824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Recognised urethral injury prompts stopping implantation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629400" y="4261104"/>
            <a:ext cx="384048" cy="384048"/>
          </a:xfrm>
          <a:prstGeom prst="ellipse">
            <a:avLst/>
          </a:prstGeom>
          <a:solidFill>
            <a:srgbClr val="C2482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29400" y="4261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178040" y="4242816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contaminated disposables and restore the clean setup</a:t>
            </a:r>
            <a:endParaRPr lang="en-US" sz="15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Balloon pocket and pressure selection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CCIFU  ·  AP23  ·  ICS16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safe pocket and the correct pressure component are separate decisions. Fill volumes and selection rules require the current OR protocol.</a:t>
            </a:r>
            <a:endParaRPr lang="en-US" sz="1200" dirty="0"/>
          </a:p>
        </p:txBody>
      </p:sp>
      <p:pic>
        <p:nvPicPr>
          <p:cNvPr id="7" name="Image 0" descr="C:\NityProjects\AUS-Presentation\repo\presentation\assets\uroops-ballo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62328"/>
            <a:ext cx="5120640" cy="349910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309360" y="1783080"/>
            <a:ext cx="5242255" cy="1371600"/>
          </a:xfrm>
          <a:prstGeom prst="roundRect">
            <a:avLst>
              <a:gd name="adj" fmla="val 9333"/>
            </a:avLst>
          </a:prstGeom>
          <a:solidFill>
            <a:srgbClr val="2A2F3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29400" y="2011680"/>
            <a:ext cx="46021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ContiClassic label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629400" y="2350008"/>
            <a:ext cx="4602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60–69 cmH₂O</a:t>
            </a:r>
            <a:endParaRPr lang="en-US" sz="2800" dirty="0"/>
          </a:p>
        </p:txBody>
      </p:sp>
      <p:sp>
        <p:nvSpPr>
          <p:cNvPr id="11" name="Shape 8"/>
          <p:cNvSpPr/>
          <p:nvPr/>
        </p:nvSpPr>
        <p:spPr>
          <a:xfrm>
            <a:off x="6309360" y="3383280"/>
            <a:ext cx="5242255" cy="1371600"/>
          </a:xfrm>
          <a:prstGeom prst="roundRect">
            <a:avLst>
              <a:gd name="adj" fmla="val 9333"/>
            </a:avLst>
          </a:prstGeom>
          <a:solidFill>
            <a:srgbClr val="2A2F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629400" y="3611880"/>
            <a:ext cx="46021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AMS 800 consensus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629400" y="3950208"/>
            <a:ext cx="4602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Commonly 61–70 cmH₂O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6309360" y="5074920"/>
            <a:ext cx="5242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These ranges are device-specific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Pump position and patient access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AP23  ·  ICS16  ·  CCIFU</a:t>
            </a:r>
            <a:endParaRPr lang="en-US" sz="800" dirty="0"/>
          </a:p>
        </p:txBody>
      </p:sp>
      <p:pic>
        <p:nvPicPr>
          <p:cNvPr id="6" name="Image 0" descr="C:\NityProjects\AUS-Presentation\repo\presentation\assets\uroops-three-spac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85285"/>
            <a:ext cx="7223760" cy="297887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functional position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the accessible side agreed in clinic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Avoid crowding, skin tension and testicular compression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orientation and tubing traction before closure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Recheck access with the patient at activation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System checks and handover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CCIFU  ·  ICS16  ·  AP23  ·  CATH13  ·  INSTR26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Deactivation and urgent-contact instructions matter: a 2026 survey identifies training gaps. Filling follows the actual product protocol.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Trace tubing for tension, bends and entrapment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325880" y="267919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69748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69748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compatible connections and device function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325880" y="354787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56616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56616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an open cuff and correct deactivation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325880" y="441655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43484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43484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 device details, drainage and the urgent contact route</a:t>
            </a:r>
            <a:endParaRPr lang="en-US" sz="17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UroOps 3D: anatomy and component routes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ICS16  ·  AP23  ·  CCIFU</a:t>
            </a:r>
            <a:endParaRPr lang="en-US" sz="800" dirty="0"/>
          </a:p>
        </p:txBody>
      </p:sp>
      <p:pic>
        <p:nvPicPr>
          <p:cNvPr id="6" name="Image 0" descr="C:\NityProjects\AUS-Presentation\repo\presentation\assets\uroops-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85765"/>
            <a:ext cx="7223760" cy="2977911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321040" y="1828800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321040" y="18288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F23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DEMONSTRATION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321040" y="2377440"/>
            <a:ext cx="365760" cy="36576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32104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851392" y="2377440"/>
            <a:ext cx="2700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Cuff and dorsal plane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321040" y="2944368"/>
            <a:ext cx="365760" cy="36576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321040" y="29443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8851392" y="2944368"/>
            <a:ext cx="2700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Pump access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321040" y="3511296"/>
            <a:ext cx="365760" cy="36576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321040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851392" y="3511296"/>
            <a:ext cx="2700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Balloon pocket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321040" y="4078224"/>
            <a:ext cx="365760" cy="36576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321040" y="40782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851392" y="4078224"/>
            <a:ext cx="2700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Tubing route</a:t>
            </a:r>
            <a:endParaRPr lang="en-US" sz="1500" dirty="0"/>
          </a:p>
        </p:txBody>
      </p:sp>
      <p:sp>
        <p:nvSpPr>
          <p:cNvPr id="21" name="Text 18">
            <a:hlinkClick r:id="rId2" tooltip=""/>
          </p:cNvPr>
          <p:cNvSpPr txBox="1"/>
          <p:nvPr/>
        </p:nvSpPr>
        <p:spPr>
          <a:xfrm>
            <a:off x="8321040" y="470916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u="sng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uroops3d.com/lab/aus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640080" y="525780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page. Teaching schematic, clinical review pending.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548640" cy="54864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2402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After the implant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61188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 over the risk, diagnose late leakage before revising, and say where the evidence stops.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THIS SECTION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Aftercare, activation and urgent review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4: leakage after three good years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Established benefit and unresolved questions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decisions before implantation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decisions protecting the result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22376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680960" y="3931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Discussion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Aftercare, activation and urgent review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CCIFU  ·  AUA24  ·  CATH13  ·  BAUSDAY26  ·  DAYMETA26  ·  DAYCASE26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 2026 day-case audit and comparative studies support selected pathways. Confirm emptying, support and rapid access to review.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Planned care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Selected day-case care with verified emptying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ContiClassic: 4–6 weeks deactivated until pain and oedema settle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Activation includes patient demonstration and device information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Earlier assessment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Retention or difficult voiding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Worsening pain, erythema, discharge or fever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Suspected infection or erosion needs specialist review</a:t>
            </a:r>
            <a:endParaRPr lang="en-US" sz="15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Case 4: leakage after three good years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ATROPHY20  ·  BAUS25  ·  AUA24  ·  CCIFU  ·  AUASAFER26  ·  PRBFAT26  ·  EROSION26  ·  SECOND26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PRB fatigue study adds a mechanical explanation. Diagnose the cause; do not automatically downsize or replace the balloon.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FICTIONAL CASE 04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317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initially useful AUS result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08152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Recurrent leakage after three years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39227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831336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Leakage mechanism and pump use still need assessment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40080" y="4672584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581144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Erosion, mechanics and bladder dysfunction remain possible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132320" y="1783080"/>
            <a:ext cx="4419295" cy="3611880"/>
          </a:xfrm>
          <a:prstGeom prst="roundRect">
            <a:avLst>
              <a:gd name="adj" fmla="val 3544"/>
            </a:avLst>
          </a:prstGeom>
          <a:solidFill>
            <a:srgbClr val="F3F4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0" y="2057400"/>
            <a:ext cx="3687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would you investigate before choosing revision?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6118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CALL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98080" y="3950208"/>
            <a:ext cx="607162" cy="365760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3950208"/>
            <a:ext cx="60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233258" y="3950208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33258" y="3950208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URETHRA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363456" y="3950208"/>
            <a:ext cx="1199693" cy="365760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363456" y="3950208"/>
            <a:ext cx="119969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MECHANICS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498080" y="4425696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498080" y="4425696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BLADDER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Established benefit and unresolved questions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MASTER22  ·  TC20  ·  TC23  ·  PREP24  ·  CCSAFETY  ·  DEVICE26  ·  UROACTIVE26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reviews and early electronic-AUS data add options, while comparative and long-term evidence remains limited.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Supported or plausible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Selected patients gain substantial continence benefit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Tissue preservation and contamination control have strong rationale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Future access belongs in the operative plan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Still uncertain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best salvage strategy for a fragile urethra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Optimal irrigants and preparation duration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Comparable long-term ContiClassic outcomes</a:t>
            </a:r>
            <a:endParaRPr lang="en-US" sz="15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Five decisions before implantation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EAU26  ·  AUA24  ·  DU23  ·  ICS16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Demonstrated SUI and a meaningful patient goal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325880" y="2560320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578608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578608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Pump use, access and future capability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325880" y="3310128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328416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3328416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Investigations resolving anatomy, storage and emptying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325880" y="4059936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4078224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4078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4078224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DO, DU and poor compliance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1325880" y="4809744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4828032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0" y="4828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4828032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stable urethra and future access plan</a:t>
            </a:r>
            <a:endParaRPr lang="en-US" sz="17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Five decisions protecting the result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CCIFU  ·  NICE  ·  AP23  ·  ATROPHY20  ·  BAUS25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 antisepsis and appropriate prophylaxis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325880" y="2560320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578608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578608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Preserved tissue and undistorted measurement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325880" y="3310128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328416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3328416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 device protocol and explicit stop conditions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325880" y="4059936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4078224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4078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4078224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Verified deactivation, drainage and patient teaching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1325880" y="4809744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4828032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0" y="4828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4828032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diagnosis before choosing revision</a:t>
            </a:r>
            <a:endParaRPr lang="en-US" sz="17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212848"/>
            <a:ext cx="457200" cy="45720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103120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bladder finding makes you defer an implant?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40080" y="3172968"/>
            <a:ext cx="457200" cy="45720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172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3063240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establishes urethral stability in your practice?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640080" y="4133088"/>
            <a:ext cx="457200" cy="45720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133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4023360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preparation or salvage practice needs a trial?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54864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finding would change your plan?</a:t>
            </a:r>
            <a:endParaRPr lang="en-US" sz="16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BACKUP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Outcome evidence: device and endpoint</a:t>
            </a:r>
            <a:endParaRPr lang="en-US" sz="30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749040"/>
                <a:gridCol w="38706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Study and population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Endpoint and result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Limits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AUSCO 2026: AMS 800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115 primary implants, 25 irradiated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 months after activation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91/97 ≥50% pad-weight reduction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61/101 zero pads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Prospective single-arm, funded by manufacturer. Missing data, one year, expert centres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Linder 2015: AMS 800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1,082 primary implants, 27% irradiated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Freedom from any secondary surgery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KM 74% at five years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57% at ten years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Historical specialist cohort. Continence and revision-free survival differ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Wilson 2024: ContiClassic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116 recipients, mixed indications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Eight revisions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12-month KM device survival 93.2%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Early safety series. No standardised continence comparator; mixed indications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BACKUP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Comparative and preparation evidence</a:t>
            </a:r>
            <a:endParaRPr lang="en-US" sz="30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749040"/>
                <a:gridCol w="38706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Study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Finding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Limits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MASTER 2022 / 2026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380 randomised men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24-month non-inferiority retained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Further surgery: sling 11%, AUS 2%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Selected trial population. Secondary outcomes favour AUS; not general equivalence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Yeung 2013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 initial GU prosthetic procedures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Post-preparation skin culture positivity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8% versus 32%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Surrogate outcome. Mixed devices. No AUS infection or duration conclusion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Gentamicin withdrawal 2026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173 uncoated AMS 800 procedures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90-day SSI: 1/59 versus 2/114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significant difference detected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Sparse events, era confounding, broad systemic prophylaxis; not equivalence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BACKUP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Evidence gaps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048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920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Routine versus selective UDS and meaningful outcomes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0148" y="1783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9" name="Shape 7"/>
          <p:cNvSpPr/>
          <p:nvPr/>
        </p:nvSpPr>
        <p:spPr>
          <a:xfrm>
            <a:off x="6484468" y="2048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84468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033108" y="1920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Functional eligibility in DU or chronic retention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2926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3191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191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063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Staging intervals after different reconstructions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10148" y="2926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17" name="Shape 15"/>
          <p:cNvSpPr/>
          <p:nvPr/>
        </p:nvSpPr>
        <p:spPr>
          <a:xfrm>
            <a:off x="6484468" y="3191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84468" y="3191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033108" y="3063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Comparative protection from salvage strategies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4069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21" name="Shape 19"/>
          <p:cNvSpPr/>
          <p:nvPr/>
        </p:nvSpPr>
        <p:spPr>
          <a:xfrm>
            <a:off x="914400" y="4334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14400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4206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Preparation, irrigation and prolonged prophylaxis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210148" y="4069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25" name="Shape 23"/>
          <p:cNvSpPr/>
          <p:nvPr/>
        </p:nvSpPr>
        <p:spPr>
          <a:xfrm>
            <a:off x="6484468" y="4334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84468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033108" y="4206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Independent long-term ContiClassic outcomes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40080" y="5212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29" name="Shape 27"/>
          <p:cNvSpPr/>
          <p:nvPr/>
        </p:nvSpPr>
        <p:spPr>
          <a:xfrm>
            <a:off x="914400" y="5477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14400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463040" y="5349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Mechanisms and revision strategy in late leakage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Sources 1 of 3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</a:t>
            </a:r>
            <a:endParaRPr lang="en-US" sz="950" dirty="0"/>
          </a:p>
        </p:txBody>
      </p:sp>
      <p:sp>
        <p:nvSpPr>
          <p:cNvPr id="5" name="Text 3">
            <a:hlinkClick r:id="rId1" tooltip=""/>
          </p:cNvPr>
          <p:cNvSpPr txBox="1"/>
          <p:nvPr/>
        </p:nvSpPr>
        <p:spPr>
          <a:xfrm>
            <a:off x="1920240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BAUS consensus, BJU Int 2025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40080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EAU26</a:t>
            </a:r>
            <a:endParaRPr lang="en-US" sz="950" dirty="0"/>
          </a:p>
        </p:txBody>
      </p:sp>
      <p:sp>
        <p:nvSpPr>
          <p:cNvPr id="8" name="Text 6">
            <a:hlinkClick r:id="rId2" tooltip=""/>
          </p:cNvPr>
          <p:cNvSpPr txBox="1"/>
          <p:nvPr/>
        </p:nvSpPr>
        <p:spPr>
          <a:xfrm>
            <a:off x="1920240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EAU male LUTS guidelines, 2026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AUA24</a:t>
            </a:r>
            <a:endParaRPr lang="en-US" sz="950" dirty="0"/>
          </a:p>
        </p:txBody>
      </p:sp>
      <p:sp>
        <p:nvSpPr>
          <p:cNvPr id="11" name="Text 9">
            <a:hlinkClick r:id="rId3" tooltip=""/>
          </p:cNvPr>
          <p:cNvSpPr txBox="1"/>
          <p:nvPr/>
        </p:nvSpPr>
        <p:spPr>
          <a:xfrm>
            <a:off x="1920240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AUA/GURS/SUFU IPT amendment, 2024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EAUSTR26</a:t>
            </a:r>
            <a:endParaRPr lang="en-US" sz="950" dirty="0"/>
          </a:p>
        </p:txBody>
      </p:sp>
      <p:sp>
        <p:nvSpPr>
          <p:cNvPr id="14" name="Text 12">
            <a:hlinkClick r:id="rId4" tooltip=""/>
          </p:cNvPr>
          <p:cNvSpPr txBox="1"/>
          <p:nvPr/>
        </p:nvSpPr>
        <p:spPr>
          <a:xfrm>
            <a:off x="1920240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EAU urethral strictures guidelines, 2026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ICS16</a:t>
            </a:r>
            <a:endParaRPr lang="en-US" sz="950" dirty="0"/>
          </a:p>
        </p:txBody>
      </p:sp>
      <p:sp>
        <p:nvSpPr>
          <p:cNvPr id="17" name="Text 15">
            <a:hlinkClick r:id="rId5" tooltip=""/>
          </p:cNvPr>
          <p:cNvSpPr txBox="1"/>
          <p:nvPr/>
        </p:nvSpPr>
        <p:spPr>
          <a:xfrm>
            <a:off x="1920240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ICS AUS consensus, NUU 2016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AP23</a:t>
            </a:r>
            <a:endParaRPr lang="en-US" sz="950" dirty="0"/>
          </a:p>
        </p:txBody>
      </p:sp>
      <p:sp>
        <p:nvSpPr>
          <p:cNvPr id="20" name="Text 18">
            <a:hlinkClick r:id="rId6" tooltip=""/>
          </p:cNvPr>
          <p:cNvSpPr txBox="1"/>
          <p:nvPr/>
        </p:nvSpPr>
        <p:spPr>
          <a:xfrm>
            <a:off x="1920240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Asia-Pacific AMS 800 consensus, 2023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CCIFU</a:t>
            </a:r>
            <a:endParaRPr lang="en-US" sz="950" dirty="0"/>
          </a:p>
        </p:txBody>
      </p:sp>
      <p:sp>
        <p:nvSpPr>
          <p:cNvPr id="23" name="Text 21">
            <a:hlinkClick r:id="rId7" tooltip=""/>
          </p:cNvPr>
          <p:cNvSpPr txBox="1"/>
          <p:nvPr/>
        </p:nvSpPr>
        <p:spPr>
          <a:xfrm>
            <a:off x="1920240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Rigicon ContiClassic IFU, REV.03, 2023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ICSUDS17</a:t>
            </a:r>
            <a:endParaRPr lang="en-US" sz="950" dirty="0"/>
          </a:p>
        </p:txBody>
      </p:sp>
      <p:sp>
        <p:nvSpPr>
          <p:cNvPr id="26" name="Text 24">
            <a:hlinkClick r:id="rId8" tooltip=""/>
          </p:cNvPr>
          <p:cNvSpPr txBox="1"/>
          <p:nvPr/>
        </p:nvSpPr>
        <p:spPr>
          <a:xfrm>
            <a:off x="1920240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ICS good urodynamic practices, 2017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AUAOAB24</a:t>
            </a:r>
            <a:endParaRPr lang="en-US" sz="950" dirty="0"/>
          </a:p>
        </p:txBody>
      </p:sp>
      <p:sp>
        <p:nvSpPr>
          <p:cNvPr id="29" name="Text 27">
            <a:hlinkClick r:id="rId9" tooltip=""/>
          </p:cNvPr>
          <p:cNvSpPr txBox="1"/>
          <p:nvPr/>
        </p:nvSpPr>
        <p:spPr>
          <a:xfrm>
            <a:off x="1920240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AUA/SUFU idiopathic OAB guideline, 2024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NICE</a:t>
            </a:r>
            <a:endParaRPr lang="en-US" sz="950" dirty="0"/>
          </a:p>
        </p:txBody>
      </p:sp>
      <p:sp>
        <p:nvSpPr>
          <p:cNvPr id="32" name="Text 30">
            <a:hlinkClick r:id="rId10" tooltip=""/>
          </p:cNvPr>
          <p:cNvSpPr txBox="1"/>
          <p:nvPr/>
        </p:nvSpPr>
        <p:spPr>
          <a:xfrm>
            <a:off x="1920240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NICE NG125: surgical site infection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278728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WHO09</a:t>
            </a:r>
            <a:endParaRPr lang="en-US" sz="950" dirty="0"/>
          </a:p>
        </p:txBody>
      </p:sp>
      <p:sp>
        <p:nvSpPr>
          <p:cNvPr id="34" name="Text 32">
            <a:hlinkClick r:id="rId11" tooltip=""/>
          </p:cNvPr>
          <p:cNvSpPr txBox="1"/>
          <p:nvPr/>
        </p:nvSpPr>
        <p:spPr>
          <a:xfrm>
            <a:off x="7558888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WHO hand hygiene guidance, 2009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278728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78728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CHLORA26</a:t>
            </a:r>
            <a:endParaRPr lang="en-US" sz="950" dirty="0"/>
          </a:p>
        </p:txBody>
      </p:sp>
      <p:sp>
        <p:nvSpPr>
          <p:cNvPr id="37" name="Text 35">
            <a:hlinkClick r:id="rId12" tooltip=""/>
          </p:cNvPr>
          <p:cNvSpPr txBox="1"/>
          <p:nvPr/>
        </p:nvSpPr>
        <p:spPr>
          <a:xfrm>
            <a:off x="7558888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ChloraPrep UK product information, 2026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278728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78728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IDSA19</a:t>
            </a:r>
            <a:endParaRPr lang="en-US" sz="950" dirty="0"/>
          </a:p>
        </p:txBody>
      </p:sp>
      <p:sp>
        <p:nvSpPr>
          <p:cNvPr id="40" name="Text 38">
            <a:hlinkClick r:id="rId13" tooltip=""/>
          </p:cNvPr>
          <p:cNvSpPr txBox="1"/>
          <p:nvPr/>
        </p:nvSpPr>
        <p:spPr>
          <a:xfrm>
            <a:off x="7558888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IDSA asymptomatic bacteriuria, 2019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278728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78728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AUAABX20</a:t>
            </a:r>
            <a:endParaRPr lang="en-US" sz="950" dirty="0"/>
          </a:p>
        </p:txBody>
      </p:sp>
      <p:sp>
        <p:nvSpPr>
          <p:cNvPr id="43" name="Text 41">
            <a:hlinkClick r:id="rId14" tooltip=""/>
          </p:cNvPr>
          <p:cNvSpPr txBox="1"/>
          <p:nvPr/>
        </p:nvSpPr>
        <p:spPr>
          <a:xfrm>
            <a:off x="7558888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antimicrobial prophylaxis, 2020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78728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78728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CCSAFETY</a:t>
            </a:r>
            <a:endParaRPr lang="en-US" sz="950" dirty="0"/>
          </a:p>
        </p:txBody>
      </p:sp>
      <p:sp>
        <p:nvSpPr>
          <p:cNvPr id="46" name="Text 44">
            <a:hlinkClick r:id="rId15" tooltip=""/>
          </p:cNvPr>
          <p:cNvSpPr txBox="1"/>
          <p:nvPr/>
        </p:nvSpPr>
        <p:spPr>
          <a:xfrm>
            <a:off x="7558888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Wilson: ContiClassic safety, IJIR 2024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278728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278728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MASTER22</a:t>
            </a:r>
            <a:endParaRPr lang="en-US" sz="950" dirty="0"/>
          </a:p>
        </p:txBody>
      </p:sp>
      <p:sp>
        <p:nvSpPr>
          <p:cNvPr id="49" name="Text 47">
            <a:hlinkClick r:id="rId16" tooltip=""/>
          </p:cNvPr>
          <p:cNvSpPr txBox="1"/>
          <p:nvPr/>
        </p:nvSpPr>
        <p:spPr>
          <a:xfrm>
            <a:off x="7558888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 randomised trial, HTA 2022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6278728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278728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UDS09</a:t>
            </a:r>
            <a:endParaRPr lang="en-US" sz="950" dirty="0"/>
          </a:p>
        </p:txBody>
      </p:sp>
      <p:sp>
        <p:nvSpPr>
          <p:cNvPr id="52" name="Text 50">
            <a:hlinkClick r:id="rId17" tooltip=""/>
          </p:cNvPr>
          <p:cNvSpPr txBox="1"/>
          <p:nvPr/>
        </p:nvSpPr>
        <p:spPr>
          <a:xfrm>
            <a:off x="7558888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Lai: pre-AUS urodynamics, Urology 2009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6278728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278728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OAB11</a:t>
            </a:r>
            <a:endParaRPr lang="en-US" sz="950" dirty="0"/>
          </a:p>
        </p:txBody>
      </p:sp>
      <p:sp>
        <p:nvSpPr>
          <p:cNvPr id="55" name="Text 53">
            <a:hlinkClick r:id="rId18" tooltip=""/>
          </p:cNvPr>
          <p:cNvSpPr txBox="1"/>
          <p:nvPr/>
        </p:nvSpPr>
        <p:spPr>
          <a:xfrm>
            <a:off x="7558888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Lai: OAB and post-prostatectomy AUS, 2011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6278728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278728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DO24</a:t>
            </a:r>
            <a:endParaRPr lang="en-US" sz="950" dirty="0"/>
          </a:p>
        </p:txBody>
      </p:sp>
      <p:sp>
        <p:nvSpPr>
          <p:cNvPr id="58" name="Text 56">
            <a:hlinkClick r:id="rId19" tooltip=""/>
          </p:cNvPr>
          <p:cNvSpPr txBox="1"/>
          <p:nvPr/>
        </p:nvSpPr>
        <p:spPr>
          <a:xfrm>
            <a:off x="7558888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Bhatt: preoperative DO systematic review, 2024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6278728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278728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DOFAIL23</a:t>
            </a:r>
            <a:endParaRPr lang="en-US" sz="950" dirty="0"/>
          </a:p>
        </p:txBody>
      </p:sp>
      <p:sp>
        <p:nvSpPr>
          <p:cNvPr id="61" name="Text 59">
            <a:hlinkClick r:id="rId20" tooltip=""/>
          </p:cNvPr>
          <p:cNvSpPr txBox="1"/>
          <p:nvPr/>
        </p:nvSpPr>
        <p:spPr>
          <a:xfrm>
            <a:off x="7558888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Krughoff: earlier AUS failure, 2023</a:t>
            </a:r>
            <a:endParaRPr lang="en-US" sz="11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Sources 2 of 3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DU23</a:t>
            </a:r>
            <a:endParaRPr lang="en-US" sz="950" dirty="0"/>
          </a:p>
        </p:txBody>
      </p:sp>
      <p:sp>
        <p:nvSpPr>
          <p:cNvPr id="5" name="Text 3">
            <a:hlinkClick r:id="rId1" tooltip=""/>
          </p:cNvPr>
          <p:cNvSpPr txBox="1"/>
          <p:nvPr/>
        </p:nvSpPr>
        <p:spPr>
          <a:xfrm>
            <a:off x="1920240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Han: AUS with detrusor underactivity, 2023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40080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CIC23</a:t>
            </a:r>
            <a:endParaRPr lang="en-US" sz="950" dirty="0"/>
          </a:p>
        </p:txBody>
      </p:sp>
      <p:sp>
        <p:nvSpPr>
          <p:cNvPr id="8" name="Text 6">
            <a:hlinkClick r:id="rId2" tooltip=""/>
          </p:cNvPr>
          <p:cNvSpPr txBox="1"/>
          <p:nvPr/>
        </p:nvSpPr>
        <p:spPr>
          <a:xfrm>
            <a:off x="1920240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Krughoff: CIC after bulbar AUS, 2023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CATH13</a:t>
            </a:r>
            <a:endParaRPr lang="en-US" sz="950" dirty="0"/>
          </a:p>
        </p:txBody>
      </p:sp>
      <p:sp>
        <p:nvSpPr>
          <p:cNvPr id="11" name="Text 9">
            <a:hlinkClick r:id="rId3" tooltip=""/>
          </p:cNvPr>
          <p:cNvSpPr txBox="1"/>
          <p:nvPr/>
        </p:nvSpPr>
        <p:spPr>
          <a:xfrm>
            <a:off x="1920240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Seideman: prolonged catheterisation, 2013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UDS14</a:t>
            </a:r>
            <a:endParaRPr lang="en-US" sz="950" dirty="0"/>
          </a:p>
        </p:txBody>
      </p:sp>
      <p:sp>
        <p:nvSpPr>
          <p:cNvPr id="14" name="Text 12">
            <a:hlinkClick r:id="rId4" tooltip=""/>
          </p:cNvPr>
          <p:cNvSpPr txBox="1"/>
          <p:nvPr/>
        </p:nvSpPr>
        <p:spPr>
          <a:xfrm>
            <a:off x="1920240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Weissbart: absent leak during UDS, 2014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RT22</a:t>
            </a:r>
            <a:endParaRPr lang="en-US" sz="950" dirty="0"/>
          </a:p>
        </p:txBody>
      </p:sp>
      <p:sp>
        <p:nvSpPr>
          <p:cNvPr id="17" name="Text 15">
            <a:hlinkClick r:id="rId5" tooltip=""/>
          </p:cNvPr>
          <p:cNvSpPr txBox="1"/>
          <p:nvPr/>
        </p:nvSpPr>
        <p:spPr>
          <a:xfrm>
            <a:off x="1920240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Zhang: radiation meta-analysis, 2022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URETH26</a:t>
            </a:r>
            <a:endParaRPr lang="en-US" sz="950" dirty="0"/>
          </a:p>
        </p:txBody>
      </p:sp>
      <p:sp>
        <p:nvSpPr>
          <p:cNvPr id="20" name="Text 18">
            <a:hlinkClick r:id="rId6" tooltip=""/>
          </p:cNvPr>
          <p:cNvSpPr txBox="1"/>
          <p:nvPr/>
        </p:nvSpPr>
        <p:spPr>
          <a:xfrm>
            <a:off x="1920240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Davis: AUS after urethroplasty, 2026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TC20</a:t>
            </a:r>
            <a:endParaRPr lang="en-US" sz="950" dirty="0"/>
          </a:p>
        </p:txBody>
      </p:sp>
      <p:sp>
        <p:nvSpPr>
          <p:cNvPr id="23" name="Text 21">
            <a:hlinkClick r:id="rId7" tooltip=""/>
          </p:cNvPr>
          <p:cNvSpPr txBox="1"/>
          <p:nvPr/>
        </p:nvSpPr>
        <p:spPr>
          <a:xfrm>
            <a:off x="1920240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Redmond: transcorporal fragile urethra, 2020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TC23</a:t>
            </a:r>
            <a:endParaRPr lang="en-US" sz="950" dirty="0"/>
          </a:p>
        </p:txBody>
      </p:sp>
      <p:sp>
        <p:nvSpPr>
          <p:cNvPr id="26" name="Text 24">
            <a:hlinkClick r:id="rId8" tooltip=""/>
          </p:cNvPr>
          <p:cNvSpPr txBox="1"/>
          <p:nvPr/>
        </p:nvSpPr>
        <p:spPr>
          <a:xfrm>
            <a:off x="1920240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Kurtzman: high-risk transcorporal AUS, 2023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ATROPHY20</a:t>
            </a:r>
            <a:endParaRPr lang="en-US" sz="950" dirty="0"/>
          </a:p>
        </p:txBody>
      </p:sp>
      <p:sp>
        <p:nvSpPr>
          <p:cNvPr id="29" name="Text 27">
            <a:hlinkClick r:id="rId9" tooltip=""/>
          </p:cNvPr>
          <p:cNvSpPr txBox="1"/>
          <p:nvPr/>
        </p:nvSpPr>
        <p:spPr>
          <a:xfrm>
            <a:off x="1920240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Bergeson: urethral atrophy and revision, 2020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PREP24</a:t>
            </a:r>
            <a:endParaRPr lang="en-US" sz="950" dirty="0"/>
          </a:p>
        </p:txBody>
      </p:sp>
      <p:sp>
        <p:nvSpPr>
          <p:cNvPr id="32" name="Text 30">
            <a:hlinkClick r:id="rId10" tooltip=""/>
          </p:cNvPr>
          <p:cNvSpPr txBox="1"/>
          <p:nvPr/>
        </p:nvSpPr>
        <p:spPr>
          <a:xfrm>
            <a:off x="1920240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Bourgi: AUS preparation protocols, 2024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278728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YEUNG13</a:t>
            </a:r>
            <a:endParaRPr lang="en-US" sz="950" dirty="0"/>
          </a:p>
        </p:txBody>
      </p:sp>
      <p:sp>
        <p:nvSpPr>
          <p:cNvPr id="34" name="Text 32">
            <a:hlinkClick r:id="rId11" tooltip=""/>
          </p:cNvPr>
          <p:cNvSpPr txBox="1"/>
          <p:nvPr/>
        </p:nvSpPr>
        <p:spPr>
          <a:xfrm>
            <a:off x="7558888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Yeung: GU skin preparation RCT, 2013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278728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78728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ABX18</a:t>
            </a:r>
            <a:endParaRPr lang="en-US" sz="950" dirty="0"/>
          </a:p>
        </p:txBody>
      </p:sp>
      <p:sp>
        <p:nvSpPr>
          <p:cNvPr id="37" name="Text 35">
            <a:hlinkClick r:id="rId12" tooltip=""/>
          </p:cNvPr>
          <p:cNvSpPr txBox="1"/>
          <p:nvPr/>
        </p:nvSpPr>
        <p:spPr>
          <a:xfrm>
            <a:off x="7558888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Adamsky: postoperative antibiotics, 2018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278728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78728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TOUCH23</a:t>
            </a:r>
            <a:endParaRPr lang="en-US" sz="950" dirty="0"/>
          </a:p>
        </p:txBody>
      </p:sp>
      <p:sp>
        <p:nvSpPr>
          <p:cNvPr id="40" name="Text 38">
            <a:hlinkClick r:id="rId13" tooltip=""/>
          </p:cNvPr>
          <p:cNvSpPr txBox="1"/>
          <p:nvPr/>
        </p:nvSpPr>
        <p:spPr>
          <a:xfrm>
            <a:off x="7558888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Ziegelmann: minimal-touch AUS, 2023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278728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78728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LINDER15</a:t>
            </a:r>
            <a:endParaRPr lang="en-US" sz="950" dirty="0"/>
          </a:p>
        </p:txBody>
      </p:sp>
      <p:sp>
        <p:nvSpPr>
          <p:cNvPr id="43" name="Text 41">
            <a:hlinkClick r:id="rId14" tooltip=""/>
          </p:cNvPr>
          <p:cNvSpPr txBox="1"/>
          <p:nvPr/>
        </p:nvSpPr>
        <p:spPr>
          <a:xfrm>
            <a:off x="7558888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Linder: long-term AMS 800 outcomes, 2015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78728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78728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AUSCO26</a:t>
            </a:r>
            <a:endParaRPr lang="en-US" sz="950" dirty="0"/>
          </a:p>
        </p:txBody>
      </p:sp>
      <p:sp>
        <p:nvSpPr>
          <p:cNvPr id="46" name="Text 44">
            <a:hlinkClick r:id="rId15" tooltip=""/>
          </p:cNvPr>
          <p:cNvSpPr txBox="1"/>
          <p:nvPr/>
        </p:nvSpPr>
        <p:spPr>
          <a:xfrm>
            <a:off x="7558888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Kaufman: AMS 800 AUSCO study, 2026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278728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278728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AUASTATUS26</a:t>
            </a:r>
            <a:endParaRPr lang="en-US" sz="950" dirty="0"/>
          </a:p>
        </p:txBody>
      </p:sp>
      <p:sp>
        <p:nvSpPr>
          <p:cNvPr id="49" name="Text 47">
            <a:hlinkClick r:id="rId16" tooltip=""/>
          </p:cNvPr>
          <p:cNvSpPr txBox="1"/>
          <p:nvPr/>
        </p:nvSpPr>
        <p:spPr>
          <a:xfrm>
            <a:off x="7558888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current guideline register, July 2026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6278728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278728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BAUSDAY26</a:t>
            </a:r>
            <a:endParaRPr lang="en-US" sz="950" dirty="0"/>
          </a:p>
        </p:txBody>
      </p:sp>
      <p:sp>
        <p:nvSpPr>
          <p:cNvPr id="52" name="Text 50">
            <a:hlinkClick r:id="rId17" tooltip=""/>
          </p:cNvPr>
          <p:cNvSpPr txBox="1"/>
          <p:nvPr/>
        </p:nvSpPr>
        <p:spPr>
          <a:xfrm>
            <a:off x="7558888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BAUS 2026 P4-8: day-case AUS audit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6278728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278728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BAUSSCI26</a:t>
            </a:r>
            <a:endParaRPr lang="en-US" sz="950" dirty="0"/>
          </a:p>
        </p:txBody>
      </p:sp>
      <p:sp>
        <p:nvSpPr>
          <p:cNvPr id="55" name="Text 53">
            <a:hlinkClick r:id="rId18" tooltip=""/>
          </p:cNvPr>
          <p:cNvSpPr txBox="1"/>
          <p:nvPr/>
        </p:nvSpPr>
        <p:spPr>
          <a:xfrm>
            <a:off x="7558888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BAUS 2026 P12-7: bulbar AUS in SCI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6278728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278728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AUAUDS26</a:t>
            </a:r>
            <a:endParaRPr lang="en-US" sz="950" dirty="0"/>
          </a:p>
        </p:txBody>
      </p:sp>
      <p:sp>
        <p:nvSpPr>
          <p:cNvPr id="58" name="Text 56">
            <a:hlinkClick r:id="rId19" tooltip=""/>
          </p:cNvPr>
          <p:cNvSpPr txBox="1"/>
          <p:nvPr/>
        </p:nvSpPr>
        <p:spPr>
          <a:xfrm>
            <a:off x="7558888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2026 IP09-22: pre-AUS UDS and cystoscopy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6278728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278728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AUAABX26</a:t>
            </a:r>
            <a:endParaRPr lang="en-US" sz="950" dirty="0"/>
          </a:p>
        </p:txBody>
      </p:sp>
      <p:sp>
        <p:nvSpPr>
          <p:cNvPr id="61" name="Text 59">
            <a:hlinkClick r:id="rId20" tooltip=""/>
          </p:cNvPr>
          <p:cNvSpPr txBox="1"/>
          <p:nvPr/>
        </p:nvSpPr>
        <p:spPr>
          <a:xfrm>
            <a:off x="7558888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2026 IP09-18: postoperative antibiotics</a:t>
            </a:r>
            <a:endParaRPr lang="en-US" sz="11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Sources 3 of 3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AUASAFER26</a:t>
            </a:r>
            <a:endParaRPr lang="en-US" sz="950" dirty="0"/>
          </a:p>
        </p:txBody>
      </p:sp>
      <p:sp>
        <p:nvSpPr>
          <p:cNvPr id="5" name="Text 3">
            <a:hlinkClick r:id="rId1" tooltip=""/>
          </p:cNvPr>
          <p:cNvSpPr txBox="1"/>
          <p:nvPr/>
        </p:nvSpPr>
        <p:spPr>
          <a:xfrm>
            <a:off x="1920240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2026 IP09-17: SAFER erosion management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40080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MASTER26</a:t>
            </a:r>
            <a:endParaRPr lang="en-US" sz="950" dirty="0"/>
          </a:p>
        </p:txBody>
      </p:sp>
      <p:sp>
        <p:nvSpPr>
          <p:cNvPr id="8" name="Text 6">
            <a:hlinkClick r:id="rId2" tooltip=""/>
          </p:cNvPr>
          <p:cNvSpPr txBox="1"/>
          <p:nvPr/>
        </p:nvSpPr>
        <p:spPr>
          <a:xfrm>
            <a:off x="1920240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MASTER: 24-month RCT results, 2026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URETHMETA26</a:t>
            </a:r>
            <a:endParaRPr lang="en-US" sz="950" dirty="0"/>
          </a:p>
        </p:txBody>
      </p:sp>
      <p:sp>
        <p:nvSpPr>
          <p:cNvPr id="11" name="Text 9">
            <a:hlinkClick r:id="rId3" tooltip=""/>
          </p:cNvPr>
          <p:cNvSpPr txBox="1"/>
          <p:nvPr/>
        </p:nvSpPr>
        <p:spPr>
          <a:xfrm>
            <a:off x="1920240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Prior urethroplasty: meta-analysis, 2026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IRRIG26</a:t>
            </a:r>
            <a:endParaRPr lang="en-US" sz="950" dirty="0"/>
          </a:p>
        </p:txBody>
      </p:sp>
      <p:sp>
        <p:nvSpPr>
          <p:cNvPr id="14" name="Text 12">
            <a:hlinkClick r:id="rId4" tooltip=""/>
          </p:cNvPr>
          <p:cNvSpPr txBox="1"/>
          <p:nvPr/>
        </p:nvSpPr>
        <p:spPr>
          <a:xfrm>
            <a:off x="1920240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Gentamicin withdrawal: AMS 800 cohort, 2026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DAYMETA26</a:t>
            </a:r>
            <a:endParaRPr lang="en-US" sz="950" dirty="0"/>
          </a:p>
        </p:txBody>
      </p:sp>
      <p:sp>
        <p:nvSpPr>
          <p:cNvPr id="17" name="Text 15">
            <a:hlinkClick r:id="rId5" tooltip=""/>
          </p:cNvPr>
          <p:cNvSpPr txBox="1"/>
          <p:nvPr/>
        </p:nvSpPr>
        <p:spPr>
          <a:xfrm>
            <a:off x="1920240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Day-case AUS meta-analysis: 2026 issue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DAYCASE26</a:t>
            </a:r>
            <a:endParaRPr lang="en-US" sz="950" dirty="0"/>
          </a:p>
        </p:txBody>
      </p:sp>
      <p:sp>
        <p:nvSpPr>
          <p:cNvPr id="20" name="Text 18">
            <a:hlinkClick r:id="rId6" tooltip=""/>
          </p:cNvPr>
          <p:cNvSpPr txBox="1"/>
          <p:nvPr/>
        </p:nvSpPr>
        <p:spPr>
          <a:xfrm>
            <a:off x="1920240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Day-case versus inpatient AUS: 177 men, 2026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FRAIL26</a:t>
            </a:r>
            <a:endParaRPr lang="en-US" sz="950" dirty="0"/>
          </a:p>
        </p:txBody>
      </p:sp>
      <p:sp>
        <p:nvSpPr>
          <p:cNvPr id="23" name="Text 21">
            <a:hlinkClick r:id="rId7" tooltip=""/>
          </p:cNvPr>
          <p:cNvSpPr txBox="1"/>
          <p:nvPr/>
        </p:nvSpPr>
        <p:spPr>
          <a:xfrm>
            <a:off x="1920240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Frailty and SUI surgery: Medicare cohort, 2026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PAD26</a:t>
            </a:r>
            <a:endParaRPr lang="en-US" sz="950" dirty="0"/>
          </a:p>
        </p:txBody>
      </p:sp>
      <p:sp>
        <p:nvSpPr>
          <p:cNvPr id="26" name="Text 24">
            <a:hlinkClick r:id="rId8" tooltip=""/>
          </p:cNvPr>
          <p:cNvSpPr txBox="1"/>
          <p:nvPr/>
        </p:nvSpPr>
        <p:spPr>
          <a:xfrm>
            <a:off x="1920240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Pad count versus 24-hour weight: 2026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PRBFAT26</a:t>
            </a:r>
            <a:endParaRPr lang="en-US" sz="950" dirty="0"/>
          </a:p>
        </p:txBody>
      </p:sp>
      <p:sp>
        <p:nvSpPr>
          <p:cNvPr id="29" name="Text 27">
            <a:hlinkClick r:id="rId9" tooltip=""/>
          </p:cNvPr>
          <p:cNvSpPr txBox="1"/>
          <p:nvPr/>
        </p:nvSpPr>
        <p:spPr>
          <a:xfrm>
            <a:off x="1920240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PRB material fatigue: 2026 issue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REGRET26</a:t>
            </a:r>
            <a:endParaRPr lang="en-US" sz="950" dirty="0"/>
          </a:p>
        </p:txBody>
      </p:sp>
      <p:sp>
        <p:nvSpPr>
          <p:cNvPr id="32" name="Text 30">
            <a:hlinkClick r:id="rId10" tooltip=""/>
          </p:cNvPr>
          <p:cNvSpPr txBox="1"/>
          <p:nvPr/>
        </p:nvSpPr>
        <p:spPr>
          <a:xfrm>
            <a:off x="1920240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Long-term decisional regret after AUS, 2026 issue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278728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INSTR26</a:t>
            </a:r>
            <a:endParaRPr lang="en-US" sz="950" dirty="0"/>
          </a:p>
        </p:txBody>
      </p:sp>
      <p:sp>
        <p:nvSpPr>
          <p:cNvPr id="34" name="Text 32">
            <a:hlinkClick r:id="rId11" tooltip=""/>
          </p:cNvPr>
          <p:cNvSpPr txBox="1"/>
          <p:nvPr/>
        </p:nvSpPr>
        <p:spPr>
          <a:xfrm>
            <a:off x="7558888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AUS instrumentation knowledge survey, 2026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278728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78728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EROSION26</a:t>
            </a:r>
            <a:endParaRPr lang="en-US" sz="950" dirty="0"/>
          </a:p>
        </p:txBody>
      </p:sp>
      <p:sp>
        <p:nvSpPr>
          <p:cNvPr id="37" name="Text 35">
            <a:hlinkClick r:id="rId12" tooltip=""/>
          </p:cNvPr>
          <p:cNvSpPr txBox="1"/>
          <p:nvPr/>
        </p:nvSpPr>
        <p:spPr>
          <a:xfrm>
            <a:off x="7558888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Immediate urethral repair at explantation, 2026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278728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78728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DEVICE26</a:t>
            </a:r>
            <a:endParaRPr lang="en-US" sz="950" dirty="0"/>
          </a:p>
        </p:txBody>
      </p:sp>
      <p:sp>
        <p:nvSpPr>
          <p:cNvPr id="40" name="Text 38">
            <a:hlinkClick r:id="rId13" tooltip=""/>
          </p:cNvPr>
          <p:cNvSpPr txBox="1"/>
          <p:nvPr/>
        </p:nvSpPr>
        <p:spPr>
          <a:xfrm>
            <a:off x="7558888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Emerging AUS devices review, 2026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278728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78728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SECOND26</a:t>
            </a:r>
            <a:endParaRPr lang="en-US" sz="950" dirty="0"/>
          </a:p>
        </p:txBody>
      </p:sp>
      <p:sp>
        <p:nvSpPr>
          <p:cNvPr id="43" name="Text 41">
            <a:hlinkClick r:id="rId14" tooltip=""/>
          </p:cNvPr>
          <p:cNvSpPr txBox="1"/>
          <p:nvPr/>
        </p:nvSpPr>
        <p:spPr>
          <a:xfrm>
            <a:off x="7558888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Second AUS survival: national French cohort, 2026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78728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78728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TCSYS25</a:t>
            </a:r>
            <a:endParaRPr lang="en-US" sz="950" dirty="0"/>
          </a:p>
        </p:txBody>
      </p:sp>
      <p:sp>
        <p:nvSpPr>
          <p:cNvPr id="46" name="Text 44">
            <a:hlinkClick r:id="rId15" tooltip=""/>
          </p:cNvPr>
          <p:cNvSpPr txBox="1"/>
          <p:nvPr/>
        </p:nvSpPr>
        <p:spPr>
          <a:xfrm>
            <a:off x="7558888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Transcorporal systematic review, online 2025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278728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278728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RTTIME25</a:t>
            </a:r>
            <a:endParaRPr lang="en-US" sz="950" dirty="0"/>
          </a:p>
        </p:txBody>
      </p:sp>
      <p:sp>
        <p:nvSpPr>
          <p:cNvPr id="49" name="Text 47">
            <a:hlinkClick r:id="rId16" tooltip=""/>
          </p:cNvPr>
          <p:cNvSpPr txBox="1"/>
          <p:nvPr/>
        </p:nvSpPr>
        <p:spPr>
          <a:xfrm>
            <a:off x="7558888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Radiation and cuff-removal timing cohort, 2025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6278728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278728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UROACTIVE26</a:t>
            </a:r>
            <a:endParaRPr lang="en-US" sz="950" dirty="0"/>
          </a:p>
        </p:txBody>
      </p:sp>
      <p:sp>
        <p:nvSpPr>
          <p:cNvPr id="52" name="Text 50">
            <a:hlinkClick r:id="rId17" tooltip=""/>
          </p:cNvPr>
          <p:cNvSpPr txBox="1"/>
          <p:nvPr/>
        </p:nvSpPr>
        <p:spPr>
          <a:xfrm>
            <a:off x="7558888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Electronic AUS: first-in-human study, 2026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6278728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278728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REPORT26</a:t>
            </a:r>
            <a:endParaRPr lang="en-US" sz="950" dirty="0"/>
          </a:p>
        </p:txBody>
      </p:sp>
      <p:sp>
        <p:nvSpPr>
          <p:cNvPr id="55" name="Text 53">
            <a:hlinkClick r:id="rId18" tooltip=""/>
          </p:cNvPr>
          <p:cNvSpPr txBox="1"/>
          <p:nvPr/>
        </p:nvSpPr>
        <p:spPr>
          <a:xfrm>
            <a:off x="7558888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Standardised complication reporting: 2026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6278728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Artificial urinary sphincter surgery</dc:title>
  <dc:subject>Patient selection, difficult bladders and difficult urethras</dc:subject>
  <dc:creator>Mr Andrew Baird, Mr Abu Yousif, Nity G</dc:creator>
  <cp:lastModifiedBy>Mr Andrew Baird, Mr Abu Yousif, Nity G</cp:lastModifiedBy>
  <cp:revision>1</cp:revision>
  <dcterms:created xsi:type="dcterms:W3CDTF">2026-10-20T12:10:29Z</dcterms:created>
  <dcterms:modified xsi:type="dcterms:W3CDTF">2026-10-20T12:10:29Z</dcterms:modified>
</cp:coreProperties>
</file>