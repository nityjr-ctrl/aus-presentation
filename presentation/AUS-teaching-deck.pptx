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87b086-551d-5f46-0003-d848299d612b}">
          <p14:sldIdLst>
            <p14:sldId id="256"/>
          </p14:sldIdLst>
        </p14:section>
        <p14:section name="Act I · Decide before theatre" id="{8c69f769-6975-a178-0ee4-d6da16800527}">
          <p14:sldIdLst>
            <p14:sldId id="257"/>
            <p14:sldId id="258"/>
            <p14:sldId id="259"/>
            <p14:sldId id="260"/>
            <p14:sldId id="261"/>
            <p14:sldId id="262"/>
            <p14:sldId id="263"/>
            <p14:sldId id="264"/>
            <p14:sldId id="265"/>
            <p14:sldId id="266"/>
          </p14:sldIdLst>
        </p14:section>
        <p14:section name="Act II · The bladder" id="{1b9adce9-1ca3-665a-1b47-262cb8842b3f}">
          <p14:sldIdLst>
            <p14:sldId id="267"/>
            <p14:sldId id="268"/>
            <p14:sldId id="269"/>
            <p14:sldId id="270"/>
            <p14:sldId id="271"/>
            <p14:sldId id="272"/>
          </p14:sldIdLst>
        </p14:section>
        <p14:section name="Act III · The urethra" id="{58c995ce-404d-2dec-f661-e6417ebfb0af}">
          <p14:sldIdLst>
            <p14:sldId id="273"/>
            <p14:sldId id="274"/>
            <p14:sldId id="275"/>
            <p14:sldId id="276"/>
            <p14:sldId id="277"/>
            <p14:sldId id="278"/>
          </p14:sldIdLst>
        </p14:section>
        <p14:section name="Act IV · Preparation without ritual" id="{3d2ba0c4-23ad-ef8f-66e4-d1d052469ecd}">
          <p14:sldIdLst>
            <p14:sldId id="279"/>
            <p14:sldId id="280"/>
            <p14:sldId id="281"/>
            <p14:sldId id="282"/>
            <p14:sldId id="283"/>
            <p14:sldId id="284"/>
          </p14:sldIdLst>
        </p14:section>
        <p14:section name="Act V · The operation" id="{ee22aa5a-88b7-a77d-08cc-2ab5020edf97}">
          <p14:sldIdLst>
            <p14:sldId id="285"/>
            <p14:sldId id="286"/>
            <p14:sldId id="287"/>
            <p14:sldId id="288"/>
            <p14:sldId id="289"/>
            <p14:sldId id="290"/>
            <p14:sldId id="291"/>
            <p14:sldId id="292"/>
            <p14:sldId id="293"/>
          </p14:sldIdLst>
        </p14:section>
        <p14:section name="Act VI · After the implant" id="{303e3e2c-a1a6-8ce9-6ec0-9c8da3c57654}">
          <p14:sldIdLst>
            <p14:sldId id="294"/>
            <p14:sldId id="295"/>
            <p14:sldId id="296"/>
            <p14:sldId id="297"/>
            <p14:sldId id="298"/>
            <p14:sldId id="299"/>
            <p14:sldId id="300"/>
          </p14:sldIdLst>
        </p14:section>
        <p14:section name="Backup and references" id="{426bd812-530b-3108-b256-4cedff0f52a3}">
          <p14:sldIdLst>
            <p14:sldId id="301"/>
            <p14:sldId id="302"/>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0F7F86"/>
            </a:solidFill>
            <a:ln w="38100" cap="flat">
              <a:solidFill>
                <a:srgbClr val="0F7F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F86"/>
              </a:solidFill>
              <a:ln w="9525" cap="flat">
                <a:solidFill>
                  <a:srgbClr val="0F7F86"/>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c:v>
                </c:pt>
                <c:pt idx="2">
                  <c:v>0</c:v>
                </c:pt>
                <c:pt idx="3">
                  <c:v>0.4</c:v>
                </c:pt>
                <c:pt idx="4">
                  <c:v>2.8</c:v>
                </c:pt>
                <c:pt idx="5">
                  <c:v>7</c:v>
                </c:pt>
                <c:pt idx="6">
                  <c:v>1.2</c:v>
                </c:pt>
                <c:pt idx="7">
                  <c:v>0.4</c:v>
                </c:pt>
                <c:pt idx="8">
                  <c:v>0</c:v>
                </c:pt>
                <c:pt idx="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C2482D"/>
            </a:solidFill>
            <a:ln w="38100" cap="flat">
              <a:solidFill>
                <a:srgbClr val="C248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482D"/>
              </a:solidFill>
              <a:ln w="9525" cap="flat">
                <a:solidFill>
                  <a:srgbClr val="C2482D"/>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0.3</c:v>
                </c:pt>
                <c:pt idx="2">
                  <c:v>0.7</c:v>
                </c:pt>
                <c:pt idx="3">
                  <c:v>1.2</c:v>
                </c:pt>
                <c:pt idx="4">
                  <c:v>1.8</c:v>
                </c:pt>
                <c:pt idx="5">
                  <c:v>2.6</c:v>
                </c:pt>
                <c:pt idx="6">
                  <c:v>3.5</c:v>
                </c:pt>
                <c:pt idx="7">
                  <c:v>4.6</c:v>
                </c:pt>
                <c:pt idx="8">
                  <c:v>5.8</c:v>
                </c:pt>
                <c:pt idx="9">
                  <c:v>7.2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Positive cultures</c:v>
                </c:pt>
              </c:strCache>
            </c:strRef>
          </c:tx>
          <c:spPr>
            <a:solidFill>
              <a:srgbClr val="0F7F86"/>
            </a:solidFill>
            <a:effectLst/>
          </c:spPr>
          <c:invertIfNegative val="0"/>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F7F86"/>
              </a:solidFill>
              <a:effectLst/>
            </c:spPr>
          </c:dPt>
          <c:dPt>
            <c:idx val="1"/>
            <c:invertIfNegative val="0"/>
            <c:bubble3D val="0"/>
            <c:spPr>
              <a:solidFill>
                <a:srgbClr val="C2482D"/>
              </a:solidFill>
              <a:effectLst/>
            </c:spPr>
          </c:dPt>
          <c:cat>
            <c:multiLvlStrRef>
              <c:f>Sheet1!$A$2:$A$3</c:f>
              <c:multiLvlStrCache>
                <c:ptCount val="2"/>
                <c:lvl>
                  <c:pt idx="0">
                    <c:v>Chlorhexidine–alcohol</c:v>
                  </c:pt>
                  <c:pt idx="1">
                    <c:v>Povidone–iodine</c:v>
                  </c:pt>
                </c:lvl>
              </c:multiLvlStrCache>
            </c:multiLvlStrRef>
          </c:cat>
          <c:val>
            <c:numRef>
              <c:f>Sheet1!$B$2:$B$3</c:f>
              <c:numCache>
                <c:formatCode>General</c:formatCode>
                <c:ptCount val="2"/>
                <c:pt idx="0">
                  <c:v>8</c:v>
                </c:pt>
                <c:pt idx="1">
                  <c:v>32</c:v>
                </c:pt>
              </c:numCache>
            </c:numRef>
          </c:val>
        </c:ser>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DE2E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DE2E8"/>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B95A1"/>
                </a:solidFill>
                <a:latin typeface="+mn-lt"/>
              </a:defRPr>
            </a:pPr>
            <a:endParaRPr lang="en-US"/>
          </a:p>
        </c:txPr>
        <c:crossAx val="2094734554"/>
        <c:crosses val="autoZero"/>
        <c:crossBetween val="between"/>
        <c:majorUnit val="10"/>
      </c:valAx>
      <c:spPr>
        <a:solidFill>
          <a:srgbClr val="F3F4F6"/>
        </a:solidFill>
        <a:ln>
          <a:noFill/>
        </a:ln>
        <a:effectLst/>
      </c:spPr>
    </c:plotArea>
    <c:plotVisOnly val="1"/>
    <c:dispBlanksAs val="span"/>
  </c:chart>
  <c:spPr>
    <a:solidFill>
      <a:srgbClr val="F3F4F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displayed before the timed teaching session. Presenters: Mr Andrew Baird, Urology Consultant; Mr Abu Yousif, Urology Consultant; Nity G, ST5 Urology Registrar. Add the meeting and date on the slide. Add personal disclosures to teaching slide 02 before presenting.
Image: UroOps 3D teaching schematic of the implanted device, captured from https://uroops3d.com/lab/aus on 10 October 2026, with clinical review pending. It is not a record of an actual operation. No personal operative experience or local outcomes are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00:00 – 14:00 · 14 minutes · teaching slides 1–9]
Transition slide; it takes no time from the clock. Read the act title, say the one-line question, and move on.
SAY
"Can this patient obtain useful continence while storing and emptying safely and operating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01 of 38 · 00:00-01:30 · 1:30]
THIS SLIDE: The decision lens for the whole hour: implant, optimise, investigate or reconsider.
SAY
An AUS can be a technically satisfactory implant and a disappointing treatment. The cuff may coapt, the pump may cycle, and the patient may still avoid leaving the house because urgency, difficult emptying or fear of another procedure dominates his life.
Today we want to follow the decisions that separate those outcomes. We will start with what the patient actually wants, then examine the bladder and urethra that are to be operated on. We will spend time on evidence-based preparation and the small operative decisions that are difficult to rescue later.
One question will keep coming back, and it is on the slide in four words. Would we implant now, optimise first, investigate further, or reconsider whether an AUS is the right treatment? Each of those choices needs a reason, and we will keep returning to them with four fictional patients.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Before we use any of that evidence, we should be honest about what kind of evidence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02 of 38 · 01:30-03:00 · 1:30]
THIS SLIDE: The four kinds of authority we will cite, and the boundary between devices.
SAY
Thank you to Rigicon for organising the meeting. The clinical discussion needs to stay independent of the sponsor, so device choice should follow the evidence, patient suitability and the instructions for that device.
We have useful guidance, but agreement among experts is not the same as a comparative trial. A manufacturer's instruction tells us how its product is intended to be used. It tells us nothing about whether that product outperforms another. A retrospective series can identify a concern without proving that the proposed solution prevents it.
The BAUS consensus is particularly useful because it sets out the clinical pathway. We will compare it with EAU and AUA guidance where they differ. The ICS and Asia-Pacific consensus documents are also useful, but both are centred on the AMS 800.
Our aims are to choose investigations sensibly, separate three different bladder problems, preserve a usable urethra, question preparation rituals and diagnose failure before choosing revision. Where the evidence stops, we will say so.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AUASTATUS26 — AUA current guideline register, July 2026. What it is: Official register page. What it says: Still lists Incontinence after Prostate Treatment as amended in 2024; no 2026 amendment exists. Meeting abstracts and update courses are not a new guideline.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TRANSITION → So let us begin where the patient begins: with the leak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03 of 38 · 03:00-04:45 · 1:45]
THIS SLIDE: Characterising the leak and agreeing what improvement would be worth an implant.
SAY
Start with a description of a bad day. Does he leak when standing, walking or coughing? Does an urge come before the leak? Is he dry overnight, or does night-time leakage suggest another cause? Mixed symptoms are common, but the word mixed must not replace an explanation.
Demonstrate stress leakage with a suitably filled bladder and a practical provocative test. If the history and examination disagree, investigate that disagreement. A dry examination just after he has emptied his bladder proves very little.
Pad number is easy to record, but it depends on pad capacity and the patient's changing behaviour. The 2026 pad study tells us that count tracks leakage well overall, yet two to four pads a day hides a wide range of weights. A pad-weight assessment quantifies leakage when severity or progress is uncertain, provided the collection conditions and activity are recorded. A diary helps separate urinary frequency from precautionary voiding.
Then ask what improvement would justify an implant. Walking the golf course, returning to work or managing with one precautionary pad may matter more than a label of continence. Record a validated symptom and quality-of-life measure, and keep the patient's own goal beside it.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PAD26 — Pad count versus 24-hour pad weight 2026 (Domínguez Argomedo et al., BJU Int). What it is: Retrospective analysis of prospective follow-up, 2,040 men, 8,787 paired measurements. What it says: Pad count tracked leakage well overall (Spearman rho 0.94), but two to four pads a day had considerable weight variability. Measure pad weight when the intermediate count leaves severity uncertain.
TRANSITION → Once we know what he wants back, the next question is when, and whether an AUS is the only route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04 of 38 · 04:45-06:15 · 1:30]
THIS SLIDE: When to operate after prostate treatment, and where the sling trial fits.
SAY
Do not let conservative management drift on indefinitely. But do not interrupt a convincing recovery without a reason either. Establish what has been tried, whether pelvic-floor training was properly taught, and whether leakage is still improving.
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 Anticipated salvage treatment, recurrence and the patient's recovery so far still belong in the decision.
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
The MASTER trial supports an informed comparison. At 24 months the sling remained non-inferior on its primary continence endpoint, but further surgery was needed in eleven per cent after sling against two per cent after AUS. Non-inferiority on one endpoint does not make the procedures interchangeable in every subgroup. The trial excluded previous continence implants and unresolved narrowing, so it should not be applied to complex revision practice.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MASTER26 — MASTER 24-month results 2026 (Constable et al., Eur Urol Focus). What it is: Extended follow-up of the same 380 randomised men. What it says: Sling remained non-inferior on the strict self-reported continence endpoint at 24 months (difference −0.6 points, 95% CI −9.2 to +8.0). Further surgery: 11% after sling versus 2% after AUS; secondary outcomes generally favoured AUS. Non-inferiority on one endpoint is not identical effectiveness.
TRANSITION → Timing assumes the patient can use the device. That is the next thing to test, and we test it rather than ask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05 of 38 · 06:15-07:30 · 1:15]
THIS SLIDE: A demonstrated task: can this patient operate this pump now and in five years?
SAY
Ask the patient to operate a demonstration pump, and watch what happens. Arthritis, neuropathy, tremor and weak pinch may only show when he attempts the task.
Access matters as much as strength. Can he reach the proposed side of the scrotum while seated? Obesity, a high scrotum, limited hip movement or another scrotal device can make a well placed pump unusable. Agree the side with him, because his dominant hand alone does not settle it.
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
Frailty is more than an age cutoff. The 2026 Medicare cohort links claims-defined frailty to early complications and to later revision, independently of age. Balance anaesthetic burden, recovery, expected benefit and the likelihood of future revision. If safe independent use is unlikely, reconsider the treatment.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TRANSITION → With the patient assessed, we turn to the two investigations that most often change the plan. First the cystoscope.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06 of 38 · 07:30-09:15 · 1:45]
THIS SLIDE: What a flexible cystoscopy is for, and which findings change the plan.
SAY
The AUA recommends cystourethroscopy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
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
Look for a stricture, vesicourethral anastomotic stenosis, bladder-neck contracture, foreign material or previous cuff erosion. Bladder stones, tumour and significant radiation changes may alter treatment or predict repeated instrumentation.
With suspected narrowing, add flow and residual assessment and define the site and length. Retrograde urethrography, sometimes with a voiding study, is useful when reconstruction is being considered or the segment cannot be assessed endoscopically. And do not turn a diagnostic cystoscopy into an unplanned dilation simply to complete the examination.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The second investigation is where the guidelines genuinely disagree, so we will name the positions rather than blur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07 of 38 · 09:15-11:00 · 1:45]
THIS SLIDE: Three guidelines, three positions on urodynamics. We say which one we follow.
SAY
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
The yield is greatest when stress leakage is uncertain, urgency is dominant, emptying is poor, compliance is a concern, or previous treatment has complicated the mechanism. In an uncomplicated man with demonstrable severe stress leakage, reassuring emptying and no worrying storage symptoms, urodynamics may add little under the AUA approach. BAUS and EAU still take a different position.
Before requesting the test, state the question. Is this unsafe storage, obstruction, weak contraction, or a bladder that never gets a chance to fill? Decide in advance what would change surgery or counselling.
We found no comparative trial showing that routine testing itself improves AUS outcomes for every candidate. A consensus can recommend a sensible investigation without proof that its universal use is superior. The 2026 AUA abstract revisits this question, but its full results were not available, so we quote the topic and nothing more.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AUASTATUS26 — AUA current guideline register, July 2026. What it is: Official register page. What it says: Still lists Incontinence after Prostate Treatment as amended in 2024; no 2026 amendment exists. Meeting abstracts and update courses are not a new guideline.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Whichever pathway you follow, the study you get back will be imperfect. Here is how we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08 of 38 · 11:00-12:45 · 1:45]
THIS SLIDE: A five-step way to read an imperfect urodynamic study beside the real patient.
SAY
A man who leaks throughout filling may never reach a meaningful storage challenge. A small recorded capacity can reflect leakage, urgency, discomfort, filling conditions or genuinely poor storage, and each of those leads to a different decision.
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
A catheter in place during a pressure-flow study may inhibit voiding or alter outlet behaviour. Weissbart's series is the reminder: thirty-two of 169 men did not leak with the catheter in and every one of them leaked once it came out. And a man who empties by abdominal straining through a very incompetent outlet may not behave the same after continence surgery. Repeat free flow and residual measurements under representative conditions, and explain the remaining uncertainty.
The pathway runs like this. Establish the dominant symptom and demonstrable stress leakage. Assess urine, diary, flow and residual, and evaluate the urethral anatomy. Use the chosen guideline-based urodynamic strategy, then classify storage safety, emptying and outlet stability. If a study is technically inadequate and its result would decide whether implantation is safe, investigate further. An uninterpretable trace is neither a contraindication nor reassurance.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UDS14 — Weissbart et al. 2014: absent leak during intubated urodynamics. What it is: Cohort, 169 men. What it says: Thirty-two men did not leak with the urethral test catheter in place and all leaked once it was removed, with useful later AUS outcomes. A catheter can mask real stress leakage; this does not justify skipping clinical demonstration.
TRANSITION → When the assessment is complete, we consent. And consent is where the numbers need their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09 of 38 · 12:45-14:00 · 1:15]
THIS SLIDE: Two honest numbers, each with its population, endpoint and time horizon.
SAY
Consent includes residual leakage, urgency, erosion, infection, mechanical failure and revision. Radiation and previous surgery change those risks, and future instrumentation needs precautions.
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
The first 116-recipient ContiClassic series reported 93.2 per cent Kaplan–Meier device survival at twelve months. A standardised continence result and primary, revision or radiation subgroup outcomes could not be verified in the accessible abstract. That tells us about early device survival. It does not tell us about pad freedom, and it makes no comparison between devices.
Quote each endpoint with its population and time horizon. The patient should know what the device may improve and what happens if it has to be removed. The 2026 regret study makes that concrete: reoperation was the only independent predictor of regret, and benefit faded with time, so future surgery belongs in the conversation from the start.
STUDIES ON THIS SLIDE
• AUSCO26 — AUSCO study 2026 (Kaufman et al.): prospective AMS 800 outcomes. What it is: Prospective single-arm, manufacturer-funded, 17 sites, 115 primary implants. What it says: At twelve months after activation 91 of 97 had at least 50% pad-weight reduction and 61 of 101 reported zero pads (60.4%); nine participants had revisions. Contemporary counselling data with missing denominators, expert centres and one year of follow-up; no device comparison.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 REGRET26 — Decisional regret after AUS 2026 (Roth et al., Eur Urol Open Sci). What it is: Retrospective single-centre survivor cohort, 91 respondents, median follow-up 82 months. What it says: Reoperation was the only independent predictor of regret (+18 points on the Decisional Regret Scale); continence benefit persisted but deteriorated over time. Counsel about residual leakage, future surgery and psychological burden.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REPORT26 — Standardised complication reporting 2026 (Roessler et al., World J Urol). What it is: Retrospective series, 227 implants, systematic complication capture. What it says: 47% early complications, mostly minor; 7.9% major; five-year explantation-free survival 73%. Includes double and transcorporal cuffs, so it is not a universal primary single-cuff rate. It shows why similar-looking percentages differ.
TRANSITION → That is the decision before theatre. Now let us put it to work with our first fictional patient, and hand the decision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14:00 – 22:00 · 8 minutes · teaching slides 10–14]
Transition slide; it takes no time from the clock. Read the act title, say the one-line question, and move on.
SAY
"Separate overactivity, weak contraction and poor compliance, because each leads to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10 of 38 · 14:00-15:45 · 1:45]
THIS SLIDE: Case 1 tests the lens on a bladder that leaks two ways: stress and urgency.
SAY
This fictional patient uses six pads on an active day. Stress leakage is clearly demonstrated. He also has urgency leakage, and urodynamics shows detrusor overactivity, with reassuring storage pressures between contractions and adequate emptying. His urethra is patent.
Would you implant now or treat the bladder first? [Pause for eight seconds.] Both may be defensible in general AUS practice, depending on which symptom dominates, how severe the urgency is and what the device's instructions say.
Overactive bladder is a symptom syndrome, whereas detrusor overactivity is an observation during filling. One does not perfectly predict the other. A systematic review found insufficient grounds to deny stress-incontinence surgery solely because DO was present, but the studies and definitions were heterogeneous. It does not guarantee that urgency or device durability is unaffected; in one reintervention cohort, DO went with earlier reintervention.
Our approach would be to offer treatment for bothersome storage symptoms, agree a separate goal for urgency, and reassess. If stress leakage remains the dominant burden and storage is safe, AUS can remain appropriate. For ContiClassic specifically, the retrieved IFU requires these bladder conditions to be treated and controlled or resolved, and irresolvable instability is contraindicated. General reassurance about DO must not override that device boundary.
STUDIES ON THIS SLIDE
• DO24 — Bhatt et al. 2024: preoperative DO systematic review. What it is: Systematic review, 11 studies, 792 patients, AUS and sling. What it says: Did not find a statistically significant overall excess of failure sufficient to deny surgery solely because DO was present, but definitions and reporting were heterogeneous. It supports counselling about persistent storage symptoms; it does not promise urgency resolves.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DOFAIL23 — Krughoff and Peterson 2023: earlier AUS reintervention. What it is: Single-centre analysis of 92 men already undergoing reintervention. What it says: DO was associated with earlier reintervention (adjusted HR 1.95, 95% CI 1.22–3.1) within that selected group. It tempers reassurance; it cannot give the failure probability for all primary recipients.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So how do we treat that urgency without creating the next problem, an emptying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11 of 38 · 15:45-17:15 · 1:30]
THIS SLIDE: Treating urgency in the right order, with emptying and future access in view.
SAY
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
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 Neuromodulation can also be considered through an appropriate overactive-bladder pathway. We still need to establish that the outlet is stable and emptying is adequate.
Return to the patient's two outcomes: stress leakage and urgency leakage. Lai's cohort tells us that most men with mixed symptoms still had urgency after a successful AUS. Improvement in one is not failure because the other persists, provided that possibility was properly discussed.
But do not dismiss severe postoperative urgency as an inevitable inconvenience. Reassess it, including infection, residual urine and device function, before escalating medication.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AUAOAB24 — AUA/SUFU idiopathic OAB guideline 2024 (Cameron et al.). What it is: US guideline. What it says: Evidence-based behavioural, drug and procedural options for OAB with shared decision-making, including the retention implications of botulinum toxin. It does not establish an optimal sequence around AUS implantation.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Our second patient has the opposite bladder problem. He cannot empty well even before we add a cuff.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12 of 38 · 17:15-19:00 · 1:45]
THIS SLIDE: Case 2 asks whether a weak bladder with residual urine can safely take a cuff.
SAY
Our second fictional patient has demonstrable stress leakage but voids slowly, strains and repeatedly leaves urine behind. The pressure-flow study shows a weak contraction. Is that enough to refuse him an AUS? [Pause for eight seconds.]
First exclude a narrowing, review medications and neurological history, and compare the laboratory void with his usual void. A large residual with a weak contraction still needs an explanation. A technically poor study should not define his future treatment.
Selected retrospective data suggest that men labelled as having detrusor underactivity can do reasonably well after AUS. But that study excluded early complications requiring revision, and the accessible report does not allow confident extrapolation to every patient with severe retention or an acontractile bladder.
An AUS opens during cycling, so it differs from a permanently obstructive outlet procedure. Even so, we cannot promise that a man who empties mainly by straining will empty equally well after implantation. Our initial decision is to investigate further and establish a practical emptying plan. If that becomes reliable, implantation may be reasonable. If he cannot empty or safely manage the likely rescue strategy, reconsider AUS. No universal residual or contractility number makes this decision for us.
STUDIES ON THIS SLIDE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ICSUDS17 — ICS good urodynamic practices 2017 (Rosier et al.). What it is: Testing standard. What it says: Sets quality standards for uroflowmetry, cystometry and pressure-flow testing. It tells us to confirm a trace is credible and representative before labelling DO, DU, compliance or obstruction. It sets no AUS eligibility threshold.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his rescue plan is a catheter, we have to be clear about what catheterising through a cuff really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13 of 38 · 19:00-20:30 · 1:30]
THIS SLIDE: The non-negotiable rule for any instrument through a cuff, and the planning around it.
SAY
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
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
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 A 2026 survey of urologists found real gaps in confidence about exactly this step.
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
STUDIES ON THIS SLIDE
• CIC23 — Krughoff et al. 2023: intermittent catheterisation after bulbar AUS. What it is: Retrospective selected cohort, 57 men with CIC history. What it says: Eighteen continued or started CIC after AUS; no statistically significant difference in erosion or later removal was found. Small numbers and selection mean a missed difference is possible. Feasible in carefully planned men; not equivalence to men who never catheterise.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One more bladder problem remains, and it is the one that can look like success. A dry patient can still be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14 of 38 · 20:30-22:00 · 1:30]
THIS SLIDE: Two traces, two different problems: a contraction versus a sustained pressure rise.
SAY
Poor compliance needs its own decision. It describes the pressure-volume relationship during filling, not simply the presence of an involuntary contraction. The left trace is a transient contraction; the right is a sustained rise. An apparently dry patient may be storing urine at an unacceptable pressure.
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
Optimise the bladder and repeat the assessment that will show whether storage is acceptable. Refractory cases may need reconstructive or diversion advice before anyone increases outlet resistance. Lai's 2009 cohort made exactly this point: pad results can look good while poor compliance still threatens the upper tracts.
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 Those categories are a clinical framework and have not been validated as a score.
STUDIES ON THIS SLIDE
• UDS09 — Lai et al. 2009: urodynamics before AUS. What it is: Selected cohort, 129 first AUS after prostatectomy, mean follow-up 34 months. What it says: Adverse preoperative urodynamic findings did not significantly worsen later pad use, but the authors warned that a good continence result with poor compliance can still expose the upper tracts to high storage pressure. It separates pad outcomes from bladder safety; it does not say abnormal UDS can be ignored.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TRANSITION → That closes the bladder. The urethra is next, and the first job there is simply to name the narrowing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22:00 – 29:00 · 7 minutes · teaching slides 15–19]
Transition slide; it takes no time from the clock. Read the act title, say the one-line question, and move on.
SAY
"Name the narrowing, prove the outlet is stable, and plan the tissue the cuff will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15 of 38 · 22:00-23:15 · 1:15]
THIS SLIDE: Three anatomically different narrowings that the word "stricture" hides.
SAY
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 Use the anatomy in the discussion and in the referral.
Review every dilation, urethrotomy and reconstruction, including the operative reports. Establish how quickly the narrowing recurred and whether patency currently depends on repeated calibration. Add imaging when the anatomy, length or reconstructive plan requires it.
We call an outlet stable after a credible interval without recurrence, with symptoms, flow, residual and endoscopic findings that support a durable outlet. A scope that happened to pass once does not show that.
Finally, think ahead. A patient who is likely to need further incision, tumour surveillance or treatment for radiation bleeding needs an access plan before a cuff makes those procedures more complicated.
STUDIES ON THIS SLIDE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TRANSITION → Stability is a finding, not a date on the calendar. Here is what the three guidelines actually say about the interval.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16 of 38 · 23:15-24:45 · 1:30]
THIS SLIDE: Three intervals from three guidelines, each describing a different pathway.
SAY
BAUS recommends waiting at least six months after treating a post-prostatectomy narrowing, with no recurrence, before continence surgery. That is a genuine consensus recommendation, although it is not a randomised demonstration that six months is the unique safe interval.
The AUA discussion describes interval cystoscopy at least four to six weeks after treatment of symptomatic bladder-neck contracture or anastomotic stenosis. That is a point for reassessment, with no guarantee that every reconstructed or irradiated urethra is ready for a cuff. EAU's three-to-six-month advice after redo vesicourethral anastomosis belongs to that particular reconstructive setting.
Staged treatment lets us observe recurrence and avoid instrumenting a newly implanted cuff. Synchronous treatment has been reported in selected expert series, but should not become the default for aggressive, recurrent disease.
Our decision would use the recurrence pattern, tissue quality, planned future access and the guideline context. A patient who has repeatedly restenosed after a short interval has not become low risk because the calendar reaches a convenient date.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Our third patient brings all of that together, with radiation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17 of 38 · 24:45-26:15 · 1:30]
THIS SLIDE: Case 3: an irradiated, repeatedly re-stenosing anastomosis and a man who wants to be dry now.
SAY
This fictional patient has had radical prostatectomy, salvage radiotherapy and repeated treatment of an anastomotic stenosis. He leaks severely when the outlet is open, but the narrowing returns. He understandably wants continence now.
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
Radiation is associated with worse continence and greater erosion or explantation risk in pooled observational AUS studies, roughly a doubling of the odds of erosion. Those estimates combine different follow-up periods and case mixes, so they cannot give his personal probability of failure. A 2025 cohort found the same association with cuff removal and hinted at a timing effect, but that trend was not significant and sets no waiting rule.
Definitive reconstruction followed by demonstrated stability and later AUS may be reasonable. In a devastated outlet with unsafe or intolerable bladder function, a different drainage or diversion strategy may ultimately offer the better life. There is more than one defensible endpoint. Repeatedly reopening a narrow lumen is not necessarily progress if it stops us agreeing a durable plan.
STUDIES ON THIS SLIDE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RTTIME25 — Radiation and cuff-removal timing cohort 2025 (Lee et al., World J Urol). What it is: Retrospective cohort, 283 men. What it says: Prior radiation was associated with cuff removal (HR 3.30, 95% CI 1.05–10.40). An exploratory trend towards later implantation after radiation was not significant and validates no waiting rule.
TRANSITION → Suppose he does get his reconstruction. What does a repaired urethra mean for the operation we would do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18 of 38 · 26:15-27:45 · 1:30]
THIS SLIDE: How a previous urethroplasty changes the tissue available and the dissection we plan.
SAY
Previous urethroplasty covers several different operations. Was the urethra transected? Was there a graft, a posterior reconstruction, a prior cuff erosion or a fistula? Where is the viable spongiosum now? Those details should change where and how we dissect.
The operation must preserve what remains. Avoid extending mobilisation through a repaired segment unless it is needed. A technically convenient cuff site may have poor tissue. If a safe plane cannot be established, pause and reconsider the approach or stage the operation.
Davis's multicentre cohort reports very different later AUS outcomes after transecting and non-transecting urethroplasty, and the 2026 meta-analysis of 533 men points the same way: prior urethroplasty roughly doubles explantation, and transecting repairs carry more erosion and explantation. It adds evidence beyond the older guidance, but it remains observational. Stricture severity, anatomy, selection and unequal follow-up confound the comparison. It supports a more detailed reconstructive history and careful counselling; it cannot support a claim that every transection was avoidable.
The practical point is to plan the reconstruction and any future continence surgery together. After previous erosion and explantation, healing, patency and realistic reimplantation expectations need to be demonstrated again.
STUDIES ON THIS SLIDE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URETHMETA26 — Prior urethroplasty meta-analysis 2026 (Deameh et al., Urology). What it is: Meta-analysis of four observational studies, 533 men. What it says: Prior urethroplasty was associated with higher explantation (RR 2.05, 95% CI 1.08–3.89); the pooled erosion difference was not significant. Transecting versus non-transecting repair was associated with more erosion (RR 2.34) and explantation (RR 2.38). Observational and partly overlapping with Davis; not causal.
TRANSITION → When the dorsal plane is hostile, one option is to go through the corpora. It is an option with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19 of 38 · 27:45-29:00 · 1:15]
THIS SLIDE: Transcorporal placement: a manoeuvre for a defined problem, with real costs and uncertain protection.
SAY
Transcorporal placement can avoid a hazardous dorsal dissection and include tunical tissue beneath part of the cuff. That is a plausible reconstructive purpose, but it does not prove protection from erosion.
The comparative retrospective evidence points in different directions. Redmond's fragile-urethra series favoured it numerically. Kurtzman's high-risk series found more infection or erosion-related explantation in the transcorporal group. The latest systematic review pools twenty studies and suggests less erosion but more revision. Surgeons tend to select it for the worst urethras, so confounding by indication is substantial in both directions.
Discuss corporal bleeding, erectile consequences and the implications for an existing or future penile prosthesis. Sizing must account for the tissue actually enclosed, using the relevant device protocol and no improvised correction factor.
Tandem cuffs, wraps, relocation and capsular procedures also consume tissue or add complexity. Choose a manoeuvre because it addresses a demonstrated problem, and state its limitation. If the proposal is simply to squeeze a failing urethra harder, the diagnosis and the endpoint need another look.
STUDIES ON THIS SLIDE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TCSYS25 — Transcorporal placement systematic review, online 2025 (Domínguez Gutiérrez et al.). What it is: Systematic review, 20 studies, eight comparative. What it says: Transcorporal placement was associated with more revisions (OR 2.99), less erosion (OR 0.35) and less infection (OR 0.33), with no significant explantation difference. Non-randomised, heterogeneous risk selection, and the pooled estimates conflict with some cohorts.
TRANSITION → That is the urethra. Now a different kind of decision: the things we do before the skin is opened, and whether the evidence supports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29:00 – 36:00 · 7 minutes · teaching slides 20–24]
Transition slide; it takes no time from the clock. Read the act title, say the one-line question, and move on.
SAY
"Identify the activity, the product and the evidence before debating a duration."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20 of 38 · 29:00-30:15 · 1:15]
THIS SLIDE: The fifteen-minute wash: first identify which activity we mean.
SAY
Is a fifteen-minute wash or scrub necessary before AUS implantation? We found no direct evidence that establishes a universal requirement.
NICE advises soap washing the day before or the day of surgery. That is different from operative skin preparation, surgical hand antisepsis, wound irrigation, external device dipping and internal device filling. Identify the activity before debating its duration.
BAUS recommends a five-minute topical field scrub by Delphi consensus, and acknowledges that this is extrapolated from penile prosthesis and other implant surgery. It does not establish fifteen minutes as an AUS standard. For hands, use the selected product's surgical antisepsis instructions. For the patient's skin, use the appropriate product and its application, contact and complete drying requirements.
Waiting fifteen minutes cannot compensate for missed skin, an unsuitable product, pooled alcohol or a contaminated field. The lack of evidence for this ritual does not make antisepsis dispensable. We need correct, reproducible preparation.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WHO09 — WHO hand hygiene guidance 2009. What it is: International standard. What it says: Covers surgical hand antisepsis. Its relevance is the distinction between preparing the team's hands and preparing the patient's skin. It sets no patient-field scrub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What the studies can actually support is narrower than the folklore, and here is the best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21 of 38 · 30:15-32:00 · 1:45]
THIS SLIDE: One good randomised trial with a surrogate endpoint: skin cultures, not implant infections.
SAY
In a randomised study of one hundred patients having initial genitourinary prosthetic surgery, chlorhexidine-alcohol produced fewer positive post-preparation skin cultures than povidone-iodine. The reported proportions were eight versus thirty-two per cent. That is a microbiological endpoint in a mixed prosthesis population. The study did not show fewer ContiClassic infections.
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
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
Do not remove hair routinely. If it is required for exposure or adhesion, clipping on the day is the general NICE recommendation, and avoid skin trauma. Before draping and diathermy, confirm drying and the absence of pooling in skin folds or under the patient. Those are practical safety requirements, whatever the stopwatch says.
STUDIES ON THIS SLIDE
• YEUNG13 — Yeung et al. 2013: GU prosthetic skin preparation RCT. What it is: Single-centre randomised trial, 100 initial GU prosthetic procedures, 50 per arm. What it says: Post-preparation skin cultures were positive in 8% with chlorhexidine-alcohol versus 32% with povidone-iodine (P = 0.0091). A microbiological surrogate in a mixed-device population; it did not show fewer AUS infections and tested no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CHLORA26 — ChloraPrep Swabstick UK product information, 2026. What it is: Product information (SmPC). What it says: Permitted sites, allergy, intact-skin-only use, a 30-second application with complete air drying and flammability warnings for that presentation. It shows why the actual formulation matters; it is not a universal genital preparation prescription.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Skin is one disagreement. Urine and antibiotics are another, and here the sources genuinely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22 of 38 · 32:00-33:30 · 1:30]
THIS SLIDE: Four questions where guidance, evidence and the device label disagree, stated openly.
SAY
Treat symptomatic urinary infection and reassess before elective implantation. Asymptomatic bacteriuria is different.
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
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
Observational AUS evidence has not shown a convincing benefit from routine postoperative oral antibiotics; Adamsky's claims cohort found explantation rates of 3.9 and 4.0 per cent with and without them. However, the retrieved ContiClassic IFU describes forty-eight hours of intravenous antibiotics and five days of oral antibiotics after discharge as general care. That conflicts with shorter-prophylaxis stewardship approaches. We would respond by verifying current regional labelling and agreeing a documented protocol with the implant service and microbiology. Do not silently ignore either source, and do not describe an extended regimen as universally proven to prevent infection.
STUDIES ON THIS SLIDE
• IDSA19 — IDSA asymptomatic bacteriuria guideline 2019 (Nicolle et al.). What it is: US infectious-disease guideline. What it says: Suggests against screening for or treating asymptomatic bacteriuria solely for AUS or penile prosthesis implantation, with standard prophylaxis retained. The recommendation is weak, on very-low-quality evidence, and differs from the BAUS urine pathway.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ABX18 — Adamsky et al. 2018: postoperative oral antibiotics. What it is: Claims-based observational study, 3,594 AUS recipients. What it says: Explantation within three months was 3.9% with and 4.0% without postoperative oral antibiotics, with no protective association after adjustment. It challenges routine prolonged oral prophylaxis; it cannot prove identical safety in every subgroup.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AUAABX26 — AUA 2026 abstract IP09-18: postoperative antibiotics. What it is: Conference abstract, title and programme verified only. What it says: Its title states no infection benefit from postoperative antibiotics. Full methods and results were unavailable; nothing numerical is inferred.
TRANSITION → Once the patient is prepared, the remaining risk is what we do with our hands and the implant.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23 of 38 · 33:30-35:00 · 1:30]
THIS SLIDE: Four practical contamination controls, offered as rationale rather than proof.
SAY
There are sensible ways to reduce contamination. Prepare the equipment before opening the implant, establish a protected sterile handling area, minimise skin contact, and avoid unnecessary traffic and repeated hand-offs.
Our preference is fresh sterile gloves before handling the device and after any contamination concern. We offer that as a practical control, without claiming that each glove change has been proven to reduce AUS infection. Minimal-touch AUS series are encouraging, but they compare different eras and unequal follow-up. We cannot attribute their results to one drape or one manoeuvre.
Separate wound irrigation from device dipping and internal filling. General NICE guidance does not support wound irrigation solely to prevent SSI. AUS consensus literature also acknowledges uncertainty about antibiotic irrigants. The 2026 gentamicin-withdrawal cohort saw one infection in 59 procedures with gentamicin and two in 114 without; three events cannot prove equivalence, and immersion and irrigation changed together. A hydrophilic coating's ability to absorb a solution does not establish that any chosen antibiotic mixture improves clinical outcomes.
For ContiClassic, follow the verified device instructions and obtain the operative protocol for detailed preparation. Do not substitute a remembered AMS 800 recipe or improvise an unverified antiseptic bath for an implant.
STUDIES ON THIS SLIDE
• TOUCH23 — Ziegelmann et al. 2023: minimal-touch AUS technique. What it is: Historical comparison of a contamination-control bundle. What it says: Crude infections appeared lower after the bundle, but twelve-month cumulative incidence differences were not statistically significant. A sensible bundle to study; it cannot credit one glove change, drape or pause.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All of this collapses into one checklist that the whole team runs before the implant is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24 of 38 · 35:00-36:00 · 1:00]
THIS SLIDE: The checklist we would actually use, with each row labelled by the kind of authority behind it.
SAY
Before opening the implant, confirm the patient, intended operation, tissue concerns and stop conditions. Review urinary and skin infection concerns, prophylaxis delivery and the redosing plan. Confirm that the preparation is anatomically suitable and dry.
Then confirm the exact device and compatible components, available cuff sizes, planned pressure range, current instructions and the person responsible for preparation. Agree the catheter and postoperative rescue plan.
Finally, establish what happens if the urethra is injured or sterility is compromised. A checklist is most useful when it makes that response predictable. Notice the last row: a fixed fifteen minutes, the best irrigant and prolonged prophylaxis sit there as unresolved evidence, not as requirements.
Audit completion of these steps. The duration of a wash is not a measure of the quality of the whole operation.
STUDIES ON THIS SLIDE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Now into theatre. The next eight slides follow the operation in order, and the model will show us each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36:00 – 50:00 · 14 minutes · teaching slides 25–32]
Transition slide; it takes no time from the clock. Read the act title, say the one-line question, and move on.
SAY
"Preserve tissue, measure what the cuff will enclose, follow the actual device protocol, and verify before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25 of 38 · 36:00-37:15 · 1:15]
THIS SLIDE: Positioning that serves the anatomy we have, and an access plan for all three components.
SAY
Positioning should expose the bulbar urethra while protecting pressure points and respecting hip mobility. Check the patient before anaesthesia when restricted movement is likely to matter. Do not accept excessive flexion simply because it improves the first view.
For a standard male bulbar implant, a single-cuff perineal approach has guideline support. Other approaches may be appropriate for selected anatomy and experienced operators, but convenience alone should not determine access to a compromised urethra.
Plan where the balloon and pump will go at the same time. Previous pelvic surgery, inguinal mesh, abdominal scars and an existing penile prosthesis alter that plan. Have the relevant operative records available.
If exposure is poor, improve the incision, retraction or positioning deliberately. Excessive traction to compensate for a small working space transfers force to the urethra. The purpose of exposure is to make the next decision visible, and a shorter incision is not worth losing that.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With the urethra exposed, the next decisions are about which tissue the cuff will sit on, and how much of it we disturb.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26 of 38 · 37:15-38:45 · 1:30]
THIS SLIDE: The cuff-bearing segment: enough controlled exposure, and no more mobilisation than the cuff needs.
SAY
The goal is a cuff around a viable urethral segment, not a completely skeletonised urethra. In a straightforward case, the proximal bulbar region often offers useful spongiosal tissue. Prior repair, erosion or scarring may change which segment is safest.
The dorsal relationship to the corporal bodies is where a small error can become a full-thickness injury. Use controlled dissection with a clear view of the plane. Do not pass an instrument blindly behind the urethra and assume that resistance is a harmless adhesion.
Preserve spongiosum and vascular attachments, limit circumferential mobilisation to what the cuff requires, and control bleeding without indiscriminate thermal injury. In scarred tissue, repeated forceful spreading can do more damage than a deliberate change of approach.
If the plane disappears, stop. Improve the view, reassess the site or seek reconstructive help. Transcorporal placement may be an option in selected hands, but it should be a considered plan with consent and appropriate expertise. Tissue preservation has a clear biological rationale. The contribution of each manoeuvre to erosion prevention has not been separated in high-quality comparative trials.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TRANSITION → Once the segment is chosen, we measure it. And measurement is where the most avoidable errors live.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27 of 38 · 38:45-40:30 · 1:45]
THIS SLIDE: Measuring the tissue the cuff will actually enclose, with the device's own method.
SAY
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
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
Too small a cuff can cause excessive compression, retention and tissue injury. Too large a cuff can leave poor coaptation and persistent leakage. Neither problem is reliably solved by choosing a stronger pressure-regulating balloon. Assess the final relationship and device function, with an appropriate integrity check when indicated. If the finding and the measurement disagree, investigate the discrepancy.
The early ContiClassic safety series included revisions attributed to sizing errors, four of its eight. That reinforces the importance of this step without telling us which sizing strategy is superior. More available sizes may help a surgeon choose a fit. Their availability alone is not evidence of better long-term continence or less erosion.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Sometimes the dissection or the measurement reveals something that changes what today's operation is for.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28 of 38 · 40:30-42:00 · 1:30]
THIS SLIDE: The stop conditions: a recognised injury or a lost sterile field changes the endpoint.
SAY
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
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 Consensus intervals are guides. The injury and the reconstruction determine the actual pathway.
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
These are single-use implants. A dropped or contaminated component should not return to service after an improvised antiseptic soak. Finishing with no implant can be the correct outcome when the conditions for safe implantation have gone.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the cuff is safely placed, two separate decisions remain for the balloon: where it goes, and which pressure component we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29 of 38 · 42:00-43:30 · 1:30]
THIS SLIDE: Balloon pocket and pressure component: two decisions, two device-specific labels.
SAY
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
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
Pressure selection is a separate issue. ContiClassic labelling lists ranges including sixty to sixty-nine centimetres of water. AMS 800 consensus commonly discusses sixty-one to seventy. Those labels must not be treated as interchangeable operative instructions.
The public ContiClassic IFU confirms sterile saline filling but directs detailed implantation to a separate Operating Room Protocol. Without that protocol we cannot verify a filling volume or a universal pressure-selection algorithm. Confirm both before surgery. And increasing pressure should never be a substitute for diagnosing a poor cuff fit or a failing urethra.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The third component is the one the patient will touch every day.
Image source: Rigicon ContiClassic IFU, CC-IFU REV.03, 12 October 2023, printed page 1 (PDF page 4). https://www.rigicon.com/files/e-labeling/ContiClassic-IFU.pdf . Manufacturer illustration, shown for component identification, without a comparative superiority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30 of 38 · 43:30-44:45 · 1:15]
THIS SLIDE: A pump position that works for this patient, standing, seated and swollen.
SAY
The pump position is part of the functional result. The patient has already shown us where he can reach, which hand he uses and whether another scrotal device causes confusion. Use that information.
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
Before closure, consider how the pump will sit when the patient stands, and whether the tubing will pull it upwards. Check that its orientation permits both normal cycling and access to the deactivation control.
A demonstration pump that is easy to feel on a table does not tell us that a swollen postoperative scrotum will be easy to use. Check accessibility again at activation, with the patient performing the task.
STUDIES ON THIS SLIDE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Then we finish the system, and we hand over the risk with it.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31 of 38 · 44:45-46:00 · 1:15]
THIS SLIDE: Four verifications before closure, and a handover that protects the patient from the next catheter.
SAY
Follow each tube between components. Avoid tension, excessive loops, kinks and entrapment during closure. Keep needles and instruments away from the components.
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
Choose an appropriate small, atraumatically placed catheter for the individual cuff and urethra, and plan early removal after an uncomplicated implant. Device instructions, an injury or a reconstruction may change that plan, and no universal catheter size should be improvised.
The handover should record the model, cuff site and size, balloon specification and position, deactivated state, catheter plan and contact details. The next clinician must know there is an AUS before attempting drainage. The 2026 survey of urologists is the reason we labour this: the gap in deactivation confidence is real.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Let us now see all three spaces together on the model, and follow the tubing between them. Four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32 of 38 · 46:00-50:00 · 4:00]
THIS SLIDE: Four minutes on the UroOps 3D model: cuff and dorsal plane, pump access, balloon pocket, tubing route.
SAY
Open uroops3d.com/lab/aus and use the scene controls. Say aloud that this is a teaching schematic with clinical review pending; it shows spatial relationships, not validated anatomy, perfusion or operative instructions.
00:00–00:20: Transition to anatomical relationships. 00:20–01:05: Cuff site view. Discuss viable bulbar tissue and supporting spongiosum. 01:05–01:45: Surgeon's view. Discuss the dorsal plane and why scarred tissue changes dissection. 01:45–02:20: The three spaces view. Discuss accessible pump position. 02:20–03:10: Space of Retzius view. Discuss how previous surgery changes balloon access; describe alternative pockets verbally if absent. 03:10–03:45: Final configuration view. Trace tubing without claiming the schematic proves tension or perfusion. 03:45–04:00: Return to postoperative care.
If loading fails, keep this slide displayed and use the spoken fallback below. Do not spend the allocated session troubleshooting beyond the opening twenty seconds.
FALLBACK 00:00–00:20: "The model is not loading, so let us walk through the same anatomy verbally. Picture the bulbar urethra in the perineum, the pump in the scrotum and the balloon beneath the abdominal wall. We will connect each position to one operative decision."
FALLBACK 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FALLBACK 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
FALLBACK 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
FALLBACK 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
FALLBACK 03:10–04:00: "Trace the tubing between all three components. Avoid tension, sharp turns and entrapment under closure. Recheck connections, cycle the system and confirm an open cuff with correct deactivation.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we wanted the model to demonstrate. Let us return to postoperative care."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Back from the model: the operation is finished, and the first weeks decide whether it was worth doing.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50:00 – 60:00 · 10 minutes · teaching slides 33–38]
Transition slide; it takes no time from the clock. Read the act title, say the one-line question, and move on.
SAY
"Hand over the risk, diagnose late leakage before revising, and say where the evidence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33 of 38 · 50:00-51:00 · 1:00]
THIS SLIDE: The planned aftercare, and the symptoms that bring the patient back early.
SAY
After uncomplicated implantation, remove the catheter early and check voiding. Persistent retention needs assessment of deactivation, oedema, cuff fit and obstruction, with safe drainage and no repeated blind catheter attempts. Selected day-case pathways are feasible: the BAUS 2026 audit discharged 88 per cent the same day, and the 2026 meta-analysis found no significant excess of retention or emergency visits, with wide intervals. That supports a selected pathway with verified emptying, not a universal instruction.
Worsening pain, erythema, discharge, fever or voiding difficulty needs specialist review. Suspected erosion requires device-aware investigation, and established infection or erosion generally needs explantation, not antibiotics alone.
ContiClassic specifies four to six weeks deactivated, until pain and oedema settle. At activation, verify patient operation and emptying. Arrange subsequent functional review and access for problems.
Give him the device card and clear instructions to alert clinicians before catheterisation or endoscopy. Safe future care depends on that information reaching the person holding the instrument.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BAUSDAY26 — BAUS 2026 abstract P4-8: day-case AUS audit. What it is: Conference audit, 98 men. What it says: 88% same-day discharge in an established service. Short follow-up and a selected population; it does not establish long-term equivalence or antibiotic policy.
• DAYMETA26 — Day-case AUS meta-analysis 2026 (Grigoryan et al.). What it is: Systematic review, six studies, 2,424 men; four pooled. What it says: No significant difference in retention (RR 1.44, 95% CI 0.81–2.56) or 90-day emergency visits (RR 0.91). Moderate-to-serious bias and wide intervals; same-day discharge is a selected pathway, not an instruction.
• DAYCASE26 — Day-case versus inpatient AUS 2026 (Youssef et al.). What it is: Retrospective single-centre comparison, 177 men. What it says: 30-day composite complications 11.3% ambulatory versus 8.2% inpatient, p = 0.78. Inpatient selection depended on ASA and social factors; a non-significant result is not proof of equal safety.
TRANSITION → Our last patient did everything right and was dry for three years. Then he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34 of 38 · 51:00-52:30 · 1:30]
THIS SLIDE: Case 4: late leakage is a diagnosis to make, not a cuff size to shrink.
SAY
Our fourth fictional patient had three useful years with his AUS and now leaks again. Would you book a smaller cuff? [Pause for five seconds.]
Start by separating persistent leakage since activation from true recurrence after a successful interval. Ask whether this is activity-related leakage, urgency, overflow or difficulty cycling. Observe his technique and check the device state.
Review urine and residual, examine the components, and use appropriately deactivated cystoscopy to look for erosion and assess the urethra. Investigate fluid loss, mechanical problems and bladder dysfunction as indicated.
Urethral atrophy is an explanation to establish, not a diagnosis made by the passage of time. Bergeson's revision series attributed only eight per cent of failures to atrophy and a third to the pressure-regulating balloon, and the 2026 laboratory study of retrieved balloons shows why: they stiffen and thin with age. That is a mechanism, not an instruction to replace every balloon at three years. Capsular restriction and poor initial sizing can also complicate the label.
The answer may be retraining, bladder treatment, component revision, a revised cuff strategy or explantation. In an older system, discuss whole-system replacement. The French national cohort reminds us that second implants have 68 per cent reintervention-free survival at five years, and that only a fifth of men whose first device was removed ever received another. Repeated failure or a compromised urethra warrants specialist review before another tissue-consuming procedure.
STUDIES ON THIS SLIDE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AUASAFER26 — AUA 2026 abstract IP09-17: SAFER erosion management. What it is: Conference abstract, title and programme verified only. What it says: Compared in situ urethroplasty with conservative management at explantation for cuff erosion. Results were unavailable; no practice change is inferred.
• PRBFAT26 — Pressure-regulating balloon fatigue 2026 (Salvino et al., Urology). What it is: Laboratory study of 32 retrieved balloons. What it says: Age correlated with stiffness and reduced wall thickness; microcracks appeared in the oldest specimens. Mechanistic evidence from selected retrieved parts; it does not tell us to replace a balloon because three years have passed.
• EROSION26 — Immediate urethral repair at explantation 2026 (Park et al., World J Urol). What it is: Selected single-centre series, 16 men, median follow-up 14 months. What it says: One stricture after repair (6.3%) but seven wound dehiscences needing closure (43.8%). No drainage-only comparator; it does not establish universal immediate repair.
• SECOND26 — Second AUS survival, national French cohort 2026 (Tokarski et al.). What it is: National administrative cohort, 1,619 second implants. What it says: Reintervention-free survival 68% at five years and 61% at ten years; only 21% of men whose first device was removed received another. It strengthens consent about the path after erosion or explantation.
TRANSITION → So where does all this leave us? Here is what we think is established, and what honestly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35 of 38 · 52:30-53:15 · 0:45]
THIS SLIDE: What is supported, what is plausible, and what remains open.
SAY
AUS can deliver substantial benefit, with revision and erosion part of its lifetime burden. Tissue preservation, contamination control and planned instrumentation have strong rationale, although individual technical details often lack comparative evidence.
We cannot name one best salvage operation for every fragile urethra, one optimal irrigant or a proven universal preparation duration. New device features, including the first electronic sphincters, need outcome evidence with comparable populations and definitions before engineering advantages become clinical claims.
Make that uncertainty visible in consent and operative planning.
STUDIES ON THIS SLIDE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UROACTIVE26 — UroActive electronic AUS first-in-human 2026 (Mozer et al., J Urol). What it is: Single-arm feasibility study, six men. What it says: All activated successfully with no explant or revision in the first year; nine device deficiencies involved the remote control. Zero revisions in six men is not zero risk.
TRANSITION → Let us condense the hour into ten decisions. Five belong before theatre.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36 of 38 · 53:15-54:00 · 0:45]
THIS SLIDE: The five pre-theatre decisions in one list.
SAY
The first five take-home messages belong before theatre. Establish the leakage mechanism and the improvement that matters. Watch the patient use a pump and assess access over time. Choose investigations to answer explicit questions, acknowledging the differences between guidelines.
Keep detrusor overactivity, underactivity and poor compliance separate, because they lead to different decisions. Finally, establish a stable outlet and think through future instrumentation.
A successful implant starts with a patient, bladder and urethra that can support the intended result. Apply them to the cases: optimise case one, investigate case two, and stage a reconstructive plan for case three.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And five decisions protect the result once the implant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37 of 38 · 54:00-55:00 · 1:00]
THIS SLIDE: The five decisions that protect the result, from preparation to revision.
SAY
Preparation must be correct for the product, anatomy and implant pathway. A fifteen-minute ritual is not a substitute. In theatre, preserve the tissue you need, measure what the cuff will actually enclose, and correct uncertainty before closing.
Use the instructions for the device being implanted. Similar components do not make pressure ranges, preparation or operating sequences interchangeable. Recognised injury or unsafe contamination is a reason to change the plan.
Confirm the cuff state, drainage and the patient's ability to use the device. Make future instrumentation precautions explicit.
When leakage returns, diagnose it before selecting a smaller cuff or higher pressure. The goal is useful continence over time, with safe storage, emptying and an agreed plan for further treatment.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That is our ten. The last five minutes are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38 of 38 · 55:00-60:00 · 5:00]
THIS SLIDE: Five minutes of moderated discussion on decisions, not preferences.
SAY
55:00–55:20: "We would like to use these final five minutes on decisions rather than preferences alone. Choose one of the cases, tell us what you would do, and identify the finding that would make you change your plan."
55:20–57:20: Invite a response on bladder dysfunction or urethral stability. Take one contrasting view and a brief reply. Ask, if needed: "Is that a guideline requirement, a device instruction, or your interpretation of the evidence?"
57:20–59:40: Invite a second question on operative practice, preparation or failure. Use the prepared answers in the presenter guide if relevant. Keep individual contributions brief enough to allow disagreement and clarification.
59:40–60:00: "Thank you. The useful differences are now clear: what the evidence supports, what the device requires and where our judgement remains decisive. Those distinctions should be visible in our consent, our operation notes and the outcomes we report."
A show of hands is audience opinion; do not convert it into consensus evidence. For a question beyond the retrieved evidence, state the uncertainty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Outcome definitions, populations and limitations follow the repository outcome-context table.
AUSCO26: 91/97 achieved at least 50% pad-weight reduction (93.8%); 61/101 reported zero pads (60.4%). Prospective single-arm, manufacturer-funded, 17 sites; nine revisions in the reported period. https://pmc.ncbi.nlm.nih.gov/articles/PMC12794701/
LINDER15: 1,082 primary implants; Kaplan–Meier freedom from any secondary surgery 74% at five years and 57% at ten years. Historical specialist cohort. https://pubmed.ncbi.nlm.nih.gov/26135815/
CCSAFETY: 116 implants, eight revisions (four attributed to sizing), 93.2% twelve-month Kaplan–Meier device survival. Device survival is not continence; no comparator. https://pubmed.ncbi.nlm.nih.gov/37543658/
Newer context: REGRET26 (reoperation the only independent predictor of regret, +18 points; benefit deteriorated over time; survivor cohort, no non-surgical comparator) https://doi.org/10.1016/j.euros.2025.12.006. SECOND26 (1,619 second implants; reintervention-free survival 68% at five and 61% at ten years; only 21% of men whose first device was removed received another) https://doi.org/10.1590/s1677-5538.ibju.2025.0374. REPORT26 (227 implants with systematic complication capture: 47% early, mostly minor; 7.9% major; 73% five-year explantation-free survival; includes double and transcorporal cuffs)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MASTER26: extended follow-up of the same 380 randomised men. At 24 months sling met the prespecified non-inferiority criterion on the strict self-reported continence endpoint: risk difference −0.6 percentage points (95% CI −9.2 to +8.0). Further surgery 20 men (11%) after sling and four (2%) after AUS. Secondary outcomes generally favoured AUS. Non-inferiority on one endpoint is not identical effectiveness, zero-pad equivalence or an endorsement for irradiated or reconstructed revision cases. https://doi.org/10.1016/j.euf.2026.07.012
YEUNG13: 4/50 versus 16/50 positive post-preparation skin cultures (8% versus 32%) in mixed GU prosthetic procedures; a surrogate endpoint, not AUS infection or a duration trial. https://pubmed.ncbi.nlm.nih.gov/23164373/
IRRIG26: 173 uncoated AMS 800 procedures in 164 men, 59 with and 114 without gentamicin. 90-day SSI 1/59 (1.7%) versus 2/114 (1.8%); risk difference +0.1 points (95% CI −7.4 to +4.7). Three events; immersion and irrigation changed together; broad IV and ten-day oral prophylaxis continued. Not equivalence; not transferable to coated AMS 800 or ContiClassic. https://doi.org/10.3390/antibiotics15090894
PREP24 remains in the bibliography as an earlier sequential preparation study: https://tau.amegroups.org/article/view/130351/html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Evidence gaps preserved from section 7 of the manuscript. No new clinical thresholds or device superiority claims are introduced. Each gap needs a defined population, intervention and meaningful outcome before it becomes a trial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BAUS25 https://doi.org/10.1111/bju.16726
EAU26 https://uroweb.org/guidelines/management-of-non-neurogenic-male-luts/chapter/disease-management
AUA24 https://www.auanet.org/documents/Guidelines/PDF/2024%20Guidelines/IPT%20Unabridged%20Final%206-18-24.pdf
EAUSTR26 https://uroweb.org/guidelines/urethral-strictures/chapter/disease-management-in-males
ICS16 https://www.ics.org/folder/standardisation/current-ics-standardisations/d/artificial-urinary-sphincter-report-of-the-2015-consensus-conference/download
AP23 https://doi.org/10.1111/iju.15083
CCIFU https://www.rigicon.com/files/e-labeling/ContiClassic-IFU.pdf
ICSUDS17 https://doi.org/10.1002/nau.23124
AUAOAB24 https://doi.org/10.1097/JU.0000000000003985
NICE https://www.nice.org.uk/guidance/ng125/chapter/recommendations
WHO09 https://www.who.int/publications/i/item/9789241597906
CHLORA26 https://www.medicines.org.uk/emc/product/101238/smpc
IDSA19 https://www.idsociety.org/practice-guideline/asymptomatic-bacteriuria/
AUAABX20 https://doi.org/10.1097/JU.0000000000000509
CCSAFETY https://pubmed.ncbi.nlm.nih.gov/37543658/
MASTER22 https://doi.org/10.3310/TBFZ0277
UDS09 https://pubmed.ncbi.nlm.nih.gov/19371935/
OAB11 https://pubmed.ncbi.nlm.nih.gov/21497853/
DO24 https://doi.org/10.1002/bco2.442
DOFAIL23 https://pubmed.ncbi.nlm.nih.gov/36921845/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DU23 https://pubmed.ncbi.nlm.nih.gov/36906798/
CIC23 https://pubmed.ncbi.nlm.nih.gov/36332702/
CATH13 https://pubmed.ncbi.nlm.nih.gov/24074987/
UDS14 https://pubmed.ncbi.nlm.nih.gov/25483765/
RT22 https://doi.org/10.3389/fsurg.2022.825239
URETH26 https://pubmed.ncbi.nlm.nih.gov/41022035/
TC20 https://doi.org/10.5489/cuaj.6431
TC23 https://pubmed.ncbi.nlm.nih.gov/36749394/
ATROPHY20 https://doi.org/10.21037/tau.2019.07.18
PREP24 https://tau.amegroups.org/article/view/130351/html
YEUNG13 https://pubmed.ncbi.nlm.nih.gov/23164373/
ABX18 https://doi.org/10.1016/j.urology.2017.07.064
TOUCH23 https://doi.org/10.5152/tud.2023.22136
LINDER15 https://pubmed.ncbi.nlm.nih.gov/26135815/
AUSCO26 https://pmc.ncbi.nlm.nih.gov/articles/PMC12794701/
AUASTATUS26 https://helpdesk.auanet.org/hc/en-us/articles/40948838469143-Guidelines
BAUSDAY26 https://journals.sagepub.com/doi/full/10.1177/20514158261451299
BAUSSCI26 https://journals.sagepub.com/doi/full/10.1177/20514158261451299
AUAUDS26 https://doi.org/10.1097/01.JU.0001191316.72449.22.22
AUAABX26 https://doi.org/10.1097/01.JU.0001191316.72449.22.18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AUASAFER26 https://doi.org/10.1097/01.JU.0001191316.72449.22.17
MASTER26 https://doi.org/10.1016/j.euf.2026.07.012
URETHMETA26 https://doi.org/10.1016/j.urology.2026.05.024
IRRIG26 https://doi.org/10.3390/antibiotics15090894
DAYMETA26 https://doi.org/10.1007/s11255-025-04711-y
DAYCASE26 https://doi.org/10.1016/j.fjurol.2026.103135
FRAIL26 https://doi.org/10.1097/ju.0000000000005102
PAD26 https://doi.org/10.1111/bju.70224
PRBFAT26 https://doi.org/10.1016/j.urology.2025.12.031
REGRET26 https://doi.org/10.1016/j.euros.2025.12.006
INSTR26 https://doi.org/10.1002/nau.70417
EROSION26 https://doi.org/10.1007/s00345-026-06629-1
DEVICE26 https://doi.org/10.1002/nau.70400
SECOND26 https://doi.org/10.1590/s1677-5538.ibju.2025.0374
TCSYS25 https://doi.org/10.1016/j.urology.2025.11.222
RTTIME25 https://doi.org/10.1007/s00345-025-05625-1
UROACTIVE26 https://doi.org/10.1097/ju.0000000000004945
REPORT26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uroops3d.com/lab/aus" TargetMode="External"/><Relationship Id="rId1"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doi.org/10.1111/bju.16726" TargetMode="External"/><Relationship Id="rId2" Type="http://schemas.openxmlformats.org/officeDocument/2006/relationships/hyperlink" Target="https://uroweb.org/guidelines/management-of-non-neurogenic-male-luts/chapter/disease-management" TargetMode="External"/><Relationship Id="rId3" Type="http://schemas.openxmlformats.org/officeDocument/2006/relationships/hyperlink" Target="https://www.auanet.org/documents/Guidelines/PDF/2024%20Guidelines/IPT%20Unabridged%20Final%206-18-24.pdf" TargetMode="External"/><Relationship Id="rId4" Type="http://schemas.openxmlformats.org/officeDocument/2006/relationships/hyperlink" Target="https://uroweb.org/guidelines/urethral-strictures/chapter/disease-management-in-males" TargetMode="External"/><Relationship Id="rId5" Type="http://schemas.openxmlformats.org/officeDocument/2006/relationships/hyperlink" Target="https://www.ics.org/folder/standardisation/current-ics-standardisations/d/artificial-urinary-sphincter-report-of-the-2015-consensus-conference/download" TargetMode="External"/><Relationship Id="rId6" Type="http://schemas.openxmlformats.org/officeDocument/2006/relationships/hyperlink" Target="https://doi.org/10.1111/iju.15083" TargetMode="External"/><Relationship Id="rId7" Type="http://schemas.openxmlformats.org/officeDocument/2006/relationships/hyperlink" Target="https://www.rigicon.com/files/e-labeling/ContiClassic-IFU.pdf" TargetMode="External"/><Relationship Id="rId8" Type="http://schemas.openxmlformats.org/officeDocument/2006/relationships/hyperlink" Target="https://doi.org/10.1002/nau.23124" TargetMode="External"/><Relationship Id="rId9" Type="http://schemas.openxmlformats.org/officeDocument/2006/relationships/hyperlink" Target="https://doi.org/10.1097/JU.0000000000003985" TargetMode="External"/><Relationship Id="rId10" Type="http://schemas.openxmlformats.org/officeDocument/2006/relationships/hyperlink" Target="https://www.nice.org.uk/guidance/ng125/chapter/recommendations" TargetMode="External"/><Relationship Id="rId11" Type="http://schemas.openxmlformats.org/officeDocument/2006/relationships/hyperlink" Target="https://www.who.int/publications/i/item/9789241597906" TargetMode="External"/><Relationship Id="rId12" Type="http://schemas.openxmlformats.org/officeDocument/2006/relationships/hyperlink" Target="https://www.medicines.org.uk/emc/product/101238/smpc" TargetMode="External"/><Relationship Id="rId13" Type="http://schemas.openxmlformats.org/officeDocument/2006/relationships/hyperlink" Target="https://www.idsociety.org/practice-guideline/asymptomatic-bacteriuria/" TargetMode="External"/><Relationship Id="rId14" Type="http://schemas.openxmlformats.org/officeDocument/2006/relationships/hyperlink" Target="https://doi.org/10.1097/JU.0000000000000509" TargetMode="External"/><Relationship Id="rId15" Type="http://schemas.openxmlformats.org/officeDocument/2006/relationships/hyperlink" Target="https://pubmed.ncbi.nlm.nih.gov/37543658/" TargetMode="External"/><Relationship Id="rId16" Type="http://schemas.openxmlformats.org/officeDocument/2006/relationships/hyperlink" Target="https://doi.org/10.3310/TBFZ0277" TargetMode="External"/><Relationship Id="rId17" Type="http://schemas.openxmlformats.org/officeDocument/2006/relationships/hyperlink" Target="https://pubmed.ncbi.nlm.nih.gov/19371935/" TargetMode="External"/><Relationship Id="rId18" Type="http://schemas.openxmlformats.org/officeDocument/2006/relationships/hyperlink" Target="https://pubmed.ncbi.nlm.nih.gov/21497853/" TargetMode="External"/><Relationship Id="rId19" Type="http://schemas.openxmlformats.org/officeDocument/2006/relationships/hyperlink" Target="https://doi.org/10.1002/bco2.442" TargetMode="External"/><Relationship Id="rId20" Type="http://schemas.openxmlformats.org/officeDocument/2006/relationships/hyperlink" Target="https://pubmed.ncbi.nlm.nih.gov/36921845/" TargetMode="External"/><Relationship Id="rId21" Type="http://schemas.openxmlformats.org/officeDocument/2006/relationships/slideLayout" Target="../slideLayouts/slideLayout1.xml"/><Relationship Id="rId2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pubmed.ncbi.nlm.nih.gov/36906798/" TargetMode="External"/><Relationship Id="rId2" Type="http://schemas.openxmlformats.org/officeDocument/2006/relationships/hyperlink" Target="https://pubmed.ncbi.nlm.nih.gov/36332702/" TargetMode="External"/><Relationship Id="rId3" Type="http://schemas.openxmlformats.org/officeDocument/2006/relationships/hyperlink" Target="https://pubmed.ncbi.nlm.nih.gov/24074987/" TargetMode="External"/><Relationship Id="rId4" Type="http://schemas.openxmlformats.org/officeDocument/2006/relationships/hyperlink" Target="https://pubmed.ncbi.nlm.nih.gov/25483765/" TargetMode="External"/><Relationship Id="rId5" Type="http://schemas.openxmlformats.org/officeDocument/2006/relationships/hyperlink" Target="https://doi.org/10.3389/fsurg.2022.825239" TargetMode="External"/><Relationship Id="rId6" Type="http://schemas.openxmlformats.org/officeDocument/2006/relationships/hyperlink" Target="https://pubmed.ncbi.nlm.nih.gov/41022035/" TargetMode="External"/><Relationship Id="rId7" Type="http://schemas.openxmlformats.org/officeDocument/2006/relationships/hyperlink" Target="https://doi.org/10.5489/cuaj.6431" TargetMode="External"/><Relationship Id="rId8" Type="http://schemas.openxmlformats.org/officeDocument/2006/relationships/hyperlink" Target="https://pubmed.ncbi.nlm.nih.gov/36749394/" TargetMode="External"/><Relationship Id="rId9" Type="http://schemas.openxmlformats.org/officeDocument/2006/relationships/hyperlink" Target="https://doi.org/10.21037/tau.2019.07.18" TargetMode="External"/><Relationship Id="rId10" Type="http://schemas.openxmlformats.org/officeDocument/2006/relationships/hyperlink" Target="https://tau.amegroups.org/article/view/130351/html" TargetMode="External"/><Relationship Id="rId11" Type="http://schemas.openxmlformats.org/officeDocument/2006/relationships/hyperlink" Target="https://pubmed.ncbi.nlm.nih.gov/23164373/" TargetMode="External"/><Relationship Id="rId12" Type="http://schemas.openxmlformats.org/officeDocument/2006/relationships/hyperlink" Target="https://doi.org/10.1016/j.urology.2017.07.064" TargetMode="External"/><Relationship Id="rId13" Type="http://schemas.openxmlformats.org/officeDocument/2006/relationships/hyperlink" Target="https://doi.org/10.5152/tud.2023.22136" TargetMode="External"/><Relationship Id="rId14" Type="http://schemas.openxmlformats.org/officeDocument/2006/relationships/hyperlink" Target="https://pubmed.ncbi.nlm.nih.gov/26135815/" TargetMode="External"/><Relationship Id="rId15" Type="http://schemas.openxmlformats.org/officeDocument/2006/relationships/hyperlink" Target="https://pmc.ncbi.nlm.nih.gov/articles/PMC12794701/" TargetMode="External"/><Relationship Id="rId16" Type="http://schemas.openxmlformats.org/officeDocument/2006/relationships/hyperlink" Target="https://helpdesk.auanet.org/hc/en-us/articles/40948838469143-Guidelines" TargetMode="External"/><Relationship Id="rId17" Type="http://schemas.openxmlformats.org/officeDocument/2006/relationships/hyperlink" Target="https://journals.sagepub.com/doi/full/10.1177/20514158261451299" TargetMode="External"/><Relationship Id="rId18" Type="http://schemas.openxmlformats.org/officeDocument/2006/relationships/hyperlink" Target="https://journals.sagepub.com/doi/full/10.1177/20514158261451299" TargetMode="External"/><Relationship Id="rId19" Type="http://schemas.openxmlformats.org/officeDocument/2006/relationships/hyperlink" Target="https://doi.org/10.1097/01.JU.0001191316.72449.22.22" TargetMode="External"/><Relationship Id="rId20" Type="http://schemas.openxmlformats.org/officeDocument/2006/relationships/hyperlink" Target="https://doi.org/10.1097/01.JU.0001191316.72449.22.18" TargetMode="External"/><Relationship Id="rId21" Type="http://schemas.openxmlformats.org/officeDocument/2006/relationships/slideLayout" Target="../slideLayouts/slideLayout1.xml"/><Relationship Id="rId2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doi.org/10.1097/01.JU.0001191316.72449.22.17" TargetMode="External"/><Relationship Id="rId2" Type="http://schemas.openxmlformats.org/officeDocument/2006/relationships/hyperlink" Target="https://doi.org/10.1016/j.euf.2026.07.012" TargetMode="External"/><Relationship Id="rId3" Type="http://schemas.openxmlformats.org/officeDocument/2006/relationships/hyperlink" Target="https://doi.org/10.1016/j.urology.2026.05.024" TargetMode="External"/><Relationship Id="rId4" Type="http://schemas.openxmlformats.org/officeDocument/2006/relationships/hyperlink" Target="https://doi.org/10.3390/antibiotics15090894" TargetMode="External"/><Relationship Id="rId5" Type="http://schemas.openxmlformats.org/officeDocument/2006/relationships/hyperlink" Target="https://doi.org/10.1007/s11255-025-04711-y" TargetMode="External"/><Relationship Id="rId6" Type="http://schemas.openxmlformats.org/officeDocument/2006/relationships/hyperlink" Target="https://doi.org/10.1016/j.fjurol.2026.103135" TargetMode="External"/><Relationship Id="rId7" Type="http://schemas.openxmlformats.org/officeDocument/2006/relationships/hyperlink" Target="https://doi.org/10.1097/ju.0000000000005102" TargetMode="External"/><Relationship Id="rId8" Type="http://schemas.openxmlformats.org/officeDocument/2006/relationships/hyperlink" Target="https://doi.org/10.1111/bju.70224" TargetMode="External"/><Relationship Id="rId9" Type="http://schemas.openxmlformats.org/officeDocument/2006/relationships/hyperlink" Target="https://doi.org/10.1016/j.urology.2025.12.031" TargetMode="External"/><Relationship Id="rId10" Type="http://schemas.openxmlformats.org/officeDocument/2006/relationships/hyperlink" Target="https://doi.org/10.1016/j.euros.2025.12.006" TargetMode="External"/><Relationship Id="rId11" Type="http://schemas.openxmlformats.org/officeDocument/2006/relationships/hyperlink" Target="https://doi.org/10.1002/nau.70417" TargetMode="External"/><Relationship Id="rId12" Type="http://schemas.openxmlformats.org/officeDocument/2006/relationships/hyperlink" Target="https://doi.org/10.1007/s00345-026-06629-1" TargetMode="External"/><Relationship Id="rId13" Type="http://schemas.openxmlformats.org/officeDocument/2006/relationships/hyperlink" Target="https://doi.org/10.1002/nau.70400" TargetMode="External"/><Relationship Id="rId14" Type="http://schemas.openxmlformats.org/officeDocument/2006/relationships/hyperlink" Target="https://doi.org/10.1590/s1677-5538.ibju.2025.0374" TargetMode="External"/><Relationship Id="rId15" Type="http://schemas.openxmlformats.org/officeDocument/2006/relationships/hyperlink" Target="https://doi.org/10.1016/j.urology.2025.11.222" TargetMode="External"/><Relationship Id="rId16" Type="http://schemas.openxmlformats.org/officeDocument/2006/relationships/hyperlink" Target="https://doi.org/10.1007/s00345-025-05625-1" TargetMode="External"/><Relationship Id="rId17" Type="http://schemas.openxmlformats.org/officeDocument/2006/relationships/hyperlink" Target="https://doi.org/10.1097/ju.0000000000004945" TargetMode="External"/><Relationship Id="rId18" Type="http://schemas.openxmlformats.org/officeDocument/2006/relationships/hyperlink" Target="https://doi.org/10.1007/s00345-026-06246-y" TargetMode="External"/><Relationship Id="rId19" Type="http://schemas.openxmlformats.org/officeDocument/2006/relationships/slideLayout" Target="../slideLayouts/slideLayout1.xml"/><Relationship Id="rId20"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326"/>
        </a:solidFill>
      </p:bgPr>
    </p:bg>
    <p:spTree>
      <p:nvGrpSpPr>
        <p:cNvPr id="1" name=""/>
        <p:cNvGrpSpPr/>
        <p:nvPr/>
      </p:nvGrpSpPr>
      <p:grpSpPr>
        <a:xfrm>
          <a:off x="0" y="0"/>
          <a:ext cx="0" cy="0"/>
          <a:chOff x="0" y="0"/>
          <a:chExt cx="0" cy="0"/>
        </a:xfrm>
      </p:grpSpPr>
      <p:pic>
        <p:nvPicPr>
          <p:cNvPr id="2" name="Image 0" descr="C:\NityProjects\AUS-Presentation\repo\presentation\assets\uroops-cover.png">    </p:cNvPr>
          <p:cNvPicPr>
            <a:picLocks noChangeAspect="1"/>
          </p:cNvPicPr>
          <p:nvPr/>
        </p:nvPicPr>
        <p:blipFill>
          <a:blip r:embed="rId1"/>
          <a:srcRect l="0" r="0" t="0" b="0"/>
          <a:stretch/>
        </p:blipFill>
        <p:spPr>
          <a:xfrm>
            <a:off x="5394960" y="0"/>
            <a:ext cx="6796735" cy="6858000"/>
          </a:xfrm>
          <a:prstGeom prst="rect">
            <a:avLst/>
          </a:prstGeom>
        </p:spPr>
      </p:pic>
      <p:sp>
        <p:nvSpPr>
          <p:cNvPr id="3" name="Text 0"/>
          <p:cNvSpPr txBox="1"/>
          <p:nvPr/>
        </p:nvSpPr>
        <p:spPr>
          <a:xfrm>
            <a:off x="640080" y="1005840"/>
            <a:ext cx="50292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EXPERT TEACHING SESSION  ·  60 MINUTES</a:t>
            </a:r>
            <a:endParaRPr lang="en-US" sz="950" dirty="0"/>
          </a:p>
        </p:txBody>
      </p:sp>
      <p:sp>
        <p:nvSpPr>
          <p:cNvPr id="4" name="Text 1"/>
          <p:cNvSpPr txBox="1"/>
          <p:nvPr/>
        </p:nvSpPr>
        <p:spPr>
          <a:xfrm>
            <a:off x="640080" y="1417320"/>
            <a:ext cx="4937760" cy="1828800"/>
          </a:xfrm>
          <a:prstGeom prst="rect">
            <a:avLst/>
          </a:prstGeom>
          <a:noFill/>
          <a:ln/>
        </p:spPr>
        <p:txBody>
          <a:bodyPr wrap="square" lIns="0" tIns="0" rIns="0" bIns="0" rtlCol="0" anchor="t"/>
          <a:lstStyle/>
          <a:p>
            <a:pPr algn="l" indent="0" marL="0">
              <a:lnSpc>
                <a:spcPct val="98000"/>
              </a:lnSpc>
              <a:buNone/>
            </a:pPr>
            <a:r>
              <a:rPr lang="en-US" sz="4200" dirty="0">
                <a:solidFill>
                  <a:srgbClr val="F4F5F7"/>
                </a:solidFill>
                <a:latin typeface="Segoe UI Semibold" pitchFamily="34" charset="0"/>
                <a:ea typeface="Segoe UI Semibold" pitchFamily="34" charset="-122"/>
                <a:cs typeface="Segoe UI Semibold" pitchFamily="34" charset="-120"/>
              </a:rPr>
              <a:t>Artificial urinary sphincter surgery</a:t>
            </a:r>
            <a:endParaRPr lang="en-US" sz="4200" dirty="0"/>
          </a:p>
        </p:txBody>
      </p:sp>
      <p:sp>
        <p:nvSpPr>
          <p:cNvPr id="5" name="Text 2"/>
          <p:cNvSpPr txBox="1"/>
          <p:nvPr/>
        </p:nvSpPr>
        <p:spPr>
          <a:xfrm>
            <a:off x="640080" y="3337560"/>
            <a:ext cx="4572000" cy="822960"/>
          </a:xfrm>
          <a:prstGeom prst="rect">
            <a:avLst/>
          </a:prstGeom>
          <a:noFill/>
          <a:ln/>
        </p:spPr>
        <p:txBody>
          <a:bodyPr wrap="square" lIns="0" tIns="0" rIns="0" bIns="0" rtlCol="0" anchor="t"/>
          <a:lstStyle/>
          <a:p>
            <a:pPr algn="l" indent="0" marL="0">
              <a:lnSpc>
                <a:spcPct val="115000"/>
              </a:lnSpc>
              <a:buNone/>
            </a:pPr>
            <a:r>
              <a:rPr lang="en-US" sz="1700" dirty="0">
                <a:solidFill>
                  <a:srgbClr val="A7AEB8"/>
                </a:solidFill>
                <a:latin typeface="Segoe UI" pitchFamily="34" charset="0"/>
                <a:ea typeface="Segoe UI" pitchFamily="34" charset="-122"/>
                <a:cs typeface="Segoe UI" pitchFamily="34" charset="-120"/>
              </a:rPr>
              <a:t>Patient selection, difficult bladders and difficult urethras</a:t>
            </a:r>
            <a:endParaRPr lang="en-US" sz="1700" dirty="0"/>
          </a:p>
        </p:txBody>
      </p:sp>
      <p:sp>
        <p:nvSpPr>
          <p:cNvPr id="6" name="Text 3"/>
          <p:cNvSpPr txBox="1"/>
          <p:nvPr/>
        </p:nvSpPr>
        <p:spPr>
          <a:xfrm>
            <a:off x="640080" y="4251960"/>
            <a:ext cx="4572000" cy="274320"/>
          </a:xfrm>
          <a:prstGeom prst="rect">
            <a:avLst/>
          </a:prstGeom>
          <a:noFill/>
          <a:ln/>
        </p:spPr>
        <p:txBody>
          <a:bodyPr wrap="square" lIns="0" tIns="0" rIns="0" bIns="0" rtlCol="0" anchor="t"/>
          <a:lstStyle/>
          <a:p>
            <a:pPr algn="l" indent="0" marL="0">
              <a:buNone/>
            </a:pPr>
            <a:r>
              <a:rPr lang="en-US" sz="1100" dirty="0">
                <a:solidFill>
                  <a:srgbClr val="7E8791"/>
                </a:solidFill>
                <a:latin typeface="Segoe UI" pitchFamily="34" charset="0"/>
                <a:ea typeface="Segoe UI" pitchFamily="34" charset="-122"/>
                <a:cs typeface="Segoe UI" pitchFamily="34" charset="-120"/>
              </a:rPr>
              <a:t>[Meeting and date]</a:t>
            </a:r>
            <a:endParaRPr lang="en-US" sz="1100" dirty="0"/>
          </a:p>
        </p:txBody>
      </p:sp>
      <p:sp>
        <p:nvSpPr>
          <p:cNvPr id="7" name="Text 4"/>
          <p:cNvSpPr txBox="1"/>
          <p:nvPr/>
        </p:nvSpPr>
        <p:spPr>
          <a:xfrm>
            <a:off x="640080" y="4709160"/>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Andrew Baird</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8" name="Text 5"/>
          <p:cNvSpPr txBox="1"/>
          <p:nvPr/>
        </p:nvSpPr>
        <p:spPr>
          <a:xfrm>
            <a:off x="640080" y="5093208"/>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Abu Yousif</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9" name="Text 6"/>
          <p:cNvSpPr txBox="1"/>
          <p:nvPr/>
        </p:nvSpPr>
        <p:spPr>
          <a:xfrm>
            <a:off x="640080" y="5477256"/>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Nity G</a:t>
            </a:r>
            <a:pPr algn="l" indent="0" marL="0">
              <a:buNone/>
            </a:pPr>
            <a:r>
              <a:rPr lang="en-US" sz="1100" dirty="0">
                <a:solidFill>
                  <a:srgbClr val="A7AEB8"/>
                </a:solidFill>
                <a:latin typeface="Segoe UI" pitchFamily="34" charset="0"/>
                <a:ea typeface="Segoe UI" pitchFamily="34" charset="-122"/>
                <a:cs typeface="Segoe UI" pitchFamily="34" charset="-120"/>
              </a:rPr>
              <a:t>   ST5 Urology Registrar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Decide before theatre</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Can this patient obtain useful continence while storing and emptying safely and operating the device?</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00:00 – 14:00   ·   14 MINUTES</a:t>
            </a:r>
            <a:endParaRPr lang="en-US" sz="1000" dirty="0"/>
          </a:p>
        </p:txBody>
      </p:sp>
      <p:sp>
        <p:nvSpPr>
          <p:cNvPr id="7" name="Text 5"/>
          <p:cNvSpPr txBox="1"/>
          <p:nvPr/>
        </p:nvSpPr>
        <p:spPr>
          <a:xfrm>
            <a:off x="7223760" y="16459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01</a:t>
            </a:r>
            <a:endParaRPr lang="en-US" sz="1100" dirty="0"/>
          </a:p>
        </p:txBody>
      </p:sp>
      <p:sp>
        <p:nvSpPr>
          <p:cNvPr id="8" name="Text 6"/>
          <p:cNvSpPr txBox="1"/>
          <p:nvPr/>
        </p:nvSpPr>
        <p:spPr>
          <a:xfrm>
            <a:off x="7680960" y="16459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decision before theatre</a:t>
            </a:r>
            <a:endParaRPr lang="en-US" sz="1300" dirty="0"/>
          </a:p>
        </p:txBody>
      </p:sp>
      <p:sp>
        <p:nvSpPr>
          <p:cNvPr id="9" name="Text 7"/>
          <p:cNvSpPr txBox="1"/>
          <p:nvPr/>
        </p:nvSpPr>
        <p:spPr>
          <a:xfrm>
            <a:off x="7223760" y="20726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02</a:t>
            </a:r>
            <a:endParaRPr lang="en-US" sz="1100" dirty="0"/>
          </a:p>
        </p:txBody>
      </p:sp>
      <p:sp>
        <p:nvSpPr>
          <p:cNvPr id="10" name="Text 8"/>
          <p:cNvSpPr txBox="1"/>
          <p:nvPr/>
        </p:nvSpPr>
        <p:spPr>
          <a:xfrm>
            <a:off x="7680960" y="20726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Evidence and device boundaries</a:t>
            </a:r>
            <a:endParaRPr lang="en-US" sz="1300" dirty="0"/>
          </a:p>
        </p:txBody>
      </p:sp>
      <p:sp>
        <p:nvSpPr>
          <p:cNvPr id="11" name="Text 9"/>
          <p:cNvSpPr txBox="1"/>
          <p:nvPr/>
        </p:nvSpPr>
        <p:spPr>
          <a:xfrm>
            <a:off x="7223760" y="24993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03</a:t>
            </a:r>
            <a:endParaRPr lang="en-US" sz="1100" dirty="0"/>
          </a:p>
        </p:txBody>
      </p:sp>
      <p:sp>
        <p:nvSpPr>
          <p:cNvPr id="12" name="Text 10"/>
          <p:cNvSpPr txBox="1"/>
          <p:nvPr/>
        </p:nvSpPr>
        <p:spPr>
          <a:xfrm>
            <a:off x="7680960" y="24993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Leakage mechanism and patient goals</a:t>
            </a:r>
            <a:endParaRPr lang="en-US" sz="1300" dirty="0"/>
          </a:p>
        </p:txBody>
      </p:sp>
      <p:sp>
        <p:nvSpPr>
          <p:cNvPr id="13" name="Text 11"/>
          <p:cNvSpPr txBox="1"/>
          <p:nvPr/>
        </p:nvSpPr>
        <p:spPr>
          <a:xfrm>
            <a:off x="7223760" y="29260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04</a:t>
            </a:r>
            <a:endParaRPr lang="en-US" sz="1100" dirty="0"/>
          </a:p>
        </p:txBody>
      </p:sp>
      <p:sp>
        <p:nvSpPr>
          <p:cNvPr id="14" name="Text 12"/>
          <p:cNvSpPr txBox="1"/>
          <p:nvPr/>
        </p:nvSpPr>
        <p:spPr>
          <a:xfrm>
            <a:off x="7680960" y="29260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Timing after prostate treatment</a:t>
            </a:r>
            <a:endParaRPr lang="en-US" sz="1300" dirty="0"/>
          </a:p>
        </p:txBody>
      </p:sp>
      <p:sp>
        <p:nvSpPr>
          <p:cNvPr id="15" name="Text 13"/>
          <p:cNvSpPr txBox="1"/>
          <p:nvPr/>
        </p:nvSpPr>
        <p:spPr>
          <a:xfrm>
            <a:off x="7223760" y="335280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05</a:t>
            </a:r>
            <a:endParaRPr lang="en-US" sz="1100" dirty="0"/>
          </a:p>
        </p:txBody>
      </p:sp>
      <p:sp>
        <p:nvSpPr>
          <p:cNvPr id="16" name="Text 14"/>
          <p:cNvSpPr txBox="1"/>
          <p:nvPr/>
        </p:nvSpPr>
        <p:spPr>
          <a:xfrm>
            <a:off x="7680960" y="335280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use over time</a:t>
            </a:r>
            <a:endParaRPr lang="en-US" sz="1300" dirty="0"/>
          </a:p>
        </p:txBody>
      </p:sp>
      <p:sp>
        <p:nvSpPr>
          <p:cNvPr id="17" name="Text 15"/>
          <p:cNvSpPr txBox="1"/>
          <p:nvPr/>
        </p:nvSpPr>
        <p:spPr>
          <a:xfrm>
            <a:off x="7223760" y="37795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06</a:t>
            </a:r>
            <a:endParaRPr lang="en-US" sz="1100" dirty="0"/>
          </a:p>
        </p:txBody>
      </p:sp>
      <p:sp>
        <p:nvSpPr>
          <p:cNvPr id="18" name="Text 16"/>
          <p:cNvSpPr txBox="1"/>
          <p:nvPr/>
        </p:nvSpPr>
        <p:spPr>
          <a:xfrm>
            <a:off x="7680960" y="37795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Flexible cystoscopy before implantation</a:t>
            </a:r>
            <a:endParaRPr lang="en-US" sz="1300" dirty="0"/>
          </a:p>
        </p:txBody>
      </p:sp>
      <p:sp>
        <p:nvSpPr>
          <p:cNvPr id="19" name="Text 17"/>
          <p:cNvSpPr txBox="1"/>
          <p:nvPr/>
        </p:nvSpPr>
        <p:spPr>
          <a:xfrm>
            <a:off x="7223760" y="42062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07</a:t>
            </a:r>
            <a:endParaRPr lang="en-US" sz="1100" dirty="0"/>
          </a:p>
        </p:txBody>
      </p:sp>
      <p:sp>
        <p:nvSpPr>
          <p:cNvPr id="20" name="Text 18"/>
          <p:cNvSpPr txBox="1"/>
          <p:nvPr/>
        </p:nvSpPr>
        <p:spPr>
          <a:xfrm>
            <a:off x="7680960" y="42062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Urodynamics: BAUS, EAU and AUA</a:t>
            </a:r>
            <a:endParaRPr lang="en-US" sz="1300" dirty="0"/>
          </a:p>
        </p:txBody>
      </p:sp>
      <p:sp>
        <p:nvSpPr>
          <p:cNvPr id="21" name="Text 19"/>
          <p:cNvSpPr txBox="1"/>
          <p:nvPr/>
        </p:nvSpPr>
        <p:spPr>
          <a:xfrm>
            <a:off x="7223760" y="46329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08</a:t>
            </a:r>
            <a:endParaRPr lang="en-US" sz="1100" dirty="0"/>
          </a:p>
        </p:txBody>
      </p:sp>
      <p:sp>
        <p:nvSpPr>
          <p:cNvPr id="22" name="Text 20"/>
          <p:cNvSpPr txBox="1"/>
          <p:nvPr/>
        </p:nvSpPr>
        <p:spPr>
          <a:xfrm>
            <a:off x="7680960" y="46329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Interpreting an imperfect study</a:t>
            </a:r>
            <a:endParaRPr lang="en-US" sz="1300" dirty="0"/>
          </a:p>
        </p:txBody>
      </p:sp>
      <p:sp>
        <p:nvSpPr>
          <p:cNvPr id="23" name="Text 21"/>
          <p:cNvSpPr txBox="1"/>
          <p:nvPr/>
        </p:nvSpPr>
        <p:spPr>
          <a:xfrm>
            <a:off x="7223760" y="50596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09</a:t>
            </a:r>
            <a:endParaRPr lang="en-US" sz="1100" dirty="0"/>
          </a:p>
        </p:txBody>
      </p:sp>
      <p:sp>
        <p:nvSpPr>
          <p:cNvPr id="24" name="Text 22"/>
          <p:cNvSpPr txBox="1"/>
          <p:nvPr/>
        </p:nvSpPr>
        <p:spPr>
          <a:xfrm>
            <a:off x="7680960" y="50596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Consent: improvement and lifetime burden</a:t>
            </a:r>
            <a:endParaRPr lang="en-US" sz="1300" dirty="0"/>
          </a:p>
        </p:txBody>
      </p:sp>
      <p:sp>
        <p:nvSpPr>
          <p:cNvPr id="25" name="Shape 23"/>
          <p:cNvSpPr/>
          <p:nvPr/>
        </p:nvSpPr>
        <p:spPr>
          <a:xfrm>
            <a:off x="640080" y="5989320"/>
            <a:ext cx="1727149" cy="82296"/>
          </a:xfrm>
          <a:prstGeom prst="roundRect">
            <a:avLst>
              <a:gd name="adj" fmla="val 44444"/>
            </a:avLst>
          </a:prstGeom>
          <a:solidFill>
            <a:srgbClr val="3FB8BF"/>
          </a:solidFill>
          <a:ln/>
        </p:spPr>
      </p:sp>
      <p:sp>
        <p:nvSpPr>
          <p:cNvPr id="26" name="Text 24"/>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Decide before theatre</a:t>
            </a:r>
            <a:endParaRPr lang="en-US" sz="850" dirty="0"/>
          </a:p>
        </p:txBody>
      </p:sp>
      <p:sp>
        <p:nvSpPr>
          <p:cNvPr id="27" name="Shape 25"/>
          <p:cNvSpPr/>
          <p:nvPr/>
        </p:nvSpPr>
        <p:spPr>
          <a:xfrm>
            <a:off x="2476957" y="5989320"/>
            <a:ext cx="1727149" cy="82296"/>
          </a:xfrm>
          <a:prstGeom prst="roundRect">
            <a:avLst>
              <a:gd name="adj" fmla="val 44444"/>
            </a:avLst>
          </a:prstGeom>
          <a:solidFill>
            <a:srgbClr val="2A2F34"/>
          </a:solidFill>
          <a:ln/>
        </p:spPr>
      </p:sp>
      <p:sp>
        <p:nvSpPr>
          <p:cNvPr id="28" name="Text 26"/>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9" name="Shape 27"/>
          <p:cNvSpPr/>
          <p:nvPr/>
        </p:nvSpPr>
        <p:spPr>
          <a:xfrm>
            <a:off x="4313834" y="5989320"/>
            <a:ext cx="1727149" cy="82296"/>
          </a:xfrm>
          <a:prstGeom prst="roundRect">
            <a:avLst>
              <a:gd name="adj" fmla="val 44444"/>
            </a:avLst>
          </a:prstGeom>
          <a:solidFill>
            <a:srgbClr val="2A2F34"/>
          </a:solidFill>
          <a:ln/>
        </p:spPr>
      </p:sp>
      <p:sp>
        <p:nvSpPr>
          <p:cNvPr id="30" name="Text 28"/>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31" name="Shape 29"/>
          <p:cNvSpPr/>
          <p:nvPr/>
        </p:nvSpPr>
        <p:spPr>
          <a:xfrm>
            <a:off x="6150712" y="5989320"/>
            <a:ext cx="1727149" cy="82296"/>
          </a:xfrm>
          <a:prstGeom prst="roundRect">
            <a:avLst>
              <a:gd name="adj" fmla="val 44444"/>
            </a:avLst>
          </a:prstGeom>
          <a:solidFill>
            <a:srgbClr val="2A2F34"/>
          </a:solidFill>
          <a:ln/>
        </p:spPr>
      </p:sp>
      <p:sp>
        <p:nvSpPr>
          <p:cNvPr id="32" name="Text 30"/>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3" name="Shape 31"/>
          <p:cNvSpPr/>
          <p:nvPr/>
        </p:nvSpPr>
        <p:spPr>
          <a:xfrm>
            <a:off x="7987589" y="5989320"/>
            <a:ext cx="1727149" cy="82296"/>
          </a:xfrm>
          <a:prstGeom prst="roundRect">
            <a:avLst>
              <a:gd name="adj" fmla="val 44444"/>
            </a:avLst>
          </a:prstGeom>
          <a:solidFill>
            <a:srgbClr val="2A2F34"/>
          </a:solidFill>
          <a:ln/>
        </p:spPr>
      </p:sp>
      <p:sp>
        <p:nvSpPr>
          <p:cNvPr id="34" name="Text 32"/>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35" name="Shape 33"/>
          <p:cNvSpPr/>
          <p:nvPr/>
        </p:nvSpPr>
        <p:spPr>
          <a:xfrm>
            <a:off x="9824466" y="5989320"/>
            <a:ext cx="1727149" cy="82296"/>
          </a:xfrm>
          <a:prstGeom prst="roundRect">
            <a:avLst>
              <a:gd name="adj" fmla="val 44444"/>
            </a:avLst>
          </a:prstGeom>
          <a:solidFill>
            <a:srgbClr val="2A2F34"/>
          </a:solidFill>
          <a:ln/>
        </p:spPr>
      </p:sp>
      <p:sp>
        <p:nvSpPr>
          <p:cNvPr id="36" name="Text 34"/>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01 / 38   ·   00:00 – 01:30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decision before theatre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a:t>
            </a:r>
            <a:endParaRPr lang="en-US" sz="800" dirty="0"/>
          </a:p>
        </p:txBody>
      </p:sp>
      <p:sp>
        <p:nvSpPr>
          <p:cNvPr id="6" name="Text 4"/>
          <p:cNvSpPr txBox="1"/>
          <p:nvPr/>
        </p:nvSpPr>
        <p:spPr>
          <a:xfrm>
            <a:off x="640080" y="1737360"/>
            <a:ext cx="10911535" cy="457200"/>
          </a:xfrm>
          <a:prstGeom prst="rect">
            <a:avLst/>
          </a:prstGeom>
          <a:noFill/>
          <a:ln/>
        </p:spPr>
        <p:txBody>
          <a:bodyPr wrap="square" lIns="0" tIns="0" rIns="0" bIns="0" rtlCol="0" anchor="t"/>
          <a:lstStyle/>
          <a:p>
            <a:pPr algn="l" indent="0" marL="0">
              <a:buNone/>
            </a:pPr>
            <a:r>
              <a:rPr lang="en-US" sz="1800" dirty="0">
                <a:solidFill>
                  <a:srgbClr val="5F6B7A"/>
                </a:solidFill>
                <a:latin typeface="Segoe UI" pitchFamily="34" charset="0"/>
                <a:ea typeface="Segoe UI" pitchFamily="34" charset="-122"/>
                <a:cs typeface="Segoe UI" pitchFamily="34" charset="-120"/>
              </a:rPr>
              <a:t>Severe leakage is only the starting point</a:t>
            </a:r>
            <a:endParaRPr lang="en-US" sz="1800" dirty="0"/>
          </a:p>
        </p:txBody>
      </p:sp>
      <p:sp>
        <p:nvSpPr>
          <p:cNvPr id="7" name="Shape 5"/>
          <p:cNvSpPr/>
          <p:nvPr/>
        </p:nvSpPr>
        <p:spPr>
          <a:xfrm>
            <a:off x="640080" y="2514600"/>
            <a:ext cx="2522144" cy="2788920"/>
          </a:xfrm>
          <a:prstGeom prst="roundRect">
            <a:avLst>
              <a:gd name="adj" fmla="val 5076"/>
            </a:avLst>
          </a:prstGeom>
          <a:solidFill>
            <a:srgbClr val="F3F4F6"/>
          </a:solidFill>
          <a:ln/>
        </p:spPr>
      </p:sp>
      <p:sp>
        <p:nvSpPr>
          <p:cNvPr id="8" name="Shape 6"/>
          <p:cNvSpPr/>
          <p:nvPr/>
        </p:nvSpPr>
        <p:spPr>
          <a:xfrm>
            <a:off x="932688" y="2880360"/>
            <a:ext cx="182880" cy="182880"/>
          </a:xfrm>
          <a:prstGeom prst="ellipse">
            <a:avLst/>
          </a:prstGeom>
          <a:solidFill>
            <a:srgbClr val="0F7F86"/>
          </a:solidFill>
          <a:ln/>
        </p:spPr>
      </p:sp>
      <p:sp>
        <p:nvSpPr>
          <p:cNvPr id="9" name="Text 7"/>
          <p:cNvSpPr txBox="1"/>
          <p:nvPr/>
        </p:nvSpPr>
        <p:spPr>
          <a:xfrm>
            <a:off x="914400" y="3200400"/>
            <a:ext cx="1973504" cy="502920"/>
          </a:xfrm>
          <a:prstGeom prst="rect">
            <a:avLst/>
          </a:prstGeom>
          <a:noFill/>
          <a:ln/>
        </p:spPr>
        <p:txBody>
          <a:bodyPr wrap="square" lIns="0" tIns="0" rIns="0" bIns="0" rtlCol="0" anchor="t"/>
          <a:lstStyle/>
          <a:p>
            <a:pPr algn="l" indent="0" marL="0">
              <a:buNone/>
            </a:pPr>
            <a:r>
              <a:rPr lang="en-US" sz="2400" dirty="0">
                <a:solidFill>
                  <a:srgbClr val="0F7F86"/>
                </a:solidFill>
                <a:latin typeface="Segoe UI Semibold" pitchFamily="34" charset="0"/>
                <a:ea typeface="Segoe UI Semibold" pitchFamily="34" charset="-122"/>
                <a:cs typeface="Segoe UI Semibold" pitchFamily="34" charset="-120"/>
              </a:rPr>
              <a:t>Implant</a:t>
            </a:r>
            <a:endParaRPr lang="en-US" sz="2400" dirty="0"/>
          </a:p>
        </p:txBody>
      </p:sp>
      <p:sp>
        <p:nvSpPr>
          <p:cNvPr id="10" name="Text 8"/>
          <p:cNvSpPr txBox="1"/>
          <p:nvPr/>
        </p:nvSpPr>
        <p:spPr>
          <a:xfrm>
            <a:off x="914400"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SUI, safe storage, reliable emptying and usable pump</a:t>
            </a:r>
            <a:endParaRPr lang="en-US" sz="1550" dirty="0"/>
          </a:p>
        </p:txBody>
      </p:sp>
      <p:sp>
        <p:nvSpPr>
          <p:cNvPr id="11" name="Shape 9"/>
          <p:cNvSpPr/>
          <p:nvPr/>
        </p:nvSpPr>
        <p:spPr>
          <a:xfrm>
            <a:off x="3436544" y="2514600"/>
            <a:ext cx="2522144" cy="2788920"/>
          </a:xfrm>
          <a:prstGeom prst="roundRect">
            <a:avLst>
              <a:gd name="adj" fmla="val 5076"/>
            </a:avLst>
          </a:prstGeom>
          <a:solidFill>
            <a:srgbClr val="F3F4F6"/>
          </a:solidFill>
          <a:ln/>
        </p:spPr>
      </p:sp>
      <p:sp>
        <p:nvSpPr>
          <p:cNvPr id="12" name="Shape 10"/>
          <p:cNvSpPr/>
          <p:nvPr/>
        </p:nvSpPr>
        <p:spPr>
          <a:xfrm>
            <a:off x="3729152" y="2880360"/>
            <a:ext cx="182880" cy="182880"/>
          </a:xfrm>
          <a:prstGeom prst="ellipse">
            <a:avLst/>
          </a:prstGeom>
          <a:solidFill>
            <a:srgbClr val="B8791A"/>
          </a:solidFill>
          <a:ln/>
        </p:spPr>
      </p:sp>
      <p:sp>
        <p:nvSpPr>
          <p:cNvPr id="13" name="Text 11"/>
          <p:cNvSpPr txBox="1"/>
          <p:nvPr/>
        </p:nvSpPr>
        <p:spPr>
          <a:xfrm>
            <a:off x="3710864" y="3200400"/>
            <a:ext cx="1973504" cy="502920"/>
          </a:xfrm>
          <a:prstGeom prst="rect">
            <a:avLst/>
          </a:prstGeom>
          <a:noFill/>
          <a:ln/>
        </p:spPr>
        <p:txBody>
          <a:bodyPr wrap="square" lIns="0" tIns="0" rIns="0" bIns="0" rtlCol="0" anchor="t"/>
          <a:lstStyle/>
          <a:p>
            <a:pPr algn="l" indent="0" marL="0">
              <a:buNone/>
            </a:pPr>
            <a:r>
              <a:rPr lang="en-US" sz="2400" dirty="0">
                <a:solidFill>
                  <a:srgbClr val="B8791A"/>
                </a:solidFill>
                <a:latin typeface="Segoe UI Semibold" pitchFamily="34" charset="0"/>
                <a:ea typeface="Segoe UI Semibold" pitchFamily="34" charset="-122"/>
                <a:cs typeface="Segoe UI Semibold" pitchFamily="34" charset="-120"/>
              </a:rPr>
              <a:t>Optimise</a:t>
            </a:r>
            <a:endParaRPr lang="en-US" sz="2400" dirty="0"/>
          </a:p>
        </p:txBody>
      </p:sp>
      <p:sp>
        <p:nvSpPr>
          <p:cNvPr id="14" name="Text 12"/>
          <p:cNvSpPr txBox="1"/>
          <p:nvPr/>
        </p:nvSpPr>
        <p:spPr>
          <a:xfrm>
            <a:off x="3710864"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A treatable bladder or functional problem dominates</a:t>
            </a:r>
            <a:endParaRPr lang="en-US" sz="1550" dirty="0"/>
          </a:p>
        </p:txBody>
      </p:sp>
      <p:sp>
        <p:nvSpPr>
          <p:cNvPr id="15" name="Shape 13"/>
          <p:cNvSpPr/>
          <p:nvPr/>
        </p:nvSpPr>
        <p:spPr>
          <a:xfrm>
            <a:off x="6233008" y="2514600"/>
            <a:ext cx="2522144" cy="2788920"/>
          </a:xfrm>
          <a:prstGeom prst="roundRect">
            <a:avLst>
              <a:gd name="adj" fmla="val 5076"/>
            </a:avLst>
          </a:prstGeom>
          <a:solidFill>
            <a:srgbClr val="F3F4F6"/>
          </a:solidFill>
          <a:ln/>
        </p:spPr>
      </p:sp>
      <p:sp>
        <p:nvSpPr>
          <p:cNvPr id="16" name="Shape 14"/>
          <p:cNvSpPr/>
          <p:nvPr/>
        </p:nvSpPr>
        <p:spPr>
          <a:xfrm>
            <a:off x="6525616" y="2880360"/>
            <a:ext cx="182880" cy="182880"/>
          </a:xfrm>
          <a:prstGeom prst="ellipse">
            <a:avLst/>
          </a:prstGeom>
          <a:solidFill>
            <a:srgbClr val="3B5BA5"/>
          </a:solidFill>
          <a:ln/>
        </p:spPr>
      </p:sp>
      <p:sp>
        <p:nvSpPr>
          <p:cNvPr id="17" name="Text 15"/>
          <p:cNvSpPr txBox="1"/>
          <p:nvPr/>
        </p:nvSpPr>
        <p:spPr>
          <a:xfrm>
            <a:off x="6507328" y="3200400"/>
            <a:ext cx="1973504" cy="502920"/>
          </a:xfrm>
          <a:prstGeom prst="rect">
            <a:avLst/>
          </a:prstGeom>
          <a:noFill/>
          <a:ln/>
        </p:spPr>
        <p:txBody>
          <a:bodyPr wrap="square" lIns="0" tIns="0" rIns="0" bIns="0" rtlCol="0" anchor="t"/>
          <a:lstStyle/>
          <a:p>
            <a:pPr algn="l" indent="0" marL="0">
              <a:buNone/>
            </a:pPr>
            <a:r>
              <a:rPr lang="en-US" sz="2400" dirty="0">
                <a:solidFill>
                  <a:srgbClr val="3B5BA5"/>
                </a:solidFill>
                <a:latin typeface="Segoe UI Semibold" pitchFamily="34" charset="0"/>
                <a:ea typeface="Segoe UI Semibold" pitchFamily="34" charset="-122"/>
                <a:cs typeface="Segoe UI Semibold" pitchFamily="34" charset="-120"/>
              </a:rPr>
              <a:t>Investigate</a:t>
            </a:r>
            <a:endParaRPr lang="en-US" sz="2400" dirty="0"/>
          </a:p>
        </p:txBody>
      </p:sp>
      <p:sp>
        <p:nvSpPr>
          <p:cNvPr id="18" name="Text 16"/>
          <p:cNvSpPr txBox="1"/>
          <p:nvPr/>
        </p:nvSpPr>
        <p:spPr>
          <a:xfrm>
            <a:off x="6507328"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The mechanism, measurements or anatomy remain uncertain</a:t>
            </a:r>
            <a:endParaRPr lang="en-US" sz="1550" dirty="0"/>
          </a:p>
        </p:txBody>
      </p:sp>
      <p:sp>
        <p:nvSpPr>
          <p:cNvPr id="19" name="Shape 17"/>
          <p:cNvSpPr/>
          <p:nvPr/>
        </p:nvSpPr>
        <p:spPr>
          <a:xfrm>
            <a:off x="9029471" y="2514600"/>
            <a:ext cx="2522144" cy="2788920"/>
          </a:xfrm>
          <a:prstGeom prst="roundRect">
            <a:avLst>
              <a:gd name="adj" fmla="val 5076"/>
            </a:avLst>
          </a:prstGeom>
          <a:solidFill>
            <a:srgbClr val="F3F4F6"/>
          </a:solidFill>
          <a:ln/>
        </p:spPr>
      </p:sp>
      <p:sp>
        <p:nvSpPr>
          <p:cNvPr id="20" name="Shape 18"/>
          <p:cNvSpPr/>
          <p:nvPr/>
        </p:nvSpPr>
        <p:spPr>
          <a:xfrm>
            <a:off x="9322079" y="2880360"/>
            <a:ext cx="182880" cy="182880"/>
          </a:xfrm>
          <a:prstGeom prst="ellipse">
            <a:avLst/>
          </a:prstGeom>
          <a:solidFill>
            <a:srgbClr val="C2482D"/>
          </a:solidFill>
          <a:ln/>
        </p:spPr>
      </p:sp>
      <p:sp>
        <p:nvSpPr>
          <p:cNvPr id="21" name="Text 19"/>
          <p:cNvSpPr txBox="1"/>
          <p:nvPr/>
        </p:nvSpPr>
        <p:spPr>
          <a:xfrm>
            <a:off x="9303791" y="3200400"/>
            <a:ext cx="1973504" cy="502920"/>
          </a:xfrm>
          <a:prstGeom prst="rect">
            <a:avLst/>
          </a:prstGeom>
          <a:noFill/>
          <a:ln/>
        </p:spPr>
        <p:txBody>
          <a:bodyPr wrap="square" lIns="0" tIns="0" rIns="0" bIns="0" rtlCol="0" anchor="t"/>
          <a:lstStyle/>
          <a:p>
            <a:pPr algn="l" indent="0" marL="0">
              <a:buNone/>
            </a:pPr>
            <a:r>
              <a:rPr lang="en-US" sz="2400" dirty="0">
                <a:solidFill>
                  <a:srgbClr val="C2482D"/>
                </a:solidFill>
                <a:latin typeface="Segoe UI Semibold" pitchFamily="34" charset="0"/>
                <a:ea typeface="Segoe UI Semibold" pitchFamily="34" charset="-122"/>
                <a:cs typeface="Segoe UI Semibold" pitchFamily="34" charset="-120"/>
              </a:rPr>
              <a:t>Reconsider</a:t>
            </a:r>
            <a:endParaRPr lang="en-US" sz="2400" dirty="0"/>
          </a:p>
        </p:txBody>
      </p:sp>
      <p:sp>
        <p:nvSpPr>
          <p:cNvPr id="22" name="Text 20"/>
          <p:cNvSpPr txBox="1"/>
          <p:nvPr/>
        </p:nvSpPr>
        <p:spPr>
          <a:xfrm>
            <a:off x="9303791" y="3794760"/>
            <a:ext cx="1973504" cy="1280160"/>
          </a:xfrm>
          <a:prstGeom prst="rect">
            <a:avLst/>
          </a:prstGeom>
          <a:noFill/>
          <a:ln/>
        </p:spPr>
        <p:txBody>
          <a:bodyPr wrap="square" lIns="0" tIns="0" rIns="0" bIns="0" rtlCol="0" anchor="t"/>
          <a:lstStyle/>
          <a:p>
            <a:pPr algn="l" indent="0" marL="0">
              <a:lnSpc>
                <a:spcPct val="115000"/>
              </a:lnSpc>
              <a:buNone/>
            </a:pPr>
            <a:r>
              <a:rPr lang="en-US" sz="1550" dirty="0">
                <a:solidFill>
                  <a:srgbClr val="1B2430"/>
                </a:solidFill>
                <a:latin typeface="Segoe UI" pitchFamily="34" charset="0"/>
                <a:ea typeface="Segoe UI" pitchFamily="34" charset="-122"/>
                <a:cs typeface="Segoe UI" pitchFamily="34" charset="-120"/>
              </a:rPr>
              <a:t>Safe function or independent device use is unlikely</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02 / 38   ·   01:30 – 03:00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and device boundaries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AP23  ·  CCIFU  ·  AUASTATUS26  ·  DEVICE26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 AUA amendment 2024 · EAU 2026. Meeting abstracts are separate evidence. Device results are not interchangeable.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Source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What it can tell us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Guidelines and consensus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recommended clinical pathway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Clinical studies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Outcomes in a defined population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Manufacturer IFU</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Permitted use and device precautions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Expert or local practice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practical choice with stated uncertainty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03 / 38   ·   03:00 – 04:45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Leakage mechanism and patient goals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PAD26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Pad count is useful; 2026 data show wide weight variability at 2–4 pads/day. Measure when severity is uncertain.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Characterise the leak</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Demonstrated stress leakage</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Urgency, night-time symptoms and emptying</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Pad use, pad weight and activity</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Define useful improvement</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Recovery trajectory and prior treatment</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validated symptom and quality-of-life measure</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The activity the patient wants back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04 / 38   ·   04:45 – 06:15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Timing after prostate treatment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AUA24  ·  BAUS25  ·  EAU26  ·  MASTER22  ·  MASTER26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MASTER 2026: sling remained non-inferior at 24 months; further surgery 11% after sling versus 2% after AUS. Selected population.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Guidance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At six months</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At twelve months</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six months’ recovery for severe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twelve months for mild–moderate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Surgery may be offered for bothersome, non-improving SUI despite conservative care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Offer surgery for persisting bothersome SUI</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05 / 38   ·   06:15 – 07:30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use over time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CCIFU  ·  FRAIL26</a:t>
            </a:r>
            <a:endParaRPr lang="en-US" sz="800" dirty="0"/>
          </a:p>
        </p:txBody>
      </p:sp>
      <p:pic>
        <p:nvPicPr>
          <p:cNvPr id="6" name="Image 0" descr="C:\NityProjects\AUS-Presentation\repo\presentation\assets\uroops-exploded.png">    </p:cNvPr>
          <p:cNvPicPr>
            <a:picLocks noChangeAspect="1"/>
          </p:cNvPicPr>
          <p:nvPr/>
        </p:nvPicPr>
        <p:blipFill>
          <a:blip r:embed="rId1"/>
          <a:stretch>
            <a:fillRect/>
          </a:stretch>
        </p:blipFill>
        <p:spPr>
          <a:xfrm>
            <a:off x="640080" y="1985765"/>
            <a:ext cx="7223760" cy="2977911"/>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Pump assessment</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Watch the patient operate a demonstration pump</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reach, strength and understanding</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Agree an accessible position before surgery</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Assess frailty as well as future pump use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06 / 38   ·   07:30 – 09:15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Flexible cystoscopy before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EAU26  ·  EAUSTR26  ·  AUAUDS26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IP09-22 revisits testing; full results unverified. Existing cystoscopy guidance remains applicable.</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Guidance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AUA recommends cystourethroscopy before SUI surgery</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BAUS selects cystoscopy within its VUDS pathway</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Advance inspection is a practical preference</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Findings that change the plan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Stricture, BNC or VUAS</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Erosion, foreign material or stones</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Tumour or likely repeated instrumentation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07 / 38   ·   09:15 – 11:00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Urodynamics: BAUS, EAU and AUA</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AUASTATUS26  ·  AUAUDS26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EAU 2026 and AUA 2024 differ. AUA 2026 IP09-22 is conference material; full results remain unverified.</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Guideline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Position</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Clinical implication</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Video-urodynamics for surgical candidates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Follow the investigation pathway</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EAU</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UDS before invasive treatment, weak recommendation</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Interpret alongside the selective-testing narrative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UDS when diagnosis or counselling benefits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State the uncertainty the test should resolve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08 / 38   ·   11:00 – 12:45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Interpreting an imperfect study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  ·  UDS14</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Low capacity can reflect leakage. A weak laboratory contraction needs the real voiding history.</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Dominant symptoms and demonstrated SUI</a:t>
            </a:r>
            <a:endParaRPr lang="en-US" sz="1700" dirty="0"/>
          </a:p>
        </p:txBody>
      </p:sp>
      <p:sp>
        <p:nvSpPr>
          <p:cNvPr id="10" name="Shape 8"/>
          <p:cNvSpPr/>
          <p:nvPr/>
        </p:nvSpPr>
        <p:spPr>
          <a:xfrm>
            <a:off x="1325880" y="2560320"/>
            <a:ext cx="10225735" cy="0"/>
          </a:xfrm>
          <a:prstGeom prst="line">
            <a:avLst/>
          </a:prstGeom>
          <a:noFill/>
          <a:ln w="9525">
            <a:solidFill>
              <a:srgbClr val="DDE2E8"/>
            </a:solidFill>
            <a:prstDash val="solid"/>
          </a:ln>
        </p:spPr>
      </p:sp>
      <p:sp>
        <p:nvSpPr>
          <p:cNvPr id="11" name="Shape 9"/>
          <p:cNvSpPr/>
          <p:nvPr/>
        </p:nvSpPr>
        <p:spPr>
          <a:xfrm>
            <a:off x="640080" y="2578608"/>
            <a:ext cx="457200" cy="457200"/>
          </a:xfrm>
          <a:prstGeom prst="ellipse">
            <a:avLst/>
          </a:prstGeom>
          <a:solidFill>
            <a:srgbClr val="0F7F86"/>
          </a:solidFill>
          <a:ln/>
        </p:spPr>
      </p:sp>
      <p:sp>
        <p:nvSpPr>
          <p:cNvPr id="12" name="Text 10"/>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Urine, bladder diary, free flow and repeated residual</a:t>
            </a:r>
            <a:endParaRPr lang="en-US" sz="1700" dirty="0"/>
          </a:p>
        </p:txBody>
      </p:sp>
      <p:sp>
        <p:nvSpPr>
          <p:cNvPr id="14" name="Shape 12"/>
          <p:cNvSpPr/>
          <p:nvPr/>
        </p:nvSpPr>
        <p:spPr>
          <a:xfrm>
            <a:off x="1325880" y="3310128"/>
            <a:ext cx="10225735" cy="0"/>
          </a:xfrm>
          <a:prstGeom prst="line">
            <a:avLst/>
          </a:prstGeom>
          <a:noFill/>
          <a:ln w="9525">
            <a:solidFill>
              <a:srgbClr val="DDE2E8"/>
            </a:solidFill>
            <a:prstDash val="solid"/>
          </a:ln>
        </p:spPr>
      </p:sp>
      <p:sp>
        <p:nvSpPr>
          <p:cNvPr id="15" name="Shape 13"/>
          <p:cNvSpPr/>
          <p:nvPr/>
        </p:nvSpPr>
        <p:spPr>
          <a:xfrm>
            <a:off x="640080" y="3328416"/>
            <a:ext cx="457200" cy="457200"/>
          </a:xfrm>
          <a:prstGeom prst="ellipse">
            <a:avLst/>
          </a:prstGeom>
          <a:solidFill>
            <a:srgbClr val="0F7F86"/>
          </a:solidFill>
          <a:ln/>
        </p:spPr>
      </p:sp>
      <p:sp>
        <p:nvSpPr>
          <p:cNvPr id="16" name="Text 14"/>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Urethral anatomy and future access</a:t>
            </a:r>
            <a:endParaRPr lang="en-US" sz="1700" dirty="0"/>
          </a:p>
        </p:txBody>
      </p:sp>
      <p:sp>
        <p:nvSpPr>
          <p:cNvPr id="18" name="Shape 16"/>
          <p:cNvSpPr/>
          <p:nvPr/>
        </p:nvSpPr>
        <p:spPr>
          <a:xfrm>
            <a:off x="1325880" y="4059936"/>
            <a:ext cx="10225735" cy="0"/>
          </a:xfrm>
          <a:prstGeom prst="line">
            <a:avLst/>
          </a:prstGeom>
          <a:noFill/>
          <a:ln w="9525">
            <a:solidFill>
              <a:srgbClr val="DDE2E8"/>
            </a:solidFill>
            <a:prstDash val="solid"/>
          </a:ln>
        </p:spPr>
      </p:sp>
      <p:sp>
        <p:nvSpPr>
          <p:cNvPr id="19" name="Shape 17"/>
          <p:cNvSpPr/>
          <p:nvPr/>
        </p:nvSpPr>
        <p:spPr>
          <a:xfrm>
            <a:off x="640080" y="4078224"/>
            <a:ext cx="457200" cy="457200"/>
          </a:xfrm>
          <a:prstGeom prst="ellipse">
            <a:avLst/>
          </a:prstGeom>
          <a:solidFill>
            <a:srgbClr val="0F7F86"/>
          </a:solidFill>
          <a:ln/>
        </p:spPr>
      </p:sp>
      <p:sp>
        <p:nvSpPr>
          <p:cNvPr id="20" name="Text 18"/>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The chosen guideline-based UDS strategy</a:t>
            </a:r>
            <a:endParaRPr lang="en-US" sz="1700" dirty="0"/>
          </a:p>
        </p:txBody>
      </p:sp>
      <p:sp>
        <p:nvSpPr>
          <p:cNvPr id="22" name="Shape 20"/>
          <p:cNvSpPr/>
          <p:nvPr/>
        </p:nvSpPr>
        <p:spPr>
          <a:xfrm>
            <a:off x="1325880" y="4809744"/>
            <a:ext cx="10225735" cy="0"/>
          </a:xfrm>
          <a:prstGeom prst="line">
            <a:avLst/>
          </a:prstGeom>
          <a:noFill/>
          <a:ln w="9525">
            <a:solidFill>
              <a:srgbClr val="DDE2E8"/>
            </a:solidFill>
            <a:prstDash val="solid"/>
          </a:ln>
        </p:spPr>
      </p:sp>
      <p:sp>
        <p:nvSpPr>
          <p:cNvPr id="23" name="Shape 21"/>
          <p:cNvSpPr/>
          <p:nvPr/>
        </p:nvSpPr>
        <p:spPr>
          <a:xfrm>
            <a:off x="640080" y="4828032"/>
            <a:ext cx="457200" cy="457200"/>
          </a:xfrm>
          <a:prstGeom prst="ellipse">
            <a:avLst/>
          </a:prstGeom>
          <a:solidFill>
            <a:srgbClr val="0F7F86"/>
          </a:solidFill>
          <a:ln/>
        </p:spPr>
      </p:sp>
      <p:sp>
        <p:nvSpPr>
          <p:cNvPr id="24" name="Text 22"/>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5" name="Text 23"/>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Storage safety, emptying and outlet stability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09 / 38   ·   12:45 – 14:00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Consent: improvement and lifetime burden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AUSCO26  ·  CCSAFETY  ·  AUA24  ·  RT22  ·  FRAIL26  ·  REGRET26  ·  DEVICE26  ·  REPORT26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endpoints do not compare devices. Long-term regret data reinforce counselling about leakage and future surgery.</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1005840"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AMS 800: zero-pad use</a:t>
            </a:r>
            <a:endParaRPr lang="en-US" sz="1500" dirty="0"/>
          </a:p>
        </p:txBody>
      </p:sp>
      <p:sp>
        <p:nvSpPr>
          <p:cNvPr id="9" name="Text 7"/>
          <p:cNvSpPr txBox="1"/>
          <p:nvPr/>
        </p:nvSpPr>
        <p:spPr>
          <a:xfrm>
            <a:off x="1005840"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60%</a:t>
            </a:r>
            <a:endParaRPr lang="en-US" sz="6600" dirty="0"/>
          </a:p>
        </p:txBody>
      </p:sp>
      <p:sp>
        <p:nvSpPr>
          <p:cNvPr id="10" name="Text 8"/>
          <p:cNvSpPr txBox="1"/>
          <p:nvPr/>
        </p:nvSpPr>
        <p:spPr>
          <a:xfrm>
            <a:off x="1005840"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61 / 101 at 12 months after activation</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AUSCO 2026: 115 primary implants</a:t>
            </a:r>
            <a:endParaRPr lang="en-US" sz="1400" dirty="0"/>
          </a:p>
        </p:txBody>
      </p:sp>
      <p:sp>
        <p:nvSpPr>
          <p:cNvPr id="11" name="Text 9"/>
          <p:cNvSpPr txBox="1"/>
          <p:nvPr/>
        </p:nvSpPr>
        <p:spPr>
          <a:xfrm>
            <a:off x="1005840"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Single-arm, manufacturer-funded study. Missing outcomes and one-year follow-up.</a:t>
            </a:r>
            <a:endParaRPr lang="en-US" sz="1200" dirty="0"/>
          </a:p>
        </p:txBody>
      </p:sp>
      <p:sp>
        <p:nvSpPr>
          <p:cNvPr id="12" name="Shape 10"/>
          <p:cNvSpPr/>
          <p:nvPr/>
        </p:nvSpPr>
        <p:spPr>
          <a:xfrm>
            <a:off x="6255868" y="1783080"/>
            <a:ext cx="5295748" cy="3794760"/>
          </a:xfrm>
          <a:prstGeom prst="roundRect">
            <a:avLst>
              <a:gd name="adj" fmla="val 3373"/>
            </a:avLst>
          </a:prstGeom>
          <a:solidFill>
            <a:srgbClr val="F3F4F6"/>
          </a:solidFill>
          <a:ln/>
        </p:spPr>
      </p:sp>
      <p:sp>
        <p:nvSpPr>
          <p:cNvPr id="13" name="Text 11"/>
          <p:cNvSpPr txBox="1"/>
          <p:nvPr/>
        </p:nvSpPr>
        <p:spPr>
          <a:xfrm>
            <a:off x="6621628"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ContiClassic: device survival</a:t>
            </a:r>
            <a:endParaRPr lang="en-US" sz="1500" dirty="0"/>
          </a:p>
        </p:txBody>
      </p:sp>
      <p:sp>
        <p:nvSpPr>
          <p:cNvPr id="14" name="Text 12"/>
          <p:cNvSpPr txBox="1"/>
          <p:nvPr/>
        </p:nvSpPr>
        <p:spPr>
          <a:xfrm>
            <a:off x="6621628"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93.2%</a:t>
            </a:r>
            <a:endParaRPr lang="en-US" sz="6600" dirty="0"/>
          </a:p>
        </p:txBody>
      </p:sp>
      <p:sp>
        <p:nvSpPr>
          <p:cNvPr id="15" name="Text 13"/>
          <p:cNvSpPr txBox="1"/>
          <p:nvPr/>
        </p:nvSpPr>
        <p:spPr>
          <a:xfrm>
            <a:off x="6621628"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12-month Kaplan–Meier estimate</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First 116 recipients, mixed indications</a:t>
            </a:r>
            <a:endParaRPr lang="en-US" sz="1400" dirty="0"/>
          </a:p>
        </p:txBody>
      </p:sp>
      <p:sp>
        <p:nvSpPr>
          <p:cNvPr id="16" name="Text 14"/>
          <p:cNvSpPr txBox="1"/>
          <p:nvPr/>
        </p:nvSpPr>
        <p:spPr>
          <a:xfrm>
            <a:off x="6621628"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Abstract-level, no comparator. A standardised continence result is unverified.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bladder</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Separate overactivity, weak contraction and poor compliance, because each leads to a different decision.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14:00 – 22:00   ·   8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1: six pads and urgency</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Urgency treatment and emptying</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2: weak contraction and residual urine</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Catheterisation with a cuff in place</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Detrusor overactivity and poor compliance</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2A2F34"/>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10 / 38   ·   14:00 – 15:45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1: six pads and urgency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DO24  ·  OAB11  ·  DOFAIL23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DO alone need not exclude general AUS surgery. ContiClassic labelling requires bladder conditions to be controlled or resolved.</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01</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Demonstrated post-prostatectomy stress leakage</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Urgency leakage and detrusor overactivity</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Reassuring compliance and emptying</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Goal: walk without soaking his clothes</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now or optimise first?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100938" cy="365760"/>
          </a:xfrm>
          <a:prstGeom prst="roundRect">
            <a:avLst>
              <a:gd name="adj" fmla="val 50000"/>
            </a:avLst>
          </a:prstGeom>
          <a:solidFill>
            <a:srgbClr val="B8791A"/>
          </a:solidFill>
          <a:ln/>
        </p:spPr>
      </p:sp>
      <p:sp>
        <p:nvSpPr>
          <p:cNvPr id="23" name="Text 21"/>
          <p:cNvSpPr txBox="1"/>
          <p:nvPr/>
        </p:nvSpPr>
        <p:spPr>
          <a:xfrm>
            <a:off x="8628278" y="3950208"/>
            <a:ext cx="110093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OPTIMISE</a:t>
            </a:r>
            <a:endParaRPr lang="en-US" sz="1000" dirty="0"/>
          </a:p>
        </p:txBody>
      </p:sp>
      <p:sp>
        <p:nvSpPr>
          <p:cNvPr id="24" name="Shape 22"/>
          <p:cNvSpPr/>
          <p:nvPr/>
        </p:nvSpPr>
        <p:spPr>
          <a:xfrm>
            <a:off x="7498080" y="4425696"/>
            <a:ext cx="1397203" cy="365760"/>
          </a:xfrm>
          <a:prstGeom prst="roundRect">
            <a:avLst>
              <a:gd name="adj" fmla="val 50000"/>
            </a:avLst>
          </a:prstGeom>
          <a:solidFill>
            <a:srgbClr val="3B5BA5"/>
          </a:solidFill>
          <a:ln/>
        </p:spPr>
      </p:sp>
      <p:sp>
        <p:nvSpPr>
          <p:cNvPr id="25" name="Text 23"/>
          <p:cNvSpPr txBox="1"/>
          <p:nvPr/>
        </p:nvSpPr>
        <p:spPr>
          <a:xfrm>
            <a:off x="7498080" y="4425696"/>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6" name="Shape 24"/>
          <p:cNvSpPr/>
          <p:nvPr/>
        </p:nvSpPr>
        <p:spPr>
          <a:xfrm>
            <a:off x="9023299" y="4425696"/>
            <a:ext cx="1298448" cy="365760"/>
          </a:xfrm>
          <a:prstGeom prst="roundRect">
            <a:avLst>
              <a:gd name="adj" fmla="val 50000"/>
            </a:avLst>
          </a:prstGeom>
          <a:solidFill>
            <a:srgbClr val="C2482D"/>
          </a:solidFill>
          <a:ln/>
        </p:spPr>
      </p:sp>
      <p:sp>
        <p:nvSpPr>
          <p:cNvPr id="27" name="Text 25"/>
          <p:cNvSpPr txBox="1"/>
          <p:nvPr/>
        </p:nvSpPr>
        <p:spPr>
          <a:xfrm>
            <a:off x="9023299"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11 / 38   ·   15:45 – 17:15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Urgency treatment and emptying</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AUAOAB24  ·  OAB11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No universally superior treatment sequence around a cuff has been established.</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Address reversible contributors and symptom burden</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Choose medication with cognition and residual urine in mind</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Plan retention and repeated access before botulinum toxin</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Treat persistent urgency as a separate outcome after AUS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12 / 38   ·   17:15 – 19:00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2: weak contraction and residual urine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DU23  ·  AUA24  ·  ICSUDS17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Selected DU cohorts do not establish safety in unresolved retention. There is no universal residual cutoff.</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02</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Stress leakage with slow voiding</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Repeatedly raised residual urine</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Weak contraction and abdominal straining</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Obstruction and test inhibition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Would a reliable emptying plan change your answer?</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397203" cy="365760"/>
          </a:xfrm>
          <a:prstGeom prst="roundRect">
            <a:avLst>
              <a:gd name="adj" fmla="val 50000"/>
            </a:avLst>
          </a:prstGeom>
          <a:solidFill>
            <a:srgbClr val="3B5BA5"/>
          </a:solidFill>
          <a:ln/>
        </p:spPr>
      </p:sp>
      <p:sp>
        <p:nvSpPr>
          <p:cNvPr id="23" name="Text 21"/>
          <p:cNvSpPr txBox="1"/>
          <p:nvPr/>
        </p:nvSpPr>
        <p:spPr>
          <a:xfrm>
            <a:off x="8628278" y="3950208"/>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4" name="Shape 22"/>
          <p:cNvSpPr/>
          <p:nvPr/>
        </p:nvSpPr>
        <p:spPr>
          <a:xfrm>
            <a:off x="7498080" y="4425696"/>
            <a:ext cx="1298448" cy="365760"/>
          </a:xfrm>
          <a:prstGeom prst="roundRect">
            <a:avLst>
              <a:gd name="adj" fmla="val 50000"/>
            </a:avLst>
          </a:prstGeom>
          <a:solidFill>
            <a:srgbClr val="C2482D"/>
          </a:solidFill>
          <a:ln/>
        </p:spPr>
      </p:sp>
      <p:sp>
        <p:nvSpPr>
          <p:cNvPr id="25" name="Text 23"/>
          <p:cNvSpPr txBox="1"/>
          <p:nvPr/>
        </p:nvSpPr>
        <p:spPr>
          <a:xfrm>
            <a:off x="7498080"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13 / 38   ·   19:00 – 20:30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Catheterisation with a cuff in place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CIC23  ·  CATH13  ·  CCIFU  ·  ICS16  ·  BAUSSCI26  ·  INSTR26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survey highlights deactivation training gaps. Follow the actual device instructions; no universal French-size rule applies.</a:t>
            </a:r>
            <a:endParaRPr lang="en-US" sz="1200" dirty="0"/>
          </a:p>
        </p:txBody>
      </p:sp>
      <p:sp>
        <p:nvSpPr>
          <p:cNvPr id="7" name="Text 5"/>
          <p:cNvSpPr txBox="1"/>
          <p:nvPr/>
        </p:nvSpPr>
        <p:spPr>
          <a:xfrm>
            <a:off x="640080" y="1783080"/>
            <a:ext cx="5120640" cy="3657600"/>
          </a:xfrm>
          <a:prstGeom prst="rect">
            <a:avLst/>
          </a:prstGeom>
          <a:noFill/>
          <a:ln/>
        </p:spPr>
        <p:txBody>
          <a:bodyPr wrap="square" lIns="0" tIns="0" rIns="0" bIns="0" rtlCol="0" anchor="ctr"/>
          <a:lstStyle/>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Cuff fully deflated.</a:t>
            </a:r>
            <a:endParaRPr lang="en-US" sz="3200" dirty="0"/>
          </a:p>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Device deactivated.</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0F7F86"/>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Establish the reason and likely frequency of catheterisation</a:t>
            </a:r>
            <a:endParaRPr lang="en-US" sz="1550" dirty="0"/>
          </a:p>
        </p:txBody>
      </p:sp>
      <p:sp>
        <p:nvSpPr>
          <p:cNvPr id="12" name="Shape 10"/>
          <p:cNvSpPr/>
          <p:nvPr/>
        </p:nvSpPr>
        <p:spPr>
          <a:xfrm>
            <a:off x="6629400" y="3182112"/>
            <a:ext cx="384048" cy="384048"/>
          </a:xfrm>
          <a:prstGeom prst="ellipse">
            <a:avLst/>
          </a:prstGeom>
          <a:solidFill>
            <a:srgbClr val="0F7F86"/>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Test competence and agree the drainage route before implantation</a:t>
            </a:r>
            <a:endParaRPr lang="en-US" sz="1550" dirty="0"/>
          </a:p>
        </p:txBody>
      </p:sp>
      <p:sp>
        <p:nvSpPr>
          <p:cNvPr id="15" name="Shape 13"/>
          <p:cNvSpPr/>
          <p:nvPr/>
        </p:nvSpPr>
        <p:spPr>
          <a:xfrm>
            <a:off x="6629400" y="4261104"/>
            <a:ext cx="384048" cy="384048"/>
          </a:xfrm>
          <a:prstGeom prst="ellipse">
            <a:avLst/>
          </a:prstGeom>
          <a:solidFill>
            <a:srgbClr val="0F7F86"/>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Plan repeated or prolonged access with specialist input</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14 / 38   ·   20:30 – 22:00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Detrusor overactivity and poor compliance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UDS09  ·  ICS16  ·  BAUS25  ·  CCIFU  ·  BAUSSCI26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Schematic traces only, with arbitrary units. Confirm trace quality and assess renal function or upper tracts when indicated.</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960120" y="2057400"/>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DO: transient contraction</a:t>
            </a:r>
            <a:endParaRPr lang="en-US" sz="1500" dirty="0"/>
          </a:p>
        </p:txBody>
      </p:sp>
      <p:sp>
        <p:nvSpPr>
          <p:cNvPr id="9" name="Shape 7"/>
          <p:cNvSpPr/>
          <p:nvPr/>
        </p:nvSpPr>
        <p:spPr>
          <a:xfrm>
            <a:off x="914400" y="2514600"/>
            <a:ext cx="4747108" cy="2377440"/>
          </a:xfrm>
          <a:prstGeom prst="roundRect">
            <a:avLst>
              <a:gd name="adj" fmla="val 3077"/>
            </a:avLst>
          </a:prstGeom>
          <a:solidFill>
            <a:srgbClr val="FFFFFF"/>
          </a:solidFill>
          <a:ln/>
        </p:spPr>
      </p:sp>
      <p:graphicFrame>
        <p:nvGraphicFramePr>
          <p:cNvPr id="10" name="Chart 0" descr=""/>
          <p:cNvGraphicFramePr/>
          <p:nvPr/>
        </p:nvGraphicFramePr>
        <p:xfrm>
          <a:off x="960120" y="2560320"/>
          <a:ext cx="4655668" cy="22860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960120"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Involuntary filling contraction</a:t>
            </a:r>
            <a:endParaRPr lang="en-US" sz="1400" dirty="0"/>
          </a:p>
        </p:txBody>
      </p:sp>
      <p:sp>
        <p:nvSpPr>
          <p:cNvPr id="12" name="Shape 9"/>
          <p:cNvSpPr/>
          <p:nvPr/>
        </p:nvSpPr>
        <p:spPr>
          <a:xfrm>
            <a:off x="6255868" y="1783080"/>
            <a:ext cx="5295748" cy="3794760"/>
          </a:xfrm>
          <a:prstGeom prst="roundRect">
            <a:avLst>
              <a:gd name="adj" fmla="val 3373"/>
            </a:avLst>
          </a:prstGeom>
          <a:solidFill>
            <a:srgbClr val="F3F4F6"/>
          </a:solidFill>
          <a:ln/>
        </p:spPr>
      </p:sp>
      <p:sp>
        <p:nvSpPr>
          <p:cNvPr id="13" name="Text 10"/>
          <p:cNvSpPr txBox="1"/>
          <p:nvPr/>
        </p:nvSpPr>
        <p:spPr>
          <a:xfrm>
            <a:off x="6575908" y="2057400"/>
            <a:ext cx="4655668" cy="365760"/>
          </a:xfrm>
          <a:prstGeom prst="rect">
            <a:avLst/>
          </a:prstGeom>
          <a:noFill/>
          <a:ln/>
        </p:spPr>
        <p:txBody>
          <a:bodyPr wrap="square" lIns="0" tIns="0" rIns="0" bIns="0" rtlCol="0" anchor="t"/>
          <a:lstStyle/>
          <a:p>
            <a:pPr algn="l" indent="0" marL="0">
              <a:buNone/>
            </a:pPr>
            <a:r>
              <a:rPr lang="en-US" sz="1500" dirty="0">
                <a:solidFill>
                  <a:srgbClr val="C2482D"/>
                </a:solidFill>
                <a:latin typeface="Segoe UI Semibold" pitchFamily="34" charset="0"/>
                <a:ea typeface="Segoe UI Semibold" pitchFamily="34" charset="-122"/>
                <a:cs typeface="Segoe UI Semibold" pitchFamily="34" charset="-120"/>
              </a:rPr>
              <a:t>Poor compliance: sustained rise</a:t>
            </a:r>
            <a:endParaRPr lang="en-US" sz="1500" dirty="0"/>
          </a:p>
        </p:txBody>
      </p:sp>
      <p:sp>
        <p:nvSpPr>
          <p:cNvPr id="14" name="Shape 11"/>
          <p:cNvSpPr/>
          <p:nvPr/>
        </p:nvSpPr>
        <p:spPr>
          <a:xfrm>
            <a:off x="6530188" y="2514600"/>
            <a:ext cx="4747108" cy="2377440"/>
          </a:xfrm>
          <a:prstGeom prst="roundRect">
            <a:avLst>
              <a:gd name="adj" fmla="val 3077"/>
            </a:avLst>
          </a:prstGeom>
          <a:solidFill>
            <a:srgbClr val="FFFFFF"/>
          </a:solidFill>
          <a:ln/>
        </p:spPr>
      </p:sp>
      <p:graphicFrame>
        <p:nvGraphicFramePr>
          <p:cNvPr id="15" name="Chart 1" descr=""/>
          <p:cNvGraphicFramePr/>
          <p:nvPr/>
        </p:nvGraphicFramePr>
        <p:xfrm>
          <a:off x="6575908" y="2560320"/>
          <a:ext cx="4655668" cy="228600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6575908"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A separate storage-safety problem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III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urethra</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Name the narrowing, prove the outlet is stable, and plan the tissue the cuff will need.</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22:00 – 29:00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Three different sites of narrowing</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Reassessment and urethral stability</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3: radiation and recurrent VUAS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AUS after urethral reconstruction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Transcorporal placement: role and costs</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15 / 38   ·   22:00 – 23:15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Three different sites of narrowing</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EAUSTR26  ·  BAUS25  ·  AUA24</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Symptoms, flow, residual and anatomy must support a stable outlet.</a:t>
            </a:r>
            <a:endParaRPr lang="en-US" sz="1200" dirty="0"/>
          </a:p>
        </p:txBody>
      </p:sp>
      <p:pic>
        <p:nvPicPr>
          <p:cNvPr id="7" name="Image 0" descr="C:\NityProjects\AUS-Presentation\repo\presentation\assets\uroops-sagittal.png">    </p:cNvPr>
          <p:cNvPicPr>
            <a:picLocks noChangeAspect="1"/>
          </p:cNvPicPr>
          <p:nvPr/>
        </p:nvPicPr>
        <p:blipFill>
          <a:blip r:embed="rId1"/>
          <a:stretch>
            <a:fillRect/>
          </a:stretch>
        </p:blipFill>
        <p:spPr>
          <a:xfrm>
            <a:off x="640080" y="1985765"/>
            <a:ext cx="7223760" cy="2977911"/>
          </a:xfrm>
          <a:prstGeom prst="rect">
            <a:avLst/>
          </a:prstGeom>
        </p:spPr>
      </p:pic>
      <p:sp>
        <p:nvSpPr>
          <p:cNvPr id="8" name="Text 5"/>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Anatomical distinctions</a:t>
            </a:r>
            <a:endParaRPr lang="en-US" sz="1500" dirty="0"/>
          </a:p>
        </p:txBody>
      </p:sp>
      <p:sp>
        <p:nvSpPr>
          <p:cNvPr id="9" name="Shape 6"/>
          <p:cNvSpPr/>
          <p:nvPr/>
        </p:nvSpPr>
        <p:spPr>
          <a:xfrm>
            <a:off x="8321040" y="2459736"/>
            <a:ext cx="100584" cy="100584"/>
          </a:xfrm>
          <a:prstGeom prst="ellipse">
            <a:avLst/>
          </a:prstGeom>
          <a:solidFill>
            <a:srgbClr val="3FB8BF"/>
          </a:solidFill>
          <a:ln/>
        </p:spPr>
      </p:sp>
      <p:sp>
        <p:nvSpPr>
          <p:cNvPr id="10" name="Text 7"/>
          <p:cNvSpPr txBox="1"/>
          <p:nvPr/>
        </p:nvSpPr>
        <p:spPr>
          <a:xfrm>
            <a:off x="8567928" y="237744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Anterior stricture: urethra and spongiosum</a:t>
            </a:r>
            <a:endParaRPr lang="en-US" sz="1400" dirty="0"/>
          </a:p>
        </p:txBody>
      </p:sp>
      <p:sp>
        <p:nvSpPr>
          <p:cNvPr id="11" name="Shape 8"/>
          <p:cNvSpPr/>
          <p:nvPr/>
        </p:nvSpPr>
        <p:spPr>
          <a:xfrm>
            <a:off x="8321040" y="3236976"/>
            <a:ext cx="100584" cy="100584"/>
          </a:xfrm>
          <a:prstGeom prst="ellipse">
            <a:avLst/>
          </a:prstGeom>
          <a:solidFill>
            <a:srgbClr val="3FB8BF"/>
          </a:solidFill>
          <a:ln/>
        </p:spPr>
      </p:sp>
      <p:sp>
        <p:nvSpPr>
          <p:cNvPr id="12" name="Text 9"/>
          <p:cNvSpPr txBox="1"/>
          <p:nvPr/>
        </p:nvSpPr>
        <p:spPr>
          <a:xfrm>
            <a:off x="8567928" y="315468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Bladder-neck contracture: prostate partly present</a:t>
            </a:r>
            <a:endParaRPr lang="en-US" sz="1400" dirty="0"/>
          </a:p>
        </p:txBody>
      </p:sp>
      <p:sp>
        <p:nvSpPr>
          <p:cNvPr id="13" name="Shape 10"/>
          <p:cNvSpPr/>
          <p:nvPr/>
        </p:nvSpPr>
        <p:spPr>
          <a:xfrm>
            <a:off x="8321040" y="4014216"/>
            <a:ext cx="100584" cy="100584"/>
          </a:xfrm>
          <a:prstGeom prst="ellipse">
            <a:avLst/>
          </a:prstGeom>
          <a:solidFill>
            <a:srgbClr val="3FB8BF"/>
          </a:solidFill>
          <a:ln/>
        </p:spPr>
      </p:sp>
      <p:sp>
        <p:nvSpPr>
          <p:cNvPr id="14" name="Text 11"/>
          <p:cNvSpPr txBox="1"/>
          <p:nvPr/>
        </p:nvSpPr>
        <p:spPr>
          <a:xfrm>
            <a:off x="8567928" y="393192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VUAS: anastomosis after radical prostatectomy</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16 / 38   ·   23:15 – 24:45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Reassessment and urethral stability</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EAUSTR26  ·  ICS16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intervals describe different pathways. Recurrence pattern, tissue quality and future access remain decisive.</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Guideline</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Interval</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400" b="1" dirty="0">
                          <a:solidFill>
                            <a:srgbClr val="FFFFFF"/>
                          </a:solidFill>
                          <a:latin typeface="Segoe UI Semibold" pitchFamily="34" charset="0"/>
                          <a:ea typeface="Segoe UI Semibold" pitchFamily="34" charset="-122"/>
                          <a:cs typeface="Segoe UI Semibold" pitchFamily="34" charset="-120"/>
                        </a:rPr>
                        <a:t>The relevant pathway</a:t>
                      </a:r>
                      <a:endParaRPr lang="en-US" sz="140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AUA</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4–6 weeks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Interval cystoscopy after symptomatic BNC/VUAS treatment</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EAU</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3–6 months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Advice after redo vesicourethral anastomosis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97280">
                <a:tc>
                  <a:txBody>
                    <a:bodyPr/>
                    <a:lstStyle/>
                    <a:p>
                      <a:pPr indent="0" marL="0">
                        <a:buNone/>
                      </a:pPr>
                      <a:r>
                        <a:rPr lang="en-US" sz="1500" b="1" dirty="0">
                          <a:solidFill>
                            <a:srgbClr val="1B2430"/>
                          </a:solidFill>
                          <a:latin typeface="Segoe UI" pitchFamily="34" charset="0"/>
                          <a:ea typeface="Segoe UI" pitchFamily="34" charset="-122"/>
                          <a:cs typeface="Segoe UI" pitchFamily="34" charset="-120"/>
                        </a:rPr>
                        <a:t>BAUS</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At least six months without recurrence</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500" dirty="0">
                          <a:solidFill>
                            <a:srgbClr val="1B2430"/>
                          </a:solidFill>
                          <a:latin typeface="Segoe UI" pitchFamily="34" charset="0"/>
                          <a:ea typeface="Segoe UI" pitchFamily="34" charset="-122"/>
                          <a:cs typeface="Segoe UI" pitchFamily="34" charset="-120"/>
                        </a:rPr>
                        <a:t>After treatment of post-prostatectomy narrowing</a:t>
                      </a:r>
                      <a:endParaRPr lang="en-US" sz="150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17 / 38   ·   24:45 – 26:15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3: radiation and recurrent VUAS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RT22  ·  BAUS25  ·  EAUSTR26  ·  AUA24  ·  RTTIME25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Radiation increases risk. A 2025 timing study does not establish a fixed waiting rule; stable patency and reconstruction come first.</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03</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Radical prostatectomy and salvage radiotherapy</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Severe SUI between endoscopic treatments</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vesicourethral anastomotic stenosis</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Patency still depends on further intervention</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stage reconstruction or reconsider the endpoint?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804672" cy="365760"/>
          </a:xfrm>
          <a:prstGeom prst="roundRect">
            <a:avLst>
              <a:gd name="adj" fmla="val 50000"/>
            </a:avLst>
          </a:prstGeom>
          <a:solidFill>
            <a:srgbClr val="3B5BA5"/>
          </a:solidFill>
          <a:ln/>
        </p:spPr>
      </p:sp>
      <p:sp>
        <p:nvSpPr>
          <p:cNvPr id="23" name="Text 21"/>
          <p:cNvSpPr txBox="1"/>
          <p:nvPr/>
        </p:nvSpPr>
        <p:spPr>
          <a:xfrm>
            <a:off x="8628278" y="3950208"/>
            <a:ext cx="80467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STAGE</a:t>
            </a:r>
            <a:endParaRPr lang="en-US" sz="1000" dirty="0"/>
          </a:p>
        </p:txBody>
      </p:sp>
      <p:sp>
        <p:nvSpPr>
          <p:cNvPr id="24" name="Shape 22"/>
          <p:cNvSpPr/>
          <p:nvPr/>
        </p:nvSpPr>
        <p:spPr>
          <a:xfrm>
            <a:off x="9560966" y="3950208"/>
            <a:ext cx="1298448" cy="365760"/>
          </a:xfrm>
          <a:prstGeom prst="roundRect">
            <a:avLst>
              <a:gd name="adj" fmla="val 50000"/>
            </a:avLst>
          </a:prstGeom>
          <a:solidFill>
            <a:srgbClr val="C2482D"/>
          </a:solidFill>
          <a:ln/>
        </p:spPr>
      </p:sp>
      <p:sp>
        <p:nvSpPr>
          <p:cNvPr id="25" name="Text 23"/>
          <p:cNvSpPr txBox="1"/>
          <p:nvPr/>
        </p:nvSpPr>
        <p:spPr>
          <a:xfrm>
            <a:off x="9560966" y="3950208"/>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18 / 38   ·   26:15 – 27:45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AUS after urethral reconstruction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URETH26  ·  BAUS25  ·  AUA24  ·  ICS16  ·  URETHMETA26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meta-analysis: prior urethroplasty is associated with more explantation; transecting repairs carry higher erosion risk. Observational.</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The reconstruction history</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Repair site and operative report</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Transecting or non-transecting repair</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Prior erosion, graft or posterior reconstruction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The next operation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Preserve remaining tissue and attachments</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 viable cuff-bearing tissue</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Reassess unsafe planes or stage the procedure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19 / 38   ·   27:45 – 29:00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Transcorporal placement: role and costs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TC20  ·  TC23  ·  BAUS25  ·  AP23  ·  TCSYS25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Latest systematic review suggests less erosion but more revision. Non-randomised data do not prove causal protection.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Selected role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hazardous dorsal dissection plane</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 manoeuvre addressing a defined dissection problem</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Comparative erosion protection remains uncertain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Costs and limitations</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Corporal injury and bleeding</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Sexual consequences and future prosthesis surgery</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Confounding by indication in comparative series</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IV</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Preparation without ritual</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Identify the activity, the product and the evidence before debating a duration.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29:00 – 36:00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fifteen-minute wash question</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Skin culture reduction and clinical infection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Urine and antibiotic disagreements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Contamination control during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pre-implant theatre checklist</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3FB8BF"/>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20 / 38   ·   29:00 – 30:15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fifteen-minute wash question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NICE  ·  WHO09  ·  PREP24  ·  IRRIG26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BAUS’s five-minute topical field scrub is consensus with extrapolation. Product timings address different activities.</a:t>
            </a:r>
            <a:endParaRPr lang="en-US" sz="1200" dirty="0"/>
          </a:p>
        </p:txBody>
      </p:sp>
      <p:sp>
        <p:nvSpPr>
          <p:cNvPr id="7" name="Text 5"/>
          <p:cNvSpPr txBox="1"/>
          <p:nvPr/>
        </p:nvSpPr>
        <p:spPr>
          <a:xfrm>
            <a:off x="640080" y="1737360"/>
            <a:ext cx="10911535" cy="640080"/>
          </a:xfrm>
          <a:prstGeom prst="rect">
            <a:avLst/>
          </a:prstGeom>
          <a:noFill/>
          <a:ln/>
        </p:spPr>
        <p:txBody>
          <a:bodyPr wrap="square" lIns="0" tIns="0" rIns="0" bIns="0" rtlCol="0" anchor="t"/>
          <a:lstStyle/>
          <a:p>
            <a:pPr algn="l" indent="0" marL="0">
              <a:lnSpc>
                <a:spcPct val="105000"/>
              </a:lnSpc>
              <a:buNone/>
            </a:pPr>
            <a:r>
              <a:rPr lang="en-US" sz="1900" dirty="0">
                <a:solidFill>
                  <a:srgbClr val="1B2430"/>
                </a:solidFill>
                <a:latin typeface="Segoe UI Semibold" pitchFamily="34" charset="0"/>
                <a:ea typeface="Segoe UI Semibold" pitchFamily="34" charset="-122"/>
                <a:cs typeface="Segoe UI Semibold" pitchFamily="34" charset="-120"/>
              </a:rPr>
              <a:t>No direct AUS outcome evidence establishes a fixed 15-minute preparation</a:t>
            </a:r>
            <a:endParaRPr lang="en-US" sz="1900" dirty="0"/>
          </a:p>
        </p:txBody>
      </p:sp>
      <p:sp>
        <p:nvSpPr>
          <p:cNvPr id="8" name="Shape 6"/>
          <p:cNvSpPr/>
          <p:nvPr/>
        </p:nvSpPr>
        <p:spPr>
          <a:xfrm>
            <a:off x="640080" y="2606040"/>
            <a:ext cx="5318608" cy="1325880"/>
          </a:xfrm>
          <a:prstGeom prst="roundRect">
            <a:avLst>
              <a:gd name="adj" fmla="val 9655"/>
            </a:avLst>
          </a:prstGeom>
          <a:solidFill>
            <a:srgbClr val="F3F4F6"/>
          </a:solidFill>
          <a:ln/>
        </p:spPr>
      </p:sp>
      <p:sp>
        <p:nvSpPr>
          <p:cNvPr id="9" name="Shape 7"/>
          <p:cNvSpPr/>
          <p:nvPr/>
        </p:nvSpPr>
        <p:spPr>
          <a:xfrm>
            <a:off x="914400" y="2898648"/>
            <a:ext cx="384048" cy="384048"/>
          </a:xfrm>
          <a:prstGeom prst="ellipse">
            <a:avLst/>
          </a:prstGeom>
          <a:solidFill>
            <a:srgbClr val="0F7F86"/>
          </a:solidFill>
          <a:ln/>
        </p:spPr>
      </p:sp>
      <p:sp>
        <p:nvSpPr>
          <p:cNvPr id="10" name="Text 8"/>
          <p:cNvSpPr txBox="1"/>
          <p:nvPr/>
        </p:nvSpPr>
        <p:spPr>
          <a:xfrm>
            <a:off x="914400"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1463040"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Patient washing</a:t>
            </a:r>
            <a:endParaRPr lang="en-US" sz="1500" dirty="0"/>
          </a:p>
        </p:txBody>
      </p:sp>
      <p:sp>
        <p:nvSpPr>
          <p:cNvPr id="12" name="Text 10"/>
          <p:cNvSpPr txBox="1"/>
          <p:nvPr/>
        </p:nvSpPr>
        <p:spPr>
          <a:xfrm>
            <a:off x="1463040"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Preoperative hygiene</a:t>
            </a:r>
            <a:endParaRPr lang="en-US" sz="1400" dirty="0"/>
          </a:p>
        </p:txBody>
      </p:sp>
      <p:sp>
        <p:nvSpPr>
          <p:cNvPr id="13" name="Shape 11"/>
          <p:cNvSpPr/>
          <p:nvPr/>
        </p:nvSpPr>
        <p:spPr>
          <a:xfrm>
            <a:off x="6233008" y="2606040"/>
            <a:ext cx="5318608" cy="1325880"/>
          </a:xfrm>
          <a:prstGeom prst="roundRect">
            <a:avLst>
              <a:gd name="adj" fmla="val 9655"/>
            </a:avLst>
          </a:prstGeom>
          <a:solidFill>
            <a:srgbClr val="F3F4F6"/>
          </a:solidFill>
          <a:ln/>
        </p:spPr>
      </p:sp>
      <p:sp>
        <p:nvSpPr>
          <p:cNvPr id="14" name="Shape 12"/>
          <p:cNvSpPr/>
          <p:nvPr/>
        </p:nvSpPr>
        <p:spPr>
          <a:xfrm>
            <a:off x="6507328" y="2898648"/>
            <a:ext cx="384048" cy="384048"/>
          </a:xfrm>
          <a:prstGeom prst="ellipse">
            <a:avLst/>
          </a:prstGeom>
          <a:solidFill>
            <a:srgbClr val="0F7F86"/>
          </a:solidFill>
          <a:ln/>
        </p:spPr>
      </p:sp>
      <p:sp>
        <p:nvSpPr>
          <p:cNvPr id="15" name="Text 13"/>
          <p:cNvSpPr txBox="1"/>
          <p:nvPr/>
        </p:nvSpPr>
        <p:spPr>
          <a:xfrm>
            <a:off x="6507328"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6" name="Text 14"/>
          <p:cNvSpPr txBox="1"/>
          <p:nvPr/>
        </p:nvSpPr>
        <p:spPr>
          <a:xfrm>
            <a:off x="7055968"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Skin preparation</a:t>
            </a:r>
            <a:endParaRPr lang="en-US" sz="1500" dirty="0"/>
          </a:p>
        </p:txBody>
      </p:sp>
      <p:sp>
        <p:nvSpPr>
          <p:cNvPr id="17" name="Text 15"/>
          <p:cNvSpPr txBox="1"/>
          <p:nvPr/>
        </p:nvSpPr>
        <p:spPr>
          <a:xfrm>
            <a:off x="7055968"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Correct product, site, contact and drying</a:t>
            </a:r>
            <a:endParaRPr lang="en-US" sz="1400" dirty="0"/>
          </a:p>
        </p:txBody>
      </p:sp>
      <p:sp>
        <p:nvSpPr>
          <p:cNvPr id="18" name="Shape 16"/>
          <p:cNvSpPr/>
          <p:nvPr/>
        </p:nvSpPr>
        <p:spPr>
          <a:xfrm>
            <a:off x="640080" y="4206240"/>
            <a:ext cx="5318608" cy="1325880"/>
          </a:xfrm>
          <a:prstGeom prst="roundRect">
            <a:avLst>
              <a:gd name="adj" fmla="val 9655"/>
            </a:avLst>
          </a:prstGeom>
          <a:solidFill>
            <a:srgbClr val="F3F4F6"/>
          </a:solidFill>
          <a:ln/>
        </p:spPr>
      </p:sp>
      <p:sp>
        <p:nvSpPr>
          <p:cNvPr id="19" name="Shape 17"/>
          <p:cNvSpPr/>
          <p:nvPr/>
        </p:nvSpPr>
        <p:spPr>
          <a:xfrm>
            <a:off x="914400" y="4498848"/>
            <a:ext cx="384048" cy="384048"/>
          </a:xfrm>
          <a:prstGeom prst="ellipse">
            <a:avLst/>
          </a:prstGeom>
          <a:solidFill>
            <a:srgbClr val="0F7F86"/>
          </a:solidFill>
          <a:ln/>
        </p:spPr>
      </p:sp>
      <p:sp>
        <p:nvSpPr>
          <p:cNvPr id="20" name="Text 18"/>
          <p:cNvSpPr txBox="1"/>
          <p:nvPr/>
        </p:nvSpPr>
        <p:spPr>
          <a:xfrm>
            <a:off x="914400"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1" name="Text 19"/>
          <p:cNvSpPr txBox="1"/>
          <p:nvPr/>
        </p:nvSpPr>
        <p:spPr>
          <a:xfrm>
            <a:off x="1463040"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Hand antisepsis</a:t>
            </a:r>
            <a:endParaRPr lang="en-US" sz="1500" dirty="0"/>
          </a:p>
        </p:txBody>
      </p:sp>
      <p:sp>
        <p:nvSpPr>
          <p:cNvPr id="22" name="Text 20"/>
          <p:cNvSpPr txBox="1"/>
          <p:nvPr/>
        </p:nvSpPr>
        <p:spPr>
          <a:xfrm>
            <a:off x="1463040"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The team’s hands and forearms</a:t>
            </a:r>
            <a:endParaRPr lang="en-US" sz="1400" dirty="0"/>
          </a:p>
        </p:txBody>
      </p:sp>
      <p:sp>
        <p:nvSpPr>
          <p:cNvPr id="23" name="Shape 21"/>
          <p:cNvSpPr/>
          <p:nvPr/>
        </p:nvSpPr>
        <p:spPr>
          <a:xfrm>
            <a:off x="6233008" y="4206240"/>
            <a:ext cx="5318608" cy="1325880"/>
          </a:xfrm>
          <a:prstGeom prst="roundRect">
            <a:avLst>
              <a:gd name="adj" fmla="val 9655"/>
            </a:avLst>
          </a:prstGeom>
          <a:solidFill>
            <a:srgbClr val="F3F4F6"/>
          </a:solidFill>
          <a:ln/>
        </p:spPr>
      </p:sp>
      <p:sp>
        <p:nvSpPr>
          <p:cNvPr id="24" name="Shape 22"/>
          <p:cNvSpPr/>
          <p:nvPr/>
        </p:nvSpPr>
        <p:spPr>
          <a:xfrm>
            <a:off x="6507328" y="4498848"/>
            <a:ext cx="384048" cy="384048"/>
          </a:xfrm>
          <a:prstGeom prst="ellipse">
            <a:avLst/>
          </a:prstGeom>
          <a:solidFill>
            <a:srgbClr val="0F7F86"/>
          </a:solidFill>
          <a:ln/>
        </p:spPr>
      </p:sp>
      <p:sp>
        <p:nvSpPr>
          <p:cNvPr id="25" name="Text 23"/>
          <p:cNvSpPr txBox="1"/>
          <p:nvPr/>
        </p:nvSpPr>
        <p:spPr>
          <a:xfrm>
            <a:off x="6507328"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6" name="Text 24"/>
          <p:cNvSpPr txBox="1"/>
          <p:nvPr/>
        </p:nvSpPr>
        <p:spPr>
          <a:xfrm>
            <a:off x="7055968"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Irrigation and device preparation</a:t>
            </a:r>
            <a:endParaRPr lang="en-US" sz="1500" dirty="0"/>
          </a:p>
        </p:txBody>
      </p:sp>
      <p:sp>
        <p:nvSpPr>
          <p:cNvPr id="27" name="Text 25"/>
          <p:cNvSpPr txBox="1"/>
          <p:nvPr/>
        </p:nvSpPr>
        <p:spPr>
          <a:xfrm>
            <a:off x="7055968"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Separate interventions and compatibility rules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21 / 38   ·   30:15 – 32:00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Skin culture reduction and clinical infection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YEUNG13  ·  PREP24  ·  NICE  ·  CHLORA26  ·  BAUS25</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Yeung 2013: 100 initial GU prosthetic procedures, 50 per arm. Immediate skin cultures, not AUS infection or a duration trial.</a:t>
            </a:r>
            <a:endParaRPr lang="en-US" sz="1200" dirty="0"/>
          </a:p>
        </p:txBody>
      </p:sp>
      <p:sp>
        <p:nvSpPr>
          <p:cNvPr id="7" name="Shape 5"/>
          <p:cNvSpPr/>
          <p:nvPr/>
        </p:nvSpPr>
        <p:spPr>
          <a:xfrm>
            <a:off x="640080" y="1783080"/>
            <a:ext cx="6035040" cy="3794760"/>
          </a:xfrm>
          <a:prstGeom prst="roundRect">
            <a:avLst>
              <a:gd name="adj" fmla="val 3373"/>
            </a:avLst>
          </a:prstGeom>
          <a:solidFill>
            <a:srgbClr val="F3F4F6"/>
          </a:solidFill>
          <a:ln/>
        </p:spPr>
      </p:sp>
      <p:sp>
        <p:nvSpPr>
          <p:cNvPr id="8" name="Text 6"/>
          <p:cNvSpPr txBox="1"/>
          <p:nvPr/>
        </p:nvSpPr>
        <p:spPr>
          <a:xfrm>
            <a:off x="960120" y="2057400"/>
            <a:ext cx="5394960" cy="320040"/>
          </a:xfrm>
          <a:prstGeom prst="rect">
            <a:avLst/>
          </a:prstGeom>
          <a:noFill/>
          <a:ln/>
        </p:spPr>
        <p:txBody>
          <a:bodyPr wrap="square" lIns="0" tIns="0" rIns="0" bIns="0" rtlCol="0" anchor="t"/>
          <a:lstStyle/>
          <a:p>
            <a:pPr algn="l" indent="0" marL="0">
              <a:buNone/>
            </a:pPr>
            <a:r>
              <a:rPr lang="en-US" sz="1300" b="1" dirty="0">
                <a:solidFill>
                  <a:srgbClr val="5F6B7A"/>
                </a:solidFill>
                <a:latin typeface="Segoe UI" pitchFamily="34" charset="0"/>
                <a:ea typeface="Segoe UI" pitchFamily="34" charset="-122"/>
                <a:cs typeface="Segoe UI" pitchFamily="34" charset="-120"/>
              </a:rPr>
              <a:t>Positive post-preparation skin cultures</a:t>
            </a:r>
            <a:endParaRPr lang="en-US" sz="1300" dirty="0"/>
          </a:p>
        </p:txBody>
      </p:sp>
      <p:graphicFrame>
        <p:nvGraphicFramePr>
          <p:cNvPr id="9" name="Chart 0" descr=""/>
          <p:cNvGraphicFramePr/>
          <p:nvPr/>
        </p:nvGraphicFramePr>
        <p:xfrm>
          <a:off x="960120" y="2423160"/>
          <a:ext cx="5394960" cy="30175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132320" y="1828800"/>
            <a:ext cx="4419295" cy="457200"/>
          </a:xfrm>
          <a:prstGeom prst="rect">
            <a:avLst/>
          </a:prstGeom>
          <a:noFill/>
          <a:ln/>
        </p:spPr>
        <p:txBody>
          <a:bodyPr wrap="square" lIns="0" tIns="0" rIns="0" bIns="0" rtlCol="0" anchor="t"/>
          <a:lstStyle/>
          <a:p>
            <a:pPr algn="l" indent="0" marL="0">
              <a:buNone/>
            </a:pPr>
            <a:r>
              <a:rPr lang="en-US" sz="2000" dirty="0">
                <a:solidFill>
                  <a:srgbClr val="1B2430"/>
                </a:solidFill>
                <a:latin typeface="Segoe UI Semibold" pitchFamily="34" charset="0"/>
                <a:ea typeface="Segoe UI Semibold" pitchFamily="34" charset="-122"/>
                <a:cs typeface="Segoe UI Semibold" pitchFamily="34" charset="-120"/>
              </a:rPr>
              <a:t>A microbiological endpoint</a:t>
            </a:r>
            <a:endParaRPr lang="en-US" sz="2000" dirty="0"/>
          </a:p>
        </p:txBody>
      </p:sp>
      <p:sp>
        <p:nvSpPr>
          <p:cNvPr id="11" name="Text 8"/>
          <p:cNvSpPr txBox="1"/>
          <p:nvPr/>
        </p:nvSpPr>
        <p:spPr>
          <a:xfrm>
            <a:off x="7132320" y="2468880"/>
            <a:ext cx="4419295" cy="731520"/>
          </a:xfrm>
          <a:prstGeom prst="rect">
            <a:avLst/>
          </a:prstGeom>
          <a:noFill/>
          <a:ln/>
        </p:spPr>
        <p:txBody>
          <a:bodyPr wrap="square" lIns="0" tIns="0" rIns="0" bIns="0" rtlCol="0" anchor="t"/>
          <a:lstStyle/>
          <a:p>
            <a:pPr algn="l" indent="0" marL="0">
              <a:lnSpc>
                <a:spcPct val="115000"/>
              </a:lnSpc>
              <a:buNone/>
            </a:pPr>
            <a:r>
              <a:rPr lang="en-US" sz="1500" dirty="0">
                <a:solidFill>
                  <a:srgbClr val="5F6B7A"/>
                </a:solidFill>
                <a:latin typeface="Segoe UI" pitchFamily="34" charset="0"/>
                <a:ea typeface="Segoe UI" pitchFamily="34" charset="-122"/>
                <a:cs typeface="Segoe UI" pitchFamily="34" charset="-120"/>
              </a:rPr>
              <a:t>Direct AUS infection evidence remains limited</a:t>
            </a:r>
            <a:endParaRPr lang="en-US" sz="1500" dirty="0"/>
          </a:p>
        </p:txBody>
      </p:sp>
      <p:sp>
        <p:nvSpPr>
          <p:cNvPr id="12" name="Shape 9"/>
          <p:cNvSpPr/>
          <p:nvPr/>
        </p:nvSpPr>
        <p:spPr>
          <a:xfrm>
            <a:off x="7132320" y="3429000"/>
            <a:ext cx="4419295" cy="1188720"/>
          </a:xfrm>
          <a:prstGeom prst="roundRect">
            <a:avLst>
              <a:gd name="adj" fmla="val 10769"/>
            </a:avLst>
          </a:prstGeom>
          <a:solidFill>
            <a:srgbClr val="F3F4F6"/>
          </a:solidFill>
          <a:ln/>
        </p:spPr>
      </p:sp>
      <p:sp>
        <p:nvSpPr>
          <p:cNvPr id="13" name="Text 10"/>
          <p:cNvSpPr txBox="1"/>
          <p:nvPr/>
        </p:nvSpPr>
        <p:spPr>
          <a:xfrm>
            <a:off x="7452360" y="3611880"/>
            <a:ext cx="3779215" cy="822960"/>
          </a:xfrm>
          <a:prstGeom prst="rect">
            <a:avLst/>
          </a:prstGeom>
          <a:noFill/>
          <a:ln/>
        </p:spPr>
        <p:txBody>
          <a:bodyPr wrap="square" lIns="0" tIns="0" rIns="0" bIns="0" rtlCol="0" anchor="t"/>
          <a:lstStyle/>
          <a:p>
            <a:pPr algn="l" indent="0" marL="0">
              <a:lnSpc>
                <a:spcPct val="110000"/>
              </a:lnSpc>
              <a:buNone/>
            </a:pPr>
            <a:r>
              <a:rPr lang="en-US" sz="1500" dirty="0">
                <a:solidFill>
                  <a:srgbClr val="0F7F86"/>
                </a:solidFill>
                <a:latin typeface="Segoe UI Semibold" pitchFamily="34" charset="0"/>
                <a:ea typeface="Segoe UI Semibold" pitchFamily="34" charset="-122"/>
                <a:cs typeface="Segoe UI Semibold" pitchFamily="34" charset="-120"/>
              </a:rPr>
              <a:t>Correct product, anatomy and complete drying still matter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22 / 38   ·   32:00 – 33:30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Urine and antibiotic disagreements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IDSA19  ·  BAUS25  ·  AUAABX20  ·  ABX18  ·  CCIFU  ·  AUAABX26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IP09-18 addresses postoperative antibiotics; full results unverified. Reconcile regional IFU and local microbiology policy.</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Question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Evidence or instruction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Symptomatic infection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Treat and reassess before implantation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Asymptomatic bacteriuria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BAUS urine pathway and IDSA’s AUS-specific position differ</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Complete before incision and plan appropriate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4582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Postoperative antibiotics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Older observational data show no clear benefit; retrieved ContiClassic IFU differs.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23 / 38   ·   33:30 – 35:00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Contamination control during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TOUCH23  ·  NICE  ·  AP23  ·  CCIFU  ·  IRRIG26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uncoated AMS 800 cohort: 90-day SSI 1/59 with gentamicin versus 2/114 without. Wide uncertainty; no equivalence proof.</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Protect the implant until the field is ready</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Limit skin contact and unnecessary handling</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Use fresh sterile gloves and a clean handling pause</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irrigation, device dipping and internal filling</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24 / 38   ·   35:00 – 36:00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pre-implant theatre checklist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NICE  ·  BAUS25  ·  CCIFU  ·  AUAABX20  ·  IRRIG26</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Check</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Basis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Indication, infection review, prophylaxis and asepsis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Guidance-supported</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Antiseptic, drying, antibiotic choice and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Product and local policy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Model, sizes, pressure, preparation and drainage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Current device instructions and local plan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Clean handling pause and contamination response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Expert implementation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676656">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Fixed 15 minutes, best irrigant, prolonged 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Unresolved evidence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V</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operation</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Preserve tissue, measure what the cuff will enclose, follow the actual device protocol, and verify before closing.</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36:00 – 50:00   ·   14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Positioning and exposure</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Bulbar dissection and tissue preservation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Cuff measurement and fit</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Urethral injury or contamination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Balloon pocket and pressure selection</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30</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position and patient access</a:t>
            </a:r>
            <a:endParaRPr lang="en-US" sz="1300" dirty="0"/>
          </a:p>
        </p:txBody>
      </p:sp>
      <p:sp>
        <p:nvSpPr>
          <p:cNvPr id="19" name="Text 17"/>
          <p:cNvSpPr txBox="1"/>
          <p:nvPr/>
        </p:nvSpPr>
        <p:spPr>
          <a:xfrm>
            <a:off x="7223760" y="4389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31</a:t>
            </a:r>
            <a:endParaRPr lang="en-US" sz="1100" dirty="0"/>
          </a:p>
        </p:txBody>
      </p:sp>
      <p:sp>
        <p:nvSpPr>
          <p:cNvPr id="20" name="Text 18"/>
          <p:cNvSpPr txBox="1"/>
          <p:nvPr/>
        </p:nvSpPr>
        <p:spPr>
          <a:xfrm>
            <a:off x="7680960" y="4389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System checks and handover</a:t>
            </a:r>
            <a:endParaRPr lang="en-US" sz="1300" dirty="0"/>
          </a:p>
        </p:txBody>
      </p:sp>
      <p:sp>
        <p:nvSpPr>
          <p:cNvPr id="21" name="Text 19"/>
          <p:cNvSpPr txBox="1"/>
          <p:nvPr/>
        </p:nvSpPr>
        <p:spPr>
          <a:xfrm>
            <a:off x="7223760" y="4846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32</a:t>
            </a:r>
            <a:endParaRPr lang="en-US" sz="1100" dirty="0"/>
          </a:p>
        </p:txBody>
      </p:sp>
      <p:sp>
        <p:nvSpPr>
          <p:cNvPr id="22" name="Text 20"/>
          <p:cNvSpPr txBox="1"/>
          <p:nvPr/>
        </p:nvSpPr>
        <p:spPr>
          <a:xfrm>
            <a:off x="7680960" y="4846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UroOps 3D: anatomy and component routes</a:t>
            </a:r>
            <a:endParaRPr lang="en-US" sz="1300" dirty="0"/>
          </a:p>
        </p:txBody>
      </p:sp>
      <p:sp>
        <p:nvSpPr>
          <p:cNvPr id="23" name="Shape 21"/>
          <p:cNvSpPr/>
          <p:nvPr/>
        </p:nvSpPr>
        <p:spPr>
          <a:xfrm>
            <a:off x="640080" y="5989320"/>
            <a:ext cx="1727149" cy="82296"/>
          </a:xfrm>
          <a:prstGeom prst="roundRect">
            <a:avLst>
              <a:gd name="adj" fmla="val 44444"/>
            </a:avLst>
          </a:prstGeom>
          <a:solidFill>
            <a:srgbClr val="3FB8BF"/>
          </a:solidFill>
          <a:ln/>
        </p:spPr>
      </p:sp>
      <p:sp>
        <p:nvSpPr>
          <p:cNvPr id="24" name="Text 22"/>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5" name="Shape 23"/>
          <p:cNvSpPr/>
          <p:nvPr/>
        </p:nvSpPr>
        <p:spPr>
          <a:xfrm>
            <a:off x="2476957" y="5989320"/>
            <a:ext cx="1727149" cy="82296"/>
          </a:xfrm>
          <a:prstGeom prst="roundRect">
            <a:avLst>
              <a:gd name="adj" fmla="val 44444"/>
            </a:avLst>
          </a:prstGeom>
          <a:solidFill>
            <a:srgbClr val="3FB8BF"/>
          </a:solidFill>
          <a:ln/>
        </p:spPr>
      </p:sp>
      <p:sp>
        <p:nvSpPr>
          <p:cNvPr id="26" name="Text 24"/>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7" name="Shape 25"/>
          <p:cNvSpPr/>
          <p:nvPr/>
        </p:nvSpPr>
        <p:spPr>
          <a:xfrm>
            <a:off x="4313834" y="5989320"/>
            <a:ext cx="1727149" cy="82296"/>
          </a:xfrm>
          <a:prstGeom prst="roundRect">
            <a:avLst>
              <a:gd name="adj" fmla="val 44444"/>
            </a:avLst>
          </a:prstGeom>
          <a:solidFill>
            <a:srgbClr val="3FB8BF"/>
          </a:solidFill>
          <a:ln/>
        </p:spPr>
      </p:sp>
      <p:sp>
        <p:nvSpPr>
          <p:cNvPr id="28" name="Text 26"/>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9" name="Shape 27"/>
          <p:cNvSpPr/>
          <p:nvPr/>
        </p:nvSpPr>
        <p:spPr>
          <a:xfrm>
            <a:off x="6150712" y="5989320"/>
            <a:ext cx="1727149" cy="82296"/>
          </a:xfrm>
          <a:prstGeom prst="roundRect">
            <a:avLst>
              <a:gd name="adj" fmla="val 44444"/>
            </a:avLst>
          </a:prstGeom>
          <a:solidFill>
            <a:srgbClr val="3FB8BF"/>
          </a:solidFill>
          <a:ln/>
        </p:spPr>
      </p:sp>
      <p:sp>
        <p:nvSpPr>
          <p:cNvPr id="30" name="Text 28"/>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1" name="Shape 29"/>
          <p:cNvSpPr/>
          <p:nvPr/>
        </p:nvSpPr>
        <p:spPr>
          <a:xfrm>
            <a:off x="7987589" y="5989320"/>
            <a:ext cx="1727149" cy="82296"/>
          </a:xfrm>
          <a:prstGeom prst="roundRect">
            <a:avLst>
              <a:gd name="adj" fmla="val 44444"/>
            </a:avLst>
          </a:prstGeom>
          <a:solidFill>
            <a:srgbClr val="3FB8BF"/>
          </a:solidFill>
          <a:ln/>
        </p:spPr>
      </p:sp>
      <p:sp>
        <p:nvSpPr>
          <p:cNvPr id="32" name="Text 30"/>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operation</a:t>
            </a:r>
            <a:endParaRPr lang="en-US" sz="850" dirty="0"/>
          </a:p>
        </p:txBody>
      </p:sp>
      <p:sp>
        <p:nvSpPr>
          <p:cNvPr id="33" name="Shape 31"/>
          <p:cNvSpPr/>
          <p:nvPr/>
        </p:nvSpPr>
        <p:spPr>
          <a:xfrm>
            <a:off x="9824466" y="5989320"/>
            <a:ext cx="1727149" cy="82296"/>
          </a:xfrm>
          <a:prstGeom prst="roundRect">
            <a:avLst>
              <a:gd name="adj" fmla="val 44444"/>
            </a:avLst>
          </a:prstGeom>
          <a:solidFill>
            <a:srgbClr val="2A2F34"/>
          </a:solidFill>
          <a:ln/>
        </p:spPr>
      </p:sp>
      <p:sp>
        <p:nvSpPr>
          <p:cNvPr id="34" name="Text 32"/>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25 / 38   ·   36:00 – 37:15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Positioning and exposure</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AP23</a:t>
            </a:r>
            <a:endParaRPr lang="en-US" sz="800" dirty="0"/>
          </a:p>
        </p:txBody>
      </p:sp>
      <p:pic>
        <p:nvPicPr>
          <p:cNvPr id="6" name="Image 0" descr="C:\NityProjects\AUS-Presentation\repo\presentation\assets\uroops-surgeon.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access plan</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Respect hip mobility and protect pressure points</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Plan perineal, abdominal and pump access together</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Review scars, mesh, previous devices and repairs</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Improve limited exposure before further dissection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26 / 38   ·   37:15 – 38:45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Bulbar dissection and tissue preservation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  ·  URETH26</a:t>
            </a:r>
            <a:endParaRPr lang="en-US" sz="800" dirty="0"/>
          </a:p>
        </p:txBody>
      </p:sp>
      <p:pic>
        <p:nvPicPr>
          <p:cNvPr id="6" name="Image 0" descr="C:\NityProjects\AUS-Presentation\repo\presentation\assets\uroops-cuff-site.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cuff-bearing segment</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Viable tissue with adequate spongiosal support</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Dorsal dissection under direct control</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Mobilisation limited to the required length</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Uncertain plane or integrity prompts reassessment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27 / 38   ·   38:45 – 40:30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Cuff measurement and fit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CCIFU  ·  CCSAFETY  ·  AP23</a:t>
            </a:r>
            <a:endParaRPr lang="en-US" sz="800" dirty="0"/>
          </a:p>
        </p:txBody>
      </p:sp>
      <p:pic>
        <p:nvPicPr>
          <p:cNvPr id="6" name="Image 0" descr="C:\NityProjects\AUS-Presentation\repo\presentation\assets\uroops-aus.png">    </p:cNvPr>
          <p:cNvPicPr>
            <a:picLocks noChangeAspect="1"/>
          </p:cNvPicPr>
          <p:nvPr/>
        </p:nvPicPr>
        <p:blipFill>
          <a:blip r:embed="rId1"/>
          <a:stretch>
            <a:fillRect/>
          </a:stretch>
        </p:blipFill>
        <p:spPr>
          <a:xfrm>
            <a:off x="640080" y="1828800"/>
            <a:ext cx="5852160"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Sizing errors</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Release traction and artificial compression</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Confirm which tissue the cuff will enclose</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exact system’s supplied sizing method</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poor fit rather than increasing pressure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28 / 38   ·   40:30 – 42:00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Urethral injury or contamination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AP23  ·  ICS16  ·  CCIFU</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An improvised antiseptic soak cannot rescue a contaminated single-use implant.</a:t>
            </a:r>
            <a:endParaRPr lang="en-US" sz="1200" dirty="0"/>
          </a:p>
        </p:txBody>
      </p:sp>
      <p:sp>
        <p:nvSpPr>
          <p:cNvPr id="7" name="Text 5"/>
          <p:cNvSpPr txBox="1"/>
          <p:nvPr/>
        </p:nvSpPr>
        <p:spPr>
          <a:xfrm>
            <a:off x="640080" y="1783080"/>
            <a:ext cx="5120640" cy="3657600"/>
          </a:xfrm>
          <a:prstGeom prst="rect">
            <a:avLst/>
          </a:prstGeom>
          <a:noFill/>
          <a:ln/>
        </p:spPr>
        <p:txBody>
          <a:bodyPr wrap="square" lIns="0" tIns="0" rIns="0" bIns="0" rtlCol="0" anchor="ctr"/>
          <a:lstStyle/>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The endpoint can change</a:t>
            </a:r>
            <a:endParaRPr lang="en-US" sz="3200" dirty="0"/>
          </a:p>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to repair and safe drainage</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C2482D"/>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Confirm uncertain integrity with controlled testing or endoscopy</a:t>
            </a:r>
            <a:endParaRPr lang="en-US" sz="1550" dirty="0"/>
          </a:p>
        </p:txBody>
      </p:sp>
      <p:sp>
        <p:nvSpPr>
          <p:cNvPr id="12" name="Shape 10"/>
          <p:cNvSpPr/>
          <p:nvPr/>
        </p:nvSpPr>
        <p:spPr>
          <a:xfrm>
            <a:off x="6629400" y="3182112"/>
            <a:ext cx="384048" cy="384048"/>
          </a:xfrm>
          <a:prstGeom prst="ellipse">
            <a:avLst/>
          </a:prstGeom>
          <a:solidFill>
            <a:srgbClr val="C2482D"/>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Recognised urethral injury prompts stopping implantation</a:t>
            </a:r>
            <a:endParaRPr lang="en-US" sz="1550" dirty="0"/>
          </a:p>
        </p:txBody>
      </p:sp>
      <p:sp>
        <p:nvSpPr>
          <p:cNvPr id="15" name="Shape 13"/>
          <p:cNvSpPr/>
          <p:nvPr/>
        </p:nvSpPr>
        <p:spPr>
          <a:xfrm>
            <a:off x="6629400" y="4261104"/>
            <a:ext cx="384048" cy="384048"/>
          </a:xfrm>
          <a:prstGeom prst="ellipse">
            <a:avLst/>
          </a:prstGeom>
          <a:solidFill>
            <a:srgbClr val="C2482D"/>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Replace contaminated disposables and restore the clean setup</a:t>
            </a:r>
            <a:endParaRPr lang="en-US" sz="15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29 / 38   ·   42:00 – 43:30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Balloon pocket and pressure selection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CCIFU  ·  AP23  ·  ICS16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A safe pocket and the correct pressure component are separate decisions. Fill volumes and selection rules require the current OR protocol.</a:t>
            </a:r>
            <a:endParaRPr lang="en-US" sz="1200" dirty="0"/>
          </a:p>
        </p:txBody>
      </p:sp>
      <p:pic>
        <p:nvPicPr>
          <p:cNvPr id="7" name="Image 0" descr="C:\NityProjects\AUS-Presentation\repo\presentation\design\build\conticlassic-dark.png">    </p:cNvPr>
          <p:cNvPicPr>
            <a:picLocks noChangeAspect="1"/>
          </p:cNvPicPr>
          <p:nvPr/>
        </p:nvPicPr>
        <p:blipFill>
          <a:blip r:embed="rId1"/>
          <a:stretch>
            <a:fillRect/>
          </a:stretch>
        </p:blipFill>
        <p:spPr>
          <a:xfrm>
            <a:off x="1371600" y="1783080"/>
            <a:ext cx="3657600" cy="3657600"/>
          </a:xfrm>
          <a:prstGeom prst="rect">
            <a:avLst/>
          </a:prstGeom>
        </p:spPr>
      </p:pic>
      <p:sp>
        <p:nvSpPr>
          <p:cNvPr id="8" name="Shape 5"/>
          <p:cNvSpPr/>
          <p:nvPr/>
        </p:nvSpPr>
        <p:spPr>
          <a:xfrm>
            <a:off x="6309360" y="1783080"/>
            <a:ext cx="5242255" cy="1371600"/>
          </a:xfrm>
          <a:prstGeom prst="roundRect">
            <a:avLst>
              <a:gd name="adj" fmla="val 9333"/>
            </a:avLst>
          </a:prstGeom>
          <a:solidFill>
            <a:srgbClr val="2A2F34"/>
          </a:solidFill>
          <a:ln/>
        </p:spPr>
      </p:sp>
      <p:sp>
        <p:nvSpPr>
          <p:cNvPr id="9" name="Text 6"/>
          <p:cNvSpPr txBox="1"/>
          <p:nvPr/>
        </p:nvSpPr>
        <p:spPr>
          <a:xfrm>
            <a:off x="6629400" y="20116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ContiClassic label</a:t>
            </a:r>
            <a:endParaRPr lang="en-US" sz="1300" dirty="0"/>
          </a:p>
        </p:txBody>
      </p:sp>
      <p:sp>
        <p:nvSpPr>
          <p:cNvPr id="10" name="Text 7"/>
          <p:cNvSpPr txBox="1"/>
          <p:nvPr/>
        </p:nvSpPr>
        <p:spPr>
          <a:xfrm>
            <a:off x="6629400" y="23500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60–69 cmH₂O</a:t>
            </a:r>
            <a:endParaRPr lang="en-US" sz="2800" dirty="0"/>
          </a:p>
        </p:txBody>
      </p:sp>
      <p:sp>
        <p:nvSpPr>
          <p:cNvPr id="11" name="Shape 8"/>
          <p:cNvSpPr/>
          <p:nvPr/>
        </p:nvSpPr>
        <p:spPr>
          <a:xfrm>
            <a:off x="6309360" y="3383280"/>
            <a:ext cx="5242255" cy="1371600"/>
          </a:xfrm>
          <a:prstGeom prst="roundRect">
            <a:avLst>
              <a:gd name="adj" fmla="val 9333"/>
            </a:avLst>
          </a:prstGeom>
          <a:solidFill>
            <a:srgbClr val="2A2F34"/>
          </a:solidFill>
          <a:ln/>
        </p:spPr>
      </p:sp>
      <p:sp>
        <p:nvSpPr>
          <p:cNvPr id="12" name="Text 9"/>
          <p:cNvSpPr txBox="1"/>
          <p:nvPr/>
        </p:nvSpPr>
        <p:spPr>
          <a:xfrm>
            <a:off x="6629400" y="36118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AMS 800 consensus</a:t>
            </a:r>
            <a:endParaRPr lang="en-US" sz="1300" dirty="0"/>
          </a:p>
        </p:txBody>
      </p:sp>
      <p:sp>
        <p:nvSpPr>
          <p:cNvPr id="13" name="Text 10"/>
          <p:cNvSpPr txBox="1"/>
          <p:nvPr/>
        </p:nvSpPr>
        <p:spPr>
          <a:xfrm>
            <a:off x="6629400" y="39502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Commonly 61–70 cmH₂O</a:t>
            </a:r>
            <a:endParaRPr lang="en-US" sz="2800" dirty="0"/>
          </a:p>
        </p:txBody>
      </p:sp>
      <p:sp>
        <p:nvSpPr>
          <p:cNvPr id="14" name="Text 11"/>
          <p:cNvSpPr txBox="1"/>
          <p:nvPr/>
        </p:nvSpPr>
        <p:spPr>
          <a:xfrm>
            <a:off x="6309360" y="5074920"/>
            <a:ext cx="5242255" cy="365760"/>
          </a:xfrm>
          <a:prstGeom prst="rect">
            <a:avLst/>
          </a:prstGeom>
          <a:noFill/>
          <a:ln/>
        </p:spPr>
        <p:txBody>
          <a:bodyPr wrap="square" lIns="0" tIns="0" rIns="0" bIns="0" rtlCol="0" anchor="t"/>
          <a:lstStyle/>
          <a:p>
            <a:pPr algn="l" indent="0" marL="0">
              <a:buNone/>
            </a:pPr>
            <a:r>
              <a:rPr lang="en-US" sz="1300" i="1" dirty="0">
                <a:solidFill>
                  <a:srgbClr val="A7AEB8"/>
                </a:solidFill>
                <a:latin typeface="Segoe UI" pitchFamily="34" charset="0"/>
                <a:ea typeface="Segoe UI" pitchFamily="34" charset="-122"/>
                <a:cs typeface="Segoe UI" pitchFamily="34" charset="-120"/>
              </a:rPr>
              <a:t>These ranges are device-specific</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30 / 38   ·   43:30 – 44:45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position and patient access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AP23  ·  ICS16  ·  CCIFU</a:t>
            </a:r>
            <a:endParaRPr lang="en-US" sz="800" dirty="0"/>
          </a:p>
        </p:txBody>
      </p:sp>
      <p:pic>
        <p:nvPicPr>
          <p:cNvPr id="6" name="Image 0" descr="C:\NityProjects\AUS-Presentation\repo\presentation\assets\uroops-three-spaces.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 functional position</a:t>
            </a:r>
            <a:endParaRPr lang="en-US" sz="1500" dirty="0"/>
          </a:p>
        </p:txBody>
      </p:sp>
      <p:sp>
        <p:nvSpPr>
          <p:cNvPr id="8" name="Shape 5"/>
          <p:cNvSpPr/>
          <p:nvPr/>
        </p:nvSpPr>
        <p:spPr>
          <a:xfrm>
            <a:off x="8321040" y="2459736"/>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accessible side agreed in clinic</a:t>
            </a:r>
            <a:endParaRPr lang="en-US" sz="1400" dirty="0"/>
          </a:p>
        </p:txBody>
      </p:sp>
      <p:sp>
        <p:nvSpPr>
          <p:cNvPr id="10" name="Shape 7"/>
          <p:cNvSpPr/>
          <p:nvPr/>
        </p:nvSpPr>
        <p:spPr>
          <a:xfrm>
            <a:off x="8321040" y="3168396"/>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Avoid crowding, skin tension and testicular compression</a:t>
            </a:r>
            <a:endParaRPr lang="en-US" sz="1400" dirty="0"/>
          </a:p>
        </p:txBody>
      </p:sp>
      <p:sp>
        <p:nvSpPr>
          <p:cNvPr id="12" name="Shape 9"/>
          <p:cNvSpPr/>
          <p:nvPr/>
        </p:nvSpPr>
        <p:spPr>
          <a:xfrm>
            <a:off x="8321040" y="3877056"/>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orientation and tubing traction before closure</a:t>
            </a:r>
            <a:endParaRPr lang="en-US" sz="1400" dirty="0"/>
          </a:p>
        </p:txBody>
      </p:sp>
      <p:sp>
        <p:nvSpPr>
          <p:cNvPr id="14" name="Shape 11"/>
          <p:cNvSpPr/>
          <p:nvPr/>
        </p:nvSpPr>
        <p:spPr>
          <a:xfrm>
            <a:off x="8321040" y="4585716"/>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access with the patient at activation</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31 / 38   ·   44:45 – 46:00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System checks and handover</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ICS16  ·  AP23  ·  CATH13  ·  INSTR26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Deactivation and urgent-contact instructions matter: a 2026 survey identifies training gaps. Filling follows the actual product protocol.</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Trace tubing for tension, bends and entrapment</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compatible connections and device function</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an open cuff and correct deactivation</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Record device details, drainage and the urgent contact route</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32 / 38   ·   46:00 – 50:00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UroOps 3D: anatomy and component routes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a:t>
            </a:r>
            <a:endParaRPr lang="en-US" sz="800" dirty="0"/>
          </a:p>
        </p:txBody>
      </p:sp>
      <p:pic>
        <p:nvPicPr>
          <p:cNvPr id="6" name="Image 0" descr="C:\NityProjects\AUS-Presentation\repo\presentation\assets\uroops-final.png">    </p:cNvPr>
          <p:cNvPicPr>
            <a:picLocks noChangeAspect="1"/>
          </p:cNvPicPr>
          <p:nvPr/>
        </p:nvPicPr>
        <p:blipFill>
          <a:blip r:embed="rId1"/>
          <a:stretch>
            <a:fillRect/>
          </a:stretch>
        </p:blipFill>
        <p:spPr>
          <a:xfrm>
            <a:off x="640080" y="1985765"/>
            <a:ext cx="7223760" cy="2977911"/>
          </a:xfrm>
          <a:prstGeom prst="rect">
            <a:avLst/>
          </a:prstGeom>
        </p:spPr>
      </p:pic>
      <p:sp>
        <p:nvSpPr>
          <p:cNvPr id="7" name="Shape 4"/>
          <p:cNvSpPr/>
          <p:nvPr/>
        </p:nvSpPr>
        <p:spPr>
          <a:xfrm>
            <a:off x="8321040" y="1828800"/>
            <a:ext cx="2377440" cy="310896"/>
          </a:xfrm>
          <a:prstGeom prst="roundRect">
            <a:avLst>
              <a:gd name="adj" fmla="val 50000"/>
            </a:avLst>
          </a:prstGeom>
          <a:solidFill>
            <a:srgbClr val="3FB8BF"/>
          </a:solidFill>
          <a:ln/>
        </p:spPr>
      </p:sp>
      <p:sp>
        <p:nvSpPr>
          <p:cNvPr id="8" name="Text 5"/>
          <p:cNvSpPr txBox="1"/>
          <p:nvPr/>
        </p:nvSpPr>
        <p:spPr>
          <a:xfrm>
            <a:off x="8321040" y="1828800"/>
            <a:ext cx="237744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FOUR-MINUTE DEMONSTRATION</a:t>
            </a:r>
            <a:endParaRPr lang="en-US" sz="900" dirty="0"/>
          </a:p>
        </p:txBody>
      </p:sp>
      <p:sp>
        <p:nvSpPr>
          <p:cNvPr id="9" name="Shape 6"/>
          <p:cNvSpPr/>
          <p:nvPr/>
        </p:nvSpPr>
        <p:spPr>
          <a:xfrm>
            <a:off x="8321040" y="2377440"/>
            <a:ext cx="365760" cy="365760"/>
          </a:xfrm>
          <a:prstGeom prst="ellipse">
            <a:avLst/>
          </a:prstGeom>
          <a:solidFill>
            <a:srgbClr val="3FB8BF"/>
          </a:solidFill>
          <a:ln/>
        </p:spPr>
      </p:sp>
      <p:sp>
        <p:nvSpPr>
          <p:cNvPr id="10" name="Text 7"/>
          <p:cNvSpPr txBox="1"/>
          <p:nvPr/>
        </p:nvSpPr>
        <p:spPr>
          <a:xfrm>
            <a:off x="8321040" y="2377440"/>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1</a:t>
            </a:r>
            <a:endParaRPr lang="en-US" sz="1200" dirty="0"/>
          </a:p>
        </p:txBody>
      </p:sp>
      <p:sp>
        <p:nvSpPr>
          <p:cNvPr id="11" name="Text 8"/>
          <p:cNvSpPr txBox="1"/>
          <p:nvPr/>
        </p:nvSpPr>
        <p:spPr>
          <a:xfrm>
            <a:off x="8851392" y="2377440"/>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Cuff and dorsal plane</a:t>
            </a:r>
            <a:endParaRPr lang="en-US" sz="1500" dirty="0"/>
          </a:p>
        </p:txBody>
      </p:sp>
      <p:sp>
        <p:nvSpPr>
          <p:cNvPr id="12" name="Shape 9"/>
          <p:cNvSpPr/>
          <p:nvPr/>
        </p:nvSpPr>
        <p:spPr>
          <a:xfrm>
            <a:off x="8321040" y="2944368"/>
            <a:ext cx="365760" cy="365760"/>
          </a:xfrm>
          <a:prstGeom prst="ellipse">
            <a:avLst/>
          </a:prstGeom>
          <a:solidFill>
            <a:srgbClr val="3FB8BF"/>
          </a:solidFill>
          <a:ln/>
        </p:spPr>
      </p:sp>
      <p:sp>
        <p:nvSpPr>
          <p:cNvPr id="13" name="Text 10"/>
          <p:cNvSpPr txBox="1"/>
          <p:nvPr/>
        </p:nvSpPr>
        <p:spPr>
          <a:xfrm>
            <a:off x="8321040" y="2944368"/>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2</a:t>
            </a:r>
            <a:endParaRPr lang="en-US" sz="1200" dirty="0"/>
          </a:p>
        </p:txBody>
      </p:sp>
      <p:sp>
        <p:nvSpPr>
          <p:cNvPr id="14" name="Text 11"/>
          <p:cNvSpPr txBox="1"/>
          <p:nvPr/>
        </p:nvSpPr>
        <p:spPr>
          <a:xfrm>
            <a:off x="8851392" y="2944368"/>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Pump access</a:t>
            </a:r>
            <a:endParaRPr lang="en-US" sz="1500" dirty="0"/>
          </a:p>
        </p:txBody>
      </p:sp>
      <p:sp>
        <p:nvSpPr>
          <p:cNvPr id="15" name="Shape 12"/>
          <p:cNvSpPr/>
          <p:nvPr/>
        </p:nvSpPr>
        <p:spPr>
          <a:xfrm>
            <a:off x="8321040" y="3511296"/>
            <a:ext cx="365760" cy="365760"/>
          </a:xfrm>
          <a:prstGeom prst="ellipse">
            <a:avLst/>
          </a:prstGeom>
          <a:solidFill>
            <a:srgbClr val="3FB8BF"/>
          </a:solidFill>
          <a:ln/>
        </p:spPr>
      </p:sp>
      <p:sp>
        <p:nvSpPr>
          <p:cNvPr id="16" name="Text 13"/>
          <p:cNvSpPr txBox="1"/>
          <p:nvPr/>
        </p:nvSpPr>
        <p:spPr>
          <a:xfrm>
            <a:off x="8321040" y="3511296"/>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3</a:t>
            </a:r>
            <a:endParaRPr lang="en-US" sz="1200" dirty="0"/>
          </a:p>
        </p:txBody>
      </p:sp>
      <p:sp>
        <p:nvSpPr>
          <p:cNvPr id="17" name="Text 14"/>
          <p:cNvSpPr txBox="1"/>
          <p:nvPr/>
        </p:nvSpPr>
        <p:spPr>
          <a:xfrm>
            <a:off x="8851392" y="3511296"/>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Balloon pocket</a:t>
            </a:r>
            <a:endParaRPr lang="en-US" sz="1500" dirty="0"/>
          </a:p>
        </p:txBody>
      </p:sp>
      <p:sp>
        <p:nvSpPr>
          <p:cNvPr id="18" name="Shape 15"/>
          <p:cNvSpPr/>
          <p:nvPr/>
        </p:nvSpPr>
        <p:spPr>
          <a:xfrm>
            <a:off x="8321040" y="4078224"/>
            <a:ext cx="365760" cy="365760"/>
          </a:xfrm>
          <a:prstGeom prst="ellipse">
            <a:avLst/>
          </a:prstGeom>
          <a:solidFill>
            <a:srgbClr val="3FB8BF"/>
          </a:solidFill>
          <a:ln/>
        </p:spPr>
      </p:sp>
      <p:sp>
        <p:nvSpPr>
          <p:cNvPr id="19" name="Text 16"/>
          <p:cNvSpPr txBox="1"/>
          <p:nvPr/>
        </p:nvSpPr>
        <p:spPr>
          <a:xfrm>
            <a:off x="8321040" y="4078224"/>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851392" y="4078224"/>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Tubing route</a:t>
            </a:r>
            <a:endParaRPr lang="en-US" sz="1500" dirty="0"/>
          </a:p>
        </p:txBody>
      </p:sp>
      <p:sp>
        <p:nvSpPr>
          <p:cNvPr id="21" name="Text 18">
            <a:hlinkClick r:id="rId2" tooltip=""/>
          </p:cNvPr>
          <p:cNvSpPr txBox="1"/>
          <p:nvPr/>
        </p:nvSpPr>
        <p:spPr>
          <a:xfrm>
            <a:off x="8321040" y="4709160"/>
            <a:ext cx="3230575" cy="365760"/>
          </a:xfrm>
          <a:prstGeom prst="rect">
            <a:avLst/>
          </a:prstGeom>
          <a:noFill/>
          <a:ln/>
        </p:spPr>
        <p:txBody>
          <a:bodyPr wrap="square" lIns="0" tIns="0" rIns="0" bIns="0" rtlCol="0" anchor="t"/>
          <a:lstStyle/>
          <a:p>
            <a:pPr algn="l" indent="0" marL="0">
              <a:buNone/>
            </a:pPr>
            <a:r>
              <a:rPr lang="en-US" sz="1400" b="1" u="sng" dirty="0">
                <a:solidFill>
                  <a:srgbClr val="3FB8BF"/>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uroops3d.com/lab/aus</a:t>
            </a:r>
            <a:endParaRPr lang="en-US" sz="1400" dirty="0"/>
          </a:p>
        </p:txBody>
      </p:sp>
      <p:sp>
        <p:nvSpPr>
          <p:cNvPr id="22" name="Text 19"/>
          <p:cNvSpPr txBox="1"/>
          <p:nvPr/>
        </p:nvSpPr>
        <p:spPr>
          <a:xfrm>
            <a:off x="640080" y="5257800"/>
            <a:ext cx="7223760" cy="274320"/>
          </a:xfrm>
          <a:prstGeom prst="rect">
            <a:avLst/>
          </a:prstGeom>
          <a:noFill/>
          <a:ln/>
        </p:spPr>
        <p:txBody>
          <a:bodyPr wrap="square" lIns="0" tIns="0" rIns="0" bIns="0" rtlCol="0" anchor="t"/>
          <a:lstStyle/>
          <a:p>
            <a:pPr algn="l" indent="0" marL="0">
              <a:buNone/>
            </a:pPr>
            <a:r>
              <a:rPr lang="en-US" sz="1000" dirty="0">
                <a:solidFill>
                  <a:srgbClr val="7E8791"/>
                </a:solidFill>
                <a:latin typeface="Segoe UI" pitchFamily="34" charset="0"/>
                <a:ea typeface="Segoe UI" pitchFamily="34" charset="-122"/>
                <a:cs typeface="Segoe UI" pitchFamily="34" charset="-120"/>
              </a:rPr>
              <a:t>Live page. Teaching schematic, clinical review pending.</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594360" y="1371600"/>
            <a:ext cx="3840480" cy="1783080"/>
          </a:xfrm>
          <a:prstGeom prst="rect">
            <a:avLst/>
          </a:prstGeom>
          <a:noFill/>
          <a:ln/>
        </p:spPr>
        <p:txBody>
          <a:bodyPr wrap="square" lIns="0" tIns="0" rIns="0" bIns="0" rtlCol="0" anchor="ctr"/>
          <a:lstStyle/>
          <a:p>
            <a:pPr algn="l" indent="0" marL="0">
              <a:buNone/>
            </a:pPr>
            <a:r>
              <a:rPr lang="en-US" sz="11200" dirty="0">
                <a:solidFill>
                  <a:srgbClr val="3FB8BF"/>
                </a:solidFill>
                <a:latin typeface="Cambria" pitchFamily="34" charset="0"/>
                <a:ea typeface="Cambria" pitchFamily="34" charset="-122"/>
                <a:cs typeface="Cambria" pitchFamily="34" charset="-120"/>
              </a:rPr>
              <a:t>VI</a:t>
            </a:r>
            <a:endParaRPr lang="en-US" sz="112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After the implant</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Hand over the risk, diagnose late leakage before revising, and say where the evidence stops.</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50:00 – 60:00   ·   10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33</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Aftercare, activation and urgent review</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34</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4: leakage after three good years</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35</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Established benefit and unresolved questions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36</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before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37</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protecting the result</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38</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Discussion</a:t>
            </a:r>
            <a:endParaRPr lang="en-US" sz="1300" dirty="0"/>
          </a:p>
        </p:txBody>
      </p:sp>
      <p:sp>
        <p:nvSpPr>
          <p:cNvPr id="19" name="Shape 17"/>
          <p:cNvSpPr/>
          <p:nvPr/>
        </p:nvSpPr>
        <p:spPr>
          <a:xfrm>
            <a:off x="640080" y="5989320"/>
            <a:ext cx="1727149" cy="82296"/>
          </a:xfrm>
          <a:prstGeom prst="roundRect">
            <a:avLst>
              <a:gd name="adj" fmla="val 44444"/>
            </a:avLst>
          </a:prstGeom>
          <a:solidFill>
            <a:srgbClr val="3FB8BF"/>
          </a:solidFill>
          <a:ln/>
        </p:spPr>
      </p:sp>
      <p:sp>
        <p:nvSpPr>
          <p:cNvPr id="20" name="Text 18"/>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1" name="Shape 19"/>
          <p:cNvSpPr/>
          <p:nvPr/>
        </p:nvSpPr>
        <p:spPr>
          <a:xfrm>
            <a:off x="2476957" y="5989320"/>
            <a:ext cx="1727149" cy="82296"/>
          </a:xfrm>
          <a:prstGeom prst="roundRect">
            <a:avLst>
              <a:gd name="adj" fmla="val 44444"/>
            </a:avLst>
          </a:prstGeom>
          <a:solidFill>
            <a:srgbClr val="3FB8BF"/>
          </a:solidFill>
          <a:ln/>
        </p:spPr>
      </p:sp>
      <p:sp>
        <p:nvSpPr>
          <p:cNvPr id="22" name="Text 20"/>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3" name="Shape 21"/>
          <p:cNvSpPr/>
          <p:nvPr/>
        </p:nvSpPr>
        <p:spPr>
          <a:xfrm>
            <a:off x="4313834" y="5989320"/>
            <a:ext cx="1727149" cy="82296"/>
          </a:xfrm>
          <a:prstGeom prst="roundRect">
            <a:avLst>
              <a:gd name="adj" fmla="val 44444"/>
            </a:avLst>
          </a:prstGeom>
          <a:solidFill>
            <a:srgbClr val="3FB8BF"/>
          </a:solidFill>
          <a:ln/>
        </p:spPr>
      </p:sp>
      <p:sp>
        <p:nvSpPr>
          <p:cNvPr id="24" name="Text 22"/>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5" name="Shape 23"/>
          <p:cNvSpPr/>
          <p:nvPr/>
        </p:nvSpPr>
        <p:spPr>
          <a:xfrm>
            <a:off x="6150712" y="5989320"/>
            <a:ext cx="1727149" cy="82296"/>
          </a:xfrm>
          <a:prstGeom prst="roundRect">
            <a:avLst>
              <a:gd name="adj" fmla="val 44444"/>
            </a:avLst>
          </a:prstGeom>
          <a:solidFill>
            <a:srgbClr val="3FB8BF"/>
          </a:solidFill>
          <a:ln/>
        </p:spPr>
      </p:sp>
      <p:sp>
        <p:nvSpPr>
          <p:cNvPr id="26" name="Text 24"/>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7" name="Shape 25"/>
          <p:cNvSpPr/>
          <p:nvPr/>
        </p:nvSpPr>
        <p:spPr>
          <a:xfrm>
            <a:off x="7987589" y="5989320"/>
            <a:ext cx="1727149" cy="82296"/>
          </a:xfrm>
          <a:prstGeom prst="roundRect">
            <a:avLst>
              <a:gd name="adj" fmla="val 44444"/>
            </a:avLst>
          </a:prstGeom>
          <a:solidFill>
            <a:srgbClr val="3FB8BF"/>
          </a:solidFill>
          <a:ln/>
        </p:spPr>
      </p:sp>
      <p:sp>
        <p:nvSpPr>
          <p:cNvPr id="28" name="Text 26"/>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9" name="Shape 27"/>
          <p:cNvSpPr/>
          <p:nvPr/>
        </p:nvSpPr>
        <p:spPr>
          <a:xfrm>
            <a:off x="9824466" y="5989320"/>
            <a:ext cx="1727149" cy="82296"/>
          </a:xfrm>
          <a:prstGeom prst="roundRect">
            <a:avLst>
              <a:gd name="adj" fmla="val 44444"/>
            </a:avLst>
          </a:prstGeom>
          <a:solidFill>
            <a:srgbClr val="3FB8BF"/>
          </a:solidFill>
          <a:ln/>
        </p:spPr>
      </p:sp>
      <p:sp>
        <p:nvSpPr>
          <p:cNvPr id="30" name="Text 28"/>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33 / 38   ·   50:00 – 51:00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Aftercare, activation and urgent review</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CCIFU  ·  AUA24  ·  CATH13  ·  BAUSDAY26  ·  DAYMETA26  ·  DAYCASE26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2026 day-case audit and comparative studies support selected pathways. Confirm emptying, support and rapid access to review.</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Planned care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Selected day-case care with verified emptying</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ContiClassic: 4–6 weeks deactivated until pain and oedema settle</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Activation includes patient demonstration and device information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Earlier assessment</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Retention or difficult voiding</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Worsening pain, erythema, discharge or fever</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Suspected infection or erosion needs specialist review</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34 / 38   ·   51:00 – 52:30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4: leakage after three good years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ATROPHY20  ·  BAUS25  ·  AUA24  ·  CCIFU  ·  AUASAFER26  ·  PRBFAT26  ·  EROSION26  ·  SECOND26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PRB fatigue study adds a mechanical explanation. Diagnose the cause; do not automatically downsize or replace the balloon.</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04</a:t>
            </a:r>
            <a:endParaRPr lang="en-US" sz="900" dirty="0"/>
          </a:p>
        </p:txBody>
      </p:sp>
      <p:sp>
        <p:nvSpPr>
          <p:cNvPr id="9" name="Shape 7"/>
          <p:cNvSpPr/>
          <p:nvPr/>
        </p:nvSpPr>
        <p:spPr>
          <a:xfrm>
            <a:off x="640080" y="2423160"/>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An initially useful AUS result</a:t>
            </a:r>
            <a:endParaRPr lang="en-US" sz="1550" dirty="0"/>
          </a:p>
        </p:txBody>
      </p:sp>
      <p:sp>
        <p:nvSpPr>
          <p:cNvPr id="11" name="Shape 9"/>
          <p:cNvSpPr/>
          <p:nvPr/>
        </p:nvSpPr>
        <p:spPr>
          <a:xfrm>
            <a:off x="640080" y="3172968"/>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leakage after three years</a:t>
            </a:r>
            <a:endParaRPr lang="en-US" sz="1550" dirty="0"/>
          </a:p>
        </p:txBody>
      </p:sp>
      <p:sp>
        <p:nvSpPr>
          <p:cNvPr id="13" name="Shape 11"/>
          <p:cNvSpPr/>
          <p:nvPr/>
        </p:nvSpPr>
        <p:spPr>
          <a:xfrm>
            <a:off x="640080" y="3922776"/>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Leakage mechanism and pump use still need assessment</a:t>
            </a:r>
            <a:endParaRPr lang="en-US" sz="1550" dirty="0"/>
          </a:p>
        </p:txBody>
      </p:sp>
      <p:sp>
        <p:nvSpPr>
          <p:cNvPr id="15" name="Shape 13"/>
          <p:cNvSpPr/>
          <p:nvPr/>
        </p:nvSpPr>
        <p:spPr>
          <a:xfrm>
            <a:off x="640080" y="4672584"/>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Erosion, mechanics and bladder dysfunction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What would you investigate before choosing revision?</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607162" cy="365760"/>
          </a:xfrm>
          <a:prstGeom prst="roundRect">
            <a:avLst>
              <a:gd name="adj" fmla="val 50000"/>
            </a:avLst>
          </a:prstGeom>
          <a:solidFill>
            <a:srgbClr val="1B2430"/>
          </a:solidFill>
          <a:ln/>
        </p:spPr>
      </p:sp>
      <p:sp>
        <p:nvSpPr>
          <p:cNvPr id="21" name="Text 19"/>
          <p:cNvSpPr txBox="1"/>
          <p:nvPr/>
        </p:nvSpPr>
        <p:spPr>
          <a:xfrm>
            <a:off x="7498080" y="3950208"/>
            <a:ext cx="60716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USE</a:t>
            </a:r>
            <a:endParaRPr lang="en-US" sz="1000" dirty="0"/>
          </a:p>
        </p:txBody>
      </p:sp>
      <p:sp>
        <p:nvSpPr>
          <p:cNvPr id="22" name="Shape 20"/>
          <p:cNvSpPr/>
          <p:nvPr/>
        </p:nvSpPr>
        <p:spPr>
          <a:xfrm>
            <a:off x="8233258" y="3950208"/>
            <a:ext cx="1002182" cy="365760"/>
          </a:xfrm>
          <a:prstGeom prst="roundRect">
            <a:avLst>
              <a:gd name="adj" fmla="val 50000"/>
            </a:avLst>
          </a:prstGeom>
          <a:solidFill>
            <a:srgbClr val="1B2430"/>
          </a:solidFill>
          <a:ln/>
        </p:spPr>
      </p:sp>
      <p:sp>
        <p:nvSpPr>
          <p:cNvPr id="23" name="Text 21"/>
          <p:cNvSpPr txBox="1"/>
          <p:nvPr/>
        </p:nvSpPr>
        <p:spPr>
          <a:xfrm>
            <a:off x="8233258"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URETHRA</a:t>
            </a:r>
            <a:endParaRPr lang="en-US" sz="1000" dirty="0"/>
          </a:p>
        </p:txBody>
      </p:sp>
      <p:sp>
        <p:nvSpPr>
          <p:cNvPr id="24" name="Shape 22"/>
          <p:cNvSpPr/>
          <p:nvPr/>
        </p:nvSpPr>
        <p:spPr>
          <a:xfrm>
            <a:off x="9363456" y="3950208"/>
            <a:ext cx="1199693" cy="365760"/>
          </a:xfrm>
          <a:prstGeom prst="roundRect">
            <a:avLst>
              <a:gd name="adj" fmla="val 50000"/>
            </a:avLst>
          </a:prstGeom>
          <a:solidFill>
            <a:srgbClr val="1B2430"/>
          </a:solidFill>
          <a:ln/>
        </p:spPr>
      </p:sp>
      <p:sp>
        <p:nvSpPr>
          <p:cNvPr id="25" name="Text 23"/>
          <p:cNvSpPr txBox="1"/>
          <p:nvPr/>
        </p:nvSpPr>
        <p:spPr>
          <a:xfrm>
            <a:off x="9363456" y="3950208"/>
            <a:ext cx="119969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MECHANICS</a:t>
            </a:r>
            <a:endParaRPr lang="en-US" sz="1000" dirty="0"/>
          </a:p>
        </p:txBody>
      </p:sp>
      <p:sp>
        <p:nvSpPr>
          <p:cNvPr id="26" name="Shape 24"/>
          <p:cNvSpPr/>
          <p:nvPr/>
        </p:nvSpPr>
        <p:spPr>
          <a:xfrm>
            <a:off x="7498080" y="4425696"/>
            <a:ext cx="1002182" cy="365760"/>
          </a:xfrm>
          <a:prstGeom prst="roundRect">
            <a:avLst>
              <a:gd name="adj" fmla="val 50000"/>
            </a:avLst>
          </a:prstGeom>
          <a:solidFill>
            <a:srgbClr val="1B2430"/>
          </a:solidFill>
          <a:ln/>
        </p:spPr>
      </p:sp>
      <p:sp>
        <p:nvSpPr>
          <p:cNvPr id="27" name="Text 25"/>
          <p:cNvSpPr txBox="1"/>
          <p:nvPr/>
        </p:nvSpPr>
        <p:spPr>
          <a:xfrm>
            <a:off x="7498080" y="4425696"/>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BLADDER</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35 / 38   ·   52:30 – 53:15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Established benefit and unresolved questions</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MASTER22  ·  TC20  ·  TC23  ·  PREP24  ·  CCSAFETY  ·  DEVICE26  ·  UROACTIVE26</a:t>
            </a:r>
            <a:endParaRPr lang="en-US" sz="800" dirty="0"/>
          </a:p>
        </p:txBody>
      </p:sp>
      <p:sp>
        <p:nvSpPr>
          <p:cNvPr id="6" name="Text 4"/>
          <p:cNvSpPr txBox="1"/>
          <p:nvPr/>
        </p:nvSpPr>
        <p:spPr>
          <a:xfrm>
            <a:off x="640080" y="5669280"/>
            <a:ext cx="10911535" cy="566928"/>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reviews and early electronic-AUS data add options, while comparative and long-term evidence remains limited.</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Supported or plausible</a:t>
            </a:r>
            <a:endParaRPr lang="en-US" sz="1500" dirty="0"/>
          </a:p>
        </p:txBody>
      </p:sp>
      <p:sp>
        <p:nvSpPr>
          <p:cNvPr id="9" name="Shape 7"/>
          <p:cNvSpPr/>
          <p:nvPr/>
        </p:nvSpPr>
        <p:spPr>
          <a:xfrm>
            <a:off x="960120" y="2734056"/>
            <a:ext cx="100584" cy="100584"/>
          </a:xfrm>
          <a:prstGeom prst="ellipse">
            <a:avLst/>
          </a:prstGeom>
          <a:solidFill>
            <a:srgbClr val="0F7F86"/>
          </a:solidFill>
          <a:ln/>
        </p:spPr>
      </p:sp>
      <p:sp>
        <p:nvSpPr>
          <p:cNvPr id="10" name="Text 8"/>
          <p:cNvSpPr txBox="1"/>
          <p:nvPr/>
        </p:nvSpPr>
        <p:spPr>
          <a:xfrm>
            <a:off x="1207008"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Selected patients gain substantial continence benefit</a:t>
            </a:r>
            <a:endParaRPr lang="en-US" sz="1550" dirty="0"/>
          </a:p>
        </p:txBody>
      </p:sp>
      <p:sp>
        <p:nvSpPr>
          <p:cNvPr id="11" name="Shape 9"/>
          <p:cNvSpPr/>
          <p:nvPr/>
        </p:nvSpPr>
        <p:spPr>
          <a:xfrm>
            <a:off x="960120" y="3557016"/>
            <a:ext cx="100584" cy="100584"/>
          </a:xfrm>
          <a:prstGeom prst="ellipse">
            <a:avLst/>
          </a:prstGeom>
          <a:solidFill>
            <a:srgbClr val="0F7F86"/>
          </a:solidFill>
          <a:ln/>
        </p:spPr>
      </p:sp>
      <p:sp>
        <p:nvSpPr>
          <p:cNvPr id="12" name="Text 10"/>
          <p:cNvSpPr txBox="1"/>
          <p:nvPr/>
        </p:nvSpPr>
        <p:spPr>
          <a:xfrm>
            <a:off x="1207008"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Tissue preservation and contamination control have strong rationale</a:t>
            </a:r>
            <a:endParaRPr lang="en-US" sz="1550" dirty="0"/>
          </a:p>
        </p:txBody>
      </p:sp>
      <p:sp>
        <p:nvSpPr>
          <p:cNvPr id="13" name="Shape 11"/>
          <p:cNvSpPr/>
          <p:nvPr/>
        </p:nvSpPr>
        <p:spPr>
          <a:xfrm>
            <a:off x="960120" y="4379976"/>
            <a:ext cx="100584" cy="100584"/>
          </a:xfrm>
          <a:prstGeom prst="ellipse">
            <a:avLst/>
          </a:prstGeom>
          <a:solidFill>
            <a:srgbClr val="0F7F86"/>
          </a:solidFill>
          <a:ln/>
        </p:spPr>
      </p:sp>
      <p:sp>
        <p:nvSpPr>
          <p:cNvPr id="14" name="Text 12"/>
          <p:cNvSpPr txBox="1"/>
          <p:nvPr/>
        </p:nvSpPr>
        <p:spPr>
          <a:xfrm>
            <a:off x="1207008"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Future access belongs in the operative plan</a:t>
            </a:r>
            <a:endParaRPr lang="en-US" sz="15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Still uncertain</a:t>
            </a:r>
            <a:endParaRPr lang="en-US" sz="1500" dirty="0"/>
          </a:p>
        </p:txBody>
      </p:sp>
      <p:sp>
        <p:nvSpPr>
          <p:cNvPr id="17" name="Shape 15"/>
          <p:cNvSpPr/>
          <p:nvPr/>
        </p:nvSpPr>
        <p:spPr>
          <a:xfrm>
            <a:off x="6575908" y="2734056"/>
            <a:ext cx="100584" cy="100584"/>
          </a:xfrm>
          <a:prstGeom prst="ellipse">
            <a:avLst/>
          </a:prstGeom>
          <a:solidFill>
            <a:srgbClr val="3B5BA5"/>
          </a:solidFill>
          <a:ln/>
        </p:spPr>
      </p:sp>
      <p:sp>
        <p:nvSpPr>
          <p:cNvPr id="18" name="Text 16"/>
          <p:cNvSpPr txBox="1"/>
          <p:nvPr/>
        </p:nvSpPr>
        <p:spPr>
          <a:xfrm>
            <a:off x="6822796" y="265176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The best salvage strategy for a fragile urethra</a:t>
            </a:r>
            <a:endParaRPr lang="en-US" sz="1550" dirty="0"/>
          </a:p>
        </p:txBody>
      </p:sp>
      <p:sp>
        <p:nvSpPr>
          <p:cNvPr id="19" name="Shape 17"/>
          <p:cNvSpPr/>
          <p:nvPr/>
        </p:nvSpPr>
        <p:spPr>
          <a:xfrm>
            <a:off x="6575908" y="3557016"/>
            <a:ext cx="100584" cy="100584"/>
          </a:xfrm>
          <a:prstGeom prst="ellipse">
            <a:avLst/>
          </a:prstGeom>
          <a:solidFill>
            <a:srgbClr val="3B5BA5"/>
          </a:solidFill>
          <a:ln/>
        </p:spPr>
      </p:sp>
      <p:sp>
        <p:nvSpPr>
          <p:cNvPr id="20" name="Text 18"/>
          <p:cNvSpPr txBox="1"/>
          <p:nvPr/>
        </p:nvSpPr>
        <p:spPr>
          <a:xfrm>
            <a:off x="6822796" y="347472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Optimal irrigants and preparation duration</a:t>
            </a:r>
            <a:endParaRPr lang="en-US" sz="1550" dirty="0"/>
          </a:p>
        </p:txBody>
      </p:sp>
      <p:sp>
        <p:nvSpPr>
          <p:cNvPr id="21" name="Shape 19"/>
          <p:cNvSpPr/>
          <p:nvPr/>
        </p:nvSpPr>
        <p:spPr>
          <a:xfrm>
            <a:off x="6575908" y="4379976"/>
            <a:ext cx="100584" cy="100584"/>
          </a:xfrm>
          <a:prstGeom prst="ellipse">
            <a:avLst/>
          </a:prstGeom>
          <a:solidFill>
            <a:srgbClr val="3B5BA5"/>
          </a:solidFill>
          <a:ln/>
        </p:spPr>
      </p:sp>
      <p:sp>
        <p:nvSpPr>
          <p:cNvPr id="22" name="Text 20"/>
          <p:cNvSpPr txBox="1"/>
          <p:nvPr/>
        </p:nvSpPr>
        <p:spPr>
          <a:xfrm>
            <a:off x="6822796" y="4297680"/>
            <a:ext cx="4408780" cy="77724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Comparable long-term ContiClassic outcomes</a:t>
            </a:r>
            <a:endParaRPr lang="en-US" sz="15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36 / 38   ·   53:15 – 54:00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before implantation</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DU23  ·  ICS16</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Demonstrated SUI and a meaningful patient goal</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Pump use, access and future capability</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Investigations resolving anatomy, storage and emptying</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DO, DU and poor compliance</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stable urethra and future access plan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37 / 38   ·   54:00 – 55:00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protecting the result</a:t>
            </a:r>
            <a:endParaRPr lang="en-US" sz="3000" dirty="0"/>
          </a:p>
        </p:txBody>
      </p:sp>
      <p:sp>
        <p:nvSpPr>
          <p:cNvPr id="5" name="Text 3"/>
          <p:cNvSpPr txBox="1"/>
          <p:nvPr/>
        </p:nvSpPr>
        <p:spPr>
          <a:xfrm>
            <a:off x="640080" y="6345936"/>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NICE  ·  AP23  ·  ATROPHY20  ·  BAUS25</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6</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Correct antisepsis and appropriate prophylaxis</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7</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Preserved tissue and undistorted measurement</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8</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Actual device protocol and explicit stop conditions</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9</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Verified deactivation, drainage and patient teaching</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10</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diagnosis before choosing revision</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38 / 38   ·   55:00 – 60:00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Discussion</a:t>
            </a:r>
            <a:endParaRPr lang="en-US" sz="3000" dirty="0"/>
          </a:p>
        </p:txBody>
      </p:sp>
      <p:sp>
        <p:nvSpPr>
          <p:cNvPr id="5" name="Shape 3"/>
          <p:cNvSpPr/>
          <p:nvPr/>
        </p:nvSpPr>
        <p:spPr>
          <a:xfrm>
            <a:off x="640080" y="1783080"/>
            <a:ext cx="1554480" cy="310896"/>
          </a:xfrm>
          <a:prstGeom prst="roundRect">
            <a:avLst>
              <a:gd name="adj" fmla="val 50000"/>
            </a:avLst>
          </a:prstGeom>
          <a:solidFill>
            <a:srgbClr val="3FB8BF"/>
          </a:solidFill>
          <a:ln/>
        </p:spPr>
      </p:sp>
      <p:sp>
        <p:nvSpPr>
          <p:cNvPr id="6" name="Text 4"/>
          <p:cNvSpPr txBox="1"/>
          <p:nvPr/>
        </p:nvSpPr>
        <p:spPr>
          <a:xfrm>
            <a:off x="640080" y="1783080"/>
            <a:ext cx="155448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FIVE MINUTES</a:t>
            </a:r>
            <a:endParaRPr lang="en-US" sz="900" dirty="0"/>
          </a:p>
        </p:txBody>
      </p:sp>
      <p:sp>
        <p:nvSpPr>
          <p:cNvPr id="7" name="Shape 5"/>
          <p:cNvSpPr/>
          <p:nvPr/>
        </p:nvSpPr>
        <p:spPr>
          <a:xfrm>
            <a:off x="640080" y="2487168"/>
            <a:ext cx="457200" cy="457200"/>
          </a:xfrm>
          <a:prstGeom prst="ellipse">
            <a:avLst/>
          </a:prstGeom>
          <a:solidFill>
            <a:srgbClr val="3FB8BF"/>
          </a:solidFill>
          <a:ln/>
        </p:spPr>
      </p:sp>
      <p:sp>
        <p:nvSpPr>
          <p:cNvPr id="8" name="Text 6"/>
          <p:cNvSpPr txBox="1"/>
          <p:nvPr/>
        </p:nvSpPr>
        <p:spPr>
          <a:xfrm>
            <a:off x="640080" y="248716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1</a:t>
            </a:r>
            <a:endParaRPr lang="en-US" sz="1400" dirty="0"/>
          </a:p>
        </p:txBody>
      </p:sp>
      <p:sp>
        <p:nvSpPr>
          <p:cNvPr id="9" name="Text 7"/>
          <p:cNvSpPr txBox="1"/>
          <p:nvPr/>
        </p:nvSpPr>
        <p:spPr>
          <a:xfrm>
            <a:off x="1371600" y="237744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bladder finding makes you defer an implant?</a:t>
            </a:r>
            <a:endParaRPr lang="en-US" sz="2400" dirty="0"/>
          </a:p>
        </p:txBody>
      </p:sp>
      <p:sp>
        <p:nvSpPr>
          <p:cNvPr id="10" name="Shape 8"/>
          <p:cNvSpPr/>
          <p:nvPr/>
        </p:nvSpPr>
        <p:spPr>
          <a:xfrm>
            <a:off x="640080" y="3447288"/>
            <a:ext cx="457200" cy="457200"/>
          </a:xfrm>
          <a:prstGeom prst="ellipse">
            <a:avLst/>
          </a:prstGeom>
          <a:solidFill>
            <a:srgbClr val="3FB8BF"/>
          </a:solidFill>
          <a:ln/>
        </p:spPr>
      </p:sp>
      <p:sp>
        <p:nvSpPr>
          <p:cNvPr id="11" name="Text 9"/>
          <p:cNvSpPr txBox="1"/>
          <p:nvPr/>
        </p:nvSpPr>
        <p:spPr>
          <a:xfrm>
            <a:off x="640080" y="344728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2</a:t>
            </a:r>
            <a:endParaRPr lang="en-US" sz="1400" dirty="0"/>
          </a:p>
        </p:txBody>
      </p:sp>
      <p:sp>
        <p:nvSpPr>
          <p:cNvPr id="12" name="Text 10"/>
          <p:cNvSpPr txBox="1"/>
          <p:nvPr/>
        </p:nvSpPr>
        <p:spPr>
          <a:xfrm>
            <a:off x="1371600" y="333756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What establishes urethral stability in your practice?</a:t>
            </a:r>
            <a:endParaRPr lang="en-US" sz="2400" dirty="0"/>
          </a:p>
        </p:txBody>
      </p:sp>
      <p:sp>
        <p:nvSpPr>
          <p:cNvPr id="13" name="Shape 11"/>
          <p:cNvSpPr/>
          <p:nvPr/>
        </p:nvSpPr>
        <p:spPr>
          <a:xfrm>
            <a:off x="640080" y="4407408"/>
            <a:ext cx="457200" cy="457200"/>
          </a:xfrm>
          <a:prstGeom prst="ellipse">
            <a:avLst/>
          </a:prstGeom>
          <a:solidFill>
            <a:srgbClr val="3FB8BF"/>
          </a:solidFill>
          <a:ln/>
        </p:spPr>
      </p:sp>
      <p:sp>
        <p:nvSpPr>
          <p:cNvPr id="14" name="Text 12"/>
          <p:cNvSpPr txBox="1"/>
          <p:nvPr/>
        </p:nvSpPr>
        <p:spPr>
          <a:xfrm>
            <a:off x="640080" y="440740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3</a:t>
            </a:r>
            <a:endParaRPr lang="en-US" sz="1400" dirty="0"/>
          </a:p>
        </p:txBody>
      </p:sp>
      <p:sp>
        <p:nvSpPr>
          <p:cNvPr id="15" name="Text 13"/>
          <p:cNvSpPr txBox="1"/>
          <p:nvPr/>
        </p:nvSpPr>
        <p:spPr>
          <a:xfrm>
            <a:off x="1371600" y="429768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preparation or salvage practice needs a trial?</a:t>
            </a:r>
            <a:endParaRPr lang="en-US" sz="2400" dirty="0"/>
          </a:p>
        </p:txBody>
      </p:sp>
      <p:sp>
        <p:nvSpPr>
          <p:cNvPr id="16" name="Text 14"/>
          <p:cNvSpPr txBox="1"/>
          <p:nvPr/>
        </p:nvSpPr>
        <p:spPr>
          <a:xfrm>
            <a:off x="640080" y="5486400"/>
            <a:ext cx="10911535" cy="457200"/>
          </a:xfrm>
          <a:prstGeom prst="rect">
            <a:avLst/>
          </a:prstGeom>
          <a:noFill/>
          <a:ln/>
        </p:spPr>
        <p:txBody>
          <a:bodyPr wrap="square" lIns="0" tIns="0" rIns="0" bIns="0" rtlCol="0" anchor="t"/>
          <a:lstStyle/>
          <a:p>
            <a:pPr algn="l" indent="0" marL="0">
              <a:buNone/>
            </a:pPr>
            <a:r>
              <a:rPr lang="en-US" sz="1600" i="1" dirty="0">
                <a:solidFill>
                  <a:srgbClr val="3FB8BF"/>
                </a:solidFill>
                <a:latin typeface="Segoe UI" pitchFamily="34" charset="0"/>
                <a:ea typeface="Segoe UI" pitchFamily="34" charset="-122"/>
                <a:cs typeface="Segoe UI" pitchFamily="34" charset="-120"/>
              </a:rPr>
              <a:t>Which finding would change your plan?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Outcome evidence: device and endpoint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 and population</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Endpoint and result</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AUSCO 2026: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115 primary implants, 25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12 months after activation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91/97 ≥50% pad-weight reduction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61/101 zero pads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Prospective single-arm, funded by manufacturer. Missing data, one year, expert centres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Linder 2015: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1,082 primary implants, 27%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Freedom from any secondary surgery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KM 74% at five years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57% at ten years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Historical specialist cohort. Continence and revision-free survival differ</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Wilson 2024: ContiClassic</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116 recipients,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Eight revisions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12-month KM device survival 93.2%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Early safety series. No standardised continence comparator;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Comparative and preparation evidence</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Finding</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MASTER 2022 /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Same 380 randomised men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24-month non-inferiority retained</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Further surgery: sling 11%, AUS 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Selected trial population. Secondary outcomes favour AUS; not general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Yeung 2013</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100 initial GU prosthetic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Post-preparation skin culture positivity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8% versus 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Surrogate outcome. Mixed devices. No AUS infection or duration conclusion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Gentamicin withdrawal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173 uncoated AMS 800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90-day SSI: 1/59 versus 2/114</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No significant difference detected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Sparse events, era confounding, broad systemic prophylaxis; not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gaps</a:t>
            </a:r>
            <a:endParaRPr lang="en-US" sz="3000" dirty="0"/>
          </a:p>
        </p:txBody>
      </p:sp>
      <p:sp>
        <p:nvSpPr>
          <p:cNvPr id="4" name="Shape 2"/>
          <p:cNvSpPr/>
          <p:nvPr/>
        </p:nvSpPr>
        <p:spPr>
          <a:xfrm>
            <a:off x="640080" y="1783080"/>
            <a:ext cx="5341468" cy="914400"/>
          </a:xfrm>
          <a:prstGeom prst="roundRect">
            <a:avLst>
              <a:gd name="adj" fmla="val 14000"/>
            </a:avLst>
          </a:prstGeom>
          <a:solidFill>
            <a:srgbClr val="F3F4F6"/>
          </a:solidFill>
          <a:ln/>
        </p:spPr>
      </p:sp>
      <p:sp>
        <p:nvSpPr>
          <p:cNvPr id="5" name="Shape 3"/>
          <p:cNvSpPr/>
          <p:nvPr/>
        </p:nvSpPr>
        <p:spPr>
          <a:xfrm>
            <a:off x="914400" y="2048256"/>
            <a:ext cx="384048" cy="384048"/>
          </a:xfrm>
          <a:prstGeom prst="ellipse">
            <a:avLst/>
          </a:prstGeom>
          <a:solidFill>
            <a:srgbClr val="0F7F86"/>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7" name="Text 5"/>
          <p:cNvSpPr txBox="1"/>
          <p:nvPr/>
        </p:nvSpPr>
        <p:spPr>
          <a:xfrm>
            <a:off x="1463040"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Routine versus selective UDS and meaningful outcomes</a:t>
            </a:r>
            <a:endParaRPr lang="en-US" sz="1400" dirty="0"/>
          </a:p>
        </p:txBody>
      </p:sp>
      <p:sp>
        <p:nvSpPr>
          <p:cNvPr id="8" name="Shape 6"/>
          <p:cNvSpPr/>
          <p:nvPr/>
        </p:nvSpPr>
        <p:spPr>
          <a:xfrm>
            <a:off x="6210148" y="1783080"/>
            <a:ext cx="5341468" cy="914400"/>
          </a:xfrm>
          <a:prstGeom prst="roundRect">
            <a:avLst>
              <a:gd name="adj" fmla="val 14000"/>
            </a:avLst>
          </a:prstGeom>
          <a:solidFill>
            <a:srgbClr val="F3F4F6"/>
          </a:solidFill>
          <a:ln/>
        </p:spPr>
      </p:sp>
      <p:sp>
        <p:nvSpPr>
          <p:cNvPr id="9" name="Shape 7"/>
          <p:cNvSpPr/>
          <p:nvPr/>
        </p:nvSpPr>
        <p:spPr>
          <a:xfrm>
            <a:off x="6484468" y="2048256"/>
            <a:ext cx="384048" cy="384048"/>
          </a:xfrm>
          <a:prstGeom prst="ellipse">
            <a:avLst/>
          </a:prstGeom>
          <a:solidFill>
            <a:srgbClr val="0F7F86"/>
          </a:solidFill>
          <a:ln/>
        </p:spPr>
      </p:sp>
      <p:sp>
        <p:nvSpPr>
          <p:cNvPr id="10" name="Text 8"/>
          <p:cNvSpPr txBox="1"/>
          <p:nvPr/>
        </p:nvSpPr>
        <p:spPr>
          <a:xfrm>
            <a:off x="6484468"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7033108"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Functional eligibility in DU or chronic retention</a:t>
            </a:r>
            <a:endParaRPr lang="en-US" sz="1400" dirty="0"/>
          </a:p>
        </p:txBody>
      </p:sp>
      <p:sp>
        <p:nvSpPr>
          <p:cNvPr id="12" name="Shape 10"/>
          <p:cNvSpPr/>
          <p:nvPr/>
        </p:nvSpPr>
        <p:spPr>
          <a:xfrm>
            <a:off x="640080" y="2926080"/>
            <a:ext cx="5341468" cy="914400"/>
          </a:xfrm>
          <a:prstGeom prst="roundRect">
            <a:avLst>
              <a:gd name="adj" fmla="val 14000"/>
            </a:avLst>
          </a:prstGeom>
          <a:solidFill>
            <a:srgbClr val="F3F4F6"/>
          </a:solidFill>
          <a:ln/>
        </p:spPr>
      </p:sp>
      <p:sp>
        <p:nvSpPr>
          <p:cNvPr id="13" name="Shape 11"/>
          <p:cNvSpPr/>
          <p:nvPr/>
        </p:nvSpPr>
        <p:spPr>
          <a:xfrm>
            <a:off x="914400" y="3191256"/>
            <a:ext cx="384048" cy="384048"/>
          </a:xfrm>
          <a:prstGeom prst="ellipse">
            <a:avLst/>
          </a:prstGeom>
          <a:solidFill>
            <a:srgbClr val="0F7F86"/>
          </a:solidFill>
          <a:ln/>
        </p:spPr>
      </p:sp>
      <p:sp>
        <p:nvSpPr>
          <p:cNvPr id="14" name="Text 12"/>
          <p:cNvSpPr txBox="1"/>
          <p:nvPr/>
        </p:nvSpPr>
        <p:spPr>
          <a:xfrm>
            <a:off x="914400"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5" name="Text 13"/>
          <p:cNvSpPr txBox="1"/>
          <p:nvPr/>
        </p:nvSpPr>
        <p:spPr>
          <a:xfrm>
            <a:off x="1463040"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Staging intervals after different reconstructions</a:t>
            </a:r>
            <a:endParaRPr lang="en-US" sz="1400" dirty="0"/>
          </a:p>
        </p:txBody>
      </p:sp>
      <p:sp>
        <p:nvSpPr>
          <p:cNvPr id="16" name="Shape 14"/>
          <p:cNvSpPr/>
          <p:nvPr/>
        </p:nvSpPr>
        <p:spPr>
          <a:xfrm>
            <a:off x="6210148" y="2926080"/>
            <a:ext cx="5341468" cy="914400"/>
          </a:xfrm>
          <a:prstGeom prst="roundRect">
            <a:avLst>
              <a:gd name="adj" fmla="val 14000"/>
            </a:avLst>
          </a:prstGeom>
          <a:solidFill>
            <a:srgbClr val="F3F4F6"/>
          </a:solidFill>
          <a:ln/>
        </p:spPr>
      </p:sp>
      <p:sp>
        <p:nvSpPr>
          <p:cNvPr id="17" name="Shape 15"/>
          <p:cNvSpPr/>
          <p:nvPr/>
        </p:nvSpPr>
        <p:spPr>
          <a:xfrm>
            <a:off x="6484468" y="3191256"/>
            <a:ext cx="384048" cy="384048"/>
          </a:xfrm>
          <a:prstGeom prst="ellipse">
            <a:avLst/>
          </a:prstGeom>
          <a:solidFill>
            <a:srgbClr val="0F7F86"/>
          </a:solidFill>
          <a:ln/>
        </p:spPr>
      </p:sp>
      <p:sp>
        <p:nvSpPr>
          <p:cNvPr id="18" name="Text 16"/>
          <p:cNvSpPr txBox="1"/>
          <p:nvPr/>
        </p:nvSpPr>
        <p:spPr>
          <a:xfrm>
            <a:off x="6484468"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9" name="Text 17"/>
          <p:cNvSpPr txBox="1"/>
          <p:nvPr/>
        </p:nvSpPr>
        <p:spPr>
          <a:xfrm>
            <a:off x="7033108"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Comparative protection from salvage strategies</a:t>
            </a:r>
            <a:endParaRPr lang="en-US" sz="1400" dirty="0"/>
          </a:p>
        </p:txBody>
      </p:sp>
      <p:sp>
        <p:nvSpPr>
          <p:cNvPr id="20" name="Shape 18"/>
          <p:cNvSpPr/>
          <p:nvPr/>
        </p:nvSpPr>
        <p:spPr>
          <a:xfrm>
            <a:off x="640080" y="4069080"/>
            <a:ext cx="5341468" cy="914400"/>
          </a:xfrm>
          <a:prstGeom prst="roundRect">
            <a:avLst>
              <a:gd name="adj" fmla="val 14000"/>
            </a:avLst>
          </a:prstGeom>
          <a:solidFill>
            <a:srgbClr val="F3F4F6"/>
          </a:solidFill>
          <a:ln/>
        </p:spPr>
      </p:sp>
      <p:sp>
        <p:nvSpPr>
          <p:cNvPr id="21" name="Shape 19"/>
          <p:cNvSpPr/>
          <p:nvPr/>
        </p:nvSpPr>
        <p:spPr>
          <a:xfrm>
            <a:off x="914400" y="4334256"/>
            <a:ext cx="384048" cy="384048"/>
          </a:xfrm>
          <a:prstGeom prst="ellipse">
            <a:avLst/>
          </a:prstGeom>
          <a:solidFill>
            <a:srgbClr val="0F7F86"/>
          </a:solidFill>
          <a:ln/>
        </p:spPr>
      </p:sp>
      <p:sp>
        <p:nvSpPr>
          <p:cNvPr id="22" name="Text 20"/>
          <p:cNvSpPr txBox="1"/>
          <p:nvPr/>
        </p:nvSpPr>
        <p:spPr>
          <a:xfrm>
            <a:off x="914400"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3" name="Text 21"/>
          <p:cNvSpPr txBox="1"/>
          <p:nvPr/>
        </p:nvSpPr>
        <p:spPr>
          <a:xfrm>
            <a:off x="1463040"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Preparation, irrigation and prolonged prophylaxis</a:t>
            </a:r>
            <a:endParaRPr lang="en-US" sz="1400" dirty="0"/>
          </a:p>
        </p:txBody>
      </p:sp>
      <p:sp>
        <p:nvSpPr>
          <p:cNvPr id="24" name="Shape 22"/>
          <p:cNvSpPr/>
          <p:nvPr/>
        </p:nvSpPr>
        <p:spPr>
          <a:xfrm>
            <a:off x="6210148" y="4069080"/>
            <a:ext cx="5341468" cy="914400"/>
          </a:xfrm>
          <a:prstGeom prst="roundRect">
            <a:avLst>
              <a:gd name="adj" fmla="val 14000"/>
            </a:avLst>
          </a:prstGeom>
          <a:solidFill>
            <a:srgbClr val="F3F4F6"/>
          </a:solidFill>
          <a:ln/>
        </p:spPr>
      </p:sp>
      <p:sp>
        <p:nvSpPr>
          <p:cNvPr id="25" name="Shape 23"/>
          <p:cNvSpPr/>
          <p:nvPr/>
        </p:nvSpPr>
        <p:spPr>
          <a:xfrm>
            <a:off x="6484468" y="4334256"/>
            <a:ext cx="384048" cy="384048"/>
          </a:xfrm>
          <a:prstGeom prst="ellipse">
            <a:avLst/>
          </a:prstGeom>
          <a:solidFill>
            <a:srgbClr val="0F7F86"/>
          </a:solidFill>
          <a:ln/>
        </p:spPr>
      </p:sp>
      <p:sp>
        <p:nvSpPr>
          <p:cNvPr id="26" name="Text 24"/>
          <p:cNvSpPr txBox="1"/>
          <p:nvPr/>
        </p:nvSpPr>
        <p:spPr>
          <a:xfrm>
            <a:off x="6484468"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7" name="Text 25"/>
          <p:cNvSpPr txBox="1"/>
          <p:nvPr/>
        </p:nvSpPr>
        <p:spPr>
          <a:xfrm>
            <a:off x="7033108"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Independent long-term ContiClassic outcomes</a:t>
            </a:r>
            <a:endParaRPr lang="en-US" sz="1400" dirty="0"/>
          </a:p>
        </p:txBody>
      </p:sp>
      <p:sp>
        <p:nvSpPr>
          <p:cNvPr id="28" name="Shape 26"/>
          <p:cNvSpPr/>
          <p:nvPr/>
        </p:nvSpPr>
        <p:spPr>
          <a:xfrm>
            <a:off x="640080" y="5212080"/>
            <a:ext cx="5341468" cy="914400"/>
          </a:xfrm>
          <a:prstGeom prst="roundRect">
            <a:avLst>
              <a:gd name="adj" fmla="val 14000"/>
            </a:avLst>
          </a:prstGeom>
          <a:solidFill>
            <a:srgbClr val="F3F4F6"/>
          </a:solidFill>
          <a:ln/>
        </p:spPr>
      </p:sp>
      <p:sp>
        <p:nvSpPr>
          <p:cNvPr id="29" name="Shape 27"/>
          <p:cNvSpPr/>
          <p:nvPr/>
        </p:nvSpPr>
        <p:spPr>
          <a:xfrm>
            <a:off x="914400" y="5477256"/>
            <a:ext cx="384048" cy="384048"/>
          </a:xfrm>
          <a:prstGeom prst="ellipse">
            <a:avLst/>
          </a:prstGeom>
          <a:solidFill>
            <a:srgbClr val="0F7F86"/>
          </a:solidFill>
          <a:ln/>
        </p:spPr>
      </p:sp>
      <p:sp>
        <p:nvSpPr>
          <p:cNvPr id="30" name="Text 28"/>
          <p:cNvSpPr txBox="1"/>
          <p:nvPr/>
        </p:nvSpPr>
        <p:spPr>
          <a:xfrm>
            <a:off x="914400" y="5477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1" name="Text 29"/>
          <p:cNvSpPr txBox="1"/>
          <p:nvPr/>
        </p:nvSpPr>
        <p:spPr>
          <a:xfrm>
            <a:off x="1463040" y="5349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Mechanisms and revision strategy in late leakage</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1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BAUS25</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BAUS consensus, BJU Int 2025</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EAU male LUTS guidelines,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AUA24</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AUA/GURS/SUFU IPT amendment, 2024</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EAUSTR26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EAU urethral strictures guidelines,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ICS16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ICS AUS consensus, NUU 2016</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AP23</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Asia-Pacific AMS 800 consensus, 2023</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CCIFU</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Rigicon ContiClassic IFU, REV.03, 2023</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ICSUDS17</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ICS good urodynamic practices, 2017</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AUAOAB24</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AUA/SUFU idiopathic OAB guideline, 2024</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NICE</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NICE NG125: surgical site infection</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WHO09</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WHO hand hygiene guidance, 2009</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CHLORA26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ChloraPrep UK product information,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IDSA19</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IDSA asymptomatic bacteriuria, 2019</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AUAABX20</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AUA antimicrobial prophylaxis, 2020</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CCSAFETY</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Wilson: ContiClassic safety, IJIR 2024</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MASTER22</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MASTER randomised trial, HTA 2022</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UDS09</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Lai: pre-AUS urodynamics, Urology 2009</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OAB11</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Lai: OAB and post-prostatectomy AUS, 2011</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DO24</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Bhatt: preoperative DO systematic review, 2024</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DOFAIL23</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Krughoff: earlier AUS failure, 2023</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2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DU23</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 AUS with detrusor underactivity, 2023</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CIC23</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Krughoff: CIC after bulbar AUS, 2023</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CATH13</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Seideman: prolonged catheterisation, 2013</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UDS14</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Weissbart: absent leak during UDS, 2014</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RT22</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Zhang: radiation meta-analysis, 2022</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Davis: AUS after urethroplasty,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TC20</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Redmond: transcorporal fragile urethra, 2020</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TC23</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Kurtzman: high-risk transcorporal AUS, 2023</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ATROPHY20</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Bergeson: urethral atrophy and revision, 2020</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PREP24</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Bourgi: AUS preparation protocols, 2024</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YEUNG13</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Yeung: GU skin preparation RCT, 2013</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ABX18</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Adamsky: postoperative antibiotics, 2018</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TOUCH23</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Ziegelmann: minimal-touch AUS, 2023</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LINDER15</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Linder: long-term AMS 800 outcomes, 2015</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AUSCO26</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Kaufman: AMS 800 AUSCO study, 2026</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AUASTATUS26</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AUA current guideline register, July 2026</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BAUSDAY26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BAUS 2026 P4-8: day-case AUS audit</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BAUSSCI26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BAUS 2026 P12-7: bulbar AUS in SCI</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AUAUDS26</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AUA 2026 IP09-22: pre-AUS UDS and cystoscopy</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AUAABX26</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AUA 2026 IP09-18: postoperative antibiotics</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3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AUASAFER26</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AUA 2026 IP09-17: SAFER erosion management</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MASTER: 24-month RCT results,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URETHMETA26</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Prior urethroplasty: meta-analysis, 2026</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IRRIG26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Gentamicin withdrawal: AMS 800 cohort,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DAYMETA26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Day-case AUS meta-analysis: 2026 issue</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DAYCASE26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Day-case versus inpatient AUS: 177 men,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FRAIL26</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Frailty and SUI surgery: Medicare cohort, 2026</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PAD26</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Pad count versus 24-hour weight: 2026</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PRBFAT26</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PRB material fatigue: 2026 issue</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REGRET26</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Long-term decisional regret after AUS, 2026 issue</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INSTR26</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AUS instrumentation knowledge survey, 2026</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EROSION26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Immediate urethral repair at explantation,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DEVICE26</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Emerging AUS devices review, 2026</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SECOND26</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Second AUS survival: national French cohort, 2026</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TCSYS25</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Transcorporal systematic review, online 2025</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RTTIME25</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Radiation and cuff-removal timing cohort, 2025</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UROACTIVE26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Electronic AUS: first-in-human study, 2026</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REPORT26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Standardised complication reporting: 2026</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urinary sphincter surgery</dc:title>
  <dc:subject>Patient selection, difficult bladders and difficult urethras</dc:subject>
  <dc:creator>Mr Andrew Baird, Mr Abu Yousif, Nity G</dc:creator>
  <cp:lastModifiedBy>Mr Andrew Baird, Mr Abu Yousif, Nity G</cp:lastModifiedBy>
  <cp:revision>1</cp:revision>
  <dcterms:created xsi:type="dcterms:W3CDTF">2026-10-19T22:27:30Z</dcterms:created>
  <dcterms:modified xsi:type="dcterms:W3CDTF">2026-10-19T22:27:30Z</dcterms:modified>
</cp:coreProperties>
</file>