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3.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845ee1a5da64305" /><Relationship Type="http://schemas.openxmlformats.org/officeDocument/2006/relationships/extended-properties" Target="/docProps/app.xml" Id="R364ffee75dc949b7" /><Relationship Type="http://schemas.openxmlformats.org/officeDocument/2006/relationships/officeDocument" Target="/ppt/presentation.xml" Id="R1eadd3d7a0a44597" /></Relationships>
</file>

<file path=ppt/presentation.xml><?xml version="1.0" encoding="utf-8"?>
<p:presentation xmlns:p="http://schemas.openxmlformats.org/presentationml/2006/main">
  <p:sldMasterIdLst>
    <p:sldMasterId xmlns:r="http://schemas.openxmlformats.org/officeDocument/2006/relationships" id="2147483648" r:id="R42627a6d9d1146fe"/>
  </p:sldMasterIdLst>
  <p:notesMasterIdLst>
    <p:notesMasterId xmlns:r="http://schemas.openxmlformats.org/officeDocument/2006/relationships" r:id="R92cc7657ae294e58"/>
  </p:notesMasterIdLst>
  <p:sldIdLst>
    <p:sldId xmlns:r="http://schemas.openxmlformats.org/officeDocument/2006/relationships" id="256" r:id="Rd644e41e675d44e8"/>
    <p:sldId xmlns:r="http://schemas.openxmlformats.org/officeDocument/2006/relationships" id="257" r:id="R649afd1b15914bc2"/>
    <p:sldId xmlns:r="http://schemas.openxmlformats.org/officeDocument/2006/relationships" id="258" r:id="R75791e38f5b241f0"/>
    <p:sldId xmlns:r="http://schemas.openxmlformats.org/officeDocument/2006/relationships" id="259" r:id="R56855948eb5a478c"/>
    <p:sldId xmlns:r="http://schemas.openxmlformats.org/officeDocument/2006/relationships" id="260" r:id="Raf4b429dd9134320"/>
    <p:sldId xmlns:r="http://schemas.openxmlformats.org/officeDocument/2006/relationships" id="261" r:id="R10f4850c2c964fcb"/>
    <p:sldId xmlns:r="http://schemas.openxmlformats.org/officeDocument/2006/relationships" id="262" r:id="Rc6d4dcb4bb224b90"/>
    <p:sldId xmlns:r="http://schemas.openxmlformats.org/officeDocument/2006/relationships" id="263" r:id="R1a2a0e588157445e"/>
    <p:sldId xmlns:r="http://schemas.openxmlformats.org/officeDocument/2006/relationships" id="264" r:id="R7747f257dcdf45f5"/>
    <p:sldId xmlns:r="http://schemas.openxmlformats.org/officeDocument/2006/relationships" id="265" r:id="Reaa87772e0fb434d"/>
    <p:sldId xmlns:r="http://schemas.openxmlformats.org/officeDocument/2006/relationships" id="266" r:id="Rd6b304fd16bb4f04"/>
    <p:sldId xmlns:r="http://schemas.openxmlformats.org/officeDocument/2006/relationships" id="267" r:id="Rd3199d0de73c42a7"/>
    <p:sldId xmlns:r="http://schemas.openxmlformats.org/officeDocument/2006/relationships" id="268" r:id="R89ada3f622a14d25"/>
    <p:sldId xmlns:r="http://schemas.openxmlformats.org/officeDocument/2006/relationships" id="269" r:id="R1e28ef1e02e44f2b"/>
    <p:sldId xmlns:r="http://schemas.openxmlformats.org/officeDocument/2006/relationships" id="270" r:id="R4050eadb92724b7b"/>
    <p:sldId xmlns:r="http://schemas.openxmlformats.org/officeDocument/2006/relationships" id="271" r:id="Rc11b413127c04849"/>
    <p:sldId xmlns:r="http://schemas.openxmlformats.org/officeDocument/2006/relationships" id="272" r:id="R66f1c53342ce463a"/>
    <p:sldId xmlns:r="http://schemas.openxmlformats.org/officeDocument/2006/relationships" id="273" r:id="R462df207d84f4303"/>
    <p:sldId xmlns:r="http://schemas.openxmlformats.org/officeDocument/2006/relationships" id="274" r:id="R828f09f61d2042f0"/>
    <p:sldId xmlns:r="http://schemas.openxmlformats.org/officeDocument/2006/relationships" id="275" r:id="R608256894d8f480d"/>
    <p:sldId xmlns:r="http://schemas.openxmlformats.org/officeDocument/2006/relationships" id="276" r:id="Rf7dcb751fb18493f"/>
    <p:sldId xmlns:r="http://schemas.openxmlformats.org/officeDocument/2006/relationships" id="277" r:id="R9fadb7796eb44b47"/>
    <p:sldId xmlns:r="http://schemas.openxmlformats.org/officeDocument/2006/relationships" id="278" r:id="R55fd1320d81d4229"/>
    <p:sldId xmlns:r="http://schemas.openxmlformats.org/officeDocument/2006/relationships" id="279" r:id="Raefadfa8a0a14d6f"/>
    <p:sldId xmlns:r="http://schemas.openxmlformats.org/officeDocument/2006/relationships" id="280" r:id="R5a2076d5d4ad4150"/>
    <p:sldId xmlns:r="http://schemas.openxmlformats.org/officeDocument/2006/relationships" id="281" r:id="R4ddedcd2e3c3461b"/>
    <p:sldId xmlns:r="http://schemas.openxmlformats.org/officeDocument/2006/relationships" id="282" r:id="R75883d4334e4478d"/>
    <p:sldId xmlns:r="http://schemas.openxmlformats.org/officeDocument/2006/relationships" id="283" r:id="Rc12ab2072c2046ca"/>
    <p:sldId xmlns:r="http://schemas.openxmlformats.org/officeDocument/2006/relationships" id="284" r:id="R073de3c24a894d34"/>
    <p:sldId xmlns:r="http://schemas.openxmlformats.org/officeDocument/2006/relationships" id="285" r:id="Ref671bc45c7643a5"/>
    <p:sldId xmlns:r="http://schemas.openxmlformats.org/officeDocument/2006/relationships" id="286" r:id="R2ab1b43026e34756"/>
    <p:sldId xmlns:r="http://schemas.openxmlformats.org/officeDocument/2006/relationships" id="287" r:id="R72b62e828ca943a5"/>
    <p:sldId xmlns:r="http://schemas.openxmlformats.org/officeDocument/2006/relationships" id="288" r:id="Rdb1ff71c6b4e4d9c"/>
    <p:sldId xmlns:r="http://schemas.openxmlformats.org/officeDocument/2006/relationships" id="289" r:id="R50e29b2cd68149f1"/>
    <p:sldId xmlns:r="http://schemas.openxmlformats.org/officeDocument/2006/relationships" id="290" r:id="Red9a8d7c8ae14e8c"/>
    <p:sldId xmlns:r="http://schemas.openxmlformats.org/officeDocument/2006/relationships" id="291" r:id="Rbb13c60e011f4291"/>
    <p:sldId xmlns:r="http://schemas.openxmlformats.org/officeDocument/2006/relationships" id="292" r:id="R66ecdf448d27486c"/>
    <p:sldId xmlns:r="http://schemas.openxmlformats.org/officeDocument/2006/relationships" id="293" r:id="R280426c464d44572"/>
    <p:sldId xmlns:r="http://schemas.openxmlformats.org/officeDocument/2006/relationships" id="294" r:id="Rd7583dbf1b1345ed"/>
    <p:sldId xmlns:r="http://schemas.openxmlformats.org/officeDocument/2006/relationships" id="295" r:id="R8d102f3f74164871"/>
    <p:sldId xmlns:r="http://schemas.openxmlformats.org/officeDocument/2006/relationships" id="296" r:id="Rc21fb31b62a745fd"/>
    <p:sldId xmlns:r="http://schemas.openxmlformats.org/officeDocument/2006/relationships" id="297" r:id="Re3b79e80d5d8444b"/>
    <p:sldId xmlns:r="http://schemas.openxmlformats.org/officeDocument/2006/relationships" id="298" r:id="R4ea3b165a8524c64"/>
    <p:sldId xmlns:r="http://schemas.openxmlformats.org/officeDocument/2006/relationships" id="299" r:id="Reef8fd1e794743e6"/>
    <p:sldId xmlns:r="http://schemas.openxmlformats.org/officeDocument/2006/relationships" id="300" r:id="R13ea518a846b4e8d"/>
    <p:sldId xmlns:r="http://schemas.openxmlformats.org/officeDocument/2006/relationships" id="301" r:id="R7dde0c737e584e4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1379cb9adb44128" /><Relationship Type="http://schemas.openxmlformats.org/officeDocument/2006/relationships/slideMaster" Target="/ppt/slideMasters/slideMaster1.xml" Id="R42627a6d9d1146fe" /><Relationship Type="http://schemas.openxmlformats.org/officeDocument/2006/relationships/notesMaster" Target="/ppt/notesMasters/notesMaster1.xml" Id="R92cc7657ae294e58" /><Relationship Type="http://schemas.openxmlformats.org/officeDocument/2006/relationships/presProps" Target="/ppt/presProps.xml" Id="R19337d75543a47f8" /><Relationship Type="http://schemas.openxmlformats.org/officeDocument/2006/relationships/tableStyles" Target="/ppt/tableStyles.xml" Id="R6707d798d2fe45af" /><Relationship Type="http://schemas.openxmlformats.org/officeDocument/2006/relationships/slide" Target="/ppt/slides/slide1.xml" Id="Rd644e41e675d44e8" /><Relationship Type="http://schemas.openxmlformats.org/officeDocument/2006/relationships/slide" Target="/ppt/slides/slide2.xml" Id="R649afd1b15914bc2" /><Relationship Type="http://schemas.openxmlformats.org/officeDocument/2006/relationships/slide" Target="/ppt/slides/slide3.xml" Id="R75791e38f5b241f0" /><Relationship Type="http://schemas.openxmlformats.org/officeDocument/2006/relationships/slide" Target="/ppt/slides/slide4.xml" Id="R56855948eb5a478c" /><Relationship Type="http://schemas.openxmlformats.org/officeDocument/2006/relationships/slide" Target="/ppt/slides/slide5.xml" Id="Raf4b429dd9134320" /><Relationship Type="http://schemas.openxmlformats.org/officeDocument/2006/relationships/slide" Target="/ppt/slides/slide6.xml" Id="R10f4850c2c964fcb" /><Relationship Type="http://schemas.openxmlformats.org/officeDocument/2006/relationships/slide" Target="/ppt/slides/slide7.xml" Id="Rc6d4dcb4bb224b90" /><Relationship Type="http://schemas.openxmlformats.org/officeDocument/2006/relationships/slide" Target="/ppt/slides/slide8.xml" Id="R1a2a0e588157445e" /><Relationship Type="http://schemas.openxmlformats.org/officeDocument/2006/relationships/slide" Target="/ppt/slides/slide9.xml" Id="R7747f257dcdf45f5" /><Relationship Type="http://schemas.openxmlformats.org/officeDocument/2006/relationships/slide" Target="/ppt/slides/slide10.xml" Id="Reaa87772e0fb434d" /><Relationship Type="http://schemas.openxmlformats.org/officeDocument/2006/relationships/slide" Target="/ppt/slides/slide11.xml" Id="Rd6b304fd16bb4f04" /><Relationship Type="http://schemas.openxmlformats.org/officeDocument/2006/relationships/slide" Target="/ppt/slides/slide12.xml" Id="Rd3199d0de73c42a7" /><Relationship Type="http://schemas.openxmlformats.org/officeDocument/2006/relationships/slide" Target="/ppt/slides/slide13.xml" Id="R89ada3f622a14d25" /><Relationship Type="http://schemas.openxmlformats.org/officeDocument/2006/relationships/slide" Target="/ppt/slides/slide14.xml" Id="R1e28ef1e02e44f2b" /><Relationship Type="http://schemas.openxmlformats.org/officeDocument/2006/relationships/slide" Target="/ppt/slides/slide15.xml" Id="R4050eadb92724b7b" /><Relationship Type="http://schemas.openxmlformats.org/officeDocument/2006/relationships/slide" Target="/ppt/slides/slide16.xml" Id="Rc11b413127c04849" /><Relationship Type="http://schemas.openxmlformats.org/officeDocument/2006/relationships/slide" Target="/ppt/slides/slide17.xml" Id="R66f1c53342ce463a" /><Relationship Type="http://schemas.openxmlformats.org/officeDocument/2006/relationships/slide" Target="/ppt/slides/slide18.xml" Id="R462df207d84f4303" /><Relationship Type="http://schemas.openxmlformats.org/officeDocument/2006/relationships/slide" Target="/ppt/slides/slide19.xml" Id="R828f09f61d2042f0" /><Relationship Type="http://schemas.openxmlformats.org/officeDocument/2006/relationships/slide" Target="/ppt/slides/slide20.xml" Id="R608256894d8f480d" /><Relationship Type="http://schemas.openxmlformats.org/officeDocument/2006/relationships/slide" Target="/ppt/slides/slide21.xml" Id="Rf7dcb751fb18493f" /><Relationship Type="http://schemas.openxmlformats.org/officeDocument/2006/relationships/slide" Target="/ppt/slides/slide22.xml" Id="R9fadb7796eb44b47" /><Relationship Type="http://schemas.openxmlformats.org/officeDocument/2006/relationships/slide" Target="/ppt/slides/slide23.xml" Id="R55fd1320d81d4229" /><Relationship Type="http://schemas.openxmlformats.org/officeDocument/2006/relationships/slide" Target="/ppt/slides/slide24.xml" Id="Raefadfa8a0a14d6f" /><Relationship Type="http://schemas.openxmlformats.org/officeDocument/2006/relationships/slide" Target="/ppt/slides/slide25.xml" Id="R5a2076d5d4ad4150" /><Relationship Type="http://schemas.openxmlformats.org/officeDocument/2006/relationships/slide" Target="/ppt/slides/slide26.xml" Id="R4ddedcd2e3c3461b" /><Relationship Type="http://schemas.openxmlformats.org/officeDocument/2006/relationships/slide" Target="/ppt/slides/slide27.xml" Id="R75883d4334e4478d" /><Relationship Type="http://schemas.openxmlformats.org/officeDocument/2006/relationships/slide" Target="/ppt/slides/slide28.xml" Id="Rc12ab2072c2046ca" /><Relationship Type="http://schemas.openxmlformats.org/officeDocument/2006/relationships/slide" Target="/ppt/slides/slide29.xml" Id="R073de3c24a894d34" /><Relationship Type="http://schemas.openxmlformats.org/officeDocument/2006/relationships/slide" Target="/ppt/slides/slide30.xml" Id="Ref671bc45c7643a5" /><Relationship Type="http://schemas.openxmlformats.org/officeDocument/2006/relationships/slide" Target="/ppt/slides/slide31.xml" Id="R2ab1b43026e34756" /><Relationship Type="http://schemas.openxmlformats.org/officeDocument/2006/relationships/slide" Target="/ppt/slides/slide32.xml" Id="R72b62e828ca943a5" /><Relationship Type="http://schemas.openxmlformats.org/officeDocument/2006/relationships/slide" Target="/ppt/slides/slide33.xml" Id="Rdb1ff71c6b4e4d9c" /><Relationship Type="http://schemas.openxmlformats.org/officeDocument/2006/relationships/slide" Target="/ppt/slides/slide34.xml" Id="R50e29b2cd68149f1" /><Relationship Type="http://schemas.openxmlformats.org/officeDocument/2006/relationships/slide" Target="/ppt/slides/slide35.xml" Id="Red9a8d7c8ae14e8c" /><Relationship Type="http://schemas.openxmlformats.org/officeDocument/2006/relationships/slide" Target="/ppt/slides/slide36.xml" Id="Rbb13c60e011f4291" /><Relationship Type="http://schemas.openxmlformats.org/officeDocument/2006/relationships/slide" Target="/ppt/slides/slide37.xml" Id="R66ecdf448d27486c" /><Relationship Type="http://schemas.openxmlformats.org/officeDocument/2006/relationships/slide" Target="/ppt/slides/slide38.xml" Id="R280426c464d44572" /><Relationship Type="http://schemas.openxmlformats.org/officeDocument/2006/relationships/slide" Target="/ppt/slides/slide39.xml" Id="Rd7583dbf1b1345ed" /><Relationship Type="http://schemas.openxmlformats.org/officeDocument/2006/relationships/slide" Target="/ppt/slides/slide40.xml" Id="R8d102f3f74164871" /><Relationship Type="http://schemas.openxmlformats.org/officeDocument/2006/relationships/slide" Target="/ppt/slides/slide41.xml" Id="Rc21fb31b62a745fd" /><Relationship Type="http://schemas.openxmlformats.org/officeDocument/2006/relationships/slide" Target="/ppt/slides/slide42.xml" Id="Re3b79e80d5d8444b" /><Relationship Type="http://schemas.openxmlformats.org/officeDocument/2006/relationships/slide" Target="/ppt/slides/slide43.xml" Id="R4ea3b165a8524c64" /><Relationship Type="http://schemas.openxmlformats.org/officeDocument/2006/relationships/slide" Target="/ppt/slides/slide44.xml" Id="Reef8fd1e794743e6" /><Relationship Type="http://schemas.openxmlformats.org/officeDocument/2006/relationships/slide" Target="/ppt/slides/slide45.xml" Id="R13ea518a846b4e8d" /><Relationship Type="http://schemas.openxmlformats.org/officeDocument/2006/relationships/slide" Target="/ppt/slides/slide46.xml" Id="R7dde0c737e584e4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97a33b3e4c4d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4922ef149084707" /><Relationship Type="http://schemas.openxmlformats.org/officeDocument/2006/relationships/notesMaster" Target="/ppt/notesMasters/notesMaster1.xml" Id="R0d0c65434f764e0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b6d7c16add4e7d" /><Relationship Type="http://schemas.openxmlformats.org/officeDocument/2006/relationships/notesMaster" Target="/ppt/notesMasters/notesMaster1.xml" Id="R9020d4a01edf4b1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7d72884d434c00" /><Relationship Type="http://schemas.openxmlformats.org/officeDocument/2006/relationships/notesMaster" Target="/ppt/notesMasters/notesMaster1.xml" Id="R60d1abd2c4ad4b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1fbd60c8794c9c" /><Relationship Type="http://schemas.openxmlformats.org/officeDocument/2006/relationships/notesMaster" Target="/ppt/notesMasters/notesMaster1.xml" Id="Ra0ee530ed3f044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03f63067b24afa" /><Relationship Type="http://schemas.openxmlformats.org/officeDocument/2006/relationships/notesMaster" Target="/ppt/notesMasters/notesMaster1.xml" Id="R164c462fef1a41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5ec59aa04a4c1a" /><Relationship Type="http://schemas.openxmlformats.org/officeDocument/2006/relationships/notesMaster" Target="/ppt/notesMasters/notesMaster1.xml" Id="R030c3a74ddd24e0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741a7a6e024794" /><Relationship Type="http://schemas.openxmlformats.org/officeDocument/2006/relationships/notesMaster" Target="/ppt/notesMasters/notesMaster1.xml" Id="Rd308701f2e5c40ef"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70324920f743d8" /><Relationship Type="http://schemas.openxmlformats.org/officeDocument/2006/relationships/notesMaster" Target="/ppt/notesMasters/notesMaster1.xml" Id="Rc384307488944f4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806e894ff4440e" /><Relationship Type="http://schemas.openxmlformats.org/officeDocument/2006/relationships/notesMaster" Target="/ppt/notesMasters/notesMaster1.xml" Id="R4ade5d2d2ddc48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0d6c74d7b741e5" /><Relationship Type="http://schemas.openxmlformats.org/officeDocument/2006/relationships/notesMaster" Target="/ppt/notesMasters/notesMaster1.xml" Id="Rff2bbc47a218414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6cad2980c04b77" /><Relationship Type="http://schemas.openxmlformats.org/officeDocument/2006/relationships/notesMaster" Target="/ppt/notesMasters/notesMaster1.xml" Id="R8b791434e77a42d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669fc5db7542ee" /><Relationship Type="http://schemas.openxmlformats.org/officeDocument/2006/relationships/notesMaster" Target="/ppt/notesMasters/notesMaster1.xml" Id="Rac5c217d949949f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91ff9eff9a34044" /><Relationship Type="http://schemas.openxmlformats.org/officeDocument/2006/relationships/notesMaster" Target="/ppt/notesMasters/notesMaster1.xml" Id="R7f0b06493b3e4a7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65706ac7bd2422d" /><Relationship Type="http://schemas.openxmlformats.org/officeDocument/2006/relationships/notesMaster" Target="/ppt/notesMasters/notesMaster1.xml" Id="R46a26d4842d4437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9c0e6de752c43c5" /><Relationship Type="http://schemas.openxmlformats.org/officeDocument/2006/relationships/notesMaster" Target="/ppt/notesMasters/notesMaster1.xml" Id="Rcf0a0b1f54f1441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5e0f31a43aa4283" /><Relationship Type="http://schemas.openxmlformats.org/officeDocument/2006/relationships/notesMaster" Target="/ppt/notesMasters/notesMaster1.xml" Id="Rb3c8227a52b24f0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f68e019a74944f2" /><Relationship Type="http://schemas.openxmlformats.org/officeDocument/2006/relationships/notesMaster" Target="/ppt/notesMasters/notesMaster1.xml" Id="R975b7c2aa8b7453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c7187b795924628" /><Relationship Type="http://schemas.openxmlformats.org/officeDocument/2006/relationships/notesMaster" Target="/ppt/notesMasters/notesMaster1.xml" Id="R71f84920d534495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38e34662db24bf8" /><Relationship Type="http://schemas.openxmlformats.org/officeDocument/2006/relationships/notesMaster" Target="/ppt/notesMasters/notesMaster1.xml" Id="R1b5fa6150d41477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022c65176e445df" /><Relationship Type="http://schemas.openxmlformats.org/officeDocument/2006/relationships/notesMaster" Target="/ppt/notesMasters/notesMaster1.xml" Id="R33a1ab8e3d764a0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f2c4d4817b44f38" /><Relationship Type="http://schemas.openxmlformats.org/officeDocument/2006/relationships/notesMaster" Target="/ppt/notesMasters/notesMaster1.xml" Id="R972c8460c0ef4f5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b1a798bd70d4bb6" /><Relationship Type="http://schemas.openxmlformats.org/officeDocument/2006/relationships/notesMaster" Target="/ppt/notesMasters/notesMaster1.xml" Id="Raf89649192544a2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3ec172a55014565" /><Relationship Type="http://schemas.openxmlformats.org/officeDocument/2006/relationships/notesMaster" Target="/ppt/notesMasters/notesMaster1.xml" Id="R803705ad01f44c8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e9da53592834892" /><Relationship Type="http://schemas.openxmlformats.org/officeDocument/2006/relationships/notesMaster" Target="/ppt/notesMasters/notesMaster1.xml" Id="R78711475a6e14fd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8218946c19b459e" /><Relationship Type="http://schemas.openxmlformats.org/officeDocument/2006/relationships/notesMaster" Target="/ppt/notesMasters/notesMaster1.xml" Id="R9d9e7ecd56ed4b8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72349f4f1064484" /><Relationship Type="http://schemas.openxmlformats.org/officeDocument/2006/relationships/notesMaster" Target="/ppt/notesMasters/notesMaster1.xml" Id="R1cc1e85a98544b3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d0b7bedba854b79" /><Relationship Type="http://schemas.openxmlformats.org/officeDocument/2006/relationships/notesMaster" Target="/ppt/notesMasters/notesMaster1.xml" Id="R97b7636b0dc149d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fd0a7f05a5c4cc9" /><Relationship Type="http://schemas.openxmlformats.org/officeDocument/2006/relationships/notesMaster" Target="/ppt/notesMasters/notesMaster1.xml" Id="Raf31dccadf474e7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ca357bef3be4153" /><Relationship Type="http://schemas.openxmlformats.org/officeDocument/2006/relationships/notesMaster" Target="/ppt/notesMasters/notesMaster1.xml" Id="R8697114895a1469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d63f0fce1194a25" /><Relationship Type="http://schemas.openxmlformats.org/officeDocument/2006/relationships/notesMaster" Target="/ppt/notesMasters/notesMaster1.xml" Id="Ra356a73bc79c452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db36290a8374313" /><Relationship Type="http://schemas.openxmlformats.org/officeDocument/2006/relationships/notesMaster" Target="/ppt/notesMasters/notesMaster1.xml" Id="R7efc3d3b34de445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7073246bdbf4b76" /><Relationship Type="http://schemas.openxmlformats.org/officeDocument/2006/relationships/notesMaster" Target="/ppt/notesMasters/notesMaster1.xml" Id="Rc5fade14541b447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3f1a4034d4f4bfa" /><Relationship Type="http://schemas.openxmlformats.org/officeDocument/2006/relationships/notesMaster" Target="/ppt/notesMasters/notesMaster1.xml" Id="R44dee7b4256f43b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e0bd9bee1024071" /><Relationship Type="http://schemas.openxmlformats.org/officeDocument/2006/relationships/notesMaster" Target="/ppt/notesMasters/notesMaster1.xml" Id="R8de5b2257b344b5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1b08a2cf4fc4673" /><Relationship Type="http://schemas.openxmlformats.org/officeDocument/2006/relationships/notesMaster" Target="/ppt/notesMasters/notesMaster1.xml" Id="Rfb15c105a5434e1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de850944e8c4a4b" /><Relationship Type="http://schemas.openxmlformats.org/officeDocument/2006/relationships/notesMaster" Target="/ppt/notesMasters/notesMaster1.xml" Id="R5d260058c914440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1fe04ccffc14cd7" /><Relationship Type="http://schemas.openxmlformats.org/officeDocument/2006/relationships/notesMaster" Target="/ppt/notesMasters/notesMaster1.xml" Id="R37674751c68c4b0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4b9d34f1b0242c6" /><Relationship Type="http://schemas.openxmlformats.org/officeDocument/2006/relationships/notesMaster" Target="/ppt/notesMasters/notesMaster1.xml" Id="R09499a11660b40c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80fff9994bd4c57" /><Relationship Type="http://schemas.openxmlformats.org/officeDocument/2006/relationships/notesMaster" Target="/ppt/notesMasters/notesMaster1.xml" Id="Ra9b97b5f7f8a4d8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696ea8c764a4fc8" /><Relationship Type="http://schemas.openxmlformats.org/officeDocument/2006/relationships/notesMaster" Target="/ppt/notesMasters/notesMaster1.xml" Id="R8f84b0ff2dc94df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3371d06bdf14d47" /><Relationship Type="http://schemas.openxmlformats.org/officeDocument/2006/relationships/notesMaster" Target="/ppt/notesMasters/notesMaster1.xml" Id="Rcb479c638191427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506b81340e34073" /><Relationship Type="http://schemas.openxmlformats.org/officeDocument/2006/relationships/notesMaster" Target="/ppt/notesMasters/notesMaster1.xml" Id="R2922c06a98bb46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aa3f9e222b14ff0" /><Relationship Type="http://schemas.openxmlformats.org/officeDocument/2006/relationships/notesMaster" Target="/ppt/notesMasters/notesMaster1.xml" Id="Rfafd685e83e2408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c2fd12674d641d0" /><Relationship Type="http://schemas.openxmlformats.org/officeDocument/2006/relationships/notesMaster" Target="/ppt/notesMasters/notesMaster1.xml" Id="Rd4f50de66ffe4ed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93f3c4efbb04e8e" /><Relationship Type="http://schemas.openxmlformats.org/officeDocument/2006/relationships/notesMaster" Target="/ppt/notesMasters/notesMaster1.xml" Id="Rdd8d39dc26334c4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154a6a1a18643fe" /><Relationship Type="http://schemas.openxmlformats.org/officeDocument/2006/relationships/notesMaster" Target="/ppt/notesMasters/notesMaster1.xml" Id="R704b988505a8493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Cover, displayed before the timed teaching session. Presenters supplied by the user: Mr Abu Yousif, Urology Consultant, and Nity G, ST5 Urology Registrar. Add the meeting and date. Add personal disclosures to the evidence slide before presenting. Image: AI-generated illustrative theatre scene, not a record of an actual operation. No personal operative experience or local outcomes are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 The operation starts before theatre</a:t>
            </a:r>
          </a:p>
          <a:p xmlns:a="http://schemas.openxmlformats.org/drawingml/2006/main">
            <a:r>
              <a:t>Time 1:30. Clock 00:00-01:30.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An AUS can be a technically satisfactory implant and a disappointing treatment. The cuff may coapt, the pump may cycle, and the patient may still avoid leaving the house because urgency, difficult emptying or fear of another procedure dominates his life.</a:t>
            </a:r>
          </a:p>
          <a:p xmlns:a="http://schemas.openxmlformats.org/drawingml/2006/main">
            <a:r>
              <a:t/>
            </a:r>
          </a:p>
          <a:p xmlns:a="http://schemas.openxmlformats.org/drawingml/2006/main">
            <a:r>
              <a:t>Today I want to follow the decisions that separate those outcomes. We will start with what the patient actually wants, then examine the bladder we are asking to store urine and the urethra we are asking to tolerate a cuff. We will spend time on preparation and the small operative decisions that are difficult to rescue later.</a:t>
            </a:r>
          </a:p>
          <a:p xmlns:a="http://schemas.openxmlformats.org/drawingml/2006/main">
            <a:r>
              <a:t/>
            </a:r>
          </a:p>
          <a:p xmlns:a="http://schemas.openxmlformats.org/drawingml/2006/main">
            <a:r>
              <a:t>The recurring question is straightforward: would I implant now, optimise first, investigate further, or reconsider whether an AUS is the right treatment? Those choices need reasons, not simply a favourite operation.</a:t>
            </a:r>
          </a:p>
          <a:p xmlns:a="http://schemas.openxmlformats.org/drawingml/2006/main">
            <a:r>
              <a:t/>
            </a:r>
          </a:p>
          <a:p xmlns:a="http://schemas.openxmlformats.org/drawingml/2006/main">
            <a:r>
              <a:t>The four cases are fictional. They are deliberately plausible rather than unusual. Please choose an initial answer when each appears, and notice which new finding would make you change it. [Pause for five seconds.] That is the level at which I hope we can discuss the evidence.</a:t>
            </a:r>
          </a:p>
          <a:p xmlns:a="http://schemas.openxmlformats.org/drawingml/2006/main">
            <a:r>
              <a:t/>
            </a:r>
          </a:p>
          <a:p xmlns:a="http://schemas.openxmlformats.org/drawingml/2006/main">
            <a:r>
              <a:t>References: BAUS25 https://doi.org/10.1111/bju.16726; AUA24 https://www.auanet.org/documents/Guidelines/PDF/2024%20Guidelines/IPT%20Unabridged%20Final%206-18-24.pdf; ICS16 https://www.ics.org/folder/standardisation/current-ics-standardisations/d/artificial-urinary-sphincter-report-of-the-2015-consensus-conference/download.</a:t>
            </a:r>
          </a:p>
          <a:p xmlns:a="http://schemas.openxmlformats.org/drawingml/2006/main">
            <a:r>
              <a:t/>
            </a:r>
          </a:p>
          <a:p xmlns:a="http://schemas.openxmlformats.org/drawingml/2006/main">
            <a:r>
              <a:t>Evidence status: Clinical framing and teaching method are editorial synthesis. No patient data are presented.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 The evidence has boundaries</a:t>
            </a:r>
          </a:p>
          <a:p xmlns:a="http://schemas.openxmlformats.org/drawingml/2006/main">
            <a:r>
              <a:t>Time 1:30. Clock 01:30-03:00.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Thank you to Rigicon for organising the meeting. The clinical discussion needs to remain independent of the sponsor. Device choice should follow evidence, patient suitability and the instructions applicable to that device.</a:t>
            </a:r>
          </a:p>
          <a:p xmlns:a="http://schemas.openxmlformats.org/drawingml/2006/main">
            <a:r>
              <a:t/>
            </a:r>
          </a:p>
          <a:p xmlns:a="http://schemas.openxmlformats.org/drawingml/2006/main">
            <a:r>
              <a:t>We have useful guidance, but agreement among experts is not the same as a comparative trial. A manufacturer's instruction tells us how its product is intended to be used; it does not establish that the product outperforms another. A retrospective series can identify a concern without proving that the proposed solution prevents it.</a:t>
            </a:r>
          </a:p>
          <a:p xmlns:a="http://schemas.openxmlformats.org/drawingml/2006/main">
            <a:r>
              <a:t/>
            </a:r>
          </a:p>
          <a:p xmlns:a="http://schemas.openxmlformats.org/drawingml/2006/main">
            <a:r>
              <a:t>The BAUS consensus is particularly useful because it makes the clinical pathway explicit. We will compare it with EAU and AUA guidance where their approaches differ. The international ICS and Asia-Pacific consensus documents are also valuable, but both are specifically centred on AMS 800.</a:t>
            </a:r>
          </a:p>
          <a:p xmlns:a="http://schemas.openxmlformats.org/drawingml/2006/main">
            <a:r>
              <a:t/>
            </a:r>
          </a:p>
          <a:p xmlns:a="http://schemas.openxmlformats.org/drawingml/2006/main">
            <a:r>
              <a:t>Our aims are to choose investigations intelligently, distinguish three different bladder problems, preserve a usable urethra, challenge preparation rituals and diagnose failure before choosing revision. Where the evidence stops, I will say so. [Brief pause.] The most useful expert discussion often starts at that boundary.</a:t>
            </a:r>
          </a:p>
          <a:p xmlns:a="http://schemas.openxmlformats.org/drawingml/2006/main">
            <a:r>
              <a:t/>
            </a:r>
          </a:p>
          <a:p xmlns:a="http://schemas.openxmlformats.org/drawingml/2006/main">
            <a:r>
              <a:t>References: BAUS25 https://doi.org/10.1111/bju.16726; EAU26 https://uroweb.org/guidelines/management-of-non-neurogenic-male-luts/chapter/disease-management; AUA24 https://www.auanet.org/documents/Guidelines/PDF/2024%20Guidelines/IPT%20Unabridged%20Final%206-18-24.pdf; ICS16 https://www.ics.org/folder/standardisation/current-ics-standardisations/d/artificial-urinary-sphincter-report-of-the-2015-consensus-conference/download; AP23 https://doi.org/10.1111/iju.15083; CCIFU https://www.rigicon.com/files/e-labeling/ContiClassic-IFU.pdf.</a:t>
            </a:r>
          </a:p>
          <a:p xmlns:a="http://schemas.openxmlformats.org/drawingml/2006/main">
            <a:r>
              <a:t/>
            </a:r>
          </a:p>
          <a:p xmlns:a="http://schemas.openxmlformats.org/drawingml/2006/main">
            <a:r>
              <a:t>Evidence status: Scope and interpretation of source types. Presenter must supply their own accurate personal disclosure; none is assumed here.</a:t>
            </a:r>
          </a:p>
          <a:p xmlns:a="http://schemas.openxmlformats.org/drawingml/2006/main">
            <a:r>
              <a:t/>
            </a:r>
          </a:p>
          <a:p xmlns:a="http://schemas.openxmlformats.org/drawingml/2006/main">
            <a:r>
              <a:t>
Replace the disclosure placeholder with the presenter’s accurate relationships. The source brief identifies Rigicon as organiser.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 Define the leakage that matters</a:t>
            </a:r>
          </a:p>
          <a:p xmlns:a="http://schemas.openxmlformats.org/drawingml/2006/main">
            <a:r>
              <a:t>Time 1:45. Clock 03:00-04:45.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Start with a description of a bad day. Does he leak when standing, walking or coughing? Does an irresistible urge precede the leak? Does he remain dry overnight, or does nocturnal leakage suggest another contributor? Mixed symptoms are common, but the word mixed must not replace an explanation.</a:t>
            </a:r>
          </a:p>
          <a:p xmlns:a="http://schemas.openxmlformats.org/drawingml/2006/main">
            <a:r>
              <a:t/>
            </a:r>
          </a:p>
          <a:p xmlns:a="http://schemas.openxmlformats.org/drawingml/2006/main">
            <a:r>
              <a:t>Demonstrate stress leakage with a suitably filled bladder and a practical provocative test. If the history and examination disagree, investigate that disagreement. A dry examination performed after he has just emptied his bladder proves very little.</a:t>
            </a:r>
          </a:p>
          <a:p xmlns:a="http://schemas.openxmlformats.org/drawingml/2006/main">
            <a:r>
              <a:t/>
            </a:r>
          </a:p>
          <a:p xmlns:a="http://schemas.openxmlformats.org/drawingml/2006/main">
            <a:r>
              <a:t>Pad number is easy to record but depends on pad capacity and the patient's changing behaviour. A pad-weight assessment can quantify leakage when severity or progress is uncertain; record the collection conditions and activity. A diary helps separate urinary frequency from precautionary voiding to prevent stress leakage.</a:t>
            </a:r>
          </a:p>
          <a:p xmlns:a="http://schemas.openxmlformats.org/drawingml/2006/main">
            <a:r>
              <a:t/>
            </a:r>
          </a:p>
          <a:p xmlns:a="http://schemas.openxmlformats.org/drawingml/2006/main">
            <a:r>
              <a:t>Then ask what improvement would justify an implant. Being able to walk the golf course, return to work or manage one precautionary pad may matter more than a categorical label of continence. Record a validated symptom and quality-of-life measure, but keep the patient's own goal beside it. We need both when judging success.</a:t>
            </a:r>
          </a:p>
          <a:p xmlns:a="http://schemas.openxmlformats.org/drawingml/2006/main">
            <a:r>
              <a:t/>
            </a:r>
          </a:p>
          <a:p xmlns:a="http://schemas.openxmlformats.org/drawingml/2006/main">
            <a:r>
              <a:t>References: BAUS25 https://doi.org/10.1111/bju.16726; EAU26 https://uroweb.org/guidelines/management-of-non-neurogenic-male-luts/chapter/disease-management; AUA24 https://www.auanet.org/documents/Guidelines/PDF/2024%20Guidelines/IPT%20Unabridged%20Final%206-18-24.pdf.</a:t>
            </a:r>
          </a:p>
          <a:p xmlns:a="http://schemas.openxmlformats.org/drawingml/2006/main">
            <a:r>
              <a:t/>
            </a:r>
          </a:p>
          <a:p xmlns:a="http://schemas.openxmlformats.org/drawingml/2006/main">
            <a:r>
              <a:t>Evidence status: Assessment is guideline-supported. Combining burden, activity and goals is clinical interpretation; no pad threshold alone determines eligibility.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4. Timing and alternatives: avoid both drift and haste</a:t>
            </a:r>
          </a:p>
          <a:p xmlns:a="http://schemas.openxmlformats.org/drawingml/2006/main">
            <a:r>
              <a:t>Time 1:30. Clock 04:45-06:15.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Do not let conservative management become an indefinite holding pattern. Equally, do not interrupt convincing recovery without a reason. Establish what has been tried, whether pelvic-floor training was properly taught, and whether leakage is still improving.</a:t>
            </a:r>
          </a:p>
          <a:p xmlns:a="http://schemas.openxmlformats.org/drawingml/2006/main">
            <a:r>
              <a:t/>
            </a:r>
          </a:p>
          <a:p xmlns:a="http://schemas.openxmlformats.org/drawingml/2006/main">
            <a:r>
              <a:t>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 Anticipated salvage treatment, recurrence and the patient's recovery trajectory still belong in the decision.</a:t>
            </a:r>
          </a:p>
          <a:p xmlns:a="http://schemas.openxmlformats.org/drawingml/2006/main">
            <a:r>
              <a:t/>
            </a:r>
          </a:p>
          <a:p xmlns:a="http://schemas.openxmlformats.org/drawingml/2006/main">
            <a:r>
              <a:t>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a:t>
            </a:r>
          </a:p>
          <a:p xmlns:a="http://schemas.openxmlformats.org/drawingml/2006/main">
            <a:r>
              <a:t/>
            </a:r>
          </a:p>
          <a:p xmlns:a="http://schemas.openxmlformats.org/drawingml/2006/main">
            <a:r>
              <a:t>The MASTER trial supports an informed comparison, but its non-inferiority result does not mean that the procedures are interchangeable in every subgroup. It excluded previous continence implants and unresolved narrowing. Avoid exporting that result into complex revision practice.</a:t>
            </a:r>
          </a:p>
          <a:p xmlns:a="http://schemas.openxmlformats.org/drawingml/2006/main">
            <a:r>
              <a:t/>
            </a:r>
          </a:p>
          <a:p xmlns:a="http://schemas.openxmlformats.org/drawingml/2006/main">
            <a:r>
              <a:t>References: AUA24 https://www.auanet.org/documents/Guidelines/PDF/2024%20Guidelines/IPT%20Unabridged%20Final%206-18-24.pdf; BAUS25 https://doi.org/10.1111/bju.16726; EAU26 https://uroweb.org/guidelines/management-of-non-neurogenic-male-luts/chapter/disease-management; MASTER22 https://doi.org/10.3310/TBFZ0277.</a:t>
            </a:r>
          </a:p>
          <a:p xmlns:a="http://schemas.openxmlformats.org/drawingml/2006/main">
            <a:r>
              <a:t/>
            </a:r>
          </a:p>
          <a:p xmlns:a="http://schemas.openxmlformats.org/drawingml/2006/main">
            <a:r>
              <a:t>Evidence status: Timing and radiation recommendations are guideline statements. MASTER was a randomised comparison in selected men after prostate surgery; it does not establish equivalence in revisions or unstable urethras.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5. Can this patient use this pump in five years?</a:t>
            </a:r>
          </a:p>
          <a:p xmlns:a="http://schemas.openxmlformats.org/drawingml/2006/main">
            <a:r>
              <a:t>Time 1:15. Clock 06:15-07:30.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Ask the patient to operate a demonstration pump. Watch what happens rather than asking whether his hands are all right. Arthritis, neuropathy, tremor and weak pinch may emerge only when the task is attempted.</a:t>
            </a:r>
          </a:p>
          <a:p xmlns:a="http://schemas.openxmlformats.org/drawingml/2006/main">
            <a:r>
              <a:t/>
            </a:r>
          </a:p>
          <a:p xmlns:a="http://schemas.openxmlformats.org/drawingml/2006/main">
            <a:r>
              <a:t>Access matters as much as strength. Can he reach the proposed hemiscrotum while seated? Obesity, a high scrotum, limited hip movement or another scrotal device can make a technically satisfactory pump unusable. Agree the side with him; dominant hand alone is not the answer.</a:t>
            </a:r>
          </a:p>
          <a:p xmlns:a="http://schemas.openxmlformats.org/drawingml/2006/main">
            <a:r>
              <a:t/>
            </a:r>
          </a:p>
          <a:p xmlns:a="http://schemas.openxmlformats.org/drawingml/2006/main">
            <a:r>
              <a:t>Assess whether he understands cycling, deactivation and what to tell another clinician before catheterisation. Cognitive decline and progressive disease change the long-term plan. Family support is helpful, but does not automatically solve inability to operate a device when alone.</a:t>
            </a:r>
          </a:p>
          <a:p xmlns:a="http://schemas.openxmlformats.org/drawingml/2006/main">
            <a:r>
              <a:t/>
            </a:r>
          </a:p>
          <a:p xmlns:a="http://schemas.openxmlformats.org/drawingml/2006/main">
            <a:r>
              <a:t>Frailty is not simply an age cutoff. Balance anaesthetic burden, recovery, expected benefit and the likelihood of future revision. If safe independent use is unlikely, reconsider the treatment rather than burying that concern in the consent form.</a:t>
            </a:r>
          </a:p>
          <a:p xmlns:a="http://schemas.openxmlformats.org/drawingml/2006/main">
            <a:r>
              <a:t/>
            </a:r>
          </a:p>
          <a:p xmlns:a="http://schemas.openxmlformats.org/drawingml/2006/main">
            <a:r>
              <a:t>References: AUA24 https://www.auanet.org/documents/Guidelines/PDF/2024%20Guidelines/IPT%20Unabridged%20Final%206-18-24.pdf; ICS16 https://www.ics.org/folder/standardisation/current-ics-standardisations/d/artificial-urinary-sphincter-report-of-the-2015-consensus-conference/download; CCIFU https://www.rigicon.com/files/e-labeling/ContiClassic-IFU.pdf.</a:t>
            </a:r>
          </a:p>
          <a:p xmlns:a="http://schemas.openxmlformats.org/drawingml/2006/main">
            <a:r>
              <a:t/>
            </a:r>
          </a:p>
          <a:p xmlns:a="http://schemas.openxmlformats.org/drawingml/2006/main">
            <a:r>
              <a:t>Evidence status: Functional capability is guideline/IFU-supported; the practical demonstration and access checks are expert implementation, without a validated universal dexterity score.</a:t>
            </a:r>
          </a:p>
          <a:p xmlns:a="http://schemas.openxmlformats.org/drawingml/2006/main">
            <a:r>
              <a:t/>
            </a:r>
          </a:p>
          <a:p xmlns:a="http://schemas.openxmlformats.org/drawingml/2006/main">
            <a:r>
              <a:t>
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6. Flexible cystoscopy: know what will change the plan</a:t>
            </a:r>
          </a:p>
          <a:p xmlns:a="http://schemas.openxmlformats.org/drawingml/2006/main">
            <a:r>
              <a:t>Time 1:45. Clock 07:30-09:15.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Here, flexion means flexible cystoscopy. AUA recommends it before stress-incontinence surgery. BAUS selects cystoscopy for indications alongside its video-urodynamics pathway, or combines it with standard urodynamics where video is unavailable. EAU describes selective cystoscopy for narrowing or bladder pathology, with a weak general LUTS recommendation when findings would change diagnosis or treatment.</a:t>
            </a:r>
          </a:p>
          <a:p xmlns:a="http://schemas.openxmlformats.org/drawingml/2006/main">
            <a:r>
              <a:t/>
            </a:r>
          </a:p>
          <a:p xmlns:a="http://schemas.openxmlformats.org/drawingml/2006/main">
            <a:r>
              <a:t>My practical preference before an AUS is to inspect the urethra and bladder in advance, so an unexpected finding can be discussed before the day of implantation. That preference should be labelled as such, rather than attributed to unanimous guideline agreement. Repeat assessment is appropriate after intervening urethral treatment or new obstructive symptoms.</a:t>
            </a:r>
          </a:p>
          <a:p xmlns:a="http://schemas.openxmlformats.org/drawingml/2006/main">
            <a:r>
              <a:t/>
            </a:r>
          </a:p>
          <a:p xmlns:a="http://schemas.openxmlformats.org/drawingml/2006/main">
            <a:r>
              <a:t>Look for a stricture, vesicourethral anastomotic stenosis, bladder-neck contracture, foreign material or previous cuff erosion. Bladder stones, tumour and significant radiation changes may alter treatment or predict repeated instrumentation.</a:t>
            </a:r>
          </a:p>
          <a:p xmlns:a="http://schemas.openxmlformats.org/drawingml/2006/main">
            <a:r>
              <a:t/>
            </a:r>
          </a:p>
          <a:p xmlns:a="http://schemas.openxmlformats.org/drawingml/2006/main">
            <a:r>
              <a:t>With suspected narrowing, add flow and residual assessment and define the site and length. Retrograde urethrography, sometimes with a voiding study, is useful when reconstruction is being considered or the segment cannot be characterised endoscopically. Do not turn a diagnostic cystoscopy into unplanned dilation simply to complete the examination.</a:t>
            </a:r>
          </a:p>
          <a:p xmlns:a="http://schemas.openxmlformats.org/drawingml/2006/main">
            <a:r>
              <a:t/>
            </a:r>
          </a:p>
          <a:p xmlns:a="http://schemas.openxmlformats.org/drawingml/2006/main">
            <a:r>
              <a:t>References: BAUS25 https://doi.org/10.1111/bju.16726; AUA24 https://www.auanet.org/documents/Guidelines/PDF/2024%20Guidelines/IPT%20Unabridged%20Final%206-18-24.pdf; EAU26 https://uroweb.org/guidelines/management-of-non-neurogenic-male-luts/chapter/disease-management; EAUSTR26 https://uroweb.org/guidelines/urethral-strictures/chapter/disease-management-in-males.</a:t>
            </a:r>
          </a:p>
          <a:p xmlns:a="http://schemas.openxmlformats.org/drawingml/2006/main">
            <a:r>
              <a:t/>
            </a:r>
          </a:p>
          <a:p xmlns:a="http://schemas.openxmlformats.org/drawingml/2006/main">
            <a:r>
              <a:t>Evidence status: AUA and BAUS recommendations are distinguished explicitly. Routine advance cystoscopy is the proposed expert pathway, not a claim that all three guidelines mandate it in identical terms.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7. Urodynamics: the guidelines really do differ</a:t>
            </a:r>
          </a:p>
          <a:p xmlns:a="http://schemas.openxmlformats.org/drawingml/2006/main">
            <a:r>
              <a:t>Time 1:45. Clock 09:15-11:00.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BAUS favours video-urodynamics in the surgical pathway. EAU's table recommends urodynamics before invasive treatment, with weak strength; its surrounding narrative still discusses selective testing and limited outcome evidence. AUA permits testing when diagnosis or counselling benefits, rather than making it universal. The older ICS consensus also takes a selective approach.</a:t>
            </a:r>
          </a:p>
          <a:p xmlns:a="http://schemas.openxmlformats.org/drawingml/2006/main">
            <a:r>
              <a:t/>
            </a:r>
          </a:p>
          <a:p xmlns:a="http://schemas.openxmlformats.org/drawingml/2006/main">
            <a:r>
              <a:t>The yield is greatest when stress leakage is uncertain, urgency is dominant, emptying is poor, compliance is a concern, or previous treatment makes the mechanism complicated. In an uncomplicated man with demonstrable severe stress leakage, reassuring emptying and no concerning storage symptoms, urodynamics may add little under the AUA approach. That does not erase the different BAUS and EAU positions.</a:t>
            </a:r>
          </a:p>
          <a:p xmlns:a="http://schemas.openxmlformats.org/drawingml/2006/main">
            <a:r>
              <a:t/>
            </a:r>
          </a:p>
          <a:p xmlns:a="http://schemas.openxmlformats.org/drawingml/2006/main">
            <a:r>
              <a:t>Before requesting the test, state the question: is this unsafe storage, obstruction, weak contraction, or simply a bladder that never gets a chance to fill? Decide in advance what would change surgery or counselling.</a:t>
            </a:r>
          </a:p>
          <a:p xmlns:a="http://schemas.openxmlformats.org/drawingml/2006/main">
            <a:r>
              <a:t/>
            </a:r>
          </a:p>
          <a:p xmlns:a="http://schemas.openxmlformats.org/drawingml/2006/main">
            <a:r>
              <a:t>No comparative trial identified in this search established that routine testing itself improves AUS outcomes for every candidate. A sensible investigation can be recommended by consensus without its universal use having been proven superior.</a:t>
            </a:r>
          </a:p>
          <a:p xmlns:a="http://schemas.openxmlformats.org/drawingml/2006/main">
            <a:r>
              <a:t/>
            </a:r>
          </a:p>
          <a:p xmlns:a="http://schemas.openxmlformats.org/drawingml/2006/main">
            <a:r>
              <a:t>References: BAUS25 https://doi.org/10.1111/bju.16726; EAU26 https://uroweb.org/guidelines/management-of-non-neurogenic-male-luts/chapter/disease-management; AUA24 https://www.auanet.org/documents/Guidelines/PDF/2024%20Guidelines/IPT%20Unabridged%20Final%206-18-24.pdf; ICS16 https://www.ics.org/folder/standardisation/current-ics-standardisations/d/artificial-urinary-sphincter-report-of-the-2015-consensus-conference/download.</a:t>
            </a:r>
          </a:p>
          <a:p xmlns:a="http://schemas.openxmlformats.org/drawingml/2006/main">
            <a:r>
              <a:t/>
            </a:r>
          </a:p>
          <a:p xmlns:a="http://schemas.openxmlformats.org/drawingml/2006/main">
            <a:r>
              <a:t>Evidence status: Guideline/consensus comparison. The benefit of routine versus selective UDS for AUS outcomes remains an evidence gap; weak recommendation does not mean the test is unhelpful.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8. Read the study in the context of the patient</a:t>
            </a:r>
          </a:p>
          <a:p xmlns:a="http://schemas.openxmlformats.org/drawingml/2006/main">
            <a:r>
              <a:t>Time 1:45. Clock 11:00-12:45.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A man who leaks throughout filling may never reach a meaningful storage challenge. A small recorded capacity can reflect leakage, urgency, discomfort, filling conditions or genuinely poor storage. Those possibilities have different implications.</a:t>
            </a:r>
          </a:p>
          <a:p xmlns:a="http://schemas.openxmlformats.org/drawingml/2006/main">
            <a:r>
              <a:t/>
            </a:r>
          </a:p>
          <a:p xmlns:a="http://schemas.openxmlformats.org/drawingml/2006/main">
            <a:r>
              <a:t>Review the actual traces, pressure subtraction, filling rate, leakage and the reason filling stopped. A compliance value calculated during artefact or substantial unaccounted leakage should not acquire authority simply because the machine printed it. Compare with his diary and usual voided volumes.</a:t>
            </a:r>
          </a:p>
          <a:p xmlns:a="http://schemas.openxmlformats.org/drawingml/2006/main">
            <a:r>
              <a:t/>
            </a:r>
          </a:p>
          <a:p xmlns:a="http://schemas.openxmlformats.org/drawingml/2006/main">
            <a:r>
              <a:t>An intubated pressure-flow study may inhibit voiding or alter outlet behaviour. Conversely, a man who empties by abdominal straining through a very incompetent outlet may not behave the same after continence surgery. Repeat free flow and residual measurements under representative conditions, and explain the remaining uncertainty.</a:t>
            </a:r>
          </a:p>
          <a:p xmlns:a="http://schemas.openxmlformats.org/drawingml/2006/main">
            <a:r>
              <a:t/>
            </a:r>
          </a:p>
          <a:p xmlns:a="http://schemas.openxmlformats.org/drawingml/2006/main">
            <a:r>
              <a:t>The pathway is: establish the dominant symptom and demonstrable stress leakage; assess urine, diary, flow and residual; evaluate urethral anatomy; use the chosen guideline-based urodynamic strategy; then classify storage safety, emptying and outlet stability. If a study is technically inadequate and the result would determine whether implantation is safe, investigate further. Do not convert an uninterpretable trace into either a contraindication or reassurance.</a:t>
            </a:r>
          </a:p>
          <a:p xmlns:a="http://schemas.openxmlformats.org/drawingml/2006/main">
            <a:r>
              <a:t/>
            </a:r>
          </a:p>
          <a:p xmlns:a="http://schemas.openxmlformats.org/drawingml/2006/main">
            <a:r>
              <a:t>References: BAUS25 https://doi.org/10.1111/bju.16726; AUA24 https://www.auanet.org/documents/Guidelines/PDF/2024%20Guidelines/IPT%20Unabridged%20Final%206-18-24.pdf; ICS16 https://www.ics.org/folder/standardisation/current-ics-standardisations/d/artificial-urinary-sphincter-report-of-the-2015-consensus-conference/download; UDS14 https://pubmed.ncbi.nlm.nih.gov/25483765/.</a:t>
            </a:r>
          </a:p>
          <a:p xmlns:a="http://schemas.openxmlformats.org/drawingml/2006/main">
            <a:r>
              <a:t/>
            </a:r>
          </a:p>
          <a:p xmlns:a="http://schemas.openxmlformats.org/drawingml/2006/main">
            <a:r>
              <a:t>Evidence status: Test selection is guideline-based; interpretation and the proposed pathway are expert synthesis. No universal capacity, contractility or residual cutoff is proposed.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9. Consent to a pathway, not a promise of permanent dryness</a:t>
            </a:r>
          </a:p>
          <a:p xmlns:a="http://schemas.openxmlformats.org/drawingml/2006/main">
            <a:r>
              <a:t>Time 1:15. Clock 12:45-14:00.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Consent includes residual leakage, urgency, erosion, infection, mechanical failure and revision. Radiation and previous surgery change those risks; future instrumentation needs precautions.</a:t>
            </a:r>
          </a:p>
          <a:p xmlns:a="http://schemas.openxmlformats.org/drawingml/2006/main">
            <a:r>
              <a:t/>
            </a:r>
          </a:p>
          <a:p xmlns:a="http://schemas.openxmlformats.org/drawingml/2006/main">
            <a:r>
              <a:t>AUSCO gives contemporary AMS 800 context: 115 primary implants, including 25 previously irradiated men. At twelve months after activation, 61 of 101 reporting participants used zero pads. It was a manufacturer-funded, single-arm study in expert centres; missing outcomes and one-year follow-up limit inference.</a:t>
            </a:r>
          </a:p>
          <a:p xmlns:a="http://schemas.openxmlformats.org/drawingml/2006/main">
            <a:r>
              <a:t/>
            </a:r>
          </a:p>
          <a:p xmlns:a="http://schemas.openxmlformats.org/drawingml/2006/main">
            <a:r>
              <a:t>The first 116-recipient ContiClassic series reported 93.2% Kaplan-Meier device survival at twelve months. A standardised continence result and primary/revision or radiation subgroup outcomes could not be verified in the accessible abstract. That is early survival information, not pad freedom or a comparative device claim.</a:t>
            </a:r>
          </a:p>
          <a:p xmlns:a="http://schemas.openxmlformats.org/drawingml/2006/main">
            <a:r>
              <a:t/>
            </a:r>
          </a:p>
          <a:p xmlns:a="http://schemas.openxmlformats.org/drawingml/2006/main">
            <a:r>
              <a:t>Quote each endpoint with its population and time horizon. The patient should know what the device may improve and what happens if it has to be removed.</a:t>
            </a:r>
          </a:p>
          <a:p xmlns:a="http://schemas.openxmlformats.org/drawingml/2006/main">
            <a:r>
              <a:t/>
            </a:r>
          </a:p>
          <a:p xmlns:a="http://schemas.openxmlformats.org/drawingml/2006/main">
            <a:r>
              <a:t>References: AUSCO26 https://pmc.ncbi.nlm.nih.gov/articles/PMC12794701/; CCSAFETY https://pubmed.ncbi.nlm.nih.gov/37543658/; AUA24 https://www.auanet.org/documents/Guidelines/PDF/2024%20Guidelines/IPT%20Unabridged%20Final%206-18-24.pdf; RT22 https://doi.org/10.3389/fsurg.2022.825239.</a:t>
            </a:r>
          </a:p>
          <a:p xmlns:a="http://schemas.openxmlformats.org/drawingml/2006/main">
            <a:r>
              <a:t/>
            </a:r>
          </a:p>
          <a:p xmlns:a="http://schemas.openxmlformats.org/drawingml/2006/main">
            <a:r>
              <a:t>Evidence status: AUSCO is prospective but uncontrolled, with incomplete endpoint data; zero pad use is its reported endpoint. ContiClassic findings are abstract-level; detailed follow-up and subgroup limitations remain. These are not matched device comparisons.</a:t>
            </a:r>
          </a:p>
          <a:p xmlns:a="http://schemas.openxmlformats.org/drawingml/2006/main">
            <a:r>
              <a:t/>
            </a:r>
          </a:p>
          <a:p xmlns:a="http://schemas.openxmlformats.org/drawingml/2006/main">
            <a:r>
              <a:t>
The displayed percentages describe different endpoints and populations. Do not compare them as device efficacy. AMS 800 61/101 = 60.4%, rounded to 60%. ContiClassic estimate is survival, not continence.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10. Fictional case 1: six pads, urgency and DO</a:t>
            </a:r>
          </a:p>
          <a:p xmlns:a="http://schemas.openxmlformats.org/drawingml/2006/main">
            <a:r>
              <a:t>Time 1:45. Clock 14:00-15:45.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This fictional patient uses six pads on an active day. Stress leakage is clearly demonstrated. He also has urgency leakage, and urodynamics shows detrusor overactivity, with reassuring storage pressures between contractions and adequate emptying. His urethra is patent.</a:t>
            </a:r>
          </a:p>
          <a:p xmlns:a="http://schemas.openxmlformats.org/drawingml/2006/main">
            <a:r>
              <a:t/>
            </a:r>
          </a:p>
          <a:p xmlns:a="http://schemas.openxmlformats.org/drawingml/2006/main">
            <a:r>
              <a:t>Would you implant now or treat the bladder first? [Pause for eight seconds.] Both may be defensible in general AUS practice, depending on which symptom dominates, the severity of urgency and the device's instructions.</a:t>
            </a:r>
          </a:p>
          <a:p xmlns:a="http://schemas.openxmlformats.org/drawingml/2006/main">
            <a:r>
              <a:t/>
            </a:r>
          </a:p>
          <a:p xmlns:a="http://schemas.openxmlformats.org/drawingml/2006/main">
            <a:r>
              <a:t>Overactive bladder is a symptom syndrome. Detrusor overactivity is an observation during filling. One does not perfectly predict the other. A systematic review found insufficient grounds to deny stress-incontinence surgery solely because DO was present, but the studies and definitions were heterogeneous. That is not a guarantee that urgency or device durability is unaffected.</a:t>
            </a:r>
          </a:p>
          <a:p xmlns:a="http://schemas.openxmlformats.org/drawingml/2006/main">
            <a:r>
              <a:t/>
            </a:r>
          </a:p>
          <a:p xmlns:a="http://schemas.openxmlformats.org/drawingml/2006/main">
            <a:r>
              <a:t>My approach would be to offer treatment for bothersome storage symptoms, agree a separate goal for urgency, and reassess. If stress leakage remains the dominant burden and storage is safe, AUS can remain appropriate. For ContiClassic specifically, the retrieved IFU requires these bladder conditions to be treated and controlled or resolved; irresolvable instability is contraindicated. General reassurance about DO must not override that device boundary.</a:t>
            </a:r>
          </a:p>
          <a:p xmlns:a="http://schemas.openxmlformats.org/drawingml/2006/main">
            <a:r>
              <a:t/>
            </a:r>
          </a:p>
          <a:p xmlns:a="http://schemas.openxmlformats.org/drawingml/2006/main">
            <a:r>
              <a:t>References: DO24 https://doi.org/10.1002/bco2.442; OAB11 https://pubmed.ncbi.nlm.nih.gov/21497853/; DOFAIL23 https://pubmed.ncbi.nlm.nih.gov/36921845/; CCIFU https://www.rigicon.com/files/e-labeling/ContiClassic-IFU.pdf.</a:t>
            </a:r>
          </a:p>
          <a:p xmlns:a="http://schemas.openxmlformats.org/drawingml/2006/main">
            <a:r>
              <a:t/>
            </a:r>
          </a:p>
          <a:p xmlns:a="http://schemas.openxmlformats.org/drawingml/2006/main">
            <a:r>
              <a:t>Evidence status: Case is fictional. Evidence supporting selected implantation with DO is mainly observational; treatment sequencing is individualised. The ContiClassic statement is manufacturer labelling, not a comparative trial conclusion.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11. Treat urgency without creating an emptying problem</a:t>
            </a:r>
          </a:p>
          <a:p xmlns:a="http://schemas.openxmlformats.org/drawingml/2006/main">
            <a:r>
              <a:t>Time 1:30. Clock 15:45-17:15.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The lecture is not prescribing a universal drug sequence.</a:t>
            </a:r>
          </a:p>
          <a:p xmlns:a="http://schemas.openxmlformats.org/drawingml/2006/main">
            <a:r>
              <a:t/>
            </a:r>
          </a:p>
          <a:p xmlns:a="http://schemas.openxmlformats.org/drawingml/2006/main">
            <a:r>
              <a:t>Botulinum toxin can be effective for refractory urgency, but its implications matter before an AUS. Could this patient catheterise if needed? How would repeated cystoscopic injections be delivered safely through the future cuff? If retention develops, a successful storage treatment may have created a different functional problem.</a:t>
            </a:r>
          </a:p>
          <a:p xmlns:a="http://schemas.openxmlformats.org/drawingml/2006/main">
            <a:r>
              <a:t/>
            </a:r>
          </a:p>
          <a:p xmlns:a="http://schemas.openxmlformats.org/drawingml/2006/main">
            <a:r>
              <a:t>Neuromodulation can also be considered through an appropriate overactive-bladder pathway. Its suitability does not eliminate the need to establish whether the outlet is stable and emptying is adequate.</a:t>
            </a:r>
          </a:p>
          <a:p xmlns:a="http://schemas.openxmlformats.org/drawingml/2006/main">
            <a:r>
              <a:t/>
            </a:r>
          </a:p>
          <a:p xmlns:a="http://schemas.openxmlformats.org/drawingml/2006/main">
            <a:r>
              <a:t>Return to the patient's two outcomes: stress leakage and urgency leakage. Improvement in one is not failure because the other persists, provided that possibility was properly discussed. Conversely, do not dismiss severe postoperative urgency as an inevitable inconvenience. Reassess it, including infection, residual urine and device function, before simply escalating medication.</a:t>
            </a:r>
          </a:p>
          <a:p xmlns:a="http://schemas.openxmlformats.org/drawingml/2006/main">
            <a:r>
              <a:t/>
            </a:r>
          </a:p>
          <a:p xmlns:a="http://schemas.openxmlformats.org/drawingml/2006/main">
            <a:r>
              <a:t>References: BAUS25 https://doi.org/10.1111/bju.16726; AUAOAB24 https://doi.org/10.1097/JU.0000000000003985; OAB11 https://pubmed.ncbi.nlm.nih.gov/21497853/; CCIFU https://www.rigicon.com/files/e-labeling/ContiClassic-IFU.pdf.</a:t>
            </a:r>
          </a:p>
          <a:p xmlns:a="http://schemas.openxmlformats.org/drawingml/2006/main">
            <a:r>
              <a:t/>
            </a:r>
          </a:p>
          <a:p xmlns:a="http://schemas.openxmlformats.org/drawingml/2006/main">
            <a:r>
              <a:t>Evidence status: OAB treatment options follow guidance. Sequencing around a cuff and anticipated instrumentation is expert synthesis; evidence does not establish one universally superior sequence.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12. Fictional case 2: weak contraction and a raised residual</a:t>
            </a:r>
          </a:p>
          <a:p xmlns:a="http://schemas.openxmlformats.org/drawingml/2006/main">
            <a:r>
              <a:t>Time 1:45. Clock 17:15-19:00.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Our second fictional patient has demonstrable stress leakage but voids slowly, strains and repeatedly leaves urine behind. The pressure-flow study shows a weak contraction. Is that enough to refuse him an AUS? [Pause for eight seconds.]</a:t>
            </a:r>
          </a:p>
          <a:p xmlns:a="http://schemas.openxmlformats.org/drawingml/2006/main">
            <a:r>
              <a:t/>
            </a:r>
          </a:p>
          <a:p xmlns:a="http://schemas.openxmlformats.org/drawingml/2006/main">
            <a:r>
              <a:t>First exclude a narrowing, review medications and neurological history, and compare the laboratory void with his usual void. A large residual with a weak contraction is a problem to explain; it is not a self-explanatory diagnosis. A technically poor study should not define his future treatment.</a:t>
            </a:r>
          </a:p>
          <a:p xmlns:a="http://schemas.openxmlformats.org/drawingml/2006/main">
            <a:r>
              <a:t/>
            </a:r>
          </a:p>
          <a:p xmlns:a="http://schemas.openxmlformats.org/drawingml/2006/main">
            <a:r>
              <a:t>Selected retrospective data suggest that men labelled as having detrusor underactivity can do reasonably well after AUS. However, one such study excluded early complications requiring revision, and the accessible report does not allow confident extrapolation to every patient with severe retention or an acontractile bladder.</a:t>
            </a:r>
          </a:p>
          <a:p xmlns:a="http://schemas.openxmlformats.org/drawingml/2006/main">
            <a:r>
              <a:t/>
            </a:r>
          </a:p>
          <a:p xmlns:a="http://schemas.openxmlformats.org/drawingml/2006/main">
            <a:r>
              <a:t>An AUS opens during cycling, so it is different from a permanently obstructive outlet procedure. Nevertheless, we cannot promise that a man who empties mainly by straining will empty equally well after implantation.</a:t>
            </a:r>
          </a:p>
          <a:p xmlns:a="http://schemas.openxmlformats.org/drawingml/2006/main">
            <a:r>
              <a:t/>
            </a:r>
          </a:p>
          <a:p xmlns:a="http://schemas.openxmlformats.org/drawingml/2006/main">
            <a:r>
              <a:t>My initial decision is investigate further and establish a practical emptying plan. If that becomes reliable, implantation may be reasonable. If he cannot empty or safely manage the likely rescue strategy, reconsider AUS. There is no universal residual or contractility number that makes this decision for us.</a:t>
            </a:r>
          </a:p>
          <a:p xmlns:a="http://schemas.openxmlformats.org/drawingml/2006/main">
            <a:r>
              <a:t/>
            </a:r>
          </a:p>
          <a:p xmlns:a="http://schemas.openxmlformats.org/drawingml/2006/main">
            <a:r>
              <a:t>References: DU23 https://pubmed.ncbi.nlm.nih.gov/36906798/; AUA24 https://www.auanet.org/documents/Guidelines/PDF/2024%20Guidelines/IPT%20Unabridged%20Final%206-18-24.pdf; ICSUDS17 https://doi.org/10.1002/nau.23124; CCIFU https://www.rigicon.com/files/e-labeling/ContiClassic-IFU.pdf.</a:t>
            </a:r>
          </a:p>
          <a:p xmlns:a="http://schemas.openxmlformats.org/drawingml/2006/main">
            <a:r>
              <a:t/>
            </a:r>
          </a:p>
          <a:p xmlns:a="http://schemas.openxmlformats.org/drawingml/2006/main">
            <a:r>
              <a:t>Evidence status: Fictional case; selected observational DU evidence, not proof of safety in unresolved retention. ContiClassic warnings on overflow and irreversible obstruction remain relevant.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13. Intermittent catheterisation changes the consent and the operation</a:t>
            </a:r>
          </a:p>
          <a:p xmlns:a="http://schemas.openxmlformats.org/drawingml/2006/main">
            <a:r>
              <a:t>Time 1:30. Clock 19:00-20:30.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The prospect of intermittent catheterisation is not an automatic exclusion from AUS, but neither is it a minor footnote. A small, selected retrospective series supports the feasibility of bulbar AUS in some men who continue catheterisation. It does not demonstrate safety equivalence with men who never catheterise.</a:t>
            </a:r>
          </a:p>
          <a:p xmlns:a="http://schemas.openxmlformats.org/drawingml/2006/main">
            <a:r>
              <a:t/>
            </a:r>
          </a:p>
          <a:p xmlns:a="http://schemas.openxmlformats.org/drawingml/2006/main">
            <a:r>
              <a:t>Clarify whether the problem is weak emptying, recurrent narrowing or an unresolved outlet that would be better treated first. Establish actual catheter competence, including access and recognition of resistance. Do not discover after implantation that the patient can squeeze a pump but cannot perform the drainage strategy you have proposed.</a:t>
            </a:r>
          </a:p>
          <a:p xmlns:a="http://schemas.openxmlformats.org/drawingml/2006/main">
            <a:r>
              <a:t/>
            </a:r>
          </a:p>
          <a:p xmlns:a="http://schemas.openxmlformats.org/drawingml/2006/main">
            <a:r>
              <a:t>Any catheterisation requires the cuff to be fully deflated and the device deactivated according to its instructions. Use the least traumatic appropriate instrumentation; stop when resistance is unexplained. A deflated cuff's advertised internal diameter is not a safe catheter-size chart because urethral tissue occupies that space.</a:t>
            </a:r>
          </a:p>
          <a:p xmlns:a="http://schemas.openxmlformats.org/drawingml/2006/main">
            <a:r>
              <a:t/>
            </a:r>
          </a:p>
          <a:p xmlns:a="http://schemas.openxmlformats.org/drawingml/2006/main">
            <a:r>
              <a:t>Repeated instrumentation and prolonged indwelling drainage deserve a specialist plan, potentially including an alternative drainage route. Observational evidence links prolonged urethral catheterisation with erosion. It does not establish a universally safe duration or prove that careful intermittent catheterisation carries the same risk.</a:t>
            </a:r>
          </a:p>
          <a:p xmlns:a="http://schemas.openxmlformats.org/drawingml/2006/main">
            <a:r>
              <a:t/>
            </a:r>
          </a:p>
          <a:p xmlns:a="http://schemas.openxmlformats.org/drawingml/2006/main">
            <a:r>
              <a:t>References: CIC23 https://pubmed.ncbi.nlm.nih.gov/36332702/; CATH13 https://pubmed.ncbi.nlm.nih.gov/24074987/; CCIFU https://www.rigicon.com/files/e-labeling/ContiClassic-IFU.pdf; ICS16 https://www.ics.org/folder/standardisation/current-ics-standardisations/d/artificial-urinary-sphincter-report-of-the-2015-consensus-conference/download.</a:t>
            </a:r>
          </a:p>
          <a:p xmlns:a="http://schemas.openxmlformats.org/drawingml/2006/main">
            <a:r>
              <a:t/>
            </a:r>
          </a:p>
          <a:p xmlns:a="http://schemas.openxmlformats.org/drawingml/2006/main">
            <a:r>
              <a:t>Evidence status: Feasibility and catheter-associated risk come from observational cohorts. Drainage route and catheter selection require patient- and device-specific judgement; no universal French-size rule is offered.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14. Poor compliance: dry can still be unsafe</a:t>
            </a:r>
          </a:p>
          <a:p xmlns:a="http://schemas.openxmlformats.org/drawingml/2006/main">
            <a:r>
              <a:t>Time 1:30. Clock 20:30-22:00.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Poor compliance needs its own decision. It describes the pressure-volume relationship during filling, not simply the presence of an involuntary contraction. An apparently dry patient may be storing urine at an unacceptable pressure.</a:t>
            </a:r>
          </a:p>
          <a:p xmlns:a="http://schemas.openxmlformats.org/drawingml/2006/main">
            <a:r>
              <a:t/>
            </a:r>
          </a:p>
          <a:p xmlns:a="http://schemas.openxmlformats.org/drawingml/2006/main">
            <a:r>
              <a:t>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a:t>
            </a:r>
          </a:p>
          <a:p xmlns:a="http://schemas.openxmlformats.org/drawingml/2006/main">
            <a:r>
              <a:t/>
            </a:r>
          </a:p>
          <a:p xmlns:a="http://schemas.openxmlformats.org/drawingml/2006/main">
            <a:r>
              <a:t>Optimise the bladder and repeat the assessment that will show whether storage is acceptable. Refractory cases may need reconstructive or diversion advice; increasing outlet resistance is not the immediate objective. Continence studies reporting acceptable pad use with abnormal urodynamics do not prove renal safety.</a:t>
            </a:r>
          </a:p>
          <a:p xmlns:a="http://schemas.openxmlformats.org/drawingml/2006/main">
            <a:r>
              <a:t/>
            </a:r>
          </a:p>
          <a:p xmlns:a="http://schemas.openxmlformats.org/drawingml/2006/main">
            <a:r>
              <a:t>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 Those categories are a clinical framework, not a validated score.</a:t>
            </a:r>
          </a:p>
          <a:p xmlns:a="http://schemas.openxmlformats.org/drawingml/2006/main">
            <a:r>
              <a:t/>
            </a:r>
          </a:p>
          <a:p xmlns:a="http://schemas.openxmlformats.org/drawingml/2006/main">
            <a:r>
              <a:t>References: UDS09 https://pubmed.ncbi.nlm.nih.gov/19371935/; ICS16 https://www.ics.org/folder/standardisation/current-ics-standardisations/d/artificial-urinary-sphincter-report-of-the-2015-consensus-conference/download; BAUS25 https://doi.org/10.1111/bju.16726; CCIFU https://www.rigicon.com/files/e-labeling/ContiClassic-IFU.pdf.</a:t>
            </a:r>
          </a:p>
          <a:p xmlns:a="http://schemas.openxmlformats.org/drawingml/2006/main">
            <a:r>
              <a:t/>
            </a:r>
          </a:p>
          <a:p xmlns:a="http://schemas.openxmlformats.org/drawingml/2006/main">
            <a:r>
              <a:t>Evidence status: Physiological distinction and safety concern are supported by urodynamic standards and consensus. No universal pressure/compliance threshold for non-neurogenic post-prostatectomy AUS eligibility is established here.</a:t>
            </a:r>
          </a:p>
          <a:p xmlns:a="http://schemas.openxmlformats.org/drawingml/2006/main">
            <a:r>
              <a:t/>
            </a:r>
          </a:p>
          <a:p xmlns:a="http://schemas.openxmlformats.org/drawingml/2006/main">
            <a:r>
              <a:t>
Trace illustration: synthetic schematic values authored only to show transient contraction versus sustained pressure rise. They are not patient observations, clinical thresholds or an eligibility test. Physiology follows ICS urodynamic standards.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15. Name the narrowing before choosing its treatment</a:t>
            </a:r>
          </a:p>
          <a:p xmlns:a="http://schemas.openxmlformats.org/drawingml/2006/main">
            <a:r>
              <a:t>Time 1:15. Clock 22:00-23:15.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The shorthand stricture hides different operations and different risks. An anterior urethral stricture involves the urethra and spongiosum. Bladder-neck contracture commonly follows surgery with the prostate still present in part. After radical prostatectomy, the relevant narrowing is usually the vesicourethral anastomosis. Use the anatomy in the discussion and in the referral.</a:t>
            </a:r>
          </a:p>
          <a:p xmlns:a="http://schemas.openxmlformats.org/drawingml/2006/main">
            <a:r>
              <a:t/>
            </a:r>
          </a:p>
          <a:p xmlns:a="http://schemas.openxmlformats.org/drawingml/2006/main">
            <a:r>
              <a:t>Review every dilation, urethrotomy and reconstruction, including operative reports. Establish how quickly the narrowing recurred and whether patency currently depends on repeated calibration. Add imaging when the anatomy, length or reconstructive plan requires it.</a:t>
            </a:r>
          </a:p>
          <a:p xmlns:a="http://schemas.openxmlformats.org/drawingml/2006/main">
            <a:r>
              <a:t/>
            </a:r>
          </a:p>
          <a:p xmlns:a="http://schemas.openxmlformats.org/drawingml/2006/main">
            <a:r>
              <a:t>Stable does not mean that a scope happened to pass once. It means a credible interval without recurrence, with symptoms, flow, residual and endoscopic findings that support a durable outlet.</a:t>
            </a:r>
          </a:p>
          <a:p xmlns:a="http://schemas.openxmlformats.org/drawingml/2006/main">
            <a:r>
              <a:t/>
            </a:r>
          </a:p>
          <a:p xmlns:a="http://schemas.openxmlformats.org/drawingml/2006/main">
            <a:r>
              <a:t>Finally, think ahead. A patient who is likely to need further incision, tumour surveillance or treatment for radiation bleeding needs an access strategy before a cuff makes those procedures more complicated.</a:t>
            </a:r>
          </a:p>
          <a:p xmlns:a="http://schemas.openxmlformats.org/drawingml/2006/main">
            <a:r>
              <a:t/>
            </a:r>
          </a:p>
          <a:p xmlns:a="http://schemas.openxmlformats.org/drawingml/2006/main">
            <a:r>
              <a:t>References: EAUSTR26 https://uroweb.org/guidelines/urethral-strictures/chapter/disease-management-in-males; BAUS25 https://doi.org/10.1111/bju.16726; AUA24 https://www.auanet.org/documents/Guidelines/PDF/2024%20Guidelines/IPT%20Unabridged%20Final%206-18-24.pdf.</a:t>
            </a:r>
          </a:p>
          <a:p xmlns:a="http://schemas.openxmlformats.org/drawingml/2006/main">
            <a:r>
              <a:t/>
            </a:r>
          </a:p>
          <a:p xmlns:a="http://schemas.openxmlformats.org/drawingml/2006/main">
            <a:r>
              <a:t>Evidence status: Anatomical distinction and investigation are guideline-based. The combined assessment of stability is clinical synthesis; exact waiting intervals vary by context and source.</a:t>
            </a:r>
          </a:p>
          <a:p xmlns:a="http://schemas.openxmlformats.org/drawingml/2006/main">
            <a:r>
              <a:t/>
            </a:r>
          </a:p>
          <a:p xmlns:a="http://schemas.openxmlformats.org/drawingml/2006/main">
            <a:r>
              <a:t>
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16. Stability is a finding, not merely elapsed time</a:t>
            </a:r>
          </a:p>
          <a:p xmlns:a="http://schemas.openxmlformats.org/drawingml/2006/main">
            <a:r>
              <a:t>Time 1:30. Clock 23:15-24:45.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BAUS recommends waiting at least six months after treating a post-prostatectomy narrowing, with no recurrence before continence surgery. That is a real consensus recommendation, not a number we should invent or dismiss. However, it is not a randomised demonstration that six months is the unique safe interval.</a:t>
            </a:r>
          </a:p>
          <a:p xmlns:a="http://schemas.openxmlformats.org/drawingml/2006/main">
            <a:r>
              <a:t/>
            </a:r>
          </a:p>
          <a:p xmlns:a="http://schemas.openxmlformats.org/drawingml/2006/main">
            <a:r>
              <a:t>The AUA discussion describes interval cystoscopy at least four to six weeks after treatment of symptomatic bladder-neck contracture or anastomotic stenosis. That is a reassessment point, not a guarantee that every reconstructed or irradiated urethra is ready for a cuff. EAU's three-to-six-month advice after redo vesicourethral anastomosis belongs to that particular reconstructive setting.</a:t>
            </a:r>
          </a:p>
          <a:p xmlns:a="http://schemas.openxmlformats.org/drawingml/2006/main">
            <a:r>
              <a:t/>
            </a:r>
          </a:p>
          <a:p xmlns:a="http://schemas.openxmlformats.org/drawingml/2006/main">
            <a:r>
              <a:t>Staged treatment gives us an opportunity to observe recurrence and avoid instrumenting a newly implanted cuff. Synchronous treatment has been reported in selected expert series, but should not become the default for aggressive, recurrent disease.</a:t>
            </a:r>
          </a:p>
          <a:p xmlns:a="http://schemas.openxmlformats.org/drawingml/2006/main">
            <a:r>
              <a:t/>
            </a:r>
          </a:p>
          <a:p xmlns:a="http://schemas.openxmlformats.org/drawingml/2006/main">
            <a:r>
              <a:t>My decision would use the recurrence pattern, tissue quality, planned future access and the guideline context. A patient who has repeatedly restenosed after a short interval has not become low risk because the calendar reaches a convenient date.</a:t>
            </a:r>
          </a:p>
          <a:p xmlns:a="http://schemas.openxmlformats.org/drawingml/2006/main">
            <a:r>
              <a:t/>
            </a:r>
          </a:p>
          <a:p xmlns:a="http://schemas.openxmlformats.org/drawingml/2006/main">
            <a:r>
              <a:t>References: BAUS25 https://doi.org/10.1111/bju.16726; AUA24 https://www.auanet.org/documents/Guidelines/PDF/2024%20Guidelines/IPT%20Unabridged%20Final%206-18-24.pdf; EAUSTR26 https://uroweb.org/guidelines/urethral-strictures/chapter/disease-management-in-males; ICS16 https://www.ics.org/folder/standardisation/current-ics-standardisations/d/artificial-urinary-sphincter-report-of-the-2015-consensus-conference/download.</a:t>
            </a:r>
          </a:p>
          <a:p xmlns:a="http://schemas.openxmlformats.org/drawingml/2006/main">
            <a:r>
              <a:t/>
            </a:r>
          </a:p>
          <a:p xmlns:a="http://schemas.openxmlformats.org/drawingml/2006/main">
            <a:r>
              <a:t>Evidence status: Source-specific timing recommendations, largely consensus/observational. Their different intervals refer to different pathways and cannot be reduced to one universal rule.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17. Fictional case 3: radiation and recurrent VUAS</a:t>
            </a:r>
          </a:p>
          <a:p xmlns:a="http://schemas.openxmlformats.org/drawingml/2006/main">
            <a:r>
              <a:t>Time 1:30. Clock 24:45-26:15.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This fictional patient has had radical prostatectomy, salvage radiotherapy and repeated treatment of an anastomotic stenosis. He leaks severely when the outlet is open, but the narrowing returns. He understandably wants continence now.</a:t>
            </a:r>
          </a:p>
          <a:p xmlns:a="http://schemas.openxmlformats.org/drawingml/2006/main">
            <a:r>
              <a:t/>
            </a:r>
          </a:p>
          <a:p xmlns:a="http://schemas.openxmlformats.org/drawingml/2006/main">
            <a:r>
              <a:t>Would you put an AUS into that pathway? [Pause for six seconds.] My first answer is to defer the implant and obtain a specialist reconstructive plan. Current patency is not durable, and more endoscopic treatment is likely. We also need to understand the bladder, including compliance and the burden of radiation cystitis.</a:t>
            </a:r>
          </a:p>
          <a:p xmlns:a="http://schemas.openxmlformats.org/drawingml/2006/main">
            <a:r>
              <a:t/>
            </a:r>
          </a:p>
          <a:p xmlns:a="http://schemas.openxmlformats.org/drawingml/2006/main">
            <a:r>
              <a:t>Radiation is associated with worse continence and greater erosion or explantation risk in pooled observational AUS studies. Those estimates combine different follow-up periods and case mixes; they are not his personal probability of failure.</a:t>
            </a:r>
          </a:p>
          <a:p xmlns:a="http://schemas.openxmlformats.org/drawingml/2006/main">
            <a:r>
              <a:t/>
            </a:r>
          </a:p>
          <a:p xmlns:a="http://schemas.openxmlformats.org/drawingml/2006/main">
            <a:r>
              <a:t>Definitive reconstruction followed by demonstrated stability and later AUS may be reasonable. In a devastated outlet with unsafe or intolerable bladder function, a different drainage or diversion strategy may ultimately offer the better life. There is more than one defensible endpoint. Repeatedly restoring a narrow lumen is not necessarily progress if it prevents us agreeing a durable plan.</a:t>
            </a:r>
          </a:p>
          <a:p xmlns:a="http://schemas.openxmlformats.org/drawingml/2006/main">
            <a:r>
              <a:t/>
            </a:r>
          </a:p>
          <a:p xmlns:a="http://schemas.openxmlformats.org/drawingml/2006/main">
            <a:r>
              <a:t>References: RT22 https://doi.org/10.3389/fsurg.2022.825239; BAUS25 https://doi.org/10.1111/bju.16726; EAUSTR26 https://uroweb.org/guidelines/urethral-strictures/chapter/disease-management-in-males; AUA24 https://www.auanet.org/documents/Guidelines/PDF/2024%20Guidelines/IPT%20Unabridged%20Final%206-18-24.pdf.</a:t>
            </a:r>
          </a:p>
          <a:p xmlns:a="http://schemas.openxmlformats.org/drawingml/2006/main">
            <a:r>
              <a:t/>
            </a:r>
          </a:p>
          <a:p xmlns:a="http://schemas.openxmlformats.org/drawingml/2006/main">
            <a:r>
              <a:t>Evidence status: Fictional case. Radiation-risk direction is observationally supported; the preferred sequence and ultimate reconstructive endpoint require individual specialist judgement.</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18. A reconstructed urethra changes the dissection</a:t>
            </a:r>
          </a:p>
          <a:p xmlns:a="http://schemas.openxmlformats.org/drawingml/2006/main">
            <a:r>
              <a:t>Time 1:30. Clock 26:15-27:45.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Previous urethroplasty is not a single exposure. Was the urethra transected? Was there a graft, a posterior reconstruction, a prior cuff erosion or a fistula? Where is the viable spongiosum now? Those details should change where and how we dissect.</a:t>
            </a:r>
          </a:p>
          <a:p xmlns:a="http://schemas.openxmlformats.org/drawingml/2006/main">
            <a:r>
              <a:t/>
            </a:r>
          </a:p>
          <a:p xmlns:a="http://schemas.openxmlformats.org/drawingml/2006/main">
            <a:r>
              <a:t>The operation must preserve what remains rather than reproduce the dissection of a virgin bulbar urethra. Avoid unnecessarily extending mobilisation through a repaired segment. A technically convenient cuff site may carry a poor tissue substrate. If a safe plane cannot be established, pause and reconsider the approach or stage the operation.</a:t>
            </a:r>
          </a:p>
          <a:p xmlns:a="http://schemas.openxmlformats.org/drawingml/2006/main">
            <a:r>
              <a:t/>
            </a:r>
          </a:p>
          <a:p xmlns:a="http://schemas.openxmlformats.org/drawingml/2006/main">
            <a:r>
              <a:t>A multicentre cohort published in the 2026 Journal of Urology issue reports different subsequent AUS outcomes after transecting and non-transecting urethroplasty. This adds evidence beyond the older guidance, but it remains observational: stricture severity, anatomy, selection and unequal follow-up confound the comparison. It supports a more detailed reconstructive history and careful counselling, not a retrospective claim that every transection was avoidable.</a:t>
            </a:r>
          </a:p>
          <a:p xmlns:a="http://schemas.openxmlformats.org/drawingml/2006/main">
            <a:r>
              <a:t/>
            </a:r>
          </a:p>
          <a:p xmlns:a="http://schemas.openxmlformats.org/drawingml/2006/main">
            <a:r>
              <a:t>The practical point is to plan the reconstruction and any future continence surgery as connected decisions. After previous erosion and explantation, healing, patency and realistic reimplantation expectations need to be demonstrated again.</a:t>
            </a:r>
          </a:p>
          <a:p xmlns:a="http://schemas.openxmlformats.org/drawingml/2006/main">
            <a:r>
              <a:t/>
            </a:r>
          </a:p>
          <a:p xmlns:a="http://schemas.openxmlformats.org/drawingml/2006/main">
            <a:r>
              <a:t>References: URETH26 https://pubmed.ncbi.nlm.nih.gov/41022035/; BAUS25 https://doi.org/10.1111/bju.16726; AUA24 https://www.auanet.org/documents/Guidelines/PDF/2024%20Guidelines/IPT%20Unabridged%20Final%206-18-24.pdf; ICS16 https://www.ics.org/folder/standardisation/current-ics-standardisations/d/artificial-urinary-sphincter-report-of-the-2015-consensus-conference/download.</a:t>
            </a:r>
          </a:p>
          <a:p xmlns:a="http://schemas.openxmlformats.org/drawingml/2006/main">
            <a:r>
              <a:t/>
            </a:r>
          </a:p>
          <a:p xmlns:a="http://schemas.openxmlformats.org/drawingml/2006/main">
            <a:r>
              <a:t>Evidence status: New observational primary-AUS-after-urethroplasty evidence, not randomised proof of technique superiority. Tissue-preserving operative advice is expert synthesis.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19. Transcorporal placement is an option with a price</a:t>
            </a:r>
          </a:p>
          <a:p xmlns:a="http://schemas.openxmlformats.org/drawingml/2006/main">
            <a:r>
              <a:t>Time 1:15. Clock 27:45-29:00.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Transcorporal placement can avoid a hazardous dorsal dissection and incorporate tunical tissue beneath part of the cuff. That is a plausible reconstructive purpose. It does not prove protection from erosion.</a:t>
            </a:r>
          </a:p>
          <a:p xmlns:a="http://schemas.openxmlformats.org/drawingml/2006/main">
            <a:r>
              <a:t/>
            </a:r>
          </a:p>
          <a:p xmlns:a="http://schemas.openxmlformats.org/drawingml/2006/main">
            <a:r>
              <a:t>The comparative retrospective evidence points in different directions. Some fragile-urethra series favour it; another high-risk series found more infection or erosion-related explantation in the transcorporal group. Surgeons tend to select it for the worst urethras, so confounding by indication is substantial in both directions.</a:t>
            </a:r>
          </a:p>
          <a:p xmlns:a="http://schemas.openxmlformats.org/drawingml/2006/main">
            <a:r>
              <a:t/>
            </a:r>
          </a:p>
          <a:p xmlns:a="http://schemas.openxmlformats.org/drawingml/2006/main">
            <a:r>
              <a:t>Discuss corporal bleeding, erectile consequences and implications for an existing or future penile prosthesis. Sizing must account for the tissue actually enclosed, using the relevant device protocol; this is not permission to apply an improvised correction factor.</a:t>
            </a:r>
          </a:p>
          <a:p xmlns:a="http://schemas.openxmlformats.org/drawingml/2006/main">
            <a:r>
              <a:t/>
            </a:r>
          </a:p>
          <a:p xmlns:a="http://schemas.openxmlformats.org/drawingml/2006/main">
            <a:r>
              <a:t>Tandem cuffs, wraps, relocation and capsular procedures also consume tissue or add complexity. Choose a manoeuvre because it addresses a demonstrated problem, with an explicit limitation. If the proposal is simply to squeeze a failing urethra harder, the diagnosis and the endpoint need another look.</a:t>
            </a:r>
          </a:p>
          <a:p xmlns:a="http://schemas.openxmlformats.org/drawingml/2006/main">
            <a:r>
              <a:t/>
            </a:r>
          </a:p>
          <a:p xmlns:a="http://schemas.openxmlformats.org/drawingml/2006/main">
            <a:r>
              <a:t>References: TC20 https://doi.org/10.5489/cuaj.6431; TC23 https://pubmed.ncbi.nlm.nih.gov/36749394/; BAUS25 https://doi.org/10.1111/bju.16726; AP23 https://doi.org/10.1111/iju.15083.</a:t>
            </a:r>
          </a:p>
          <a:p xmlns:a="http://schemas.openxmlformats.org/drawingml/2006/main">
            <a:r>
              <a:t/>
            </a:r>
          </a:p>
          <a:p xmlns:a="http://schemas.openxmlformats.org/drawingml/2006/main">
            <a:r>
              <a:t>Evidence status: Conflicting, selected observational comparisons. Transcorporal and other salvage techniques are specialist options, not routine best practice or proven universal erosion prevention.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20. A fifteen-minute wash: which activity do we mean?</a:t>
            </a:r>
          </a:p>
          <a:p xmlns:a="http://schemas.openxmlformats.org/drawingml/2006/main">
            <a:r>
              <a:t>Time 1:15. Clock 29:00-30:15.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Is a fifteen-minute wash or scrub necessary before AUS implantation? No direct evidence found establishes a universal requirement.</a:t>
            </a:r>
          </a:p>
          <a:p xmlns:a="http://schemas.openxmlformats.org/drawingml/2006/main">
            <a:r>
              <a:t/>
            </a:r>
          </a:p>
          <a:p xmlns:a="http://schemas.openxmlformats.org/drawingml/2006/main">
            <a:r>
              <a:t>NICE advises soap washing the day before or day of surgery. That is different from operative skin preparation, surgical hand antisepsis, wound irrigation, external device dipping and internal device filling. Identify the activity before debating its duration.</a:t>
            </a:r>
          </a:p>
          <a:p xmlns:a="http://schemas.openxmlformats.org/drawingml/2006/main">
            <a:r>
              <a:t/>
            </a:r>
          </a:p>
          <a:p xmlns:a="http://schemas.openxmlformats.org/drawingml/2006/main">
            <a:r>
              <a:t>BAUS recommends a five-minute topical field scrub by Delphi consensus, explicitly acknowledging extrapolation from penile prosthesis and other implant surgery. It does not establish fifteen minutes as an AUS standard.</a:t>
            </a:r>
          </a:p>
          <a:p xmlns:a="http://schemas.openxmlformats.org/drawingml/2006/main">
            <a:r>
              <a:t/>
            </a:r>
          </a:p>
          <a:p xmlns:a="http://schemas.openxmlformats.org/drawingml/2006/main">
            <a:r>
              <a:t>For hands, use the selected product's surgical antisepsis instructions. For the patient's skin, use the appropriate product and its application, contact and complete drying requirements. Waiting fifteen minutes cannot compensate for missed skin, an unsuitable product, pooled alcohol or a contaminated field.</a:t>
            </a:r>
          </a:p>
          <a:p xmlns:a="http://schemas.openxmlformats.org/drawingml/2006/main">
            <a:r>
              <a:t/>
            </a:r>
          </a:p>
          <a:p xmlns:a="http://schemas.openxmlformats.org/drawingml/2006/main">
            <a:r>
              <a:t>Absence of evidence for this ritual does not make antisepsis dispensable. We need correct, reproducible preparation.</a:t>
            </a:r>
          </a:p>
          <a:p xmlns:a="http://schemas.openxmlformats.org/drawingml/2006/main">
            <a:r>
              <a:t/>
            </a:r>
          </a:p>
          <a:p xmlns:a="http://schemas.openxmlformats.org/drawingml/2006/main">
            <a:r>
              <a:t>References: BAUS25 https://doi.org/10.1111/bju.16726; NICE https://www.nice.org.uk/guidance/ng125/chapter/recommendations; WHO09 https://www.who.int/publications/i/item/9789241597906; PREP24 https://tau.amegroups.org/article/view/130351/html.</a:t>
            </a:r>
          </a:p>
          <a:p xmlns:a="http://schemas.openxmlformats.org/drawingml/2006/main">
            <a:r>
              <a:t/>
            </a:r>
          </a:p>
          <a:p xmlns:a="http://schemas.openxmlformats.org/drawingml/2006/main">
            <a:r>
              <a:t>Evidence status: No direct fixed-fifteen-minute AUS outcome trial was identified. BAUS's five-minute recommendation is consensus/extrapolation; manufacturer application times and hand-hygiene guidance address different activities.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21. Skin preparation: what the studies can actually support</a:t>
            </a:r>
          </a:p>
          <a:p xmlns:a="http://schemas.openxmlformats.org/drawingml/2006/main">
            <a:r>
              <a:t>Time 1:45. Clock 30:15-32:00.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In a randomised study of one hundred patients having initial genitourinary prosthetic surgery, chlorhexidine-alcohol produced fewer positive post-preparation skin cultures than povidone-iodine. The reported proportions were eight versus thirty-two per cent. That is a microbiological endpoint in a mixed prosthesis population. It is not a demonstrated reduction in ContiClassic infection.</a:t>
            </a:r>
          </a:p>
          <a:p xmlns:a="http://schemas.openxmlformats.org/drawingml/2006/main">
            <a:r>
              <a:t/>
            </a:r>
          </a:p>
          <a:p xmlns:a="http://schemas.openxmlformats.org/drawingml/2006/main">
            <a:r>
              <a:t>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a:t>
            </a:r>
          </a:p>
          <a:p xmlns:a="http://schemas.openxmlformats.org/drawingml/2006/main">
            <a:r>
              <a:t/>
            </a:r>
          </a:p>
          <a:p xmlns:a="http://schemas.openxmlformats.org/drawingml/2006/main">
            <a:r>
              <a:t>General SSI guidance supports an appropriate alcohol-based preparation where suitable, with alternatives for contraindications or anatomical requirements. The exact product matters around genital skin and mucosa. Check allergy, permitted application sites and the product information rather than exporting a study's formulation into every preparation field.</a:t>
            </a:r>
          </a:p>
          <a:p xmlns:a="http://schemas.openxmlformats.org/drawingml/2006/main">
            <a:r>
              <a:t/>
            </a:r>
          </a:p>
          <a:p xmlns:a="http://schemas.openxmlformats.org/drawingml/2006/main">
            <a:r>
              <a:t>Do not remove hair routinely. If required for exposure or adhesion, clipping on the day is the general NICE recommendation; avoid skin trauma. BAUS's permissive wording on razors does not make razors an evidence-based necessity.</a:t>
            </a:r>
          </a:p>
          <a:p xmlns:a="http://schemas.openxmlformats.org/drawingml/2006/main">
            <a:r>
              <a:t/>
            </a:r>
          </a:p>
          <a:p xmlns:a="http://schemas.openxmlformats.org/drawingml/2006/main">
            <a:r>
              <a:t>Before draping and diathermy, confirm drying and absence of pooling in skin folds or under the patient. Those are practical safety requirements, not optional additions to the stopwatch.</a:t>
            </a:r>
          </a:p>
          <a:p xmlns:a="http://schemas.openxmlformats.org/drawingml/2006/main">
            <a:r>
              <a:t/>
            </a:r>
          </a:p>
          <a:p xmlns:a="http://schemas.openxmlformats.org/drawingml/2006/main">
            <a:r>
              <a:t>References: YEUNG13 https://pubmed.ncbi.nlm.nih.gov/23164373/; PREP24 https://tau.amegroups.org/article/view/130351/html; NICE https://www.nice.org.uk/guidance/ng125/chapter/recommendations; CHLORA26 https://www.medicines.org.uk/emc/product/101238/smpc; BAUS25 https://doi.org/10.1111/bju.16726.</a:t>
            </a:r>
          </a:p>
          <a:p xmlns:a="http://schemas.openxmlformats.org/drawingml/2006/main">
            <a:r>
              <a:t/>
            </a:r>
          </a:p>
          <a:p xmlns:a="http://schemas.openxmlformats.org/drawingml/2006/main">
            <a:r>
              <a:t>Evidence status: Randomised surrogate evidence, limited direct AUS observational evidence, and extrapolated general SSI guidance. No universal antiseptic recipe is supported; each product's anatomical restrictions apply.</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22. Urine and antibiotics: state the disagreement</a:t>
            </a:r>
          </a:p>
          <a:p xmlns:a="http://schemas.openxmlformats.org/drawingml/2006/main">
            <a:r>
              <a:t>Time 1:30. Clock 32:00-33:30.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Treat symptomatic urinary infection and reassess before elective implantation. Asymptomatic bacteriuria is different. 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a:t>
            </a:r>
          </a:p>
          <a:p xmlns:a="http://schemas.openxmlformats.org/drawingml/2006/main">
            <a:r>
              <a:t/>
            </a:r>
          </a:p>
          <a:p xmlns:a="http://schemas.openxmlformats.org/drawingml/2006/main">
            <a:r>
              <a:t>Agree the urine pathway with local microbiology rather than equating every positive culture with symptomatic infection. Choose prophylaxis using the implant policy, previous isolates, allergies and renal function. Complete administration at the appropriate time before incision, and redose when the agent and procedure require it.</a:t>
            </a:r>
          </a:p>
          <a:p xmlns:a="http://schemas.openxmlformats.org/drawingml/2006/main">
            <a:r>
              <a:t/>
            </a:r>
          </a:p>
          <a:p xmlns:a="http://schemas.openxmlformats.org/drawingml/2006/main">
            <a:r>
              <a:t>Observational AUS evidence has not shown a convincing benefit from routine postoperative oral antibiotics. However, the retrieved ContiClassic IFU describes forty-eight hours of intravenous antibiotics and five days of oral antibiotics after discharge as general care. That conflicts with shorter-prophylaxis stewardship approaches.</a:t>
            </a:r>
          </a:p>
          <a:p xmlns:a="http://schemas.openxmlformats.org/drawingml/2006/main">
            <a:r>
              <a:t/>
            </a:r>
          </a:p>
          <a:p xmlns:a="http://schemas.openxmlformats.org/drawingml/2006/main">
            <a:r>
              <a:t>The response is to verify current regional labelling and agree a documented protocol with the implant service and microbiology. Do not silently ignore either source, and do not describe an extended regimen as universally proven to prevent infection.</a:t>
            </a:r>
          </a:p>
          <a:p xmlns:a="http://schemas.openxmlformats.org/drawingml/2006/main">
            <a:r>
              <a:t/>
            </a:r>
          </a:p>
          <a:p xmlns:a="http://schemas.openxmlformats.org/drawingml/2006/main">
            <a:r>
              <a:t>References: IDSA19 https://www.idsociety.org/practice-guideline/asymptomatic-bacteriuria/; BAUS25 https://doi.org/10.1111/bju.16726; AUAABX20 https://doi.org/10.1097/JU.0000000000000509; ABX18 https://doi.org/10.1016/j.urology.2017.07.064; CCIFU https://www.rigicon.com/files/e-labeling/ContiClassic-IFU.pdf.</a:t>
            </a:r>
          </a:p>
          <a:p xmlns:a="http://schemas.openxmlformats.org/drawingml/2006/main">
            <a:r>
              <a:t/>
            </a:r>
          </a:p>
          <a:p xmlns:a="http://schemas.openxmlformats.org/drawingml/2006/main">
            <a:r>
              <a:t>Evidence status: Guideline/IFU disagreement is explicit. Postoperative antibiotic evidence is observational and does not establish equivalence in every high-risk subgroup. This slide supplies no universal antibiotic prescription.</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23. Reduce contamination without turning tradition into proof</a:t>
            </a:r>
          </a:p>
          <a:p xmlns:a="http://schemas.openxmlformats.org/drawingml/2006/main">
            <a:r>
              <a:t>Time 1:30. Clock 33:30-35:00.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There are sensible ways to reduce contamination: prepare the equipment before opening the implant, establish a protected sterile handling area, minimise skin contact, and avoid unnecessary traffic and repeated hand-offs. My preference is fresh sterile gloves before handling the device and after any contamination concern. That is a practical control, not a claim that each glove change has independently been proven to reduce AUS infection.</a:t>
            </a:r>
          </a:p>
          <a:p xmlns:a="http://schemas.openxmlformats.org/drawingml/2006/main">
            <a:r>
              <a:t/>
            </a:r>
          </a:p>
          <a:p xmlns:a="http://schemas.openxmlformats.org/drawingml/2006/main">
            <a:r>
              <a:t>Minimal-touch AUS series are encouraging but compare different eras and unequal follow-up. We cannot attribute their results to one drape or one manoeuvre. Draping should maintain access and a stable clean field; adhesive products still require attention to skin and allergy.</a:t>
            </a:r>
          </a:p>
          <a:p xmlns:a="http://schemas.openxmlformats.org/drawingml/2006/main">
            <a:r>
              <a:t/>
            </a:r>
          </a:p>
          <a:p xmlns:a="http://schemas.openxmlformats.org/drawingml/2006/main">
            <a:r>
              <a:t>Separate wound irrigation from device dipping and internal filling. General NICE guidance does not support wound irrigation solely to prevent SSI. AUS consensus literature also acknowledges uncertainty about antibiotic irrigants. A hydrophilic coating's ability to absorb a solution does not establish that any chosen antibiotic mixture improves clinical outcomes.</a:t>
            </a:r>
          </a:p>
          <a:p xmlns:a="http://schemas.openxmlformats.org/drawingml/2006/main">
            <a:r>
              <a:t/>
            </a:r>
          </a:p>
          <a:p xmlns:a="http://schemas.openxmlformats.org/drawingml/2006/main">
            <a:r>
              <a:t>For ContiClassic, follow the verified device instructions and obtain the operative protocol for detailed preparation. Do not substitute a remembered AMS 800 preparation recipe or improvise an unverified antiseptic bath for an implant.</a:t>
            </a:r>
          </a:p>
          <a:p xmlns:a="http://schemas.openxmlformats.org/drawingml/2006/main">
            <a:r>
              <a:t/>
            </a:r>
          </a:p>
          <a:p xmlns:a="http://schemas.openxmlformats.org/drawingml/2006/main">
            <a:r>
              <a:t>References: TOUCH23 https://doi.org/10.5152/tud.2023.22136; NICE https://www.nice.org.uk/guidance/ng125/chapter/recommendations; AP23 https://doi.org/10.1111/iju.15083; CCIFU https://www.rigicon.com/files/e-labeling/ContiClassic-IFU.pdf.</a:t>
            </a:r>
          </a:p>
          <a:p xmlns:a="http://schemas.openxmlformats.org/drawingml/2006/main">
            <a:r>
              <a:t/>
            </a:r>
          </a:p>
          <a:p xmlns:a="http://schemas.openxmlformats.org/drawingml/2006/main">
            <a:r>
              <a:t>Evidence status: Contamination controls combine general guidance and expert practice. Bundle studies do not isolate component effects. Irrigant and dip superiority remain unresolved; compatibility is device-specific.</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24. The theatre checklist I would actually use</a:t>
            </a:r>
          </a:p>
          <a:p xmlns:a="http://schemas.openxmlformats.org/drawingml/2006/main">
            <a:r>
              <a:t>Time 1:00. Clock 35:00-36:00.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Before opening the implant, confirm the patient, intended operation, tissue concerns and stop conditions. Review urinary and skin infection concerns, prophylaxis delivery and the redosing plan. Confirm that the preparation is anatomically suitable and dry.</a:t>
            </a:r>
          </a:p>
          <a:p xmlns:a="http://schemas.openxmlformats.org/drawingml/2006/main">
            <a:r>
              <a:t/>
            </a:r>
          </a:p>
          <a:p xmlns:a="http://schemas.openxmlformats.org/drawingml/2006/main">
            <a:r>
              <a:t>Then confirm the exact device and compatible components, available cuff sizes, planned pressure range, current instructions and the person responsible for preparation. Agree the catheter and postoperative rescue plan.</a:t>
            </a:r>
          </a:p>
          <a:p xmlns:a="http://schemas.openxmlformats.org/drawingml/2006/main">
            <a:r>
              <a:t/>
            </a:r>
          </a:p>
          <a:p xmlns:a="http://schemas.openxmlformats.org/drawingml/2006/main">
            <a:r>
              <a:t>Finally, establish what happens if the urethra is injured or sterility is compromised. A checklist is most useful when it makes that response predictable.</a:t>
            </a:r>
          </a:p>
          <a:p xmlns:a="http://schemas.openxmlformats.org/drawingml/2006/main">
            <a:r>
              <a:t/>
            </a:r>
          </a:p>
          <a:p xmlns:a="http://schemas.openxmlformats.org/drawingml/2006/main">
            <a:r>
              <a:t>Audit completion of these steps. Do not use the duration of a wash as a proxy for the quality of the entire operation.</a:t>
            </a:r>
          </a:p>
          <a:p xmlns:a="http://schemas.openxmlformats.org/drawingml/2006/main">
            <a:r>
              <a:t/>
            </a:r>
          </a:p>
          <a:p xmlns:a="http://schemas.openxmlformats.org/drawingml/2006/main">
            <a:r>
              <a:t>References: NICE https://www.nice.org.uk/guidance/ng125/chapter/recommendations; BAUS25 https://doi.org/10.1111/bju.16726; CCIFU https://www.rigicon.com/files/e-labeling/ContiClassic-IFU.pdf; AUAABX20 https://doi.org/10.1097/JU.0000000000000509.</a:t>
            </a:r>
          </a:p>
          <a:p xmlns:a="http://schemas.openxmlformats.org/drawingml/2006/main">
            <a:r>
              <a:t/>
            </a:r>
          </a:p>
          <a:p xmlns:a="http://schemas.openxmlformats.org/drawingml/2006/main">
            <a:r>
              <a:t>Evidence status: Practical synthesis. Labels identify guidance-supported actions, local/product decisions, expert preferences and unresolved evidence; this is not a validated outcome score.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25. Position and expose for the anatomy you have</a:t>
            </a:r>
          </a:p>
          <a:p xmlns:a="http://schemas.openxmlformats.org/drawingml/2006/main">
            <a:r>
              <a:t>Time 1:15. Clock 36:00-37:15.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Positioning should expose the bulbar urethra while protecting pressure points and respecting hip mobility. Check the patient before anaesthesia when restricted movement is likely to matter. Avoid accepting excessive flexion simply because it improves the first view.</a:t>
            </a:r>
          </a:p>
          <a:p xmlns:a="http://schemas.openxmlformats.org/drawingml/2006/main">
            <a:r>
              <a:t/>
            </a:r>
          </a:p>
          <a:p xmlns:a="http://schemas.openxmlformats.org/drawingml/2006/main">
            <a:r>
              <a:t>For a standard male bulbar implant, a single-cuff perineal approach has guideline support. Other approaches may be appropriate for selected anatomy and experienced operators, but convenience alone should not determine access to a compromised urethra.</a:t>
            </a:r>
          </a:p>
          <a:p xmlns:a="http://schemas.openxmlformats.org/drawingml/2006/main">
            <a:r>
              <a:t/>
            </a:r>
          </a:p>
          <a:p xmlns:a="http://schemas.openxmlformats.org/drawingml/2006/main">
            <a:r>
              <a:t>Plan where the balloon and pump will go at the same time. Previous pelvic surgery, inguinal mesh, abdominal scars and an existing penile prosthesis alter that plan. Have the relevant operative records available.</a:t>
            </a:r>
          </a:p>
          <a:p xmlns:a="http://schemas.openxmlformats.org/drawingml/2006/main">
            <a:r>
              <a:t/>
            </a:r>
          </a:p>
          <a:p xmlns:a="http://schemas.openxmlformats.org/drawingml/2006/main">
            <a:r>
              <a:t>If exposure is poor, improve the incision, retraction or positioning deliberately. Excessive traction to compensate for a small working space transfers force to the urethra. The purpose of exposure is to make the next decision visible, not merely to shorten the incision.</a:t>
            </a:r>
          </a:p>
          <a:p xmlns:a="http://schemas.openxmlformats.org/drawingml/2006/main">
            <a:r>
              <a:t/>
            </a:r>
          </a:p>
          <a:p xmlns:a="http://schemas.openxmlformats.org/drawingml/2006/main">
            <a:r>
              <a:t>References: AUA24 https://www.auanet.org/documents/Guidelines/PDF/2024%20Guidelines/IPT%20Unabridged%20Final%206-18-24.pdf; ICS16 https://www.ics.org/folder/standardisation/current-ics-standardisations/d/artificial-urinary-sphincter-report-of-the-2015-consensus-conference/download; AP23 https://doi.org/10.1111/iju.15083.</a:t>
            </a:r>
          </a:p>
          <a:p xmlns:a="http://schemas.openxmlformats.org/drawingml/2006/main">
            <a:r>
              <a:t/>
            </a:r>
          </a:p>
          <a:p xmlns:a="http://schemas.openxmlformats.org/drawingml/2006/main">
            <a:r>
              <a:t>Evidence status: Approach preference is guideline-supported; positioning and exposure details are surgical principles and expert implementation, not device-specific instructions.</a:t>
            </a:r>
          </a:p>
          <a:p xmlns:a="http://schemas.openxmlformats.org/drawingml/2006/main">
            <a:r>
              <a:t/>
            </a:r>
          </a:p>
          <a:p xmlns:a="http://schemas.openxmlformats.org/drawingml/2006/main">
            <a:r>
              <a:t>
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26. Bulbar dissection: preserve the tissue you need to compress</a:t>
            </a:r>
          </a:p>
          <a:p xmlns:a="http://schemas.openxmlformats.org/drawingml/2006/main">
            <a:r>
              <a:t>Time 1:30. Clock 37:15-38:45.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The goal is a cuff around a viable urethral segment, not a completely skeletonised urethra. In a straightforward case, the proximal bulbar region often offers useful spongiosal tissue. Prior repair, erosion or scarring may change which segment is safest.</a:t>
            </a:r>
          </a:p>
          <a:p xmlns:a="http://schemas.openxmlformats.org/drawingml/2006/main">
            <a:r>
              <a:t/>
            </a:r>
          </a:p>
          <a:p xmlns:a="http://schemas.openxmlformats.org/drawingml/2006/main">
            <a:r>
              <a:t>The dorsal relationship to the corporal bodies is where a small error can become a full-thickness injury. Use controlled dissection with a clear view of the plane. Do not pass an instrument blindly behind the urethra and assume that resistance represents a harmless adhesion.</a:t>
            </a:r>
          </a:p>
          <a:p xmlns:a="http://schemas.openxmlformats.org/drawingml/2006/main">
            <a:r>
              <a:t/>
            </a:r>
          </a:p>
          <a:p xmlns:a="http://schemas.openxmlformats.org/drawingml/2006/main">
            <a:r>
              <a:t>Preserve spongiosum and vascular attachments, limit circumferential mobilisation to what the cuff requires, and control bleeding without indiscriminate thermal injury. In scarred tissue, repeated forceful spreading can be more damaging than a deliberate change of approach.</a:t>
            </a:r>
          </a:p>
          <a:p xmlns:a="http://schemas.openxmlformats.org/drawingml/2006/main">
            <a:r>
              <a:t/>
            </a:r>
          </a:p>
          <a:p xmlns:a="http://schemas.openxmlformats.org/drawingml/2006/main">
            <a:r>
              <a:t>If the plane disappears, stop. Improve the view, reassess the site or seek reconstructive help. Transcorporal placement may be an option in selected hands, but it should be a considered plan with consent and appropriate expertise.</a:t>
            </a:r>
          </a:p>
          <a:p xmlns:a="http://schemas.openxmlformats.org/drawingml/2006/main">
            <a:r>
              <a:t/>
            </a:r>
          </a:p>
          <a:p xmlns:a="http://schemas.openxmlformats.org/drawingml/2006/main">
            <a:r>
              <a:t>Tissue preservation has a clear biological rationale. The precise contribution of each manoeuvre to erosion prevention has not been separated in high-quality comparative trials.</a:t>
            </a:r>
          </a:p>
          <a:p xmlns:a="http://schemas.openxmlformats.org/drawingml/2006/main">
            <a:r>
              <a:t/>
            </a:r>
          </a:p>
          <a:p xmlns:a="http://schemas.openxmlformats.org/drawingml/2006/main">
            <a:r>
              <a:t>References: ICS16 https://www.ics.org/folder/standardisation/current-ics-standardisations/d/artificial-urinary-sphincter-report-of-the-2015-consensus-conference/download; AP23 https://doi.org/10.1111/iju.15083; CCIFU https://www.rigicon.com/files/e-labeling/ContiClassic-IFU.pdf; URETH26 https://pubmed.ncbi.nlm.nih.gov/41022035/.</a:t>
            </a:r>
          </a:p>
          <a:p xmlns:a="http://schemas.openxmlformats.org/drawingml/2006/main">
            <a:r>
              <a:t/>
            </a:r>
          </a:p>
          <a:p xmlns:a="http://schemas.openxmlformats.org/drawingml/2006/main">
            <a:r>
              <a:t>Evidence status: Consensus and surgical principles, with observational support for the importance of prior reconstruction. ContiClassic IFU cautions against placing the cuff where spongiosal support is inadequate.</a:t>
            </a:r>
          </a:p>
          <a:p xmlns:a="http://schemas.openxmlformats.org/drawingml/2006/main">
            <a:r>
              <a:t/>
            </a:r>
          </a:p>
          <a:p xmlns:a="http://schemas.openxmlformats.org/drawingml/2006/main">
            <a:r>
              <a:t>
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27. Measurement: a tighter cuff is not a better measurement</a:t>
            </a:r>
          </a:p>
          <a:p xmlns:a="http://schemas.openxmlformats.org/drawingml/2006/main">
            <a:r>
              <a:t>Time 1:45. Clock 38:45-40:30.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Measurement fails when the tissue being measured is not the tissue that the cuff will ultimately enclose. Retraction can stretch the urethra. A tight measuring tape can compress it. Included fat, scar or muscle can enlarge the apparent circumference. Haematoma and tissue distortion create further uncertainty.</a:t>
            </a:r>
          </a:p>
          <a:p xmlns:a="http://schemas.openxmlformats.org/drawingml/2006/main">
            <a:r>
              <a:t/>
            </a:r>
          </a:p>
          <a:p xmlns:a="http://schemas.openxmlformats.org/drawingml/2006/main">
            <a:r>
              <a:t>Relax the traction, confirm the plane and use the manufacturer's sizing method. Recheck an implausible reading rather than selecting the familiar size from memory. In a reconstruction or transcorporal operation, the enclosed tissue is different; do not apply an unsupported numerical adjustment simply because it is traditional.</a:t>
            </a:r>
          </a:p>
          <a:p xmlns:a="http://schemas.openxmlformats.org/drawingml/2006/main">
            <a:r>
              <a:t/>
            </a:r>
          </a:p>
          <a:p xmlns:a="http://schemas.openxmlformats.org/drawingml/2006/main">
            <a:r>
              <a:t>Too small a cuff can create excessive compression, retention and tissue injury. Too large a cuff can leave poor coaptation and persistent leakage. Neither problem is reliably solved by choosing a stronger pressure-regulating balloon.</a:t>
            </a:r>
          </a:p>
          <a:p xmlns:a="http://schemas.openxmlformats.org/drawingml/2006/main">
            <a:r>
              <a:t/>
            </a:r>
          </a:p>
          <a:p xmlns:a="http://schemas.openxmlformats.org/drawingml/2006/main">
            <a:r>
              <a:t>Assess the final relationship and device function, with an appropriate integrity check when indicated. If the finding and measurement disagree, investigate the discrepancy. The early ContiClassic safety series included revisions attributed to sizing errors, which reinforces the practical importance of this step without telling us which sizing strategy is superior.</a:t>
            </a:r>
          </a:p>
          <a:p xmlns:a="http://schemas.openxmlformats.org/drawingml/2006/main">
            <a:r>
              <a:t/>
            </a:r>
          </a:p>
          <a:p xmlns:a="http://schemas.openxmlformats.org/drawingml/2006/main">
            <a:r>
              <a:t>More available sizes may help a surgeon choose a fit. Their availability alone is not evidence of better long-term continence or less erosion.</a:t>
            </a:r>
          </a:p>
          <a:p xmlns:a="http://schemas.openxmlformats.org/drawingml/2006/main">
            <a:r>
              <a:t/>
            </a:r>
          </a:p>
          <a:p xmlns:a="http://schemas.openxmlformats.org/drawingml/2006/main">
            <a:r>
              <a:t>References: ICS16 https://www.ics.org/folder/standardisation/current-ics-standardisations/d/artificial-urinary-sphincter-report-of-the-2015-consensus-conference/download; CCIFU https://www.rigicon.com/files/e-labeling/ContiClassic-IFU.pdf; CCSAFETY https://pubmed.ncbi.nlm.nih.gov/37543658/; AP23 https://doi.org/10.1111/iju.15083.</a:t>
            </a:r>
          </a:p>
          <a:p xmlns:a="http://schemas.openxmlformats.org/drawingml/2006/main">
            <a:r>
              <a:t/>
            </a:r>
          </a:p>
          <a:p xmlns:a="http://schemas.openxmlformats.org/drawingml/2006/main">
            <a:r>
              <a:t>Evidence status: Sizing principles are consensus/IFU-supported. No universal undersizing rule or comparative clinical benefit from finer cuff increments is asserted.</a:t>
            </a:r>
          </a:p>
          <a:p xmlns:a="http://schemas.openxmlformats.org/drawingml/2006/main">
            <a:r>
              <a:t/>
            </a:r>
          </a:p>
          <a:p xmlns:a="http://schemas.openxmlformats.org/drawingml/2006/main">
            <a:r>
              <a:t>
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28. Urethral injury or contamination: change the endpoint</a:t>
            </a:r>
          </a:p>
          <a:p xmlns:a="http://schemas.openxmlformats.org/drawingml/2006/main">
            <a:r>
              <a:t>Time 1:30. Clock 40:30-42:00.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a:t>
            </a:r>
          </a:p>
          <a:p xmlns:a="http://schemas.openxmlformats.org/drawingml/2006/main">
            <a:r>
              <a:t/>
            </a:r>
          </a:p>
          <a:p xmlns:a="http://schemas.openxmlformats.org/drawingml/2006/main">
            <a:r>
              <a:t>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 Consensus intervals are guides; the injury and reconstruction determine the actual pathway.</a:t>
            </a:r>
          </a:p>
          <a:p xmlns:a="http://schemas.openxmlformats.org/drawingml/2006/main">
            <a:r>
              <a:t/>
            </a:r>
          </a:p>
          <a:p xmlns:a="http://schemas.openxmlformats.org/drawingml/2006/main">
            <a:r>
              <a:t>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a:t>
            </a:r>
          </a:p>
          <a:p xmlns:a="http://schemas.openxmlformats.org/drawingml/2006/main">
            <a:r>
              <a:t/>
            </a:r>
          </a:p>
          <a:p xmlns:a="http://schemas.openxmlformats.org/drawingml/2006/main">
            <a:r>
              <a:t>These are single-use implants. A dropped or contaminated component should not return to service after an improvised antiseptic soak. Finishing with no implant can be the correct technical outcome when the conditions for safe implantation have disappeared.</a:t>
            </a:r>
          </a:p>
          <a:p xmlns:a="http://schemas.openxmlformats.org/drawingml/2006/main">
            <a:r>
              <a:t/>
            </a:r>
          </a:p>
          <a:p xmlns:a="http://schemas.openxmlformats.org/drawingml/2006/main">
            <a:r>
              <a:t>References: BAUS25 https://doi.org/10.1111/bju.16726; AP23 https://doi.org/10.1111/iju.15083; ICS16 https://www.ics.org/folder/standardisation/current-ics-standardisations/d/artificial-urinary-sphincter-report-of-the-2015-consensus-conference/download; CCIFU https://www.rigicon.com/files/e-labeling/ContiClassic-IFU.pdf.</a:t>
            </a:r>
          </a:p>
          <a:p xmlns:a="http://schemas.openxmlformats.org/drawingml/2006/main">
            <a:r>
              <a:t/>
            </a:r>
          </a:p>
          <a:p xmlns:a="http://schemas.openxmlformats.org/drawingml/2006/main">
            <a:r>
              <a:t>Evidence status: Stopping after urethral injury is consensus guidance. Repair, drainage and reimplantation timing depend on the injury; contamination response combines aseptic principles with single-use manufacturer restrictions.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29. Balloon placement and pressure: two different decisions</a:t>
            </a:r>
          </a:p>
          <a:p xmlns:a="http://schemas.openxmlformats.org/drawingml/2006/main">
            <a:r>
              <a:t>Time 1:30. Clock 42:00-43:30.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a:t>
            </a:r>
          </a:p>
          <a:p xmlns:a="http://schemas.openxmlformats.org/drawingml/2006/main">
            <a:r>
              <a:t/>
            </a:r>
          </a:p>
          <a:p xmlns:a="http://schemas.openxmlformats.org/drawingml/2006/main">
            <a:r>
              <a:t>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not automatically a safer pocket unless it is created correctly.</a:t>
            </a:r>
          </a:p>
          <a:p xmlns:a="http://schemas.openxmlformats.org/drawingml/2006/main">
            <a:r>
              <a:t/>
            </a:r>
          </a:p>
          <a:p xmlns:a="http://schemas.openxmlformats.org/drawingml/2006/main">
            <a:r>
              <a:t>Pressure selection is a separate issue. ContiClassic labelling lists ranges including sixty to sixty-nine centimetres of water; AMS 800 consensus commonly discusses sixty-one to seventy. Those labels must not be treated as interchangeable operative instructions.</a:t>
            </a:r>
          </a:p>
          <a:p xmlns:a="http://schemas.openxmlformats.org/drawingml/2006/main">
            <a:r>
              <a:t/>
            </a:r>
          </a:p>
          <a:p xmlns:a="http://schemas.openxmlformats.org/drawingml/2006/main">
            <a:r>
              <a:t>The public ContiClassic IFU confirms sterile saline filling but directs detailed implantation to a separate Operating Room Protocol. Without that protocol I cannot verify a filling volume or a universal pressure-selection algorithm. Confirm both before surgery. Increasing pressure should never be a substitute for diagnosing a poor cuff fit or a failing urethra.</a:t>
            </a:r>
          </a:p>
          <a:p xmlns:a="http://schemas.openxmlformats.org/drawingml/2006/main">
            <a:r>
              <a:t/>
            </a:r>
          </a:p>
          <a:p xmlns:a="http://schemas.openxmlformats.org/drawingml/2006/main">
            <a:r>
              <a:t>References: CCIFU https://www.rigicon.com/files/e-labeling/ContiClassic-IFU.pdf; AP23 https://doi.org/10.1111/iju.15083; ICS16 https://www.ics.org/folder/standardisation/current-ics-standardisations/d/artificial-urinary-sphincter-report-of-the-2015-consensus-conference/download.</a:t>
            </a:r>
          </a:p>
          <a:p xmlns:a="http://schemas.openxmlformats.org/drawingml/2006/main">
            <a:r>
              <a:t/>
            </a:r>
          </a:p>
          <a:p xmlns:a="http://schemas.openxmlformats.org/drawingml/2006/main">
            <a:r>
              <a:t>Evidence status: Placement options derive largely from AMS 800 experience and require product-specific applicability checks. ContiClassic pressure labels and saline medium are verified; fill volumes and selection algorithms are not.</a:t>
            </a:r>
          </a:p>
          <a:p xmlns:a="http://schemas.openxmlformats.org/drawingml/2006/main">
            <a:r>
              <a:t/>
            </a:r>
          </a:p>
          <a:p xmlns:a="http://schemas.openxmlformats.org/drawingml/2006/main">
            <a:r>
              <a:t>
Image source: Rigicon ContiClassic IFU, CC-IFU REV.03, 12 October 2023, printed page 1 (PDF page 4). https://www.rigicon.com/files/e-labeling/ContiClassic-IFU.pdf . Manufacturer illustration, shown for component identification, without a comparative superiority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30. The pump must work for the patient</a:t>
            </a:r>
          </a:p>
          <a:p xmlns:a="http://schemas.openxmlformats.org/drawingml/2006/main">
            <a:r>
              <a:t>Time 1:15. Clock 43:30-44:45.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The pump position is part of the functional result. The patient has already shown us where he can reach, which hand he uses and whether another scrotal device creates confusion. Use that information.</a:t>
            </a:r>
          </a:p>
          <a:p xmlns:a="http://schemas.openxmlformats.org/drawingml/2006/main">
            <a:r>
              <a:t/>
            </a:r>
          </a:p>
          <a:p xmlns:a="http://schemas.openxmlformats.org/drawingml/2006/main">
            <a:r>
              <a:t>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a:t>
            </a:r>
          </a:p>
          <a:p xmlns:a="http://schemas.openxmlformats.org/drawingml/2006/main">
            <a:r>
              <a:t/>
            </a:r>
          </a:p>
          <a:p xmlns:a="http://schemas.openxmlformats.org/drawingml/2006/main">
            <a:r>
              <a:t>Before closure, consider how the pump will sit when the patient stands, and whether the tubing will pull it upwards. Check that orientation permits both normal cycling and access to the deactivation control.</a:t>
            </a:r>
          </a:p>
          <a:p xmlns:a="http://schemas.openxmlformats.org/drawingml/2006/main">
            <a:r>
              <a:t/>
            </a:r>
          </a:p>
          <a:p xmlns:a="http://schemas.openxmlformats.org/drawingml/2006/main">
            <a:r>
              <a:t>An easily palpable demonstration pump on a table is not evidence that an oedematous postoperative scrotum will be easy to use. Accessibility should be checked again at activation, with the patient performing the task.</a:t>
            </a:r>
          </a:p>
          <a:p xmlns:a="http://schemas.openxmlformats.org/drawingml/2006/main">
            <a:r>
              <a:t/>
            </a:r>
          </a:p>
          <a:p xmlns:a="http://schemas.openxmlformats.org/drawingml/2006/main">
            <a:r>
              <a:t>References: AP23 https://doi.org/10.1111/iju.15083; ICS16 https://www.ics.org/folder/standardisation/current-ics-standardisations/d/artificial-urinary-sphincter-report-of-the-2015-consensus-conference/download; CCIFU https://www.rigicon.com/files/e-labeling/ContiClassic-IFU.pdf.</a:t>
            </a:r>
          </a:p>
          <a:p xmlns:a="http://schemas.openxmlformats.org/drawingml/2006/main">
            <a:r>
              <a:t/>
            </a:r>
          </a:p>
          <a:p xmlns:a="http://schemas.openxmlformats.org/drawingml/2006/main">
            <a:r>
              <a:t>Evidence status: Consensus and expert technique, with device-specific orientation and operating controls to be taught from the actual product instructions.</a:t>
            </a:r>
          </a:p>
          <a:p xmlns:a="http://schemas.openxmlformats.org/drawingml/2006/main">
            <a:r>
              <a:t/>
            </a:r>
          </a:p>
          <a:p xmlns:a="http://schemas.openxmlformats.org/drawingml/2006/main">
            <a:r>
              <a:t>
Image source: https://uroops3d.com/lab/aus . Captured 30 September–1 October 2026 (UTC). © UroOps3D / UroRef / Nity G. The site describes this as a schematic ContiClassic model with clinical review pending. Images illustrate spatial relationships, not validated anatomy, tissue perfusion or operative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31. Finish the system, then hand over the risk</a:t>
            </a:r>
          </a:p>
          <a:p xmlns:a="http://schemas.openxmlformats.org/drawingml/2006/main">
            <a:r>
              <a:t>Time 1:15. Clock 44:45-46:00.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Follow each tube between components. Avoid tension, excessive loops, kinks and entrapment during closure. Keep needles and instruments away from the components.</a:t>
            </a:r>
          </a:p>
          <a:p xmlns:a="http://schemas.openxmlformats.org/drawingml/2006/main">
            <a:r>
              <a:t/>
            </a:r>
          </a:p>
          <a:p xmlns:a="http://schemas.openxmlformats.org/drawingml/2006/main">
            <a:r>
              <a:t>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a:t>
            </a:r>
          </a:p>
          <a:p xmlns:a="http://schemas.openxmlformats.org/drawingml/2006/main">
            <a:r>
              <a:t/>
            </a:r>
          </a:p>
          <a:p xmlns:a="http://schemas.openxmlformats.org/drawingml/2006/main">
            <a:r>
              <a:t>Choose an appropriate small, atraumatically placed catheter for the individual cuff and urethra, and plan early removal after an uncomplicated implant. Device instructions and an injury or reconstruction may change that plan; do not improvise a universal catheter size.</a:t>
            </a:r>
          </a:p>
          <a:p xmlns:a="http://schemas.openxmlformats.org/drawingml/2006/main">
            <a:r>
              <a:t/>
            </a:r>
          </a:p>
          <a:p xmlns:a="http://schemas.openxmlformats.org/drawingml/2006/main">
            <a:r>
              <a:t>The handover should record the model, cuff site and size, balloon specification and position, deactivated state, catheter plan and contact details. The next clinician must know there is an AUS before attempting drainage.</a:t>
            </a:r>
          </a:p>
          <a:p xmlns:a="http://schemas.openxmlformats.org/drawingml/2006/main">
            <a:r>
              <a:t/>
            </a:r>
          </a:p>
          <a:p xmlns:a="http://schemas.openxmlformats.org/drawingml/2006/main">
            <a:r>
              <a:t>References: CCIFU https://www.rigicon.com/files/e-labeling/ContiClassic-IFU.pdf; ICS16 https://www.ics.org/folder/standardisation/current-ics-standardisations/d/artificial-urinary-sphincter-report-of-the-2015-consensus-conference/download; AP23 https://doi.org/10.1111/iju.15083; CATH13 https://pubmed.ncbi.nlm.nih.gov/24074987/.</a:t>
            </a:r>
          </a:p>
          <a:p xmlns:a="http://schemas.openxmlformats.org/drawingml/2006/main">
            <a:r>
              <a:t/>
            </a:r>
          </a:p>
          <a:p xmlns:a="http://schemas.openxmlformats.org/drawingml/2006/main">
            <a:r>
              <a:t>Evidence status: General system checks plus manufacturer-directed steps. AMS 800 consensus describes brief postoperative catheterisation, usually overnight or within 24-48 hours after uncomplicated surgery; this is not a verified ContiClassic duration. ContiClassic connector preparation and fill/purge sequence remain subject to the unavailable OR protocol; the text is not a substitute for that protocol.</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32. Four minutes, 46:00–50:00.</a:t>
            </a:r>
          </a:p>
          <a:p xmlns:a="http://schemas.openxmlformats.org/drawingml/2006/main">
            <a:r>
              <a:t/>
            </a:r>
          </a:p>
          <a:p xmlns:a="http://schemas.openxmlformats.org/drawingml/2006/main">
            <a:r>
              <a:t>Open https://uroops3d.com/lab/aus and use the scene controls. Public page and available view labels were inspected on 30 September 2026. Schematic ContiClassic model, clinical review pending. No claim of anatomical validation.</a:t>
            </a:r>
          </a:p>
          <a:p xmlns:a="http://schemas.openxmlformats.org/drawingml/2006/main">
            <a:r>
              <a:t/>
            </a:r>
          </a:p>
          <a:p xmlns:a="http://schemas.openxmlformats.org/drawingml/2006/main">
            <a:r>
              <a:t>00:00–00:20: Transition to anatomical relationships.</a:t>
            </a:r>
          </a:p>
          <a:p xmlns:a="http://schemas.openxmlformats.org/drawingml/2006/main">
            <a:r>
              <a:t>00:20–01:05: Cuff site view. Discuss viable bulbar tissue and supporting spongiosum.</a:t>
            </a:r>
          </a:p>
          <a:p xmlns:a="http://schemas.openxmlformats.org/drawingml/2006/main">
            <a:r>
              <a:t>01:05–01:45: Surgeon’s view. Discuss the dorsal plane and why scarred tissue changes dissection.</a:t>
            </a:r>
          </a:p>
          <a:p xmlns:a="http://schemas.openxmlformats.org/drawingml/2006/main">
            <a:r>
              <a:t>01:45–02:20: The three spaces view. Discuss accessible pump position.</a:t>
            </a:r>
          </a:p>
          <a:p xmlns:a="http://schemas.openxmlformats.org/drawingml/2006/main">
            <a:r>
              <a:t>02:20–03:10: Space of Retzius view. Discuss how previous surgery changes balloon access. Describe alternative pockets only verbally if absent.</a:t>
            </a:r>
          </a:p>
          <a:p xmlns:a="http://schemas.openxmlformats.org/drawingml/2006/main">
            <a:r>
              <a:t>03:10–03:45: Final configuration view. Trace tubing without claiming the schematic proves tension or perfusion.</a:t>
            </a:r>
          </a:p>
          <a:p xmlns:a="http://schemas.openxmlformats.org/drawingml/2006/main">
            <a:r>
              <a:t>03:45–04:00: Return to postoperative care.</a:t>
            </a:r>
          </a:p>
          <a:p xmlns:a="http://schemas.openxmlformats.org/drawingml/2006/main">
            <a:r>
              <a:t/>
            </a:r>
          </a:p>
          <a:p xmlns:a="http://schemas.openxmlformats.org/drawingml/2006/main">
            <a:r>
              <a:t>If loading fails, keep this slide displayed and use the original four-minute spoken fallback below. Do not spend the allocated session troubleshooting.</a:t>
            </a:r>
          </a:p>
          <a:p xmlns:a="http://schemas.openxmlformats.org/drawingml/2006/main">
            <a:r>
              <a:t/>
            </a:r>
          </a:p>
          <a:p xmlns:a="http://schemas.openxmlformats.org/drawingml/2006/main">
            <a:r>
              <a:t> replaces the same four minutes if the live demonstration fails</a:t>
            </a:r>
          </a:p>
          <a:p xmlns:a="http://schemas.openxmlformats.org/drawingml/2006/main">
            <a:r>
              <a:t/>
            </a:r>
          </a:p>
          <a:p xmlns:a="http://schemas.openxmlformats.org/drawingml/2006/main">
            <a:r>
              <a:t>[Do not troubleshoot beyond the opening twenty-second interval. Keep this slide displayed. The following six timed segments replace the live narration; they are not additional content.]</a:t>
            </a:r>
          </a:p>
          <a:p xmlns:a="http://schemas.openxmlformats.org/drawingml/2006/main">
            <a:r>
              <a:t/>
            </a:r>
          </a:p>
          <a:p xmlns:a="http://schemas.openxmlformats.org/drawingml/2006/main">
            <a:r>
              <a:t>00:00-00:20: “The model is not loading, so let us walk through the same anatomy verbally. Picture the bulbar urethra in the perineum, the pump in the scrotum and the balloon beneath the abdominal wall. We will connect each position to one operative decision.”</a:t>
            </a:r>
          </a:p>
          <a:p xmlns:a="http://schemas.openxmlformats.org/drawingml/2006/main">
            <a:r>
              <a:t/>
            </a:r>
          </a:p>
          <a:p xmlns:a="http://schemas.openxmlformats.org/drawingml/2006/main">
            <a:r>
              <a:t>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[Pause briefly.]</a:t>
            </a:r>
          </a:p>
          <a:p xmlns:a="http://schemas.openxmlformats.org/drawingml/2006/main">
            <a:r>
              <a:t/>
            </a:r>
          </a:p>
          <a:p xmlns:a="http://schemas.openxmlformats.org/drawingml/2006/main">
            <a:r>
              <a:t>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a:t>
            </a:r>
          </a:p>
          <a:p xmlns:a="http://schemas.openxmlformats.org/drawingml/2006/main">
            <a:r>
              <a:t/>
            </a:r>
          </a:p>
          <a:p xmlns:a="http://schemas.openxmlformats.org/drawingml/2006/main">
            <a:r>
              <a:t>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a:t>
            </a:r>
          </a:p>
          <a:p xmlns:a="http://schemas.openxmlformats.org/drawingml/2006/main">
            <a:r>
              <a:t/>
            </a:r>
          </a:p>
          <a:p xmlns:a="http://schemas.openxmlformats.org/drawingml/2006/main">
            <a:r>
              <a:t>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a:t>
            </a:r>
          </a:p>
          <a:p xmlns:a="http://schemas.openxmlformats.org/drawingml/2006/main">
            <a:r>
              <a:t/>
            </a:r>
          </a:p>
          <a:p xmlns:a="http://schemas.openxmlformats.org/drawingml/2006/main">
            <a:r>
              <a:t>03:10-04:00: “Trace the tubing between all three components. Avoid tension, sharp turns and entrapment under closure. Recheck connections, cycle the system and confirm an open cuff with correct deactivation. [Pause.]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I wanted the model to demonstrate. Let us return to postoperative care.”</a:t>
            </a:r>
          </a:p>
          <a:p xmlns:a="http://schemas.openxmlformats.org/drawingml/2006/main">
            <a:r>
              <a:t/>
            </a:r>
          </a:p>
          <a:p xmlns:a="http://schemas.openxmlformats.org/drawingml/2006/main">
            <a:r>
              <a:t>References: ICS16 https://www.ics.org/folder/standardisation/current-ics-standardisations/d/artificial-urinary-sphincter-report-of-the-2015-consensus-conference/download; AP23 https://doi.org/10.1111/iju.15083; CCIFU https://www.rigicon.com/files/e-labeling/ContiClassic-IFU.pdf. UroOps link and model-specific verification require presenter input.</a:t>
            </a:r>
          </a:p>
          <a:p xmlns:a="http://schemas.openxmlformats.org/drawingml/2006/main">
            <a:r>
              <a:t/>
            </a:r>
          </a:p>
          <a:p xmlns:a="http://schemas.openxmlformats.org/drawingml/2006/main">
            <a:r>
              <a:t>Evidence status: General anatomical teaching and expert synthesis. The public model is a teaching schematic awaiting clinical review. Exact device operation and placement permissions remain manufacturer-specific.</a:t>
            </a:r>
          </a:p>
          <a:p xmlns:a="http://schemas.openxmlformats.org/drawingml/2006/main">
            <a:r>
              <a:t/>
            </a:r>
          </a:p>
          <a:p xmlns:a="http://schemas.openxmlformats.org/drawingml/2006/main">
            <a:r>
              <a:t/>
            </a:r>
          </a:p>
          <a:p xmlns:a="http://schemas.openxmlformats.org/drawingml/2006/main">
            <a:r>
              <a:t>Sources: ICS16 https://www.ics.org/folder/standardisation/current-ics-standardisations/d/artificial-urinary-sphincter-report-of-the-2015-consensus-conference/download; AP23 https://doi.org/10.1111/iju.15083; CCIFU https://www.rigicon.com/files/e-labeling/ContiClassic-IFU.pdf. Image © UroOps3D / UroRef / Nity G. https://uroops3d.com/lab/aus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33. Early care: the device is only part of the handover</a:t>
            </a:r>
          </a:p>
          <a:p xmlns:a="http://schemas.openxmlformats.org/drawingml/2006/main">
            <a:r>
              <a:t>Time 1:00. Clock 50:00-51:00.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After uncomplicated implantation, remove the catheter early and check voiding. Persistent retention needs assessment of deactivation, oedema, cuff fit and obstruction, with safe drainage rather than repeated blind catheter attempts.</a:t>
            </a:r>
          </a:p>
          <a:p xmlns:a="http://schemas.openxmlformats.org/drawingml/2006/main">
            <a:r>
              <a:t/>
            </a:r>
          </a:p>
          <a:p xmlns:a="http://schemas.openxmlformats.org/drawingml/2006/main">
            <a:r>
              <a:t>Worsening pain, erythema, discharge, fever or voiding difficulty needs specialist review. Suspected erosion requires device-aware investigation; established infection or erosion generally needs explantation, not antibiotics alone.</a:t>
            </a:r>
          </a:p>
          <a:p xmlns:a="http://schemas.openxmlformats.org/drawingml/2006/main">
            <a:r>
              <a:t/>
            </a:r>
          </a:p>
          <a:p xmlns:a="http://schemas.openxmlformats.org/drawingml/2006/main">
            <a:r>
              <a:t>ContiClassic specifies four to six weeks deactivated, until pain and oedema settle. At activation, verify patient operation and emptying. Arrange subsequent functional review and access for problems.</a:t>
            </a:r>
          </a:p>
          <a:p xmlns:a="http://schemas.openxmlformats.org/drawingml/2006/main">
            <a:r>
              <a:t/>
            </a:r>
          </a:p>
          <a:p xmlns:a="http://schemas.openxmlformats.org/drawingml/2006/main">
            <a:r>
              <a:t>Give him the device card and clear instructions to alert clinicians before catheterisation or endoscopy. Safe future care depends on that information reaching the person holding the instrument.</a:t>
            </a:r>
          </a:p>
          <a:p xmlns:a="http://schemas.openxmlformats.org/drawingml/2006/main">
            <a:r>
              <a:t/>
            </a:r>
          </a:p>
          <a:p xmlns:a="http://schemas.openxmlformats.org/drawingml/2006/main">
            <a:r>
              <a:t>References: BAUS25 https://doi.org/10.1111/bju.16726; CCIFU https://www.rigicon.com/files/e-labeling/ContiClassic-IFU.pdf; AUA24 https://www.auanet.org/documents/Guidelines/PDF/2024%20Guidelines/IPT%20Unabridged%20Final%206-18-24.pdf; CATH13 https://pubmed.ncbi.nlm.nih.gov/24074987/.</a:t>
            </a:r>
          </a:p>
          <a:p xmlns:a="http://schemas.openxmlformats.org/drawingml/2006/main">
            <a:r>
              <a:t/>
            </a:r>
          </a:p>
          <a:p xmlns:a="http://schemas.openxmlformats.org/drawingml/2006/main">
            <a:r>
              <a:t>Evidence status: Guideline/IFU care with individualised drainage and follow-up. BAUS suggests reassessment three to four months after activation and further review at twelve months. Early red flags require assessment sooner than routine review intervals.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34. Fictional case 4: leakage after three good years</a:t>
            </a:r>
          </a:p>
          <a:p xmlns:a="http://schemas.openxmlformats.org/drawingml/2006/main">
            <a:r>
              <a:t>Time 1:30. Clock 51:00-52:30.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Our fourth fictional patient had three useful years with his AUS and now leaks again. Would you book a smaller cuff? [Pause for five seconds.]</a:t>
            </a:r>
          </a:p>
          <a:p xmlns:a="http://schemas.openxmlformats.org/drawingml/2006/main">
            <a:r>
              <a:t/>
            </a:r>
          </a:p>
          <a:p xmlns:a="http://schemas.openxmlformats.org/drawingml/2006/main">
            <a:r>
              <a:t>Start by distinguishing persistent leakage since activation from true recurrence after a successful interval. Ask whether this is activity-related leakage, urgency, overflow or difficulty cycling. Observe his technique and check the device state. Review urine and residual, examine the components, and use appropriately deactivated cystoscopy to look for erosion and assess the urethra. Investigate fluid loss or mechanical problems and bladder dysfunction as indicated.</a:t>
            </a:r>
          </a:p>
          <a:p xmlns:a="http://schemas.openxmlformats.org/drawingml/2006/main">
            <a:r>
              <a:t/>
            </a:r>
          </a:p>
          <a:p xmlns:a="http://schemas.openxmlformats.org/drawingml/2006/main">
            <a:r>
              <a:t>Urethral atrophy is an explanation to establish, not a diagnosis made by the passage of time. Modern revision series attribute many failures to the pressure-regulating balloon or other mechanics, and the definition of atrophy often depends on how the revision was investigated. Capsular restriction and poor initial sizing can also complicate the label.</a:t>
            </a:r>
          </a:p>
          <a:p xmlns:a="http://schemas.openxmlformats.org/drawingml/2006/main">
            <a:r>
              <a:t/>
            </a:r>
          </a:p>
          <a:p xmlns:a="http://schemas.openxmlformats.org/drawingml/2006/main">
            <a:r>
              <a:t>The answer may be retraining, bladder treatment, component revision, a revised cuff strategy or explantation. In an older system, discuss whole-system replacement. Repeated failure or a compromised urethra warrants specialist review before another tissue-consuming procedure.</a:t>
            </a:r>
          </a:p>
          <a:p xmlns:a="http://schemas.openxmlformats.org/drawingml/2006/main">
            <a:r>
              <a:t/>
            </a:r>
          </a:p>
          <a:p xmlns:a="http://schemas.openxmlformats.org/drawingml/2006/main">
            <a:r>
              <a:t>References: ATROPHY20 https://doi.org/10.21037/tau.2019.07.18; BAUS25 https://doi.org/10.1111/bju.16726; AUA24 https://www.auanet.org/documents/Guidelines/PDF/2024%20Guidelines/IPT%20Unabridged%20Final%206-18-24.pdf; CCIFU https://www.rigicon.com/files/e-labeling/ContiClassic-IFU.pdf.</a:t>
            </a:r>
          </a:p>
          <a:p xmlns:a="http://schemas.openxmlformats.org/drawingml/2006/main">
            <a:r>
              <a:t/>
            </a:r>
          </a:p>
          <a:p xmlns:a="http://schemas.openxmlformats.org/drawingml/2006/main">
            <a:r>
              <a:t>Evidence status: Fictional case. Failure categories are guideline-supported; attribution of atrophy and relative revision strategies remain contested and mainly observational. No automatic downsizing or pressure escalation is endorsed.</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35. What we know, what we believe, what we cannot yet answer</a:t>
            </a:r>
          </a:p>
          <a:p xmlns:a="http://schemas.openxmlformats.org/drawingml/2006/main">
            <a:r>
              <a:t>Time 0:45. Clock 52:30-53:15.</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AUS can deliver substantial benefit, with revision and erosion part of its lifetime burden. Tissue preservation, contamination control and planned instrumentation have strong rationale, although individual technical details often lack comparative evidence.</a:t>
            </a:r>
          </a:p>
          <a:p xmlns:a="http://schemas.openxmlformats.org/drawingml/2006/main">
            <a:r>
              <a:t/>
            </a:r>
          </a:p>
          <a:p xmlns:a="http://schemas.openxmlformats.org/drawingml/2006/main">
            <a:r>
              <a:t>We cannot name one best salvage operation for every fragile urethra, one optimal irrigant or a proven universal preparation duration. New device features need outcome evidence with comparable populations and definitions.</a:t>
            </a:r>
          </a:p>
          <a:p xmlns:a="http://schemas.openxmlformats.org/drawingml/2006/main">
            <a:r>
              <a:t/>
            </a:r>
          </a:p>
          <a:p xmlns:a="http://schemas.openxmlformats.org/drawingml/2006/main">
            <a:r>
              <a:t>Make that uncertainty visible in consent and operative planning.</a:t>
            </a:r>
          </a:p>
          <a:p xmlns:a="http://schemas.openxmlformats.org/drawingml/2006/main">
            <a:r>
              <a:t/>
            </a:r>
          </a:p>
          <a:p xmlns:a="http://schemas.openxmlformats.org/drawingml/2006/main">
            <a:r>
              <a:t>References: MASTER22 https://doi.org/10.3310/TBFZ0277; TC20 https://doi.org/10.5489/cuaj.6431; TC23 https://pubmed.ncbi.nlm.nih.gov/36749394/; PREP24 https://tau.amegroups.org/article/view/130351/html; CCSAFETY https://pubmed.ncbi.nlm.nih.gov/37543658/.</a:t>
            </a:r>
          </a:p>
          <a:p xmlns:a="http://schemas.openxmlformats.org/drawingml/2006/main">
            <a:r>
              <a:t/>
            </a:r>
          </a:p>
          <a:p xmlns:a="http://schemas.openxmlformats.org/drawingml/2006/main">
            <a:r>
              <a:t>Evidence status: Critical synthesis. The wording distinguishes demonstrated benefit, biologically plausible practice and unresolved comparative questions.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36. Five decisions before the implant is opened</a:t>
            </a:r>
          </a:p>
          <a:p xmlns:a="http://schemas.openxmlformats.org/drawingml/2006/main">
            <a:r>
              <a:t>Time 0:45. Clock 53:15-54:00.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The first five take-home messages belong before theatre. Establish the leakage mechanism and the improvement that matters. Watch the patient use a pump and assess access over time. Choose investigations to answer explicit questions, acknowledging the differences between guidelines.</a:t>
            </a:r>
          </a:p>
          <a:p xmlns:a="http://schemas.openxmlformats.org/drawingml/2006/main">
            <a:r>
              <a:t/>
            </a:r>
          </a:p>
          <a:p xmlns:a="http://schemas.openxmlformats.org/drawingml/2006/main">
            <a:r>
              <a:t>Keep detrusor overactivity, underactivity and poor compliance separate, because they lead to different decisions. Finally, establish a stable outlet and think through future instrumentation. A successful implant starts with a patient, bladder and urethra that can support the intended result.</a:t>
            </a:r>
          </a:p>
          <a:p xmlns:a="http://schemas.openxmlformats.org/drawingml/2006/main">
            <a:r>
              <a:t/>
            </a:r>
          </a:p>
          <a:p xmlns:a="http://schemas.openxmlformats.org/drawingml/2006/main">
            <a:r>
              <a:t>References: BAUS25 https://doi.org/10.1111/bju.16726; EAU26 https://uroweb.org/guidelines/management-of-non-neurogenic-male-luts/chapter/disease-management; AUA24 https://www.auanet.org/documents/Guidelines/PDF/2024%20Guidelines/IPT%20Unabridged%20Final%206-18-24.pdf; DU23 https://pubmed.ncbi.nlm.nih.gov/36906798/; ICS16 https://www.ics.org/folder/standardisation/current-ics-standardisations/d/artificial-urinary-sphincter-report-of-the-2015-consensus-conference/download.</a:t>
            </a:r>
          </a:p>
          <a:p xmlns:a="http://schemas.openxmlformats.org/drawingml/2006/main">
            <a:r>
              <a:t/>
            </a:r>
          </a:p>
          <a:p xmlns:a="http://schemas.openxmlformats.org/drawingml/2006/main">
            <a:r>
              <a:t>Evidence status: Practical synthesis of the preceding evidence; these five messages are not new numerical eligibility rules.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37. Five decisions that protect the result</a:t>
            </a:r>
          </a:p>
          <a:p xmlns:a="http://schemas.openxmlformats.org/drawingml/2006/main">
            <a:r>
              <a:t>Time 1:00. Clock 54:00-55:00.</a:t>
            </a:r>
          </a:p>
          <a:p xmlns:a="http://schemas.openxmlformats.org/drawingml/2006/main">
            <a:r>
              <a:t/>
            </a:r>
          </a:p>
          <a:p xmlns:a="http://schemas.openxmlformats.org/drawingml/2006/main">
            <a:r>
              <a:t>Speaker notes</a:t>
            </a:r>
          </a:p>
          <a:p xmlns:a="http://schemas.openxmlformats.org/drawingml/2006/main">
            <a:r>
              <a:t/>
            </a:r>
          </a:p>
          <a:p xmlns:a="http://schemas.openxmlformats.org/drawingml/2006/main">
            <a:r>
              <a:t>Preparation must be correct for the product, anatomy and implant pathway. A fifteen-minute ritual is not a substitute. In theatre, preserve the tissue you need, measure what the cuff will actually enclose, and correct uncertainty before closing.</a:t>
            </a:r>
          </a:p>
          <a:p xmlns:a="http://schemas.openxmlformats.org/drawingml/2006/main">
            <a:r>
              <a:t/>
            </a:r>
          </a:p>
          <a:p xmlns:a="http://schemas.openxmlformats.org/drawingml/2006/main">
            <a:r>
              <a:t>Use the instructions for the device being implanted. Similar components do not make pressure ranges, preparation or operating sequences interchangeable. Recognised injury or unsafe contamination is a reason to change the plan.</a:t>
            </a:r>
          </a:p>
          <a:p xmlns:a="http://schemas.openxmlformats.org/drawingml/2006/main">
            <a:r>
              <a:t/>
            </a:r>
          </a:p>
          <a:p xmlns:a="http://schemas.openxmlformats.org/drawingml/2006/main">
            <a:r>
              <a:t>Confirm the cuff state, drainage and the patient's ability to use the device. Make future instrumentation precautions explicit.</a:t>
            </a:r>
          </a:p>
          <a:p xmlns:a="http://schemas.openxmlformats.org/drawingml/2006/main">
            <a:r>
              <a:t/>
            </a:r>
          </a:p>
          <a:p xmlns:a="http://schemas.openxmlformats.org/drawingml/2006/main">
            <a:r>
              <a:t>When leakage returns, diagnose it before selecting a smaller cuff or higher pressure. The goal is useful continence over time, with safe storage, emptying and an agreed plan for further treatment.</a:t>
            </a:r>
          </a:p>
          <a:p xmlns:a="http://schemas.openxmlformats.org/drawingml/2006/main">
            <a:r>
              <a:t/>
            </a:r>
          </a:p>
          <a:p xmlns:a="http://schemas.openxmlformats.org/drawingml/2006/main">
            <a:r>
              <a:t>References: CCIFU https://www.rigicon.com/files/e-labeling/ContiClassic-IFU.pdf; NICE https://www.nice.org.uk/guidance/ng125/chapter/recommendations; AP23 https://doi.org/10.1111/iju.15083; ATROPHY20 https://doi.org/10.21037/tau.2019.07.18; BAUS25 https://doi.org/10.1111/bju.16726.</a:t>
            </a:r>
          </a:p>
          <a:p xmlns:a="http://schemas.openxmlformats.org/drawingml/2006/main">
            <a:r>
              <a:t/>
            </a:r>
          </a:p>
          <a:p xmlns:a="http://schemas.openxmlformats.org/drawingml/2006/main">
            <a:r>
              <a:t>Evidence status: These complete the ten take-home messages. The underlying evidence and device limitations are specified on the relevant earlier slides.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slide 38. Discussion: which finding would change your plan?</a:t>
            </a:r>
          </a:p>
          <a:p xmlns:a="http://schemas.openxmlformats.org/drawingml/2006/main">
            <a:r>
              <a:t>Time 5:00. Clock 55:00-60:00.</a:t>
            </a:r>
          </a:p>
          <a:p xmlns:a="http://schemas.openxmlformats.org/drawingml/2006/main">
            <a:r>
              <a:t/>
            </a:r>
          </a:p>
          <a:p xmlns:a="http://schemas.openxmlformats.org/drawingml/2006/main">
            <a:r>
              <a:t>Speaker notes and moderation plan</a:t>
            </a:r>
          </a:p>
          <a:p xmlns:a="http://schemas.openxmlformats.org/drawingml/2006/main">
            <a:r>
              <a:t/>
            </a:r>
          </a:p>
          <a:p xmlns:a="http://schemas.openxmlformats.org/drawingml/2006/main">
            <a:r>
              <a:t>55:00-55:20: “I would like to use these final five minutes on decisions rather than preferences alone. Choose one of the cases, tell us what you would do, and identify the finding that would make you change your plan.”</a:t>
            </a:r>
          </a:p>
          <a:p xmlns:a="http://schemas.openxmlformats.org/drawingml/2006/main">
            <a:r>
              <a:t/>
            </a:r>
          </a:p>
          <a:p xmlns:a="http://schemas.openxmlformats.org/drawingml/2006/main">
            <a:r>
              <a:t>55:20-57:20: Invite a response on bladder dysfunction or urethral stability. Take one contrasting view and a brief reply. Ask, if needed: “Is that a guideline requirement, a device instruction, or your interpretation of the evidence?”</a:t>
            </a:r>
          </a:p>
          <a:p xmlns:a="http://schemas.openxmlformats.org/drawingml/2006/main">
            <a:r>
              <a:t/>
            </a:r>
          </a:p>
          <a:p xmlns:a="http://schemas.openxmlformats.org/drawingml/2006/main">
            <a:r>
              <a:t>57:20-59:40: Invite a second question on operative practice, preparation or failure. Use the balanced answers below if relevant. Keep individual contributions brief enough to allow disagreement and clarification.</a:t>
            </a:r>
          </a:p>
          <a:p xmlns:a="http://schemas.openxmlformats.org/drawingml/2006/main">
            <a:r>
              <a:t/>
            </a:r>
          </a:p>
          <a:p xmlns:a="http://schemas.openxmlformats.org/drawingml/2006/main">
            <a:r>
              <a:t>59:40-60:00: “Thank you. The useful differences are now clear: what the evidence supports, what the device requires and where our judgement remains decisive. Those distinctions should be visible in our consent, our operation notes and the outcomes we report.”</a:t>
            </a:r>
          </a:p>
          <a:p xmlns:a="http://schemas.openxmlformats.org/drawingml/2006/main">
            <a:r>
              <a:t/>
            </a:r>
          </a:p>
          <a:p xmlns:a="http://schemas.openxmlformats.org/drawingml/2006/main">
            <a:r>
              <a:t>References: Sources depend on the question; see the ten prepared answers and bibliography below.</a:t>
            </a:r>
          </a:p>
          <a:p xmlns:a="http://schemas.openxmlformats.org/drawingml/2006/main">
            <a:r>
              <a:t/>
            </a:r>
          </a:p>
          <a:p xmlns:a="http://schemas.openxmlformats.org/drawingml/2006/main">
            <a:r>
              <a:t>Evidence status: Moderated discussion. Audience contributions are opinion unless supported; do not convert a show of hands into consensus evidence.</a:t>
            </a:r>
          </a:p>
          <a:p xmlns:a="http://schemas.openxmlformats.org/drawingml/2006/main">
            <a:r>
              <a:t/>
            </a:r>
          </a:p>
          <a:p xmlns:a="http://schemas.openxmlformats.org/drawingml/2006/main">
            <a:r>
              <a:t>
Prepared expert questions and balanced answers, outside the timed talk:
 Ten challenging expert questions and balanced suggested answers
These are preparation notes outside the sixty-minute running order. Use only the answer relevant to the live question.
### 1. If BAUS recommends video-urodynamics, is selective testing unacceptable?
BAUS and AUA take different positions; neither should be misquoted to remove that difference. BAUS favours VUDS in surgical candidates. AUA permits selective testing, while EAU has a weak pre-invasive-treatment recommendation alongside a selective narrative. A defensible pathway states which guidance it follows, confirms SUI and anatomy, and explains how storage safety and emptying were assessed. The case for UDS is stronger when those are uncertain. Its universal use has not been shown in an identified comparative trial to improve every AUS outcome. Selective testing therefore needs explicit clinical reasoning, not a claim that urodynamics is obsolete. [BAUS25]; [AUA24]; [EAU26]; [ICS16].
### 2. What continence rate should we quote, and is ContiClassic as good as AMS 800?
There is no defensible single rate for every patient. Specify pad-free continence, a defined allowance such as one safety pad, pad-weight improvement, patient satisfaction or freedom from revision. Quote a comparable population with radiation status and follow-up. AUSCO provides contemporary prospective AMS 800 outcomes, while historical cohorts inform durability. Neither offers a matched ContiClassic comparison. Its early report provides uncontrolled safety and survival information, without a verified standardised continence endpoint in the accessible abstract. It cannot establish equivalence or superiority. The outcome-context table below separates these endpoints and populations. [CCSAFETY]; [AUSCO26]; [LINDER15]; [MASTER22].
### 3. Must detrusor overactivity be eliminated before any AUS?
No single urodynamic observation should settle the general AUS decision. Relate DO to symptoms, pressures, functional capacity, treatment burden and the patient's goals. Selected clinical evidence supports implantation despite DO, but does not promise resolution of urgency or prove that DO has no association with later failure. Device instructions can be more restrictive: the reviewed ContiClassic IFU requires associated urge/overflow/instability to be controlled or resolved and contraindicates irresolvable instability. For that product, confirm and follow the current regional label. Do not use general AMS-era observational experience as an exemption from a specific contraindication. [DO24]; [DOFAIL23]; [CCIFU].
### 4. What residual volume or contractility index is too poor for AUS?
No universal cutoff is established for this decision. Repeated residuals, representative flow, pressure-flow quality, obstruction, straining and the proposed emptying strategy matter together. A study's BCI threshold is a research definition, not a validated post-prostatectomy implantation rule. Selected DU data are reassuring, but exclusions and incomplete subgroup reporting prevent a blanket safety claim. The question is whether this patient can empty safely after cycling and manage a credible rescue plan. If that is unresolved, investigate or optimise first. A man who may catheterise needs a separate assessment of competence, route and urethral risk. [DU23]; [CIC23]; [ICSUDS17].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Outcome definitions, populations and limitations follow the repository outcome-context table. Sources: AUSCO26 https://pmc.ncbi.nlm.nih.gov/articles/PMC12794701/</a:t>
            </a:r>
          </a:p>
          <a:p xmlns:a="http://schemas.openxmlformats.org/drawingml/2006/main">
            <a:r>
              <a:t>LINDER15 https://pubmed.ncbi.nlm.nih.gov/26135815/</a:t>
            </a:r>
          </a:p>
          <a:p xmlns:a="http://schemas.openxmlformats.org/drawingml/2006/main">
            <a:r>
              <a:t>CCSAFETY https://pubmed.ncbi.nlm.nih.gov/37543658/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MASTER22 https://doi.org/10.3310/TBFZ0277</a:t>
            </a:r>
          </a:p>
          <a:p xmlns:a="http://schemas.openxmlformats.org/drawingml/2006/main">
            <a:r>
              <a:t>YEUNG13 https://pubmed.ncbi.nlm.nih.gov/23164373/</a:t>
            </a:r>
          </a:p>
          <a:p xmlns:a="http://schemas.openxmlformats.org/drawingml/2006/main">
            <a:r>
              <a:t>PREP24 https://tau.amegroups.org/article/view/130351/html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gaps preserved from section 7 of the manuscript. No new clinical thresholds or device superiority claims are introduced.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bibliography with access limits:</a:t>
            </a:r>
          </a:p>
          <a:p xmlns:a="http://schemas.openxmlformats.org/drawingml/2006/main">
            <a:r>
              <a:t/>
            </a:r>
          </a:p>
          <a:p xmlns:a="http://schemas.openxmlformats.org/drawingml/2006/main">
            <a:r>
              <a:t> Why wait six months after a stenosis when some surgeons treat it synchronously?</a:t>
            </a:r>
          </a:p>
          <a:p xmlns:a="http://schemas.openxmlformats.org/drawingml/2006/main">
            <a:r>
              <a:t/>
            </a:r>
          </a:p>
          <a:p xmlns:a="http://schemas.openxmlformats.org/drawingml/2006/main">
            <a:r>
              <a:t>BAUS recommends six months without recurrence; that deserves explicit acknowledgement. Selected synchronous series demonstrate feasibility, not superiority over staging for recurrent irradiated disease. AUA's earlier cystoscopic reassessment and EAU's interval after redo anastomosis address different pathways. The patient's recurrence pattern, reconstruction, bladder function and future access requirements determine how reassuring any interval is. If considering synchronous treatment, explain why that particular disease is suitable, the limits of the evidence and the additional consequences of recurrent obstruction behind a cuff. A short period of patency after repeated failures is weak reassurance. [BAUS25]; [AUA24]; [EAUSTR26]; [ICS16].</a:t>
            </a:r>
          </a:p>
          <a:p xmlns:a="http://schemas.openxmlformats.org/drawingml/2006/main">
            <a:r>
              <a:t/>
            </a:r>
          </a:p>
          <a:p xmlns:a="http://schemas.openxmlformats.org/drawingml/2006/main">
            <a:r>
              <a:t>### 7. Should every irradiated or reconstructed urethra receive a transcorporal cuff?</a:t>
            </a:r>
          </a:p>
          <a:p xmlns:a="http://schemas.openxmlformats.org/drawingml/2006/main">
            <a:r>
              <a:t/>
            </a:r>
          </a:p>
          <a:p xmlns:a="http://schemas.openxmlformats.org/drawingml/2006/main">
            <a:r>
              <a:t>No. Radiation and previous reconstruction identify risk; they do not identify one proven protective operation. Transcorporal placement may solve a hazardous dorsal dissection, but comparative retrospective findings conflict, and the sickest urethras are often selected for it. Consider the site, remaining tissue, prior erosion, erectile function and penile-prosthesis plans. It may be a reasonable specialist choice, yet claims of universal erosion prevention exceed the evidence. Newer urethroplasty data also underline that the reconstruction's technique and anatomy matter. Document the specific problem that transcorporal placement is intended to solve. [TC20]; [TC23]; [RT22]; [URETH26].</a:t>
            </a:r>
          </a:p>
          <a:p xmlns:a="http://schemas.openxmlformats.org/drawingml/2006/main">
            <a:r>
              <a:t/>
            </a:r>
          </a:p>
          <a:p xmlns:a="http://schemas.openxmlformats.org/drawingml/2006/main">
            <a:r>
              <a:t>### 8. Are you advising us to abandon our fifteen-minute prep and postoperative antibiotics?</a:t>
            </a:r>
          </a:p>
          <a:p xmlns:a="http://schemas.openxmlformats.org/drawingml/2006/main">
            <a:r>
              <a:t/>
            </a:r>
          </a:p>
          <a:p xmlns:a="http://schemas.openxmlformats.org/drawingml/2006/main">
            <a:r>
              <a:t>The evidence supports examining the protocol, not making an ungoverned change in theatre. No direct evidence located establishes fifteen minutes as necessary for AUS; BAUS's five-minute recommendation is consensus and extrapolation. Product application and drying requirements remain essential. Postoperative antibiotics are another question: observational AUS data do not establish routine benefit, whereas the retrieved ContiClassic IFU describes a longer course. Reconcile the current label with microbiology, pharmacy and local implant policy before changing practice. Measure infection outcomes with adequate follow-up rather than assuming that more minutes or more antibiotics necessarily improve them. [BAUS25]; [PREP24]; [ABX18]; [CCIFU]; [AUAABX20].</a:t>
            </a:r>
          </a:p>
          <a:p xmlns:a="http://schemas.openxmlformats.org/drawingml/2006/main">
            <a:r>
              <a:t/>
            </a:r>
          </a:p>
          <a:p xmlns:a="http://schemas.openxmlformats.org/drawingml/2006/main">
            <a:r>
              <a:t>### 9. Can we catheterise or scope a patient with an AUS safely?</a:t>
            </a:r>
          </a:p>
          <a:p xmlns:a="http://schemas.openxmlformats.org/drawingml/2006/main">
            <a:r>
              <a:t/>
            </a:r>
          </a:p>
          <a:p xmlns:a="http://schemas.openxmlformats.org/drawingml/2006/main">
            <a:r>
              <a:t>Often, but it requires deliberate device-aware preparation. Identify the device, fully deflate its cuff and deactivate it according to its instructions before any urethral instrument. Choose the smallest appropriate instrument for the actual cuff and tissue, minimise force and duration, and stop if passage is difficult. Deactivation does not make every instrument diameter safe. Repeated large instruments or prolonged drainage should prompt specialist planning, possibly using another drainage route or a cuff-management strategy. Such strategies require consent and device-specific expertise. Observational associations do not create a universally safe catheter size or a guaranteed safe forty-eight-hour window. [CCIFU]; [CATH13]; [CIC23]; [ICS16].</a:t>
            </a:r>
          </a:p>
          <a:p xmlns:a="http://schemas.openxmlformats.org/drawingml/2006/main">
            <a:r>
              <a:t/>
            </a:r>
          </a:p>
          <a:p xmlns:a="http://schemas.openxmlformats.org/drawingml/2006/main">
            <a:r>
              <a:t>### 10. Has urethral atrophy disappeared, and should we simply replace the balloon?</a:t>
            </a:r>
          </a:p>
          <a:p xmlns:a="http://schemas.openxmlformats.org/drawingml/2006/main">
            <a:r>
              <a:t/>
            </a:r>
          </a:p>
          <a:p xmlns:a="http://schemas.openxmlformats.org/drawingml/2006/main">
            <a:r>
              <a:t>Neither conclusion is justified. Atrophy remains a possible explanation, but the label has often depended on excluding obvious fluid loss and finding that a smaller cuff improves coaptation. That is not histological proof of ischaemic tissue loss. Pressure-regulating balloon dysfunction, capsular effects, cuff fit and bladder dysfunction must be assessed. A selected revision series attributed many failures to the balloon, but that does not prove that balloon-only replacement is best for every ageing system. Discuss targeted versus whole-system revision after establishing the failure mechanism, device age, component compatibility and urethral risk. Recurrent complex failure merits specialist review. [ATROPHY20]; [BAUS25]; [AUA24].</a:t>
            </a:r>
          </a:p>
          <a:p xmlns:a="http://schemas.openxmlformats.org/drawingml/2006/main">
            <a:r>
              <a:t/>
            </a:r>
          </a:p>
          <a:p xmlns:a="http://schemas.openxmlformats.org/drawingml/2006/main">
            <a:r>
              <a:t/>
            </a:r>
          </a:p>
          <a:p xmlns:a="http://schemas.openxmlformats.org/drawingml/2006/main">
            <a:r>
              <a:t/>
            </a:r>
          </a:p>
          <a:p xmlns:a="http://schemas.openxmlformats.org/drawingml/2006/main">
            <a:r>
              <a:t>Linked references on this slide:</a:t>
            </a:r>
          </a:p>
          <a:p xmlns:a="http://schemas.openxmlformats.org/drawingml/2006/main">
            <a:r>
              <a:t>BAUS25 https://doi.org/10.1111/bju.16726</a:t>
            </a:r>
          </a:p>
          <a:p xmlns:a="http://schemas.openxmlformats.org/drawingml/2006/main">
            <a:r>
              <a:t>EAU26 https://uroweb.org/guidelines/management-of-non-neurogenic-male-luts/chapter/disease-management</a:t>
            </a:r>
          </a:p>
          <a:p xmlns:a="http://schemas.openxmlformats.org/drawingml/2006/main">
            <a:r>
              <a:t>AUA24 https://www.auanet.org/documents/Guidelines/PDF/2024%20Guidelines/IPT%20Unabridged%20Final%206-18-24.pdf</a:t>
            </a:r>
          </a:p>
          <a:p xmlns:a="http://schemas.openxmlformats.org/drawingml/2006/main">
            <a:r>
              <a:t>EAUSTR26 https://uroweb.org/guidelines/urethral-strictures/chapter/disease-management-in-males</a:t>
            </a:r>
          </a:p>
          <a:p xmlns:a="http://schemas.openxmlformats.org/drawingml/2006/main">
            <a:r>
              <a:t>ICS16 https://www.ics.org/folder/standardisation/current-ics-standardisations/d/artificial-urinary-sphincter-report-of-the-2015-consensus-conference/download</a:t>
            </a:r>
          </a:p>
          <a:p xmlns:a="http://schemas.openxmlformats.org/drawingml/2006/main">
            <a:r>
              <a:t>AP23 https://doi.org/10.1111/iju.15083</a:t>
            </a:r>
          </a:p>
          <a:p xmlns:a="http://schemas.openxmlformats.org/drawingml/2006/main">
            <a:r>
              <a:t>CCIFU https://www.rigicon.com/files/e-labeling/ContiClassic-IFU.pdf</a:t>
            </a:r>
          </a:p>
          <a:p xmlns:a="http://schemas.openxmlformats.org/drawingml/2006/main">
            <a:r>
              <a:t>ICSUDS17 https://doi.org/10.1002/nau.23124</a:t>
            </a:r>
          </a:p>
          <a:p xmlns:a="http://schemas.openxmlformats.org/drawingml/2006/main">
            <a:r>
              <a:t>AUAOAB24 https://doi.org/10.1097/JU.0000000000003985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bibliography with access limits:</a:t>
            </a:r>
          </a:p>
          <a:p xmlns:a="http://schemas.openxmlformats.org/drawingml/2006/main">
            <a:r>
              <a:t/>
            </a:r>
          </a:p>
          <a:p xmlns:a="http://schemas.openxmlformats.org/drawingml/2006/main">
            <a:r>
              <a:t> Why wait six months after a stenosis when some surgeons treat it synchronously?</a:t>
            </a:r>
          </a:p>
          <a:p xmlns:a="http://schemas.openxmlformats.org/drawingml/2006/main">
            <a:r>
              <a:t/>
            </a:r>
          </a:p>
          <a:p xmlns:a="http://schemas.openxmlformats.org/drawingml/2006/main">
            <a:r>
              <a:t>BAUS recommends six months without recurrence; that deserves explicit acknowledgement. Selected synchronous series demonstrate feasibility, not superiority over staging for recurrent irradiated disease. AUA's earlier cystoscopic reassessment and EAU's interval after redo anastomosis address different pathways. The patient's recurrence pattern, reconstruction, bladder function and future access requirements determine how reassuring any interval is. If considering synchronous treatment, explain why that particular disease is suitable, the limits of the evidence and the additional consequences of recurrent obstruction behind a cuff. A short period of patency after repeated failures is weak reassurance. [BAUS25]; [AUA24]; [EAUSTR26]; [ICS16].</a:t>
            </a:r>
          </a:p>
          <a:p xmlns:a="http://schemas.openxmlformats.org/drawingml/2006/main">
            <a:r>
              <a:t/>
            </a:r>
          </a:p>
          <a:p xmlns:a="http://schemas.openxmlformats.org/drawingml/2006/main">
            <a:r>
              <a:t>### 7. Should every irradiated or reconstructed urethra receive a transcorporal cuff?</a:t>
            </a:r>
          </a:p>
          <a:p xmlns:a="http://schemas.openxmlformats.org/drawingml/2006/main">
            <a:r>
              <a:t/>
            </a:r>
          </a:p>
          <a:p xmlns:a="http://schemas.openxmlformats.org/drawingml/2006/main">
            <a:r>
              <a:t>No. Radiation and previous reconstruction identify risk; they do not identify one proven protective operation. Transcorporal placement may solve a hazardous dorsal dissection, but comparative retrospective findings conflict, and the sickest urethras are often selected for it. Consider the site, remaining tissue, prior erosion, erectile function and penile-prosthesis plans. It may be a reasonable specialist choice, yet claims of universal erosion prevention exceed the evidence. Newer urethroplasty data also underline that the reconstruction's technique and anatomy matter. Document the specific problem that transcorporal placement is intended to solve. [TC20]; [TC23]; [RT22]; [URETH26].</a:t>
            </a:r>
          </a:p>
          <a:p xmlns:a="http://schemas.openxmlformats.org/drawingml/2006/main">
            <a:r>
              <a:t/>
            </a:r>
          </a:p>
          <a:p xmlns:a="http://schemas.openxmlformats.org/drawingml/2006/main">
            <a:r>
              <a:t>### 8. Are you advising us to abandon our fifteen-minute prep and postoperative antibiotics?</a:t>
            </a:r>
          </a:p>
          <a:p xmlns:a="http://schemas.openxmlformats.org/drawingml/2006/main">
            <a:r>
              <a:t/>
            </a:r>
          </a:p>
          <a:p xmlns:a="http://schemas.openxmlformats.org/drawingml/2006/main">
            <a:r>
              <a:t>The evidence supports examining the protocol, not making an ungoverned change in theatre. No direct evidence located establishes fifteen minutes as necessary for AUS; BAUS's five-minute recommendation is consensus and extrapolation. Product application and drying requirements remain essential. Postoperative antibiotics are another question: observational AUS data do not establish routine benefit, whereas the retrieved ContiClassic IFU describes a longer course. Reconcile the current label with microbiology, pharmacy and local implant policy before changing practice. Measure infection outcomes with adequate follow-up rather than assuming that more minutes or more antibiotics necessarily improve them. [BAUS25]; [PREP24]; [ABX18]; [CCIFU]; [AUAABX20].</a:t>
            </a:r>
          </a:p>
          <a:p xmlns:a="http://schemas.openxmlformats.org/drawingml/2006/main">
            <a:r>
              <a:t/>
            </a:r>
          </a:p>
          <a:p xmlns:a="http://schemas.openxmlformats.org/drawingml/2006/main">
            <a:r>
              <a:t>### 9. Can we catheterise or scope a patient with an AUS safely?</a:t>
            </a:r>
          </a:p>
          <a:p xmlns:a="http://schemas.openxmlformats.org/drawingml/2006/main">
            <a:r>
              <a:t/>
            </a:r>
          </a:p>
          <a:p xmlns:a="http://schemas.openxmlformats.org/drawingml/2006/main">
            <a:r>
              <a:t>Often, but it requires deliberate device-aware preparation. Identify the device, fully deflate its cuff and deactivate it according to its instructions before any urethral instrument. Choose the smallest appropriate instrument for the actual cuff and tissue, minimise force and duration, and stop if passage is difficult. Deactivation does not make every instrument diameter safe. Repeated large instruments or prolonged drainage should prompt specialist planning, possibly using another drainage route or a cuff-management strategy. Such strategies require consent and device-specific expertise. Observational associations do not create a universally safe catheter size or a guaranteed safe forty-eight-hour window. [CCIFU]; [CATH13]; [CIC23]; [ICS16].</a:t>
            </a:r>
          </a:p>
          <a:p xmlns:a="http://schemas.openxmlformats.org/drawingml/2006/main">
            <a:r>
              <a:t/>
            </a:r>
          </a:p>
          <a:p xmlns:a="http://schemas.openxmlformats.org/drawingml/2006/main">
            <a:r>
              <a:t>### 10. Has urethral atrophy disappeared, and should we simply replace the balloon?</a:t>
            </a:r>
          </a:p>
          <a:p xmlns:a="http://schemas.openxmlformats.org/drawingml/2006/main">
            <a:r>
              <a:t/>
            </a:r>
          </a:p>
          <a:p xmlns:a="http://schemas.openxmlformats.org/drawingml/2006/main">
            <a:r>
              <a:t>Neither conclusion is justified. Atrophy remains a possible explanation, but the label has often depended on excluding obvious fluid loss and finding that a smaller cuff improves coaptation. That is not histological proof of ischaemic tissue loss. Pressure-regulating balloon dysfunction, capsular effects, cuff fit and bladder dysfunction must be assessed. A selected revision series attributed many failures to the balloon, but that does not prove that balloon-only replacement is best for every ageing system. Discuss targeted versus whole-system revision after establishing the failure mechanism, device age, component compatibility and urethral risk. Recurrent complex failure merits specialist review. [ATROPHY20]; [BAUS25]; [AUA24].</a:t>
            </a:r>
          </a:p>
          <a:p xmlns:a="http://schemas.openxmlformats.org/drawingml/2006/main">
            <a:r>
              <a:t/>
            </a:r>
          </a:p>
          <a:p xmlns:a="http://schemas.openxmlformats.org/drawingml/2006/main">
            <a:r>
              <a:t/>
            </a:r>
          </a:p>
          <a:p xmlns:a="http://schemas.openxmlformats.org/drawingml/2006/main">
            <a:r>
              <a:t/>
            </a:r>
          </a:p>
          <a:p xmlns:a="http://schemas.openxmlformats.org/drawingml/2006/main">
            <a:r>
              <a:t>Linked references on this slide:</a:t>
            </a:r>
          </a:p>
          <a:p xmlns:a="http://schemas.openxmlformats.org/drawingml/2006/main">
            <a:r>
              <a:t>NICE https://www.nice.org.uk/guidance/ng125/chapter/recommendations</a:t>
            </a:r>
          </a:p>
          <a:p xmlns:a="http://schemas.openxmlformats.org/drawingml/2006/main">
            <a:r>
              <a:t>WHO09 https://www.who.int/publications/i/item/9789241597906</a:t>
            </a:r>
          </a:p>
          <a:p xmlns:a="http://schemas.openxmlformats.org/drawingml/2006/main">
            <a:r>
              <a:t>CHLORA26 https://www.medicines.org.uk/emc/product/101238/smpc</a:t>
            </a:r>
          </a:p>
          <a:p xmlns:a="http://schemas.openxmlformats.org/drawingml/2006/main">
            <a:r>
              <a:t>IDSA19 https://www.idsociety.org/practice-guideline/asymptomatic-bacteriuria/</a:t>
            </a:r>
          </a:p>
          <a:p xmlns:a="http://schemas.openxmlformats.org/drawingml/2006/main">
            <a:r>
              <a:t>AUAABX20 https://doi.org/10.1097/JU.0000000000000509</a:t>
            </a:r>
          </a:p>
          <a:p xmlns:a="http://schemas.openxmlformats.org/drawingml/2006/main">
            <a:r>
              <a:t>CCSAFETY https://pubmed.ncbi.nlm.nih.gov/37543658/</a:t>
            </a:r>
          </a:p>
          <a:p xmlns:a="http://schemas.openxmlformats.org/drawingml/2006/main">
            <a:r>
              <a:t>MASTER22 https://doi.org/10.3310/TBFZ0277</a:t>
            </a:r>
          </a:p>
          <a:p xmlns:a="http://schemas.openxmlformats.org/drawingml/2006/main">
            <a:r>
              <a:t>UDS09 https://pubmed.ncbi.nlm.nih.gov/19371935/</a:t>
            </a:r>
          </a:p>
          <a:p xmlns:a="http://schemas.openxmlformats.org/drawingml/2006/main">
            <a:r>
              <a:t>OAB11 https://pubmed.ncbi.nlm.nih.gov/21497853/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bibliography with access limits:</a:t>
            </a:r>
          </a:p>
          <a:p xmlns:a="http://schemas.openxmlformats.org/drawingml/2006/main">
            <a:r>
              <a:t/>
            </a:r>
          </a:p>
          <a:p xmlns:a="http://schemas.openxmlformats.org/drawingml/2006/main">
            <a:r>
              <a:t> Why wait six months after a stenosis when some surgeons treat it synchronously?</a:t>
            </a:r>
          </a:p>
          <a:p xmlns:a="http://schemas.openxmlformats.org/drawingml/2006/main">
            <a:r>
              <a:t/>
            </a:r>
          </a:p>
          <a:p xmlns:a="http://schemas.openxmlformats.org/drawingml/2006/main">
            <a:r>
              <a:t>BAUS recommends six months without recurrence; that deserves explicit acknowledgement. Selected synchronous series demonstrate feasibility, not superiority over staging for recurrent irradiated disease. AUA's earlier cystoscopic reassessment and EAU's interval after redo anastomosis address different pathways. The patient's recurrence pattern, reconstruction, bladder function and future access requirements determine how reassuring any interval is. If considering synchronous treatment, explain why that particular disease is suitable, the limits of the evidence and the additional consequences of recurrent obstruction behind a cuff. A short period of patency after repeated failures is weak reassurance. [BAUS25]; [AUA24]; [EAUSTR26]; [ICS16].</a:t>
            </a:r>
          </a:p>
          <a:p xmlns:a="http://schemas.openxmlformats.org/drawingml/2006/main">
            <a:r>
              <a:t/>
            </a:r>
          </a:p>
          <a:p xmlns:a="http://schemas.openxmlformats.org/drawingml/2006/main">
            <a:r>
              <a:t>### 7. Should every irradiated or reconstructed urethra receive a transcorporal cuff?</a:t>
            </a:r>
          </a:p>
          <a:p xmlns:a="http://schemas.openxmlformats.org/drawingml/2006/main">
            <a:r>
              <a:t/>
            </a:r>
          </a:p>
          <a:p xmlns:a="http://schemas.openxmlformats.org/drawingml/2006/main">
            <a:r>
              <a:t>No. Radiation and previous reconstruction identify risk; they do not identify one proven protective operation. Transcorporal placement may solve a hazardous dorsal dissection, but comparative retrospective findings conflict, and the sickest urethras are often selected for it. Consider the site, remaining tissue, prior erosion, erectile function and penile-prosthesis plans. It may be a reasonable specialist choice, yet claims of universal erosion prevention exceed the evidence. Newer urethroplasty data also underline that the reconstruction's technique and anatomy matter. Document the specific problem that transcorporal placement is intended to solve. [TC20]; [TC23]; [RT22]; [URETH26].</a:t>
            </a:r>
          </a:p>
          <a:p xmlns:a="http://schemas.openxmlformats.org/drawingml/2006/main">
            <a:r>
              <a:t/>
            </a:r>
          </a:p>
          <a:p xmlns:a="http://schemas.openxmlformats.org/drawingml/2006/main">
            <a:r>
              <a:t>### 8. Are you advising us to abandon our fifteen-minute prep and postoperative antibiotics?</a:t>
            </a:r>
          </a:p>
          <a:p xmlns:a="http://schemas.openxmlformats.org/drawingml/2006/main">
            <a:r>
              <a:t/>
            </a:r>
          </a:p>
          <a:p xmlns:a="http://schemas.openxmlformats.org/drawingml/2006/main">
            <a:r>
              <a:t>The evidence supports examining the protocol, not making an ungoverned change in theatre. No direct evidence located establishes fifteen minutes as necessary for AUS; BAUS's five-minute recommendation is consensus and extrapolation. Product application and drying requirements remain essential. Postoperative antibiotics are another question: observational AUS data do not establish routine benefit, whereas the retrieved ContiClassic IFU describes a longer course. Reconcile the current label with microbiology, pharmacy and local implant policy before changing practice. Measure infection outcomes with adequate follow-up rather than assuming that more minutes or more antibiotics necessarily improve them. [BAUS25]; [PREP24]; [ABX18]; [CCIFU]; [AUAABX20].</a:t>
            </a:r>
          </a:p>
          <a:p xmlns:a="http://schemas.openxmlformats.org/drawingml/2006/main">
            <a:r>
              <a:t/>
            </a:r>
          </a:p>
          <a:p xmlns:a="http://schemas.openxmlformats.org/drawingml/2006/main">
            <a:r>
              <a:t>### 9. Can we catheterise or scope a patient with an AUS safely?</a:t>
            </a:r>
          </a:p>
          <a:p xmlns:a="http://schemas.openxmlformats.org/drawingml/2006/main">
            <a:r>
              <a:t/>
            </a:r>
          </a:p>
          <a:p xmlns:a="http://schemas.openxmlformats.org/drawingml/2006/main">
            <a:r>
              <a:t>Often, but it requires deliberate device-aware preparation. Identify the device, fully deflate its cuff and deactivate it according to its instructions before any urethral instrument. Choose the smallest appropriate instrument for the actual cuff and tissue, minimise force and duration, and stop if passage is difficult. Deactivation does not make every instrument diameter safe. Repeated large instruments or prolonged drainage should prompt specialist planning, possibly using another drainage route or a cuff-management strategy. Such strategies require consent and device-specific expertise. Observational associations do not create a universally safe catheter size or a guaranteed safe forty-eight-hour window. [CCIFU]; [CATH13]; [CIC23]; [ICS16].</a:t>
            </a:r>
          </a:p>
          <a:p xmlns:a="http://schemas.openxmlformats.org/drawingml/2006/main">
            <a:r>
              <a:t/>
            </a:r>
          </a:p>
          <a:p xmlns:a="http://schemas.openxmlformats.org/drawingml/2006/main">
            <a:r>
              <a:t>### 10. Has urethral atrophy disappeared, and should we simply replace the balloon?</a:t>
            </a:r>
          </a:p>
          <a:p xmlns:a="http://schemas.openxmlformats.org/drawingml/2006/main">
            <a:r>
              <a:t/>
            </a:r>
          </a:p>
          <a:p xmlns:a="http://schemas.openxmlformats.org/drawingml/2006/main">
            <a:r>
              <a:t>Neither conclusion is justified. Atrophy remains a possible explanation, but the label has often depended on excluding obvious fluid loss and finding that a smaller cuff improves coaptation. That is not histological proof of ischaemic tissue loss. Pressure-regulating balloon dysfunction, capsular effects, cuff fit and bladder dysfunction must be assessed. A selected revision series attributed many failures to the balloon, but that does not prove that balloon-only replacement is best for every ageing system. Discuss targeted versus whole-system revision after establishing the failure mechanism, device age, component compatibility and urethral risk. Recurrent complex failure merits specialist review. [ATROPHY20]; [BAUS25]; [AUA24].</a:t>
            </a:r>
          </a:p>
          <a:p xmlns:a="http://schemas.openxmlformats.org/drawingml/2006/main">
            <a:r>
              <a:t/>
            </a:r>
          </a:p>
          <a:p xmlns:a="http://schemas.openxmlformats.org/drawingml/2006/main">
            <a:r>
              <a:t/>
            </a:r>
          </a:p>
          <a:p xmlns:a="http://schemas.openxmlformats.org/drawingml/2006/main">
            <a:r>
              <a:t/>
            </a:r>
          </a:p>
          <a:p xmlns:a="http://schemas.openxmlformats.org/drawingml/2006/main">
            <a:r>
              <a:t>Linked references on this slide:</a:t>
            </a:r>
          </a:p>
          <a:p xmlns:a="http://schemas.openxmlformats.org/drawingml/2006/main">
            <a:r>
              <a:t>DO24 https://doi.org/10.1002/bco2.442</a:t>
            </a:r>
          </a:p>
          <a:p xmlns:a="http://schemas.openxmlformats.org/drawingml/2006/main">
            <a:r>
              <a:t>DOFAIL23 https://pubmed.ncbi.nlm.nih.gov/36921845/</a:t>
            </a:r>
          </a:p>
          <a:p xmlns:a="http://schemas.openxmlformats.org/drawingml/2006/main">
            <a:r>
              <a:t>DU23 https://pubmed.ncbi.nlm.nih.gov/36906798/</a:t>
            </a:r>
          </a:p>
          <a:p xmlns:a="http://schemas.openxmlformats.org/drawingml/2006/main">
            <a:r>
              <a:t>CIC23 https://pubmed.ncbi.nlm.nih.gov/36332702/</a:t>
            </a:r>
          </a:p>
          <a:p xmlns:a="http://schemas.openxmlformats.org/drawingml/2006/main">
            <a:r>
              <a:t>CATH13 https://pubmed.ncbi.nlm.nih.gov/24074987/</a:t>
            </a:r>
          </a:p>
          <a:p xmlns:a="http://schemas.openxmlformats.org/drawingml/2006/main">
            <a:r>
              <a:t>UDS14 https://pubmed.ncbi.nlm.nih.gov/25483765/</a:t>
            </a:r>
          </a:p>
          <a:p xmlns:a="http://schemas.openxmlformats.org/drawingml/2006/main">
            <a:r>
              <a:t>RT22 https://doi.org/10.3389/fsurg.2022.825239</a:t>
            </a:r>
          </a:p>
          <a:p xmlns:a="http://schemas.openxmlformats.org/drawingml/2006/main">
            <a:r>
              <a:t>URETH26 https://pubmed.ncbi.nlm.nih.gov/41022035/</a:t>
            </a:r>
          </a:p>
          <a:p xmlns:a="http://schemas.openxmlformats.org/drawingml/2006/main">
            <a:r>
              <a:t>TC20 https://doi.org/10.5489/cuaj.6431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bibliography with access limits:</a:t>
            </a:r>
          </a:p>
          <a:p xmlns:a="http://schemas.openxmlformats.org/drawingml/2006/main">
            <a:r>
              <a:t/>
            </a:r>
          </a:p>
          <a:p xmlns:a="http://schemas.openxmlformats.org/drawingml/2006/main">
            <a:r>
              <a:t> Why wait six months after a stenosis when some surgeons treat it synchronously?</a:t>
            </a:r>
          </a:p>
          <a:p xmlns:a="http://schemas.openxmlformats.org/drawingml/2006/main">
            <a:r>
              <a:t/>
            </a:r>
          </a:p>
          <a:p xmlns:a="http://schemas.openxmlformats.org/drawingml/2006/main">
            <a:r>
              <a:t>BAUS recommends six months without recurrence; that deserves explicit acknowledgement. Selected synchronous series demonstrate feasibility, not superiority over staging for recurrent irradiated disease. AUA's earlier cystoscopic reassessment and EAU's interval after redo anastomosis address different pathways. The patient's recurrence pattern, reconstruction, bladder function and future access requirements determine how reassuring any interval is. If considering synchronous treatment, explain why that particular disease is suitable, the limits of the evidence and the additional consequences of recurrent obstruction behind a cuff. A short period of patency after repeated failures is weak reassurance. [BAUS25]; [AUA24]; [EAUSTR26]; [ICS16].</a:t>
            </a:r>
          </a:p>
          <a:p xmlns:a="http://schemas.openxmlformats.org/drawingml/2006/main">
            <a:r>
              <a:t/>
            </a:r>
          </a:p>
          <a:p xmlns:a="http://schemas.openxmlformats.org/drawingml/2006/main">
            <a:r>
              <a:t>### 7. Should every irradiated or reconstructed urethra receive a transcorporal cuff?</a:t>
            </a:r>
          </a:p>
          <a:p xmlns:a="http://schemas.openxmlformats.org/drawingml/2006/main">
            <a:r>
              <a:t/>
            </a:r>
          </a:p>
          <a:p xmlns:a="http://schemas.openxmlformats.org/drawingml/2006/main">
            <a:r>
              <a:t>No. Radiation and previous reconstruction identify risk; they do not identify one proven protective operation. Transcorporal placement may solve a hazardous dorsal dissection, but comparative retrospective findings conflict, and the sickest urethras are often selected for it. Consider the site, remaining tissue, prior erosion, erectile function and penile-prosthesis plans. It may be a reasonable specialist choice, yet claims of universal erosion prevention exceed the evidence. Newer urethroplasty data also underline that the reconstruction's technique and anatomy matter. Document the specific problem that transcorporal placement is intended to solve. [TC20]; [TC23]; [RT22]; [URETH26].</a:t>
            </a:r>
          </a:p>
          <a:p xmlns:a="http://schemas.openxmlformats.org/drawingml/2006/main">
            <a:r>
              <a:t/>
            </a:r>
          </a:p>
          <a:p xmlns:a="http://schemas.openxmlformats.org/drawingml/2006/main">
            <a:r>
              <a:t>### 8. Are you advising us to abandon our fifteen-minute prep and postoperative antibiotics?</a:t>
            </a:r>
          </a:p>
          <a:p xmlns:a="http://schemas.openxmlformats.org/drawingml/2006/main">
            <a:r>
              <a:t/>
            </a:r>
          </a:p>
          <a:p xmlns:a="http://schemas.openxmlformats.org/drawingml/2006/main">
            <a:r>
              <a:t>The evidence supports examining the protocol, not making an ungoverned change in theatre. No direct evidence located establishes fifteen minutes as necessary for AUS; BAUS's five-minute recommendation is consensus and extrapolation. Product application and drying requirements remain essential. Postoperative antibiotics are another question: observational AUS data do not establish routine benefit, whereas the retrieved ContiClassic IFU describes a longer course. Reconcile the current label with microbiology, pharmacy and local implant policy before changing practice. Measure infection outcomes with adequate follow-up rather than assuming that more minutes or more antibiotics necessarily improve them. [BAUS25]; [PREP24]; [ABX18]; [CCIFU]; [AUAABX20].</a:t>
            </a:r>
          </a:p>
          <a:p xmlns:a="http://schemas.openxmlformats.org/drawingml/2006/main">
            <a:r>
              <a:t/>
            </a:r>
          </a:p>
          <a:p xmlns:a="http://schemas.openxmlformats.org/drawingml/2006/main">
            <a:r>
              <a:t>### 9. Can we catheterise or scope a patient with an AUS safely?</a:t>
            </a:r>
          </a:p>
          <a:p xmlns:a="http://schemas.openxmlformats.org/drawingml/2006/main">
            <a:r>
              <a:t/>
            </a:r>
          </a:p>
          <a:p xmlns:a="http://schemas.openxmlformats.org/drawingml/2006/main">
            <a:r>
              <a:t>Often, but it requires deliberate device-aware preparation. Identify the device, fully deflate its cuff and deactivate it according to its instructions before any urethral instrument. Choose the smallest appropriate instrument for the actual cuff and tissue, minimise force and duration, and stop if passage is difficult. Deactivation does not make every instrument diameter safe. Repeated large instruments or prolonged drainage should prompt specialist planning, possibly using another drainage route or a cuff-management strategy. Such strategies require consent and device-specific expertise. Observational associations do not create a universally safe catheter size or a guaranteed safe forty-eight-hour window. [CCIFU]; [CATH13]; [CIC23]; [ICS16].</a:t>
            </a:r>
          </a:p>
          <a:p xmlns:a="http://schemas.openxmlformats.org/drawingml/2006/main">
            <a:r>
              <a:t/>
            </a:r>
          </a:p>
          <a:p xmlns:a="http://schemas.openxmlformats.org/drawingml/2006/main">
            <a:r>
              <a:t>### 10. Has urethral atrophy disappeared, and should we simply replace the balloon?</a:t>
            </a:r>
          </a:p>
          <a:p xmlns:a="http://schemas.openxmlformats.org/drawingml/2006/main">
            <a:r>
              <a:t/>
            </a:r>
          </a:p>
          <a:p xmlns:a="http://schemas.openxmlformats.org/drawingml/2006/main">
            <a:r>
              <a:t>Neither conclusion is justified. Atrophy remains a possible explanation, but the label has often depended on excluding obvious fluid loss and finding that a smaller cuff improves coaptation. That is not histological proof of ischaemic tissue loss. Pressure-regulating balloon dysfunction, capsular effects, cuff fit and bladder dysfunction must be assessed. A selected revision series attributed many failures to the balloon, but that does not prove that balloon-only replacement is best for every ageing system. Discuss targeted versus whole-system revision after establishing the failure mechanism, device age, component compatibility and urethral risk. Recurrent complex failure merits specialist review. [ATROPHY20]; [BAUS25]; [AUA24].</a:t>
            </a:r>
          </a:p>
          <a:p xmlns:a="http://schemas.openxmlformats.org/drawingml/2006/main">
            <a:r>
              <a:t/>
            </a:r>
          </a:p>
          <a:p xmlns:a="http://schemas.openxmlformats.org/drawingml/2006/main">
            <a:r>
              <a:t/>
            </a:r>
          </a:p>
          <a:p xmlns:a="http://schemas.openxmlformats.org/drawingml/2006/main">
            <a:r>
              <a:t/>
            </a:r>
          </a:p>
          <a:p xmlns:a="http://schemas.openxmlformats.org/drawingml/2006/main">
            <a:r>
              <a:t>Linked references on this slide:</a:t>
            </a:r>
          </a:p>
          <a:p xmlns:a="http://schemas.openxmlformats.org/drawingml/2006/main">
            <a:r>
              <a:t>TC23 https://pubmed.ncbi.nlm.nih.gov/36749394/</a:t>
            </a:r>
          </a:p>
          <a:p xmlns:a="http://schemas.openxmlformats.org/drawingml/2006/main">
            <a:r>
              <a:t>ATROPHY20 https://doi.org/10.21037/tau.2019.07.18</a:t>
            </a:r>
          </a:p>
          <a:p xmlns:a="http://schemas.openxmlformats.org/drawingml/2006/main">
            <a:r>
              <a:t>PREP24 https://tau.amegroups.org/article/view/130351/html</a:t>
            </a:r>
          </a:p>
          <a:p xmlns:a="http://schemas.openxmlformats.org/drawingml/2006/main">
            <a:r>
              <a:t>YEUNG13 https://pubmed.ncbi.nlm.nih.gov/23164373/</a:t>
            </a:r>
          </a:p>
          <a:p xmlns:a="http://schemas.openxmlformats.org/drawingml/2006/main">
            <a:r>
              <a:t>ABX18 https://doi.org/10.1016/j.urology.2017.07.064</a:t>
            </a:r>
          </a:p>
          <a:p xmlns:a="http://schemas.openxmlformats.org/drawingml/2006/main">
            <a:r>
              <a:t>TOUCH23 https://doi.org/10.5152/tud.2023.22136</a:t>
            </a:r>
          </a:p>
          <a:p xmlns:a="http://schemas.openxmlformats.org/drawingml/2006/main">
            <a:r>
              <a:t>LINDER15 https://pubmed.ncbi.nlm.nih.gov/26135815/</a:t>
            </a:r>
          </a:p>
          <a:p xmlns:a="http://schemas.openxmlformats.org/drawingml/2006/main">
            <a:r>
              <a:t>AUSCO26 https://pmc.ncbi.nlm.nih.gov/articles/PMC12794701/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a88cba373e4fc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8244917e8a442e0" /><Relationship Type="http://schemas.openxmlformats.org/officeDocument/2006/relationships/slideLayout" Target="/ppt/slideLayouts/slideLayout1.xml" Id="Rc8979b287a2c473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979b287a2c473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9e82459ba224373" /><Relationship Type="http://schemas.openxmlformats.org/officeDocument/2006/relationships/image" Target="/ppt/media/image.png" Id="R487be78760984035" /><Relationship Type="http://schemas.openxmlformats.org/officeDocument/2006/relationships/notesSlide" Target="/ppt/notesSlides/notesSlide1.xml" Id="Rc571091caca94f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dcc476dc34e4950" /><Relationship Type="http://schemas.openxmlformats.org/officeDocument/2006/relationships/notesSlide" Target="/ppt/notesSlides/notesSlide2.xml" Id="R6a34ee26f11c40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dbe800aaa8a4cc1" /><Relationship Type="http://schemas.openxmlformats.org/officeDocument/2006/relationships/notesSlide" Target="/ppt/notesSlides/notesSlide3.xml" Id="R17b585fc050a411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b2fb5dd1f7f4b46" /><Relationship Type="http://schemas.openxmlformats.org/officeDocument/2006/relationships/notesSlide" Target="/ppt/notesSlides/notesSlide4.xml" Id="R28b0a2b8018d4b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23b1b4a09f940ac" /><Relationship Type="http://schemas.openxmlformats.org/officeDocument/2006/relationships/notesSlide" Target="/ppt/notesSlides/notesSlide5.xml" Id="R313e068041eb4da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6d0243674e04c90" /><Relationship Type="http://schemas.openxmlformats.org/officeDocument/2006/relationships/image" Target="/ppt/media/image2.png" Id="R1d78293d02334aff" /><Relationship Type="http://schemas.openxmlformats.org/officeDocument/2006/relationships/notesSlide" Target="/ppt/notesSlides/notesSlide6.xml" Id="Ra056ad7aa3b445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37c190a0fd4454c" /><Relationship Type="http://schemas.openxmlformats.org/officeDocument/2006/relationships/notesSlide" Target="/ppt/notesSlides/notesSlide7.xml" Id="Ra2865bfe224f44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aeb68e05a244474" /><Relationship Type="http://schemas.openxmlformats.org/officeDocument/2006/relationships/notesSlide" Target="/ppt/notesSlides/notesSlide8.xml" Id="R0b6b5f3289544c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ce25c326480406e" /><Relationship Type="http://schemas.openxmlformats.org/officeDocument/2006/relationships/notesSlide" Target="/ppt/notesSlides/notesSlide9.xml" Id="Ra29b6ff8277c423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2736dd41595476f" /><Relationship Type="http://schemas.openxmlformats.org/officeDocument/2006/relationships/notesSlide" Target="/ppt/notesSlides/notesSlide10.xml" Id="R378191b8a3ee4a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ef2a67f8caf44d4" /><Relationship Type="http://schemas.openxmlformats.org/officeDocument/2006/relationships/notesSlide" Target="/ppt/notesSlides/notesSlide11.xml" Id="R0efd79fd6cb448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397e5923d42450f" /><Relationship Type="http://schemas.openxmlformats.org/officeDocument/2006/relationships/notesSlide" Target="/ppt/notesSlides/notesSlide12.xml" Id="R27db369e88d94a3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618518874494777" /><Relationship Type="http://schemas.openxmlformats.org/officeDocument/2006/relationships/notesSlide" Target="/ppt/notesSlides/notesSlide13.xml" Id="Rca6aeffa1ac5497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b657e709d9444e8" /><Relationship Type="http://schemas.openxmlformats.org/officeDocument/2006/relationships/notesSlide" Target="/ppt/notesSlides/notesSlide14.xml" Id="R7f80127254ef412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0867c9a60434881" /><Relationship Type="http://schemas.openxmlformats.org/officeDocument/2006/relationships/chart" Target="/ppt/slides/charts/chart1.xml" Id="R8d2caccf4b1f48f3" /><Relationship Type="http://schemas.openxmlformats.org/officeDocument/2006/relationships/chart" Target="/ppt/slides/charts/chart2.xml" Id="R6a099799e8b34d10" /><Relationship Type="http://schemas.openxmlformats.org/officeDocument/2006/relationships/notesSlide" Target="/ppt/notesSlides/notesSlide15.xml" Id="R5a006fabee34413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8c6c3cb52834293" /><Relationship Type="http://schemas.openxmlformats.org/officeDocument/2006/relationships/image" Target="/ppt/media/image3.png" Id="Rca4aa5b3383749af" /><Relationship Type="http://schemas.openxmlformats.org/officeDocument/2006/relationships/notesSlide" Target="/ppt/notesSlides/notesSlide16.xml" Id="R1410a86e4311410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38e01e0003a41d1" /><Relationship Type="http://schemas.openxmlformats.org/officeDocument/2006/relationships/notesSlide" Target="/ppt/notesSlides/notesSlide17.xml" Id="R4fd110ddeda849e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c50391a07f84af0" /><Relationship Type="http://schemas.openxmlformats.org/officeDocument/2006/relationships/notesSlide" Target="/ppt/notesSlides/notesSlide18.xml" Id="Ra1815f2b1d84442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0dc1060608344d7" /><Relationship Type="http://schemas.openxmlformats.org/officeDocument/2006/relationships/notesSlide" Target="/ppt/notesSlides/notesSlide19.xml" Id="R9da62e5a2eed45e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91796f2dfbb4c23" /><Relationship Type="http://schemas.openxmlformats.org/officeDocument/2006/relationships/notesSlide" Target="/ppt/notesSlides/notesSlide20.xml" Id="R267c73b28deb4eb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7fa5e6e38d7422a" /><Relationship Type="http://schemas.openxmlformats.org/officeDocument/2006/relationships/notesSlide" Target="/ppt/notesSlides/notesSlide21.xml" Id="R776e8f0d443e478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f13579e67c646b4" /><Relationship Type="http://schemas.openxmlformats.org/officeDocument/2006/relationships/chart" Target="/ppt/slides/charts/chart3.xml" Id="Rec19557b30824abc" /><Relationship Type="http://schemas.openxmlformats.org/officeDocument/2006/relationships/notesSlide" Target="/ppt/notesSlides/notesSlide22.xml" Id="R85b45535a140454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d3015775ff3414f" /><Relationship Type="http://schemas.openxmlformats.org/officeDocument/2006/relationships/notesSlide" Target="/ppt/notesSlides/notesSlide23.xml" Id="R30706ab1645245b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c90d4d6c3ab492f" /><Relationship Type="http://schemas.openxmlformats.org/officeDocument/2006/relationships/notesSlide" Target="/ppt/notesSlides/notesSlide24.xml" Id="R7f333f2e54d747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17441813ab5427c" /><Relationship Type="http://schemas.openxmlformats.org/officeDocument/2006/relationships/notesSlide" Target="/ppt/notesSlides/notesSlide25.xml" Id="R43a31e57969c431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dc6ca1d4694414a" /><Relationship Type="http://schemas.openxmlformats.org/officeDocument/2006/relationships/image" Target="/ppt/media/image4.png" Id="R474ce4cb4465400e" /><Relationship Type="http://schemas.openxmlformats.org/officeDocument/2006/relationships/notesSlide" Target="/ppt/notesSlides/notesSlide26.xml" Id="R3434600930c5491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91b37d52a89454f" /><Relationship Type="http://schemas.openxmlformats.org/officeDocument/2006/relationships/image" Target="/ppt/media/image5.png" Id="R1b4e06727ef849de" /><Relationship Type="http://schemas.openxmlformats.org/officeDocument/2006/relationships/notesSlide" Target="/ppt/notesSlides/notesSlide27.xml" Id="Rdd7a1d15424749b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d94ea21362345fc" /><Relationship Type="http://schemas.openxmlformats.org/officeDocument/2006/relationships/image" Target="/ppt/media/image6.png" Id="R85a53a42481f4c76" /><Relationship Type="http://schemas.openxmlformats.org/officeDocument/2006/relationships/notesSlide" Target="/ppt/notesSlides/notesSlide28.xml" Id="R0af77274c29041f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b058e35d2094fb8" /><Relationship Type="http://schemas.openxmlformats.org/officeDocument/2006/relationships/notesSlide" Target="/ppt/notesSlides/notesSlide29.xml" Id="R05e7ce178be5482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4aa5c981a6041fb" /><Relationship Type="http://schemas.openxmlformats.org/officeDocument/2006/relationships/image" Target="/ppt/media/image7.png" Id="R2124ef017ec84ba3" /><Relationship Type="http://schemas.openxmlformats.org/officeDocument/2006/relationships/notesSlide" Target="/ppt/notesSlides/notesSlide30.xml" Id="R8754b546ac654b8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16494154bb5407b" /><Relationship Type="http://schemas.openxmlformats.org/officeDocument/2006/relationships/image" Target="/ppt/media/image8.png" Id="Rad31b4658d054f2e" /><Relationship Type="http://schemas.openxmlformats.org/officeDocument/2006/relationships/notesSlide" Target="/ppt/notesSlides/notesSlide31.xml" Id="Rf0ac99de970f459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f441ada3fa94c67" /><Relationship Type="http://schemas.openxmlformats.org/officeDocument/2006/relationships/notesSlide" Target="/ppt/notesSlides/notesSlide32.xml" Id="R073b1336a2f845e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319fc9d0d024b0b" /><Relationship Type="http://schemas.openxmlformats.org/officeDocument/2006/relationships/image" Target="/ppt/media/image9.png" Id="Re7257a7bd0a14eb7" /><Relationship Type="http://schemas.openxmlformats.org/officeDocument/2006/relationships/hyperlink" Target="https://uroops3d.com/lab/aus" TargetMode="External" Id="R82355723a7c045e2" /><Relationship Type="http://schemas.openxmlformats.org/officeDocument/2006/relationships/notesSlide" Target="/ppt/notesSlides/notesSlide33.xml" Id="R373ef12fc81d469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c49533fcbc6416f" /><Relationship Type="http://schemas.openxmlformats.org/officeDocument/2006/relationships/notesSlide" Target="/ppt/notesSlides/notesSlide34.xml" Id="R709cdac94ed04d0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acc65387fbe4564" /><Relationship Type="http://schemas.openxmlformats.org/officeDocument/2006/relationships/notesSlide" Target="/ppt/notesSlides/notesSlide35.xml" Id="R4cc7e54f7490416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9c25e078d1b43d0" /><Relationship Type="http://schemas.openxmlformats.org/officeDocument/2006/relationships/notesSlide" Target="/ppt/notesSlides/notesSlide36.xml" Id="R0ac8f932ebe54a2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8e0cbca68344a1a" /><Relationship Type="http://schemas.openxmlformats.org/officeDocument/2006/relationships/notesSlide" Target="/ppt/notesSlides/notesSlide37.xml" Id="R6d9775f817df408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170f2e58600a42a5" /><Relationship Type="http://schemas.openxmlformats.org/officeDocument/2006/relationships/notesSlide" Target="/ppt/notesSlides/notesSlide38.xml" Id="R17f2fe4ff019456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571f0ec9324c49c9" /><Relationship Type="http://schemas.openxmlformats.org/officeDocument/2006/relationships/notesSlide" Target="/ppt/notesSlides/notesSlide39.xml" Id="R996f4ef80926436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e588ab5f1ac4f24" /><Relationship Type="http://schemas.openxmlformats.org/officeDocument/2006/relationships/notesSlide" Target="/ppt/notesSlides/notesSlide40.xml" Id="R63e54f394e85459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2b1640ffccf4daf" /><Relationship Type="http://schemas.openxmlformats.org/officeDocument/2006/relationships/notesSlide" Target="/ppt/notesSlides/notesSlide41.xml" Id="Rfb1a75dff0a343c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4faeef5b4b7a4f0f" /><Relationship Type="http://schemas.openxmlformats.org/officeDocument/2006/relationships/notesSlide" Target="/ppt/notesSlides/notesSlide42.xml" Id="Rcb1c38b9e553440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52a98ef82bc440a6" /><Relationship Type="http://schemas.openxmlformats.org/officeDocument/2006/relationships/hyperlink" Target="https://doi.org/10.1111/bju.16726" TargetMode="External" Id="R3d5aa7777cdf4299" /><Relationship Type="http://schemas.openxmlformats.org/officeDocument/2006/relationships/hyperlink" Target="https://uroweb.org/guidelines/management-of-non-neurogenic-male-luts/chapter/disease-management" TargetMode="External" Id="Rbe87f6fe02e640a5" /><Relationship Type="http://schemas.openxmlformats.org/officeDocument/2006/relationships/hyperlink" Target="https://www.auanet.org/documents/Guidelines/PDF/2024%20Guidelines/IPT%20Unabridged%20Final%206-18-24.pdf" TargetMode="External" Id="R8aae75f0f0b34aa6" /><Relationship Type="http://schemas.openxmlformats.org/officeDocument/2006/relationships/hyperlink" Target="https://uroweb.org/guidelines/urethral-strictures/chapter/disease-management-in-males" TargetMode="External" Id="Rff9a05f767b04925" /><Relationship Type="http://schemas.openxmlformats.org/officeDocument/2006/relationships/hyperlink" Target="https://www.ics.org/folder/standardisation/current-ics-standardisations/d/artificial-urinary-sphincter-report-of-the-2015-consensus-conference/download" TargetMode="External" Id="R6e4c22e67c654739" /><Relationship Type="http://schemas.openxmlformats.org/officeDocument/2006/relationships/hyperlink" Target="https://doi.org/10.1111/iju.15083" TargetMode="External" Id="Rd9b22340563f434c" /><Relationship Type="http://schemas.openxmlformats.org/officeDocument/2006/relationships/hyperlink" Target="https://www.rigicon.com/files/e-labeling/ContiClassic-IFU.pdf" TargetMode="External" Id="R811c4dbfb27e481c" /><Relationship Type="http://schemas.openxmlformats.org/officeDocument/2006/relationships/hyperlink" Target="https://doi.org/10.1002/nau.23124" TargetMode="External" Id="R42fcddfd0d19432f" /><Relationship Type="http://schemas.openxmlformats.org/officeDocument/2006/relationships/hyperlink" Target="https://doi.org/10.1097/JU.0000000000003985" TargetMode="External" Id="R710baba7cf884b4f" /><Relationship Type="http://schemas.openxmlformats.org/officeDocument/2006/relationships/notesSlide" Target="/ppt/notesSlides/notesSlide43.xml" Id="R77f6016e68e2465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e949c1d3e7f54449" /><Relationship Type="http://schemas.openxmlformats.org/officeDocument/2006/relationships/hyperlink" Target="https://www.nice.org.uk/guidance/ng125/chapter/recommendations" TargetMode="External" Id="Ree0716a8c89c4753" /><Relationship Type="http://schemas.openxmlformats.org/officeDocument/2006/relationships/hyperlink" Target="https://www.who.int/publications/i/item/9789241597906" TargetMode="External" Id="R99c04d8d0d1f4d33" /><Relationship Type="http://schemas.openxmlformats.org/officeDocument/2006/relationships/hyperlink" Target="https://www.medicines.org.uk/emc/product/101238/smpc" TargetMode="External" Id="R986c40e5802a40af" /><Relationship Type="http://schemas.openxmlformats.org/officeDocument/2006/relationships/hyperlink" Target="https://www.idsociety.org/practice-guideline/asymptomatic-bacteriuria/" TargetMode="External" Id="R0c4a135ca25d43d2" /><Relationship Type="http://schemas.openxmlformats.org/officeDocument/2006/relationships/hyperlink" Target="https://doi.org/10.1097/JU.0000000000000509" TargetMode="External" Id="R9f617eaf4d004ec9" /><Relationship Type="http://schemas.openxmlformats.org/officeDocument/2006/relationships/hyperlink" Target="https://pubmed.ncbi.nlm.nih.gov/37543658/" TargetMode="External" Id="Rf06224c6f67e43b2" /><Relationship Type="http://schemas.openxmlformats.org/officeDocument/2006/relationships/hyperlink" Target="https://doi.org/10.3310/TBFZ0277" TargetMode="External" Id="Rb315a2230e9540cc" /><Relationship Type="http://schemas.openxmlformats.org/officeDocument/2006/relationships/hyperlink" Target="https://pubmed.ncbi.nlm.nih.gov/19371935/" TargetMode="External" Id="Rc850431a31d04840" /><Relationship Type="http://schemas.openxmlformats.org/officeDocument/2006/relationships/hyperlink" Target="https://pubmed.ncbi.nlm.nih.gov/21497853/" TargetMode="External" Id="R55e95f28806245fe" /><Relationship Type="http://schemas.openxmlformats.org/officeDocument/2006/relationships/notesSlide" Target="/ppt/notesSlides/notesSlide44.xml" Id="Rdc44b7e6be3f42a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9cf914027d484119" /><Relationship Type="http://schemas.openxmlformats.org/officeDocument/2006/relationships/hyperlink" Target="https://doi.org/10.1002/bco2.442" TargetMode="External" Id="R759bde7504944f4d" /><Relationship Type="http://schemas.openxmlformats.org/officeDocument/2006/relationships/hyperlink" Target="https://pubmed.ncbi.nlm.nih.gov/36921845/" TargetMode="External" Id="Rad9e4fb0f8744b2b" /><Relationship Type="http://schemas.openxmlformats.org/officeDocument/2006/relationships/hyperlink" Target="https://pubmed.ncbi.nlm.nih.gov/36906798/" TargetMode="External" Id="R5357f15338b04f52" /><Relationship Type="http://schemas.openxmlformats.org/officeDocument/2006/relationships/hyperlink" Target="https://pubmed.ncbi.nlm.nih.gov/36332702/" TargetMode="External" Id="R0173d374b30d4784" /><Relationship Type="http://schemas.openxmlformats.org/officeDocument/2006/relationships/hyperlink" Target="https://pubmed.ncbi.nlm.nih.gov/24074987/" TargetMode="External" Id="R7a59ec7540424546" /><Relationship Type="http://schemas.openxmlformats.org/officeDocument/2006/relationships/hyperlink" Target="https://pubmed.ncbi.nlm.nih.gov/25483765/" TargetMode="External" Id="Rcc7be44aea744f04" /><Relationship Type="http://schemas.openxmlformats.org/officeDocument/2006/relationships/hyperlink" Target="https://doi.org/10.3389/fsurg.2022.825239" TargetMode="External" Id="Ra5097c935c5f4e6a" /><Relationship Type="http://schemas.openxmlformats.org/officeDocument/2006/relationships/hyperlink" Target="https://pubmed.ncbi.nlm.nih.gov/41022035/" TargetMode="External" Id="R6dff166ed93647c8" /><Relationship Type="http://schemas.openxmlformats.org/officeDocument/2006/relationships/hyperlink" Target="https://doi.org/10.5489/cuaj.6431" TargetMode="External" Id="Rc7e101b8a36c4946" /><Relationship Type="http://schemas.openxmlformats.org/officeDocument/2006/relationships/notesSlide" Target="/ppt/notesSlides/notesSlide45.xml" Id="R19215236ec274aa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54d1303125043bf" /><Relationship Type="http://schemas.openxmlformats.org/officeDocument/2006/relationships/hyperlink" Target="https://pubmed.ncbi.nlm.nih.gov/36749394/" TargetMode="External" Id="R7aeac573c1f44da3" /><Relationship Type="http://schemas.openxmlformats.org/officeDocument/2006/relationships/hyperlink" Target="https://doi.org/10.21037/tau.2019.07.18" TargetMode="External" Id="R999d320be5fb42b0" /><Relationship Type="http://schemas.openxmlformats.org/officeDocument/2006/relationships/hyperlink" Target="https://tau.amegroups.org/article/view/130351/html" TargetMode="External" Id="R35440475a01a4e30" /><Relationship Type="http://schemas.openxmlformats.org/officeDocument/2006/relationships/hyperlink" Target="https://pubmed.ncbi.nlm.nih.gov/23164373/" TargetMode="External" Id="R7b0cd445f8b64d59" /><Relationship Type="http://schemas.openxmlformats.org/officeDocument/2006/relationships/hyperlink" Target="https://doi.org/10.1016/j.urology.2017.07.064" TargetMode="External" Id="R6664e2d039b24e0f" /><Relationship Type="http://schemas.openxmlformats.org/officeDocument/2006/relationships/hyperlink" Target="https://doi.org/10.5152/tud.2023.22136" TargetMode="External" Id="R310fdb50cc5a4ffd" /><Relationship Type="http://schemas.openxmlformats.org/officeDocument/2006/relationships/hyperlink" Target="https://pubmed.ncbi.nlm.nih.gov/26135815/" TargetMode="External" Id="R4d0de13f645a4238" /><Relationship Type="http://schemas.openxmlformats.org/officeDocument/2006/relationships/hyperlink" Target="https://pmc.ncbi.nlm.nih.gov/articles/PMC12794701/" TargetMode="External" Id="R8da92f0ce0074c51" /><Relationship Type="http://schemas.openxmlformats.org/officeDocument/2006/relationships/notesSlide" Target="/ppt/notesSlides/notesSlide46.xml" Id="Ra773bdd92f27480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Schematic detrusor pressure</c:v>
          </c:tx>
          <c:spPr>
            <a:ln xmlns:a="http://schemas.openxmlformats.org/drawingml/2006/main" w="38100">
              <a:solidFill>
                <a:srgbClr val="147F83"/>
              </a:solidFill>
            </a:ln>
          </c:spPr>
          <c:marker>
            <c:symbol val="none"/>
          </c:marker>
          <c:cat>
            <c:numRef>
              <c:f>'Chart Data'!$A$2:$A$11</c:f>
              <c:numCache>
                <c:formatCode>General</c:formatCode>
                <c:ptCount val="10"/>
                <c:pt idx="0">
                  <c:v>0</c:v>
                </c:pt>
                <c:pt idx="1">
                  <c:v>1</c:v>
                </c:pt>
                <c:pt idx="2">
                  <c:v>2</c:v>
                </c:pt>
                <c:pt idx="3">
                  <c:v>3</c:v>
                </c:pt>
                <c:pt idx="4">
                  <c:v>4</c:v>
                </c:pt>
                <c:pt idx="5">
                  <c:v>5</c:v>
                </c:pt>
                <c:pt idx="6">
                  <c:v>6</c:v>
                </c:pt>
                <c:pt idx="7">
                  <c:v>7</c:v>
                </c:pt>
                <c:pt idx="8">
                  <c:v>8</c:v>
                </c:pt>
                <c:pt idx="9">
                  <c:v>9</c:v>
                </c:pt>
              </c:numCache>
            </c:numRef>
          </c:cat>
          <c:val>
            <c:numRef>
              <c:f>'Chart Data'!$B$2:$B$11</c:f>
              <c:numCache>
                <c:formatCode>General</c:formatCode>
                <c:ptCount val="10"/>
                <c:pt idx="0">
                  <c:v>1</c:v>
                </c:pt>
                <c:pt idx="1">
                  <c:v>1</c:v>
                </c:pt>
                <c:pt idx="2">
                  <c:v>1</c:v>
                </c:pt>
                <c:pt idx="3">
                  <c:v>1</c:v>
                </c:pt>
                <c:pt idx="4">
                  <c:v>5</c:v>
                </c:pt>
                <c:pt idx="5">
                  <c:v>7</c:v>
                </c:pt>
                <c:pt idx="6">
                  <c:v>2</c:v>
                </c:pt>
                <c:pt idx="7">
                  <c:v>1</c:v>
                </c:pt>
                <c:pt idx="8">
                  <c:v>1</c:v>
                </c:pt>
                <c:pt idx="9">
                  <c:v>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max val="1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ser>
          <c:idx val="0"/>
          <c:order val="0"/>
          <c:tx>
            <c:v>Schematic detrusor pressure</c:v>
          </c:tx>
          <c:spPr>
            <a:ln xmlns:a="http://schemas.openxmlformats.org/drawingml/2006/main" w="38100">
              <a:solidFill>
                <a:srgbClr val="A64135"/>
              </a:solidFill>
            </a:ln>
          </c:spPr>
          <c:marker>
            <c:symbol val="none"/>
          </c:marker>
          <c:cat>
            <c:numRef>
              <c:f>'Chart Data'!$A$2:$A$11</c:f>
              <c:numCache>
                <c:formatCode>General</c:formatCode>
                <c:ptCount val="10"/>
                <c:pt idx="0">
                  <c:v>0</c:v>
                </c:pt>
                <c:pt idx="1">
                  <c:v>1</c:v>
                </c:pt>
                <c:pt idx="2">
                  <c:v>2</c:v>
                </c:pt>
                <c:pt idx="3">
                  <c:v>3</c:v>
                </c:pt>
                <c:pt idx="4">
                  <c:v>4</c:v>
                </c:pt>
                <c:pt idx="5">
                  <c:v>5</c:v>
                </c:pt>
                <c:pt idx="6">
                  <c:v>6</c:v>
                </c:pt>
                <c:pt idx="7">
                  <c:v>7</c:v>
                </c:pt>
                <c:pt idx="8">
                  <c:v>8</c:v>
                </c:pt>
                <c:pt idx="9">
                  <c:v>9</c:v>
                </c:pt>
              </c:numCache>
            </c:numRef>
          </c:cat>
          <c:val>
            <c:numRef>
              <c:f>'Chart Data'!$B$2:$B$11</c:f>
              <c:numCache>
                <c:formatCode>General</c:formatCode>
                <c:ptCount val="10"/>
                <c:pt idx="0">
                  <c:v>1</c:v>
                </c:pt>
                <c:pt idx="1">
                  <c:v>1.1</c:v>
                </c:pt>
                <c:pt idx="2">
                  <c:v>1.5</c:v>
                </c:pt>
                <c:pt idx="3">
                  <c:v>2</c:v>
                </c:pt>
                <c:pt idx="4">
                  <c:v>2.6</c:v>
                </c:pt>
                <c:pt idx="5">
                  <c:v>3.4</c:v>
                </c:pt>
                <c:pt idx="6">
                  <c:v>4.3</c:v>
                </c:pt>
                <c:pt idx="7">
                  <c:v>5.3</c:v>
                </c:pt>
                <c:pt idx="8">
                  <c:v>6.5</c:v>
                </c:pt>
                <c:pt idx="9">
                  <c:v>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max val="1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Positive post-preparation skin culture</c:v>
          </c:tx>
          <c:spPr>
            <a:solidFill xmlns:a="http://schemas.openxmlformats.org/drawingml/2006/main">
              <a:srgbClr val="147F83"/>
            </a:solidFill>
          </c:spPr>
          <c:cat>
            <c:strRef>
              <c:f>'Chart Data'!$A$2:$A$3</c:f>
              <c:strCache>
                <c:ptCount val="2"/>
                <c:pt idx="0">
                  <c:v>Chlorhexidine–alcohol</c:v>
                </c:pt>
                <c:pt idx="1">
                  <c:v>Povidone–iodine</c:v>
                </c:pt>
              </c:strCache>
            </c:strRef>
          </c:cat>
          <c:val>
            <c:numRef>
              <c:f>'Chart Data'!$B$2:$B$3</c:f>
              <c:numCache>
                <c:formatCode>0%</c:formatCode>
                <c:ptCount val="2"/>
                <c:pt idx="0">
                  <c:v>0.08</c:v>
                </c:pt>
                <c:pt idx="1">
                  <c:v>0.32</c:v>
                </c:pt>
              </c:numCache>
            </c:numRef>
          </c:val>
        </c:ser>
        <c:dLbls>
          <c:txPr>
            <a:bodyPr xmlns:a="http://schemas.openxmlformats.org/drawingml/2006/main" anchorCtr="1"/>
            <a:lstStyle xmlns:a="http://schemas.openxmlformats.org/drawingml/2006/main"/>
            <a:p xmlns:a="http://schemas.openxmlformats.org/drawingml/2006/main">
              <a:pPr>
                <a:defRPr sz="2100" b="1">
                  <a:solidFill>
                    <a:srgbClr val="18334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83343"/>
                </a:solidFill>
                <a:latin typeface="Arial"/>
                <a:ea typeface="Arial"/>
                <a:cs typeface="Arial"/>
              </a:defRPr>
            </a:pPr>
          </a:p>
        </c:txPr>
        <c:crossAx val="48672768"/>
      </c:catAx>
      <c:valAx>
        <c:axId val="48672768"/>
        <c:scaling>
          <c:orientation val="minMax"/>
          <c:max val="0.4"/>
          <c:min val="0"/>
        </c:scaling>
        <c:delete val="0"/>
        <c:axPos val="l"/>
        <c:majorGridlines>
          <c:spPr>
            <a:ln xmlns:a="http://schemas.openxmlformats.org/drawingml/2006/main" w="9525">
              <a:solidFill>
                <a:srgbClr val="D5E0E3"/>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26773"/>
                </a:solidFill>
                <a:latin typeface="Arial"/>
                <a:ea typeface="Arial"/>
                <a:cs typeface="Arial"/>
              </a:defRPr>
            </a:pPr>
          </a:p>
        </c:txPr>
        <c:crossAx val="48650112"/>
        <c:crossBetween val="between"/>
        <c:majorUnit val="0.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87be78760984035"/>
          <a:stretch xmlns:a="http://schemas.openxmlformats.org/drawingml/2006/main"/>
        </p:blipFill>
        <p:spPr>
          <a:xfrm xmlns:a="http://schemas.openxmlformats.org/drawingml/2006/main">
            <a:off x="6000750" y="1365250"/>
            <a:ext cx="6191250" cy="41275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ACB2E3C-FA6B-4292-A6DF-DD866ACA4733}"/>
              </a:ext>
            </a:extLst>
          </p:cNvPr>
          <p:cNvSpPr>
            <a:spLocks xmlns:a="http://schemas.openxmlformats.org/drawingml/2006/main" noGrp="1"/>
          </p:cNvSpPr>
          <p:nvPr/>
        </p:nvSpPr>
        <p:spPr>
          <a:xfrm xmlns:a="http://schemas.openxmlformats.org/drawingml/2006/main">
            <a:off x="609600" y="1333500"/>
            <a:ext cx="54768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350" b="1">
                <a:solidFill>
                  <a:srgbClr val="183343"/>
                </a:solidFill>
                <a:latin typeface="Arial"/>
                <a:ea typeface="Arial"/>
                <a:cs typeface="Arial"/>
              </a:defRPr>
            </a:pPr>
            <a:r>
              <a:rPr sz="4350" b="1">
                <a:solidFill>
                  <a:srgbClr val="183343"/>
                </a:solidFill>
                <a:latin typeface="Arial"/>
                <a:ea typeface="Arial"/>
                <a:cs typeface="Arial"/>
              </a:rPr>
              <a:t>Artificial urinary</a:t>
            </a:r>
          </a:p>
          <a:p xmlns:a="http://schemas.openxmlformats.org/drawingml/2006/main">
            <a:pPr>
              <a:defRPr sz="4350" b="1">
                <a:solidFill>
                  <a:srgbClr val="183343"/>
                </a:solidFill>
                <a:latin typeface="Arial"/>
                <a:ea typeface="Arial"/>
                <a:cs typeface="Arial"/>
              </a:defRPr>
            </a:pPr>
            <a:r>
              <a:rPr sz="4350" b="1">
                <a:solidFill>
                  <a:srgbClr val="183343"/>
                </a:solidFill>
                <a:latin typeface="Arial"/>
                <a:ea typeface="Arial"/>
                <a:cs typeface="Arial"/>
              </a:rPr>
              <a:t>sphincter surgery</a:t>
            </a:r>
          </a:p>
        </p:txBody>
      </p:sp>
      <p:sp>
        <p:nvSpPr>
          <p:cNvPr id="3" name="">
            <a:extLst xmlns:a="http://schemas.openxmlformats.org/drawingml/2006/main">
              <a:ext uri="{FF2B5EF4-FFF2-40B4-BE49-F238E27FC236}">
                <a16:creationId xmlns:a16="http://schemas.microsoft.com/office/drawing/2014/main" id="{E92BFBB7-FD22-448A-BB95-C6F4CEBE371B}"/>
              </a:ext>
            </a:extLst>
          </p:cNvPr>
          <p:cNvSpPr>
            <a:spLocks xmlns:a="http://schemas.openxmlformats.org/drawingml/2006/main" noGrp="1"/>
          </p:cNvSpPr>
          <p:nvPr/>
        </p:nvSpPr>
        <p:spPr>
          <a:xfrm xmlns:a="http://schemas.openxmlformats.org/drawingml/2006/main">
            <a:off x="609600" y="3429000"/>
            <a:ext cx="5143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526773"/>
                </a:solidFill>
                <a:latin typeface="Arial"/>
                <a:ea typeface="Arial"/>
                <a:cs typeface="Arial"/>
              </a:defRPr>
            </a:pPr>
            <a:r>
              <a:rPr sz="2325" b="0">
                <a:solidFill>
                  <a:srgbClr val="526773"/>
                </a:solidFill>
                <a:latin typeface="Arial"/>
                <a:ea typeface="Arial"/>
                <a:cs typeface="Arial"/>
              </a:rPr>
              <a:t>Patient selection, difficult bladders</a:t>
            </a:r>
          </a:p>
          <a:p xmlns:a="http://schemas.openxmlformats.org/drawingml/2006/main">
            <a:pPr>
              <a:defRPr sz="2325" b="0">
                <a:solidFill>
                  <a:srgbClr val="526773"/>
                </a:solidFill>
                <a:latin typeface="Arial"/>
                <a:ea typeface="Arial"/>
                <a:cs typeface="Arial"/>
              </a:defRPr>
            </a:pPr>
            <a:r>
              <a:rPr sz="2325" b="0">
                <a:solidFill>
                  <a:srgbClr val="526773"/>
                </a:solidFill>
                <a:latin typeface="Arial"/>
                <a:ea typeface="Arial"/>
                <a:cs typeface="Arial"/>
              </a:rPr>
              <a:t>and difficult urethras</a:t>
            </a:r>
          </a:p>
        </p:txBody>
      </p:sp>
      <p:sp>
        <p:nvSpPr>
          <p:cNvPr id="4" name="">
            <a:extLst xmlns:a="http://schemas.openxmlformats.org/drawingml/2006/main">
              <a:ext uri="{FF2B5EF4-FFF2-40B4-BE49-F238E27FC236}">
                <a16:creationId xmlns:a16="http://schemas.microsoft.com/office/drawing/2014/main" id="{94683652-044D-4949-B5DE-0F49FF410B88}"/>
              </a:ext>
            </a:extLst>
          </p:cNvPr>
          <p:cNvSpPr>
            <a:spLocks xmlns:a="http://schemas.openxmlformats.org/drawingml/2006/main" noGrp="1"/>
          </p:cNvSpPr>
          <p:nvPr/>
        </p:nvSpPr>
        <p:spPr>
          <a:xfrm xmlns:a="http://schemas.openxmlformats.org/drawingml/2006/main">
            <a:off x="609600" y="495300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6502A6-EDFA-47B2-87BA-0E6CD41233CB}"/>
              </a:ext>
            </a:extLst>
          </p:cNvPr>
          <p:cNvSpPr>
            <a:spLocks xmlns:a="http://schemas.openxmlformats.org/drawingml/2006/main" noGrp="1"/>
          </p:cNvSpPr>
          <p:nvPr/>
        </p:nvSpPr>
        <p:spPr>
          <a:xfrm xmlns:a="http://schemas.openxmlformats.org/drawingml/2006/main">
            <a:off x="609600" y="4552950"/>
            <a:ext cx="5095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0">
                <a:solidFill>
                  <a:srgbClr val="526773"/>
                </a:solidFill>
                <a:latin typeface="Arial"/>
                <a:ea typeface="Arial"/>
                <a:cs typeface="Arial"/>
              </a:defRPr>
            </a:pPr>
            <a:r>
              <a:rPr sz="1575" b="0">
                <a:solidFill>
                  <a:srgbClr val="526773"/>
                </a:solidFill>
                <a:latin typeface="Arial"/>
                <a:ea typeface="Arial"/>
                <a:cs typeface="Arial"/>
              </a:rPr>
              <a:t>[Meeting and date]</a:t>
            </a:r>
          </a:p>
        </p:txBody>
      </p:sp>
      <p:sp>
        <p:nvSpPr>
          <p:cNvPr id="6" name="">
            <a:extLst xmlns:a="http://schemas.openxmlformats.org/drawingml/2006/main">
              <a:ext uri="{FF2B5EF4-FFF2-40B4-BE49-F238E27FC236}">
                <a16:creationId xmlns:a16="http://schemas.microsoft.com/office/drawing/2014/main" id="{73C00761-35D3-44EB-B4B6-449A6F6C2DE1}"/>
              </a:ext>
            </a:extLst>
          </p:cNvPr>
          <p:cNvSpPr>
            <a:spLocks xmlns:a="http://schemas.openxmlformats.org/drawingml/2006/main" noGrp="1"/>
          </p:cNvSpPr>
          <p:nvPr/>
        </p:nvSpPr>
        <p:spPr>
          <a:xfrm xmlns:a="http://schemas.openxmlformats.org/drawingml/2006/main">
            <a:off x="609600" y="5162550"/>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183343"/>
                </a:solidFill>
                <a:latin typeface="Arial"/>
                <a:ea typeface="Arial"/>
                <a:cs typeface="Arial"/>
              </a:defRPr>
            </a:pPr>
            <a:r>
              <a:rPr sz="1875" b="1">
                <a:solidFill>
                  <a:srgbClr val="183343"/>
                </a:solidFill>
                <a:latin typeface="Arial"/>
                <a:ea typeface="Arial"/>
                <a:cs typeface="Arial"/>
              </a:rPr>
              <a:t>Mr Abu Yousif</a:t>
            </a:r>
          </a:p>
        </p:txBody>
      </p:sp>
      <p:sp>
        <p:nvSpPr>
          <p:cNvPr id="7" name="">
            <a:extLst xmlns:a="http://schemas.openxmlformats.org/drawingml/2006/main">
              <a:ext uri="{FF2B5EF4-FFF2-40B4-BE49-F238E27FC236}">
                <a16:creationId xmlns:a16="http://schemas.microsoft.com/office/drawing/2014/main" id="{877A0BAE-B2B1-4154-94A2-DD616C6B3EEA}"/>
              </a:ext>
            </a:extLst>
          </p:cNvPr>
          <p:cNvSpPr>
            <a:spLocks xmlns:a="http://schemas.openxmlformats.org/drawingml/2006/main" noGrp="1"/>
          </p:cNvSpPr>
          <p:nvPr/>
        </p:nvSpPr>
        <p:spPr>
          <a:xfrm xmlns:a="http://schemas.openxmlformats.org/drawingml/2006/main">
            <a:off x="609600" y="5476875"/>
            <a:ext cx="5095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526773"/>
                </a:solidFill>
                <a:latin typeface="Arial"/>
                <a:ea typeface="Arial"/>
                <a:cs typeface="Arial"/>
              </a:defRPr>
            </a:pPr>
            <a:r>
              <a:rPr sz="1650" b="0">
                <a:solidFill>
                  <a:srgbClr val="526773"/>
                </a:solidFill>
                <a:latin typeface="Arial"/>
                <a:ea typeface="Arial"/>
                <a:cs typeface="Arial"/>
              </a:rPr>
              <a:t>Urology Consultant</a:t>
            </a:r>
          </a:p>
        </p:txBody>
      </p:sp>
      <p:sp>
        <p:nvSpPr>
          <p:cNvPr id="8" name="">
            <a:extLst xmlns:a="http://schemas.openxmlformats.org/drawingml/2006/main">
              <a:ext uri="{FF2B5EF4-FFF2-40B4-BE49-F238E27FC236}">
                <a16:creationId xmlns:a16="http://schemas.microsoft.com/office/drawing/2014/main" id="{80D83005-5DCE-47E1-9F45-8644FA40CF66}"/>
              </a:ext>
            </a:extLst>
          </p:cNvPr>
          <p:cNvSpPr>
            <a:spLocks xmlns:a="http://schemas.openxmlformats.org/drawingml/2006/main" noGrp="1"/>
          </p:cNvSpPr>
          <p:nvPr/>
        </p:nvSpPr>
        <p:spPr>
          <a:xfrm xmlns:a="http://schemas.openxmlformats.org/drawingml/2006/main">
            <a:off x="609600" y="58959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183343"/>
                </a:solidFill>
                <a:latin typeface="Arial"/>
                <a:ea typeface="Arial"/>
                <a:cs typeface="Arial"/>
              </a:defRPr>
            </a:pPr>
            <a:r>
              <a:rPr sz="1875" b="1">
                <a:solidFill>
                  <a:srgbClr val="183343"/>
                </a:solidFill>
                <a:latin typeface="Arial"/>
                <a:ea typeface="Arial"/>
                <a:cs typeface="Arial"/>
              </a:rPr>
              <a:t>Nity G</a:t>
            </a:r>
          </a:p>
        </p:txBody>
      </p:sp>
      <p:sp>
        <p:nvSpPr>
          <p:cNvPr id="9" name="">
            <a:extLst xmlns:a="http://schemas.openxmlformats.org/drawingml/2006/main">
              <a:ext uri="{FF2B5EF4-FFF2-40B4-BE49-F238E27FC236}">
                <a16:creationId xmlns:a16="http://schemas.microsoft.com/office/drawing/2014/main" id="{150B0A61-C868-411B-BF14-8CFF30D5CB29}"/>
              </a:ext>
            </a:extLst>
          </p:cNvPr>
          <p:cNvSpPr>
            <a:spLocks xmlns:a="http://schemas.openxmlformats.org/drawingml/2006/main" noGrp="1"/>
          </p:cNvSpPr>
          <p:nvPr/>
        </p:nvSpPr>
        <p:spPr>
          <a:xfrm xmlns:a="http://schemas.openxmlformats.org/drawingml/2006/main">
            <a:off x="609600" y="6210300"/>
            <a:ext cx="5095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526773"/>
                </a:solidFill>
                <a:latin typeface="Arial"/>
                <a:ea typeface="Arial"/>
                <a:cs typeface="Arial"/>
              </a:defRPr>
            </a:pPr>
            <a:r>
              <a:rPr sz="1650" b="0">
                <a:solidFill>
                  <a:srgbClr val="526773"/>
                </a:solidFill>
                <a:latin typeface="Arial"/>
                <a:ea typeface="Arial"/>
                <a:cs typeface="Arial"/>
              </a:rPr>
              <a:t>ST5 Urology Registrar</a:t>
            </a:r>
          </a:p>
        </p:txBody>
      </p:sp>
    </p:spTree>
    <p:extLst>
      <p:ext uri="{BB962C8B-B14F-4D97-AF65-F5344CB8AC3E}">
        <p14:creationId xmlns:p14="http://schemas.microsoft.com/office/powerpoint/2010/main" val="6726985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34208EF-FD22-4019-9474-55D22320026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The decision before theatre</a:t>
            </a:r>
          </a:p>
        </p:txBody>
      </p:sp>
      <p:sp>
        <p:nvSpPr>
          <p:cNvPr id="2" name="">
            <a:extLst xmlns:a="http://schemas.openxmlformats.org/drawingml/2006/main">
              <a:ext uri="{FF2B5EF4-FFF2-40B4-BE49-F238E27FC236}">
                <a16:creationId xmlns:a16="http://schemas.microsoft.com/office/drawing/2014/main" id="{29844669-D18A-44E0-B148-CAFE3970346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24EB497-C8B1-455C-99DB-BFD6C2F2988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AUA24 · ICS16</a:t>
            </a:r>
          </a:p>
        </p:txBody>
      </p:sp>
      <p:sp>
        <p:nvSpPr>
          <p:cNvPr id="4" name="">
            <a:extLst xmlns:a="http://schemas.openxmlformats.org/drawingml/2006/main">
              <a:ext uri="{FF2B5EF4-FFF2-40B4-BE49-F238E27FC236}">
                <a16:creationId xmlns:a16="http://schemas.microsoft.com/office/drawing/2014/main" id="{4BE7895A-826D-4DBA-946A-5D357A862A6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686E59EF-23FC-40E6-931B-B93271FA3626}"/>
              </a:ext>
            </a:extLst>
          </p:cNvPr>
          <p:cNvSpPr>
            <a:spLocks xmlns:a="http://schemas.openxmlformats.org/drawingml/2006/main" noGrp="1"/>
          </p:cNvSpPr>
          <p:nvPr/>
        </p:nvSpPr>
        <p:spPr>
          <a:xfrm xmlns:a="http://schemas.openxmlformats.org/drawingml/2006/main">
            <a:off x="609600" y="18097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526773"/>
                </a:solidFill>
                <a:latin typeface="Arial"/>
                <a:ea typeface="Arial"/>
                <a:cs typeface="Arial"/>
              </a:defRPr>
            </a:pPr>
            <a:r>
              <a:rPr sz="2400" b="0">
                <a:solidFill>
                  <a:srgbClr val="526773"/>
                </a:solidFill>
                <a:latin typeface="Arial"/>
                <a:ea typeface="Arial"/>
                <a:cs typeface="Arial"/>
              </a:rPr>
              <a:t>Severe leakage is only the starting point</a:t>
            </a:r>
          </a:p>
        </p:txBody>
      </p:sp>
      <p:sp>
        <p:nvSpPr>
          <p:cNvPr id="6" name="">
            <a:extLst xmlns:a="http://schemas.openxmlformats.org/drawingml/2006/main">
              <a:ext uri="{FF2B5EF4-FFF2-40B4-BE49-F238E27FC236}">
                <a16:creationId xmlns:a16="http://schemas.microsoft.com/office/drawing/2014/main" id="{0FD0E7B8-BA1F-497F-BEE0-05346E73CF44}"/>
              </a:ext>
            </a:extLst>
          </p:cNvPr>
          <p:cNvSpPr>
            <a:spLocks xmlns:a="http://schemas.openxmlformats.org/drawingml/2006/main" noGrp="1"/>
          </p:cNvSpPr>
          <p:nvPr/>
        </p:nvSpPr>
        <p:spPr>
          <a:xfrm xmlns:a="http://schemas.openxmlformats.org/drawingml/2006/main">
            <a:off x="609600" y="266700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Implant</a:t>
            </a:r>
          </a:p>
        </p:txBody>
      </p:sp>
      <p:sp>
        <p:nvSpPr>
          <p:cNvPr id="7" name="">
            <a:extLst xmlns:a="http://schemas.openxmlformats.org/drawingml/2006/main">
              <a:ext uri="{FF2B5EF4-FFF2-40B4-BE49-F238E27FC236}">
                <a16:creationId xmlns:a16="http://schemas.microsoft.com/office/drawing/2014/main" id="{E41C9F4E-41B0-40AF-AB04-F369025461CC}"/>
              </a:ext>
            </a:extLst>
          </p:cNvPr>
          <p:cNvSpPr>
            <a:spLocks xmlns:a="http://schemas.openxmlformats.org/drawingml/2006/main" noGrp="1"/>
          </p:cNvSpPr>
          <p:nvPr/>
        </p:nvSpPr>
        <p:spPr>
          <a:xfrm xmlns:a="http://schemas.openxmlformats.org/drawingml/2006/main">
            <a:off x="3095625" y="2686050"/>
            <a:ext cx="847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SUI, safe storage, reliable emptying and usable pump</a:t>
            </a:r>
          </a:p>
        </p:txBody>
      </p:sp>
      <p:sp>
        <p:nvSpPr>
          <p:cNvPr id="8" name="">
            <a:extLst xmlns:a="http://schemas.openxmlformats.org/drawingml/2006/main">
              <a:ext uri="{FF2B5EF4-FFF2-40B4-BE49-F238E27FC236}">
                <a16:creationId xmlns:a16="http://schemas.microsoft.com/office/drawing/2014/main" id="{CFB7A1AD-7467-41B7-8B00-46A10397F123}"/>
              </a:ext>
            </a:extLst>
          </p:cNvPr>
          <p:cNvSpPr>
            <a:spLocks xmlns:a="http://schemas.openxmlformats.org/drawingml/2006/main" noGrp="1"/>
          </p:cNvSpPr>
          <p:nvPr/>
        </p:nvSpPr>
        <p:spPr>
          <a:xfrm xmlns:a="http://schemas.openxmlformats.org/drawingml/2006/main">
            <a:off x="609600" y="340042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997227"/>
                </a:solidFill>
                <a:latin typeface="Arial"/>
                <a:ea typeface="Arial"/>
                <a:cs typeface="Arial"/>
              </a:defRPr>
            </a:pPr>
            <a:r>
              <a:rPr sz="2400" b="1">
                <a:solidFill>
                  <a:srgbClr val="997227"/>
                </a:solidFill>
                <a:latin typeface="Arial"/>
                <a:ea typeface="Arial"/>
                <a:cs typeface="Arial"/>
              </a:rPr>
              <a:t>Optimise</a:t>
            </a:r>
          </a:p>
        </p:txBody>
      </p:sp>
      <p:sp>
        <p:nvSpPr>
          <p:cNvPr id="9" name="">
            <a:extLst xmlns:a="http://schemas.openxmlformats.org/drawingml/2006/main">
              <a:ext uri="{FF2B5EF4-FFF2-40B4-BE49-F238E27FC236}">
                <a16:creationId xmlns:a16="http://schemas.microsoft.com/office/drawing/2014/main" id="{7C28D6C7-E095-4752-801E-6252174C42AD}"/>
              </a:ext>
            </a:extLst>
          </p:cNvPr>
          <p:cNvSpPr>
            <a:spLocks xmlns:a="http://schemas.openxmlformats.org/drawingml/2006/main" noGrp="1"/>
          </p:cNvSpPr>
          <p:nvPr/>
        </p:nvSpPr>
        <p:spPr>
          <a:xfrm xmlns:a="http://schemas.openxmlformats.org/drawingml/2006/main">
            <a:off x="3095625" y="3419475"/>
            <a:ext cx="847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 treatable bladder or functional problem dominates</a:t>
            </a:r>
          </a:p>
        </p:txBody>
      </p:sp>
      <p:sp>
        <p:nvSpPr>
          <p:cNvPr id="10" name="">
            <a:extLst xmlns:a="http://schemas.openxmlformats.org/drawingml/2006/main">
              <a:ext uri="{FF2B5EF4-FFF2-40B4-BE49-F238E27FC236}">
                <a16:creationId xmlns:a16="http://schemas.microsoft.com/office/drawing/2014/main" id="{51F56916-AA82-43CF-8342-7631D63D1705}"/>
              </a:ext>
            </a:extLst>
          </p:cNvPr>
          <p:cNvSpPr>
            <a:spLocks xmlns:a="http://schemas.openxmlformats.org/drawingml/2006/main" noGrp="1"/>
          </p:cNvSpPr>
          <p:nvPr/>
        </p:nvSpPr>
        <p:spPr>
          <a:xfrm xmlns:a="http://schemas.openxmlformats.org/drawingml/2006/main">
            <a:off x="609600" y="413385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83343"/>
                </a:solidFill>
                <a:latin typeface="Arial"/>
                <a:ea typeface="Arial"/>
                <a:cs typeface="Arial"/>
              </a:defRPr>
            </a:pPr>
            <a:r>
              <a:rPr sz="2400" b="1">
                <a:solidFill>
                  <a:srgbClr val="183343"/>
                </a:solidFill>
                <a:latin typeface="Arial"/>
                <a:ea typeface="Arial"/>
                <a:cs typeface="Arial"/>
              </a:rPr>
              <a:t>Investigate</a:t>
            </a:r>
          </a:p>
        </p:txBody>
      </p:sp>
      <p:sp>
        <p:nvSpPr>
          <p:cNvPr id="11" name="">
            <a:extLst xmlns:a="http://schemas.openxmlformats.org/drawingml/2006/main">
              <a:ext uri="{FF2B5EF4-FFF2-40B4-BE49-F238E27FC236}">
                <a16:creationId xmlns:a16="http://schemas.microsoft.com/office/drawing/2014/main" id="{B9FF3858-9518-4364-AB5E-6279AE6A4E5C}"/>
              </a:ext>
            </a:extLst>
          </p:cNvPr>
          <p:cNvSpPr>
            <a:spLocks xmlns:a="http://schemas.openxmlformats.org/drawingml/2006/main" noGrp="1"/>
          </p:cNvSpPr>
          <p:nvPr/>
        </p:nvSpPr>
        <p:spPr>
          <a:xfrm xmlns:a="http://schemas.openxmlformats.org/drawingml/2006/main">
            <a:off x="3095625" y="4152900"/>
            <a:ext cx="847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The mechanism, measurements or anatomy remain uncertain</a:t>
            </a:r>
          </a:p>
        </p:txBody>
      </p:sp>
      <p:sp>
        <p:nvSpPr>
          <p:cNvPr id="12" name="">
            <a:extLst xmlns:a="http://schemas.openxmlformats.org/drawingml/2006/main">
              <a:ext uri="{FF2B5EF4-FFF2-40B4-BE49-F238E27FC236}">
                <a16:creationId xmlns:a16="http://schemas.microsoft.com/office/drawing/2014/main" id="{729F2D3D-0635-416F-8C33-A1A3C3385EAE}"/>
              </a:ext>
            </a:extLst>
          </p:cNvPr>
          <p:cNvSpPr>
            <a:spLocks xmlns:a="http://schemas.openxmlformats.org/drawingml/2006/main" noGrp="1"/>
          </p:cNvSpPr>
          <p:nvPr/>
        </p:nvSpPr>
        <p:spPr>
          <a:xfrm xmlns:a="http://schemas.openxmlformats.org/drawingml/2006/main">
            <a:off x="609600" y="4867275"/>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A64135"/>
                </a:solidFill>
                <a:latin typeface="Arial"/>
                <a:ea typeface="Arial"/>
                <a:cs typeface="Arial"/>
              </a:defRPr>
            </a:pPr>
            <a:r>
              <a:rPr sz="2400" b="1">
                <a:solidFill>
                  <a:srgbClr val="A64135"/>
                </a:solidFill>
                <a:latin typeface="Arial"/>
                <a:ea typeface="Arial"/>
                <a:cs typeface="Arial"/>
              </a:rPr>
              <a:t>Reconsider</a:t>
            </a:r>
          </a:p>
        </p:txBody>
      </p:sp>
      <p:sp>
        <p:nvSpPr>
          <p:cNvPr id="13" name="">
            <a:extLst xmlns:a="http://schemas.openxmlformats.org/drawingml/2006/main">
              <a:ext uri="{FF2B5EF4-FFF2-40B4-BE49-F238E27FC236}">
                <a16:creationId xmlns:a16="http://schemas.microsoft.com/office/drawing/2014/main" id="{76D73158-AB09-4F8D-849F-09757076407F}"/>
              </a:ext>
            </a:extLst>
          </p:cNvPr>
          <p:cNvSpPr>
            <a:spLocks xmlns:a="http://schemas.openxmlformats.org/drawingml/2006/main" noGrp="1"/>
          </p:cNvSpPr>
          <p:nvPr/>
        </p:nvSpPr>
        <p:spPr>
          <a:xfrm xmlns:a="http://schemas.openxmlformats.org/drawingml/2006/main">
            <a:off x="3095625" y="4886325"/>
            <a:ext cx="847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Safe function or independent device use is unlikely</a:t>
            </a:r>
          </a:p>
        </p:txBody>
      </p:sp>
    </p:spTree>
    <p:extLst>
      <p:ext uri="{BB962C8B-B14F-4D97-AF65-F5344CB8AC3E}">
        <p14:creationId xmlns:p14="http://schemas.microsoft.com/office/powerpoint/2010/main" val="13785906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8CE060-33BA-491D-8D5C-BE5DCBB2C37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Evidence and device boundaries</a:t>
            </a:r>
          </a:p>
        </p:txBody>
      </p:sp>
      <p:sp>
        <p:nvSpPr>
          <p:cNvPr id="2" name="">
            <a:extLst xmlns:a="http://schemas.openxmlformats.org/drawingml/2006/main">
              <a:ext uri="{FF2B5EF4-FFF2-40B4-BE49-F238E27FC236}">
                <a16:creationId xmlns:a16="http://schemas.microsoft.com/office/drawing/2014/main" id="{5082E758-CE6F-4D39-9B20-62CAA6BDC36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6107C58-5747-4DEE-970C-DC7F1D5B2B1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EAU26 · AUA24 · ICS16 · AP23 · CCIFU</a:t>
            </a:r>
          </a:p>
        </p:txBody>
      </p:sp>
      <p:sp>
        <p:nvSpPr>
          <p:cNvPr id="4" name="">
            <a:extLst xmlns:a="http://schemas.openxmlformats.org/drawingml/2006/main">
              <a:ext uri="{FF2B5EF4-FFF2-40B4-BE49-F238E27FC236}">
                <a16:creationId xmlns:a16="http://schemas.microsoft.com/office/drawing/2014/main" id="{2016FB1D-97DD-482D-A9A0-E4288930ACBC}"/>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02</a:t>
            </a:r>
          </a:p>
        </p:txBody>
      </p:sp>
      <p:graphicFrame>
        <p:nvGraphicFramePr>
          <p:cNvPr id="12" name=""/>
          <p:cNvGraphicFramePr/>
          <p:nvPr/>
        </p:nvGraphicFramePr>
        <p:xfrm>
          <a:off xmlns:a="http://schemas.openxmlformats.org/drawingml/2006/main" x="609600" y="1790700"/>
          <a:ext xmlns:a="http://schemas.openxmlformats.org/drawingml/2006/main" cx="10972800" cy="3238500"/>
        </p:xfrm>
        <a:graphic xmlns:a="http://schemas.openxmlformats.org/drawingml/2006/main">
          <a:graphicData uri="http://schemas.openxmlformats.org/drawingml/2006/table">
            <a:tbl>
              <a:tblPr/>
              <a:tblGrid>
                <a:gridCol w="3381375"/>
                <a:gridCol w="7591425"/>
              </a:tblGrid>
              <a:tr h="552450">
                <a:tc>
                  <a:txBody>
                    <a:bodyPr/>
                    <a:lstStyle/>
                    <a:p>
                      <a:r>
                        <a:rPr sz="1950" b="1">
                          <a:solidFill>
                            <a:srgbClr val="FFFFFF"/>
                          </a:solidFill>
                          <a:latin typeface="Arial"/>
                          <a:ea typeface="Arial"/>
                          <a:cs typeface="Arial"/>
                        </a:rPr>
                        <a:t>Source</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What it can tell us</a:t>
                      </a:r>
                    </a:p>
                  </a:txBody>
                  <a:tcPr marL="133350" marR="133350" marT="95250" marB="76200" anchor="ctr">
                    <a:solidFill>
                      <a:srgbClr val="183343"/>
                    </a:solidFill>
                  </a:tcPr>
                </a:tc>
              </a:tr>
              <a:tr h="671513">
                <a:tc>
                  <a:txBody>
                    <a:bodyPr/>
                    <a:lstStyle/>
                    <a:p>
                      <a:r>
                        <a:rPr sz="1950" b="0">
                          <a:solidFill>
                            <a:srgbClr val="183343"/>
                          </a:solidFill>
                          <a:latin typeface="Arial"/>
                          <a:ea typeface="Arial"/>
                          <a:cs typeface="Arial"/>
                        </a:rPr>
                        <a:t>Guidelines and consensus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A recommended clinical pathway</a:t>
                      </a:r>
                    </a:p>
                  </a:txBody>
                  <a:tcPr marL="133350" marR="133350" marT="95250" marB="76200" anchor="ctr">
                    <a:solidFill>
                      <a:srgbClr val="EEF4F5"/>
                    </a:solidFill>
                  </a:tcPr>
                </a:tc>
              </a:tr>
              <a:tr h="671513">
                <a:tc>
                  <a:txBody>
                    <a:bodyPr/>
                    <a:lstStyle/>
                    <a:p>
                      <a:r>
                        <a:rPr sz="1950" b="0">
                          <a:solidFill>
                            <a:srgbClr val="183343"/>
                          </a:solidFill>
                          <a:latin typeface="Arial"/>
                          <a:ea typeface="Arial"/>
                          <a:cs typeface="Arial"/>
                        </a:rPr>
                        <a:t>Clinical studies</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Outcomes in a defined population</a:t>
                      </a:r>
                    </a:p>
                  </a:txBody>
                  <a:tcPr marL="133350" marR="133350" marT="95250" marB="76200" anchor="ctr">
                    <a:solidFill>
                      <a:srgbClr val="FFFFFF"/>
                    </a:solidFill>
                  </a:tcPr>
                </a:tc>
              </a:tr>
              <a:tr h="671513">
                <a:tc>
                  <a:txBody>
                    <a:bodyPr/>
                    <a:lstStyle/>
                    <a:p>
                      <a:r>
                        <a:rPr sz="1950" b="0">
                          <a:solidFill>
                            <a:srgbClr val="183343"/>
                          </a:solidFill>
                          <a:latin typeface="Arial"/>
                          <a:ea typeface="Arial"/>
                          <a:cs typeface="Arial"/>
                        </a:rPr>
                        <a:t>Manufacturer IFU</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Permitted use and device precautions</a:t>
                      </a:r>
                    </a:p>
                  </a:txBody>
                  <a:tcPr marL="133350" marR="133350" marT="95250" marB="76200" anchor="ctr">
                    <a:solidFill>
                      <a:srgbClr val="EEF4F5"/>
                    </a:solidFill>
                  </a:tcPr>
                </a:tc>
              </a:tr>
              <a:tr h="671513">
                <a:tc>
                  <a:txBody>
                    <a:bodyPr/>
                    <a:lstStyle/>
                    <a:p>
                      <a:r>
                        <a:rPr sz="1950" b="0">
                          <a:solidFill>
                            <a:srgbClr val="183343"/>
                          </a:solidFill>
                          <a:latin typeface="Arial"/>
                          <a:ea typeface="Arial"/>
                          <a:cs typeface="Arial"/>
                        </a:rPr>
                        <a:t>Expert or local practice</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A practical choice with stated uncertainty</a:t>
                      </a:r>
                    </a:p>
                  </a:txBody>
                  <a:tcPr marL="133350" marR="133350" marT="95250" marB="7620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A9F4D33-2B5A-4EF5-92DB-1213D79BE25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BAUS 2025 anchors the talk. AMS 800 evidence requires separate interpretation for ContiClassic.</a:t>
            </a:r>
          </a:p>
        </p:txBody>
      </p:sp>
      <p:sp>
        <p:nvSpPr>
          <p:cNvPr id="7" name="">
            <a:extLst xmlns:a="http://schemas.openxmlformats.org/drawingml/2006/main">
              <a:ext uri="{FF2B5EF4-FFF2-40B4-BE49-F238E27FC236}">
                <a16:creationId xmlns:a16="http://schemas.microsoft.com/office/drawing/2014/main" id="{89FEFD8C-7968-4B0F-8B46-164554CE417A}"/>
              </a:ext>
            </a:extLst>
          </p:cNvPr>
          <p:cNvSpPr>
            <a:spLocks xmlns:a="http://schemas.openxmlformats.org/drawingml/2006/main" noGrp="1"/>
          </p:cNvSpPr>
          <p:nvPr/>
        </p:nvSpPr>
        <p:spPr>
          <a:xfrm xmlns:a="http://schemas.openxmlformats.org/drawingml/2006/main">
            <a:off x="609600" y="53149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[Personal disclosures]</a:t>
            </a:r>
          </a:p>
        </p:txBody>
      </p:sp>
    </p:spTree>
    <p:extLst>
      <p:ext uri="{BB962C8B-B14F-4D97-AF65-F5344CB8AC3E}">
        <p14:creationId xmlns:p14="http://schemas.microsoft.com/office/powerpoint/2010/main" val="201700403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22172EA-C529-4A3F-AA4F-B64CD3B782D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Leakage mechanism and patient goals</a:t>
            </a:r>
          </a:p>
        </p:txBody>
      </p:sp>
      <p:sp>
        <p:nvSpPr>
          <p:cNvPr id="2" name="">
            <a:extLst xmlns:a="http://schemas.openxmlformats.org/drawingml/2006/main">
              <a:ext uri="{FF2B5EF4-FFF2-40B4-BE49-F238E27FC236}">
                <a16:creationId xmlns:a16="http://schemas.microsoft.com/office/drawing/2014/main" id="{5F241729-72BC-46C3-A936-4E77A0437BF6}"/>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8564448-328F-45BB-8668-BA7CA15483B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EAU26 · AUA24</a:t>
            </a:r>
          </a:p>
        </p:txBody>
      </p:sp>
      <p:sp>
        <p:nvSpPr>
          <p:cNvPr id="4" name="">
            <a:extLst xmlns:a="http://schemas.openxmlformats.org/drawingml/2006/main">
              <a:ext uri="{FF2B5EF4-FFF2-40B4-BE49-F238E27FC236}">
                <a16:creationId xmlns:a16="http://schemas.microsoft.com/office/drawing/2014/main" id="{611193D3-2A20-4F16-B48E-DBF77E233C3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48E7867F-9FDF-49DF-A491-7EA0A83393B8}"/>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Characterise the leak</a:t>
            </a:r>
          </a:p>
        </p:txBody>
      </p:sp>
      <p:sp>
        <p:nvSpPr>
          <p:cNvPr id="6" name="">
            <a:extLst xmlns:a="http://schemas.openxmlformats.org/drawingml/2006/main">
              <a:ext uri="{FF2B5EF4-FFF2-40B4-BE49-F238E27FC236}">
                <a16:creationId xmlns:a16="http://schemas.microsoft.com/office/drawing/2014/main" id="{50ED038E-E9F7-4454-9B33-ED1B32DC41B5}"/>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Demonstrated stress leakage</a:t>
            </a:r>
          </a:p>
        </p:txBody>
      </p:sp>
      <p:sp>
        <p:nvSpPr>
          <p:cNvPr id="7" name="">
            <a:extLst xmlns:a="http://schemas.openxmlformats.org/drawingml/2006/main">
              <a:ext uri="{FF2B5EF4-FFF2-40B4-BE49-F238E27FC236}">
                <a16:creationId xmlns:a16="http://schemas.microsoft.com/office/drawing/2014/main" id="{96A2EB66-3058-4E76-9437-9C33CA1E7E3D}"/>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Urgency, night-time symptoms and emptying</a:t>
            </a:r>
          </a:p>
        </p:txBody>
      </p:sp>
      <p:sp>
        <p:nvSpPr>
          <p:cNvPr id="8" name="">
            <a:extLst xmlns:a="http://schemas.openxmlformats.org/drawingml/2006/main">
              <a:ext uri="{FF2B5EF4-FFF2-40B4-BE49-F238E27FC236}">
                <a16:creationId xmlns:a16="http://schemas.microsoft.com/office/drawing/2014/main" id="{92C85CAF-C321-4D35-8B78-2BC212BB3C71}"/>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Pad use, pad weight and activity</a:t>
            </a:r>
          </a:p>
        </p:txBody>
      </p:sp>
      <p:sp>
        <p:nvSpPr>
          <p:cNvPr id="9" name="">
            <a:extLst xmlns:a="http://schemas.openxmlformats.org/drawingml/2006/main">
              <a:ext uri="{FF2B5EF4-FFF2-40B4-BE49-F238E27FC236}">
                <a16:creationId xmlns:a16="http://schemas.microsoft.com/office/drawing/2014/main" id="{0D8FB942-5E41-47BE-929E-5FE9B1C23F93}"/>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Define useful improvement</a:t>
            </a:r>
          </a:p>
        </p:txBody>
      </p:sp>
      <p:sp>
        <p:nvSpPr>
          <p:cNvPr id="10" name="">
            <a:extLst xmlns:a="http://schemas.openxmlformats.org/drawingml/2006/main">
              <a:ext uri="{FF2B5EF4-FFF2-40B4-BE49-F238E27FC236}">
                <a16:creationId xmlns:a16="http://schemas.microsoft.com/office/drawing/2014/main" id="{7BE0A531-4AD4-4AC6-BA02-BBB51FDA8E2D}"/>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Recovery trajectory and prior treatment</a:t>
            </a:r>
          </a:p>
        </p:txBody>
      </p:sp>
      <p:sp>
        <p:nvSpPr>
          <p:cNvPr id="11" name="">
            <a:extLst xmlns:a="http://schemas.openxmlformats.org/drawingml/2006/main">
              <a:ext uri="{FF2B5EF4-FFF2-40B4-BE49-F238E27FC236}">
                <a16:creationId xmlns:a16="http://schemas.microsoft.com/office/drawing/2014/main" id="{C83D2324-73E4-4759-AED9-6AA336EACBF2}"/>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 validated symptom and quality-of-life measure</a:t>
            </a:r>
          </a:p>
        </p:txBody>
      </p:sp>
      <p:sp>
        <p:nvSpPr>
          <p:cNvPr id="12" name="">
            <a:extLst xmlns:a="http://schemas.openxmlformats.org/drawingml/2006/main">
              <a:ext uri="{FF2B5EF4-FFF2-40B4-BE49-F238E27FC236}">
                <a16:creationId xmlns:a16="http://schemas.microsoft.com/office/drawing/2014/main" id="{535DBB60-CC73-4688-BFFB-F15F2D1A03C6}"/>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The activity the patient wants back</a:t>
            </a:r>
          </a:p>
        </p:txBody>
      </p:sp>
      <p:sp>
        <p:nvSpPr>
          <p:cNvPr id="13" name="">
            <a:extLst xmlns:a="http://schemas.openxmlformats.org/drawingml/2006/main">
              <a:ext uri="{FF2B5EF4-FFF2-40B4-BE49-F238E27FC236}">
                <a16:creationId xmlns:a16="http://schemas.microsoft.com/office/drawing/2014/main" id="{9F90648B-2824-42F8-876C-5457BBFDE81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Pad count alone cannot decide eligibility.</a:t>
            </a:r>
          </a:p>
        </p:txBody>
      </p:sp>
    </p:spTree>
    <p:extLst>
      <p:ext uri="{BB962C8B-B14F-4D97-AF65-F5344CB8AC3E}">
        <p14:creationId xmlns:p14="http://schemas.microsoft.com/office/powerpoint/2010/main" val="166986075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E21551-A102-44DE-8236-62ACD3A5A88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Timing after prostate treatment</a:t>
            </a:r>
          </a:p>
        </p:txBody>
      </p:sp>
      <p:sp>
        <p:nvSpPr>
          <p:cNvPr id="2" name="">
            <a:extLst xmlns:a="http://schemas.openxmlformats.org/drawingml/2006/main">
              <a:ext uri="{FF2B5EF4-FFF2-40B4-BE49-F238E27FC236}">
                <a16:creationId xmlns:a16="http://schemas.microsoft.com/office/drawing/2014/main" id="{44F9E326-E056-48DA-AFC5-4A5423FE7D7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DED29D1-CB57-4964-9EE1-F8746BE9EC30}"/>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AUA24 · BAUS25 · EAU26 · MASTER22</a:t>
            </a:r>
          </a:p>
        </p:txBody>
      </p:sp>
      <p:sp>
        <p:nvSpPr>
          <p:cNvPr id="4" name="">
            <a:extLst xmlns:a="http://schemas.openxmlformats.org/drawingml/2006/main">
              <a:ext uri="{FF2B5EF4-FFF2-40B4-BE49-F238E27FC236}">
                <a16:creationId xmlns:a16="http://schemas.microsoft.com/office/drawing/2014/main" id="{C108542E-0951-45F3-A35A-514AD0F9D01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04</a:t>
            </a:r>
          </a:p>
        </p:txBody>
      </p:sp>
      <p:graphicFrame>
        <p:nvGraphicFramePr>
          <p:cNvPr id="11" name=""/>
          <p:cNvGraphicFramePr/>
          <p:nvPr/>
        </p:nvGraphicFramePr>
        <p:xfrm>
          <a:off xmlns:a="http://schemas.openxmlformats.org/drawingml/2006/main" x="609600" y="1790700"/>
          <a:ext xmlns:a="http://schemas.openxmlformats.org/drawingml/2006/main" cx="10972800" cy="3048000"/>
        </p:xfrm>
        <a:graphic xmlns:a="http://schemas.openxmlformats.org/drawingml/2006/main">
          <a:graphicData uri="http://schemas.openxmlformats.org/drawingml/2006/table">
            <a:tbl>
              <a:tblPr/>
              <a:tblGrid>
                <a:gridCol w="2000250"/>
                <a:gridCol w="3714750"/>
                <a:gridCol w="5257800"/>
              </a:tblGrid>
              <a:tr h="552450">
                <a:tc>
                  <a:txBody>
                    <a:bodyPr/>
                    <a:lstStyle/>
                    <a:p>
                      <a:r>
                        <a:rPr sz="1950" b="1">
                          <a:solidFill>
                            <a:srgbClr val="FFFFFF"/>
                          </a:solidFill>
                          <a:latin typeface="Arial"/>
                          <a:ea typeface="Arial"/>
                          <a:cs typeface="Arial"/>
                        </a:rPr>
                        <a:t>Guidance</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At six months</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At twelve months</a:t>
                      </a:r>
                    </a:p>
                  </a:txBody>
                  <a:tcPr marL="133350" marR="133350" marT="95250" marB="76200" anchor="ctr">
                    <a:solidFill>
                      <a:srgbClr val="183343"/>
                    </a:solidFill>
                  </a:tcPr>
                </a:tc>
              </a:tr>
              <a:tr h="1247775">
                <a:tc>
                  <a:txBody>
                    <a:bodyPr/>
                    <a:lstStyle/>
                    <a:p>
                      <a:r>
                        <a:rPr sz="1950" b="0">
                          <a:solidFill>
                            <a:srgbClr val="183343"/>
                          </a:solidFill>
                          <a:latin typeface="Arial"/>
                          <a:ea typeface="Arial"/>
                          <a:cs typeface="Arial"/>
                        </a:rPr>
                        <a:t>BAUS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At least six months’ recovery for severe SUI</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At least twelve months for mild–moderate SUI</a:t>
                      </a:r>
                    </a:p>
                  </a:txBody>
                  <a:tcPr marL="133350" marR="133350" marT="95250" marB="76200" anchor="ctr">
                    <a:solidFill>
                      <a:srgbClr val="EEF4F5"/>
                    </a:solidFill>
                  </a:tcPr>
                </a:tc>
              </a:tr>
              <a:tr h="1247775">
                <a:tc>
                  <a:txBody>
                    <a:bodyPr/>
                    <a:lstStyle/>
                    <a:p>
                      <a:r>
                        <a:rPr sz="1950" b="0">
                          <a:solidFill>
                            <a:srgbClr val="183343"/>
                          </a:solidFill>
                          <a:latin typeface="Arial"/>
                          <a:ea typeface="Arial"/>
                          <a:cs typeface="Arial"/>
                        </a:rPr>
                        <a:t>AUA</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Surgery may be offered for bothersome, non-improving SUI despite conservative care</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Offer surgery for persisting bothersome SUI</a:t>
                      </a:r>
                    </a:p>
                  </a:txBody>
                  <a:tcPr marL="133350" marR="133350" marT="95250" marB="7620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D5FC145-4129-49DD-8C20-E5AA57E75BF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Recovery trajectory still matters. Sling suitability depends on severity, tissue and treatment history.</a:t>
            </a:r>
          </a:p>
        </p:txBody>
      </p:sp>
    </p:spTree>
    <p:extLst>
      <p:ext uri="{BB962C8B-B14F-4D97-AF65-F5344CB8AC3E}">
        <p14:creationId xmlns:p14="http://schemas.microsoft.com/office/powerpoint/2010/main" val="27454952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2663958-17AD-4EB5-B3AA-A1D68D5162C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Pump use over time</a:t>
            </a:r>
          </a:p>
        </p:txBody>
      </p:sp>
      <p:sp>
        <p:nvSpPr>
          <p:cNvPr id="2" name="">
            <a:extLst xmlns:a="http://schemas.openxmlformats.org/drawingml/2006/main">
              <a:ext uri="{FF2B5EF4-FFF2-40B4-BE49-F238E27FC236}">
                <a16:creationId xmlns:a16="http://schemas.microsoft.com/office/drawing/2014/main" id="{3E89556D-11CE-458D-83D5-F57FF4F5643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A91090E-8F60-4C71-83D6-312C4056D610}"/>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AUA24 · ICS16 · CCIFU</a:t>
            </a:r>
          </a:p>
        </p:txBody>
      </p:sp>
      <p:sp>
        <p:nvSpPr>
          <p:cNvPr id="4" name="">
            <a:extLst xmlns:a="http://schemas.openxmlformats.org/drawingml/2006/main">
              <a:ext uri="{FF2B5EF4-FFF2-40B4-BE49-F238E27FC236}">
                <a16:creationId xmlns:a16="http://schemas.microsoft.com/office/drawing/2014/main" id="{40B2D292-A23C-4251-B3D5-48DF210D466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05</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d78293d02334aff"/>
          <a:stretch xmlns:a="http://schemas.openxmlformats.org/drawingml/2006/main"/>
        </p:blipFill>
        <p:spPr>
          <a:xfrm xmlns:a="http://schemas.openxmlformats.org/drawingml/2006/main">
            <a:off x="609600" y="2179261"/>
            <a:ext cx="6477000" cy="267092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CA5E3E6-D9E4-4940-8D6B-6993C5ADE742}"/>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147F83"/>
                </a:solidFill>
                <a:latin typeface="Arial"/>
                <a:ea typeface="Arial"/>
                <a:cs typeface="Arial"/>
              </a:defRPr>
            </a:pPr>
            <a:r>
              <a:rPr sz="2175" b="1">
                <a:solidFill>
                  <a:srgbClr val="147F83"/>
                </a:solidFill>
                <a:latin typeface="Arial"/>
                <a:ea typeface="Arial"/>
                <a:cs typeface="Arial"/>
              </a:rPr>
              <a:t>Pump assessment</a:t>
            </a:r>
          </a:p>
        </p:txBody>
      </p:sp>
      <p:sp>
        <p:nvSpPr>
          <p:cNvPr id="7" name="">
            <a:extLst xmlns:a="http://schemas.openxmlformats.org/drawingml/2006/main">
              <a:ext uri="{FF2B5EF4-FFF2-40B4-BE49-F238E27FC236}">
                <a16:creationId xmlns:a16="http://schemas.microsoft.com/office/drawing/2014/main" id="{0030E0CC-50D9-48B4-A46B-09270B5F9171}"/>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Watch the patient operate a demonstration pump</a:t>
            </a:r>
          </a:p>
        </p:txBody>
      </p:sp>
      <p:sp>
        <p:nvSpPr>
          <p:cNvPr id="8" name="">
            <a:extLst xmlns:a="http://schemas.openxmlformats.org/drawingml/2006/main">
              <a:ext uri="{FF2B5EF4-FFF2-40B4-BE49-F238E27FC236}">
                <a16:creationId xmlns:a16="http://schemas.microsoft.com/office/drawing/2014/main" id="{56201C88-BB43-4F01-A18C-B4B681EEFDA8}"/>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Check reach, strength and understanding</a:t>
            </a:r>
          </a:p>
        </p:txBody>
      </p:sp>
      <p:sp>
        <p:nvSpPr>
          <p:cNvPr id="9" name="">
            <a:extLst xmlns:a="http://schemas.openxmlformats.org/drawingml/2006/main">
              <a:ext uri="{FF2B5EF4-FFF2-40B4-BE49-F238E27FC236}">
                <a16:creationId xmlns:a16="http://schemas.microsoft.com/office/drawing/2014/main" id="{6A89DC7E-977E-4B42-8C0D-553C0DC8EB29}"/>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Agree an accessible position before surgery</a:t>
            </a:r>
          </a:p>
        </p:txBody>
      </p:sp>
      <p:sp>
        <p:nvSpPr>
          <p:cNvPr id="10" name="">
            <a:extLst xmlns:a="http://schemas.openxmlformats.org/drawingml/2006/main">
              <a:ext uri="{FF2B5EF4-FFF2-40B4-BE49-F238E27FC236}">
                <a16:creationId xmlns:a16="http://schemas.microsoft.com/office/drawing/2014/main" id="{B33BA571-63FE-4A25-99EE-4A809E133220}"/>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Consider future frailty and loss of independence</a:t>
            </a:r>
          </a:p>
        </p:txBody>
      </p:sp>
      <p:sp>
        <p:nvSpPr>
          <p:cNvPr id="11" name="">
            <a:extLst xmlns:a="http://schemas.openxmlformats.org/drawingml/2006/main">
              <a:ext uri="{FF2B5EF4-FFF2-40B4-BE49-F238E27FC236}">
                <a16:creationId xmlns:a16="http://schemas.microsoft.com/office/drawing/2014/main" id="{DDEED322-3B2B-4328-84C9-D53F225903A2}"/>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773"/>
                </a:solidFill>
                <a:latin typeface="Arial"/>
                <a:ea typeface="Arial"/>
                <a:cs typeface="Arial"/>
              </a:defRPr>
            </a:pPr>
            <a:r>
              <a:rPr sz="1350" b="0">
                <a:solidFill>
                  <a:srgbClr val="526773"/>
                </a:solidFill>
                <a:latin typeface="Arial"/>
                <a:ea typeface="Arial"/>
                <a:cs typeface="Arial"/>
              </a:rPr>
              <a:t>UroOps 3D teaching schematic. Clinical review pending.</a:t>
            </a:r>
          </a:p>
        </p:txBody>
      </p:sp>
    </p:spTree>
    <p:extLst>
      <p:ext uri="{BB962C8B-B14F-4D97-AF65-F5344CB8AC3E}">
        <p14:creationId xmlns:p14="http://schemas.microsoft.com/office/powerpoint/2010/main" val="94999362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6B0BEC-29FC-4131-84EB-819BCAC444F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Flexible cystoscopy before implantation</a:t>
            </a:r>
          </a:p>
        </p:txBody>
      </p:sp>
      <p:sp>
        <p:nvSpPr>
          <p:cNvPr id="2" name="">
            <a:extLst xmlns:a="http://schemas.openxmlformats.org/drawingml/2006/main">
              <a:ext uri="{FF2B5EF4-FFF2-40B4-BE49-F238E27FC236}">
                <a16:creationId xmlns:a16="http://schemas.microsoft.com/office/drawing/2014/main" id="{84388CEC-9632-4B83-8B36-6A1BDE48F1C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C42BF8-B4E9-4AA2-B79F-3AFF48898B64}"/>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AUA24 · EAU26 · EAUSTR26</a:t>
            </a:r>
          </a:p>
        </p:txBody>
      </p:sp>
      <p:sp>
        <p:nvSpPr>
          <p:cNvPr id="4" name="">
            <a:extLst xmlns:a="http://schemas.openxmlformats.org/drawingml/2006/main">
              <a:ext uri="{FF2B5EF4-FFF2-40B4-BE49-F238E27FC236}">
                <a16:creationId xmlns:a16="http://schemas.microsoft.com/office/drawing/2014/main" id="{6493ECF0-A197-4C73-81BD-ADEBFC192F1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16F56721-C6D1-47FE-9444-BC6BBD6A08F0}"/>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Guidance</a:t>
            </a:r>
          </a:p>
        </p:txBody>
      </p:sp>
      <p:sp>
        <p:nvSpPr>
          <p:cNvPr id="6" name="">
            <a:extLst xmlns:a="http://schemas.openxmlformats.org/drawingml/2006/main">
              <a:ext uri="{FF2B5EF4-FFF2-40B4-BE49-F238E27FC236}">
                <a16:creationId xmlns:a16="http://schemas.microsoft.com/office/drawing/2014/main" id="{E5D2404A-6218-402A-A0C9-972620667BCF}"/>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AUA recommends cystourethroscopy before SUI surgery</a:t>
            </a:r>
          </a:p>
        </p:txBody>
      </p:sp>
      <p:sp>
        <p:nvSpPr>
          <p:cNvPr id="7" name="">
            <a:extLst xmlns:a="http://schemas.openxmlformats.org/drawingml/2006/main">
              <a:ext uri="{FF2B5EF4-FFF2-40B4-BE49-F238E27FC236}">
                <a16:creationId xmlns:a16="http://schemas.microsoft.com/office/drawing/2014/main" id="{63310F24-62B6-4F49-BC85-FC85D8E0AD2C}"/>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BAUS selects cystoscopy within its VUDS pathway</a:t>
            </a:r>
          </a:p>
        </p:txBody>
      </p:sp>
      <p:sp>
        <p:nvSpPr>
          <p:cNvPr id="8" name="">
            <a:extLst xmlns:a="http://schemas.openxmlformats.org/drawingml/2006/main">
              <a:ext uri="{FF2B5EF4-FFF2-40B4-BE49-F238E27FC236}">
                <a16:creationId xmlns:a16="http://schemas.microsoft.com/office/drawing/2014/main" id="{77CA7296-1C28-4AB8-BB9B-F3010F79F8A3}"/>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Advance inspection is a practical preference</a:t>
            </a:r>
          </a:p>
        </p:txBody>
      </p:sp>
      <p:sp>
        <p:nvSpPr>
          <p:cNvPr id="9" name="">
            <a:extLst xmlns:a="http://schemas.openxmlformats.org/drawingml/2006/main">
              <a:ext uri="{FF2B5EF4-FFF2-40B4-BE49-F238E27FC236}">
                <a16:creationId xmlns:a16="http://schemas.microsoft.com/office/drawing/2014/main" id="{BA7C84FD-6F8C-4392-A4AE-AFB56E9B88A1}"/>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Findings that change the plan</a:t>
            </a:r>
          </a:p>
        </p:txBody>
      </p:sp>
      <p:sp>
        <p:nvSpPr>
          <p:cNvPr id="10" name="">
            <a:extLst xmlns:a="http://schemas.openxmlformats.org/drawingml/2006/main">
              <a:ext uri="{FF2B5EF4-FFF2-40B4-BE49-F238E27FC236}">
                <a16:creationId xmlns:a16="http://schemas.microsoft.com/office/drawing/2014/main" id="{E93526FD-C198-4167-A6E2-E2B06639D35F}"/>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Stricture, BNC or VUAS</a:t>
            </a:r>
          </a:p>
        </p:txBody>
      </p:sp>
      <p:sp>
        <p:nvSpPr>
          <p:cNvPr id="11" name="">
            <a:extLst xmlns:a="http://schemas.openxmlformats.org/drawingml/2006/main">
              <a:ext uri="{FF2B5EF4-FFF2-40B4-BE49-F238E27FC236}">
                <a16:creationId xmlns:a16="http://schemas.microsoft.com/office/drawing/2014/main" id="{860AF569-231E-454C-A920-C9803254C6AE}"/>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Erosion, foreign material or stones</a:t>
            </a:r>
          </a:p>
        </p:txBody>
      </p:sp>
      <p:sp>
        <p:nvSpPr>
          <p:cNvPr id="12" name="">
            <a:extLst xmlns:a="http://schemas.openxmlformats.org/drawingml/2006/main">
              <a:ext uri="{FF2B5EF4-FFF2-40B4-BE49-F238E27FC236}">
                <a16:creationId xmlns:a16="http://schemas.microsoft.com/office/drawing/2014/main" id="{0AC59FD8-8E49-4BC0-AD8C-2A284A7B6915}"/>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Tumour or likely repeated instrumentation</a:t>
            </a:r>
          </a:p>
        </p:txBody>
      </p:sp>
      <p:sp>
        <p:nvSpPr>
          <p:cNvPr id="13" name="">
            <a:extLst xmlns:a="http://schemas.openxmlformats.org/drawingml/2006/main">
              <a:ext uri="{FF2B5EF4-FFF2-40B4-BE49-F238E27FC236}">
                <a16:creationId xmlns:a16="http://schemas.microsoft.com/office/drawing/2014/main" id="{DAAD06DC-610F-4AA8-A6E4-D32F8486EBB8}"/>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Suspected narrowing needs definition. Unplanned dilation can obscure the decision.</a:t>
            </a:r>
          </a:p>
        </p:txBody>
      </p:sp>
    </p:spTree>
    <p:extLst>
      <p:ext uri="{BB962C8B-B14F-4D97-AF65-F5344CB8AC3E}">
        <p14:creationId xmlns:p14="http://schemas.microsoft.com/office/powerpoint/2010/main" val="12772318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BACE58-CEE6-4474-B47E-801CB3260FE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Urodynamics: BAUS, EAU and AUA</a:t>
            </a:r>
          </a:p>
        </p:txBody>
      </p:sp>
      <p:sp>
        <p:nvSpPr>
          <p:cNvPr id="2" name="">
            <a:extLst xmlns:a="http://schemas.openxmlformats.org/drawingml/2006/main">
              <a:ext uri="{FF2B5EF4-FFF2-40B4-BE49-F238E27FC236}">
                <a16:creationId xmlns:a16="http://schemas.microsoft.com/office/drawing/2014/main" id="{4147B2DA-2FD1-4594-B13B-1D23222853E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ACB8635-20E8-44D5-8B19-51954A75B37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EAU26 · AUA24 · ICS16</a:t>
            </a:r>
          </a:p>
        </p:txBody>
      </p:sp>
      <p:sp>
        <p:nvSpPr>
          <p:cNvPr id="4" name="">
            <a:extLst xmlns:a="http://schemas.openxmlformats.org/drawingml/2006/main">
              <a:ext uri="{FF2B5EF4-FFF2-40B4-BE49-F238E27FC236}">
                <a16:creationId xmlns:a16="http://schemas.microsoft.com/office/drawing/2014/main" id="{4E2CF7A2-3654-4802-A5EB-893B006C7B9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07</a:t>
            </a:r>
          </a:p>
        </p:txBody>
      </p:sp>
      <p:graphicFrame>
        <p:nvGraphicFramePr>
          <p:cNvPr id="11" name=""/>
          <p:cNvGraphicFramePr/>
          <p:nvPr/>
        </p:nvGraphicFramePr>
        <p:xfrm>
          <a:off xmlns:a="http://schemas.openxmlformats.org/drawingml/2006/main" x="609600" y="1790700"/>
          <a:ext xmlns:a="http://schemas.openxmlformats.org/drawingml/2006/main" cx="10972800" cy="3638550"/>
        </p:xfrm>
        <a:graphic xmlns:a="http://schemas.openxmlformats.org/drawingml/2006/main">
          <a:graphicData uri="http://schemas.openxmlformats.org/drawingml/2006/table">
            <a:tbl>
              <a:tblPr/>
              <a:tblGrid>
                <a:gridCol w="2000250"/>
                <a:gridCol w="3714750"/>
                <a:gridCol w="5257800"/>
              </a:tblGrid>
              <a:tr h="552450">
                <a:tc>
                  <a:txBody>
                    <a:bodyPr/>
                    <a:lstStyle/>
                    <a:p>
                      <a:r>
                        <a:rPr sz="1950" b="1">
                          <a:solidFill>
                            <a:srgbClr val="FFFFFF"/>
                          </a:solidFill>
                          <a:latin typeface="Arial"/>
                          <a:ea typeface="Arial"/>
                          <a:cs typeface="Arial"/>
                        </a:rPr>
                        <a:t>Guideline</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Position</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Clinical implication</a:t>
                      </a:r>
                    </a:p>
                  </a:txBody>
                  <a:tcPr marL="133350" marR="133350" marT="95250" marB="76200" anchor="ctr">
                    <a:solidFill>
                      <a:srgbClr val="183343"/>
                    </a:solidFill>
                  </a:tcPr>
                </a:tc>
              </a:tr>
              <a:tr h="1028700">
                <a:tc>
                  <a:txBody>
                    <a:bodyPr/>
                    <a:lstStyle/>
                    <a:p>
                      <a:r>
                        <a:rPr sz="1950" b="0">
                          <a:solidFill>
                            <a:srgbClr val="183343"/>
                          </a:solidFill>
                          <a:latin typeface="Arial"/>
                          <a:ea typeface="Arial"/>
                          <a:cs typeface="Arial"/>
                        </a:rPr>
                        <a:t>BAUS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Video-urodynamics for surgical candidates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Follow the investigation pathway</a:t>
                      </a:r>
                    </a:p>
                  </a:txBody>
                  <a:tcPr marL="133350" marR="133350" marT="95250" marB="76200" anchor="ctr">
                    <a:solidFill>
                      <a:srgbClr val="EEF4F5"/>
                    </a:solidFill>
                  </a:tcPr>
                </a:tc>
              </a:tr>
              <a:tr h="1028700">
                <a:tc>
                  <a:txBody>
                    <a:bodyPr/>
                    <a:lstStyle/>
                    <a:p>
                      <a:r>
                        <a:rPr sz="1950" b="0">
                          <a:solidFill>
                            <a:srgbClr val="183343"/>
                          </a:solidFill>
                          <a:latin typeface="Arial"/>
                          <a:ea typeface="Arial"/>
                          <a:cs typeface="Arial"/>
                        </a:rPr>
                        <a:t>EAU</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UDS before invasive treatment, weak recommendation</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Interpret alongside the selective-testing narrative</a:t>
                      </a:r>
                    </a:p>
                  </a:txBody>
                  <a:tcPr marL="133350" marR="133350" marT="95250" marB="76200" anchor="ctr">
                    <a:solidFill>
                      <a:srgbClr val="FFFFFF"/>
                    </a:solidFill>
                  </a:tcPr>
                </a:tc>
              </a:tr>
              <a:tr h="1028700">
                <a:tc>
                  <a:txBody>
                    <a:bodyPr/>
                    <a:lstStyle/>
                    <a:p>
                      <a:r>
                        <a:rPr sz="1950" b="0">
                          <a:solidFill>
                            <a:srgbClr val="183343"/>
                          </a:solidFill>
                          <a:latin typeface="Arial"/>
                          <a:ea typeface="Arial"/>
                          <a:cs typeface="Arial"/>
                        </a:rPr>
                        <a:t>AUA</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UDS when diagnosis or counselling benefits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State the uncertainty the test should resolve</a:t>
                      </a:r>
                    </a:p>
                  </a:txBody>
                  <a:tcPr marL="133350" marR="133350" marT="95250" marB="76200" anchor="ctr">
                    <a:solidFill>
                      <a:srgbClr val="EEF4F5"/>
                    </a:solidFill>
                  </a:tcPr>
                </a:tc>
              </a:tr>
            </a:tbl>
          </a:graphicData>
        </a:graphic>
      </p:graphicFrame>
      <p:sp>
        <p:nvSpPr>
          <p:cNvPr id="6" name="">
            <a:extLst xmlns:a="http://schemas.openxmlformats.org/drawingml/2006/main">
              <a:ext uri="{FF2B5EF4-FFF2-40B4-BE49-F238E27FC236}">
                <a16:creationId xmlns:a16="http://schemas.microsoft.com/office/drawing/2014/main" id="{E486BF54-403B-4F71-A30B-25E7B2B8F56C}"/>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The key question: which result would change the treatment or counselling?</a:t>
            </a:r>
          </a:p>
        </p:txBody>
      </p:sp>
    </p:spTree>
    <p:extLst>
      <p:ext uri="{BB962C8B-B14F-4D97-AF65-F5344CB8AC3E}">
        <p14:creationId xmlns:p14="http://schemas.microsoft.com/office/powerpoint/2010/main" val="14916972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B5659B7-48C2-4239-B56D-E535B6D3FD0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Interpreting an imperfect study</a:t>
            </a:r>
          </a:p>
        </p:txBody>
      </p:sp>
      <p:sp>
        <p:nvSpPr>
          <p:cNvPr id="2" name="">
            <a:extLst xmlns:a="http://schemas.openxmlformats.org/drawingml/2006/main">
              <a:ext uri="{FF2B5EF4-FFF2-40B4-BE49-F238E27FC236}">
                <a16:creationId xmlns:a16="http://schemas.microsoft.com/office/drawing/2014/main" id="{CA0CC1B5-B0D2-4711-9629-65A3D488EB4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5D87D57-972F-44A5-A090-792C2D632C7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AUA24 · ICS16 · UDS14</a:t>
            </a:r>
          </a:p>
        </p:txBody>
      </p:sp>
      <p:sp>
        <p:nvSpPr>
          <p:cNvPr id="4" name="">
            <a:extLst xmlns:a="http://schemas.openxmlformats.org/drawingml/2006/main">
              <a:ext uri="{FF2B5EF4-FFF2-40B4-BE49-F238E27FC236}">
                <a16:creationId xmlns:a16="http://schemas.microsoft.com/office/drawing/2014/main" id="{694028D5-51FC-4B0E-832C-D1BE844CF46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A96A0A14-FB1A-4BFE-BF89-51B026F1546B}"/>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DAD40AC0-C067-4691-9660-88A2490005E5}"/>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Dominant symptoms and demonstrated SUI</a:t>
            </a:r>
          </a:p>
        </p:txBody>
      </p:sp>
      <p:sp>
        <p:nvSpPr>
          <p:cNvPr id="7" name="">
            <a:extLst xmlns:a="http://schemas.openxmlformats.org/drawingml/2006/main">
              <a:ext uri="{FF2B5EF4-FFF2-40B4-BE49-F238E27FC236}">
                <a16:creationId xmlns:a16="http://schemas.microsoft.com/office/drawing/2014/main" id="{BFA28B67-E6EC-4729-88ED-029CC23366E4}"/>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CE43206B-DED5-43BC-A2FB-FD057423E26B}"/>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Urine, bladder diary, free flow and repeated residual</a:t>
            </a:r>
          </a:p>
        </p:txBody>
      </p:sp>
      <p:sp>
        <p:nvSpPr>
          <p:cNvPr id="9" name="">
            <a:extLst xmlns:a="http://schemas.openxmlformats.org/drawingml/2006/main">
              <a:ext uri="{FF2B5EF4-FFF2-40B4-BE49-F238E27FC236}">
                <a16:creationId xmlns:a16="http://schemas.microsoft.com/office/drawing/2014/main" id="{DB9A9859-125F-4440-8D9E-F06FC25E1910}"/>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13FC6309-2DBA-49F8-B879-AD2E9C4D5D98}"/>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Urethral anatomy and future access</a:t>
            </a:r>
          </a:p>
        </p:txBody>
      </p:sp>
      <p:sp>
        <p:nvSpPr>
          <p:cNvPr id="11" name="">
            <a:extLst xmlns:a="http://schemas.openxmlformats.org/drawingml/2006/main">
              <a:ext uri="{FF2B5EF4-FFF2-40B4-BE49-F238E27FC236}">
                <a16:creationId xmlns:a16="http://schemas.microsoft.com/office/drawing/2014/main" id="{3FFE1E3E-7DC8-4E6C-BDCB-3EE3A8642E64}"/>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4</a:t>
            </a:r>
          </a:p>
        </p:txBody>
      </p:sp>
      <p:sp>
        <p:nvSpPr>
          <p:cNvPr id="12" name="">
            <a:extLst xmlns:a="http://schemas.openxmlformats.org/drawingml/2006/main">
              <a:ext uri="{FF2B5EF4-FFF2-40B4-BE49-F238E27FC236}">
                <a16:creationId xmlns:a16="http://schemas.microsoft.com/office/drawing/2014/main" id="{6858BC4F-0742-40BE-947C-CE391824D0CB}"/>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The chosen guideline-based UDS strategy</a:t>
            </a:r>
          </a:p>
        </p:txBody>
      </p:sp>
      <p:sp>
        <p:nvSpPr>
          <p:cNvPr id="13" name="">
            <a:extLst xmlns:a="http://schemas.openxmlformats.org/drawingml/2006/main">
              <a:ext uri="{FF2B5EF4-FFF2-40B4-BE49-F238E27FC236}">
                <a16:creationId xmlns:a16="http://schemas.microsoft.com/office/drawing/2014/main" id="{CC3AEDE1-03B2-41F9-B1E6-116167020D35}"/>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5</a:t>
            </a:r>
          </a:p>
        </p:txBody>
      </p:sp>
      <p:sp>
        <p:nvSpPr>
          <p:cNvPr id="14" name="">
            <a:extLst xmlns:a="http://schemas.openxmlformats.org/drawingml/2006/main">
              <a:ext uri="{FF2B5EF4-FFF2-40B4-BE49-F238E27FC236}">
                <a16:creationId xmlns:a16="http://schemas.microsoft.com/office/drawing/2014/main" id="{ADD41CF1-A490-4C75-A260-8BCFD37414E1}"/>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Storage safety, emptying and outlet stability</a:t>
            </a:r>
          </a:p>
        </p:txBody>
      </p:sp>
      <p:sp>
        <p:nvSpPr>
          <p:cNvPr id="15" name="">
            <a:extLst xmlns:a="http://schemas.openxmlformats.org/drawingml/2006/main">
              <a:ext uri="{FF2B5EF4-FFF2-40B4-BE49-F238E27FC236}">
                <a16:creationId xmlns:a16="http://schemas.microsoft.com/office/drawing/2014/main" id="{CB717F10-0E50-4CD2-964D-38331A41D0A8}"/>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Low capacity can reflect leakage. A weak laboratory contraction needs the real voiding history.</a:t>
            </a:r>
          </a:p>
        </p:txBody>
      </p:sp>
    </p:spTree>
    <p:extLst>
      <p:ext uri="{BB962C8B-B14F-4D97-AF65-F5344CB8AC3E}">
        <p14:creationId xmlns:p14="http://schemas.microsoft.com/office/powerpoint/2010/main" val="154147087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AFD2BCB-59D6-4C0A-8B23-186B3071EE2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Consent: improvement and lifetime burden</a:t>
            </a:r>
          </a:p>
        </p:txBody>
      </p:sp>
      <p:sp>
        <p:nvSpPr>
          <p:cNvPr id="2" name="">
            <a:extLst xmlns:a="http://schemas.openxmlformats.org/drawingml/2006/main">
              <a:ext uri="{FF2B5EF4-FFF2-40B4-BE49-F238E27FC236}">
                <a16:creationId xmlns:a16="http://schemas.microsoft.com/office/drawing/2014/main" id="{F16CDE49-F595-4021-852C-E705F019F96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63FF02E-905D-4B0D-9C85-4D429FF95457}"/>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AUSCO26 · CCSAFETY · AUA24 · RT22</a:t>
            </a:r>
          </a:p>
        </p:txBody>
      </p:sp>
      <p:sp>
        <p:nvSpPr>
          <p:cNvPr id="4" name="">
            <a:extLst xmlns:a="http://schemas.openxmlformats.org/drawingml/2006/main">
              <a:ext uri="{FF2B5EF4-FFF2-40B4-BE49-F238E27FC236}">
                <a16:creationId xmlns:a16="http://schemas.microsoft.com/office/drawing/2014/main" id="{F800B171-86B5-4D37-9979-65087EEDFB61}"/>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6EF6E34C-96E2-4DCB-B8AA-43A5ED4804A8}"/>
              </a:ext>
            </a:extLst>
          </p:cNvPr>
          <p:cNvSpPr>
            <a:spLocks xmlns:a="http://schemas.openxmlformats.org/drawingml/2006/main" noGrp="1"/>
          </p:cNvSpPr>
          <p:nvPr/>
        </p:nvSpPr>
        <p:spPr>
          <a:xfrm xmlns:a="http://schemas.openxmlformats.org/drawingml/2006/main">
            <a:off x="609600" y="182880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47F83"/>
                </a:solidFill>
                <a:latin typeface="Arial"/>
                <a:ea typeface="Arial"/>
                <a:cs typeface="Arial"/>
              </a:defRPr>
            </a:pPr>
            <a:r>
              <a:rPr sz="2250" b="1">
                <a:solidFill>
                  <a:srgbClr val="147F83"/>
                </a:solidFill>
                <a:latin typeface="Arial"/>
                <a:ea typeface="Arial"/>
                <a:cs typeface="Arial"/>
              </a:rPr>
              <a:t>AMS 800: zero-pad use</a:t>
            </a:r>
          </a:p>
        </p:txBody>
      </p:sp>
      <p:sp>
        <p:nvSpPr>
          <p:cNvPr id="6" name="">
            <a:extLst xmlns:a="http://schemas.openxmlformats.org/drawingml/2006/main">
              <a:ext uri="{FF2B5EF4-FFF2-40B4-BE49-F238E27FC236}">
                <a16:creationId xmlns:a16="http://schemas.microsoft.com/office/drawing/2014/main" id="{0A54A130-5D46-4C01-AE4A-27285AD200D0}"/>
              </a:ext>
            </a:extLst>
          </p:cNvPr>
          <p:cNvSpPr>
            <a:spLocks xmlns:a="http://schemas.openxmlformats.org/drawingml/2006/main" noGrp="1"/>
          </p:cNvSpPr>
          <p:nvPr/>
        </p:nvSpPr>
        <p:spPr>
          <a:xfrm xmlns:a="http://schemas.openxmlformats.org/drawingml/2006/main">
            <a:off x="609600" y="2352675"/>
            <a:ext cx="4762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6600" b="1">
                <a:solidFill>
                  <a:srgbClr val="183343"/>
                </a:solidFill>
                <a:latin typeface="Arial"/>
                <a:ea typeface="Arial"/>
                <a:cs typeface="Arial"/>
              </a:defRPr>
            </a:pPr>
            <a:r>
              <a:rPr sz="6600" b="1">
                <a:solidFill>
                  <a:srgbClr val="183343"/>
                </a:solidFill>
                <a:latin typeface="Arial"/>
                <a:ea typeface="Arial"/>
                <a:cs typeface="Arial"/>
              </a:rPr>
              <a:t>60%</a:t>
            </a:r>
          </a:p>
        </p:txBody>
      </p:sp>
      <p:sp>
        <p:nvSpPr>
          <p:cNvPr id="7" name="">
            <a:extLst xmlns:a="http://schemas.openxmlformats.org/drawingml/2006/main">
              <a:ext uri="{FF2B5EF4-FFF2-40B4-BE49-F238E27FC236}">
                <a16:creationId xmlns:a16="http://schemas.microsoft.com/office/drawing/2014/main" id="{E9B5F98C-C9CC-4887-A749-03893C18F0E1}"/>
              </a:ext>
            </a:extLst>
          </p:cNvPr>
          <p:cNvSpPr>
            <a:spLocks xmlns:a="http://schemas.openxmlformats.org/drawingml/2006/main" noGrp="1"/>
          </p:cNvSpPr>
          <p:nvPr/>
        </p:nvSpPr>
        <p:spPr>
          <a:xfrm xmlns:a="http://schemas.openxmlformats.org/drawingml/2006/main">
            <a:off x="609600" y="3571875"/>
            <a:ext cx="5095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61/101 at 12 months after activation</a:t>
            </a:r>
          </a:p>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AUSCO: 115 primary implants</a:t>
            </a:r>
          </a:p>
        </p:txBody>
      </p:sp>
      <p:sp>
        <p:nvSpPr>
          <p:cNvPr id="8" name="">
            <a:extLst xmlns:a="http://schemas.openxmlformats.org/drawingml/2006/main">
              <a:ext uri="{FF2B5EF4-FFF2-40B4-BE49-F238E27FC236}">
                <a16:creationId xmlns:a16="http://schemas.microsoft.com/office/drawing/2014/main" id="{58F76C1D-ABAF-46BA-8D92-BB24FC9B694C}"/>
              </a:ext>
            </a:extLst>
          </p:cNvPr>
          <p:cNvSpPr>
            <a:spLocks xmlns:a="http://schemas.openxmlformats.org/drawingml/2006/main" noGrp="1"/>
          </p:cNvSpPr>
          <p:nvPr/>
        </p:nvSpPr>
        <p:spPr>
          <a:xfrm xmlns:a="http://schemas.openxmlformats.org/drawingml/2006/main">
            <a:off x="609600" y="4848225"/>
            <a:ext cx="5095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26773"/>
                </a:solidFill>
                <a:latin typeface="Arial"/>
                <a:ea typeface="Arial"/>
                <a:cs typeface="Arial"/>
              </a:defRPr>
            </a:pPr>
            <a:r>
              <a:rPr sz="1800" b="0">
                <a:solidFill>
                  <a:srgbClr val="526773"/>
                </a:solidFill>
                <a:latin typeface="Arial"/>
                <a:ea typeface="Arial"/>
                <a:cs typeface="Arial"/>
              </a:rPr>
              <a:t>Single-arm, manufacturer-funded study.</a:t>
            </a:r>
          </a:p>
          <a:p xmlns:a="http://schemas.openxmlformats.org/drawingml/2006/main">
            <a:pPr>
              <a:defRPr sz="1800" b="0">
                <a:solidFill>
                  <a:srgbClr val="526773"/>
                </a:solidFill>
                <a:latin typeface="Arial"/>
                <a:ea typeface="Arial"/>
                <a:cs typeface="Arial"/>
              </a:defRPr>
            </a:pPr>
            <a:r>
              <a:rPr sz="1800" b="0">
                <a:solidFill>
                  <a:srgbClr val="526773"/>
                </a:solidFill>
                <a:latin typeface="Arial"/>
                <a:ea typeface="Arial"/>
                <a:cs typeface="Arial"/>
              </a:rPr>
              <a:t>Missing outcomes and one-year follow-up.</a:t>
            </a:r>
          </a:p>
        </p:txBody>
      </p:sp>
      <p:sp>
        <p:nvSpPr>
          <p:cNvPr id="9" name="">
            <a:extLst xmlns:a="http://schemas.openxmlformats.org/drawingml/2006/main">
              <a:ext uri="{FF2B5EF4-FFF2-40B4-BE49-F238E27FC236}">
                <a16:creationId xmlns:a16="http://schemas.microsoft.com/office/drawing/2014/main" id="{0C945F91-59D3-4918-84D1-7784F691AE5A}"/>
              </a:ext>
            </a:extLst>
          </p:cNvPr>
          <p:cNvSpPr>
            <a:spLocks xmlns:a="http://schemas.openxmlformats.org/drawingml/2006/main" noGrp="1"/>
          </p:cNvSpPr>
          <p:nvPr/>
        </p:nvSpPr>
        <p:spPr>
          <a:xfrm xmlns:a="http://schemas.openxmlformats.org/drawingml/2006/main">
            <a:off x="6667500" y="1828800"/>
            <a:ext cx="4905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47F83"/>
                </a:solidFill>
                <a:latin typeface="Arial"/>
                <a:ea typeface="Arial"/>
                <a:cs typeface="Arial"/>
              </a:defRPr>
            </a:pPr>
            <a:r>
              <a:rPr sz="2250" b="1">
                <a:solidFill>
                  <a:srgbClr val="147F83"/>
                </a:solidFill>
                <a:latin typeface="Arial"/>
                <a:ea typeface="Arial"/>
                <a:cs typeface="Arial"/>
              </a:rPr>
              <a:t>ContiClassic: device survival</a:t>
            </a:r>
          </a:p>
        </p:txBody>
      </p:sp>
      <p:sp>
        <p:nvSpPr>
          <p:cNvPr id="10" name="">
            <a:extLst xmlns:a="http://schemas.openxmlformats.org/drawingml/2006/main">
              <a:ext uri="{FF2B5EF4-FFF2-40B4-BE49-F238E27FC236}">
                <a16:creationId xmlns:a16="http://schemas.microsoft.com/office/drawing/2014/main" id="{769FDD85-378D-4FB3-ACE9-B7EDF70A1931}"/>
              </a:ext>
            </a:extLst>
          </p:cNvPr>
          <p:cNvSpPr>
            <a:spLocks xmlns:a="http://schemas.openxmlformats.org/drawingml/2006/main" noGrp="1"/>
          </p:cNvSpPr>
          <p:nvPr/>
        </p:nvSpPr>
        <p:spPr>
          <a:xfrm xmlns:a="http://schemas.openxmlformats.org/drawingml/2006/main">
            <a:off x="6667500" y="2352675"/>
            <a:ext cx="4905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6600" b="1">
                <a:solidFill>
                  <a:srgbClr val="183343"/>
                </a:solidFill>
                <a:latin typeface="Arial"/>
                <a:ea typeface="Arial"/>
                <a:cs typeface="Arial"/>
              </a:defRPr>
            </a:pPr>
            <a:r>
              <a:rPr sz="6600" b="1">
                <a:solidFill>
                  <a:srgbClr val="183343"/>
                </a:solidFill>
                <a:latin typeface="Arial"/>
                <a:ea typeface="Arial"/>
                <a:cs typeface="Arial"/>
              </a:rPr>
              <a:t>93.2%</a:t>
            </a:r>
          </a:p>
        </p:txBody>
      </p:sp>
      <p:sp>
        <p:nvSpPr>
          <p:cNvPr id="11" name="">
            <a:extLst xmlns:a="http://schemas.openxmlformats.org/drawingml/2006/main">
              <a:ext uri="{FF2B5EF4-FFF2-40B4-BE49-F238E27FC236}">
                <a16:creationId xmlns:a16="http://schemas.microsoft.com/office/drawing/2014/main" id="{8399AE32-0276-495B-9349-28E1C813FDD6}"/>
              </a:ext>
            </a:extLst>
          </p:cNvPr>
          <p:cNvSpPr>
            <a:spLocks xmlns:a="http://schemas.openxmlformats.org/drawingml/2006/main" noGrp="1"/>
          </p:cNvSpPr>
          <p:nvPr/>
        </p:nvSpPr>
        <p:spPr>
          <a:xfrm xmlns:a="http://schemas.openxmlformats.org/drawingml/2006/main">
            <a:off x="6667500" y="3571875"/>
            <a:ext cx="49053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12-month Kaplan–Meier estimate</a:t>
            </a:r>
          </a:p>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First 116 recipients, mixed indications</a:t>
            </a:r>
          </a:p>
        </p:txBody>
      </p:sp>
      <p:sp>
        <p:nvSpPr>
          <p:cNvPr id="12" name="">
            <a:extLst xmlns:a="http://schemas.openxmlformats.org/drawingml/2006/main">
              <a:ext uri="{FF2B5EF4-FFF2-40B4-BE49-F238E27FC236}">
                <a16:creationId xmlns:a16="http://schemas.microsoft.com/office/drawing/2014/main" id="{6DE94CB5-2B2D-42D9-91DB-E435AACF3B3E}"/>
              </a:ext>
            </a:extLst>
          </p:cNvPr>
          <p:cNvSpPr>
            <a:spLocks xmlns:a="http://schemas.openxmlformats.org/drawingml/2006/main" noGrp="1"/>
          </p:cNvSpPr>
          <p:nvPr/>
        </p:nvSpPr>
        <p:spPr>
          <a:xfrm xmlns:a="http://schemas.openxmlformats.org/drawingml/2006/main">
            <a:off x="6667500" y="4848225"/>
            <a:ext cx="4905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526773"/>
                </a:solidFill>
                <a:latin typeface="Arial"/>
                <a:ea typeface="Arial"/>
                <a:cs typeface="Arial"/>
              </a:defRPr>
            </a:pPr>
            <a:r>
              <a:rPr sz="1800" b="0">
                <a:solidFill>
                  <a:srgbClr val="526773"/>
                </a:solidFill>
                <a:latin typeface="Arial"/>
                <a:ea typeface="Arial"/>
                <a:cs typeface="Arial"/>
              </a:rPr>
              <a:t>Abstract-level, no comparator.</a:t>
            </a:r>
          </a:p>
          <a:p xmlns:a="http://schemas.openxmlformats.org/drawingml/2006/main">
            <a:pPr>
              <a:defRPr sz="1800" b="0">
                <a:solidFill>
                  <a:srgbClr val="526773"/>
                </a:solidFill>
                <a:latin typeface="Arial"/>
                <a:ea typeface="Arial"/>
                <a:cs typeface="Arial"/>
              </a:defRPr>
            </a:pPr>
            <a:r>
              <a:rPr sz="1800" b="0">
                <a:solidFill>
                  <a:srgbClr val="526773"/>
                </a:solidFill>
                <a:latin typeface="Arial"/>
                <a:ea typeface="Arial"/>
                <a:cs typeface="Arial"/>
              </a:rPr>
              <a:t>A standardised continence result is unverified.</a:t>
            </a:r>
          </a:p>
        </p:txBody>
      </p:sp>
      <p:sp>
        <p:nvSpPr>
          <p:cNvPr id="13" name="">
            <a:extLst xmlns:a="http://schemas.openxmlformats.org/drawingml/2006/main">
              <a:ext uri="{FF2B5EF4-FFF2-40B4-BE49-F238E27FC236}">
                <a16:creationId xmlns:a16="http://schemas.microsoft.com/office/drawing/2014/main" id="{ACD5995A-F800-43E1-906C-B6E5029E126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Different endpoints and populations. These figures do not compare device efficacy. Consent includes future revision, erosion and residual leakage.</a:t>
            </a:r>
          </a:p>
        </p:txBody>
      </p:sp>
    </p:spTree>
    <p:extLst>
      <p:ext uri="{BB962C8B-B14F-4D97-AF65-F5344CB8AC3E}">
        <p14:creationId xmlns:p14="http://schemas.microsoft.com/office/powerpoint/2010/main" val="5493683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F9BC711-2A7A-4652-B93B-A0935D864B4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Case 1: six pads and urgency</a:t>
            </a:r>
          </a:p>
        </p:txBody>
      </p:sp>
      <p:sp>
        <p:nvSpPr>
          <p:cNvPr id="2" name="">
            <a:extLst xmlns:a="http://schemas.openxmlformats.org/drawingml/2006/main">
              <a:ext uri="{FF2B5EF4-FFF2-40B4-BE49-F238E27FC236}">
                <a16:creationId xmlns:a16="http://schemas.microsoft.com/office/drawing/2014/main" id="{5715C49D-BD1E-4E59-94A5-0ABBF85EE22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EDC25AE-0263-4587-8620-B46D932C2BB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DO24 · OAB11 · DOFAIL23 · CCIFU</a:t>
            </a:r>
          </a:p>
        </p:txBody>
      </p:sp>
      <p:sp>
        <p:nvSpPr>
          <p:cNvPr id="4" name="">
            <a:extLst xmlns:a="http://schemas.openxmlformats.org/drawingml/2006/main">
              <a:ext uri="{FF2B5EF4-FFF2-40B4-BE49-F238E27FC236}">
                <a16:creationId xmlns:a16="http://schemas.microsoft.com/office/drawing/2014/main" id="{785AEA14-9A74-49D6-90DA-9E5C807EA0D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1B866B4A-4CCF-4353-8B61-B41640D98E35}"/>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147F83"/>
                </a:solidFill>
                <a:latin typeface="Arial"/>
                <a:ea typeface="Arial"/>
                <a:cs typeface="Arial"/>
              </a:defRPr>
            </a:pPr>
            <a:r>
              <a:rPr sz="1875" b="1">
                <a:solidFill>
                  <a:srgbClr val="147F83"/>
                </a:solidFill>
                <a:latin typeface="Arial"/>
                <a:ea typeface="Arial"/>
                <a:cs typeface="Arial"/>
              </a:rPr>
              <a:t>Fictional clinical case 01</a:t>
            </a:r>
          </a:p>
        </p:txBody>
      </p:sp>
      <p:sp>
        <p:nvSpPr>
          <p:cNvPr id="6" name="">
            <a:extLst xmlns:a="http://schemas.openxmlformats.org/drawingml/2006/main">
              <a:ext uri="{FF2B5EF4-FFF2-40B4-BE49-F238E27FC236}">
                <a16:creationId xmlns:a16="http://schemas.microsoft.com/office/drawing/2014/main" id="{1DBFB012-F39C-457E-A0B2-D40795700E6A}"/>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Demonstrated post-prostatectomy stress leakage</a:t>
            </a:r>
          </a:p>
        </p:txBody>
      </p:sp>
      <p:sp>
        <p:nvSpPr>
          <p:cNvPr id="7" name="">
            <a:extLst xmlns:a="http://schemas.openxmlformats.org/drawingml/2006/main">
              <a:ext uri="{FF2B5EF4-FFF2-40B4-BE49-F238E27FC236}">
                <a16:creationId xmlns:a16="http://schemas.microsoft.com/office/drawing/2014/main" id="{13A189F3-A2CA-4BEC-8E6C-2E58617F2FCA}"/>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Urgency leakage and detrusor overactivity</a:t>
            </a:r>
          </a:p>
        </p:txBody>
      </p:sp>
      <p:sp>
        <p:nvSpPr>
          <p:cNvPr id="8" name="">
            <a:extLst xmlns:a="http://schemas.openxmlformats.org/drawingml/2006/main">
              <a:ext uri="{FF2B5EF4-FFF2-40B4-BE49-F238E27FC236}">
                <a16:creationId xmlns:a16="http://schemas.microsoft.com/office/drawing/2014/main" id="{0A7CF8A9-FD3C-49BF-B31F-6CA4BE4C87D5}"/>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Reassuring compliance and emptying</a:t>
            </a:r>
          </a:p>
        </p:txBody>
      </p:sp>
      <p:sp>
        <p:nvSpPr>
          <p:cNvPr id="9" name="">
            <a:extLst xmlns:a="http://schemas.openxmlformats.org/drawingml/2006/main">
              <a:ext uri="{FF2B5EF4-FFF2-40B4-BE49-F238E27FC236}">
                <a16:creationId xmlns:a16="http://schemas.microsoft.com/office/drawing/2014/main" id="{5EC5C737-53CE-4CE1-A583-5CECC889D458}"/>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Goal: walk without soaking his clothes</a:t>
            </a:r>
          </a:p>
        </p:txBody>
      </p:sp>
      <p:sp>
        <p:nvSpPr>
          <p:cNvPr id="10" name="">
            <a:extLst xmlns:a="http://schemas.openxmlformats.org/drawingml/2006/main">
              <a:ext uri="{FF2B5EF4-FFF2-40B4-BE49-F238E27FC236}">
                <a16:creationId xmlns:a16="http://schemas.microsoft.com/office/drawing/2014/main" id="{670FA8F4-B029-4AE2-A0CC-A62FAF84319E}"/>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83343"/>
                </a:solidFill>
                <a:latin typeface="Arial"/>
                <a:ea typeface="Arial"/>
                <a:cs typeface="Arial"/>
              </a:defRPr>
            </a:pPr>
            <a:r>
              <a:rPr sz="3000" b="1">
                <a:solidFill>
                  <a:srgbClr val="183343"/>
                </a:solidFill>
                <a:latin typeface="Arial"/>
                <a:ea typeface="Arial"/>
                <a:cs typeface="Arial"/>
              </a:rPr>
              <a:t>Implant now or optimise first?</a:t>
            </a:r>
          </a:p>
        </p:txBody>
      </p:sp>
      <p:sp>
        <p:nvSpPr>
          <p:cNvPr id="11" name="">
            <a:extLst xmlns:a="http://schemas.openxmlformats.org/drawingml/2006/main">
              <a:ext uri="{FF2B5EF4-FFF2-40B4-BE49-F238E27FC236}">
                <a16:creationId xmlns:a16="http://schemas.microsoft.com/office/drawing/2014/main" id="{AAA4B92A-8076-4867-AAC6-F14C1BDB6D6E}"/>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2BDE59E-9905-43A8-B44E-FF57C350EEFA}"/>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47F83"/>
                </a:solidFill>
                <a:latin typeface="Arial"/>
                <a:ea typeface="Arial"/>
                <a:cs typeface="Arial"/>
              </a:defRPr>
            </a:pPr>
            <a:r>
              <a:rPr sz="1950" b="0">
                <a:solidFill>
                  <a:srgbClr val="147F83"/>
                </a:solidFill>
                <a:latin typeface="Arial"/>
                <a:ea typeface="Arial"/>
                <a:cs typeface="Arial"/>
              </a:rPr>
              <a:t>Implant / Optimise / Investigate / Reconsider</a:t>
            </a:r>
          </a:p>
        </p:txBody>
      </p:sp>
      <p:sp>
        <p:nvSpPr>
          <p:cNvPr id="13" name="">
            <a:extLst xmlns:a="http://schemas.openxmlformats.org/drawingml/2006/main">
              <a:ext uri="{FF2B5EF4-FFF2-40B4-BE49-F238E27FC236}">
                <a16:creationId xmlns:a16="http://schemas.microsoft.com/office/drawing/2014/main" id="{1D6516A9-E5B8-4C9C-9870-F62C1BBD053B}"/>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DO alone need not exclude general AUS surgery. ContiClassic labelling requires bladder conditions to be controlled or resolved.</a:t>
            </a:r>
          </a:p>
        </p:txBody>
      </p:sp>
    </p:spTree>
    <p:extLst>
      <p:ext uri="{BB962C8B-B14F-4D97-AF65-F5344CB8AC3E}">
        <p14:creationId xmlns:p14="http://schemas.microsoft.com/office/powerpoint/2010/main" val="13490186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0F7F942-63E9-429C-9A7B-714AB28BB8A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Urgency treatment and emptying</a:t>
            </a:r>
          </a:p>
        </p:txBody>
      </p:sp>
      <p:sp>
        <p:nvSpPr>
          <p:cNvPr id="2" name="">
            <a:extLst xmlns:a="http://schemas.openxmlformats.org/drawingml/2006/main">
              <a:ext uri="{FF2B5EF4-FFF2-40B4-BE49-F238E27FC236}">
                <a16:creationId xmlns:a16="http://schemas.microsoft.com/office/drawing/2014/main" id="{733D9849-C547-45A1-802E-409E9AB36B4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E768C41-1201-4439-8C70-58B7CD5461F9}"/>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AUAOAB24 · OAB11 · CCIFU</a:t>
            </a:r>
          </a:p>
        </p:txBody>
      </p:sp>
      <p:sp>
        <p:nvSpPr>
          <p:cNvPr id="4" name="">
            <a:extLst xmlns:a="http://schemas.openxmlformats.org/drawingml/2006/main">
              <a:ext uri="{FF2B5EF4-FFF2-40B4-BE49-F238E27FC236}">
                <a16:creationId xmlns:a16="http://schemas.microsoft.com/office/drawing/2014/main" id="{E21A7187-0E66-4C98-9C9C-3588BEB8E94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E5AC3CED-F9F5-45F5-B375-8EAEC95CAD95}"/>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2A6C74C4-E51E-49B0-9E35-BFC20710D273}"/>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Address reversible contributors and symptom burden</a:t>
            </a:r>
          </a:p>
        </p:txBody>
      </p:sp>
      <p:sp>
        <p:nvSpPr>
          <p:cNvPr id="7" name="">
            <a:extLst xmlns:a="http://schemas.openxmlformats.org/drawingml/2006/main">
              <a:ext uri="{FF2B5EF4-FFF2-40B4-BE49-F238E27FC236}">
                <a16:creationId xmlns:a16="http://schemas.microsoft.com/office/drawing/2014/main" id="{BEE9A2F3-52E0-4783-ACD5-FE94D29484D8}"/>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96275426-F4CD-404A-9D46-69B4EABD6FCE}"/>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Choose medication with cognition and residual urine in mind</a:t>
            </a:r>
          </a:p>
        </p:txBody>
      </p:sp>
      <p:sp>
        <p:nvSpPr>
          <p:cNvPr id="9" name="">
            <a:extLst xmlns:a="http://schemas.openxmlformats.org/drawingml/2006/main">
              <a:ext uri="{FF2B5EF4-FFF2-40B4-BE49-F238E27FC236}">
                <a16:creationId xmlns:a16="http://schemas.microsoft.com/office/drawing/2014/main" id="{5F5A7445-A07E-4170-9FD2-32996BA300C8}"/>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2680273C-8F37-4DD1-B6BF-7FA255B71DC9}"/>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Plan retention and repeated access before botulinum toxin</a:t>
            </a:r>
          </a:p>
        </p:txBody>
      </p:sp>
      <p:sp>
        <p:nvSpPr>
          <p:cNvPr id="11" name="">
            <a:extLst xmlns:a="http://schemas.openxmlformats.org/drawingml/2006/main">
              <a:ext uri="{FF2B5EF4-FFF2-40B4-BE49-F238E27FC236}">
                <a16:creationId xmlns:a16="http://schemas.microsoft.com/office/drawing/2014/main" id="{F39E4746-4004-486D-98E6-EC5E96E8F70A}"/>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4</a:t>
            </a:r>
          </a:p>
        </p:txBody>
      </p:sp>
      <p:sp>
        <p:nvSpPr>
          <p:cNvPr id="12" name="">
            <a:extLst xmlns:a="http://schemas.openxmlformats.org/drawingml/2006/main">
              <a:ext uri="{FF2B5EF4-FFF2-40B4-BE49-F238E27FC236}">
                <a16:creationId xmlns:a16="http://schemas.microsoft.com/office/drawing/2014/main" id="{39AC2CE4-CDC9-45CC-B05C-9776DA4C6E25}"/>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Treat persistent urgency as a separate outcome after AUS</a:t>
            </a:r>
          </a:p>
        </p:txBody>
      </p:sp>
      <p:sp>
        <p:nvSpPr>
          <p:cNvPr id="13" name="">
            <a:extLst xmlns:a="http://schemas.openxmlformats.org/drawingml/2006/main">
              <a:ext uri="{FF2B5EF4-FFF2-40B4-BE49-F238E27FC236}">
                <a16:creationId xmlns:a16="http://schemas.microsoft.com/office/drawing/2014/main" id="{41BC071E-769D-480F-99C0-488210FABC51}"/>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No universally superior treatment sequence around a cuff has been established.</a:t>
            </a:r>
          </a:p>
        </p:txBody>
      </p:sp>
    </p:spTree>
    <p:extLst>
      <p:ext uri="{BB962C8B-B14F-4D97-AF65-F5344CB8AC3E}">
        <p14:creationId xmlns:p14="http://schemas.microsoft.com/office/powerpoint/2010/main" val="155963983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A22F3D2-6655-4BBA-ABF2-248BE9EF78F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Case 2: weak contraction and residual urine</a:t>
            </a:r>
          </a:p>
        </p:txBody>
      </p:sp>
      <p:sp>
        <p:nvSpPr>
          <p:cNvPr id="2" name="">
            <a:extLst xmlns:a="http://schemas.openxmlformats.org/drawingml/2006/main">
              <a:ext uri="{FF2B5EF4-FFF2-40B4-BE49-F238E27FC236}">
                <a16:creationId xmlns:a16="http://schemas.microsoft.com/office/drawing/2014/main" id="{A24A2FC0-4959-44B3-BB80-78625531BBD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621A1BC-869B-471D-AD96-DAD2718D9012}"/>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DU23 · AUA24 · ICSUDS17 · CCIFU</a:t>
            </a:r>
          </a:p>
        </p:txBody>
      </p:sp>
      <p:sp>
        <p:nvSpPr>
          <p:cNvPr id="4" name="">
            <a:extLst xmlns:a="http://schemas.openxmlformats.org/drawingml/2006/main">
              <a:ext uri="{FF2B5EF4-FFF2-40B4-BE49-F238E27FC236}">
                <a16:creationId xmlns:a16="http://schemas.microsoft.com/office/drawing/2014/main" id="{12133E2A-9656-4B95-A3A1-6608DCD1BF2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87F88C07-86A6-4926-91AE-A747EF8D4975}"/>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147F83"/>
                </a:solidFill>
                <a:latin typeface="Arial"/>
                <a:ea typeface="Arial"/>
                <a:cs typeface="Arial"/>
              </a:defRPr>
            </a:pPr>
            <a:r>
              <a:rPr sz="1875" b="1">
                <a:solidFill>
                  <a:srgbClr val="147F83"/>
                </a:solidFill>
                <a:latin typeface="Arial"/>
                <a:ea typeface="Arial"/>
                <a:cs typeface="Arial"/>
              </a:rPr>
              <a:t>Fictional clinical case 02</a:t>
            </a:r>
          </a:p>
        </p:txBody>
      </p:sp>
      <p:sp>
        <p:nvSpPr>
          <p:cNvPr id="6" name="">
            <a:extLst xmlns:a="http://schemas.openxmlformats.org/drawingml/2006/main">
              <a:ext uri="{FF2B5EF4-FFF2-40B4-BE49-F238E27FC236}">
                <a16:creationId xmlns:a16="http://schemas.microsoft.com/office/drawing/2014/main" id="{61080BB7-BBBE-48AC-AEC9-9B9782B77576}"/>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Stress leakage with slow voiding</a:t>
            </a:r>
          </a:p>
        </p:txBody>
      </p:sp>
      <p:sp>
        <p:nvSpPr>
          <p:cNvPr id="7" name="">
            <a:extLst xmlns:a="http://schemas.openxmlformats.org/drawingml/2006/main">
              <a:ext uri="{FF2B5EF4-FFF2-40B4-BE49-F238E27FC236}">
                <a16:creationId xmlns:a16="http://schemas.microsoft.com/office/drawing/2014/main" id="{AB2BDBD2-8745-4F6D-A9A1-BDD6E91E9185}"/>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Repeatedly raised residual urine</a:t>
            </a:r>
          </a:p>
        </p:txBody>
      </p:sp>
      <p:sp>
        <p:nvSpPr>
          <p:cNvPr id="8" name="">
            <a:extLst xmlns:a="http://schemas.openxmlformats.org/drawingml/2006/main">
              <a:ext uri="{FF2B5EF4-FFF2-40B4-BE49-F238E27FC236}">
                <a16:creationId xmlns:a16="http://schemas.microsoft.com/office/drawing/2014/main" id="{26ECD68B-B6B6-4CD3-A020-9D28475A58E1}"/>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Weak contraction and abdominal straining</a:t>
            </a:r>
          </a:p>
        </p:txBody>
      </p:sp>
      <p:sp>
        <p:nvSpPr>
          <p:cNvPr id="9" name="">
            <a:extLst xmlns:a="http://schemas.openxmlformats.org/drawingml/2006/main">
              <a:ext uri="{FF2B5EF4-FFF2-40B4-BE49-F238E27FC236}">
                <a16:creationId xmlns:a16="http://schemas.microsoft.com/office/drawing/2014/main" id="{2B68579E-D04D-48C4-AD98-0972559E09A9}"/>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Obstruction and test inhibition remain possible</a:t>
            </a:r>
          </a:p>
        </p:txBody>
      </p:sp>
      <p:sp>
        <p:nvSpPr>
          <p:cNvPr id="10" name="">
            <a:extLst xmlns:a="http://schemas.openxmlformats.org/drawingml/2006/main">
              <a:ext uri="{FF2B5EF4-FFF2-40B4-BE49-F238E27FC236}">
                <a16:creationId xmlns:a16="http://schemas.microsoft.com/office/drawing/2014/main" id="{07584B5D-B05C-4A0E-B77B-CE07BA10FAB6}"/>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83343"/>
                </a:solidFill>
                <a:latin typeface="Arial"/>
                <a:ea typeface="Arial"/>
                <a:cs typeface="Arial"/>
              </a:defRPr>
            </a:pPr>
            <a:r>
              <a:rPr sz="3000" b="1">
                <a:solidFill>
                  <a:srgbClr val="183343"/>
                </a:solidFill>
                <a:latin typeface="Arial"/>
                <a:ea typeface="Arial"/>
                <a:cs typeface="Arial"/>
              </a:rPr>
              <a:t>Would a reliable emptying plan change your answer?</a:t>
            </a:r>
          </a:p>
        </p:txBody>
      </p:sp>
      <p:sp>
        <p:nvSpPr>
          <p:cNvPr id="11" name="">
            <a:extLst xmlns:a="http://schemas.openxmlformats.org/drawingml/2006/main">
              <a:ext uri="{FF2B5EF4-FFF2-40B4-BE49-F238E27FC236}">
                <a16:creationId xmlns:a16="http://schemas.microsoft.com/office/drawing/2014/main" id="{3AE8FB25-67DE-4CCB-8598-73996682A69D}"/>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649881C-42A0-49E2-9124-CA4416EAC8EC}"/>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47F83"/>
                </a:solidFill>
                <a:latin typeface="Arial"/>
                <a:ea typeface="Arial"/>
                <a:cs typeface="Arial"/>
              </a:defRPr>
            </a:pPr>
            <a:r>
              <a:rPr sz="1950" b="0">
                <a:solidFill>
                  <a:srgbClr val="147F83"/>
                </a:solidFill>
                <a:latin typeface="Arial"/>
                <a:ea typeface="Arial"/>
                <a:cs typeface="Arial"/>
              </a:rPr>
              <a:t>Implant / Investigate / Reconsider</a:t>
            </a:r>
          </a:p>
        </p:txBody>
      </p:sp>
      <p:sp>
        <p:nvSpPr>
          <p:cNvPr id="13" name="">
            <a:extLst xmlns:a="http://schemas.openxmlformats.org/drawingml/2006/main">
              <a:ext uri="{FF2B5EF4-FFF2-40B4-BE49-F238E27FC236}">
                <a16:creationId xmlns:a16="http://schemas.microsoft.com/office/drawing/2014/main" id="{C3D404D5-D63D-4B23-8504-21024137ECB3}"/>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Selected DU cohorts do not establish safety in unresolved retention. There is no universal residual cutoff.</a:t>
            </a:r>
          </a:p>
        </p:txBody>
      </p:sp>
    </p:spTree>
    <p:extLst>
      <p:ext uri="{BB962C8B-B14F-4D97-AF65-F5344CB8AC3E}">
        <p14:creationId xmlns:p14="http://schemas.microsoft.com/office/powerpoint/2010/main" val="96661872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4DCA83B-56E4-40B1-B7B3-A980A44703E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Catheterisation with a cuff in place</a:t>
            </a:r>
          </a:p>
        </p:txBody>
      </p:sp>
      <p:sp>
        <p:nvSpPr>
          <p:cNvPr id="2" name="">
            <a:extLst xmlns:a="http://schemas.openxmlformats.org/drawingml/2006/main">
              <a:ext uri="{FF2B5EF4-FFF2-40B4-BE49-F238E27FC236}">
                <a16:creationId xmlns:a16="http://schemas.microsoft.com/office/drawing/2014/main" id="{CE64CF6B-1BEC-4186-B1FE-254CA7BDB88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0DEC47B-FD00-4DF0-8119-3D8B0B3E6A2F}"/>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CIC23 · CATH13 · CCIFU · ICS16</a:t>
            </a:r>
          </a:p>
        </p:txBody>
      </p:sp>
      <p:sp>
        <p:nvSpPr>
          <p:cNvPr id="4" name="">
            <a:extLst xmlns:a="http://schemas.openxmlformats.org/drawingml/2006/main">
              <a:ext uri="{FF2B5EF4-FFF2-40B4-BE49-F238E27FC236}">
                <a16:creationId xmlns:a16="http://schemas.microsoft.com/office/drawing/2014/main" id="{FB379E4F-D163-4072-9B1F-53776AF30B02}"/>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F0BA0A83-484F-4D36-9A9A-082AA8C99E97}"/>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150" b="1">
                <a:solidFill>
                  <a:srgbClr val="147F83"/>
                </a:solidFill>
                <a:latin typeface="Arial"/>
                <a:ea typeface="Arial"/>
                <a:cs typeface="Arial"/>
              </a:defRPr>
            </a:pPr>
            <a:r>
              <a:rPr sz="3150" b="1">
                <a:solidFill>
                  <a:srgbClr val="147F83"/>
                </a:solidFill>
                <a:latin typeface="Arial"/>
                <a:ea typeface="Arial"/>
                <a:cs typeface="Arial"/>
              </a:rPr>
              <a:t>Cuff fully deflated.</a:t>
            </a:r>
          </a:p>
          <a:p xmlns:a="http://schemas.openxmlformats.org/drawingml/2006/main">
            <a:pPr>
              <a:defRPr sz="3150" b="1">
                <a:solidFill>
                  <a:srgbClr val="147F83"/>
                </a:solidFill>
                <a:latin typeface="Arial"/>
                <a:ea typeface="Arial"/>
                <a:cs typeface="Arial"/>
              </a:defRPr>
            </a:pPr>
            <a:r>
              <a:rPr sz="3150" b="1">
                <a:solidFill>
                  <a:srgbClr val="147F83"/>
                </a:solidFill>
                <a:latin typeface="Arial"/>
                <a:ea typeface="Arial"/>
                <a:cs typeface="Arial"/>
              </a:rPr>
              <a:t>Device deactivated.</a:t>
            </a:r>
          </a:p>
        </p:txBody>
      </p:sp>
      <p:sp>
        <p:nvSpPr>
          <p:cNvPr id="6" name="">
            <a:extLst xmlns:a="http://schemas.openxmlformats.org/drawingml/2006/main">
              <a:ext uri="{FF2B5EF4-FFF2-40B4-BE49-F238E27FC236}">
                <a16:creationId xmlns:a16="http://schemas.microsoft.com/office/drawing/2014/main" id="{C1EFF80A-8CD1-4464-A9A4-88297211513E}"/>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Establish the reason and likely frequency of catheterisation</a:t>
            </a:r>
          </a:p>
        </p:txBody>
      </p:sp>
      <p:sp>
        <p:nvSpPr>
          <p:cNvPr id="7" name="">
            <a:extLst xmlns:a="http://schemas.openxmlformats.org/drawingml/2006/main">
              <a:ext uri="{FF2B5EF4-FFF2-40B4-BE49-F238E27FC236}">
                <a16:creationId xmlns:a16="http://schemas.microsoft.com/office/drawing/2014/main" id="{797E5C09-E4DA-4981-B93A-BEA3D81B3371}"/>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Test competence and agree the drainage route before implantation</a:t>
            </a:r>
          </a:p>
        </p:txBody>
      </p:sp>
      <p:sp>
        <p:nvSpPr>
          <p:cNvPr id="8" name="">
            <a:extLst xmlns:a="http://schemas.openxmlformats.org/drawingml/2006/main">
              <a:ext uri="{FF2B5EF4-FFF2-40B4-BE49-F238E27FC236}">
                <a16:creationId xmlns:a16="http://schemas.microsoft.com/office/drawing/2014/main" id="{57B2E6AF-8BBC-418D-92FE-32F747556AD5}"/>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Plan repeated or prolonged access with specialist input</a:t>
            </a:r>
          </a:p>
        </p:txBody>
      </p:sp>
      <p:sp>
        <p:nvSpPr>
          <p:cNvPr id="9" name="">
            <a:extLst xmlns:a="http://schemas.openxmlformats.org/drawingml/2006/main">
              <a:ext uri="{FF2B5EF4-FFF2-40B4-BE49-F238E27FC236}">
                <a16:creationId xmlns:a16="http://schemas.microsoft.com/office/drawing/2014/main" id="{2A4580E3-D536-4833-842A-417EF0218BF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Follow the actual device instructions before instrumentation. No universal French-size rule applies.</a:t>
            </a:r>
          </a:p>
        </p:txBody>
      </p:sp>
    </p:spTree>
    <p:extLst>
      <p:ext uri="{BB962C8B-B14F-4D97-AF65-F5344CB8AC3E}">
        <p14:creationId xmlns:p14="http://schemas.microsoft.com/office/powerpoint/2010/main" val="189003805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6A4F93D-7BBC-4450-B30D-3F9D54A3F59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Detrusor overactivity and poor compliance</a:t>
            </a:r>
          </a:p>
        </p:txBody>
      </p:sp>
      <p:sp>
        <p:nvSpPr>
          <p:cNvPr id="2" name="">
            <a:extLst xmlns:a="http://schemas.openxmlformats.org/drawingml/2006/main">
              <a:ext uri="{FF2B5EF4-FFF2-40B4-BE49-F238E27FC236}">
                <a16:creationId xmlns:a16="http://schemas.microsoft.com/office/drawing/2014/main" id="{CC270102-74E3-4730-8386-F0FC4FE0D26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2F0C8E-B8E8-4A6D-9816-F0FF5C71071D}"/>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UDS09 · ICS16 · BAUS25 · CCIFU</a:t>
            </a:r>
          </a:p>
        </p:txBody>
      </p:sp>
      <p:sp>
        <p:nvSpPr>
          <p:cNvPr id="4" name="">
            <a:extLst xmlns:a="http://schemas.openxmlformats.org/drawingml/2006/main">
              <a:ext uri="{FF2B5EF4-FFF2-40B4-BE49-F238E27FC236}">
                <a16:creationId xmlns:a16="http://schemas.microsoft.com/office/drawing/2014/main" id="{178845F8-CC33-44BB-9889-CB98FDB4162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466549E1-26AF-4C8A-B085-BF34F8E5F1CD}"/>
              </a:ext>
            </a:extLst>
          </p:cNvPr>
          <p:cNvSpPr>
            <a:spLocks xmlns:a="http://schemas.openxmlformats.org/drawingml/2006/main" noGrp="1"/>
          </p:cNvSpPr>
          <p:nvPr/>
        </p:nvSpPr>
        <p:spPr>
          <a:xfrm xmlns:a="http://schemas.openxmlformats.org/drawingml/2006/main">
            <a:off x="609600" y="176212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47F83"/>
                </a:solidFill>
                <a:latin typeface="Arial"/>
                <a:ea typeface="Arial"/>
                <a:cs typeface="Arial"/>
              </a:defRPr>
            </a:pPr>
            <a:r>
              <a:rPr sz="2250" b="1">
                <a:solidFill>
                  <a:srgbClr val="147F83"/>
                </a:solidFill>
                <a:latin typeface="Arial"/>
                <a:ea typeface="Arial"/>
                <a:cs typeface="Arial"/>
              </a:rPr>
              <a:t>DO: transient contraction</a:t>
            </a:r>
          </a:p>
        </p:txBody>
      </p:sp>
      <p:sp>
        <p:nvSpPr>
          <p:cNvPr id="6" name="">
            <a:extLst xmlns:a="http://schemas.openxmlformats.org/drawingml/2006/main">
              <a:ext uri="{FF2B5EF4-FFF2-40B4-BE49-F238E27FC236}">
                <a16:creationId xmlns:a16="http://schemas.microsoft.com/office/drawing/2014/main" id="{5D7318D2-7C5C-4258-8668-0BFCB413B118}"/>
              </a:ext>
            </a:extLst>
          </p:cNvPr>
          <p:cNvSpPr>
            <a:spLocks xmlns:a="http://schemas.openxmlformats.org/drawingml/2006/main" noGrp="1"/>
          </p:cNvSpPr>
          <p:nvPr/>
        </p:nvSpPr>
        <p:spPr>
          <a:xfrm xmlns:a="http://schemas.openxmlformats.org/drawingml/2006/main">
            <a:off x="609600" y="23050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425" b="0">
                <a:solidFill>
                  <a:srgbClr val="526773"/>
                </a:solidFill>
                <a:latin typeface="Arial"/>
                <a:ea typeface="Arial"/>
                <a:cs typeface="Arial"/>
              </a:defRPr>
            </a:pPr>
            <a:r>
              <a:rPr sz="1425" b="0">
                <a:solidFill>
                  <a:srgbClr val="526773"/>
                </a:solidFill>
                <a:latin typeface="Arial"/>
                <a:ea typeface="Arial"/>
                <a:cs typeface="Arial"/>
              </a:rPr>
              <a:t>Pressure ↑ (arbitrary units)</a:t>
            </a:r>
          </a:p>
        </p:txBody>
      </p:sp>
      <p:sp>
        <p:nvSpPr>
          <p:cNvPr id="7" name="">
            <a:extLst xmlns:a="http://schemas.openxmlformats.org/drawingml/2006/main">
              <a:ext uri="{FF2B5EF4-FFF2-40B4-BE49-F238E27FC236}">
                <a16:creationId xmlns:a16="http://schemas.microsoft.com/office/drawing/2014/main" id="{D875F17A-06C7-486B-B6AD-1088143D6CCB}"/>
              </a:ext>
            </a:extLst>
          </p:cNvPr>
          <p:cNvSpPr>
            <a:spLocks xmlns:a="http://schemas.openxmlformats.org/drawingml/2006/main" noGrp="1"/>
          </p:cNvSpPr>
          <p:nvPr/>
        </p:nvSpPr>
        <p:spPr>
          <a:xfrm xmlns:a="http://schemas.openxmlformats.org/drawingml/2006/main">
            <a:off x="609600" y="47815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425" b="0">
                <a:solidFill>
                  <a:srgbClr val="526773"/>
                </a:solidFill>
                <a:latin typeface="Arial"/>
                <a:ea typeface="Arial"/>
                <a:cs typeface="Arial"/>
              </a:defRPr>
            </a:pPr>
            <a:r>
              <a:rPr sz="1425" b="0">
                <a:solidFill>
                  <a:srgbClr val="526773"/>
                </a:solidFill>
                <a:latin typeface="Arial"/>
                <a:ea typeface="Arial"/>
                <a:cs typeface="Arial"/>
              </a:rPr>
              <a:t>Increasing filling volume → (arbitrary units)</a:t>
            </a:r>
          </a:p>
        </p:txBody>
      </p:sp>
      <p:graphicFrame>
        <p:nvGraphicFramePr>
          <p:cNvPr id="23" name="Chart"/>
          <p:cNvGraphicFramePr/>
          <p:nvPr/>
        </p:nvGraphicFramePr>
        <p:xfrm>
          <a:off xmlns:a="http://schemas.openxmlformats.org/drawingml/2006/main" x="609600" y="2628900"/>
          <a:ext xmlns:a="http://schemas.openxmlformats.org/drawingml/2006/main" cx="5257800" cy="2143125"/>
        </p:xfrm>
        <a:graphic xmlns:a="http://schemas.openxmlformats.org/drawingml/2006/main">
          <a:graphicData uri="http://schemas.openxmlformats.org/drawingml/2006/chart">
            <c:chart xmlns:r="http://schemas.openxmlformats.org/officeDocument/2006/relationships" xmlns:c="http://schemas.openxmlformats.org/drawingml/2006/chart" r:id="R8d2caccf4b1f48f3"/>
          </a:graphicData>
        </a:graphic>
      </p:graphicFrame>
      <p:sp>
        <p:nvSpPr>
          <p:cNvPr id="9" name="">
            <a:extLst xmlns:a="http://schemas.openxmlformats.org/drawingml/2006/main">
              <a:ext uri="{FF2B5EF4-FFF2-40B4-BE49-F238E27FC236}">
                <a16:creationId xmlns:a16="http://schemas.microsoft.com/office/drawing/2014/main" id="{DC3F0AFB-3105-4398-B1CB-041B7BCA986B}"/>
              </a:ext>
            </a:extLst>
          </p:cNvPr>
          <p:cNvSpPr>
            <a:spLocks xmlns:a="http://schemas.openxmlformats.org/drawingml/2006/main" noGrp="1"/>
          </p:cNvSpPr>
          <p:nvPr/>
        </p:nvSpPr>
        <p:spPr>
          <a:xfrm xmlns:a="http://schemas.openxmlformats.org/drawingml/2006/main">
            <a:off x="6324600" y="176212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47F83"/>
                </a:solidFill>
                <a:latin typeface="Arial"/>
                <a:ea typeface="Arial"/>
                <a:cs typeface="Arial"/>
              </a:defRPr>
            </a:pPr>
            <a:r>
              <a:rPr sz="2250" b="1">
                <a:solidFill>
                  <a:srgbClr val="147F83"/>
                </a:solidFill>
                <a:latin typeface="Arial"/>
                <a:ea typeface="Arial"/>
                <a:cs typeface="Arial"/>
              </a:rPr>
              <a:t>Poor compliance: sustained rise</a:t>
            </a:r>
          </a:p>
        </p:txBody>
      </p:sp>
      <p:sp>
        <p:nvSpPr>
          <p:cNvPr id="10" name="">
            <a:extLst xmlns:a="http://schemas.openxmlformats.org/drawingml/2006/main">
              <a:ext uri="{FF2B5EF4-FFF2-40B4-BE49-F238E27FC236}">
                <a16:creationId xmlns:a16="http://schemas.microsoft.com/office/drawing/2014/main" id="{4D54F2BF-8696-44C4-969E-A5DBD46EEB77}"/>
              </a:ext>
            </a:extLst>
          </p:cNvPr>
          <p:cNvSpPr>
            <a:spLocks xmlns:a="http://schemas.openxmlformats.org/drawingml/2006/main" noGrp="1"/>
          </p:cNvSpPr>
          <p:nvPr/>
        </p:nvSpPr>
        <p:spPr>
          <a:xfrm xmlns:a="http://schemas.openxmlformats.org/drawingml/2006/main">
            <a:off x="6324600" y="23050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425" b="0">
                <a:solidFill>
                  <a:srgbClr val="526773"/>
                </a:solidFill>
                <a:latin typeface="Arial"/>
                <a:ea typeface="Arial"/>
                <a:cs typeface="Arial"/>
              </a:defRPr>
            </a:pPr>
            <a:r>
              <a:rPr sz="1425" b="0">
                <a:solidFill>
                  <a:srgbClr val="526773"/>
                </a:solidFill>
                <a:latin typeface="Arial"/>
                <a:ea typeface="Arial"/>
                <a:cs typeface="Arial"/>
              </a:rPr>
              <a:t>Pressure ↑ (arbitrary units)</a:t>
            </a:r>
          </a:p>
        </p:txBody>
      </p:sp>
      <p:sp>
        <p:nvSpPr>
          <p:cNvPr id="11" name="">
            <a:extLst xmlns:a="http://schemas.openxmlformats.org/drawingml/2006/main">
              <a:ext uri="{FF2B5EF4-FFF2-40B4-BE49-F238E27FC236}">
                <a16:creationId xmlns:a16="http://schemas.microsoft.com/office/drawing/2014/main" id="{43C93939-2EA7-4DCC-8CD2-59DDB2B1D4D1}"/>
              </a:ext>
            </a:extLst>
          </p:cNvPr>
          <p:cNvSpPr>
            <a:spLocks xmlns:a="http://schemas.openxmlformats.org/drawingml/2006/main" noGrp="1"/>
          </p:cNvSpPr>
          <p:nvPr/>
        </p:nvSpPr>
        <p:spPr>
          <a:xfrm xmlns:a="http://schemas.openxmlformats.org/drawingml/2006/main">
            <a:off x="6324600" y="4781550"/>
            <a:ext cx="525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425" b="0">
                <a:solidFill>
                  <a:srgbClr val="526773"/>
                </a:solidFill>
                <a:latin typeface="Arial"/>
                <a:ea typeface="Arial"/>
                <a:cs typeface="Arial"/>
              </a:defRPr>
            </a:pPr>
            <a:r>
              <a:rPr sz="1425" b="0">
                <a:solidFill>
                  <a:srgbClr val="526773"/>
                </a:solidFill>
                <a:latin typeface="Arial"/>
                <a:ea typeface="Arial"/>
                <a:cs typeface="Arial"/>
              </a:rPr>
              <a:t>Increasing filling volume → (arbitrary units)</a:t>
            </a:r>
          </a:p>
        </p:txBody>
      </p:sp>
      <p:graphicFrame>
        <p:nvGraphicFramePr>
          <p:cNvPr id="27" name="Chart"/>
          <p:cNvGraphicFramePr/>
          <p:nvPr/>
        </p:nvGraphicFramePr>
        <p:xfrm>
          <a:off xmlns:a="http://schemas.openxmlformats.org/drawingml/2006/main" x="6324600" y="2628900"/>
          <a:ext xmlns:a="http://schemas.openxmlformats.org/drawingml/2006/main" cx="5257800" cy="2143125"/>
        </p:xfrm>
        <a:graphic xmlns:a="http://schemas.openxmlformats.org/drawingml/2006/main">
          <a:graphicData uri="http://schemas.openxmlformats.org/drawingml/2006/chart">
            <c:chart xmlns:r="http://schemas.openxmlformats.org/officeDocument/2006/relationships" xmlns:c="http://schemas.openxmlformats.org/drawingml/2006/chart" r:id="R6a099799e8b34d10"/>
          </a:graphicData>
        </a:graphic>
      </p:graphicFrame>
      <p:sp>
        <p:nvSpPr>
          <p:cNvPr id="13" name="">
            <a:extLst xmlns:a="http://schemas.openxmlformats.org/drawingml/2006/main">
              <a:ext uri="{FF2B5EF4-FFF2-40B4-BE49-F238E27FC236}">
                <a16:creationId xmlns:a16="http://schemas.microsoft.com/office/drawing/2014/main" id="{50B0133D-B67A-4DFE-B498-9ED154519E62}"/>
              </a:ext>
            </a:extLst>
          </p:cNvPr>
          <p:cNvSpPr>
            <a:spLocks xmlns:a="http://schemas.openxmlformats.org/drawingml/2006/main" noGrp="1"/>
          </p:cNvSpPr>
          <p:nvPr/>
        </p:nvSpPr>
        <p:spPr>
          <a:xfrm xmlns:a="http://schemas.openxmlformats.org/drawingml/2006/main">
            <a:off x="609600" y="50673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Involuntary filling contraction</a:t>
            </a:r>
          </a:p>
        </p:txBody>
      </p:sp>
      <p:sp>
        <p:nvSpPr>
          <p:cNvPr id="14" name="">
            <a:extLst xmlns:a="http://schemas.openxmlformats.org/drawingml/2006/main">
              <a:ext uri="{FF2B5EF4-FFF2-40B4-BE49-F238E27FC236}">
                <a16:creationId xmlns:a16="http://schemas.microsoft.com/office/drawing/2014/main" id="{479CE0E6-7324-40FF-A04C-CE5A3B064573}"/>
              </a:ext>
            </a:extLst>
          </p:cNvPr>
          <p:cNvSpPr>
            <a:spLocks xmlns:a="http://schemas.openxmlformats.org/drawingml/2006/main" noGrp="1"/>
          </p:cNvSpPr>
          <p:nvPr/>
        </p:nvSpPr>
        <p:spPr>
          <a:xfrm xmlns:a="http://schemas.openxmlformats.org/drawingml/2006/main">
            <a:off x="6324600" y="50673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 separate storage-safety problem</a:t>
            </a:r>
          </a:p>
        </p:txBody>
      </p:sp>
      <p:sp>
        <p:nvSpPr>
          <p:cNvPr id="15" name="">
            <a:extLst xmlns:a="http://schemas.openxmlformats.org/drawingml/2006/main">
              <a:ext uri="{FF2B5EF4-FFF2-40B4-BE49-F238E27FC236}">
                <a16:creationId xmlns:a16="http://schemas.microsoft.com/office/drawing/2014/main" id="{DB734410-1E45-4A67-A866-88789ECBEA8D}"/>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Schematic traces only, with arbitrary units. Confirm trace quality and assess renal function or upper tracts when indicated.</a:t>
            </a:r>
          </a:p>
        </p:txBody>
      </p:sp>
    </p:spTree>
    <p:extLst>
      <p:ext uri="{BB962C8B-B14F-4D97-AF65-F5344CB8AC3E}">
        <p14:creationId xmlns:p14="http://schemas.microsoft.com/office/powerpoint/2010/main" val="131698586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749D0DA-6AEC-4CCB-B481-44B1E99A0ED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Three different sites of narrowing</a:t>
            </a:r>
          </a:p>
        </p:txBody>
      </p:sp>
      <p:sp>
        <p:nvSpPr>
          <p:cNvPr id="2" name="">
            <a:extLst xmlns:a="http://schemas.openxmlformats.org/drawingml/2006/main">
              <a:ext uri="{FF2B5EF4-FFF2-40B4-BE49-F238E27FC236}">
                <a16:creationId xmlns:a16="http://schemas.microsoft.com/office/drawing/2014/main" id="{C278BD81-966F-446B-AB78-7E45273C4AC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72745C4-F33A-44E7-AD19-CA2307755256}"/>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EAUSTR26 · BAUS25 · AUA24</a:t>
            </a:r>
          </a:p>
        </p:txBody>
      </p:sp>
      <p:sp>
        <p:nvSpPr>
          <p:cNvPr id="4" name="">
            <a:extLst xmlns:a="http://schemas.openxmlformats.org/drawingml/2006/main">
              <a:ext uri="{FF2B5EF4-FFF2-40B4-BE49-F238E27FC236}">
                <a16:creationId xmlns:a16="http://schemas.microsoft.com/office/drawing/2014/main" id="{F4DFA837-B26D-41BD-B3AA-C752F64B09ED}"/>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15</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ca4aa5b3383749af"/>
          <a:stretch xmlns:a="http://schemas.openxmlformats.org/drawingml/2006/main"/>
        </p:blipFill>
        <p:spPr>
          <a:xfrm xmlns:a="http://schemas.openxmlformats.org/drawingml/2006/main">
            <a:off x="609600" y="2179261"/>
            <a:ext cx="6477000" cy="267092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7CC3079-19DA-4A2F-8A1C-A245E4F9B8A0}"/>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147F83"/>
                </a:solidFill>
                <a:latin typeface="Arial"/>
                <a:ea typeface="Arial"/>
                <a:cs typeface="Arial"/>
              </a:defRPr>
            </a:pPr>
            <a:r>
              <a:rPr sz="2175" b="1">
                <a:solidFill>
                  <a:srgbClr val="147F83"/>
                </a:solidFill>
                <a:latin typeface="Arial"/>
                <a:ea typeface="Arial"/>
                <a:cs typeface="Arial"/>
              </a:rPr>
              <a:t>Anatomical distinctions</a:t>
            </a:r>
          </a:p>
        </p:txBody>
      </p:sp>
      <p:sp>
        <p:nvSpPr>
          <p:cNvPr id="7" name="">
            <a:extLst xmlns:a="http://schemas.openxmlformats.org/drawingml/2006/main">
              <a:ext uri="{FF2B5EF4-FFF2-40B4-BE49-F238E27FC236}">
                <a16:creationId xmlns:a16="http://schemas.microsoft.com/office/drawing/2014/main" id="{B7E22192-F297-4048-B558-09A3279B96EF}"/>
              </a:ext>
            </a:extLst>
          </p:cNvPr>
          <p:cNvSpPr>
            <a:spLocks xmlns:a="http://schemas.openxmlformats.org/drawingml/2006/main" noGrp="1"/>
          </p:cNvSpPr>
          <p:nvPr/>
        </p:nvSpPr>
        <p:spPr>
          <a:xfrm xmlns:a="http://schemas.openxmlformats.org/drawingml/2006/main">
            <a:off x="7505700" y="2419350"/>
            <a:ext cx="4076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Anterior stricture: urethra and spongiosum</a:t>
            </a:r>
          </a:p>
        </p:txBody>
      </p:sp>
      <p:sp>
        <p:nvSpPr>
          <p:cNvPr id="8" name="">
            <a:extLst xmlns:a="http://schemas.openxmlformats.org/drawingml/2006/main">
              <a:ext uri="{FF2B5EF4-FFF2-40B4-BE49-F238E27FC236}">
                <a16:creationId xmlns:a16="http://schemas.microsoft.com/office/drawing/2014/main" id="{B94E851E-8B7D-4AA5-B568-4CDC70B3A14C}"/>
              </a:ext>
            </a:extLst>
          </p:cNvPr>
          <p:cNvSpPr>
            <a:spLocks xmlns:a="http://schemas.openxmlformats.org/drawingml/2006/main" noGrp="1"/>
          </p:cNvSpPr>
          <p:nvPr/>
        </p:nvSpPr>
        <p:spPr>
          <a:xfrm xmlns:a="http://schemas.openxmlformats.org/drawingml/2006/main">
            <a:off x="7505700" y="3409950"/>
            <a:ext cx="4076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Bladder-neck contracture: prostate partly present</a:t>
            </a:r>
          </a:p>
        </p:txBody>
      </p:sp>
      <p:sp>
        <p:nvSpPr>
          <p:cNvPr id="9" name="">
            <a:extLst xmlns:a="http://schemas.openxmlformats.org/drawingml/2006/main">
              <a:ext uri="{FF2B5EF4-FFF2-40B4-BE49-F238E27FC236}">
                <a16:creationId xmlns:a16="http://schemas.microsoft.com/office/drawing/2014/main" id="{C613DCC9-2767-4D25-AD7E-83FAAFBFF185}"/>
              </a:ext>
            </a:extLst>
          </p:cNvPr>
          <p:cNvSpPr>
            <a:spLocks xmlns:a="http://schemas.openxmlformats.org/drawingml/2006/main" noGrp="1"/>
          </p:cNvSpPr>
          <p:nvPr/>
        </p:nvSpPr>
        <p:spPr>
          <a:xfrm xmlns:a="http://schemas.openxmlformats.org/drawingml/2006/main">
            <a:off x="7505700" y="4400550"/>
            <a:ext cx="40767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VUAS: anastomosis after radical prostatectomy</a:t>
            </a:r>
          </a:p>
        </p:txBody>
      </p:sp>
      <p:sp>
        <p:nvSpPr>
          <p:cNvPr id="10" name="">
            <a:extLst xmlns:a="http://schemas.openxmlformats.org/drawingml/2006/main">
              <a:ext uri="{FF2B5EF4-FFF2-40B4-BE49-F238E27FC236}">
                <a16:creationId xmlns:a16="http://schemas.microsoft.com/office/drawing/2014/main" id="{DC5A5203-F07E-4EE8-A901-AAC22B331A65}"/>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773"/>
                </a:solidFill>
                <a:latin typeface="Arial"/>
                <a:ea typeface="Arial"/>
                <a:cs typeface="Arial"/>
              </a:defRPr>
            </a:pPr>
            <a:r>
              <a:rPr sz="1350" b="0">
                <a:solidFill>
                  <a:srgbClr val="526773"/>
                </a:solidFill>
                <a:latin typeface="Arial"/>
                <a:ea typeface="Arial"/>
                <a:cs typeface="Arial"/>
              </a:rPr>
              <a:t>UroOps 3D teaching schematic. Clinical review pending.</a:t>
            </a:r>
          </a:p>
        </p:txBody>
      </p:sp>
      <p:sp>
        <p:nvSpPr>
          <p:cNvPr id="11" name="">
            <a:extLst xmlns:a="http://schemas.openxmlformats.org/drawingml/2006/main">
              <a:ext uri="{FF2B5EF4-FFF2-40B4-BE49-F238E27FC236}">
                <a16:creationId xmlns:a16="http://schemas.microsoft.com/office/drawing/2014/main" id="{7D40A00D-631A-471A-A095-03C838674865}"/>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Symptoms, flow, residual and anatomy must support a stable outlet.</a:t>
            </a:r>
          </a:p>
        </p:txBody>
      </p:sp>
    </p:spTree>
    <p:extLst>
      <p:ext uri="{BB962C8B-B14F-4D97-AF65-F5344CB8AC3E}">
        <p14:creationId xmlns:p14="http://schemas.microsoft.com/office/powerpoint/2010/main" val="7252766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004E72-76D6-466C-805D-8AE7A173F80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Reassessment and urethral stability</a:t>
            </a:r>
          </a:p>
        </p:txBody>
      </p:sp>
      <p:sp>
        <p:nvSpPr>
          <p:cNvPr id="2" name="">
            <a:extLst xmlns:a="http://schemas.openxmlformats.org/drawingml/2006/main">
              <a:ext uri="{FF2B5EF4-FFF2-40B4-BE49-F238E27FC236}">
                <a16:creationId xmlns:a16="http://schemas.microsoft.com/office/drawing/2014/main" id="{B928B44D-079B-4E10-94CD-4854DF79ACA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BBBCCD7-54BF-4BEA-8E02-42C11577619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AUA24 · EAUSTR26 · ICS16</a:t>
            </a:r>
          </a:p>
        </p:txBody>
      </p:sp>
      <p:sp>
        <p:nvSpPr>
          <p:cNvPr id="4" name="">
            <a:extLst xmlns:a="http://schemas.openxmlformats.org/drawingml/2006/main">
              <a:ext uri="{FF2B5EF4-FFF2-40B4-BE49-F238E27FC236}">
                <a16:creationId xmlns:a16="http://schemas.microsoft.com/office/drawing/2014/main" id="{84363450-9B5D-4080-8D71-D3B444BD526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16</a:t>
            </a:r>
          </a:p>
        </p:txBody>
      </p:sp>
      <p:graphicFrame>
        <p:nvGraphicFramePr>
          <p:cNvPr id="11" name=""/>
          <p:cNvGraphicFramePr/>
          <p:nvPr/>
        </p:nvGraphicFramePr>
        <p:xfrm>
          <a:off xmlns:a="http://schemas.openxmlformats.org/drawingml/2006/main" x="609600" y="1790700"/>
          <a:ext xmlns:a="http://schemas.openxmlformats.org/drawingml/2006/main" cx="10972800" cy="3638550"/>
        </p:xfrm>
        <a:graphic xmlns:a="http://schemas.openxmlformats.org/drawingml/2006/main">
          <a:graphicData uri="http://schemas.openxmlformats.org/drawingml/2006/table">
            <a:tbl>
              <a:tblPr/>
              <a:tblGrid>
                <a:gridCol w="2000250"/>
                <a:gridCol w="3714750"/>
                <a:gridCol w="5257800"/>
              </a:tblGrid>
              <a:tr h="552450">
                <a:tc>
                  <a:txBody>
                    <a:bodyPr/>
                    <a:lstStyle/>
                    <a:p>
                      <a:r>
                        <a:rPr sz="1950" b="1">
                          <a:solidFill>
                            <a:srgbClr val="FFFFFF"/>
                          </a:solidFill>
                          <a:latin typeface="Arial"/>
                          <a:ea typeface="Arial"/>
                          <a:cs typeface="Arial"/>
                        </a:rPr>
                        <a:t>Guideline</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Interval</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The relevant pathway</a:t>
                      </a:r>
                    </a:p>
                  </a:txBody>
                  <a:tcPr marL="133350" marR="133350" marT="95250" marB="76200" anchor="ctr">
                    <a:solidFill>
                      <a:srgbClr val="183343"/>
                    </a:solidFill>
                  </a:tcPr>
                </a:tc>
              </a:tr>
              <a:tr h="1028700">
                <a:tc>
                  <a:txBody>
                    <a:bodyPr/>
                    <a:lstStyle/>
                    <a:p>
                      <a:r>
                        <a:rPr sz="1950" b="0">
                          <a:solidFill>
                            <a:srgbClr val="183343"/>
                          </a:solidFill>
                          <a:latin typeface="Arial"/>
                          <a:ea typeface="Arial"/>
                          <a:cs typeface="Arial"/>
                        </a:rPr>
                        <a:t>AUA</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At least 4–6 weeks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Interval cystoscopy after symptomatic BNC/VUAS treatment</a:t>
                      </a:r>
                    </a:p>
                  </a:txBody>
                  <a:tcPr marL="133350" marR="133350" marT="95250" marB="76200" anchor="ctr">
                    <a:solidFill>
                      <a:srgbClr val="EEF4F5"/>
                    </a:solidFill>
                  </a:tcPr>
                </a:tc>
              </a:tr>
              <a:tr h="1028700">
                <a:tc>
                  <a:txBody>
                    <a:bodyPr/>
                    <a:lstStyle/>
                    <a:p>
                      <a:r>
                        <a:rPr sz="1950" b="0">
                          <a:solidFill>
                            <a:srgbClr val="183343"/>
                          </a:solidFill>
                          <a:latin typeface="Arial"/>
                          <a:ea typeface="Arial"/>
                          <a:cs typeface="Arial"/>
                        </a:rPr>
                        <a:t>EAU</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3–6 months</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Advice after redo vesicourethral anastomosis</a:t>
                      </a:r>
                    </a:p>
                  </a:txBody>
                  <a:tcPr marL="133350" marR="133350" marT="95250" marB="76200" anchor="ctr">
                    <a:solidFill>
                      <a:srgbClr val="FFFFFF"/>
                    </a:solidFill>
                  </a:tcPr>
                </a:tc>
              </a:tr>
              <a:tr h="1028700">
                <a:tc>
                  <a:txBody>
                    <a:bodyPr/>
                    <a:lstStyle/>
                    <a:p>
                      <a:r>
                        <a:rPr sz="1950" b="0">
                          <a:solidFill>
                            <a:srgbClr val="183343"/>
                          </a:solidFill>
                          <a:latin typeface="Arial"/>
                          <a:ea typeface="Arial"/>
                          <a:cs typeface="Arial"/>
                        </a:rPr>
                        <a:t>BAUS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At least six months without recurrence</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After treatment of post-prostatectomy narrowing</a:t>
                      </a:r>
                    </a:p>
                  </a:txBody>
                  <a:tcPr marL="133350" marR="133350" marT="95250" marB="76200" anchor="ctr">
                    <a:solidFill>
                      <a:srgbClr val="EEF4F5"/>
                    </a:solidFill>
                  </a:tcPr>
                </a:tc>
              </a:tr>
            </a:tbl>
          </a:graphicData>
        </a:graphic>
      </p:graphicFrame>
      <p:sp>
        <p:nvSpPr>
          <p:cNvPr id="6" name="">
            <a:extLst xmlns:a="http://schemas.openxmlformats.org/drawingml/2006/main">
              <a:ext uri="{FF2B5EF4-FFF2-40B4-BE49-F238E27FC236}">
                <a16:creationId xmlns:a16="http://schemas.microsoft.com/office/drawing/2014/main" id="{5C97709B-8D06-450D-9C0C-D834D815C15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These intervals describe different pathways. Recurrence pattern, tissue quality and future access remain decisive.</a:t>
            </a:r>
          </a:p>
        </p:txBody>
      </p:sp>
    </p:spTree>
    <p:extLst>
      <p:ext uri="{BB962C8B-B14F-4D97-AF65-F5344CB8AC3E}">
        <p14:creationId xmlns:p14="http://schemas.microsoft.com/office/powerpoint/2010/main" val="28325413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8DF2CBC-ED1E-405C-8946-711D9A5CE7D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Case 3: radiation and recurrent VUAS</a:t>
            </a:r>
          </a:p>
        </p:txBody>
      </p:sp>
      <p:sp>
        <p:nvSpPr>
          <p:cNvPr id="2" name="">
            <a:extLst xmlns:a="http://schemas.openxmlformats.org/drawingml/2006/main">
              <a:ext uri="{FF2B5EF4-FFF2-40B4-BE49-F238E27FC236}">
                <a16:creationId xmlns:a16="http://schemas.microsoft.com/office/drawing/2014/main" id="{3D032110-A2A3-4B2D-B9B6-B47C2C3C4DF0}"/>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B6B2CD8-E937-42A7-8C95-00396339B11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RT22 · BAUS25 · EAUSTR26 · AUA24</a:t>
            </a:r>
          </a:p>
        </p:txBody>
      </p:sp>
      <p:sp>
        <p:nvSpPr>
          <p:cNvPr id="4" name="">
            <a:extLst xmlns:a="http://schemas.openxmlformats.org/drawingml/2006/main">
              <a:ext uri="{FF2B5EF4-FFF2-40B4-BE49-F238E27FC236}">
                <a16:creationId xmlns:a16="http://schemas.microsoft.com/office/drawing/2014/main" id="{8D7864F6-DF4A-426F-B60C-93070430601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EE3F67D9-0B7C-48AB-84E1-065E48F198D6}"/>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147F83"/>
                </a:solidFill>
                <a:latin typeface="Arial"/>
                <a:ea typeface="Arial"/>
                <a:cs typeface="Arial"/>
              </a:defRPr>
            </a:pPr>
            <a:r>
              <a:rPr sz="1875" b="1">
                <a:solidFill>
                  <a:srgbClr val="147F83"/>
                </a:solidFill>
                <a:latin typeface="Arial"/>
                <a:ea typeface="Arial"/>
                <a:cs typeface="Arial"/>
              </a:rPr>
              <a:t>Fictional clinical case 03</a:t>
            </a:r>
          </a:p>
        </p:txBody>
      </p:sp>
      <p:sp>
        <p:nvSpPr>
          <p:cNvPr id="6" name="">
            <a:extLst xmlns:a="http://schemas.openxmlformats.org/drawingml/2006/main">
              <a:ext uri="{FF2B5EF4-FFF2-40B4-BE49-F238E27FC236}">
                <a16:creationId xmlns:a16="http://schemas.microsoft.com/office/drawing/2014/main" id="{D7728B9F-0D9D-4203-B2D6-853BBD9FE426}"/>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Radical prostatectomy and salvage radiotherapy</a:t>
            </a:r>
          </a:p>
        </p:txBody>
      </p:sp>
      <p:sp>
        <p:nvSpPr>
          <p:cNvPr id="7" name="">
            <a:extLst xmlns:a="http://schemas.openxmlformats.org/drawingml/2006/main">
              <a:ext uri="{FF2B5EF4-FFF2-40B4-BE49-F238E27FC236}">
                <a16:creationId xmlns:a16="http://schemas.microsoft.com/office/drawing/2014/main" id="{B6173AEA-6446-4CD7-BDF9-A41FCB789C21}"/>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Severe SUI between endoscopic treatments</a:t>
            </a:r>
          </a:p>
        </p:txBody>
      </p:sp>
      <p:sp>
        <p:nvSpPr>
          <p:cNvPr id="8" name="">
            <a:extLst xmlns:a="http://schemas.openxmlformats.org/drawingml/2006/main">
              <a:ext uri="{FF2B5EF4-FFF2-40B4-BE49-F238E27FC236}">
                <a16:creationId xmlns:a16="http://schemas.microsoft.com/office/drawing/2014/main" id="{66DE5971-8DE4-489B-97F5-C7A56E9B12C9}"/>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Recurrent vesicourethral anastomotic stenosis</a:t>
            </a:r>
          </a:p>
        </p:txBody>
      </p:sp>
      <p:sp>
        <p:nvSpPr>
          <p:cNvPr id="9" name="">
            <a:extLst xmlns:a="http://schemas.openxmlformats.org/drawingml/2006/main">
              <a:ext uri="{FF2B5EF4-FFF2-40B4-BE49-F238E27FC236}">
                <a16:creationId xmlns:a16="http://schemas.microsoft.com/office/drawing/2014/main" id="{00AFF25C-3F65-4C52-B57D-DE1AE9F9AE71}"/>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Patency still depends on further intervention</a:t>
            </a:r>
          </a:p>
        </p:txBody>
      </p:sp>
      <p:sp>
        <p:nvSpPr>
          <p:cNvPr id="10" name="">
            <a:extLst xmlns:a="http://schemas.openxmlformats.org/drawingml/2006/main">
              <a:ext uri="{FF2B5EF4-FFF2-40B4-BE49-F238E27FC236}">
                <a16:creationId xmlns:a16="http://schemas.microsoft.com/office/drawing/2014/main" id="{32A7D7EE-F6B6-42EA-AA2F-958B6492505F}"/>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83343"/>
                </a:solidFill>
                <a:latin typeface="Arial"/>
                <a:ea typeface="Arial"/>
                <a:cs typeface="Arial"/>
              </a:defRPr>
            </a:pPr>
            <a:r>
              <a:rPr sz="3000" b="1">
                <a:solidFill>
                  <a:srgbClr val="183343"/>
                </a:solidFill>
                <a:latin typeface="Arial"/>
                <a:ea typeface="Arial"/>
                <a:cs typeface="Arial"/>
              </a:rPr>
              <a:t>Implant, stage reconstruction or reconsider the endpoint?</a:t>
            </a:r>
          </a:p>
        </p:txBody>
      </p:sp>
      <p:sp>
        <p:nvSpPr>
          <p:cNvPr id="11" name="">
            <a:extLst xmlns:a="http://schemas.openxmlformats.org/drawingml/2006/main">
              <a:ext uri="{FF2B5EF4-FFF2-40B4-BE49-F238E27FC236}">
                <a16:creationId xmlns:a16="http://schemas.microsoft.com/office/drawing/2014/main" id="{3EAC231B-4080-4A49-BE29-427B9A2969A5}"/>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CFA73F-4BF0-4D51-B890-77E1A989F2B0}"/>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47F83"/>
                </a:solidFill>
                <a:latin typeface="Arial"/>
                <a:ea typeface="Arial"/>
                <a:cs typeface="Arial"/>
              </a:defRPr>
            </a:pPr>
            <a:r>
              <a:rPr sz="1950" b="0">
                <a:solidFill>
                  <a:srgbClr val="147F83"/>
                </a:solidFill>
                <a:latin typeface="Arial"/>
                <a:ea typeface="Arial"/>
                <a:cs typeface="Arial"/>
              </a:rPr>
              <a:t>Implant / Stage / Reconsider</a:t>
            </a:r>
          </a:p>
        </p:txBody>
      </p:sp>
      <p:sp>
        <p:nvSpPr>
          <p:cNvPr id="13" name="">
            <a:extLst xmlns:a="http://schemas.openxmlformats.org/drawingml/2006/main">
              <a:ext uri="{FF2B5EF4-FFF2-40B4-BE49-F238E27FC236}">
                <a16:creationId xmlns:a16="http://schemas.microsoft.com/office/drawing/2014/main" id="{757765D3-1D99-465C-9795-C63DD30B9279}"/>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A specialist reconstructive plan comes first. Radiation-associated risk estimates do not give a personal probability of failure.</a:t>
            </a:r>
          </a:p>
        </p:txBody>
      </p:sp>
    </p:spTree>
    <p:extLst>
      <p:ext uri="{BB962C8B-B14F-4D97-AF65-F5344CB8AC3E}">
        <p14:creationId xmlns:p14="http://schemas.microsoft.com/office/powerpoint/2010/main" val="15223674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11CA0CB-B392-4E4D-BD52-2490CE607583}"/>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AUS after urethral reconstruction</a:t>
            </a:r>
          </a:p>
        </p:txBody>
      </p:sp>
      <p:sp>
        <p:nvSpPr>
          <p:cNvPr id="2" name="">
            <a:extLst xmlns:a="http://schemas.openxmlformats.org/drawingml/2006/main">
              <a:ext uri="{FF2B5EF4-FFF2-40B4-BE49-F238E27FC236}">
                <a16:creationId xmlns:a16="http://schemas.microsoft.com/office/drawing/2014/main" id="{4F19BC3E-AAFF-4F92-8D66-A0881C8CBE3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7692580-5AA9-4547-8E89-1D83DCB0F967}"/>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URETH26 · BAUS25 · AUA24 · ICS16</a:t>
            </a:r>
          </a:p>
        </p:txBody>
      </p:sp>
      <p:sp>
        <p:nvSpPr>
          <p:cNvPr id="4" name="">
            <a:extLst xmlns:a="http://schemas.openxmlformats.org/drawingml/2006/main">
              <a:ext uri="{FF2B5EF4-FFF2-40B4-BE49-F238E27FC236}">
                <a16:creationId xmlns:a16="http://schemas.microsoft.com/office/drawing/2014/main" id="{31799114-6912-4D86-9829-53494D56D0E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82ECF8AA-41DA-4DBD-BC88-4A461372BEC2}"/>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The reconstruction history</a:t>
            </a:r>
          </a:p>
        </p:txBody>
      </p:sp>
      <p:sp>
        <p:nvSpPr>
          <p:cNvPr id="6" name="">
            <a:extLst xmlns:a="http://schemas.openxmlformats.org/drawingml/2006/main">
              <a:ext uri="{FF2B5EF4-FFF2-40B4-BE49-F238E27FC236}">
                <a16:creationId xmlns:a16="http://schemas.microsoft.com/office/drawing/2014/main" id="{16A6F783-5DBC-4D17-B893-1A0E322598DE}"/>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Repair site and operative report</a:t>
            </a:r>
          </a:p>
        </p:txBody>
      </p:sp>
      <p:sp>
        <p:nvSpPr>
          <p:cNvPr id="7" name="">
            <a:extLst xmlns:a="http://schemas.openxmlformats.org/drawingml/2006/main">
              <a:ext uri="{FF2B5EF4-FFF2-40B4-BE49-F238E27FC236}">
                <a16:creationId xmlns:a16="http://schemas.microsoft.com/office/drawing/2014/main" id="{F44B0D3F-01DB-4B21-8390-AE5B3F9CD1C4}"/>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Transecting or non-transecting repair</a:t>
            </a:r>
          </a:p>
        </p:txBody>
      </p:sp>
      <p:sp>
        <p:nvSpPr>
          <p:cNvPr id="8" name="">
            <a:extLst xmlns:a="http://schemas.openxmlformats.org/drawingml/2006/main">
              <a:ext uri="{FF2B5EF4-FFF2-40B4-BE49-F238E27FC236}">
                <a16:creationId xmlns:a16="http://schemas.microsoft.com/office/drawing/2014/main" id="{10F53E75-4A96-415F-B6BC-2333A1845167}"/>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Prior erosion, graft or posterior reconstruction</a:t>
            </a:r>
          </a:p>
        </p:txBody>
      </p:sp>
      <p:sp>
        <p:nvSpPr>
          <p:cNvPr id="9" name="">
            <a:extLst xmlns:a="http://schemas.openxmlformats.org/drawingml/2006/main">
              <a:ext uri="{FF2B5EF4-FFF2-40B4-BE49-F238E27FC236}">
                <a16:creationId xmlns:a16="http://schemas.microsoft.com/office/drawing/2014/main" id="{DC820905-7617-4E10-92B7-0DFCC58EEABF}"/>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The next operation</a:t>
            </a:r>
          </a:p>
        </p:txBody>
      </p:sp>
      <p:sp>
        <p:nvSpPr>
          <p:cNvPr id="10" name="">
            <a:extLst xmlns:a="http://schemas.openxmlformats.org/drawingml/2006/main">
              <a:ext uri="{FF2B5EF4-FFF2-40B4-BE49-F238E27FC236}">
                <a16:creationId xmlns:a16="http://schemas.microsoft.com/office/drawing/2014/main" id="{C871C87E-6065-4B08-9272-AAFC3A72FA40}"/>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Preserve remaining tissue and attachments</a:t>
            </a:r>
          </a:p>
        </p:txBody>
      </p:sp>
      <p:sp>
        <p:nvSpPr>
          <p:cNvPr id="11" name="">
            <a:extLst xmlns:a="http://schemas.openxmlformats.org/drawingml/2006/main">
              <a:ext uri="{FF2B5EF4-FFF2-40B4-BE49-F238E27FC236}">
                <a16:creationId xmlns:a16="http://schemas.microsoft.com/office/drawing/2014/main" id="{4AE3C810-B29F-41B4-B31F-9556BE959567}"/>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Select viable cuff-bearing tissue</a:t>
            </a:r>
          </a:p>
        </p:txBody>
      </p:sp>
      <p:sp>
        <p:nvSpPr>
          <p:cNvPr id="12" name="">
            <a:extLst xmlns:a="http://schemas.openxmlformats.org/drawingml/2006/main">
              <a:ext uri="{FF2B5EF4-FFF2-40B4-BE49-F238E27FC236}">
                <a16:creationId xmlns:a16="http://schemas.microsoft.com/office/drawing/2014/main" id="{91623271-FD59-4F73-8D03-D70D1C8FC328}"/>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Reassess unsafe planes or stage the procedure</a:t>
            </a:r>
          </a:p>
        </p:txBody>
      </p:sp>
      <p:sp>
        <p:nvSpPr>
          <p:cNvPr id="13" name="">
            <a:extLst xmlns:a="http://schemas.openxmlformats.org/drawingml/2006/main">
              <a:ext uri="{FF2B5EF4-FFF2-40B4-BE49-F238E27FC236}">
                <a16:creationId xmlns:a16="http://schemas.microsoft.com/office/drawing/2014/main" id="{32A85713-CFDD-42C3-A8D4-17C27ED4C799}"/>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New observational data support a detailed history, without proving one reconstructive technique superior.</a:t>
            </a:r>
          </a:p>
        </p:txBody>
      </p:sp>
    </p:spTree>
    <p:extLst>
      <p:ext uri="{BB962C8B-B14F-4D97-AF65-F5344CB8AC3E}">
        <p14:creationId xmlns:p14="http://schemas.microsoft.com/office/powerpoint/2010/main" val="121202714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1A557CD-B57A-4D1D-BFD2-009924C9B4A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Transcorporal placement: role and costs</a:t>
            </a:r>
          </a:p>
        </p:txBody>
      </p:sp>
      <p:sp>
        <p:nvSpPr>
          <p:cNvPr id="2" name="">
            <a:extLst xmlns:a="http://schemas.openxmlformats.org/drawingml/2006/main">
              <a:ext uri="{FF2B5EF4-FFF2-40B4-BE49-F238E27FC236}">
                <a16:creationId xmlns:a16="http://schemas.microsoft.com/office/drawing/2014/main" id="{A8780087-5D4A-4EE3-B561-0D722E1A91E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B78B5F6-37E9-4D89-9D04-AEA5F04CD02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TC20 · TC23 · BAUS25 · AP23</a:t>
            </a:r>
          </a:p>
        </p:txBody>
      </p:sp>
      <p:sp>
        <p:nvSpPr>
          <p:cNvPr id="4" name="">
            <a:extLst xmlns:a="http://schemas.openxmlformats.org/drawingml/2006/main">
              <a:ext uri="{FF2B5EF4-FFF2-40B4-BE49-F238E27FC236}">
                <a16:creationId xmlns:a16="http://schemas.microsoft.com/office/drawing/2014/main" id="{7B7F7133-519C-45DA-98EE-814B9BD0359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32D022E9-2D6C-4BC5-B838-07CACA426829}"/>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Selected role</a:t>
            </a:r>
          </a:p>
        </p:txBody>
      </p:sp>
      <p:sp>
        <p:nvSpPr>
          <p:cNvPr id="6" name="">
            <a:extLst xmlns:a="http://schemas.openxmlformats.org/drawingml/2006/main">
              <a:ext uri="{FF2B5EF4-FFF2-40B4-BE49-F238E27FC236}">
                <a16:creationId xmlns:a16="http://schemas.microsoft.com/office/drawing/2014/main" id="{0283B299-D29D-4512-8F82-3D99B3A18728}"/>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 compromised urethra with a hazardous dorsal plane</a:t>
            </a:r>
          </a:p>
        </p:txBody>
      </p:sp>
      <p:sp>
        <p:nvSpPr>
          <p:cNvPr id="7" name="">
            <a:extLst xmlns:a="http://schemas.openxmlformats.org/drawingml/2006/main">
              <a:ext uri="{FF2B5EF4-FFF2-40B4-BE49-F238E27FC236}">
                <a16:creationId xmlns:a16="http://schemas.microsoft.com/office/drawing/2014/main" id="{17BEC5AC-1BEF-4B8F-BA81-82C316964F3F}"/>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 manoeuvre addressing a defined dissection problem</a:t>
            </a:r>
          </a:p>
        </p:txBody>
      </p:sp>
      <p:sp>
        <p:nvSpPr>
          <p:cNvPr id="8" name="">
            <a:extLst xmlns:a="http://schemas.openxmlformats.org/drawingml/2006/main">
              <a:ext uri="{FF2B5EF4-FFF2-40B4-BE49-F238E27FC236}">
                <a16:creationId xmlns:a16="http://schemas.microsoft.com/office/drawing/2014/main" id="{497F8919-3AB4-461C-A1DD-92DFD2DC5293}"/>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Comparative erosion protection remains uncertain</a:t>
            </a:r>
          </a:p>
        </p:txBody>
      </p:sp>
      <p:sp>
        <p:nvSpPr>
          <p:cNvPr id="9" name="">
            <a:extLst xmlns:a="http://schemas.openxmlformats.org/drawingml/2006/main">
              <a:ext uri="{FF2B5EF4-FFF2-40B4-BE49-F238E27FC236}">
                <a16:creationId xmlns:a16="http://schemas.microsoft.com/office/drawing/2014/main" id="{E1E597C8-1BA4-430E-A63B-2794B5BF8FDE}"/>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Costs and limitations</a:t>
            </a:r>
          </a:p>
        </p:txBody>
      </p:sp>
      <p:sp>
        <p:nvSpPr>
          <p:cNvPr id="10" name="">
            <a:extLst xmlns:a="http://schemas.openxmlformats.org/drawingml/2006/main">
              <a:ext uri="{FF2B5EF4-FFF2-40B4-BE49-F238E27FC236}">
                <a16:creationId xmlns:a16="http://schemas.microsoft.com/office/drawing/2014/main" id="{0D3B672F-D8F4-4532-A2FF-04E01D844494}"/>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Corporal injury and bleeding</a:t>
            </a:r>
          </a:p>
        </p:txBody>
      </p:sp>
      <p:sp>
        <p:nvSpPr>
          <p:cNvPr id="11" name="">
            <a:extLst xmlns:a="http://schemas.openxmlformats.org/drawingml/2006/main">
              <a:ext uri="{FF2B5EF4-FFF2-40B4-BE49-F238E27FC236}">
                <a16:creationId xmlns:a16="http://schemas.microsoft.com/office/drawing/2014/main" id="{2D2D8C34-8EDD-4B4A-ABB3-1DF591041098}"/>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Sexual consequences and future prosthesis surgery</a:t>
            </a:r>
          </a:p>
        </p:txBody>
      </p:sp>
      <p:sp>
        <p:nvSpPr>
          <p:cNvPr id="12" name="">
            <a:extLst xmlns:a="http://schemas.openxmlformats.org/drawingml/2006/main">
              <a:ext uri="{FF2B5EF4-FFF2-40B4-BE49-F238E27FC236}">
                <a16:creationId xmlns:a16="http://schemas.microsoft.com/office/drawing/2014/main" id="{C27971AF-DC9B-4554-9303-3F6E6A970445}"/>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Confounding by indication in comparative series</a:t>
            </a:r>
          </a:p>
        </p:txBody>
      </p:sp>
      <p:sp>
        <p:nvSpPr>
          <p:cNvPr id="13" name="">
            <a:extLst xmlns:a="http://schemas.openxmlformats.org/drawingml/2006/main">
              <a:ext uri="{FF2B5EF4-FFF2-40B4-BE49-F238E27FC236}">
                <a16:creationId xmlns:a16="http://schemas.microsoft.com/office/drawing/2014/main" id="{6B65164B-CE5D-432C-A551-14F5B9DB9652}"/>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Tandem cuffs and other salvage procedures require a specific indication and specialist judgement.</a:t>
            </a:r>
          </a:p>
        </p:txBody>
      </p:sp>
    </p:spTree>
    <p:extLst>
      <p:ext uri="{BB962C8B-B14F-4D97-AF65-F5344CB8AC3E}">
        <p14:creationId xmlns:p14="http://schemas.microsoft.com/office/powerpoint/2010/main" val="177155966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80CB73B-9659-4766-8B00-BAFB409A2D1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The fifteen-minute wash question</a:t>
            </a:r>
          </a:p>
        </p:txBody>
      </p:sp>
      <p:sp>
        <p:nvSpPr>
          <p:cNvPr id="2" name="">
            <a:extLst xmlns:a="http://schemas.openxmlformats.org/drawingml/2006/main">
              <a:ext uri="{FF2B5EF4-FFF2-40B4-BE49-F238E27FC236}">
                <a16:creationId xmlns:a16="http://schemas.microsoft.com/office/drawing/2014/main" id="{7E7020CC-5CF4-4D38-B051-E1F0694BA55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853335-0F31-452D-8D34-98AD81FD7D7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NICE · WHO09 · PREP24</a:t>
            </a:r>
          </a:p>
        </p:txBody>
      </p:sp>
      <p:sp>
        <p:nvSpPr>
          <p:cNvPr id="4" name="">
            <a:extLst xmlns:a="http://schemas.openxmlformats.org/drawingml/2006/main">
              <a:ext uri="{FF2B5EF4-FFF2-40B4-BE49-F238E27FC236}">
                <a16:creationId xmlns:a16="http://schemas.microsoft.com/office/drawing/2014/main" id="{C8417BF6-F546-403D-BDB4-A9F5760E131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10B16263-7AF6-42A9-A461-8FE1160E3558}"/>
              </a:ext>
            </a:extLst>
          </p:cNvPr>
          <p:cNvSpPr>
            <a:spLocks xmlns:a="http://schemas.openxmlformats.org/drawingml/2006/main" noGrp="1"/>
          </p:cNvSpPr>
          <p:nvPr/>
        </p:nvSpPr>
        <p:spPr>
          <a:xfrm xmlns:a="http://schemas.openxmlformats.org/drawingml/2006/main">
            <a:off x="609600" y="1733550"/>
            <a:ext cx="109728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925" b="1">
                <a:solidFill>
                  <a:srgbClr val="183343"/>
                </a:solidFill>
                <a:latin typeface="Arial"/>
                <a:ea typeface="Arial"/>
                <a:cs typeface="Arial"/>
              </a:defRPr>
            </a:pPr>
            <a:r>
              <a:rPr sz="2925" b="1">
                <a:solidFill>
                  <a:srgbClr val="183343"/>
                </a:solidFill>
                <a:latin typeface="Arial"/>
                <a:ea typeface="Arial"/>
                <a:cs typeface="Arial"/>
              </a:rPr>
              <a:t>No direct AUS outcome evidence establishes a fixed 15-minute preparation</a:t>
            </a:r>
          </a:p>
        </p:txBody>
      </p:sp>
      <p:sp>
        <p:nvSpPr>
          <p:cNvPr id="6" name="">
            <a:extLst xmlns:a="http://schemas.openxmlformats.org/drawingml/2006/main">
              <a:ext uri="{FF2B5EF4-FFF2-40B4-BE49-F238E27FC236}">
                <a16:creationId xmlns:a16="http://schemas.microsoft.com/office/drawing/2014/main" id="{C922783A-3E16-4BB7-976F-4E557BA5CE14}"/>
              </a:ext>
            </a:extLst>
          </p:cNvPr>
          <p:cNvSpPr>
            <a:spLocks xmlns:a="http://schemas.openxmlformats.org/drawingml/2006/main" noGrp="1"/>
          </p:cNvSpPr>
          <p:nvPr/>
        </p:nvSpPr>
        <p:spPr>
          <a:xfrm xmlns:a="http://schemas.openxmlformats.org/drawingml/2006/main">
            <a:off x="609600" y="3190875"/>
            <a:ext cx="4048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47F83"/>
                </a:solidFill>
                <a:latin typeface="Arial"/>
                <a:ea typeface="Arial"/>
                <a:cs typeface="Arial"/>
              </a:defRPr>
            </a:pPr>
            <a:r>
              <a:rPr sz="2025" b="1">
                <a:solidFill>
                  <a:srgbClr val="147F83"/>
                </a:solidFill>
                <a:latin typeface="Arial"/>
                <a:ea typeface="Arial"/>
                <a:cs typeface="Arial"/>
              </a:rPr>
              <a:t>Patient washing</a:t>
            </a:r>
          </a:p>
        </p:txBody>
      </p:sp>
      <p:sp>
        <p:nvSpPr>
          <p:cNvPr id="7" name="">
            <a:extLst xmlns:a="http://schemas.openxmlformats.org/drawingml/2006/main">
              <a:ext uri="{FF2B5EF4-FFF2-40B4-BE49-F238E27FC236}">
                <a16:creationId xmlns:a16="http://schemas.microsoft.com/office/drawing/2014/main" id="{C9E660B9-46ED-4926-A46A-7445CA91CD69}"/>
              </a:ext>
            </a:extLst>
          </p:cNvPr>
          <p:cNvSpPr>
            <a:spLocks xmlns:a="http://schemas.openxmlformats.org/drawingml/2006/main" noGrp="1"/>
          </p:cNvSpPr>
          <p:nvPr/>
        </p:nvSpPr>
        <p:spPr>
          <a:xfrm xmlns:a="http://schemas.openxmlformats.org/drawingml/2006/main">
            <a:off x="4953000" y="3190875"/>
            <a:ext cx="6619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83343"/>
                </a:solidFill>
                <a:latin typeface="Arial"/>
                <a:ea typeface="Arial"/>
                <a:cs typeface="Arial"/>
              </a:defRPr>
            </a:pPr>
            <a:r>
              <a:rPr sz="1950" b="0">
                <a:solidFill>
                  <a:srgbClr val="183343"/>
                </a:solidFill>
                <a:latin typeface="Arial"/>
                <a:ea typeface="Arial"/>
                <a:cs typeface="Arial"/>
              </a:rPr>
              <a:t>Preoperative hygiene</a:t>
            </a:r>
          </a:p>
        </p:txBody>
      </p:sp>
      <p:sp>
        <p:nvSpPr>
          <p:cNvPr id="8" name="">
            <a:extLst xmlns:a="http://schemas.openxmlformats.org/drawingml/2006/main">
              <a:ext uri="{FF2B5EF4-FFF2-40B4-BE49-F238E27FC236}">
                <a16:creationId xmlns:a16="http://schemas.microsoft.com/office/drawing/2014/main" id="{F9F1E53F-BCEF-413B-95C7-E1639D1B3B28}"/>
              </a:ext>
            </a:extLst>
          </p:cNvPr>
          <p:cNvSpPr>
            <a:spLocks xmlns:a="http://schemas.openxmlformats.org/drawingml/2006/main" noGrp="1"/>
          </p:cNvSpPr>
          <p:nvPr/>
        </p:nvSpPr>
        <p:spPr>
          <a:xfrm xmlns:a="http://schemas.openxmlformats.org/drawingml/2006/main">
            <a:off x="609600" y="3771900"/>
            <a:ext cx="4048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47F83"/>
                </a:solidFill>
                <a:latin typeface="Arial"/>
                <a:ea typeface="Arial"/>
                <a:cs typeface="Arial"/>
              </a:defRPr>
            </a:pPr>
            <a:r>
              <a:rPr sz="2025" b="1">
                <a:solidFill>
                  <a:srgbClr val="147F83"/>
                </a:solidFill>
                <a:latin typeface="Arial"/>
                <a:ea typeface="Arial"/>
                <a:cs typeface="Arial"/>
              </a:rPr>
              <a:t>Skin preparation</a:t>
            </a:r>
          </a:p>
        </p:txBody>
      </p:sp>
      <p:sp>
        <p:nvSpPr>
          <p:cNvPr id="9" name="">
            <a:extLst xmlns:a="http://schemas.openxmlformats.org/drawingml/2006/main">
              <a:ext uri="{FF2B5EF4-FFF2-40B4-BE49-F238E27FC236}">
                <a16:creationId xmlns:a16="http://schemas.microsoft.com/office/drawing/2014/main" id="{BC2F0686-66EA-48D5-9C96-506CD82EE1E6}"/>
              </a:ext>
            </a:extLst>
          </p:cNvPr>
          <p:cNvSpPr>
            <a:spLocks xmlns:a="http://schemas.openxmlformats.org/drawingml/2006/main" noGrp="1"/>
          </p:cNvSpPr>
          <p:nvPr/>
        </p:nvSpPr>
        <p:spPr>
          <a:xfrm xmlns:a="http://schemas.openxmlformats.org/drawingml/2006/main">
            <a:off x="4953000" y="3771900"/>
            <a:ext cx="6619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83343"/>
                </a:solidFill>
                <a:latin typeface="Arial"/>
                <a:ea typeface="Arial"/>
                <a:cs typeface="Arial"/>
              </a:defRPr>
            </a:pPr>
            <a:r>
              <a:rPr sz="1950" b="0">
                <a:solidFill>
                  <a:srgbClr val="183343"/>
                </a:solidFill>
                <a:latin typeface="Arial"/>
                <a:ea typeface="Arial"/>
                <a:cs typeface="Arial"/>
              </a:rPr>
              <a:t>Correct product, site, contact and drying</a:t>
            </a:r>
          </a:p>
        </p:txBody>
      </p:sp>
      <p:sp>
        <p:nvSpPr>
          <p:cNvPr id="10" name="">
            <a:extLst xmlns:a="http://schemas.openxmlformats.org/drawingml/2006/main">
              <a:ext uri="{FF2B5EF4-FFF2-40B4-BE49-F238E27FC236}">
                <a16:creationId xmlns:a16="http://schemas.microsoft.com/office/drawing/2014/main" id="{35FDE72E-F94B-4954-BD75-CF4859DBD891}"/>
              </a:ext>
            </a:extLst>
          </p:cNvPr>
          <p:cNvSpPr>
            <a:spLocks xmlns:a="http://schemas.openxmlformats.org/drawingml/2006/main" noGrp="1"/>
          </p:cNvSpPr>
          <p:nvPr/>
        </p:nvSpPr>
        <p:spPr>
          <a:xfrm xmlns:a="http://schemas.openxmlformats.org/drawingml/2006/main">
            <a:off x="609600" y="4352925"/>
            <a:ext cx="4048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47F83"/>
                </a:solidFill>
                <a:latin typeface="Arial"/>
                <a:ea typeface="Arial"/>
                <a:cs typeface="Arial"/>
              </a:defRPr>
            </a:pPr>
            <a:r>
              <a:rPr sz="2025" b="1">
                <a:solidFill>
                  <a:srgbClr val="147F83"/>
                </a:solidFill>
                <a:latin typeface="Arial"/>
                <a:ea typeface="Arial"/>
                <a:cs typeface="Arial"/>
              </a:rPr>
              <a:t>Hand antisepsis</a:t>
            </a:r>
          </a:p>
        </p:txBody>
      </p:sp>
      <p:sp>
        <p:nvSpPr>
          <p:cNvPr id="11" name="">
            <a:extLst xmlns:a="http://schemas.openxmlformats.org/drawingml/2006/main">
              <a:ext uri="{FF2B5EF4-FFF2-40B4-BE49-F238E27FC236}">
                <a16:creationId xmlns:a16="http://schemas.microsoft.com/office/drawing/2014/main" id="{E21E462F-2F89-4F22-AE97-E700A7E4B80D}"/>
              </a:ext>
            </a:extLst>
          </p:cNvPr>
          <p:cNvSpPr>
            <a:spLocks xmlns:a="http://schemas.openxmlformats.org/drawingml/2006/main" noGrp="1"/>
          </p:cNvSpPr>
          <p:nvPr/>
        </p:nvSpPr>
        <p:spPr>
          <a:xfrm xmlns:a="http://schemas.openxmlformats.org/drawingml/2006/main">
            <a:off x="4953000" y="4352925"/>
            <a:ext cx="6619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83343"/>
                </a:solidFill>
                <a:latin typeface="Arial"/>
                <a:ea typeface="Arial"/>
                <a:cs typeface="Arial"/>
              </a:defRPr>
            </a:pPr>
            <a:r>
              <a:rPr sz="1950" b="0">
                <a:solidFill>
                  <a:srgbClr val="183343"/>
                </a:solidFill>
                <a:latin typeface="Arial"/>
                <a:ea typeface="Arial"/>
                <a:cs typeface="Arial"/>
              </a:rPr>
              <a:t>The team’s hands and forearms</a:t>
            </a:r>
          </a:p>
        </p:txBody>
      </p:sp>
      <p:sp>
        <p:nvSpPr>
          <p:cNvPr id="12" name="">
            <a:extLst xmlns:a="http://schemas.openxmlformats.org/drawingml/2006/main">
              <a:ext uri="{FF2B5EF4-FFF2-40B4-BE49-F238E27FC236}">
                <a16:creationId xmlns:a16="http://schemas.microsoft.com/office/drawing/2014/main" id="{75E84991-8235-41CB-877D-E03A42929060}"/>
              </a:ext>
            </a:extLst>
          </p:cNvPr>
          <p:cNvSpPr>
            <a:spLocks xmlns:a="http://schemas.openxmlformats.org/drawingml/2006/main" noGrp="1"/>
          </p:cNvSpPr>
          <p:nvPr/>
        </p:nvSpPr>
        <p:spPr>
          <a:xfrm xmlns:a="http://schemas.openxmlformats.org/drawingml/2006/main">
            <a:off x="609600" y="4933950"/>
            <a:ext cx="4048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47F83"/>
                </a:solidFill>
                <a:latin typeface="Arial"/>
                <a:ea typeface="Arial"/>
                <a:cs typeface="Arial"/>
              </a:defRPr>
            </a:pPr>
            <a:r>
              <a:rPr sz="2025" b="1">
                <a:solidFill>
                  <a:srgbClr val="147F83"/>
                </a:solidFill>
                <a:latin typeface="Arial"/>
                <a:ea typeface="Arial"/>
                <a:cs typeface="Arial"/>
              </a:rPr>
              <a:t>Irrigation and device preparation</a:t>
            </a:r>
          </a:p>
        </p:txBody>
      </p:sp>
      <p:sp>
        <p:nvSpPr>
          <p:cNvPr id="13" name="">
            <a:extLst xmlns:a="http://schemas.openxmlformats.org/drawingml/2006/main">
              <a:ext uri="{FF2B5EF4-FFF2-40B4-BE49-F238E27FC236}">
                <a16:creationId xmlns:a16="http://schemas.microsoft.com/office/drawing/2014/main" id="{5DA8F56B-B36A-464B-A178-46B807699D97}"/>
              </a:ext>
            </a:extLst>
          </p:cNvPr>
          <p:cNvSpPr>
            <a:spLocks xmlns:a="http://schemas.openxmlformats.org/drawingml/2006/main" noGrp="1"/>
          </p:cNvSpPr>
          <p:nvPr/>
        </p:nvSpPr>
        <p:spPr>
          <a:xfrm xmlns:a="http://schemas.openxmlformats.org/drawingml/2006/main">
            <a:off x="4953000" y="4933950"/>
            <a:ext cx="6619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83343"/>
                </a:solidFill>
                <a:latin typeface="Arial"/>
                <a:ea typeface="Arial"/>
                <a:cs typeface="Arial"/>
              </a:defRPr>
            </a:pPr>
            <a:r>
              <a:rPr sz="1950" b="0">
                <a:solidFill>
                  <a:srgbClr val="183343"/>
                </a:solidFill>
                <a:latin typeface="Arial"/>
                <a:ea typeface="Arial"/>
                <a:cs typeface="Arial"/>
              </a:rPr>
              <a:t>Separate interventions and compatibility rules</a:t>
            </a:r>
          </a:p>
        </p:txBody>
      </p:sp>
      <p:sp>
        <p:nvSpPr>
          <p:cNvPr id="14" name="">
            <a:extLst xmlns:a="http://schemas.openxmlformats.org/drawingml/2006/main">
              <a:ext uri="{FF2B5EF4-FFF2-40B4-BE49-F238E27FC236}">
                <a16:creationId xmlns:a16="http://schemas.microsoft.com/office/drawing/2014/main" id="{1CFCFB04-8C09-4A50-922D-F7A3E5AEEC74}"/>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BAUS’s five-minute topical field scrub is consensus with extrapolation. Product timings address different activities.</a:t>
            </a:r>
          </a:p>
        </p:txBody>
      </p:sp>
    </p:spTree>
    <p:extLst>
      <p:ext uri="{BB962C8B-B14F-4D97-AF65-F5344CB8AC3E}">
        <p14:creationId xmlns:p14="http://schemas.microsoft.com/office/powerpoint/2010/main" val="17536298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9A72A6-3BB3-4573-ACE6-812D0598D91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Skin culture reduction and clinical infection</a:t>
            </a:r>
          </a:p>
        </p:txBody>
      </p:sp>
      <p:sp>
        <p:nvSpPr>
          <p:cNvPr id="2" name="">
            <a:extLst xmlns:a="http://schemas.openxmlformats.org/drawingml/2006/main">
              <a:ext uri="{FF2B5EF4-FFF2-40B4-BE49-F238E27FC236}">
                <a16:creationId xmlns:a16="http://schemas.microsoft.com/office/drawing/2014/main" id="{E000342C-7FD9-4FB5-9F11-28AA19054A5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9D7D12A-8B4E-4DE8-8D66-0EA62EB5041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YEUNG13 · PREP24 · NICE · CHLORA26 · BAUS25</a:t>
            </a:r>
          </a:p>
        </p:txBody>
      </p:sp>
      <p:sp>
        <p:nvSpPr>
          <p:cNvPr id="4" name="">
            <a:extLst xmlns:a="http://schemas.openxmlformats.org/drawingml/2006/main">
              <a:ext uri="{FF2B5EF4-FFF2-40B4-BE49-F238E27FC236}">
                <a16:creationId xmlns:a16="http://schemas.microsoft.com/office/drawing/2014/main" id="{1881318A-0D85-4988-A63A-CE8F8F3CB1FB}"/>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21</a:t>
            </a:r>
          </a:p>
        </p:txBody>
      </p:sp>
      <p:graphicFrame>
        <p:nvGraphicFramePr>
          <p:cNvPr id="14" name="Chart"/>
          <p:cNvGraphicFramePr/>
          <p:nvPr/>
        </p:nvGraphicFramePr>
        <p:xfrm>
          <a:off xmlns:a="http://schemas.openxmlformats.org/drawingml/2006/main" x="609600" y="1857375"/>
          <a:ext xmlns:a="http://schemas.openxmlformats.org/drawingml/2006/main" cx="6715125" cy="3429000"/>
        </p:xfrm>
        <a:graphic xmlns:a="http://schemas.openxmlformats.org/drawingml/2006/main">
          <a:graphicData uri="http://schemas.openxmlformats.org/drawingml/2006/chart">
            <c:chart xmlns:r="http://schemas.openxmlformats.org/officeDocument/2006/relationships" xmlns:c="http://schemas.openxmlformats.org/drawingml/2006/chart" r:id="Rec19557b30824abc"/>
          </a:graphicData>
        </a:graphic>
      </p:graphicFrame>
      <p:sp>
        <p:nvSpPr>
          <p:cNvPr id="6" name="">
            <a:extLst xmlns:a="http://schemas.openxmlformats.org/drawingml/2006/main">
              <a:ext uri="{FF2B5EF4-FFF2-40B4-BE49-F238E27FC236}">
                <a16:creationId xmlns:a16="http://schemas.microsoft.com/office/drawing/2014/main" id="{670FBB04-C00D-4CAE-9011-B6F2F5B45CDB}"/>
              </a:ext>
            </a:extLst>
          </p:cNvPr>
          <p:cNvSpPr>
            <a:spLocks xmlns:a="http://schemas.openxmlformats.org/drawingml/2006/main" noGrp="1"/>
          </p:cNvSpPr>
          <p:nvPr/>
        </p:nvSpPr>
        <p:spPr>
          <a:xfrm xmlns:a="http://schemas.openxmlformats.org/drawingml/2006/main">
            <a:off x="7848600" y="2019300"/>
            <a:ext cx="3733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1">
                <a:solidFill>
                  <a:srgbClr val="183343"/>
                </a:solidFill>
                <a:latin typeface="Arial"/>
                <a:ea typeface="Arial"/>
                <a:cs typeface="Arial"/>
              </a:defRPr>
            </a:pPr>
            <a:r>
              <a:rPr sz="2700" b="1">
                <a:solidFill>
                  <a:srgbClr val="183343"/>
                </a:solidFill>
                <a:latin typeface="Arial"/>
                <a:ea typeface="Arial"/>
                <a:cs typeface="Arial"/>
              </a:rPr>
              <a:t>A microbiological endpoint</a:t>
            </a:r>
          </a:p>
        </p:txBody>
      </p:sp>
      <p:sp>
        <p:nvSpPr>
          <p:cNvPr id="7" name="">
            <a:extLst xmlns:a="http://schemas.openxmlformats.org/drawingml/2006/main">
              <a:ext uri="{FF2B5EF4-FFF2-40B4-BE49-F238E27FC236}">
                <a16:creationId xmlns:a16="http://schemas.microsoft.com/office/drawing/2014/main" id="{81CCC7F7-205E-4F35-8BF8-95C6B437DB0D}"/>
              </a:ext>
            </a:extLst>
          </p:cNvPr>
          <p:cNvSpPr>
            <a:spLocks xmlns:a="http://schemas.openxmlformats.org/drawingml/2006/main" noGrp="1"/>
          </p:cNvSpPr>
          <p:nvPr/>
        </p:nvSpPr>
        <p:spPr>
          <a:xfrm xmlns:a="http://schemas.openxmlformats.org/drawingml/2006/main">
            <a:off x="7848600" y="3324225"/>
            <a:ext cx="3733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526773"/>
                </a:solidFill>
                <a:latin typeface="Arial"/>
                <a:ea typeface="Arial"/>
                <a:cs typeface="Arial"/>
              </a:defRPr>
            </a:pPr>
            <a:r>
              <a:rPr sz="2250" b="0">
                <a:solidFill>
                  <a:srgbClr val="526773"/>
                </a:solidFill>
                <a:latin typeface="Arial"/>
                <a:ea typeface="Arial"/>
                <a:cs typeface="Arial"/>
              </a:rPr>
              <a:t>Direct AUS infection evidence remains limited</a:t>
            </a:r>
          </a:p>
        </p:txBody>
      </p:sp>
      <p:sp>
        <p:nvSpPr>
          <p:cNvPr id="8" name="">
            <a:extLst xmlns:a="http://schemas.openxmlformats.org/drawingml/2006/main">
              <a:ext uri="{FF2B5EF4-FFF2-40B4-BE49-F238E27FC236}">
                <a16:creationId xmlns:a16="http://schemas.microsoft.com/office/drawing/2014/main" id="{26B9B949-4A9C-447B-8E2F-30852AC6244D}"/>
              </a:ext>
            </a:extLst>
          </p:cNvPr>
          <p:cNvSpPr>
            <a:spLocks xmlns:a="http://schemas.openxmlformats.org/drawingml/2006/main" noGrp="1"/>
          </p:cNvSpPr>
          <p:nvPr/>
        </p:nvSpPr>
        <p:spPr>
          <a:xfrm xmlns:a="http://schemas.openxmlformats.org/drawingml/2006/main">
            <a:off x="7848600" y="4600575"/>
            <a:ext cx="37338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47F83"/>
                </a:solidFill>
                <a:latin typeface="Arial"/>
                <a:ea typeface="Arial"/>
                <a:cs typeface="Arial"/>
              </a:defRPr>
            </a:pPr>
            <a:r>
              <a:rPr sz="2175" b="0">
                <a:solidFill>
                  <a:srgbClr val="147F83"/>
                </a:solidFill>
                <a:latin typeface="Arial"/>
                <a:ea typeface="Arial"/>
                <a:cs typeface="Arial"/>
              </a:rPr>
              <a:t>Correct product, anatomy and complete drying still matter</a:t>
            </a:r>
          </a:p>
        </p:txBody>
      </p:sp>
      <p:sp>
        <p:nvSpPr>
          <p:cNvPr id="9" name="">
            <a:extLst xmlns:a="http://schemas.openxmlformats.org/drawingml/2006/main">
              <a:ext uri="{FF2B5EF4-FFF2-40B4-BE49-F238E27FC236}">
                <a16:creationId xmlns:a16="http://schemas.microsoft.com/office/drawing/2014/main" id="{5ADB8877-785D-454E-BAE7-2F375E7B144B}"/>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Yeung 2013: 100 initial GU prosthetic procedures, 50 per arm. Immediate skin cultures, not AUS infection or a duration trial.</a:t>
            </a:r>
          </a:p>
        </p:txBody>
      </p:sp>
    </p:spTree>
    <p:extLst>
      <p:ext uri="{BB962C8B-B14F-4D97-AF65-F5344CB8AC3E}">
        <p14:creationId xmlns:p14="http://schemas.microsoft.com/office/powerpoint/2010/main" val="11311028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A27F77-3BA7-4C2B-8CD9-F06847033B5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Urine and antibiotic disagreements</a:t>
            </a:r>
          </a:p>
        </p:txBody>
      </p:sp>
      <p:sp>
        <p:nvSpPr>
          <p:cNvPr id="2" name="">
            <a:extLst xmlns:a="http://schemas.openxmlformats.org/drawingml/2006/main">
              <a:ext uri="{FF2B5EF4-FFF2-40B4-BE49-F238E27FC236}">
                <a16:creationId xmlns:a16="http://schemas.microsoft.com/office/drawing/2014/main" id="{3C53E396-CE90-49C9-AEB8-1F391519A436}"/>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1E49E5A-6C38-4AF7-B36A-A4DCDD6E2A75}"/>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IDSA19 · BAUS25 · AUAABX20 · ABX18 · CCIFU</a:t>
            </a:r>
          </a:p>
        </p:txBody>
      </p:sp>
      <p:sp>
        <p:nvSpPr>
          <p:cNvPr id="4" name="">
            <a:extLst xmlns:a="http://schemas.openxmlformats.org/drawingml/2006/main">
              <a:ext uri="{FF2B5EF4-FFF2-40B4-BE49-F238E27FC236}">
                <a16:creationId xmlns:a16="http://schemas.microsoft.com/office/drawing/2014/main" id="{4AAA634E-0ECC-40B0-8E93-376F12B767F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22</a:t>
            </a:r>
          </a:p>
        </p:txBody>
      </p:sp>
      <p:graphicFrame>
        <p:nvGraphicFramePr>
          <p:cNvPr id="11" name=""/>
          <p:cNvGraphicFramePr/>
          <p:nvPr/>
        </p:nvGraphicFramePr>
        <p:xfrm>
          <a:off xmlns:a="http://schemas.openxmlformats.org/drawingml/2006/main" x="609600" y="1790700"/>
          <a:ext xmlns:a="http://schemas.openxmlformats.org/drawingml/2006/main" cx="10972800" cy="3886200"/>
        </p:xfrm>
        <a:graphic xmlns:a="http://schemas.openxmlformats.org/drawingml/2006/main">
          <a:graphicData uri="http://schemas.openxmlformats.org/drawingml/2006/table">
            <a:tbl>
              <a:tblPr/>
              <a:tblGrid>
                <a:gridCol w="3381375"/>
                <a:gridCol w="7591425"/>
              </a:tblGrid>
              <a:tr h="552450">
                <a:tc>
                  <a:txBody>
                    <a:bodyPr/>
                    <a:lstStyle/>
                    <a:p>
                      <a:r>
                        <a:rPr sz="1800" b="1">
                          <a:solidFill>
                            <a:srgbClr val="FFFFFF"/>
                          </a:solidFill>
                          <a:latin typeface="Arial"/>
                          <a:ea typeface="Arial"/>
                          <a:cs typeface="Arial"/>
                        </a:rPr>
                        <a:t>Question</a:t>
                      </a:r>
                    </a:p>
                  </a:txBody>
                  <a:tcPr marL="133350" marR="133350" marT="95250" marB="76200" anchor="ctr">
                    <a:solidFill>
                      <a:srgbClr val="183343"/>
                    </a:solidFill>
                  </a:tcPr>
                </a:tc>
                <a:tc>
                  <a:txBody>
                    <a:bodyPr/>
                    <a:lstStyle/>
                    <a:p>
                      <a:r>
                        <a:rPr sz="1800" b="1">
                          <a:solidFill>
                            <a:srgbClr val="FFFFFF"/>
                          </a:solidFill>
                          <a:latin typeface="Arial"/>
                          <a:ea typeface="Arial"/>
                          <a:cs typeface="Arial"/>
                        </a:rPr>
                        <a:t>Evidence or instruction</a:t>
                      </a:r>
                    </a:p>
                  </a:txBody>
                  <a:tcPr marL="133350" marR="133350" marT="95250" marB="76200" anchor="ctr">
                    <a:solidFill>
                      <a:srgbClr val="183343"/>
                    </a:solidFill>
                  </a:tcPr>
                </a:tc>
              </a:tr>
              <a:tr h="833438">
                <a:tc>
                  <a:txBody>
                    <a:bodyPr/>
                    <a:lstStyle/>
                    <a:p>
                      <a:r>
                        <a:rPr sz="1800" b="0">
                          <a:solidFill>
                            <a:srgbClr val="183343"/>
                          </a:solidFill>
                          <a:latin typeface="Arial"/>
                          <a:ea typeface="Arial"/>
                          <a:cs typeface="Arial"/>
                        </a:rPr>
                        <a:t>Symptomatic infection</a:t>
                      </a:r>
                    </a:p>
                  </a:txBody>
                  <a:tcPr marL="133350" marR="133350" marT="95250" marB="76200" anchor="ctr">
                    <a:solidFill>
                      <a:srgbClr val="EEF4F5"/>
                    </a:solidFill>
                  </a:tcPr>
                </a:tc>
                <a:tc>
                  <a:txBody>
                    <a:bodyPr/>
                    <a:lstStyle/>
                    <a:p>
                      <a:r>
                        <a:rPr sz="1800" b="0">
                          <a:solidFill>
                            <a:srgbClr val="183343"/>
                          </a:solidFill>
                          <a:latin typeface="Arial"/>
                          <a:ea typeface="Arial"/>
                          <a:cs typeface="Arial"/>
                        </a:rPr>
                        <a:t>Treat and reassess before implantation</a:t>
                      </a:r>
                    </a:p>
                  </a:txBody>
                  <a:tcPr marL="133350" marR="133350" marT="95250" marB="76200" anchor="ctr">
                    <a:solidFill>
                      <a:srgbClr val="EEF4F5"/>
                    </a:solidFill>
                  </a:tcPr>
                </a:tc>
              </a:tr>
              <a:tr h="833438">
                <a:tc>
                  <a:txBody>
                    <a:bodyPr/>
                    <a:lstStyle/>
                    <a:p>
                      <a:r>
                        <a:rPr sz="1800" b="0">
                          <a:solidFill>
                            <a:srgbClr val="183343"/>
                          </a:solidFill>
                          <a:latin typeface="Arial"/>
                          <a:ea typeface="Arial"/>
                          <a:cs typeface="Arial"/>
                        </a:rPr>
                        <a:t>Asymptomatic bacteriuria</a:t>
                      </a:r>
                    </a:p>
                  </a:txBody>
                  <a:tcPr marL="133350" marR="133350" marT="95250" marB="76200" anchor="ctr">
                    <a:solidFill>
                      <a:srgbClr val="FFFFFF"/>
                    </a:solidFill>
                  </a:tcPr>
                </a:tc>
                <a:tc>
                  <a:txBody>
                    <a:bodyPr/>
                    <a:lstStyle/>
                    <a:p>
                      <a:r>
                        <a:rPr sz="1800" b="0">
                          <a:solidFill>
                            <a:srgbClr val="183343"/>
                          </a:solidFill>
                          <a:latin typeface="Arial"/>
                          <a:ea typeface="Arial"/>
                          <a:cs typeface="Arial"/>
                        </a:rPr>
                        <a:t>BAUS urine pathway and IDSA’s AUS-specific position differ</a:t>
                      </a:r>
                    </a:p>
                  </a:txBody>
                  <a:tcPr marL="133350" marR="133350" marT="95250" marB="76200" anchor="ctr">
                    <a:solidFill>
                      <a:srgbClr val="FFFFFF"/>
                    </a:solidFill>
                  </a:tcPr>
                </a:tc>
              </a:tr>
              <a:tr h="833438">
                <a:tc>
                  <a:txBody>
                    <a:bodyPr/>
                    <a:lstStyle/>
                    <a:p>
                      <a:r>
                        <a:rPr sz="1800" b="0">
                          <a:solidFill>
                            <a:srgbClr val="183343"/>
                          </a:solidFill>
                          <a:latin typeface="Arial"/>
                          <a:ea typeface="Arial"/>
                          <a:cs typeface="Arial"/>
                        </a:rPr>
                        <a:t>Prophylaxis</a:t>
                      </a:r>
                    </a:p>
                  </a:txBody>
                  <a:tcPr marL="133350" marR="133350" marT="95250" marB="76200" anchor="ctr">
                    <a:solidFill>
                      <a:srgbClr val="EEF4F5"/>
                    </a:solidFill>
                  </a:tcPr>
                </a:tc>
                <a:tc>
                  <a:txBody>
                    <a:bodyPr/>
                    <a:lstStyle/>
                    <a:p>
                      <a:r>
                        <a:rPr sz="1800" b="0">
                          <a:solidFill>
                            <a:srgbClr val="183343"/>
                          </a:solidFill>
                          <a:latin typeface="Arial"/>
                          <a:ea typeface="Arial"/>
                          <a:cs typeface="Arial"/>
                        </a:rPr>
                        <a:t>Complete before incision and plan appropriate redosing</a:t>
                      </a:r>
                    </a:p>
                  </a:txBody>
                  <a:tcPr marL="133350" marR="133350" marT="95250" marB="76200" anchor="ctr">
                    <a:solidFill>
                      <a:srgbClr val="EEF4F5"/>
                    </a:solidFill>
                  </a:tcPr>
                </a:tc>
              </a:tr>
              <a:tr h="833438">
                <a:tc>
                  <a:txBody>
                    <a:bodyPr/>
                    <a:lstStyle/>
                    <a:p>
                      <a:r>
                        <a:rPr sz="1800" b="0">
                          <a:solidFill>
                            <a:srgbClr val="183343"/>
                          </a:solidFill>
                          <a:latin typeface="Arial"/>
                          <a:ea typeface="Arial"/>
                          <a:cs typeface="Arial"/>
                        </a:rPr>
                        <a:t>Postoperative antibiotics</a:t>
                      </a:r>
                    </a:p>
                  </a:txBody>
                  <a:tcPr marL="133350" marR="133350" marT="95250" marB="76200" anchor="ctr">
                    <a:solidFill>
                      <a:srgbClr val="FFFFFF"/>
                    </a:solidFill>
                  </a:tcPr>
                </a:tc>
                <a:tc>
                  <a:txBody>
                    <a:bodyPr/>
                    <a:lstStyle/>
                    <a:p>
                      <a:r>
                        <a:rPr sz="1800" b="0">
                          <a:solidFill>
                            <a:srgbClr val="183343"/>
                          </a:solidFill>
                          <a:latin typeface="Arial"/>
                          <a:ea typeface="Arial"/>
                          <a:cs typeface="Arial"/>
                        </a:rPr>
                        <a:t>Observational AUS data show no convincing benefit. The retrieved ContiClassic IFU describes a longer regimen.</a:t>
                      </a:r>
                    </a:p>
                  </a:txBody>
                  <a:tcPr marL="133350" marR="133350" marT="95250" marB="7620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CDCEECBC-1942-4DA0-A01B-58BEBDFC1B77}"/>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Verify current regional labelling and agree a documented local microbiology and implant-service protocol.</a:t>
            </a:r>
          </a:p>
        </p:txBody>
      </p:sp>
    </p:spTree>
    <p:extLst>
      <p:ext uri="{BB962C8B-B14F-4D97-AF65-F5344CB8AC3E}">
        <p14:creationId xmlns:p14="http://schemas.microsoft.com/office/powerpoint/2010/main" val="203842743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89D00A1-130D-4663-ACE2-69BE80F8E7B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Contamination control during implantation</a:t>
            </a:r>
          </a:p>
        </p:txBody>
      </p:sp>
      <p:sp>
        <p:nvSpPr>
          <p:cNvPr id="2" name="">
            <a:extLst xmlns:a="http://schemas.openxmlformats.org/drawingml/2006/main">
              <a:ext uri="{FF2B5EF4-FFF2-40B4-BE49-F238E27FC236}">
                <a16:creationId xmlns:a16="http://schemas.microsoft.com/office/drawing/2014/main" id="{8B79C11C-5941-4390-BF65-E94A2DF4ED51}"/>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1242F0B-4C4F-44DC-BCA4-355C8B0F82A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TOUCH23 · NICE · AP23 · CCIFU</a:t>
            </a:r>
          </a:p>
        </p:txBody>
      </p:sp>
      <p:sp>
        <p:nvSpPr>
          <p:cNvPr id="4" name="">
            <a:extLst xmlns:a="http://schemas.openxmlformats.org/drawingml/2006/main">
              <a:ext uri="{FF2B5EF4-FFF2-40B4-BE49-F238E27FC236}">
                <a16:creationId xmlns:a16="http://schemas.microsoft.com/office/drawing/2014/main" id="{5BE88D8C-55A9-4725-9165-CEA148E7B07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58CACA09-D85E-45BB-8253-C8C97A729123}"/>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ABB4EB4B-D5A4-4429-8ADB-F6B018B4CAD6}"/>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Protect the implant until the field is ready</a:t>
            </a:r>
          </a:p>
        </p:txBody>
      </p:sp>
      <p:sp>
        <p:nvSpPr>
          <p:cNvPr id="7" name="">
            <a:extLst xmlns:a="http://schemas.openxmlformats.org/drawingml/2006/main">
              <a:ext uri="{FF2B5EF4-FFF2-40B4-BE49-F238E27FC236}">
                <a16:creationId xmlns:a16="http://schemas.microsoft.com/office/drawing/2014/main" id="{6C462CBD-5306-41B0-A815-F212B9005B25}"/>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94FE94A7-2C7D-41FE-AD27-46B7475E4A1F}"/>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Limit skin contact and unnecessary handling</a:t>
            </a:r>
          </a:p>
        </p:txBody>
      </p:sp>
      <p:sp>
        <p:nvSpPr>
          <p:cNvPr id="9" name="">
            <a:extLst xmlns:a="http://schemas.openxmlformats.org/drawingml/2006/main">
              <a:ext uri="{FF2B5EF4-FFF2-40B4-BE49-F238E27FC236}">
                <a16:creationId xmlns:a16="http://schemas.microsoft.com/office/drawing/2014/main" id="{167F3EBE-B2A9-47AC-9580-89D495DCA5DF}"/>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D908B7FF-929C-4DAE-BC62-CAACD3A2A84A}"/>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Use fresh sterile gloves and a clean handling pause</a:t>
            </a:r>
          </a:p>
        </p:txBody>
      </p:sp>
      <p:sp>
        <p:nvSpPr>
          <p:cNvPr id="11" name="">
            <a:extLst xmlns:a="http://schemas.openxmlformats.org/drawingml/2006/main">
              <a:ext uri="{FF2B5EF4-FFF2-40B4-BE49-F238E27FC236}">
                <a16:creationId xmlns:a16="http://schemas.microsoft.com/office/drawing/2014/main" id="{F0D2B342-6EF4-40A5-B655-97309FCF9265}"/>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4</a:t>
            </a:r>
          </a:p>
        </p:txBody>
      </p:sp>
      <p:sp>
        <p:nvSpPr>
          <p:cNvPr id="12" name="">
            <a:extLst xmlns:a="http://schemas.openxmlformats.org/drawingml/2006/main">
              <a:ext uri="{FF2B5EF4-FFF2-40B4-BE49-F238E27FC236}">
                <a16:creationId xmlns:a16="http://schemas.microsoft.com/office/drawing/2014/main" id="{8A20446C-2AC6-45AC-9C38-F05F27B65268}"/>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Separate irrigation, device dipping and internal filling</a:t>
            </a:r>
          </a:p>
        </p:txBody>
      </p:sp>
      <p:sp>
        <p:nvSpPr>
          <p:cNvPr id="13" name="">
            <a:extLst xmlns:a="http://schemas.openxmlformats.org/drawingml/2006/main">
              <a:ext uri="{FF2B5EF4-FFF2-40B4-BE49-F238E27FC236}">
                <a16:creationId xmlns:a16="http://schemas.microsoft.com/office/drawing/2014/main" id="{C7594AB3-2C01-4E30-BA93-7A19C51188C2}"/>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Bundle studies cannot isolate the benefit of each component. Compatibility remains device-specific.</a:t>
            </a:r>
          </a:p>
        </p:txBody>
      </p:sp>
    </p:spTree>
    <p:extLst>
      <p:ext uri="{BB962C8B-B14F-4D97-AF65-F5344CB8AC3E}">
        <p14:creationId xmlns:p14="http://schemas.microsoft.com/office/powerpoint/2010/main" val="45872480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1E34E2-5EC4-4AB1-AA58-BA12D6400458}"/>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The pre-implant theatre checklist</a:t>
            </a:r>
          </a:p>
        </p:txBody>
      </p:sp>
      <p:sp>
        <p:nvSpPr>
          <p:cNvPr id="2" name="">
            <a:extLst xmlns:a="http://schemas.openxmlformats.org/drawingml/2006/main">
              <a:ext uri="{FF2B5EF4-FFF2-40B4-BE49-F238E27FC236}">
                <a16:creationId xmlns:a16="http://schemas.microsoft.com/office/drawing/2014/main" id="{E5DB3286-D124-49FC-8333-5DEA17E2A136}"/>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0DD9D26-2474-477B-AC78-8ACC1320720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NICE · BAUS25 · CCIFU · AUAABX20</a:t>
            </a:r>
          </a:p>
        </p:txBody>
      </p:sp>
      <p:sp>
        <p:nvSpPr>
          <p:cNvPr id="4" name="">
            <a:extLst xmlns:a="http://schemas.openxmlformats.org/drawingml/2006/main">
              <a:ext uri="{FF2B5EF4-FFF2-40B4-BE49-F238E27FC236}">
                <a16:creationId xmlns:a16="http://schemas.microsoft.com/office/drawing/2014/main" id="{E2199091-9814-4FD2-9D3F-B66CE6B6DF2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24</a:t>
            </a:r>
          </a:p>
        </p:txBody>
      </p:sp>
      <p:graphicFrame>
        <p:nvGraphicFramePr>
          <p:cNvPr id="10" name=""/>
          <p:cNvGraphicFramePr/>
          <p:nvPr/>
        </p:nvGraphicFramePr>
        <p:xfrm>
          <a:off xmlns:a="http://schemas.openxmlformats.org/drawingml/2006/main" x="609600" y="1790700"/>
          <a:ext xmlns:a="http://schemas.openxmlformats.org/drawingml/2006/main" cx="10972800" cy="3905250"/>
        </p:xfrm>
        <a:graphic xmlns:a="http://schemas.openxmlformats.org/drawingml/2006/main">
          <a:graphicData uri="http://schemas.openxmlformats.org/drawingml/2006/table">
            <a:tbl>
              <a:tblPr/>
              <a:tblGrid>
                <a:gridCol w="7429500"/>
                <a:gridCol w="3543300"/>
              </a:tblGrid>
              <a:tr h="552450">
                <a:tc>
                  <a:txBody>
                    <a:bodyPr/>
                    <a:lstStyle/>
                    <a:p>
                      <a:r>
                        <a:rPr sz="1950" b="1">
                          <a:solidFill>
                            <a:srgbClr val="FFFFFF"/>
                          </a:solidFill>
                          <a:latin typeface="Arial"/>
                          <a:ea typeface="Arial"/>
                          <a:cs typeface="Arial"/>
                        </a:rPr>
                        <a:t>Check</a:t>
                      </a:r>
                    </a:p>
                  </a:txBody>
                  <a:tcPr marL="133350" marR="133350" marT="95250" marB="76200" anchor="ctr">
                    <a:solidFill>
                      <a:srgbClr val="183343"/>
                    </a:solidFill>
                  </a:tcPr>
                </a:tc>
                <a:tc>
                  <a:txBody>
                    <a:bodyPr/>
                    <a:lstStyle/>
                    <a:p>
                      <a:r>
                        <a:rPr sz="1950" b="1">
                          <a:solidFill>
                            <a:srgbClr val="FFFFFF"/>
                          </a:solidFill>
                          <a:latin typeface="Arial"/>
                          <a:ea typeface="Arial"/>
                          <a:cs typeface="Arial"/>
                        </a:rPr>
                        <a:t>Basis</a:t>
                      </a:r>
                    </a:p>
                  </a:txBody>
                  <a:tcPr marL="133350" marR="133350" marT="95250" marB="76200" anchor="ctr">
                    <a:solidFill>
                      <a:srgbClr val="183343"/>
                    </a:solidFill>
                  </a:tcPr>
                </a:tc>
              </a:tr>
              <a:tr h="670560">
                <a:tc>
                  <a:txBody>
                    <a:bodyPr/>
                    <a:lstStyle/>
                    <a:p>
                      <a:r>
                        <a:rPr sz="1950" b="0">
                          <a:solidFill>
                            <a:srgbClr val="183343"/>
                          </a:solidFill>
                          <a:latin typeface="Arial"/>
                          <a:ea typeface="Arial"/>
                          <a:cs typeface="Arial"/>
                        </a:rPr>
                        <a:t>Indication, infection review, prophylaxis and asepsis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Guidance-supported</a:t>
                      </a:r>
                    </a:p>
                  </a:txBody>
                  <a:tcPr marL="133350" marR="133350" marT="95250" marB="76200" anchor="ctr">
                    <a:solidFill>
                      <a:srgbClr val="EEF4F5"/>
                    </a:solidFill>
                  </a:tcPr>
                </a:tc>
              </a:tr>
              <a:tr h="670560">
                <a:tc>
                  <a:txBody>
                    <a:bodyPr/>
                    <a:lstStyle/>
                    <a:p>
                      <a:r>
                        <a:rPr sz="1950" b="0">
                          <a:solidFill>
                            <a:srgbClr val="183343"/>
                          </a:solidFill>
                          <a:latin typeface="Arial"/>
                          <a:ea typeface="Arial"/>
                          <a:cs typeface="Arial"/>
                        </a:rPr>
                        <a:t>Antiseptic, drying, antibiotic choice and redosing</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Product and local policy</a:t>
                      </a:r>
                    </a:p>
                  </a:txBody>
                  <a:tcPr marL="133350" marR="133350" marT="95250" marB="76200" anchor="ctr">
                    <a:solidFill>
                      <a:srgbClr val="FFFFFF"/>
                    </a:solidFill>
                  </a:tcPr>
                </a:tc>
              </a:tr>
              <a:tr h="670560">
                <a:tc>
                  <a:txBody>
                    <a:bodyPr/>
                    <a:lstStyle/>
                    <a:p>
                      <a:r>
                        <a:rPr sz="1950" b="0">
                          <a:solidFill>
                            <a:srgbClr val="183343"/>
                          </a:solidFill>
                          <a:latin typeface="Arial"/>
                          <a:ea typeface="Arial"/>
                          <a:cs typeface="Arial"/>
                        </a:rPr>
                        <a:t>Model, sizes, pressure, preparation and drainage</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Current device instructions and local plan</a:t>
                      </a:r>
                    </a:p>
                  </a:txBody>
                  <a:tcPr marL="133350" marR="133350" marT="95250" marB="76200" anchor="ctr">
                    <a:solidFill>
                      <a:srgbClr val="EEF4F5"/>
                    </a:solidFill>
                  </a:tcPr>
                </a:tc>
              </a:tr>
              <a:tr h="670560">
                <a:tc>
                  <a:txBody>
                    <a:bodyPr/>
                    <a:lstStyle/>
                    <a:p>
                      <a:r>
                        <a:rPr sz="1950" b="0">
                          <a:solidFill>
                            <a:srgbClr val="183343"/>
                          </a:solidFill>
                          <a:latin typeface="Arial"/>
                          <a:ea typeface="Arial"/>
                          <a:cs typeface="Arial"/>
                        </a:rPr>
                        <a:t>Clean handling pause and contamination response</a:t>
                      </a:r>
                    </a:p>
                  </a:txBody>
                  <a:tcPr marL="133350" marR="133350" marT="95250" marB="76200" anchor="ctr">
                    <a:solidFill>
                      <a:srgbClr val="FFFFFF"/>
                    </a:solidFill>
                  </a:tcPr>
                </a:tc>
                <a:tc>
                  <a:txBody>
                    <a:bodyPr/>
                    <a:lstStyle/>
                    <a:p>
                      <a:r>
                        <a:rPr sz="1950" b="0">
                          <a:solidFill>
                            <a:srgbClr val="183343"/>
                          </a:solidFill>
                          <a:latin typeface="Arial"/>
                          <a:ea typeface="Arial"/>
                          <a:cs typeface="Arial"/>
                        </a:rPr>
                        <a:t>Expert implementation</a:t>
                      </a:r>
                    </a:p>
                  </a:txBody>
                  <a:tcPr marL="133350" marR="133350" marT="95250" marB="76200" anchor="ctr">
                    <a:solidFill>
                      <a:srgbClr val="FFFFFF"/>
                    </a:solidFill>
                  </a:tcPr>
                </a:tc>
              </a:tr>
              <a:tr h="670560">
                <a:tc>
                  <a:txBody>
                    <a:bodyPr/>
                    <a:lstStyle/>
                    <a:p>
                      <a:r>
                        <a:rPr sz="1950" b="0">
                          <a:solidFill>
                            <a:srgbClr val="183343"/>
                          </a:solidFill>
                          <a:latin typeface="Arial"/>
                          <a:ea typeface="Arial"/>
                          <a:cs typeface="Arial"/>
                        </a:rPr>
                        <a:t>Fixed 15 minutes, best irrigant, prolonged prophylaxis</a:t>
                      </a:r>
                    </a:p>
                  </a:txBody>
                  <a:tcPr marL="133350" marR="133350" marT="95250" marB="76200" anchor="ctr">
                    <a:solidFill>
                      <a:srgbClr val="EEF4F5"/>
                    </a:solidFill>
                  </a:tcPr>
                </a:tc>
                <a:tc>
                  <a:txBody>
                    <a:bodyPr/>
                    <a:lstStyle/>
                    <a:p>
                      <a:r>
                        <a:rPr sz="1950" b="0">
                          <a:solidFill>
                            <a:srgbClr val="183343"/>
                          </a:solidFill>
                          <a:latin typeface="Arial"/>
                          <a:ea typeface="Arial"/>
                          <a:cs typeface="Arial"/>
                        </a:rPr>
                        <a:t>Unresolved evidence</a:t>
                      </a: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84384912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C0A6E7-6EA2-49EC-B473-CAF986D566C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Positioning and exposure</a:t>
            </a:r>
          </a:p>
        </p:txBody>
      </p:sp>
      <p:sp>
        <p:nvSpPr>
          <p:cNvPr id="2" name="">
            <a:extLst xmlns:a="http://schemas.openxmlformats.org/drawingml/2006/main">
              <a:ext uri="{FF2B5EF4-FFF2-40B4-BE49-F238E27FC236}">
                <a16:creationId xmlns:a16="http://schemas.microsoft.com/office/drawing/2014/main" id="{6A5D6E4E-BA85-4C36-9903-22A29B4F18A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5FEF8D4-760D-4CBF-A947-30B48E964845}"/>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AUA24 · ICS16 · AP23</a:t>
            </a:r>
          </a:p>
        </p:txBody>
      </p:sp>
      <p:sp>
        <p:nvSpPr>
          <p:cNvPr id="4" name="">
            <a:extLst xmlns:a="http://schemas.openxmlformats.org/drawingml/2006/main">
              <a:ext uri="{FF2B5EF4-FFF2-40B4-BE49-F238E27FC236}">
                <a16:creationId xmlns:a16="http://schemas.microsoft.com/office/drawing/2014/main" id="{CDFA5659-2EEC-4AC6-BF92-ED1EA41AC73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25</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74ce4cb4465400e"/>
          <a:stretch xmlns:a="http://schemas.openxmlformats.org/drawingml/2006/main"/>
        </p:blipFill>
        <p:spPr>
          <a:xfrm xmlns:a="http://schemas.openxmlformats.org/drawingml/2006/main">
            <a:off x="609600" y="2179261"/>
            <a:ext cx="6477000" cy="267092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E9DA6BE-B411-431F-86F8-59E6C957D175}"/>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147F83"/>
                </a:solidFill>
                <a:latin typeface="Arial"/>
                <a:ea typeface="Arial"/>
                <a:cs typeface="Arial"/>
              </a:defRPr>
            </a:pPr>
            <a:r>
              <a:rPr sz="2175" b="1">
                <a:solidFill>
                  <a:srgbClr val="147F83"/>
                </a:solidFill>
                <a:latin typeface="Arial"/>
                <a:ea typeface="Arial"/>
                <a:cs typeface="Arial"/>
              </a:rPr>
              <a:t>The access plan</a:t>
            </a:r>
          </a:p>
        </p:txBody>
      </p:sp>
      <p:sp>
        <p:nvSpPr>
          <p:cNvPr id="7" name="">
            <a:extLst xmlns:a="http://schemas.openxmlformats.org/drawingml/2006/main">
              <a:ext uri="{FF2B5EF4-FFF2-40B4-BE49-F238E27FC236}">
                <a16:creationId xmlns:a16="http://schemas.microsoft.com/office/drawing/2014/main" id="{24E2E74B-B4F0-457D-8368-49F3BE7BD898}"/>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Respect hip mobility and protect pressure points</a:t>
            </a:r>
          </a:p>
        </p:txBody>
      </p:sp>
      <p:sp>
        <p:nvSpPr>
          <p:cNvPr id="8" name="">
            <a:extLst xmlns:a="http://schemas.openxmlformats.org/drawingml/2006/main">
              <a:ext uri="{FF2B5EF4-FFF2-40B4-BE49-F238E27FC236}">
                <a16:creationId xmlns:a16="http://schemas.microsoft.com/office/drawing/2014/main" id="{CA7297CA-8E5D-48B8-9AC5-0160927DC058}"/>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Plan perineal, abdominal and pump access together</a:t>
            </a:r>
          </a:p>
        </p:txBody>
      </p:sp>
      <p:sp>
        <p:nvSpPr>
          <p:cNvPr id="9" name="">
            <a:extLst xmlns:a="http://schemas.openxmlformats.org/drawingml/2006/main">
              <a:ext uri="{FF2B5EF4-FFF2-40B4-BE49-F238E27FC236}">
                <a16:creationId xmlns:a16="http://schemas.microsoft.com/office/drawing/2014/main" id="{60ADA785-976D-46EE-82B3-A09C5CD32203}"/>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Review scars, mesh, previous devices and repairs</a:t>
            </a:r>
          </a:p>
        </p:txBody>
      </p:sp>
      <p:sp>
        <p:nvSpPr>
          <p:cNvPr id="10" name="">
            <a:extLst xmlns:a="http://schemas.openxmlformats.org/drawingml/2006/main">
              <a:ext uri="{FF2B5EF4-FFF2-40B4-BE49-F238E27FC236}">
                <a16:creationId xmlns:a16="http://schemas.microsoft.com/office/drawing/2014/main" id="{B6878182-F314-478D-BBC1-462776A83001}"/>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Improve limited exposure before further dissection</a:t>
            </a:r>
          </a:p>
        </p:txBody>
      </p:sp>
      <p:sp>
        <p:nvSpPr>
          <p:cNvPr id="11" name="">
            <a:extLst xmlns:a="http://schemas.openxmlformats.org/drawingml/2006/main">
              <a:ext uri="{FF2B5EF4-FFF2-40B4-BE49-F238E27FC236}">
                <a16:creationId xmlns:a16="http://schemas.microsoft.com/office/drawing/2014/main" id="{FD0AC18E-AD4A-44E2-9A09-6024BF3FD1E4}"/>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773"/>
                </a:solidFill>
                <a:latin typeface="Arial"/>
                <a:ea typeface="Arial"/>
                <a:cs typeface="Arial"/>
              </a:defRPr>
            </a:pPr>
            <a:r>
              <a:rPr sz="1350" b="0">
                <a:solidFill>
                  <a:srgbClr val="526773"/>
                </a:solidFill>
                <a:latin typeface="Arial"/>
                <a:ea typeface="Arial"/>
                <a:cs typeface="Arial"/>
              </a:rPr>
              <a:t>UroOps 3D teaching schematic. Clinical review pending.</a:t>
            </a:r>
          </a:p>
        </p:txBody>
      </p:sp>
    </p:spTree>
    <p:extLst>
      <p:ext uri="{BB962C8B-B14F-4D97-AF65-F5344CB8AC3E}">
        <p14:creationId xmlns:p14="http://schemas.microsoft.com/office/powerpoint/2010/main" val="83106897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9B821FC-2185-45F1-9D4B-21F6D3BF95D2}"/>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Bulbar dissection and tissue preservation</a:t>
            </a:r>
          </a:p>
        </p:txBody>
      </p:sp>
      <p:sp>
        <p:nvSpPr>
          <p:cNvPr id="2" name="">
            <a:extLst xmlns:a="http://schemas.openxmlformats.org/drawingml/2006/main">
              <a:ext uri="{FF2B5EF4-FFF2-40B4-BE49-F238E27FC236}">
                <a16:creationId xmlns:a16="http://schemas.microsoft.com/office/drawing/2014/main" id="{37A359A6-FB59-46F1-897B-FC96B4F1BBF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904D424-D50F-4324-8A42-517C49A4252C}"/>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ICS16 · AP23 · CCIFU · URETH26</a:t>
            </a:r>
          </a:p>
        </p:txBody>
      </p:sp>
      <p:sp>
        <p:nvSpPr>
          <p:cNvPr id="4" name="">
            <a:extLst xmlns:a="http://schemas.openxmlformats.org/drawingml/2006/main">
              <a:ext uri="{FF2B5EF4-FFF2-40B4-BE49-F238E27FC236}">
                <a16:creationId xmlns:a16="http://schemas.microsoft.com/office/drawing/2014/main" id="{7C5E05CF-87F5-4F8A-9516-E2D1E9E46A43}"/>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26</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1b4e06727ef849de"/>
          <a:stretch xmlns:a="http://schemas.openxmlformats.org/drawingml/2006/main"/>
        </p:blipFill>
        <p:spPr>
          <a:xfrm xmlns:a="http://schemas.openxmlformats.org/drawingml/2006/main">
            <a:off x="609600" y="2179261"/>
            <a:ext cx="6477000" cy="267092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CA9846F-E66F-43EC-BBE6-978C8BE3C6E5}"/>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147F83"/>
                </a:solidFill>
                <a:latin typeface="Arial"/>
                <a:ea typeface="Arial"/>
                <a:cs typeface="Arial"/>
              </a:defRPr>
            </a:pPr>
            <a:r>
              <a:rPr sz="2175" b="1">
                <a:solidFill>
                  <a:srgbClr val="147F83"/>
                </a:solidFill>
                <a:latin typeface="Arial"/>
                <a:ea typeface="Arial"/>
                <a:cs typeface="Arial"/>
              </a:rPr>
              <a:t>The cuff-bearing segment</a:t>
            </a:r>
          </a:p>
        </p:txBody>
      </p:sp>
      <p:sp>
        <p:nvSpPr>
          <p:cNvPr id="7" name="">
            <a:extLst xmlns:a="http://schemas.openxmlformats.org/drawingml/2006/main">
              <a:ext uri="{FF2B5EF4-FFF2-40B4-BE49-F238E27FC236}">
                <a16:creationId xmlns:a16="http://schemas.microsoft.com/office/drawing/2014/main" id="{82B7F801-E39D-4DEE-9E5F-A9AA9C2B5BB6}"/>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Viable tissue with adequate spongiosal support</a:t>
            </a:r>
          </a:p>
        </p:txBody>
      </p:sp>
      <p:sp>
        <p:nvSpPr>
          <p:cNvPr id="8" name="">
            <a:extLst xmlns:a="http://schemas.openxmlformats.org/drawingml/2006/main">
              <a:ext uri="{FF2B5EF4-FFF2-40B4-BE49-F238E27FC236}">
                <a16:creationId xmlns:a16="http://schemas.microsoft.com/office/drawing/2014/main" id="{EDAC47D4-99CE-421D-96BD-715B397D18CA}"/>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Dorsal dissection under direct control</a:t>
            </a:r>
          </a:p>
        </p:txBody>
      </p:sp>
      <p:sp>
        <p:nvSpPr>
          <p:cNvPr id="9" name="">
            <a:extLst xmlns:a="http://schemas.openxmlformats.org/drawingml/2006/main">
              <a:ext uri="{FF2B5EF4-FFF2-40B4-BE49-F238E27FC236}">
                <a16:creationId xmlns:a16="http://schemas.microsoft.com/office/drawing/2014/main" id="{4A75411E-34CB-4FC7-8255-938360F01363}"/>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Mobilisation limited to the required length</a:t>
            </a:r>
          </a:p>
        </p:txBody>
      </p:sp>
      <p:sp>
        <p:nvSpPr>
          <p:cNvPr id="10" name="">
            <a:extLst xmlns:a="http://schemas.openxmlformats.org/drawingml/2006/main">
              <a:ext uri="{FF2B5EF4-FFF2-40B4-BE49-F238E27FC236}">
                <a16:creationId xmlns:a16="http://schemas.microsoft.com/office/drawing/2014/main" id="{71A25DCE-164C-4CBF-BAA4-9E5569A1141F}"/>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Uncertain plane or integrity prompts reassessment</a:t>
            </a:r>
          </a:p>
        </p:txBody>
      </p:sp>
      <p:sp>
        <p:nvSpPr>
          <p:cNvPr id="11" name="">
            <a:extLst xmlns:a="http://schemas.openxmlformats.org/drawingml/2006/main">
              <a:ext uri="{FF2B5EF4-FFF2-40B4-BE49-F238E27FC236}">
                <a16:creationId xmlns:a16="http://schemas.microsoft.com/office/drawing/2014/main" id="{155DCD9F-D9FF-4EAC-BD95-CF683B448E93}"/>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773"/>
                </a:solidFill>
                <a:latin typeface="Arial"/>
                <a:ea typeface="Arial"/>
                <a:cs typeface="Arial"/>
              </a:defRPr>
            </a:pPr>
            <a:r>
              <a:rPr sz="1350" b="0">
                <a:solidFill>
                  <a:srgbClr val="526773"/>
                </a:solidFill>
                <a:latin typeface="Arial"/>
                <a:ea typeface="Arial"/>
                <a:cs typeface="Arial"/>
              </a:rPr>
              <a:t>UroOps 3D teaching schematic. Clinical review pending.</a:t>
            </a:r>
          </a:p>
        </p:txBody>
      </p:sp>
    </p:spTree>
    <p:extLst>
      <p:ext uri="{BB962C8B-B14F-4D97-AF65-F5344CB8AC3E}">
        <p14:creationId xmlns:p14="http://schemas.microsoft.com/office/powerpoint/2010/main" val="68540270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96C5FD1-7782-4AD8-BD65-1B0F3DE1674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Cuff measurement and fit</a:t>
            </a:r>
          </a:p>
        </p:txBody>
      </p:sp>
      <p:sp>
        <p:nvSpPr>
          <p:cNvPr id="2" name="">
            <a:extLst xmlns:a="http://schemas.openxmlformats.org/drawingml/2006/main">
              <a:ext uri="{FF2B5EF4-FFF2-40B4-BE49-F238E27FC236}">
                <a16:creationId xmlns:a16="http://schemas.microsoft.com/office/drawing/2014/main" id="{3658AD24-3B74-41E8-9B85-DB7773B5F3B5}"/>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4776CE9-4AC0-46D1-8947-9F1E765575F3}"/>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ICS16 · CCIFU · CCSAFETY · AP23</a:t>
            </a:r>
          </a:p>
        </p:txBody>
      </p:sp>
      <p:sp>
        <p:nvSpPr>
          <p:cNvPr id="4" name="">
            <a:extLst xmlns:a="http://schemas.openxmlformats.org/drawingml/2006/main">
              <a:ext uri="{FF2B5EF4-FFF2-40B4-BE49-F238E27FC236}">
                <a16:creationId xmlns:a16="http://schemas.microsoft.com/office/drawing/2014/main" id="{1B339796-3BAD-47C6-B20D-3603F7A0D4DE}"/>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27</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5a53a42481f4c76"/>
          <a:stretch xmlns:a="http://schemas.openxmlformats.org/drawingml/2006/main"/>
        </p:blipFill>
        <p:spPr>
          <a:xfrm xmlns:a="http://schemas.openxmlformats.org/drawingml/2006/main">
            <a:off x="817033" y="1809750"/>
            <a:ext cx="6062133" cy="34099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B09D449-7000-4787-9BE8-CD155764CD1B}"/>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147F83"/>
                </a:solidFill>
                <a:latin typeface="Arial"/>
                <a:ea typeface="Arial"/>
                <a:cs typeface="Arial"/>
              </a:defRPr>
            </a:pPr>
            <a:r>
              <a:rPr sz="2175" b="1">
                <a:solidFill>
                  <a:srgbClr val="147F83"/>
                </a:solidFill>
                <a:latin typeface="Arial"/>
                <a:ea typeface="Arial"/>
                <a:cs typeface="Arial"/>
              </a:rPr>
              <a:t>Sizing errors</a:t>
            </a:r>
          </a:p>
        </p:txBody>
      </p:sp>
      <p:sp>
        <p:nvSpPr>
          <p:cNvPr id="7" name="">
            <a:extLst xmlns:a="http://schemas.openxmlformats.org/drawingml/2006/main">
              <a:ext uri="{FF2B5EF4-FFF2-40B4-BE49-F238E27FC236}">
                <a16:creationId xmlns:a16="http://schemas.microsoft.com/office/drawing/2014/main" id="{9C36D595-DDB7-4DFA-BA28-F19E23CB990F}"/>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Release traction and artificial compression</a:t>
            </a:r>
          </a:p>
        </p:txBody>
      </p:sp>
      <p:sp>
        <p:nvSpPr>
          <p:cNvPr id="8" name="">
            <a:extLst xmlns:a="http://schemas.openxmlformats.org/drawingml/2006/main">
              <a:ext uri="{FF2B5EF4-FFF2-40B4-BE49-F238E27FC236}">
                <a16:creationId xmlns:a16="http://schemas.microsoft.com/office/drawing/2014/main" id="{EC056136-9F38-4966-B987-F715BC173E14}"/>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Confirm which tissue the cuff will enclose</a:t>
            </a:r>
          </a:p>
        </p:txBody>
      </p:sp>
      <p:sp>
        <p:nvSpPr>
          <p:cNvPr id="9" name="">
            <a:extLst xmlns:a="http://schemas.openxmlformats.org/drawingml/2006/main">
              <a:ext uri="{FF2B5EF4-FFF2-40B4-BE49-F238E27FC236}">
                <a16:creationId xmlns:a16="http://schemas.microsoft.com/office/drawing/2014/main" id="{CFCA2234-8A14-46F1-8955-14D68756EA40}"/>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Use the exact system’s supplied sizing method</a:t>
            </a:r>
          </a:p>
        </p:txBody>
      </p:sp>
      <p:sp>
        <p:nvSpPr>
          <p:cNvPr id="10" name="">
            <a:extLst xmlns:a="http://schemas.openxmlformats.org/drawingml/2006/main">
              <a:ext uri="{FF2B5EF4-FFF2-40B4-BE49-F238E27FC236}">
                <a16:creationId xmlns:a16="http://schemas.microsoft.com/office/drawing/2014/main" id="{3DDF1B8B-990B-49AF-9B6E-649E6B10CAAC}"/>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Recheck poor fit rather than increasing pressure</a:t>
            </a:r>
          </a:p>
        </p:txBody>
      </p:sp>
      <p:sp>
        <p:nvSpPr>
          <p:cNvPr id="11" name="">
            <a:extLst xmlns:a="http://schemas.openxmlformats.org/drawingml/2006/main">
              <a:ext uri="{FF2B5EF4-FFF2-40B4-BE49-F238E27FC236}">
                <a16:creationId xmlns:a16="http://schemas.microsoft.com/office/drawing/2014/main" id="{5BDA235C-6166-4942-80DA-CCC4D0B99F86}"/>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773"/>
                </a:solidFill>
                <a:latin typeface="Arial"/>
                <a:ea typeface="Arial"/>
                <a:cs typeface="Arial"/>
              </a:defRPr>
            </a:pPr>
            <a:r>
              <a:rPr sz="1350" b="0">
                <a:solidFill>
                  <a:srgbClr val="526773"/>
                </a:solidFill>
                <a:latin typeface="Arial"/>
                <a:ea typeface="Arial"/>
                <a:cs typeface="Arial"/>
              </a:rPr>
              <a:t>UroOps 3D teaching schematic. Clinical review pending.</a:t>
            </a:r>
          </a:p>
        </p:txBody>
      </p:sp>
    </p:spTree>
    <p:extLst>
      <p:ext uri="{BB962C8B-B14F-4D97-AF65-F5344CB8AC3E}">
        <p14:creationId xmlns:p14="http://schemas.microsoft.com/office/powerpoint/2010/main" val="87820988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A1FCB62-FBF3-48AA-99E3-3DC63FF63266}"/>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Urethral injury or contamination</a:t>
            </a:r>
          </a:p>
        </p:txBody>
      </p:sp>
      <p:sp>
        <p:nvSpPr>
          <p:cNvPr id="2" name="">
            <a:extLst xmlns:a="http://schemas.openxmlformats.org/drawingml/2006/main">
              <a:ext uri="{FF2B5EF4-FFF2-40B4-BE49-F238E27FC236}">
                <a16:creationId xmlns:a16="http://schemas.microsoft.com/office/drawing/2014/main" id="{927986B6-8E60-433B-AF17-99BABD5E9F4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0CF39BC-DB98-4C9F-8A67-7B730A42D7D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AP23 · ICS16 · CCIFU</a:t>
            </a:r>
          </a:p>
        </p:txBody>
      </p:sp>
      <p:sp>
        <p:nvSpPr>
          <p:cNvPr id="4" name="">
            <a:extLst xmlns:a="http://schemas.openxmlformats.org/drawingml/2006/main">
              <a:ext uri="{FF2B5EF4-FFF2-40B4-BE49-F238E27FC236}">
                <a16:creationId xmlns:a16="http://schemas.microsoft.com/office/drawing/2014/main" id="{64978A31-4BAF-4A43-A984-18C5B74ACDE4}"/>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A3360622-50F5-436D-B12C-23A092B31C8D}"/>
              </a:ext>
            </a:extLst>
          </p:cNvPr>
          <p:cNvSpPr>
            <a:spLocks xmlns:a="http://schemas.openxmlformats.org/drawingml/2006/main" noGrp="1"/>
          </p:cNvSpPr>
          <p:nvPr/>
        </p:nvSpPr>
        <p:spPr>
          <a:xfrm xmlns:a="http://schemas.openxmlformats.org/drawingml/2006/main">
            <a:off x="609600" y="17716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150" b="1">
                <a:solidFill>
                  <a:srgbClr val="A64135"/>
                </a:solidFill>
                <a:latin typeface="Arial"/>
                <a:ea typeface="Arial"/>
                <a:cs typeface="Arial"/>
              </a:defRPr>
            </a:pPr>
            <a:r>
              <a:rPr sz="3150" b="1">
                <a:solidFill>
                  <a:srgbClr val="A64135"/>
                </a:solidFill>
                <a:latin typeface="Arial"/>
                <a:ea typeface="Arial"/>
                <a:cs typeface="Arial"/>
              </a:rPr>
              <a:t>The endpoint can change</a:t>
            </a:r>
          </a:p>
          <a:p xmlns:a="http://schemas.openxmlformats.org/drawingml/2006/main">
            <a:pPr>
              <a:defRPr sz="3150" b="1">
                <a:solidFill>
                  <a:srgbClr val="A64135"/>
                </a:solidFill>
                <a:latin typeface="Arial"/>
                <a:ea typeface="Arial"/>
                <a:cs typeface="Arial"/>
              </a:defRPr>
            </a:pPr>
            <a:r>
              <a:rPr sz="3150" b="1">
                <a:solidFill>
                  <a:srgbClr val="A64135"/>
                </a:solidFill>
                <a:latin typeface="Arial"/>
                <a:ea typeface="Arial"/>
                <a:cs typeface="Arial"/>
              </a:rPr>
              <a:t>to repair and safe drainage</a:t>
            </a:r>
          </a:p>
        </p:txBody>
      </p:sp>
      <p:sp>
        <p:nvSpPr>
          <p:cNvPr id="6" name="">
            <a:extLst xmlns:a="http://schemas.openxmlformats.org/drawingml/2006/main">
              <a:ext uri="{FF2B5EF4-FFF2-40B4-BE49-F238E27FC236}">
                <a16:creationId xmlns:a16="http://schemas.microsoft.com/office/drawing/2014/main" id="{9B970D0B-6602-4A28-B286-D1F3769C72BB}"/>
              </a:ext>
            </a:extLst>
          </p:cNvPr>
          <p:cNvSpPr>
            <a:spLocks xmlns:a="http://schemas.openxmlformats.org/drawingml/2006/main" noGrp="1"/>
          </p:cNvSpPr>
          <p:nvPr/>
        </p:nvSpPr>
        <p:spPr>
          <a:xfrm xmlns:a="http://schemas.openxmlformats.org/drawingml/2006/main">
            <a:off x="609600" y="33909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Confirm uncertain integrity with controlled testing or endoscopy</a:t>
            </a:r>
          </a:p>
        </p:txBody>
      </p:sp>
      <p:sp>
        <p:nvSpPr>
          <p:cNvPr id="7" name="">
            <a:extLst xmlns:a="http://schemas.openxmlformats.org/drawingml/2006/main">
              <a:ext uri="{FF2B5EF4-FFF2-40B4-BE49-F238E27FC236}">
                <a16:creationId xmlns:a16="http://schemas.microsoft.com/office/drawing/2014/main" id="{1D2F1D48-9A0A-473C-9D5A-2DEF7DED555C}"/>
              </a:ext>
            </a:extLst>
          </p:cNvPr>
          <p:cNvSpPr>
            <a:spLocks xmlns:a="http://schemas.openxmlformats.org/drawingml/2006/main" noGrp="1"/>
          </p:cNvSpPr>
          <p:nvPr/>
        </p:nvSpPr>
        <p:spPr>
          <a:xfrm xmlns:a="http://schemas.openxmlformats.org/drawingml/2006/main">
            <a:off x="609600" y="41243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Recognised urethral injury prompts stopping implantation</a:t>
            </a:r>
          </a:p>
        </p:txBody>
      </p:sp>
      <p:sp>
        <p:nvSpPr>
          <p:cNvPr id="8" name="">
            <a:extLst xmlns:a="http://schemas.openxmlformats.org/drawingml/2006/main">
              <a:ext uri="{FF2B5EF4-FFF2-40B4-BE49-F238E27FC236}">
                <a16:creationId xmlns:a16="http://schemas.microsoft.com/office/drawing/2014/main" id="{6CB5686D-9BCF-4162-9B88-AE9B57FE0950}"/>
              </a:ext>
            </a:extLst>
          </p:cNvPr>
          <p:cNvSpPr>
            <a:spLocks xmlns:a="http://schemas.openxmlformats.org/drawingml/2006/main" noGrp="1"/>
          </p:cNvSpPr>
          <p:nvPr/>
        </p:nvSpPr>
        <p:spPr>
          <a:xfrm xmlns:a="http://schemas.openxmlformats.org/drawingml/2006/main">
            <a:off x="609600" y="4857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183343"/>
                </a:solidFill>
                <a:latin typeface="Arial"/>
                <a:ea typeface="Arial"/>
                <a:cs typeface="Arial"/>
              </a:defRPr>
            </a:pPr>
            <a:r>
              <a:rPr sz="2175" b="0">
                <a:solidFill>
                  <a:srgbClr val="183343"/>
                </a:solidFill>
                <a:latin typeface="Arial"/>
                <a:ea typeface="Arial"/>
                <a:cs typeface="Arial"/>
              </a:rPr>
              <a:t>Replace contaminated disposables and restore the clean setup</a:t>
            </a:r>
          </a:p>
        </p:txBody>
      </p:sp>
      <p:sp>
        <p:nvSpPr>
          <p:cNvPr id="9" name="">
            <a:extLst xmlns:a="http://schemas.openxmlformats.org/drawingml/2006/main">
              <a:ext uri="{FF2B5EF4-FFF2-40B4-BE49-F238E27FC236}">
                <a16:creationId xmlns:a16="http://schemas.microsoft.com/office/drawing/2014/main" id="{B62979F0-F503-42FD-ACFF-BE907BD86FD8}"/>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An improvised antiseptic soak cannot rescue a contaminated single-use implant.</a:t>
            </a:r>
          </a:p>
        </p:txBody>
      </p:sp>
    </p:spTree>
    <p:extLst>
      <p:ext uri="{BB962C8B-B14F-4D97-AF65-F5344CB8AC3E}">
        <p14:creationId xmlns:p14="http://schemas.microsoft.com/office/powerpoint/2010/main" val="1439558033"/>
      </p:ext>
    </p:extLst>
  </p:cSld>
</p:sld>
</file>

<file path=ppt/slides/slide30.xml><?xml version="1.0" encoding="utf-8"?>
<p:sld xmlns:p="http://schemas.openxmlformats.org/presentationml/2006/main">
  <p:cSld>
    <p:bg>
      <p:bgPr>
        <a:solidFill xmlns:a="http://schemas.openxmlformats.org/drawingml/2006/main">
          <a:srgbClr val="15272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0CE2B84-7B81-4853-A3ED-3CEDA76B439C}"/>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Balloon pocket and pressure selection</a:t>
            </a:r>
          </a:p>
        </p:txBody>
      </p:sp>
      <p:sp>
        <p:nvSpPr>
          <p:cNvPr id="2" name="">
            <a:extLst xmlns:a="http://schemas.openxmlformats.org/drawingml/2006/main">
              <a:ext uri="{FF2B5EF4-FFF2-40B4-BE49-F238E27FC236}">
                <a16:creationId xmlns:a16="http://schemas.microsoft.com/office/drawing/2014/main" id="{EECDEBD5-2FA9-4D80-BBDE-A00FFA8E8F4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6E9A296-B70A-4594-B9B9-F310060EE411}"/>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B5C6CB"/>
                </a:solidFill>
                <a:latin typeface="Arial"/>
                <a:ea typeface="Arial"/>
                <a:cs typeface="Arial"/>
              </a:defRPr>
            </a:pPr>
            <a:r>
              <a:rPr sz="1125" b="0">
                <a:solidFill>
                  <a:srgbClr val="B5C6CB"/>
                </a:solidFill>
                <a:latin typeface="Arial"/>
                <a:ea typeface="Arial"/>
                <a:cs typeface="Arial"/>
              </a:rPr>
              <a:t>CCIFU · AP23 · ICS16</a:t>
            </a:r>
          </a:p>
        </p:txBody>
      </p:sp>
      <p:sp>
        <p:nvSpPr>
          <p:cNvPr id="4" name="">
            <a:extLst xmlns:a="http://schemas.openxmlformats.org/drawingml/2006/main">
              <a:ext uri="{FF2B5EF4-FFF2-40B4-BE49-F238E27FC236}">
                <a16:creationId xmlns:a16="http://schemas.microsoft.com/office/drawing/2014/main" id="{4A137C8C-7AFD-4D93-8DBE-BB715D731D1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B5C6CB"/>
                </a:solidFill>
                <a:latin typeface="Arial"/>
                <a:ea typeface="Arial"/>
                <a:cs typeface="Arial"/>
              </a:defRPr>
            </a:pPr>
            <a:r>
              <a:rPr sz="1200" b="0">
                <a:solidFill>
                  <a:srgbClr val="B5C6CB"/>
                </a:solidFill>
                <a:latin typeface="Arial"/>
                <a:ea typeface="Arial"/>
                <a:cs typeface="Arial"/>
              </a:rPr>
              <a:t>29</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2124ef017ec84ba3"/>
          <a:stretch xmlns:a="http://schemas.openxmlformats.org/drawingml/2006/main"/>
        </p:blipFill>
        <p:spPr>
          <a:xfrm xmlns:a="http://schemas.openxmlformats.org/drawingml/2006/main">
            <a:off x="1504950" y="1619250"/>
            <a:ext cx="4019550" cy="40195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17E8AA9-6AF2-43B9-8423-36C244F0E1C7}"/>
              </a:ext>
            </a:extLst>
          </p:cNvPr>
          <p:cNvSpPr>
            <a:spLocks xmlns:a="http://schemas.openxmlformats.org/drawingml/2006/main" noGrp="1"/>
          </p:cNvSpPr>
          <p:nvPr/>
        </p:nvSpPr>
        <p:spPr>
          <a:xfrm xmlns:a="http://schemas.openxmlformats.org/drawingml/2006/main">
            <a:off x="6915150" y="1885950"/>
            <a:ext cx="4667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80CDD0"/>
                </a:solidFill>
                <a:latin typeface="Arial"/>
                <a:ea typeface="Arial"/>
                <a:cs typeface="Arial"/>
              </a:defRPr>
            </a:pPr>
            <a:r>
              <a:rPr sz="2175" b="1">
                <a:solidFill>
                  <a:srgbClr val="80CDD0"/>
                </a:solidFill>
                <a:latin typeface="Arial"/>
                <a:ea typeface="Arial"/>
                <a:cs typeface="Arial"/>
              </a:rPr>
              <a:t>ContiClassic label</a:t>
            </a:r>
          </a:p>
        </p:txBody>
      </p:sp>
      <p:sp>
        <p:nvSpPr>
          <p:cNvPr id="7" name="">
            <a:extLst xmlns:a="http://schemas.openxmlformats.org/drawingml/2006/main">
              <a:ext uri="{FF2B5EF4-FFF2-40B4-BE49-F238E27FC236}">
                <a16:creationId xmlns:a16="http://schemas.microsoft.com/office/drawing/2014/main" id="{93E7AD37-419E-428D-BBE4-7710FB43915B}"/>
              </a:ext>
            </a:extLst>
          </p:cNvPr>
          <p:cNvSpPr>
            <a:spLocks xmlns:a="http://schemas.openxmlformats.org/drawingml/2006/main" noGrp="1"/>
          </p:cNvSpPr>
          <p:nvPr/>
        </p:nvSpPr>
        <p:spPr>
          <a:xfrm xmlns:a="http://schemas.openxmlformats.org/drawingml/2006/main">
            <a:off x="6915150" y="2400300"/>
            <a:ext cx="4667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FFFFFF"/>
                </a:solidFill>
                <a:latin typeface="Arial"/>
                <a:ea typeface="Arial"/>
                <a:cs typeface="Arial"/>
              </a:defRPr>
            </a:pPr>
            <a:r>
              <a:rPr sz="3000" b="1">
                <a:solidFill>
                  <a:srgbClr val="FFFFFF"/>
                </a:solidFill>
                <a:latin typeface="Arial"/>
                <a:ea typeface="Arial"/>
                <a:cs typeface="Arial"/>
              </a:rPr>
              <a:t>60–69 cmH₂O</a:t>
            </a:r>
          </a:p>
        </p:txBody>
      </p:sp>
      <p:sp>
        <p:nvSpPr>
          <p:cNvPr id="8" name="">
            <a:extLst xmlns:a="http://schemas.openxmlformats.org/drawingml/2006/main">
              <a:ext uri="{FF2B5EF4-FFF2-40B4-BE49-F238E27FC236}">
                <a16:creationId xmlns:a16="http://schemas.microsoft.com/office/drawing/2014/main" id="{FF571B2E-B2B9-4743-AC93-20D6A2AD42E3}"/>
              </a:ext>
            </a:extLst>
          </p:cNvPr>
          <p:cNvSpPr>
            <a:spLocks xmlns:a="http://schemas.openxmlformats.org/drawingml/2006/main" noGrp="1"/>
          </p:cNvSpPr>
          <p:nvPr/>
        </p:nvSpPr>
        <p:spPr>
          <a:xfrm xmlns:a="http://schemas.openxmlformats.org/drawingml/2006/main">
            <a:off x="6915150" y="3248025"/>
            <a:ext cx="4667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80CDD0"/>
                </a:solidFill>
                <a:latin typeface="Arial"/>
                <a:ea typeface="Arial"/>
                <a:cs typeface="Arial"/>
              </a:defRPr>
            </a:pPr>
            <a:r>
              <a:rPr sz="2175" b="1">
                <a:solidFill>
                  <a:srgbClr val="80CDD0"/>
                </a:solidFill>
                <a:latin typeface="Arial"/>
                <a:ea typeface="Arial"/>
                <a:cs typeface="Arial"/>
              </a:rPr>
              <a:t>AMS 800 consensus</a:t>
            </a:r>
          </a:p>
        </p:txBody>
      </p:sp>
      <p:sp>
        <p:nvSpPr>
          <p:cNvPr id="9" name="">
            <a:extLst xmlns:a="http://schemas.openxmlformats.org/drawingml/2006/main">
              <a:ext uri="{FF2B5EF4-FFF2-40B4-BE49-F238E27FC236}">
                <a16:creationId xmlns:a16="http://schemas.microsoft.com/office/drawing/2014/main" id="{FFC9A085-2BF6-4764-A569-45AA4B2E9C42}"/>
              </a:ext>
            </a:extLst>
          </p:cNvPr>
          <p:cNvSpPr>
            <a:spLocks xmlns:a="http://schemas.openxmlformats.org/drawingml/2006/main" noGrp="1"/>
          </p:cNvSpPr>
          <p:nvPr/>
        </p:nvSpPr>
        <p:spPr>
          <a:xfrm xmlns:a="http://schemas.openxmlformats.org/drawingml/2006/main">
            <a:off x="6915150" y="3762375"/>
            <a:ext cx="4667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Commonly 61–70 cmH₂O</a:t>
            </a:r>
          </a:p>
        </p:txBody>
      </p:sp>
      <p:sp>
        <p:nvSpPr>
          <p:cNvPr id="10" name="">
            <a:extLst xmlns:a="http://schemas.openxmlformats.org/drawingml/2006/main">
              <a:ext uri="{FF2B5EF4-FFF2-40B4-BE49-F238E27FC236}">
                <a16:creationId xmlns:a16="http://schemas.microsoft.com/office/drawing/2014/main" id="{1798E166-B642-4FDA-9485-10CF7243F2B0}"/>
              </a:ext>
            </a:extLst>
          </p:cNvPr>
          <p:cNvSpPr>
            <a:spLocks xmlns:a="http://schemas.openxmlformats.org/drawingml/2006/main" noGrp="1"/>
          </p:cNvSpPr>
          <p:nvPr/>
        </p:nvSpPr>
        <p:spPr>
          <a:xfrm xmlns:a="http://schemas.openxmlformats.org/drawingml/2006/main">
            <a:off x="6915150" y="4943475"/>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0">
                <a:solidFill>
                  <a:srgbClr val="CFDBDE"/>
                </a:solidFill>
                <a:latin typeface="Arial"/>
                <a:ea typeface="Arial"/>
                <a:cs typeface="Arial"/>
              </a:defRPr>
            </a:pPr>
            <a:r>
              <a:rPr sz="1875" b="0">
                <a:solidFill>
                  <a:srgbClr val="CFDBDE"/>
                </a:solidFill>
                <a:latin typeface="Arial"/>
                <a:ea typeface="Arial"/>
                <a:cs typeface="Arial"/>
              </a:rPr>
              <a:t>These ranges are device-specific</a:t>
            </a:r>
          </a:p>
        </p:txBody>
      </p:sp>
      <p:sp>
        <p:nvSpPr>
          <p:cNvPr id="11" name="">
            <a:extLst xmlns:a="http://schemas.openxmlformats.org/drawingml/2006/main">
              <a:ext uri="{FF2B5EF4-FFF2-40B4-BE49-F238E27FC236}">
                <a16:creationId xmlns:a16="http://schemas.microsoft.com/office/drawing/2014/main" id="{28CA17E1-E2F6-4EF0-AC78-A82CC3DC7E0B}"/>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CFDBDE"/>
                </a:solidFill>
                <a:latin typeface="Arial"/>
                <a:ea typeface="Arial"/>
                <a:cs typeface="Arial"/>
              </a:defRPr>
            </a:pPr>
            <a:r>
              <a:rPr sz="1725" b="0">
                <a:solidFill>
                  <a:srgbClr val="CFDBDE"/>
                </a:solidFill>
                <a:latin typeface="Arial"/>
                <a:ea typeface="Arial"/>
                <a:cs typeface="Arial"/>
              </a:rPr>
              <a:t>A safe pocket and the correct pressure component are separate decisions. Fill volumes and selection rules require the current OR protocol.</a:t>
            </a:r>
          </a:p>
        </p:txBody>
      </p:sp>
    </p:spTree>
    <p:extLst>
      <p:ext uri="{BB962C8B-B14F-4D97-AF65-F5344CB8AC3E}">
        <p14:creationId xmlns:p14="http://schemas.microsoft.com/office/powerpoint/2010/main" val="8272104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A933EAE-D6CF-48A4-BE0B-6D9B51C0D96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Pump position and patient access</a:t>
            </a:r>
          </a:p>
        </p:txBody>
      </p:sp>
      <p:sp>
        <p:nvSpPr>
          <p:cNvPr id="2" name="">
            <a:extLst xmlns:a="http://schemas.openxmlformats.org/drawingml/2006/main">
              <a:ext uri="{FF2B5EF4-FFF2-40B4-BE49-F238E27FC236}">
                <a16:creationId xmlns:a16="http://schemas.microsoft.com/office/drawing/2014/main" id="{026AF45F-E401-4A53-8746-21BB11B4170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A662606-860D-41A5-B43A-53A236E75220}"/>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AP23 · ICS16 · CCIFU</a:t>
            </a:r>
          </a:p>
        </p:txBody>
      </p:sp>
      <p:sp>
        <p:nvSpPr>
          <p:cNvPr id="4" name="">
            <a:extLst xmlns:a="http://schemas.openxmlformats.org/drawingml/2006/main">
              <a:ext uri="{FF2B5EF4-FFF2-40B4-BE49-F238E27FC236}">
                <a16:creationId xmlns:a16="http://schemas.microsoft.com/office/drawing/2014/main" id="{BDE2F5F6-A1F9-4A25-9AD3-6CBD6C737C2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30</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ad31b4658d054f2e"/>
          <a:stretch xmlns:a="http://schemas.openxmlformats.org/drawingml/2006/main"/>
        </p:blipFill>
        <p:spPr>
          <a:xfrm xmlns:a="http://schemas.openxmlformats.org/drawingml/2006/main">
            <a:off x="609600" y="2179261"/>
            <a:ext cx="6477000" cy="267092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BB29884-DA5A-49B9-975D-D075DF2F8FD6}"/>
              </a:ext>
            </a:extLst>
          </p:cNvPr>
          <p:cNvSpPr>
            <a:spLocks xmlns:a="http://schemas.openxmlformats.org/drawingml/2006/main" noGrp="1"/>
          </p:cNvSpPr>
          <p:nvPr/>
        </p:nvSpPr>
        <p:spPr>
          <a:xfrm xmlns:a="http://schemas.openxmlformats.org/drawingml/2006/main">
            <a:off x="7505700" y="1809750"/>
            <a:ext cx="4076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1">
                <a:solidFill>
                  <a:srgbClr val="147F83"/>
                </a:solidFill>
                <a:latin typeface="Arial"/>
                <a:ea typeface="Arial"/>
                <a:cs typeface="Arial"/>
              </a:defRPr>
            </a:pPr>
            <a:r>
              <a:rPr sz="2175" b="1">
                <a:solidFill>
                  <a:srgbClr val="147F83"/>
                </a:solidFill>
                <a:latin typeface="Arial"/>
                <a:ea typeface="Arial"/>
                <a:cs typeface="Arial"/>
              </a:rPr>
              <a:t>A functional position</a:t>
            </a:r>
          </a:p>
        </p:txBody>
      </p:sp>
      <p:sp>
        <p:nvSpPr>
          <p:cNvPr id="7" name="">
            <a:extLst xmlns:a="http://schemas.openxmlformats.org/drawingml/2006/main">
              <a:ext uri="{FF2B5EF4-FFF2-40B4-BE49-F238E27FC236}">
                <a16:creationId xmlns:a16="http://schemas.microsoft.com/office/drawing/2014/main" id="{C34993B5-07DD-463B-9A69-1F461A487DAE}"/>
              </a:ext>
            </a:extLst>
          </p:cNvPr>
          <p:cNvSpPr>
            <a:spLocks xmlns:a="http://schemas.openxmlformats.org/drawingml/2006/main" noGrp="1"/>
          </p:cNvSpPr>
          <p:nvPr/>
        </p:nvSpPr>
        <p:spPr>
          <a:xfrm xmlns:a="http://schemas.openxmlformats.org/drawingml/2006/main">
            <a:off x="7505700" y="2419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Use the accessible side agreed in clinic</a:t>
            </a:r>
          </a:p>
        </p:txBody>
      </p:sp>
      <p:sp>
        <p:nvSpPr>
          <p:cNvPr id="8" name="">
            <a:extLst xmlns:a="http://schemas.openxmlformats.org/drawingml/2006/main">
              <a:ext uri="{FF2B5EF4-FFF2-40B4-BE49-F238E27FC236}">
                <a16:creationId xmlns:a16="http://schemas.microsoft.com/office/drawing/2014/main" id="{680B2935-ABDB-40D6-8BE3-FD44988EB9DD}"/>
              </a:ext>
            </a:extLst>
          </p:cNvPr>
          <p:cNvSpPr>
            <a:spLocks xmlns:a="http://schemas.openxmlformats.org/drawingml/2006/main" noGrp="1"/>
          </p:cNvSpPr>
          <p:nvPr/>
        </p:nvSpPr>
        <p:spPr>
          <a:xfrm xmlns:a="http://schemas.openxmlformats.org/drawingml/2006/main">
            <a:off x="7505700" y="3181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Avoid crowding, skin tension and testicular compression</a:t>
            </a:r>
          </a:p>
        </p:txBody>
      </p:sp>
      <p:sp>
        <p:nvSpPr>
          <p:cNvPr id="9" name="">
            <a:extLst xmlns:a="http://schemas.openxmlformats.org/drawingml/2006/main">
              <a:ext uri="{FF2B5EF4-FFF2-40B4-BE49-F238E27FC236}">
                <a16:creationId xmlns:a16="http://schemas.microsoft.com/office/drawing/2014/main" id="{66280CD8-87B3-4B8F-A4A4-BA5D9E1F0D12}"/>
              </a:ext>
            </a:extLst>
          </p:cNvPr>
          <p:cNvSpPr>
            <a:spLocks xmlns:a="http://schemas.openxmlformats.org/drawingml/2006/main" noGrp="1"/>
          </p:cNvSpPr>
          <p:nvPr/>
        </p:nvSpPr>
        <p:spPr>
          <a:xfrm xmlns:a="http://schemas.openxmlformats.org/drawingml/2006/main">
            <a:off x="7505700" y="3943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Check orientation and tubing traction before closure</a:t>
            </a:r>
          </a:p>
        </p:txBody>
      </p:sp>
      <p:sp>
        <p:nvSpPr>
          <p:cNvPr id="10" name="">
            <a:extLst xmlns:a="http://schemas.openxmlformats.org/drawingml/2006/main">
              <a:ext uri="{FF2B5EF4-FFF2-40B4-BE49-F238E27FC236}">
                <a16:creationId xmlns:a16="http://schemas.microsoft.com/office/drawing/2014/main" id="{4421A903-4361-4451-BCDD-3563790783F8}"/>
              </a:ext>
            </a:extLst>
          </p:cNvPr>
          <p:cNvSpPr>
            <a:spLocks xmlns:a="http://schemas.openxmlformats.org/drawingml/2006/main" noGrp="1"/>
          </p:cNvSpPr>
          <p:nvPr/>
        </p:nvSpPr>
        <p:spPr>
          <a:xfrm xmlns:a="http://schemas.openxmlformats.org/drawingml/2006/main">
            <a:off x="7505700" y="4705350"/>
            <a:ext cx="40767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Recheck access with the patient at activation</a:t>
            </a:r>
          </a:p>
        </p:txBody>
      </p:sp>
      <p:sp>
        <p:nvSpPr>
          <p:cNvPr id="11" name="">
            <a:extLst xmlns:a="http://schemas.openxmlformats.org/drawingml/2006/main">
              <a:ext uri="{FF2B5EF4-FFF2-40B4-BE49-F238E27FC236}">
                <a16:creationId xmlns:a16="http://schemas.microsoft.com/office/drawing/2014/main" id="{095A2D13-2D29-4768-B9A8-C79EAE22C221}"/>
              </a:ext>
            </a:extLst>
          </p:cNvPr>
          <p:cNvSpPr>
            <a:spLocks xmlns:a="http://schemas.openxmlformats.org/drawingml/2006/main" noGrp="1"/>
          </p:cNvSpPr>
          <p:nvPr/>
        </p:nvSpPr>
        <p:spPr>
          <a:xfrm xmlns:a="http://schemas.openxmlformats.org/drawingml/2006/main">
            <a:off x="609600" y="53530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0">
                <a:solidFill>
                  <a:srgbClr val="526773"/>
                </a:solidFill>
                <a:latin typeface="Arial"/>
                <a:ea typeface="Arial"/>
                <a:cs typeface="Arial"/>
              </a:defRPr>
            </a:pPr>
            <a:r>
              <a:rPr sz="1350" b="0">
                <a:solidFill>
                  <a:srgbClr val="526773"/>
                </a:solidFill>
                <a:latin typeface="Arial"/>
                <a:ea typeface="Arial"/>
                <a:cs typeface="Arial"/>
              </a:rPr>
              <a:t>UroOps 3D teaching schematic. Clinical review pending.</a:t>
            </a:r>
          </a:p>
        </p:txBody>
      </p:sp>
    </p:spTree>
    <p:extLst>
      <p:ext uri="{BB962C8B-B14F-4D97-AF65-F5344CB8AC3E}">
        <p14:creationId xmlns:p14="http://schemas.microsoft.com/office/powerpoint/2010/main" val="31416932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3F72591-A217-4234-B49D-AC782D0D9C2D}"/>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System checks and handover</a:t>
            </a:r>
          </a:p>
        </p:txBody>
      </p:sp>
      <p:sp>
        <p:nvSpPr>
          <p:cNvPr id="2" name="">
            <a:extLst xmlns:a="http://schemas.openxmlformats.org/drawingml/2006/main">
              <a:ext uri="{FF2B5EF4-FFF2-40B4-BE49-F238E27FC236}">
                <a16:creationId xmlns:a16="http://schemas.microsoft.com/office/drawing/2014/main" id="{C602D246-4D7B-4FDF-AF3F-3AF05727D48B}"/>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34F759A-E260-48D3-986C-4B95D0442918}"/>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CCIFU · ICS16 · AP23 · CATH13</a:t>
            </a:r>
          </a:p>
        </p:txBody>
      </p:sp>
      <p:sp>
        <p:nvSpPr>
          <p:cNvPr id="4" name="">
            <a:extLst xmlns:a="http://schemas.openxmlformats.org/drawingml/2006/main">
              <a:ext uri="{FF2B5EF4-FFF2-40B4-BE49-F238E27FC236}">
                <a16:creationId xmlns:a16="http://schemas.microsoft.com/office/drawing/2014/main" id="{7EC065E9-1BB5-491D-BC37-E7A01BA68480}"/>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31</a:t>
            </a:r>
          </a:p>
        </p:txBody>
      </p:sp>
      <p:sp>
        <p:nvSpPr>
          <p:cNvPr id="5" name="">
            <a:extLst xmlns:a="http://schemas.openxmlformats.org/drawingml/2006/main">
              <a:ext uri="{FF2B5EF4-FFF2-40B4-BE49-F238E27FC236}">
                <a16:creationId xmlns:a16="http://schemas.microsoft.com/office/drawing/2014/main" id="{8C122E07-1622-495D-9529-E542D4FE9CA0}"/>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4EA9145A-E618-4221-A635-EBF34CD062BC}"/>
              </a:ext>
            </a:extLst>
          </p:cNvPr>
          <p:cNvSpPr>
            <a:spLocks xmlns:a="http://schemas.openxmlformats.org/drawingml/2006/main" noGrp="1"/>
          </p:cNvSpPr>
          <p:nvPr/>
        </p:nvSpPr>
        <p:spPr>
          <a:xfrm xmlns:a="http://schemas.openxmlformats.org/drawingml/2006/main">
            <a:off x="1476375" y="183832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Trace tubing for tension, bends and entrapment</a:t>
            </a:r>
          </a:p>
        </p:txBody>
      </p:sp>
      <p:sp>
        <p:nvSpPr>
          <p:cNvPr id="7" name="">
            <a:extLst xmlns:a="http://schemas.openxmlformats.org/drawingml/2006/main">
              <a:ext uri="{FF2B5EF4-FFF2-40B4-BE49-F238E27FC236}">
                <a16:creationId xmlns:a16="http://schemas.microsoft.com/office/drawing/2014/main" id="{4B67EE6E-B7BF-4088-B270-089740D23614}"/>
              </a:ext>
            </a:extLst>
          </p:cNvPr>
          <p:cNvSpPr>
            <a:spLocks xmlns:a="http://schemas.openxmlformats.org/drawingml/2006/main" noGrp="1"/>
          </p:cNvSpPr>
          <p:nvPr/>
        </p:nvSpPr>
        <p:spPr>
          <a:xfrm xmlns:a="http://schemas.openxmlformats.org/drawingml/2006/main">
            <a:off x="609600" y="27051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500DF6BF-D756-40D6-9412-D9824F654228}"/>
              </a:ext>
            </a:extLst>
          </p:cNvPr>
          <p:cNvSpPr>
            <a:spLocks xmlns:a="http://schemas.openxmlformats.org/drawingml/2006/main" noGrp="1"/>
          </p:cNvSpPr>
          <p:nvPr/>
        </p:nvSpPr>
        <p:spPr>
          <a:xfrm xmlns:a="http://schemas.openxmlformats.org/drawingml/2006/main">
            <a:off x="1476375" y="273367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Confirm compatible connections and device function</a:t>
            </a:r>
          </a:p>
        </p:txBody>
      </p:sp>
      <p:sp>
        <p:nvSpPr>
          <p:cNvPr id="9" name="">
            <a:extLst xmlns:a="http://schemas.openxmlformats.org/drawingml/2006/main">
              <a:ext uri="{FF2B5EF4-FFF2-40B4-BE49-F238E27FC236}">
                <a16:creationId xmlns:a16="http://schemas.microsoft.com/office/drawing/2014/main" id="{91EFBECA-8961-401E-98AF-73DC375E0403}"/>
              </a:ext>
            </a:extLst>
          </p:cNvPr>
          <p:cNvSpPr>
            <a:spLocks xmlns:a="http://schemas.openxmlformats.org/drawingml/2006/main" noGrp="1"/>
          </p:cNvSpPr>
          <p:nvPr/>
        </p:nvSpPr>
        <p:spPr>
          <a:xfrm xmlns:a="http://schemas.openxmlformats.org/drawingml/2006/main">
            <a:off x="609600" y="36004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AA964F67-5A88-487A-B3D7-D950B296513E}"/>
              </a:ext>
            </a:extLst>
          </p:cNvPr>
          <p:cNvSpPr>
            <a:spLocks xmlns:a="http://schemas.openxmlformats.org/drawingml/2006/main" noGrp="1"/>
          </p:cNvSpPr>
          <p:nvPr/>
        </p:nvSpPr>
        <p:spPr>
          <a:xfrm xmlns:a="http://schemas.openxmlformats.org/drawingml/2006/main">
            <a:off x="1476375" y="362902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Confirm an open cuff and correct deactivation</a:t>
            </a:r>
          </a:p>
        </p:txBody>
      </p:sp>
      <p:sp>
        <p:nvSpPr>
          <p:cNvPr id="11" name="">
            <a:extLst xmlns:a="http://schemas.openxmlformats.org/drawingml/2006/main">
              <a:ext uri="{FF2B5EF4-FFF2-40B4-BE49-F238E27FC236}">
                <a16:creationId xmlns:a16="http://schemas.microsoft.com/office/drawing/2014/main" id="{E4E1F09A-772C-4304-936A-AEC36BD84CF6}"/>
              </a:ext>
            </a:extLst>
          </p:cNvPr>
          <p:cNvSpPr>
            <a:spLocks xmlns:a="http://schemas.openxmlformats.org/drawingml/2006/main" noGrp="1"/>
          </p:cNvSpPr>
          <p:nvPr/>
        </p:nvSpPr>
        <p:spPr>
          <a:xfrm xmlns:a="http://schemas.openxmlformats.org/drawingml/2006/main">
            <a:off x="609600" y="44958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4</a:t>
            </a:r>
          </a:p>
        </p:txBody>
      </p:sp>
      <p:sp>
        <p:nvSpPr>
          <p:cNvPr id="12" name="">
            <a:extLst xmlns:a="http://schemas.openxmlformats.org/drawingml/2006/main">
              <a:ext uri="{FF2B5EF4-FFF2-40B4-BE49-F238E27FC236}">
                <a16:creationId xmlns:a16="http://schemas.microsoft.com/office/drawing/2014/main" id="{A452968C-0D93-4B40-BB32-BD8A9DF0828B}"/>
              </a:ext>
            </a:extLst>
          </p:cNvPr>
          <p:cNvSpPr>
            <a:spLocks xmlns:a="http://schemas.openxmlformats.org/drawingml/2006/main" noGrp="1"/>
          </p:cNvSpPr>
          <p:nvPr/>
        </p:nvSpPr>
        <p:spPr>
          <a:xfrm xmlns:a="http://schemas.openxmlformats.org/drawingml/2006/main">
            <a:off x="1476375" y="4524375"/>
            <a:ext cx="10096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Record device details, drainage and the urgent contact route</a:t>
            </a:r>
          </a:p>
        </p:txBody>
      </p:sp>
      <p:sp>
        <p:nvSpPr>
          <p:cNvPr id="13" name="">
            <a:extLst xmlns:a="http://schemas.openxmlformats.org/drawingml/2006/main">
              <a:ext uri="{FF2B5EF4-FFF2-40B4-BE49-F238E27FC236}">
                <a16:creationId xmlns:a16="http://schemas.microsoft.com/office/drawing/2014/main" id="{6BCF1639-73D6-4B88-B595-7672FD35BE30}"/>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Connector preparation, filling and purging follow the actual product protocol.</a:t>
            </a:r>
          </a:p>
        </p:txBody>
      </p:sp>
    </p:spTree>
    <p:extLst>
      <p:ext uri="{BB962C8B-B14F-4D97-AF65-F5344CB8AC3E}">
        <p14:creationId xmlns:p14="http://schemas.microsoft.com/office/powerpoint/2010/main" val="114337915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6AAB4B-2CEF-44BF-8C29-672C26EBFB69}"/>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UroOps 3D: anatomy and component routes</a:t>
            </a:r>
          </a:p>
        </p:txBody>
      </p:sp>
      <p:sp>
        <p:nvSpPr>
          <p:cNvPr id="2" name="">
            <a:extLst xmlns:a="http://schemas.openxmlformats.org/drawingml/2006/main">
              <a:ext uri="{FF2B5EF4-FFF2-40B4-BE49-F238E27FC236}">
                <a16:creationId xmlns:a16="http://schemas.microsoft.com/office/drawing/2014/main" id="{83348733-B794-414E-9EA2-8B763BBC609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564257-824C-41DA-805D-3E4DEBCFC21D}"/>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ICS16 · AP23 · CCIFU</a:t>
            </a:r>
          </a:p>
        </p:txBody>
      </p:sp>
      <p:sp>
        <p:nvSpPr>
          <p:cNvPr id="4" name="">
            <a:extLst xmlns:a="http://schemas.openxmlformats.org/drawingml/2006/main">
              <a:ext uri="{FF2B5EF4-FFF2-40B4-BE49-F238E27FC236}">
                <a16:creationId xmlns:a16="http://schemas.microsoft.com/office/drawing/2014/main" id="{527DEFCA-2575-4D0E-99EF-5E4FC48DFE25}"/>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32</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7257a7bd0a14eb7"/>
          <a:stretch xmlns:a="http://schemas.openxmlformats.org/drawingml/2006/main"/>
        </p:blipFill>
        <p:spPr>
          <a:xfrm xmlns:a="http://schemas.openxmlformats.org/drawingml/2006/main">
            <a:off x="609600" y="1799538"/>
            <a:ext cx="7810500" cy="32208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4E31BE6-1493-4EF2-A874-932ABD60CCAE}"/>
              </a:ext>
            </a:extLst>
          </p:cNvPr>
          <p:cNvSpPr>
            <a:spLocks xmlns:a="http://schemas.openxmlformats.org/drawingml/2006/main" noGrp="1"/>
          </p:cNvSpPr>
          <p:nvPr/>
        </p:nvSpPr>
        <p:spPr>
          <a:xfrm xmlns:a="http://schemas.openxmlformats.org/drawingml/2006/main">
            <a:off x="8858250" y="2000250"/>
            <a:ext cx="272415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325" b="0">
                <a:solidFill>
                  <a:srgbClr val="183343"/>
                </a:solidFill>
                <a:latin typeface="Arial"/>
                <a:ea typeface="Arial"/>
                <a:cs typeface="Arial"/>
              </a:defRPr>
            </a:pPr>
            <a:r>
              <a:rPr sz="2325" b="0">
                <a:solidFill>
                  <a:srgbClr val="183343"/>
                </a:solidFill>
                <a:latin typeface="Arial"/>
                <a:ea typeface="Arial"/>
                <a:cs typeface="Arial"/>
              </a:rPr>
              <a:t>Cuff and dorsal plane</a:t>
            </a:r>
          </a:p>
          <a:p xmlns:a="http://schemas.openxmlformats.org/drawingml/2006/main">
            <a:pPr>
              <a:defRPr sz="2325" b="0">
                <a:solidFill>
                  <a:srgbClr val="183343"/>
                </a:solidFill>
                <a:latin typeface="Arial"/>
                <a:ea typeface="Arial"/>
                <a:cs typeface="Arial"/>
              </a:defRPr>
            </a:pPr>
            <a:r>
              <a:rPr sz="2325" b="0">
                <a:solidFill>
                  <a:srgbClr val="183343"/>
                </a:solidFill>
                <a:latin typeface="Arial"/>
                <a:ea typeface="Arial"/>
                <a:cs typeface="Arial"/>
              </a:rPr>
              <a:t>Pump access</a:t>
            </a:r>
          </a:p>
          <a:p xmlns:a="http://schemas.openxmlformats.org/drawingml/2006/main">
            <a:pPr>
              <a:defRPr sz="2325" b="0">
                <a:solidFill>
                  <a:srgbClr val="183343"/>
                </a:solidFill>
                <a:latin typeface="Arial"/>
                <a:ea typeface="Arial"/>
                <a:cs typeface="Arial"/>
              </a:defRPr>
            </a:pPr>
            <a:r>
              <a:rPr sz="2325" b="0">
                <a:solidFill>
                  <a:srgbClr val="183343"/>
                </a:solidFill>
                <a:latin typeface="Arial"/>
                <a:ea typeface="Arial"/>
                <a:cs typeface="Arial"/>
              </a:rPr>
              <a:t>Balloon pocket</a:t>
            </a:r>
          </a:p>
          <a:p xmlns:a="http://schemas.openxmlformats.org/drawingml/2006/main">
            <a:pPr>
              <a:defRPr sz="2325" b="0">
                <a:solidFill>
                  <a:srgbClr val="183343"/>
                </a:solidFill>
                <a:latin typeface="Arial"/>
                <a:ea typeface="Arial"/>
                <a:cs typeface="Arial"/>
              </a:defRPr>
            </a:pPr>
            <a:r>
              <a:rPr sz="2325" b="0">
                <a:solidFill>
                  <a:srgbClr val="183343"/>
                </a:solidFill>
                <a:latin typeface="Arial"/>
                <a:ea typeface="Arial"/>
                <a:cs typeface="Arial"/>
              </a:rPr>
              <a:t>Tubing route</a:t>
            </a:r>
          </a:p>
        </p:txBody>
      </p:sp>
      <p:sp>
        <p:nvSpPr>
          <p:cNvPr id="7" name="">
            <a:extLst xmlns:a="http://schemas.openxmlformats.org/drawingml/2006/main">
              <a:ext uri="{FF2B5EF4-FFF2-40B4-BE49-F238E27FC236}">
                <a16:creationId xmlns:a16="http://schemas.microsoft.com/office/drawing/2014/main" id="{27A4C879-8268-43FA-85B7-E6A8B33D816F}"/>
              </a:ext>
            </a:extLst>
          </p:cNvPr>
          <p:cNvSpPr>
            <a:spLocks xmlns:a="http://schemas.openxmlformats.org/drawingml/2006/main" noGrp="1"/>
          </p:cNvSpPr>
          <p:nvPr/>
        </p:nvSpPr>
        <p:spPr>
          <a:xfrm xmlns:a="http://schemas.openxmlformats.org/drawingml/2006/main">
            <a:off x="609600" y="52482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47F83"/>
                </a:solidFill>
                <a:latin typeface="Arial"/>
                <a:ea typeface="Arial"/>
                <a:cs typeface="Arial"/>
              </a:defRPr>
            </a:pPr>
            <a:r>
              <a:rPr sz="2250" b="1">
                <a:solidFill>
                  <a:srgbClr val="147F83"/>
                </a:solidFill>
                <a:latin typeface="Arial"/>
                <a:ea typeface="Arial"/>
                <a:cs typeface="Arial"/>
                <a:hlinkClick xmlns:r="http://schemas.openxmlformats.org/officeDocument/2006/relationships" r:id="R82355723a7c045e2"/>
              </a:rPr>
              <a:t>uroops3d.com/lab/aus</a:t>
            </a:r>
          </a:p>
        </p:txBody>
      </p:sp>
      <p:sp>
        <p:nvSpPr>
          <p:cNvPr id="8" name="">
            <a:extLst xmlns:a="http://schemas.openxmlformats.org/drawingml/2006/main">
              <a:ext uri="{FF2B5EF4-FFF2-40B4-BE49-F238E27FC236}">
                <a16:creationId xmlns:a16="http://schemas.microsoft.com/office/drawing/2014/main" id="{816F6BBC-4DD2-4876-A12B-8A08674A52BE}"/>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Teaching schematic, clinical review pending. The model illustrates relationships and does not replace device instructions.</a:t>
            </a:r>
          </a:p>
        </p:txBody>
      </p:sp>
    </p:spTree>
    <p:extLst>
      <p:ext uri="{BB962C8B-B14F-4D97-AF65-F5344CB8AC3E}">
        <p14:creationId xmlns:p14="http://schemas.microsoft.com/office/powerpoint/2010/main" val="211937569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A0EA93A-21CB-41A1-86F4-9B8603FB256F}"/>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Aftercare, activation and urgent review</a:t>
            </a:r>
          </a:p>
        </p:txBody>
      </p:sp>
      <p:sp>
        <p:nvSpPr>
          <p:cNvPr id="2" name="">
            <a:extLst xmlns:a="http://schemas.openxmlformats.org/drawingml/2006/main">
              <a:ext uri="{FF2B5EF4-FFF2-40B4-BE49-F238E27FC236}">
                <a16:creationId xmlns:a16="http://schemas.microsoft.com/office/drawing/2014/main" id="{3B4359AF-F1F1-4852-AE70-D69BC3FCEBD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214C5E5-0E56-486A-9C33-37818FCD159B}"/>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CCIFU · AUA24 · CATH13</a:t>
            </a:r>
          </a:p>
        </p:txBody>
      </p:sp>
      <p:sp>
        <p:nvSpPr>
          <p:cNvPr id="4" name="">
            <a:extLst xmlns:a="http://schemas.openxmlformats.org/drawingml/2006/main">
              <a:ext uri="{FF2B5EF4-FFF2-40B4-BE49-F238E27FC236}">
                <a16:creationId xmlns:a16="http://schemas.microsoft.com/office/drawing/2014/main" id="{9D732D83-FC71-4ECD-BC42-2737AE0E93C7}"/>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98C7BAC7-147E-4B17-8DBF-A666D409074B}"/>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Planned care</a:t>
            </a:r>
          </a:p>
        </p:txBody>
      </p:sp>
      <p:sp>
        <p:nvSpPr>
          <p:cNvPr id="6" name="">
            <a:extLst xmlns:a="http://schemas.openxmlformats.org/drawingml/2006/main">
              <a:ext uri="{FF2B5EF4-FFF2-40B4-BE49-F238E27FC236}">
                <a16:creationId xmlns:a16="http://schemas.microsoft.com/office/drawing/2014/main" id="{6A484D7D-11B7-457A-BED9-E449A81536AA}"/>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Early catheter removal when appropriate, with verified emptying</a:t>
            </a:r>
          </a:p>
        </p:txBody>
      </p:sp>
      <p:sp>
        <p:nvSpPr>
          <p:cNvPr id="7" name="">
            <a:extLst xmlns:a="http://schemas.openxmlformats.org/drawingml/2006/main">
              <a:ext uri="{FF2B5EF4-FFF2-40B4-BE49-F238E27FC236}">
                <a16:creationId xmlns:a16="http://schemas.microsoft.com/office/drawing/2014/main" id="{22F8B021-C358-4A4C-BD56-2AD78FF923BF}"/>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ContiClassic: 4–6 weeks deactivated until pain and oedema settle</a:t>
            </a:r>
          </a:p>
        </p:txBody>
      </p:sp>
      <p:sp>
        <p:nvSpPr>
          <p:cNvPr id="8" name="">
            <a:extLst xmlns:a="http://schemas.openxmlformats.org/drawingml/2006/main">
              <a:ext uri="{FF2B5EF4-FFF2-40B4-BE49-F238E27FC236}">
                <a16:creationId xmlns:a16="http://schemas.microsoft.com/office/drawing/2014/main" id="{057F0784-0C37-4212-AB55-31ECA08ABC59}"/>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Activation includes patient demonstration and device information</a:t>
            </a:r>
          </a:p>
        </p:txBody>
      </p:sp>
      <p:sp>
        <p:nvSpPr>
          <p:cNvPr id="9" name="">
            <a:extLst xmlns:a="http://schemas.openxmlformats.org/drawingml/2006/main">
              <a:ext uri="{FF2B5EF4-FFF2-40B4-BE49-F238E27FC236}">
                <a16:creationId xmlns:a16="http://schemas.microsoft.com/office/drawing/2014/main" id="{DF2B3658-562B-4B9A-A00B-D1BCFA38B987}"/>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Earlier assessment</a:t>
            </a:r>
          </a:p>
        </p:txBody>
      </p:sp>
      <p:sp>
        <p:nvSpPr>
          <p:cNvPr id="10" name="">
            <a:extLst xmlns:a="http://schemas.openxmlformats.org/drawingml/2006/main">
              <a:ext uri="{FF2B5EF4-FFF2-40B4-BE49-F238E27FC236}">
                <a16:creationId xmlns:a16="http://schemas.microsoft.com/office/drawing/2014/main" id="{45BEBD7D-B501-4AC4-A953-19058D609E4F}"/>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Retention or difficult voiding</a:t>
            </a:r>
          </a:p>
        </p:txBody>
      </p:sp>
      <p:sp>
        <p:nvSpPr>
          <p:cNvPr id="11" name="">
            <a:extLst xmlns:a="http://schemas.openxmlformats.org/drawingml/2006/main">
              <a:ext uri="{FF2B5EF4-FFF2-40B4-BE49-F238E27FC236}">
                <a16:creationId xmlns:a16="http://schemas.microsoft.com/office/drawing/2014/main" id="{2C2D9F71-CB08-4DC8-9EF1-105968065397}"/>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Worsening pain, erythema, discharge or fever</a:t>
            </a:r>
          </a:p>
        </p:txBody>
      </p:sp>
      <p:sp>
        <p:nvSpPr>
          <p:cNvPr id="12" name="">
            <a:extLst xmlns:a="http://schemas.openxmlformats.org/drawingml/2006/main">
              <a:ext uri="{FF2B5EF4-FFF2-40B4-BE49-F238E27FC236}">
                <a16:creationId xmlns:a16="http://schemas.microsoft.com/office/drawing/2014/main" id="{73EC5D36-4978-4853-90D5-8BF5348ED57B}"/>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Suspected infection or erosion needs specialist review</a:t>
            </a:r>
          </a:p>
        </p:txBody>
      </p:sp>
      <p:sp>
        <p:nvSpPr>
          <p:cNvPr id="13" name="">
            <a:extLst xmlns:a="http://schemas.openxmlformats.org/drawingml/2006/main">
              <a:ext uri="{FF2B5EF4-FFF2-40B4-BE49-F238E27FC236}">
                <a16:creationId xmlns:a16="http://schemas.microsoft.com/office/drawing/2014/main" id="{DBE679BC-A6C6-4843-951D-4407C2B1E8AB}"/>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Clear device information and contact routes protect future catheterisation and endoscopy.</a:t>
            </a:r>
          </a:p>
        </p:txBody>
      </p:sp>
    </p:spTree>
    <p:extLst>
      <p:ext uri="{BB962C8B-B14F-4D97-AF65-F5344CB8AC3E}">
        <p14:creationId xmlns:p14="http://schemas.microsoft.com/office/powerpoint/2010/main" val="38242005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5F28229-29D0-4916-804F-EDD8361282C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Case 4: leakage after three good years</a:t>
            </a:r>
          </a:p>
        </p:txBody>
      </p:sp>
      <p:sp>
        <p:nvSpPr>
          <p:cNvPr id="2" name="">
            <a:extLst xmlns:a="http://schemas.openxmlformats.org/drawingml/2006/main">
              <a:ext uri="{FF2B5EF4-FFF2-40B4-BE49-F238E27FC236}">
                <a16:creationId xmlns:a16="http://schemas.microsoft.com/office/drawing/2014/main" id="{F6088F1B-6971-4602-9918-495B98EBC04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329673D-2DA4-4419-9FFF-DBABCA9C5F2A}"/>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ATROPHY20 · BAUS25 · AUA24 · CCIFU</a:t>
            </a:r>
          </a:p>
        </p:txBody>
      </p:sp>
      <p:sp>
        <p:nvSpPr>
          <p:cNvPr id="4" name="">
            <a:extLst xmlns:a="http://schemas.openxmlformats.org/drawingml/2006/main">
              <a:ext uri="{FF2B5EF4-FFF2-40B4-BE49-F238E27FC236}">
                <a16:creationId xmlns:a16="http://schemas.microsoft.com/office/drawing/2014/main" id="{A5A4F154-6203-4FB4-9EBB-4904D68F8419}"/>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68EAA700-E43C-47DB-8C0B-950212A2DF85}"/>
              </a:ext>
            </a:extLst>
          </p:cNvPr>
          <p:cNvSpPr>
            <a:spLocks xmlns:a="http://schemas.openxmlformats.org/drawingml/2006/main" noGrp="1"/>
          </p:cNvSpPr>
          <p:nvPr/>
        </p:nvSpPr>
        <p:spPr>
          <a:xfrm xmlns:a="http://schemas.openxmlformats.org/drawingml/2006/main">
            <a:off x="609600" y="1790700"/>
            <a:ext cx="600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75" b="1">
                <a:solidFill>
                  <a:srgbClr val="147F83"/>
                </a:solidFill>
                <a:latin typeface="Arial"/>
                <a:ea typeface="Arial"/>
                <a:cs typeface="Arial"/>
              </a:defRPr>
            </a:pPr>
            <a:r>
              <a:rPr sz="1875" b="1">
                <a:solidFill>
                  <a:srgbClr val="147F83"/>
                </a:solidFill>
                <a:latin typeface="Arial"/>
                <a:ea typeface="Arial"/>
                <a:cs typeface="Arial"/>
              </a:rPr>
              <a:t>Fictional clinical case 04</a:t>
            </a:r>
          </a:p>
        </p:txBody>
      </p:sp>
      <p:sp>
        <p:nvSpPr>
          <p:cNvPr id="6" name="">
            <a:extLst xmlns:a="http://schemas.openxmlformats.org/drawingml/2006/main">
              <a:ext uri="{FF2B5EF4-FFF2-40B4-BE49-F238E27FC236}">
                <a16:creationId xmlns:a16="http://schemas.microsoft.com/office/drawing/2014/main" id="{7E8DB1B9-2246-489B-AC56-9DF8E99028B9}"/>
              </a:ext>
            </a:extLst>
          </p:cNvPr>
          <p:cNvSpPr>
            <a:spLocks xmlns:a="http://schemas.openxmlformats.org/drawingml/2006/main" noGrp="1"/>
          </p:cNvSpPr>
          <p:nvPr/>
        </p:nvSpPr>
        <p:spPr>
          <a:xfrm xmlns:a="http://schemas.openxmlformats.org/drawingml/2006/main">
            <a:off x="609600" y="240030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An initially useful AUS result</a:t>
            </a:r>
          </a:p>
        </p:txBody>
      </p:sp>
      <p:sp>
        <p:nvSpPr>
          <p:cNvPr id="7" name="">
            <a:extLst xmlns:a="http://schemas.openxmlformats.org/drawingml/2006/main">
              <a:ext uri="{FF2B5EF4-FFF2-40B4-BE49-F238E27FC236}">
                <a16:creationId xmlns:a16="http://schemas.microsoft.com/office/drawing/2014/main" id="{F8CDAC5B-4F40-4162-87C9-2C2BCF58F546}"/>
              </a:ext>
            </a:extLst>
          </p:cNvPr>
          <p:cNvSpPr>
            <a:spLocks xmlns:a="http://schemas.openxmlformats.org/drawingml/2006/main" noGrp="1"/>
          </p:cNvSpPr>
          <p:nvPr/>
        </p:nvSpPr>
        <p:spPr>
          <a:xfrm xmlns:a="http://schemas.openxmlformats.org/drawingml/2006/main">
            <a:off x="609600" y="315277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Recurrent leakage after three years</a:t>
            </a:r>
          </a:p>
        </p:txBody>
      </p:sp>
      <p:sp>
        <p:nvSpPr>
          <p:cNvPr id="8" name="">
            <a:extLst xmlns:a="http://schemas.openxmlformats.org/drawingml/2006/main">
              <a:ext uri="{FF2B5EF4-FFF2-40B4-BE49-F238E27FC236}">
                <a16:creationId xmlns:a16="http://schemas.microsoft.com/office/drawing/2014/main" id="{27C38BBE-420D-424E-A6E2-00D076901B59}"/>
              </a:ext>
            </a:extLst>
          </p:cNvPr>
          <p:cNvSpPr>
            <a:spLocks xmlns:a="http://schemas.openxmlformats.org/drawingml/2006/main" noGrp="1"/>
          </p:cNvSpPr>
          <p:nvPr/>
        </p:nvSpPr>
        <p:spPr>
          <a:xfrm xmlns:a="http://schemas.openxmlformats.org/drawingml/2006/main">
            <a:off x="609600" y="3905250"/>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Leakage mechanism and pump use still need assessment</a:t>
            </a:r>
          </a:p>
        </p:txBody>
      </p:sp>
      <p:sp>
        <p:nvSpPr>
          <p:cNvPr id="9" name="">
            <a:extLst xmlns:a="http://schemas.openxmlformats.org/drawingml/2006/main">
              <a:ext uri="{FF2B5EF4-FFF2-40B4-BE49-F238E27FC236}">
                <a16:creationId xmlns:a16="http://schemas.microsoft.com/office/drawing/2014/main" id="{3C9E46E1-B143-4919-B575-2004A85C0A6B}"/>
              </a:ext>
            </a:extLst>
          </p:cNvPr>
          <p:cNvSpPr>
            <a:spLocks xmlns:a="http://schemas.openxmlformats.org/drawingml/2006/main" noGrp="1"/>
          </p:cNvSpPr>
          <p:nvPr/>
        </p:nvSpPr>
        <p:spPr>
          <a:xfrm xmlns:a="http://schemas.openxmlformats.org/drawingml/2006/main">
            <a:off x="609600" y="4657725"/>
            <a:ext cx="5810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Erosion, mechanics and bladder dysfunction remain possible</a:t>
            </a:r>
          </a:p>
        </p:txBody>
      </p:sp>
      <p:sp>
        <p:nvSpPr>
          <p:cNvPr id="10" name="">
            <a:extLst xmlns:a="http://schemas.openxmlformats.org/drawingml/2006/main">
              <a:ext uri="{FF2B5EF4-FFF2-40B4-BE49-F238E27FC236}">
                <a16:creationId xmlns:a16="http://schemas.microsoft.com/office/drawing/2014/main" id="{F889AE57-7095-4652-9CC8-3955398D9CF1}"/>
              </a:ext>
            </a:extLst>
          </p:cNvPr>
          <p:cNvSpPr>
            <a:spLocks xmlns:a="http://schemas.openxmlformats.org/drawingml/2006/main" noGrp="1"/>
          </p:cNvSpPr>
          <p:nvPr/>
        </p:nvSpPr>
        <p:spPr>
          <a:xfrm xmlns:a="http://schemas.openxmlformats.org/drawingml/2006/main">
            <a:off x="7239000" y="2095500"/>
            <a:ext cx="4343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83343"/>
                </a:solidFill>
                <a:latin typeface="Arial"/>
                <a:ea typeface="Arial"/>
                <a:cs typeface="Arial"/>
              </a:defRPr>
            </a:pPr>
            <a:r>
              <a:rPr sz="3000" b="1">
                <a:solidFill>
                  <a:srgbClr val="183343"/>
                </a:solidFill>
                <a:latin typeface="Arial"/>
                <a:ea typeface="Arial"/>
                <a:cs typeface="Arial"/>
              </a:rPr>
              <a:t>What would you investigate before choosing revision?</a:t>
            </a:r>
          </a:p>
        </p:txBody>
      </p:sp>
      <p:sp>
        <p:nvSpPr>
          <p:cNvPr id="11" name="">
            <a:extLst xmlns:a="http://schemas.openxmlformats.org/drawingml/2006/main">
              <a:ext uri="{FF2B5EF4-FFF2-40B4-BE49-F238E27FC236}">
                <a16:creationId xmlns:a16="http://schemas.microsoft.com/office/drawing/2014/main" id="{32150C3C-A27C-491F-AEC5-289D3D405658}"/>
              </a:ext>
            </a:extLst>
          </p:cNvPr>
          <p:cNvSpPr>
            <a:spLocks xmlns:a="http://schemas.openxmlformats.org/drawingml/2006/main" noGrp="1"/>
          </p:cNvSpPr>
          <p:nvPr/>
        </p:nvSpPr>
        <p:spPr>
          <a:xfrm xmlns:a="http://schemas.openxmlformats.org/drawingml/2006/main">
            <a:off x="7239000" y="4362450"/>
            <a:ext cx="7620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664A9D8-C47D-4914-8009-6FA6EC56DC06}"/>
              </a:ext>
            </a:extLst>
          </p:cNvPr>
          <p:cNvSpPr>
            <a:spLocks xmlns:a="http://schemas.openxmlformats.org/drawingml/2006/main" noGrp="1"/>
          </p:cNvSpPr>
          <p:nvPr/>
        </p:nvSpPr>
        <p:spPr>
          <a:xfrm xmlns:a="http://schemas.openxmlformats.org/drawingml/2006/main">
            <a:off x="7239000" y="4610100"/>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147F83"/>
                </a:solidFill>
                <a:latin typeface="Arial"/>
                <a:ea typeface="Arial"/>
                <a:cs typeface="Arial"/>
              </a:defRPr>
            </a:pPr>
            <a:r>
              <a:rPr sz="1950" b="0">
                <a:solidFill>
                  <a:srgbClr val="147F83"/>
                </a:solidFill>
                <a:latin typeface="Arial"/>
                <a:ea typeface="Arial"/>
                <a:cs typeface="Arial"/>
              </a:rPr>
              <a:t>Use / Urethra / Mechanics / Bladder</a:t>
            </a:r>
          </a:p>
        </p:txBody>
      </p:sp>
      <p:sp>
        <p:nvSpPr>
          <p:cNvPr id="13" name="">
            <a:extLst xmlns:a="http://schemas.openxmlformats.org/drawingml/2006/main">
              <a:ext uri="{FF2B5EF4-FFF2-40B4-BE49-F238E27FC236}">
                <a16:creationId xmlns:a16="http://schemas.microsoft.com/office/drawing/2014/main" id="{E2182456-C071-4145-8CBC-E05461F7CE78}"/>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Urethral atrophy requires investigation. Time alone does not justify cuff downsizing or pressure escalation.</a:t>
            </a:r>
          </a:p>
        </p:txBody>
      </p:sp>
    </p:spTree>
    <p:extLst>
      <p:ext uri="{BB962C8B-B14F-4D97-AF65-F5344CB8AC3E}">
        <p14:creationId xmlns:p14="http://schemas.microsoft.com/office/powerpoint/2010/main" val="118365141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0D72E0D-1298-4014-A31B-CE05B5867B8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Established benefit and unresolved questions</a:t>
            </a:r>
          </a:p>
        </p:txBody>
      </p:sp>
      <p:sp>
        <p:nvSpPr>
          <p:cNvPr id="2" name="">
            <a:extLst xmlns:a="http://schemas.openxmlformats.org/drawingml/2006/main">
              <a:ext uri="{FF2B5EF4-FFF2-40B4-BE49-F238E27FC236}">
                <a16:creationId xmlns:a16="http://schemas.microsoft.com/office/drawing/2014/main" id="{58C4B260-9CB5-4A77-BB24-0D9D924CB73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1C36B43-A622-4498-AC68-BAC6CAAFAE17}"/>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MASTER22 · TC20 · TC23 · PREP24 · CCSAFETY</a:t>
            </a:r>
          </a:p>
        </p:txBody>
      </p:sp>
      <p:sp>
        <p:nvSpPr>
          <p:cNvPr id="4" name="">
            <a:extLst xmlns:a="http://schemas.openxmlformats.org/drawingml/2006/main">
              <a:ext uri="{FF2B5EF4-FFF2-40B4-BE49-F238E27FC236}">
                <a16:creationId xmlns:a16="http://schemas.microsoft.com/office/drawing/2014/main" id="{7E2F07C4-DAFF-4067-A4C9-087C0C32A308}"/>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482853DF-BA86-4BC5-981B-6ADF2558080D}"/>
              </a:ext>
            </a:extLst>
          </p:cNvPr>
          <p:cNvSpPr>
            <a:spLocks xmlns:a="http://schemas.openxmlformats.org/drawingml/2006/main" noGrp="1"/>
          </p:cNvSpPr>
          <p:nvPr/>
        </p:nvSpPr>
        <p:spPr>
          <a:xfrm xmlns:a="http://schemas.openxmlformats.org/drawingml/2006/main">
            <a:off x="609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Supported or plausible</a:t>
            </a:r>
          </a:p>
        </p:txBody>
      </p:sp>
      <p:sp>
        <p:nvSpPr>
          <p:cNvPr id="6" name="">
            <a:extLst xmlns:a="http://schemas.openxmlformats.org/drawingml/2006/main">
              <a:ext uri="{FF2B5EF4-FFF2-40B4-BE49-F238E27FC236}">
                <a16:creationId xmlns:a16="http://schemas.microsoft.com/office/drawing/2014/main" id="{974D4DFD-04D8-4D06-9BF2-CAC8725E4FAF}"/>
              </a:ext>
            </a:extLst>
          </p:cNvPr>
          <p:cNvSpPr>
            <a:spLocks xmlns:a="http://schemas.openxmlformats.org/drawingml/2006/main" noGrp="1"/>
          </p:cNvSpPr>
          <p:nvPr/>
        </p:nvSpPr>
        <p:spPr>
          <a:xfrm xmlns:a="http://schemas.openxmlformats.org/drawingml/2006/main">
            <a:off x="609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Selected patients gain substantial continence benefit</a:t>
            </a:r>
          </a:p>
        </p:txBody>
      </p:sp>
      <p:sp>
        <p:nvSpPr>
          <p:cNvPr id="7" name="">
            <a:extLst xmlns:a="http://schemas.openxmlformats.org/drawingml/2006/main">
              <a:ext uri="{FF2B5EF4-FFF2-40B4-BE49-F238E27FC236}">
                <a16:creationId xmlns:a16="http://schemas.microsoft.com/office/drawing/2014/main" id="{9FDA6C82-6B9B-4F60-9F8E-F17D21EEB48D}"/>
              </a:ext>
            </a:extLst>
          </p:cNvPr>
          <p:cNvSpPr>
            <a:spLocks xmlns:a="http://schemas.openxmlformats.org/drawingml/2006/main" noGrp="1"/>
          </p:cNvSpPr>
          <p:nvPr/>
        </p:nvSpPr>
        <p:spPr>
          <a:xfrm xmlns:a="http://schemas.openxmlformats.org/drawingml/2006/main">
            <a:off x="609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Tissue preservation and contamination control have strong rationale</a:t>
            </a:r>
          </a:p>
        </p:txBody>
      </p:sp>
      <p:sp>
        <p:nvSpPr>
          <p:cNvPr id="8" name="">
            <a:extLst xmlns:a="http://schemas.openxmlformats.org/drawingml/2006/main">
              <a:ext uri="{FF2B5EF4-FFF2-40B4-BE49-F238E27FC236}">
                <a16:creationId xmlns:a16="http://schemas.microsoft.com/office/drawing/2014/main" id="{BB55C6F2-EF0C-4CE0-BAD7-D41140C95E3C}"/>
              </a:ext>
            </a:extLst>
          </p:cNvPr>
          <p:cNvSpPr>
            <a:spLocks xmlns:a="http://schemas.openxmlformats.org/drawingml/2006/main" noGrp="1"/>
          </p:cNvSpPr>
          <p:nvPr/>
        </p:nvSpPr>
        <p:spPr>
          <a:xfrm xmlns:a="http://schemas.openxmlformats.org/drawingml/2006/main">
            <a:off x="609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Future access belongs in the operative plan</a:t>
            </a:r>
          </a:p>
        </p:txBody>
      </p:sp>
      <p:sp>
        <p:nvSpPr>
          <p:cNvPr id="9" name="">
            <a:extLst xmlns:a="http://schemas.openxmlformats.org/drawingml/2006/main">
              <a:ext uri="{FF2B5EF4-FFF2-40B4-BE49-F238E27FC236}">
                <a16:creationId xmlns:a16="http://schemas.microsoft.com/office/drawing/2014/main" id="{016055C7-BDE0-49A0-BC33-9583FD763742}"/>
              </a:ext>
            </a:extLst>
          </p:cNvPr>
          <p:cNvSpPr>
            <a:spLocks xmlns:a="http://schemas.openxmlformats.org/drawingml/2006/main" noGrp="1"/>
          </p:cNvSpPr>
          <p:nvPr/>
        </p:nvSpPr>
        <p:spPr>
          <a:xfrm xmlns:a="http://schemas.openxmlformats.org/drawingml/2006/main">
            <a:off x="6324600" y="18097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1">
                <a:solidFill>
                  <a:srgbClr val="147F83"/>
                </a:solidFill>
                <a:latin typeface="Arial"/>
                <a:ea typeface="Arial"/>
                <a:cs typeface="Arial"/>
              </a:defRPr>
            </a:pPr>
            <a:r>
              <a:rPr sz="2400" b="1">
                <a:solidFill>
                  <a:srgbClr val="147F83"/>
                </a:solidFill>
                <a:latin typeface="Arial"/>
                <a:ea typeface="Arial"/>
                <a:cs typeface="Arial"/>
              </a:rPr>
              <a:t>Still uncertain</a:t>
            </a:r>
          </a:p>
        </p:txBody>
      </p:sp>
      <p:sp>
        <p:nvSpPr>
          <p:cNvPr id="10" name="">
            <a:extLst xmlns:a="http://schemas.openxmlformats.org/drawingml/2006/main">
              <a:ext uri="{FF2B5EF4-FFF2-40B4-BE49-F238E27FC236}">
                <a16:creationId xmlns:a16="http://schemas.microsoft.com/office/drawing/2014/main" id="{4668F198-EE94-4514-ABB4-62544E9BD953}"/>
              </a:ext>
            </a:extLst>
          </p:cNvPr>
          <p:cNvSpPr>
            <a:spLocks xmlns:a="http://schemas.openxmlformats.org/drawingml/2006/main" noGrp="1"/>
          </p:cNvSpPr>
          <p:nvPr/>
        </p:nvSpPr>
        <p:spPr>
          <a:xfrm xmlns:a="http://schemas.openxmlformats.org/drawingml/2006/main">
            <a:off x="6324600" y="2400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The best salvage strategy for a fragile urethra</a:t>
            </a:r>
          </a:p>
        </p:txBody>
      </p:sp>
      <p:sp>
        <p:nvSpPr>
          <p:cNvPr id="11" name="">
            <a:extLst xmlns:a="http://schemas.openxmlformats.org/drawingml/2006/main">
              <a:ext uri="{FF2B5EF4-FFF2-40B4-BE49-F238E27FC236}">
                <a16:creationId xmlns:a16="http://schemas.microsoft.com/office/drawing/2014/main" id="{BB15D9B2-87A2-417F-B4FF-C5D7B2BD33B1}"/>
              </a:ext>
            </a:extLst>
          </p:cNvPr>
          <p:cNvSpPr>
            <a:spLocks xmlns:a="http://schemas.openxmlformats.org/drawingml/2006/main" noGrp="1"/>
          </p:cNvSpPr>
          <p:nvPr/>
        </p:nvSpPr>
        <p:spPr>
          <a:xfrm xmlns:a="http://schemas.openxmlformats.org/drawingml/2006/main">
            <a:off x="6324600" y="33528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Optimal irrigants and preparation duration</a:t>
            </a:r>
          </a:p>
        </p:txBody>
      </p:sp>
      <p:sp>
        <p:nvSpPr>
          <p:cNvPr id="12" name="">
            <a:extLst xmlns:a="http://schemas.openxmlformats.org/drawingml/2006/main">
              <a:ext uri="{FF2B5EF4-FFF2-40B4-BE49-F238E27FC236}">
                <a16:creationId xmlns:a16="http://schemas.microsoft.com/office/drawing/2014/main" id="{7717B3D1-F0DD-4D27-A6BF-6D0D7B6B6A8C}"/>
              </a:ext>
            </a:extLst>
          </p:cNvPr>
          <p:cNvSpPr>
            <a:spLocks xmlns:a="http://schemas.openxmlformats.org/drawingml/2006/main" noGrp="1"/>
          </p:cNvSpPr>
          <p:nvPr/>
        </p:nvSpPr>
        <p:spPr>
          <a:xfrm xmlns:a="http://schemas.openxmlformats.org/drawingml/2006/main">
            <a:off x="6324600" y="43053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183343"/>
                </a:solidFill>
                <a:latin typeface="Arial"/>
                <a:ea typeface="Arial"/>
                <a:cs typeface="Arial"/>
              </a:defRPr>
            </a:pPr>
            <a:r>
              <a:rPr sz="2100" b="0">
                <a:solidFill>
                  <a:srgbClr val="183343"/>
                </a:solidFill>
                <a:latin typeface="Arial"/>
                <a:ea typeface="Arial"/>
                <a:cs typeface="Arial"/>
              </a:rPr>
              <a:t>Comparable long-term ContiClassic outcomes</a:t>
            </a:r>
          </a:p>
        </p:txBody>
      </p:sp>
      <p:sp>
        <p:nvSpPr>
          <p:cNvPr id="13" name="">
            <a:extLst xmlns:a="http://schemas.openxmlformats.org/drawingml/2006/main">
              <a:ext uri="{FF2B5EF4-FFF2-40B4-BE49-F238E27FC236}">
                <a16:creationId xmlns:a16="http://schemas.microsoft.com/office/drawing/2014/main" id="{CA909114-E481-4EC5-99F9-E139C0234166}"/>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Biological plausibility and comparative clinical proof support different claims.</a:t>
            </a:r>
          </a:p>
        </p:txBody>
      </p:sp>
    </p:spTree>
    <p:extLst>
      <p:ext uri="{BB962C8B-B14F-4D97-AF65-F5344CB8AC3E}">
        <p14:creationId xmlns:p14="http://schemas.microsoft.com/office/powerpoint/2010/main" val="68630091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E29CD92-B242-4F1B-BEE0-ACB2DED037B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Five decisions before implantation</a:t>
            </a:r>
          </a:p>
        </p:txBody>
      </p:sp>
      <p:sp>
        <p:nvSpPr>
          <p:cNvPr id="2" name="">
            <a:extLst xmlns:a="http://schemas.openxmlformats.org/drawingml/2006/main">
              <a:ext uri="{FF2B5EF4-FFF2-40B4-BE49-F238E27FC236}">
                <a16:creationId xmlns:a16="http://schemas.microsoft.com/office/drawing/2014/main" id="{5E00FD29-1207-4DFD-A573-DC284663C06E}"/>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70D8F34-7E28-4AD5-9772-D3C9F41EF46E}"/>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BAUS25 · EAU26 · AUA24 · DU23 · ICS16</a:t>
            </a:r>
          </a:p>
        </p:txBody>
      </p:sp>
      <p:sp>
        <p:nvSpPr>
          <p:cNvPr id="4" name="">
            <a:extLst xmlns:a="http://schemas.openxmlformats.org/drawingml/2006/main">
              <a:ext uri="{FF2B5EF4-FFF2-40B4-BE49-F238E27FC236}">
                <a16:creationId xmlns:a16="http://schemas.microsoft.com/office/drawing/2014/main" id="{6A0EAD72-5E77-4D3C-9A94-2E141334B1EF}"/>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23AC5DB2-51F5-4AF1-BE4B-7C03C8A084A7}"/>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DE57A08C-407B-4435-A41C-5A030A88DDAC}"/>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Demonstrated SUI and a meaningful patient goal</a:t>
            </a:r>
          </a:p>
        </p:txBody>
      </p:sp>
      <p:sp>
        <p:nvSpPr>
          <p:cNvPr id="7" name="">
            <a:extLst xmlns:a="http://schemas.openxmlformats.org/drawingml/2006/main">
              <a:ext uri="{FF2B5EF4-FFF2-40B4-BE49-F238E27FC236}">
                <a16:creationId xmlns:a16="http://schemas.microsoft.com/office/drawing/2014/main" id="{E46BF578-53A2-435E-8101-98BBD56B0A1F}"/>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E8F97245-33AD-4413-A50C-8AD3B3B6FFD8}"/>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Pump use, access and future capability</a:t>
            </a:r>
          </a:p>
        </p:txBody>
      </p:sp>
      <p:sp>
        <p:nvSpPr>
          <p:cNvPr id="9" name="">
            <a:extLst xmlns:a="http://schemas.openxmlformats.org/drawingml/2006/main">
              <a:ext uri="{FF2B5EF4-FFF2-40B4-BE49-F238E27FC236}">
                <a16:creationId xmlns:a16="http://schemas.microsoft.com/office/drawing/2014/main" id="{BE3F2809-AE1B-4B2D-8FC3-487F68A0C341}"/>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3</a:t>
            </a:r>
          </a:p>
        </p:txBody>
      </p:sp>
      <p:sp>
        <p:nvSpPr>
          <p:cNvPr id="10" name="">
            <a:extLst xmlns:a="http://schemas.openxmlformats.org/drawingml/2006/main">
              <a:ext uri="{FF2B5EF4-FFF2-40B4-BE49-F238E27FC236}">
                <a16:creationId xmlns:a16="http://schemas.microsoft.com/office/drawing/2014/main" id="{AAA2E956-4C7C-43DE-98BC-E5107B29B83A}"/>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Investigations resolving anatomy, storage and emptying</a:t>
            </a:r>
          </a:p>
        </p:txBody>
      </p:sp>
      <p:sp>
        <p:nvSpPr>
          <p:cNvPr id="11" name="">
            <a:extLst xmlns:a="http://schemas.openxmlformats.org/drawingml/2006/main">
              <a:ext uri="{FF2B5EF4-FFF2-40B4-BE49-F238E27FC236}">
                <a16:creationId xmlns:a16="http://schemas.microsoft.com/office/drawing/2014/main" id="{FD07F8DB-A59A-4A82-BB76-0897E2D3AD53}"/>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4</a:t>
            </a:r>
          </a:p>
        </p:txBody>
      </p:sp>
      <p:sp>
        <p:nvSpPr>
          <p:cNvPr id="12" name="">
            <a:extLst xmlns:a="http://schemas.openxmlformats.org/drawingml/2006/main">
              <a:ext uri="{FF2B5EF4-FFF2-40B4-BE49-F238E27FC236}">
                <a16:creationId xmlns:a16="http://schemas.microsoft.com/office/drawing/2014/main" id="{8018C5E1-2C7A-4948-AE2A-9E71F71B2A29}"/>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Separate DO, DU and poor compliance</a:t>
            </a:r>
          </a:p>
        </p:txBody>
      </p:sp>
      <p:sp>
        <p:nvSpPr>
          <p:cNvPr id="13" name="">
            <a:extLst xmlns:a="http://schemas.openxmlformats.org/drawingml/2006/main">
              <a:ext uri="{FF2B5EF4-FFF2-40B4-BE49-F238E27FC236}">
                <a16:creationId xmlns:a16="http://schemas.microsoft.com/office/drawing/2014/main" id="{1FD62722-5249-4849-9E64-AAAD9472D587}"/>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5</a:t>
            </a:r>
          </a:p>
        </p:txBody>
      </p:sp>
      <p:sp>
        <p:nvSpPr>
          <p:cNvPr id="14" name="">
            <a:extLst xmlns:a="http://schemas.openxmlformats.org/drawingml/2006/main">
              <a:ext uri="{FF2B5EF4-FFF2-40B4-BE49-F238E27FC236}">
                <a16:creationId xmlns:a16="http://schemas.microsoft.com/office/drawing/2014/main" id="{42104193-5361-4099-ABD0-DE610D6523BC}"/>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A stable urethra and future access plan</a:t>
            </a:r>
          </a:p>
        </p:txBody>
      </p:sp>
    </p:spTree>
    <p:extLst>
      <p:ext uri="{BB962C8B-B14F-4D97-AF65-F5344CB8AC3E}">
        <p14:creationId xmlns:p14="http://schemas.microsoft.com/office/powerpoint/2010/main" val="4703029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D4547C0-C5DB-41C1-A0D3-DD5C219A91F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Five decisions protecting the result</a:t>
            </a:r>
          </a:p>
        </p:txBody>
      </p:sp>
      <p:sp>
        <p:nvSpPr>
          <p:cNvPr id="2" name="">
            <a:extLst xmlns:a="http://schemas.openxmlformats.org/drawingml/2006/main">
              <a:ext uri="{FF2B5EF4-FFF2-40B4-BE49-F238E27FC236}">
                <a16:creationId xmlns:a16="http://schemas.microsoft.com/office/drawing/2014/main" id="{7E836E5D-09D0-4001-A049-6DD72A8112C9}"/>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FC2CF99-74C2-4283-ACB0-96242BE7DAF1}"/>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CCIFU · NICE · AP23 · ATROPHY20 · BAUS25</a:t>
            </a:r>
          </a:p>
        </p:txBody>
      </p:sp>
      <p:sp>
        <p:nvSpPr>
          <p:cNvPr id="4" name="">
            <a:extLst xmlns:a="http://schemas.openxmlformats.org/drawingml/2006/main">
              <a:ext uri="{FF2B5EF4-FFF2-40B4-BE49-F238E27FC236}">
                <a16:creationId xmlns:a16="http://schemas.microsoft.com/office/drawing/2014/main" id="{E2844FFC-9F62-4ECB-A1DB-4869DE3234D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9DCF8630-7581-4188-93E7-5839CE50CD25}"/>
              </a:ext>
            </a:extLst>
          </p:cNvPr>
          <p:cNvSpPr>
            <a:spLocks xmlns:a="http://schemas.openxmlformats.org/drawingml/2006/main" noGrp="1"/>
          </p:cNvSpPr>
          <p:nvPr/>
        </p:nvSpPr>
        <p:spPr>
          <a:xfrm xmlns:a="http://schemas.openxmlformats.org/drawingml/2006/main">
            <a:off x="609600" y="18097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D626B228-4863-4BB8-B017-D06C528B4CD2}"/>
              </a:ext>
            </a:extLst>
          </p:cNvPr>
          <p:cNvSpPr>
            <a:spLocks xmlns:a="http://schemas.openxmlformats.org/drawingml/2006/main" noGrp="1"/>
          </p:cNvSpPr>
          <p:nvPr/>
        </p:nvSpPr>
        <p:spPr>
          <a:xfrm xmlns:a="http://schemas.openxmlformats.org/drawingml/2006/main">
            <a:off x="1476375" y="183832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Correct antisepsis and appropriate prophylaxis</a:t>
            </a:r>
          </a:p>
        </p:txBody>
      </p:sp>
      <p:sp>
        <p:nvSpPr>
          <p:cNvPr id="7" name="">
            <a:extLst xmlns:a="http://schemas.openxmlformats.org/drawingml/2006/main">
              <a:ext uri="{FF2B5EF4-FFF2-40B4-BE49-F238E27FC236}">
                <a16:creationId xmlns:a16="http://schemas.microsoft.com/office/drawing/2014/main" id="{9035CBEB-A939-4DE5-B53A-C6EFC71A8C91}"/>
              </a:ext>
            </a:extLst>
          </p:cNvPr>
          <p:cNvSpPr>
            <a:spLocks xmlns:a="http://schemas.openxmlformats.org/drawingml/2006/main" noGrp="1"/>
          </p:cNvSpPr>
          <p:nvPr/>
        </p:nvSpPr>
        <p:spPr>
          <a:xfrm xmlns:a="http://schemas.openxmlformats.org/drawingml/2006/main">
            <a:off x="609600" y="254317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7</a:t>
            </a:r>
          </a:p>
        </p:txBody>
      </p:sp>
      <p:sp>
        <p:nvSpPr>
          <p:cNvPr id="8" name="">
            <a:extLst xmlns:a="http://schemas.openxmlformats.org/drawingml/2006/main">
              <a:ext uri="{FF2B5EF4-FFF2-40B4-BE49-F238E27FC236}">
                <a16:creationId xmlns:a16="http://schemas.microsoft.com/office/drawing/2014/main" id="{D0CF71F5-AA68-4B7C-A052-482E2162E3CA}"/>
              </a:ext>
            </a:extLst>
          </p:cNvPr>
          <p:cNvSpPr>
            <a:spLocks xmlns:a="http://schemas.openxmlformats.org/drawingml/2006/main" noGrp="1"/>
          </p:cNvSpPr>
          <p:nvPr/>
        </p:nvSpPr>
        <p:spPr>
          <a:xfrm xmlns:a="http://schemas.openxmlformats.org/drawingml/2006/main">
            <a:off x="1476375" y="2571750"/>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Preserved tissue and undistorted measurement</a:t>
            </a:r>
          </a:p>
        </p:txBody>
      </p:sp>
      <p:sp>
        <p:nvSpPr>
          <p:cNvPr id="9" name="">
            <a:extLst xmlns:a="http://schemas.openxmlformats.org/drawingml/2006/main">
              <a:ext uri="{FF2B5EF4-FFF2-40B4-BE49-F238E27FC236}">
                <a16:creationId xmlns:a16="http://schemas.microsoft.com/office/drawing/2014/main" id="{42CFA73E-FE0E-4865-A938-2C11BA5FDA98}"/>
              </a:ext>
            </a:extLst>
          </p:cNvPr>
          <p:cNvSpPr>
            <a:spLocks xmlns:a="http://schemas.openxmlformats.org/drawingml/2006/main" noGrp="1"/>
          </p:cNvSpPr>
          <p:nvPr/>
        </p:nvSpPr>
        <p:spPr>
          <a:xfrm xmlns:a="http://schemas.openxmlformats.org/drawingml/2006/main">
            <a:off x="609600" y="327660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8</a:t>
            </a:r>
          </a:p>
        </p:txBody>
      </p:sp>
      <p:sp>
        <p:nvSpPr>
          <p:cNvPr id="10" name="">
            <a:extLst xmlns:a="http://schemas.openxmlformats.org/drawingml/2006/main">
              <a:ext uri="{FF2B5EF4-FFF2-40B4-BE49-F238E27FC236}">
                <a16:creationId xmlns:a16="http://schemas.microsoft.com/office/drawing/2014/main" id="{B25E09BE-61C8-42F9-A4DB-395138BB74AE}"/>
              </a:ext>
            </a:extLst>
          </p:cNvPr>
          <p:cNvSpPr>
            <a:spLocks xmlns:a="http://schemas.openxmlformats.org/drawingml/2006/main" noGrp="1"/>
          </p:cNvSpPr>
          <p:nvPr/>
        </p:nvSpPr>
        <p:spPr>
          <a:xfrm xmlns:a="http://schemas.openxmlformats.org/drawingml/2006/main">
            <a:off x="1476375" y="330517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Actual device protocol and explicit stop conditions</a:t>
            </a:r>
          </a:p>
        </p:txBody>
      </p:sp>
      <p:sp>
        <p:nvSpPr>
          <p:cNvPr id="11" name="">
            <a:extLst xmlns:a="http://schemas.openxmlformats.org/drawingml/2006/main">
              <a:ext uri="{FF2B5EF4-FFF2-40B4-BE49-F238E27FC236}">
                <a16:creationId xmlns:a16="http://schemas.microsoft.com/office/drawing/2014/main" id="{52BB0521-8962-42D3-B7C4-64796F2934B1}"/>
              </a:ext>
            </a:extLst>
          </p:cNvPr>
          <p:cNvSpPr>
            <a:spLocks xmlns:a="http://schemas.openxmlformats.org/drawingml/2006/main" noGrp="1"/>
          </p:cNvSpPr>
          <p:nvPr/>
        </p:nvSpPr>
        <p:spPr>
          <a:xfrm xmlns:a="http://schemas.openxmlformats.org/drawingml/2006/main">
            <a:off x="609600" y="4010025"/>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9</a:t>
            </a:r>
          </a:p>
        </p:txBody>
      </p:sp>
      <p:sp>
        <p:nvSpPr>
          <p:cNvPr id="12" name="">
            <a:extLst xmlns:a="http://schemas.openxmlformats.org/drawingml/2006/main">
              <a:ext uri="{FF2B5EF4-FFF2-40B4-BE49-F238E27FC236}">
                <a16:creationId xmlns:a16="http://schemas.microsoft.com/office/drawing/2014/main" id="{E0E6B790-0573-4C2A-AD5E-388301510BB6}"/>
              </a:ext>
            </a:extLst>
          </p:cNvPr>
          <p:cNvSpPr>
            <a:spLocks xmlns:a="http://schemas.openxmlformats.org/drawingml/2006/main" noGrp="1"/>
          </p:cNvSpPr>
          <p:nvPr/>
        </p:nvSpPr>
        <p:spPr>
          <a:xfrm xmlns:a="http://schemas.openxmlformats.org/drawingml/2006/main">
            <a:off x="1476375" y="4038600"/>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Verified deactivation, drainage and patient teaching</a:t>
            </a:r>
          </a:p>
        </p:txBody>
      </p:sp>
      <p:sp>
        <p:nvSpPr>
          <p:cNvPr id="13" name="">
            <a:extLst xmlns:a="http://schemas.openxmlformats.org/drawingml/2006/main">
              <a:ext uri="{FF2B5EF4-FFF2-40B4-BE49-F238E27FC236}">
                <a16:creationId xmlns:a16="http://schemas.microsoft.com/office/drawing/2014/main" id="{B38468E3-F297-44CD-A7A7-764296F00D65}"/>
              </a:ext>
            </a:extLst>
          </p:cNvPr>
          <p:cNvSpPr>
            <a:spLocks xmlns:a="http://schemas.openxmlformats.org/drawingml/2006/main" noGrp="1"/>
          </p:cNvSpPr>
          <p:nvPr/>
        </p:nvSpPr>
        <p:spPr>
          <a:xfrm xmlns:a="http://schemas.openxmlformats.org/drawingml/2006/main">
            <a:off x="609600" y="4743450"/>
            <a:ext cx="66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47F83"/>
                </a:solidFill>
                <a:latin typeface="Arial"/>
                <a:ea typeface="Arial"/>
                <a:cs typeface="Arial"/>
              </a:defRPr>
            </a:pPr>
            <a:r>
              <a:rPr sz="2850" b="1">
                <a:solidFill>
                  <a:srgbClr val="147F83"/>
                </a:solidFill>
                <a:latin typeface="Arial"/>
                <a:ea typeface="Arial"/>
                <a:cs typeface="Arial"/>
              </a:rPr>
              <a:t>10</a:t>
            </a:r>
          </a:p>
        </p:txBody>
      </p:sp>
      <p:sp>
        <p:nvSpPr>
          <p:cNvPr id="14" name="">
            <a:extLst xmlns:a="http://schemas.openxmlformats.org/drawingml/2006/main">
              <a:ext uri="{FF2B5EF4-FFF2-40B4-BE49-F238E27FC236}">
                <a16:creationId xmlns:a16="http://schemas.microsoft.com/office/drawing/2014/main" id="{FC1C93CE-8E2F-48C2-9831-B8F5357D4175}"/>
              </a:ext>
            </a:extLst>
          </p:cNvPr>
          <p:cNvSpPr>
            <a:spLocks xmlns:a="http://schemas.openxmlformats.org/drawingml/2006/main" noGrp="1"/>
          </p:cNvSpPr>
          <p:nvPr/>
        </p:nvSpPr>
        <p:spPr>
          <a:xfrm xmlns:a="http://schemas.openxmlformats.org/drawingml/2006/main">
            <a:off x="1476375" y="4772025"/>
            <a:ext cx="1009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183343"/>
                </a:solidFill>
                <a:latin typeface="Arial"/>
                <a:ea typeface="Arial"/>
                <a:cs typeface="Arial"/>
              </a:defRPr>
            </a:pPr>
            <a:r>
              <a:rPr sz="2250" b="0">
                <a:solidFill>
                  <a:srgbClr val="183343"/>
                </a:solidFill>
                <a:latin typeface="Arial"/>
                <a:ea typeface="Arial"/>
                <a:cs typeface="Arial"/>
              </a:rPr>
              <a:t>A diagnosis before choosing revision</a:t>
            </a:r>
          </a:p>
        </p:txBody>
      </p:sp>
    </p:spTree>
    <p:extLst>
      <p:ext uri="{BB962C8B-B14F-4D97-AF65-F5344CB8AC3E}">
        <p14:creationId xmlns:p14="http://schemas.microsoft.com/office/powerpoint/2010/main" val="8298889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7412795-C644-4ACB-AA01-1435E029D408}"/>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Discussion</a:t>
            </a:r>
          </a:p>
        </p:txBody>
      </p:sp>
      <p:sp>
        <p:nvSpPr>
          <p:cNvPr id="2" name="">
            <a:extLst xmlns:a="http://schemas.openxmlformats.org/drawingml/2006/main">
              <a:ext uri="{FF2B5EF4-FFF2-40B4-BE49-F238E27FC236}">
                <a16:creationId xmlns:a16="http://schemas.microsoft.com/office/drawing/2014/main" id="{7A6E7BCA-C7E8-47E8-8060-1444FDF74284}"/>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01FA93E-AA55-4928-A994-332E9476B6AD}"/>
              </a:ext>
            </a:extLst>
          </p:cNvPr>
          <p:cNvSpPr>
            <a:spLocks xmlns:a="http://schemas.openxmlformats.org/drawingml/2006/main" noGrp="1"/>
          </p:cNvSpPr>
          <p:nvPr/>
        </p:nvSpPr>
        <p:spPr>
          <a:xfrm xmlns:a="http://schemas.openxmlformats.org/drawingml/2006/main">
            <a:off x="609600" y="6419850"/>
            <a:ext cx="1009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125" b="0">
                <a:solidFill>
                  <a:srgbClr val="526773"/>
                </a:solidFill>
                <a:latin typeface="Arial"/>
                <a:ea typeface="Arial"/>
                <a:cs typeface="Arial"/>
              </a:defRPr>
            </a:pPr>
            <a:r>
              <a:rPr sz="1125" b="0">
                <a:solidFill>
                  <a:srgbClr val="526773"/>
                </a:solidFill>
                <a:latin typeface="Arial"/>
                <a:ea typeface="Arial"/>
                <a:cs typeface="Arial"/>
              </a:rPr>
              <a:t>Discussion</a:t>
            </a:r>
          </a:p>
        </p:txBody>
      </p:sp>
      <p:sp>
        <p:nvSpPr>
          <p:cNvPr id="4" name="">
            <a:extLst xmlns:a="http://schemas.openxmlformats.org/drawingml/2006/main">
              <a:ext uri="{FF2B5EF4-FFF2-40B4-BE49-F238E27FC236}">
                <a16:creationId xmlns:a16="http://schemas.microsoft.com/office/drawing/2014/main" id="{8E0ECEC3-592C-4AA2-8DC8-13650C0B7E26}"/>
              </a:ext>
            </a:extLst>
          </p:cNvPr>
          <p:cNvSpPr>
            <a:spLocks xmlns:a="http://schemas.openxmlformats.org/drawingml/2006/main" noGrp="1"/>
          </p:cNvSpPr>
          <p:nvPr/>
        </p:nvSpPr>
        <p:spPr>
          <a:xfrm xmlns:a="http://schemas.openxmlformats.org/drawingml/2006/main">
            <a:off x="11049000" y="6419850"/>
            <a:ext cx="533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16CF7F53-C6CF-47BF-A0FB-A0A38FEC5373}"/>
              </a:ext>
            </a:extLst>
          </p:cNvPr>
          <p:cNvSpPr>
            <a:spLocks xmlns:a="http://schemas.openxmlformats.org/drawingml/2006/main" noGrp="1"/>
          </p:cNvSpPr>
          <p:nvPr/>
        </p:nvSpPr>
        <p:spPr>
          <a:xfrm xmlns:a="http://schemas.openxmlformats.org/drawingml/2006/main">
            <a:off x="609600" y="20574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0">
                <a:solidFill>
                  <a:srgbClr val="183343"/>
                </a:solidFill>
                <a:latin typeface="Arial"/>
                <a:ea typeface="Arial"/>
                <a:cs typeface="Arial"/>
              </a:defRPr>
            </a:pPr>
            <a:r>
              <a:rPr sz="2700" b="0">
                <a:solidFill>
                  <a:srgbClr val="183343"/>
                </a:solidFill>
                <a:latin typeface="Arial"/>
                <a:ea typeface="Arial"/>
                <a:cs typeface="Arial"/>
              </a:rPr>
              <a:t>Which bladder finding makes you defer an implant?</a:t>
            </a:r>
          </a:p>
        </p:txBody>
      </p:sp>
      <p:sp>
        <p:nvSpPr>
          <p:cNvPr id="6" name="">
            <a:extLst xmlns:a="http://schemas.openxmlformats.org/drawingml/2006/main">
              <a:ext uri="{FF2B5EF4-FFF2-40B4-BE49-F238E27FC236}">
                <a16:creationId xmlns:a16="http://schemas.microsoft.com/office/drawing/2014/main" id="{6CF2D788-E920-47A5-B6B2-DFFDEDCDB98C}"/>
              </a:ext>
            </a:extLst>
          </p:cNvPr>
          <p:cNvSpPr>
            <a:spLocks xmlns:a="http://schemas.openxmlformats.org/drawingml/2006/main" noGrp="1"/>
          </p:cNvSpPr>
          <p:nvPr/>
        </p:nvSpPr>
        <p:spPr>
          <a:xfrm xmlns:a="http://schemas.openxmlformats.org/drawingml/2006/main">
            <a:off x="609600" y="32004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0">
                <a:solidFill>
                  <a:srgbClr val="183343"/>
                </a:solidFill>
                <a:latin typeface="Arial"/>
                <a:ea typeface="Arial"/>
                <a:cs typeface="Arial"/>
              </a:defRPr>
            </a:pPr>
            <a:r>
              <a:rPr sz="2700" b="0">
                <a:solidFill>
                  <a:srgbClr val="183343"/>
                </a:solidFill>
                <a:latin typeface="Arial"/>
                <a:ea typeface="Arial"/>
                <a:cs typeface="Arial"/>
              </a:rPr>
              <a:t>What establishes urethral stability in your practice?</a:t>
            </a:r>
          </a:p>
        </p:txBody>
      </p:sp>
      <p:sp>
        <p:nvSpPr>
          <p:cNvPr id="7" name="">
            <a:extLst xmlns:a="http://schemas.openxmlformats.org/drawingml/2006/main">
              <a:ext uri="{FF2B5EF4-FFF2-40B4-BE49-F238E27FC236}">
                <a16:creationId xmlns:a16="http://schemas.microsoft.com/office/drawing/2014/main" id="{0A91C0DB-5942-486F-9132-7CA85A1EEBE8}"/>
              </a:ext>
            </a:extLst>
          </p:cNvPr>
          <p:cNvSpPr>
            <a:spLocks xmlns:a="http://schemas.openxmlformats.org/drawingml/2006/main" noGrp="1"/>
          </p:cNvSpPr>
          <p:nvPr/>
        </p:nvSpPr>
        <p:spPr>
          <a:xfrm xmlns:a="http://schemas.openxmlformats.org/drawingml/2006/main">
            <a:off x="609600" y="43434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0">
                <a:solidFill>
                  <a:srgbClr val="183343"/>
                </a:solidFill>
                <a:latin typeface="Arial"/>
                <a:ea typeface="Arial"/>
                <a:cs typeface="Arial"/>
              </a:defRPr>
            </a:pPr>
            <a:r>
              <a:rPr sz="2700" b="0">
                <a:solidFill>
                  <a:srgbClr val="183343"/>
                </a:solidFill>
                <a:latin typeface="Arial"/>
                <a:ea typeface="Arial"/>
                <a:cs typeface="Arial"/>
              </a:rPr>
              <a:t>Which preparation or salvage practice needs a trial?</a:t>
            </a:r>
          </a:p>
        </p:txBody>
      </p:sp>
      <p:sp>
        <p:nvSpPr>
          <p:cNvPr id="8" name="">
            <a:extLst xmlns:a="http://schemas.openxmlformats.org/drawingml/2006/main">
              <a:ext uri="{FF2B5EF4-FFF2-40B4-BE49-F238E27FC236}">
                <a16:creationId xmlns:a16="http://schemas.microsoft.com/office/drawing/2014/main" id="{AEB9A0E0-BF6F-44A2-A5AC-C0A0AC9FD656}"/>
              </a:ext>
            </a:extLst>
          </p:cNvPr>
          <p:cNvSpPr>
            <a:spLocks xmlns:a="http://schemas.openxmlformats.org/drawingml/2006/main" noGrp="1"/>
          </p:cNvSpPr>
          <p:nvPr/>
        </p:nvSpPr>
        <p:spPr>
          <a:xfrm xmlns:a="http://schemas.openxmlformats.org/drawingml/2006/main">
            <a:off x="609600" y="1752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0">
                <a:solidFill>
                  <a:srgbClr val="147F83"/>
                </a:solidFill>
                <a:latin typeface="Arial"/>
                <a:ea typeface="Arial"/>
                <a:cs typeface="Arial"/>
              </a:defRPr>
            </a:pPr>
            <a:r>
              <a:rPr sz="1575" b="0">
                <a:solidFill>
                  <a:srgbClr val="147F83"/>
                </a:solidFill>
                <a:latin typeface="Arial"/>
                <a:ea typeface="Arial"/>
                <a:cs typeface="Arial"/>
              </a:rPr>
              <a:t>Five minutes</a:t>
            </a:r>
          </a:p>
        </p:txBody>
      </p:sp>
      <p:sp>
        <p:nvSpPr>
          <p:cNvPr id="9" name="">
            <a:extLst xmlns:a="http://schemas.openxmlformats.org/drawingml/2006/main">
              <a:ext uri="{FF2B5EF4-FFF2-40B4-BE49-F238E27FC236}">
                <a16:creationId xmlns:a16="http://schemas.microsoft.com/office/drawing/2014/main" id="{B87B3FAF-0670-4571-B0D9-199FE0ADC4CF}"/>
              </a:ext>
            </a:extLst>
          </p:cNvPr>
          <p:cNvSpPr>
            <a:spLocks xmlns:a="http://schemas.openxmlformats.org/drawingml/2006/main" noGrp="1"/>
          </p:cNvSpPr>
          <p:nvPr/>
        </p:nvSpPr>
        <p:spPr>
          <a:xfrm xmlns:a="http://schemas.openxmlformats.org/drawingml/2006/main">
            <a:off x="609600" y="575310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26773"/>
                </a:solidFill>
                <a:latin typeface="Arial"/>
                <a:ea typeface="Arial"/>
                <a:cs typeface="Arial"/>
              </a:defRPr>
            </a:pPr>
            <a:r>
              <a:rPr sz="1725" b="0">
                <a:solidFill>
                  <a:srgbClr val="526773"/>
                </a:solidFill>
                <a:latin typeface="Arial"/>
                <a:ea typeface="Arial"/>
                <a:cs typeface="Arial"/>
              </a:rPr>
              <a:t>Which finding would change your plan?</a:t>
            </a:r>
          </a:p>
        </p:txBody>
      </p:sp>
    </p:spTree>
    <p:extLst>
      <p:ext uri="{BB962C8B-B14F-4D97-AF65-F5344CB8AC3E}">
        <p14:creationId xmlns:p14="http://schemas.microsoft.com/office/powerpoint/2010/main" val="85857903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7B87EB9-F409-4BB8-ADD0-2743B269403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Outcome evidence: device and endpoint</a:t>
            </a:r>
          </a:p>
        </p:txBody>
      </p:sp>
      <p:sp>
        <p:nvSpPr>
          <p:cNvPr id="2" name="">
            <a:extLst xmlns:a="http://schemas.openxmlformats.org/drawingml/2006/main">
              <a:ext uri="{FF2B5EF4-FFF2-40B4-BE49-F238E27FC236}">
                <a16:creationId xmlns:a16="http://schemas.microsoft.com/office/drawing/2014/main" id="{AFE1A733-7D62-4100-BF2A-0CB04CA679CF}"/>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F774A2A-FEB8-4C89-9B4D-EABDF254F504}"/>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Backup: outside the timed talk</a:t>
            </a:r>
          </a:p>
        </p:txBody>
      </p:sp>
      <p:graphicFrame>
        <p:nvGraphicFramePr>
          <p:cNvPr id="8" name=""/>
          <p:cNvGraphicFramePr/>
          <p:nvPr/>
        </p:nvGraphicFramePr>
        <p:xfrm>
          <a:off xmlns:a="http://schemas.openxmlformats.org/drawingml/2006/main" x="609600" y="1790700"/>
          <a:ext xmlns:a="http://schemas.openxmlformats.org/drawingml/2006/main" cx="10972800" cy="4000500"/>
        </p:xfrm>
        <a:graphic xmlns:a="http://schemas.openxmlformats.org/drawingml/2006/main">
          <a:graphicData uri="http://schemas.openxmlformats.org/drawingml/2006/table">
            <a:tbl>
              <a:tblPr/>
              <a:tblGrid>
                <a:gridCol w="3524250"/>
                <a:gridCol w="3714750"/>
                <a:gridCol w="3733800"/>
              </a:tblGrid>
              <a:tr h="552450">
                <a:tc>
                  <a:txBody>
                    <a:bodyPr/>
                    <a:lstStyle/>
                    <a:p>
                      <a:r>
                        <a:rPr sz="1725" b="1">
                          <a:solidFill>
                            <a:srgbClr val="FFFFFF"/>
                          </a:solidFill>
                          <a:latin typeface="Arial"/>
                          <a:ea typeface="Arial"/>
                          <a:cs typeface="Arial"/>
                        </a:rPr>
                        <a:t>Study and population</a:t>
                      </a:r>
                    </a:p>
                  </a:txBody>
                  <a:tcPr marL="133350" marR="133350" marT="95250" marB="76200" anchor="ctr">
                    <a:solidFill>
                      <a:srgbClr val="183343"/>
                    </a:solidFill>
                  </a:tcPr>
                </a:tc>
                <a:tc>
                  <a:txBody>
                    <a:bodyPr/>
                    <a:lstStyle/>
                    <a:p>
                      <a:r>
                        <a:rPr sz="1725" b="1">
                          <a:solidFill>
                            <a:srgbClr val="FFFFFF"/>
                          </a:solidFill>
                          <a:latin typeface="Arial"/>
                          <a:ea typeface="Arial"/>
                          <a:cs typeface="Arial"/>
                        </a:rPr>
                        <a:t>Endpoint and result</a:t>
                      </a:r>
                    </a:p>
                  </a:txBody>
                  <a:tcPr marL="133350" marR="133350" marT="95250" marB="76200" anchor="ctr">
                    <a:solidFill>
                      <a:srgbClr val="183343"/>
                    </a:solidFill>
                  </a:tcPr>
                </a:tc>
                <a:tc>
                  <a:txBody>
                    <a:bodyPr/>
                    <a:lstStyle/>
                    <a:p>
                      <a:r>
                        <a:rPr sz="1725" b="1">
                          <a:solidFill>
                            <a:srgbClr val="FFFFFF"/>
                          </a:solidFill>
                          <a:latin typeface="Arial"/>
                          <a:ea typeface="Arial"/>
                          <a:cs typeface="Arial"/>
                        </a:rPr>
                        <a:t>Limits</a:t>
                      </a:r>
                    </a:p>
                  </a:txBody>
                  <a:tcPr marL="133350" marR="133350" marT="95250" marB="76200" anchor="ctr">
                    <a:solidFill>
                      <a:srgbClr val="183343"/>
                    </a:solidFill>
                  </a:tcPr>
                </a:tc>
              </a:tr>
              <a:tr h="1149350">
                <a:tc>
                  <a:txBody>
                    <a:bodyPr/>
                    <a:lstStyle/>
                    <a:p>
                      <a:r>
                        <a:rPr sz="1725" b="0">
                          <a:solidFill>
                            <a:srgbClr val="183343"/>
                          </a:solidFill>
                          <a:latin typeface="Arial"/>
                          <a:ea typeface="Arial"/>
                          <a:cs typeface="Arial"/>
                        </a:rPr>
                        <a:t>AUSCO 2026: AMS 800</a:t>
                      </a:r>
                    </a:p>
                    <a:p>
                      <a:r>
                        <a:rPr sz="1725" b="0">
                          <a:solidFill>
                            <a:srgbClr val="183343"/>
                          </a:solidFill>
                          <a:latin typeface="Arial"/>
                          <a:ea typeface="Arial"/>
                          <a:cs typeface="Arial"/>
                        </a:rPr>
                        <a:t>115 primary implants, 25 irradiated</a:t>
                      </a:r>
                    </a:p>
                  </a:txBody>
                  <a:tcPr marL="133350" marR="133350" marT="95250" marB="76200" anchor="ctr">
                    <a:solidFill>
                      <a:srgbClr val="EEF4F5"/>
                    </a:solidFill>
                  </a:tcPr>
                </a:tc>
                <a:tc>
                  <a:txBody>
                    <a:bodyPr/>
                    <a:lstStyle/>
                    <a:p>
                      <a:r>
                        <a:rPr sz="1725" b="0">
                          <a:solidFill>
                            <a:srgbClr val="183343"/>
                          </a:solidFill>
                          <a:latin typeface="Arial"/>
                          <a:ea typeface="Arial"/>
                          <a:cs typeface="Arial"/>
                        </a:rPr>
                        <a:t>12 months after activation</a:t>
                      </a:r>
                    </a:p>
                    <a:p>
                      <a:r>
                        <a:rPr sz="1725" b="0">
                          <a:solidFill>
                            <a:srgbClr val="183343"/>
                          </a:solidFill>
                          <a:latin typeface="Arial"/>
                          <a:ea typeface="Arial"/>
                          <a:cs typeface="Arial"/>
                        </a:rPr>
                        <a:t>91/97 ≥50% pad-weight reduction</a:t>
                      </a:r>
                    </a:p>
                    <a:p>
                      <a:r>
                        <a:rPr sz="1725" b="0">
                          <a:solidFill>
                            <a:srgbClr val="183343"/>
                          </a:solidFill>
                          <a:latin typeface="Arial"/>
                          <a:ea typeface="Arial"/>
                          <a:cs typeface="Arial"/>
                        </a:rPr>
                        <a:t>61/101 zero pads</a:t>
                      </a:r>
                    </a:p>
                  </a:txBody>
                  <a:tcPr marL="133350" marR="133350" marT="95250" marB="76200" anchor="ctr">
                    <a:solidFill>
                      <a:srgbClr val="EEF4F5"/>
                    </a:solidFill>
                  </a:tcPr>
                </a:tc>
                <a:tc>
                  <a:txBody>
                    <a:bodyPr/>
                    <a:lstStyle/>
                    <a:p>
                      <a:r>
                        <a:rPr sz="1725" b="0">
                          <a:solidFill>
                            <a:srgbClr val="183343"/>
                          </a:solidFill>
                          <a:latin typeface="Arial"/>
                          <a:ea typeface="Arial"/>
                          <a:cs typeface="Arial"/>
                        </a:rPr>
                        <a:t>Prospective single-arm, funded by manufacturer. Missing data, one year, expert centres</a:t>
                      </a:r>
                    </a:p>
                  </a:txBody>
                  <a:tcPr marL="133350" marR="133350" marT="95250" marB="76200" anchor="ctr">
                    <a:solidFill>
                      <a:srgbClr val="EEF4F5"/>
                    </a:solidFill>
                  </a:tcPr>
                </a:tc>
              </a:tr>
              <a:tr h="1149350">
                <a:tc>
                  <a:txBody>
                    <a:bodyPr/>
                    <a:lstStyle/>
                    <a:p>
                      <a:r>
                        <a:rPr sz="1725" b="0">
                          <a:solidFill>
                            <a:srgbClr val="183343"/>
                          </a:solidFill>
                          <a:latin typeface="Arial"/>
                          <a:ea typeface="Arial"/>
                          <a:cs typeface="Arial"/>
                        </a:rPr>
                        <a:t>Linder 2015: AMS 800</a:t>
                      </a:r>
                    </a:p>
                    <a:p>
                      <a:r>
                        <a:rPr sz="1725" b="0">
                          <a:solidFill>
                            <a:srgbClr val="183343"/>
                          </a:solidFill>
                          <a:latin typeface="Arial"/>
                          <a:ea typeface="Arial"/>
                          <a:cs typeface="Arial"/>
                        </a:rPr>
                        <a:t>1,082 primary implants, 27% irradiated</a:t>
                      </a:r>
                    </a:p>
                  </a:txBody>
                  <a:tcPr marL="133350" marR="133350" marT="95250" marB="76200" anchor="ctr">
                    <a:solidFill>
                      <a:srgbClr val="FFFFFF"/>
                    </a:solidFill>
                  </a:tcPr>
                </a:tc>
                <a:tc>
                  <a:txBody>
                    <a:bodyPr/>
                    <a:lstStyle/>
                    <a:p>
                      <a:r>
                        <a:rPr sz="1725" b="0">
                          <a:solidFill>
                            <a:srgbClr val="183343"/>
                          </a:solidFill>
                          <a:latin typeface="Arial"/>
                          <a:ea typeface="Arial"/>
                          <a:cs typeface="Arial"/>
                        </a:rPr>
                        <a:t>Freedom from any secondary surgery</a:t>
                      </a:r>
                    </a:p>
                    <a:p>
                      <a:r>
                        <a:rPr sz="1725" b="0">
                          <a:solidFill>
                            <a:srgbClr val="183343"/>
                          </a:solidFill>
                          <a:latin typeface="Arial"/>
                          <a:ea typeface="Arial"/>
                          <a:cs typeface="Arial"/>
                        </a:rPr>
                        <a:t>KM 74% at five years</a:t>
                      </a:r>
                    </a:p>
                    <a:p>
                      <a:r>
                        <a:rPr sz="1725" b="0">
                          <a:solidFill>
                            <a:srgbClr val="183343"/>
                          </a:solidFill>
                          <a:latin typeface="Arial"/>
                          <a:ea typeface="Arial"/>
                          <a:cs typeface="Arial"/>
                        </a:rPr>
                        <a:t>57% at ten years</a:t>
                      </a:r>
                    </a:p>
                  </a:txBody>
                  <a:tcPr marL="133350" marR="133350" marT="95250" marB="76200" anchor="ctr">
                    <a:solidFill>
                      <a:srgbClr val="FFFFFF"/>
                    </a:solidFill>
                  </a:tcPr>
                </a:tc>
                <a:tc>
                  <a:txBody>
                    <a:bodyPr/>
                    <a:lstStyle/>
                    <a:p>
                      <a:r>
                        <a:rPr sz="1725" b="0">
                          <a:solidFill>
                            <a:srgbClr val="183343"/>
                          </a:solidFill>
                          <a:latin typeface="Arial"/>
                          <a:ea typeface="Arial"/>
                          <a:cs typeface="Arial"/>
                        </a:rPr>
                        <a:t>Historical specialist cohort. Continence and revision-free survival differ</a:t>
                      </a:r>
                    </a:p>
                  </a:txBody>
                  <a:tcPr marL="133350" marR="133350" marT="95250" marB="76200" anchor="ctr">
                    <a:solidFill>
                      <a:srgbClr val="FFFFFF"/>
                    </a:solidFill>
                  </a:tcPr>
                </a:tc>
              </a:tr>
              <a:tr h="1149350">
                <a:tc>
                  <a:txBody>
                    <a:bodyPr/>
                    <a:lstStyle/>
                    <a:p>
                      <a:r>
                        <a:rPr sz="1725" b="0">
                          <a:solidFill>
                            <a:srgbClr val="183343"/>
                          </a:solidFill>
                          <a:latin typeface="Arial"/>
                          <a:ea typeface="Arial"/>
                          <a:cs typeface="Arial"/>
                        </a:rPr>
                        <a:t>Wilson 2024: ContiClassic</a:t>
                      </a:r>
                    </a:p>
                    <a:p>
                      <a:r>
                        <a:rPr sz="1725" b="0">
                          <a:solidFill>
                            <a:srgbClr val="183343"/>
                          </a:solidFill>
                          <a:latin typeface="Arial"/>
                          <a:ea typeface="Arial"/>
                          <a:cs typeface="Arial"/>
                        </a:rPr>
                        <a:t>116 recipients, mixed indications</a:t>
                      </a:r>
                    </a:p>
                  </a:txBody>
                  <a:tcPr marL="133350" marR="133350" marT="95250" marB="76200" anchor="ctr">
                    <a:solidFill>
                      <a:srgbClr val="EEF4F5"/>
                    </a:solidFill>
                  </a:tcPr>
                </a:tc>
                <a:tc>
                  <a:txBody>
                    <a:bodyPr/>
                    <a:lstStyle/>
                    <a:p>
                      <a:r>
                        <a:rPr sz="1725" b="0">
                          <a:solidFill>
                            <a:srgbClr val="183343"/>
                          </a:solidFill>
                          <a:latin typeface="Arial"/>
                          <a:ea typeface="Arial"/>
                          <a:cs typeface="Arial"/>
                        </a:rPr>
                        <a:t>Eight revisions</a:t>
                      </a:r>
                    </a:p>
                    <a:p>
                      <a:r>
                        <a:rPr sz="1725" b="0">
                          <a:solidFill>
                            <a:srgbClr val="183343"/>
                          </a:solidFill>
                          <a:latin typeface="Arial"/>
                          <a:ea typeface="Arial"/>
                          <a:cs typeface="Arial"/>
                        </a:rPr>
                        <a:t>12-month KM device survival 93.2%</a:t>
                      </a:r>
                    </a:p>
                  </a:txBody>
                  <a:tcPr marL="133350" marR="133350" marT="95250" marB="76200" anchor="ctr">
                    <a:solidFill>
                      <a:srgbClr val="EEF4F5"/>
                    </a:solidFill>
                  </a:tcPr>
                </a:tc>
                <a:tc>
                  <a:txBody>
                    <a:bodyPr/>
                    <a:lstStyle/>
                    <a:p>
                      <a:r>
                        <a:rPr sz="1725" b="0">
                          <a:solidFill>
                            <a:srgbClr val="183343"/>
                          </a:solidFill>
                          <a:latin typeface="Arial"/>
                          <a:ea typeface="Arial"/>
                          <a:cs typeface="Arial"/>
                        </a:rPr>
                        <a:t>Abstract-level. Continence, revision mix and radiation strata unverified</a:t>
                      </a: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22324568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B292EE4-D953-4A5D-A717-A47803734E57}"/>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Comparative and preparation evidence</a:t>
            </a:r>
          </a:p>
        </p:txBody>
      </p:sp>
      <p:sp>
        <p:nvSpPr>
          <p:cNvPr id="2" name="">
            <a:extLst xmlns:a="http://schemas.openxmlformats.org/drawingml/2006/main">
              <a:ext uri="{FF2B5EF4-FFF2-40B4-BE49-F238E27FC236}">
                <a16:creationId xmlns:a16="http://schemas.microsoft.com/office/drawing/2014/main" id="{FC57CA1C-ACC7-4656-8FDC-A6B6A9B7235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CD1C75C-F575-482F-86B9-127B18BD961E}"/>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Backup: outside the timed talk</a:t>
            </a:r>
          </a:p>
        </p:txBody>
      </p:sp>
      <p:graphicFrame>
        <p:nvGraphicFramePr>
          <p:cNvPr id="8" name=""/>
          <p:cNvGraphicFramePr/>
          <p:nvPr/>
        </p:nvGraphicFramePr>
        <p:xfrm>
          <a:off xmlns:a="http://schemas.openxmlformats.org/drawingml/2006/main" x="609600" y="1790700"/>
          <a:ext xmlns:a="http://schemas.openxmlformats.org/drawingml/2006/main" cx="10972800" cy="4000500"/>
        </p:xfrm>
        <a:graphic xmlns:a="http://schemas.openxmlformats.org/drawingml/2006/main">
          <a:graphicData uri="http://schemas.openxmlformats.org/drawingml/2006/table">
            <a:tbl>
              <a:tblPr/>
              <a:tblGrid>
                <a:gridCol w="3048000"/>
                <a:gridCol w="4000500"/>
                <a:gridCol w="3924300"/>
              </a:tblGrid>
              <a:tr h="552450">
                <a:tc>
                  <a:txBody>
                    <a:bodyPr/>
                    <a:lstStyle/>
                    <a:p>
                      <a:r>
                        <a:rPr sz="1800" b="1">
                          <a:solidFill>
                            <a:srgbClr val="FFFFFF"/>
                          </a:solidFill>
                          <a:latin typeface="Arial"/>
                          <a:ea typeface="Arial"/>
                          <a:cs typeface="Arial"/>
                        </a:rPr>
                        <a:t>Study</a:t>
                      </a:r>
                    </a:p>
                  </a:txBody>
                  <a:tcPr marL="133350" marR="133350" marT="95250" marB="76200" anchor="ctr">
                    <a:solidFill>
                      <a:srgbClr val="183343"/>
                    </a:solidFill>
                  </a:tcPr>
                </a:tc>
                <a:tc>
                  <a:txBody>
                    <a:bodyPr/>
                    <a:lstStyle/>
                    <a:p>
                      <a:r>
                        <a:rPr sz="1800" b="1">
                          <a:solidFill>
                            <a:srgbClr val="FFFFFF"/>
                          </a:solidFill>
                          <a:latin typeface="Arial"/>
                          <a:ea typeface="Arial"/>
                          <a:cs typeface="Arial"/>
                        </a:rPr>
                        <a:t>Finding</a:t>
                      </a:r>
                    </a:p>
                  </a:txBody>
                  <a:tcPr marL="133350" marR="133350" marT="95250" marB="76200" anchor="ctr">
                    <a:solidFill>
                      <a:srgbClr val="183343"/>
                    </a:solidFill>
                  </a:tcPr>
                </a:tc>
                <a:tc>
                  <a:txBody>
                    <a:bodyPr/>
                    <a:lstStyle/>
                    <a:p>
                      <a:r>
                        <a:rPr sz="1800" b="1">
                          <a:solidFill>
                            <a:srgbClr val="FFFFFF"/>
                          </a:solidFill>
                          <a:latin typeface="Arial"/>
                          <a:ea typeface="Arial"/>
                          <a:cs typeface="Arial"/>
                        </a:rPr>
                        <a:t>Limits</a:t>
                      </a:r>
                    </a:p>
                  </a:txBody>
                  <a:tcPr marL="133350" marR="133350" marT="95250" marB="76200" anchor="ctr">
                    <a:solidFill>
                      <a:srgbClr val="183343"/>
                    </a:solidFill>
                  </a:tcPr>
                </a:tc>
              </a:tr>
              <a:tr h="1149350">
                <a:tc>
                  <a:txBody>
                    <a:bodyPr/>
                    <a:lstStyle/>
                    <a:p>
                      <a:r>
                        <a:rPr sz="1800" b="0">
                          <a:solidFill>
                            <a:srgbClr val="183343"/>
                          </a:solidFill>
                          <a:latin typeface="Arial"/>
                          <a:ea typeface="Arial"/>
                          <a:cs typeface="Arial"/>
                        </a:rPr>
                        <a:t>MASTER 2022</a:t>
                      </a:r>
                    </a:p>
                    <a:p>
                      <a:r>
                        <a:rPr sz="1800" b="0">
                          <a:solidFill>
                            <a:srgbClr val="183343"/>
                          </a:solidFill>
                          <a:latin typeface="Arial"/>
                          <a:ea typeface="Arial"/>
                          <a:cs typeface="Arial"/>
                        </a:rPr>
                        <a:t>380 randomised men</a:t>
                      </a:r>
                    </a:p>
                  </a:txBody>
                  <a:tcPr marL="133350" marR="133350" marT="95250" marB="76200" anchor="ctr">
                    <a:solidFill>
                      <a:srgbClr val="EEF4F5"/>
                    </a:solidFill>
                  </a:tcPr>
                </a:tc>
                <a:tc>
                  <a:txBody>
                    <a:bodyPr/>
                    <a:lstStyle/>
                    <a:p>
                      <a:r>
                        <a:rPr sz="1800" b="0">
                          <a:solidFill>
                            <a:srgbClr val="183343"/>
                          </a:solidFill>
                          <a:latin typeface="Arial"/>
                          <a:ea typeface="Arial"/>
                          <a:cs typeface="Arial"/>
                        </a:rPr>
                        <a:t>Sling met prespecified non-inferiority criterion. Both groups improved</a:t>
                      </a:r>
                    </a:p>
                  </a:txBody>
                  <a:tcPr marL="133350" marR="133350" marT="95250" marB="76200" anchor="ctr">
                    <a:solidFill>
                      <a:srgbClr val="EEF4F5"/>
                    </a:solidFill>
                  </a:tcPr>
                </a:tc>
                <a:tc>
                  <a:txBody>
                    <a:bodyPr/>
                    <a:lstStyle/>
                    <a:p>
                      <a:r>
                        <a:rPr sz="1800" b="0">
                          <a:solidFill>
                            <a:srgbClr val="183343"/>
                          </a:solidFill>
                          <a:latin typeface="Arial"/>
                          <a:ea typeface="Arial"/>
                          <a:cs typeface="Arial"/>
                        </a:rPr>
                        <a:t>Selected men after prostate surgery. Previous sling/AUS and unresolved narrowing excluded</a:t>
                      </a:r>
                    </a:p>
                  </a:txBody>
                  <a:tcPr marL="133350" marR="133350" marT="95250" marB="76200" anchor="ctr">
                    <a:solidFill>
                      <a:srgbClr val="EEF4F5"/>
                    </a:solidFill>
                  </a:tcPr>
                </a:tc>
              </a:tr>
              <a:tr h="1149350">
                <a:tc>
                  <a:txBody>
                    <a:bodyPr/>
                    <a:lstStyle/>
                    <a:p>
                      <a:r>
                        <a:rPr sz="1800" b="0">
                          <a:solidFill>
                            <a:srgbClr val="183343"/>
                          </a:solidFill>
                          <a:latin typeface="Arial"/>
                          <a:ea typeface="Arial"/>
                          <a:cs typeface="Arial"/>
                        </a:rPr>
                        <a:t>Yeung 2013</a:t>
                      </a:r>
                    </a:p>
                    <a:p>
                      <a:r>
                        <a:rPr sz="1800" b="0">
                          <a:solidFill>
                            <a:srgbClr val="183343"/>
                          </a:solidFill>
                          <a:latin typeface="Arial"/>
                          <a:ea typeface="Arial"/>
                          <a:cs typeface="Arial"/>
                        </a:rPr>
                        <a:t>100 initial GU prosthetic procedures</a:t>
                      </a:r>
                    </a:p>
                  </a:txBody>
                  <a:tcPr marL="133350" marR="133350" marT="95250" marB="76200" anchor="ctr">
                    <a:solidFill>
                      <a:srgbClr val="FFFFFF"/>
                    </a:solidFill>
                  </a:tcPr>
                </a:tc>
                <a:tc>
                  <a:txBody>
                    <a:bodyPr/>
                    <a:lstStyle/>
                    <a:p>
                      <a:r>
                        <a:rPr sz="1800" b="0">
                          <a:solidFill>
                            <a:srgbClr val="183343"/>
                          </a:solidFill>
                          <a:latin typeface="Arial"/>
                          <a:ea typeface="Arial"/>
                          <a:cs typeface="Arial"/>
                        </a:rPr>
                        <a:t>Post-preparation skin culture positivity</a:t>
                      </a:r>
                    </a:p>
                    <a:p>
                      <a:r>
                        <a:rPr sz="1800" b="0">
                          <a:solidFill>
                            <a:srgbClr val="183343"/>
                          </a:solidFill>
                          <a:latin typeface="Arial"/>
                          <a:ea typeface="Arial"/>
                          <a:cs typeface="Arial"/>
                        </a:rPr>
                        <a:t>8% versus 32%</a:t>
                      </a:r>
                    </a:p>
                  </a:txBody>
                  <a:tcPr marL="133350" marR="133350" marT="95250" marB="76200" anchor="ctr">
                    <a:solidFill>
                      <a:srgbClr val="FFFFFF"/>
                    </a:solidFill>
                  </a:tcPr>
                </a:tc>
                <a:tc>
                  <a:txBody>
                    <a:bodyPr/>
                    <a:lstStyle/>
                    <a:p>
                      <a:r>
                        <a:rPr sz="1800" b="0">
                          <a:solidFill>
                            <a:srgbClr val="183343"/>
                          </a:solidFill>
                          <a:latin typeface="Arial"/>
                          <a:ea typeface="Arial"/>
                          <a:cs typeface="Arial"/>
                        </a:rPr>
                        <a:t>Surrogate outcome. Mixed devices. No AUS infection or duration conclusion</a:t>
                      </a:r>
                    </a:p>
                  </a:txBody>
                  <a:tcPr marL="133350" marR="133350" marT="95250" marB="76200" anchor="ctr">
                    <a:solidFill>
                      <a:srgbClr val="FFFFFF"/>
                    </a:solidFill>
                  </a:tcPr>
                </a:tc>
              </a:tr>
              <a:tr h="1149350">
                <a:tc>
                  <a:txBody>
                    <a:bodyPr/>
                    <a:lstStyle/>
                    <a:p>
                      <a:r>
                        <a:rPr sz="1800" b="0">
                          <a:solidFill>
                            <a:srgbClr val="183343"/>
                          </a:solidFill>
                          <a:latin typeface="Arial"/>
                          <a:ea typeface="Arial"/>
                          <a:cs typeface="Arial"/>
                        </a:rPr>
                        <a:t>Bourgi 2024</a:t>
                      </a:r>
                    </a:p>
                    <a:p>
                      <a:r>
                        <a:rPr sz="1800" b="0">
                          <a:solidFill>
                            <a:srgbClr val="183343"/>
                          </a:solidFill>
                          <a:latin typeface="Arial"/>
                          <a:ea typeface="Arial"/>
                          <a:cs typeface="Arial"/>
                        </a:rPr>
                        <a:t>156 AMS 800 procedures</a:t>
                      </a:r>
                    </a:p>
                  </a:txBody>
                  <a:tcPr marL="133350" marR="133350" marT="95250" marB="76200" anchor="ctr">
                    <a:solidFill>
                      <a:srgbClr val="EEF4F5"/>
                    </a:solidFill>
                  </a:tcPr>
                </a:tc>
                <a:tc>
                  <a:txBody>
                    <a:bodyPr/>
                    <a:lstStyle/>
                    <a:p>
                      <a:r>
                        <a:rPr sz="1800" b="0">
                          <a:solidFill>
                            <a:srgbClr val="183343"/>
                          </a:solidFill>
                          <a:latin typeface="Arial"/>
                          <a:ea typeface="Arial"/>
                          <a:cs typeface="Arial"/>
                        </a:rPr>
                        <a:t>No demonstrated advantage for intensified povidone protocol</a:t>
                      </a:r>
                    </a:p>
                  </a:txBody>
                  <a:tcPr marL="133350" marR="133350" marT="95250" marB="76200" anchor="ctr">
                    <a:solidFill>
                      <a:srgbClr val="EEF4F5"/>
                    </a:solidFill>
                  </a:tcPr>
                </a:tc>
                <a:tc>
                  <a:txBody>
                    <a:bodyPr/>
                    <a:lstStyle/>
                    <a:p>
                      <a:r>
                        <a:rPr sz="1800" b="0">
                          <a:solidFill>
                            <a:srgbClr val="183343"/>
                          </a:solidFill>
                          <a:latin typeface="Arial"/>
                          <a:ea typeface="Arial"/>
                          <a:cs typeface="Arial"/>
                        </a:rPr>
                        <a:t>Sequential eras, reporting inconsistencies and inadequate follow-up detail</a:t>
                      </a:r>
                    </a:p>
                  </a:txBody>
                  <a:tcPr marL="133350" marR="133350" marT="95250" marB="76200" anchor="ctr">
                    <a:solidFill>
                      <a:srgbClr val="EEF4F5"/>
                    </a:solidFill>
                  </a:tcPr>
                </a:tc>
              </a:tr>
            </a:tbl>
          </a:graphicData>
        </a:graphic>
      </p:graphicFrame>
    </p:spTree>
    <p:extLst>
      <p:ext uri="{BB962C8B-B14F-4D97-AF65-F5344CB8AC3E}">
        <p14:creationId xmlns:p14="http://schemas.microsoft.com/office/powerpoint/2010/main" val="196374594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E55A61-EBAB-471E-AB24-ABEC95DAB788}"/>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Evidence gaps</a:t>
            </a:r>
          </a:p>
        </p:txBody>
      </p:sp>
      <p:sp>
        <p:nvSpPr>
          <p:cNvPr id="2" name="">
            <a:extLst xmlns:a="http://schemas.openxmlformats.org/drawingml/2006/main">
              <a:ext uri="{FF2B5EF4-FFF2-40B4-BE49-F238E27FC236}">
                <a16:creationId xmlns:a16="http://schemas.microsoft.com/office/drawing/2014/main" id="{1F9202C7-5807-41F4-A549-E502BBD13647}"/>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C0A08D1-E3B8-47F7-A765-C5D5C1FE683F}"/>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Backup: outside the timed talk</a:t>
            </a:r>
          </a:p>
        </p:txBody>
      </p:sp>
      <p:sp>
        <p:nvSpPr>
          <p:cNvPr id="4" name="">
            <a:extLst xmlns:a="http://schemas.openxmlformats.org/drawingml/2006/main">
              <a:ext uri="{FF2B5EF4-FFF2-40B4-BE49-F238E27FC236}">
                <a16:creationId xmlns:a16="http://schemas.microsoft.com/office/drawing/2014/main" id="{F5C04316-4BDA-4293-836D-8C50B5490756}"/>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Routine versus selective UDS and meaningful outcomes</a:t>
            </a:r>
          </a:p>
        </p:txBody>
      </p:sp>
      <p:sp>
        <p:nvSpPr>
          <p:cNvPr id="5" name="">
            <a:extLst xmlns:a="http://schemas.openxmlformats.org/drawingml/2006/main">
              <a:ext uri="{FF2B5EF4-FFF2-40B4-BE49-F238E27FC236}">
                <a16:creationId xmlns:a16="http://schemas.microsoft.com/office/drawing/2014/main" id="{BD3C9233-29CF-42C5-B193-A962C800F86B}"/>
              </a:ext>
            </a:extLst>
          </p:cNvPr>
          <p:cNvSpPr>
            <a:spLocks xmlns:a="http://schemas.openxmlformats.org/drawingml/2006/main" noGrp="1"/>
          </p:cNvSpPr>
          <p:nvPr/>
        </p:nvSpPr>
        <p:spPr>
          <a:xfrm xmlns:a="http://schemas.openxmlformats.org/drawingml/2006/main">
            <a:off x="609600" y="23336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Functional eligibility in DU or chronic retention</a:t>
            </a:r>
          </a:p>
        </p:txBody>
      </p:sp>
      <p:sp>
        <p:nvSpPr>
          <p:cNvPr id="6" name="">
            <a:extLst xmlns:a="http://schemas.openxmlformats.org/drawingml/2006/main">
              <a:ext uri="{FF2B5EF4-FFF2-40B4-BE49-F238E27FC236}">
                <a16:creationId xmlns:a16="http://schemas.microsoft.com/office/drawing/2014/main" id="{6BD7F979-F832-4427-AC70-A6C454B5FA84}"/>
              </a:ext>
            </a:extLst>
          </p:cNvPr>
          <p:cNvSpPr>
            <a:spLocks xmlns:a="http://schemas.openxmlformats.org/drawingml/2006/main" noGrp="1"/>
          </p:cNvSpPr>
          <p:nvPr/>
        </p:nvSpPr>
        <p:spPr>
          <a:xfrm xmlns:a="http://schemas.openxmlformats.org/drawingml/2006/main">
            <a:off x="609600" y="28765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Staging intervals after different reconstructions</a:t>
            </a:r>
          </a:p>
        </p:txBody>
      </p:sp>
      <p:sp>
        <p:nvSpPr>
          <p:cNvPr id="7" name="">
            <a:extLst xmlns:a="http://schemas.openxmlformats.org/drawingml/2006/main">
              <a:ext uri="{FF2B5EF4-FFF2-40B4-BE49-F238E27FC236}">
                <a16:creationId xmlns:a16="http://schemas.microsoft.com/office/drawing/2014/main" id="{6C29E12A-02B4-454F-8A72-8F5168F7F655}"/>
              </a:ext>
            </a:extLst>
          </p:cNvPr>
          <p:cNvSpPr>
            <a:spLocks xmlns:a="http://schemas.openxmlformats.org/drawingml/2006/main" noGrp="1"/>
          </p:cNvSpPr>
          <p:nvPr/>
        </p:nvSpPr>
        <p:spPr>
          <a:xfrm xmlns:a="http://schemas.openxmlformats.org/drawingml/2006/main">
            <a:off x="609600" y="34194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Comparative protection from salvage strategies</a:t>
            </a:r>
          </a:p>
        </p:txBody>
      </p:sp>
      <p:sp>
        <p:nvSpPr>
          <p:cNvPr id="8" name="">
            <a:extLst xmlns:a="http://schemas.openxmlformats.org/drawingml/2006/main">
              <a:ext uri="{FF2B5EF4-FFF2-40B4-BE49-F238E27FC236}">
                <a16:creationId xmlns:a16="http://schemas.microsoft.com/office/drawing/2014/main" id="{BC4A6CBD-0ED2-455E-AB33-E6AC53D6A806}"/>
              </a:ext>
            </a:extLst>
          </p:cNvPr>
          <p:cNvSpPr>
            <a:spLocks xmlns:a="http://schemas.openxmlformats.org/drawingml/2006/main" noGrp="1"/>
          </p:cNvSpPr>
          <p:nvPr/>
        </p:nvSpPr>
        <p:spPr>
          <a:xfrm xmlns:a="http://schemas.openxmlformats.org/drawingml/2006/main">
            <a:off x="609600" y="39624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Preparation, irrigation and prolonged prophylaxis</a:t>
            </a:r>
          </a:p>
        </p:txBody>
      </p:sp>
      <p:sp>
        <p:nvSpPr>
          <p:cNvPr id="9" name="">
            <a:extLst xmlns:a="http://schemas.openxmlformats.org/drawingml/2006/main">
              <a:ext uri="{FF2B5EF4-FFF2-40B4-BE49-F238E27FC236}">
                <a16:creationId xmlns:a16="http://schemas.microsoft.com/office/drawing/2014/main" id="{F184D366-4861-4969-B503-4F89651D4113}"/>
              </a:ext>
            </a:extLst>
          </p:cNvPr>
          <p:cNvSpPr>
            <a:spLocks xmlns:a="http://schemas.openxmlformats.org/drawingml/2006/main" noGrp="1"/>
          </p:cNvSpPr>
          <p:nvPr/>
        </p:nvSpPr>
        <p:spPr>
          <a:xfrm xmlns:a="http://schemas.openxmlformats.org/drawingml/2006/main">
            <a:off x="609600" y="45053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Independent long-term ContiClassic outcomes</a:t>
            </a:r>
          </a:p>
        </p:txBody>
      </p:sp>
      <p:sp>
        <p:nvSpPr>
          <p:cNvPr id="10" name="">
            <a:extLst xmlns:a="http://schemas.openxmlformats.org/drawingml/2006/main">
              <a:ext uri="{FF2B5EF4-FFF2-40B4-BE49-F238E27FC236}">
                <a16:creationId xmlns:a16="http://schemas.microsoft.com/office/drawing/2014/main" id="{E6543096-FA5D-4F7E-B1E7-E9FA744A2570}"/>
              </a:ext>
            </a:extLst>
          </p:cNvPr>
          <p:cNvSpPr>
            <a:spLocks xmlns:a="http://schemas.openxmlformats.org/drawingml/2006/main" noGrp="1"/>
          </p:cNvSpPr>
          <p:nvPr/>
        </p:nvSpPr>
        <p:spPr>
          <a:xfrm xmlns:a="http://schemas.openxmlformats.org/drawingml/2006/main">
            <a:off x="609600" y="50482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183343"/>
                </a:solidFill>
                <a:latin typeface="Arial"/>
                <a:ea typeface="Arial"/>
                <a:cs typeface="Arial"/>
              </a:defRPr>
            </a:pPr>
            <a:r>
              <a:rPr sz="2025" b="0">
                <a:solidFill>
                  <a:srgbClr val="183343"/>
                </a:solidFill>
                <a:latin typeface="Arial"/>
                <a:ea typeface="Arial"/>
                <a:cs typeface="Arial"/>
              </a:rPr>
              <a:t>Mechanisms and revision strategy in late leakage</a:t>
            </a:r>
          </a:p>
        </p:txBody>
      </p:sp>
    </p:spTree>
    <p:extLst>
      <p:ext uri="{BB962C8B-B14F-4D97-AF65-F5344CB8AC3E}">
        <p14:creationId xmlns:p14="http://schemas.microsoft.com/office/powerpoint/2010/main" val="147751558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17A40DC-9054-4C2F-839C-582926AE84E0}"/>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References 1 of 4</a:t>
            </a:r>
          </a:p>
        </p:txBody>
      </p:sp>
      <p:sp>
        <p:nvSpPr>
          <p:cNvPr id="2" name="">
            <a:extLst xmlns:a="http://schemas.openxmlformats.org/drawingml/2006/main">
              <a:ext uri="{FF2B5EF4-FFF2-40B4-BE49-F238E27FC236}">
                <a16:creationId xmlns:a16="http://schemas.microsoft.com/office/drawing/2014/main" id="{AEF91CF6-11AE-4B02-9C0E-5D6532B8BD92}"/>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FE24EAD-E57C-4796-AE70-78A6BF367E5F}"/>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Backup: outside the timed talk</a:t>
            </a:r>
          </a:p>
        </p:txBody>
      </p:sp>
      <p:sp>
        <p:nvSpPr>
          <p:cNvPr id="4" name="">
            <a:extLst xmlns:a="http://schemas.openxmlformats.org/drawingml/2006/main">
              <a:ext uri="{FF2B5EF4-FFF2-40B4-BE49-F238E27FC236}">
                <a16:creationId xmlns:a16="http://schemas.microsoft.com/office/drawing/2014/main" id="{9B01A44C-378D-4FCB-A166-35D0C738A47B}"/>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BAUS25</a:t>
            </a:r>
          </a:p>
        </p:txBody>
      </p:sp>
      <p:sp>
        <p:nvSpPr>
          <p:cNvPr id="5" name="">
            <a:extLst xmlns:a="http://schemas.openxmlformats.org/drawingml/2006/main">
              <a:ext uri="{FF2B5EF4-FFF2-40B4-BE49-F238E27FC236}">
                <a16:creationId xmlns:a16="http://schemas.microsoft.com/office/drawing/2014/main" id="{73C0F2EB-EAF6-441C-A502-FD99B2312D7F}"/>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3d5aa7777cdf4299"/>
              </a:rPr>
              <a:t>BAUS consensus, BJU Int 2025</a:t>
            </a:r>
          </a:p>
        </p:txBody>
      </p:sp>
      <p:sp>
        <p:nvSpPr>
          <p:cNvPr id="6" name="">
            <a:extLst xmlns:a="http://schemas.openxmlformats.org/drawingml/2006/main">
              <a:ext uri="{FF2B5EF4-FFF2-40B4-BE49-F238E27FC236}">
                <a16:creationId xmlns:a16="http://schemas.microsoft.com/office/drawing/2014/main" id="{0FDBD892-CBF4-4D8D-AAF4-54ACD9133C34}"/>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EAU26</a:t>
            </a:r>
          </a:p>
        </p:txBody>
      </p:sp>
      <p:sp>
        <p:nvSpPr>
          <p:cNvPr id="7" name="">
            <a:extLst xmlns:a="http://schemas.openxmlformats.org/drawingml/2006/main">
              <a:ext uri="{FF2B5EF4-FFF2-40B4-BE49-F238E27FC236}">
                <a16:creationId xmlns:a16="http://schemas.microsoft.com/office/drawing/2014/main" id="{5C39BD13-0A87-4852-992A-A08B634DA278}"/>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be87f6fe02e640a5"/>
              </a:rPr>
              <a:t>EAU male LUTS guidelines, 2026</a:t>
            </a:r>
          </a:p>
        </p:txBody>
      </p:sp>
      <p:sp>
        <p:nvSpPr>
          <p:cNvPr id="8" name="">
            <a:extLst xmlns:a="http://schemas.openxmlformats.org/drawingml/2006/main">
              <a:ext uri="{FF2B5EF4-FFF2-40B4-BE49-F238E27FC236}">
                <a16:creationId xmlns:a16="http://schemas.microsoft.com/office/drawing/2014/main" id="{4C5EDA90-345A-4EB2-88C2-9B0EAAFEC640}"/>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AUA24</a:t>
            </a:r>
          </a:p>
        </p:txBody>
      </p:sp>
      <p:sp>
        <p:nvSpPr>
          <p:cNvPr id="9" name="">
            <a:extLst xmlns:a="http://schemas.openxmlformats.org/drawingml/2006/main">
              <a:ext uri="{FF2B5EF4-FFF2-40B4-BE49-F238E27FC236}">
                <a16:creationId xmlns:a16="http://schemas.microsoft.com/office/drawing/2014/main" id="{CE18D1DC-1482-4BE4-AEAD-AD2EE98B90B6}"/>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8aae75f0f0b34aa6"/>
              </a:rPr>
              <a:t>AUA/GURS/SUFU IPT amendment, 2024</a:t>
            </a:r>
          </a:p>
        </p:txBody>
      </p:sp>
      <p:sp>
        <p:nvSpPr>
          <p:cNvPr id="10" name="">
            <a:extLst xmlns:a="http://schemas.openxmlformats.org/drawingml/2006/main">
              <a:ext uri="{FF2B5EF4-FFF2-40B4-BE49-F238E27FC236}">
                <a16:creationId xmlns:a16="http://schemas.microsoft.com/office/drawing/2014/main" id="{769059E1-30DF-432A-BEB9-EF846721512D}"/>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EAUSTR26</a:t>
            </a:r>
          </a:p>
        </p:txBody>
      </p:sp>
      <p:sp>
        <p:nvSpPr>
          <p:cNvPr id="11" name="">
            <a:extLst xmlns:a="http://schemas.openxmlformats.org/drawingml/2006/main">
              <a:ext uri="{FF2B5EF4-FFF2-40B4-BE49-F238E27FC236}">
                <a16:creationId xmlns:a16="http://schemas.microsoft.com/office/drawing/2014/main" id="{94D73E5A-1E5A-4AA9-AA4F-9709824CE35C}"/>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ff9a05f767b04925"/>
              </a:rPr>
              <a:t>EAU urethral strictures guidelines, 2026</a:t>
            </a:r>
          </a:p>
        </p:txBody>
      </p:sp>
      <p:sp>
        <p:nvSpPr>
          <p:cNvPr id="12" name="">
            <a:extLst xmlns:a="http://schemas.openxmlformats.org/drawingml/2006/main">
              <a:ext uri="{FF2B5EF4-FFF2-40B4-BE49-F238E27FC236}">
                <a16:creationId xmlns:a16="http://schemas.microsoft.com/office/drawing/2014/main" id="{0B766F37-0F3C-4419-9753-E3892FA2C684}"/>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ICS16</a:t>
            </a:r>
          </a:p>
        </p:txBody>
      </p:sp>
      <p:sp>
        <p:nvSpPr>
          <p:cNvPr id="13" name="">
            <a:extLst xmlns:a="http://schemas.openxmlformats.org/drawingml/2006/main">
              <a:ext uri="{FF2B5EF4-FFF2-40B4-BE49-F238E27FC236}">
                <a16:creationId xmlns:a16="http://schemas.microsoft.com/office/drawing/2014/main" id="{962D3F49-28F8-4B66-8A87-45C8E4726C7E}"/>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6e4c22e67c654739"/>
              </a:rPr>
              <a:t>ICS AUS consensus, NUU 2016</a:t>
            </a:r>
          </a:p>
        </p:txBody>
      </p:sp>
      <p:sp>
        <p:nvSpPr>
          <p:cNvPr id="14" name="">
            <a:extLst xmlns:a="http://schemas.openxmlformats.org/drawingml/2006/main">
              <a:ext uri="{FF2B5EF4-FFF2-40B4-BE49-F238E27FC236}">
                <a16:creationId xmlns:a16="http://schemas.microsoft.com/office/drawing/2014/main" id="{3226A2C4-8513-4C75-8647-3FF5EA66D85C}"/>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AP23</a:t>
            </a:r>
          </a:p>
        </p:txBody>
      </p:sp>
      <p:sp>
        <p:nvSpPr>
          <p:cNvPr id="15" name="">
            <a:extLst xmlns:a="http://schemas.openxmlformats.org/drawingml/2006/main">
              <a:ext uri="{FF2B5EF4-FFF2-40B4-BE49-F238E27FC236}">
                <a16:creationId xmlns:a16="http://schemas.microsoft.com/office/drawing/2014/main" id="{E0F4C7B7-30D0-4CB8-B8BD-51AA3EB8C4F2}"/>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d9b22340563f434c"/>
              </a:rPr>
              <a:t>Asia-Pacific AMS 800 consensus, 2023</a:t>
            </a:r>
          </a:p>
        </p:txBody>
      </p:sp>
      <p:sp>
        <p:nvSpPr>
          <p:cNvPr id="16" name="">
            <a:extLst xmlns:a="http://schemas.openxmlformats.org/drawingml/2006/main">
              <a:ext uri="{FF2B5EF4-FFF2-40B4-BE49-F238E27FC236}">
                <a16:creationId xmlns:a16="http://schemas.microsoft.com/office/drawing/2014/main" id="{3D5A3618-0E76-41F1-A33D-EFAB4440E127}"/>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CCIFU</a:t>
            </a:r>
          </a:p>
        </p:txBody>
      </p:sp>
      <p:sp>
        <p:nvSpPr>
          <p:cNvPr id="17" name="">
            <a:extLst xmlns:a="http://schemas.openxmlformats.org/drawingml/2006/main">
              <a:ext uri="{FF2B5EF4-FFF2-40B4-BE49-F238E27FC236}">
                <a16:creationId xmlns:a16="http://schemas.microsoft.com/office/drawing/2014/main" id="{6F2C9580-D00B-48FB-917A-72077C6665D7}"/>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811c4dbfb27e481c"/>
              </a:rPr>
              <a:t>Rigicon ContiClassic IFU, REV.03, 2023</a:t>
            </a:r>
          </a:p>
        </p:txBody>
      </p:sp>
      <p:sp>
        <p:nvSpPr>
          <p:cNvPr id="18" name="">
            <a:extLst xmlns:a="http://schemas.openxmlformats.org/drawingml/2006/main">
              <a:ext uri="{FF2B5EF4-FFF2-40B4-BE49-F238E27FC236}">
                <a16:creationId xmlns:a16="http://schemas.microsoft.com/office/drawing/2014/main" id="{3F0A9922-B088-43B4-9F3E-33B9AD6DADAE}"/>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ICSUDS17</a:t>
            </a:r>
          </a:p>
        </p:txBody>
      </p:sp>
      <p:sp>
        <p:nvSpPr>
          <p:cNvPr id="19" name="">
            <a:extLst xmlns:a="http://schemas.openxmlformats.org/drawingml/2006/main">
              <a:ext uri="{FF2B5EF4-FFF2-40B4-BE49-F238E27FC236}">
                <a16:creationId xmlns:a16="http://schemas.microsoft.com/office/drawing/2014/main" id="{B1E43307-9F2F-4748-BD24-CE6BEF8D3919}"/>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42fcddfd0d19432f"/>
              </a:rPr>
              <a:t>ICS good urodynamic practices, 2017</a:t>
            </a:r>
          </a:p>
        </p:txBody>
      </p:sp>
      <p:sp>
        <p:nvSpPr>
          <p:cNvPr id="20" name="">
            <a:extLst xmlns:a="http://schemas.openxmlformats.org/drawingml/2006/main">
              <a:ext uri="{FF2B5EF4-FFF2-40B4-BE49-F238E27FC236}">
                <a16:creationId xmlns:a16="http://schemas.microsoft.com/office/drawing/2014/main" id="{6B7769B8-175B-4FBD-B9BD-BA00466EBAC1}"/>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AUAOAB24</a:t>
            </a:r>
          </a:p>
        </p:txBody>
      </p:sp>
      <p:sp>
        <p:nvSpPr>
          <p:cNvPr id="21" name="">
            <a:extLst xmlns:a="http://schemas.openxmlformats.org/drawingml/2006/main">
              <a:ext uri="{FF2B5EF4-FFF2-40B4-BE49-F238E27FC236}">
                <a16:creationId xmlns:a16="http://schemas.microsoft.com/office/drawing/2014/main" id="{1274E2CB-251A-4372-98F9-D8CF80A10745}"/>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710baba7cf884b4f"/>
              </a:rPr>
              <a:t>AUA/SUFU idiopathic OAB guideline, 2024</a:t>
            </a:r>
          </a:p>
        </p:txBody>
      </p:sp>
    </p:spTree>
    <p:extLst>
      <p:ext uri="{BB962C8B-B14F-4D97-AF65-F5344CB8AC3E}">
        <p14:creationId xmlns:p14="http://schemas.microsoft.com/office/powerpoint/2010/main" val="127486561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EE6213E-8AB0-4173-8E07-351F6224435A}"/>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References 2 of 4</a:t>
            </a:r>
          </a:p>
        </p:txBody>
      </p:sp>
      <p:sp>
        <p:nvSpPr>
          <p:cNvPr id="2" name="">
            <a:extLst xmlns:a="http://schemas.openxmlformats.org/drawingml/2006/main">
              <a:ext uri="{FF2B5EF4-FFF2-40B4-BE49-F238E27FC236}">
                <a16:creationId xmlns:a16="http://schemas.microsoft.com/office/drawing/2014/main" id="{F4598A18-F724-428A-99B6-21554096A24C}"/>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57A2488-F557-4093-A590-486BB16BEF53}"/>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Backup: outside the timed talk</a:t>
            </a:r>
          </a:p>
        </p:txBody>
      </p:sp>
      <p:sp>
        <p:nvSpPr>
          <p:cNvPr id="4" name="">
            <a:extLst xmlns:a="http://schemas.openxmlformats.org/drawingml/2006/main">
              <a:ext uri="{FF2B5EF4-FFF2-40B4-BE49-F238E27FC236}">
                <a16:creationId xmlns:a16="http://schemas.microsoft.com/office/drawing/2014/main" id="{F8B63D37-62E4-4200-8AB9-AEF757F9D05F}"/>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NICE</a:t>
            </a:r>
          </a:p>
        </p:txBody>
      </p:sp>
      <p:sp>
        <p:nvSpPr>
          <p:cNvPr id="5" name="">
            <a:extLst xmlns:a="http://schemas.openxmlformats.org/drawingml/2006/main">
              <a:ext uri="{FF2B5EF4-FFF2-40B4-BE49-F238E27FC236}">
                <a16:creationId xmlns:a16="http://schemas.microsoft.com/office/drawing/2014/main" id="{B31766C8-2D1D-4445-8412-D47A262E9388}"/>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ee0716a8c89c4753"/>
              </a:rPr>
              <a:t>NICE NG125: surgical site infection</a:t>
            </a:r>
          </a:p>
        </p:txBody>
      </p:sp>
      <p:sp>
        <p:nvSpPr>
          <p:cNvPr id="6" name="">
            <a:extLst xmlns:a="http://schemas.openxmlformats.org/drawingml/2006/main">
              <a:ext uri="{FF2B5EF4-FFF2-40B4-BE49-F238E27FC236}">
                <a16:creationId xmlns:a16="http://schemas.microsoft.com/office/drawing/2014/main" id="{DE6F324F-994C-4A7D-ADBD-97FA2A5697F6}"/>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WHO09</a:t>
            </a:r>
          </a:p>
        </p:txBody>
      </p:sp>
      <p:sp>
        <p:nvSpPr>
          <p:cNvPr id="7" name="">
            <a:extLst xmlns:a="http://schemas.openxmlformats.org/drawingml/2006/main">
              <a:ext uri="{FF2B5EF4-FFF2-40B4-BE49-F238E27FC236}">
                <a16:creationId xmlns:a16="http://schemas.microsoft.com/office/drawing/2014/main" id="{C2F2A935-FD90-4B25-8F17-B404773AF22E}"/>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99c04d8d0d1f4d33"/>
              </a:rPr>
              <a:t>WHO hand hygiene guidance, 2009</a:t>
            </a:r>
          </a:p>
        </p:txBody>
      </p:sp>
      <p:sp>
        <p:nvSpPr>
          <p:cNvPr id="8" name="">
            <a:extLst xmlns:a="http://schemas.openxmlformats.org/drawingml/2006/main">
              <a:ext uri="{FF2B5EF4-FFF2-40B4-BE49-F238E27FC236}">
                <a16:creationId xmlns:a16="http://schemas.microsoft.com/office/drawing/2014/main" id="{55BC2B21-4CC6-4BDE-9396-204A8177A755}"/>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CHLORA26</a:t>
            </a:r>
          </a:p>
        </p:txBody>
      </p:sp>
      <p:sp>
        <p:nvSpPr>
          <p:cNvPr id="9" name="">
            <a:extLst xmlns:a="http://schemas.openxmlformats.org/drawingml/2006/main">
              <a:ext uri="{FF2B5EF4-FFF2-40B4-BE49-F238E27FC236}">
                <a16:creationId xmlns:a16="http://schemas.microsoft.com/office/drawing/2014/main" id="{ECE359C9-80C5-4816-9689-76E70995F471}"/>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986c40e5802a40af"/>
              </a:rPr>
              <a:t>ChloraPrep UK product information, 2026</a:t>
            </a:r>
          </a:p>
        </p:txBody>
      </p:sp>
      <p:sp>
        <p:nvSpPr>
          <p:cNvPr id="10" name="">
            <a:extLst xmlns:a="http://schemas.openxmlformats.org/drawingml/2006/main">
              <a:ext uri="{FF2B5EF4-FFF2-40B4-BE49-F238E27FC236}">
                <a16:creationId xmlns:a16="http://schemas.microsoft.com/office/drawing/2014/main" id="{4D194E57-06C0-4B44-BDBE-2FBBEA8B34EB}"/>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IDSA19</a:t>
            </a:r>
          </a:p>
        </p:txBody>
      </p:sp>
      <p:sp>
        <p:nvSpPr>
          <p:cNvPr id="11" name="">
            <a:extLst xmlns:a="http://schemas.openxmlformats.org/drawingml/2006/main">
              <a:ext uri="{FF2B5EF4-FFF2-40B4-BE49-F238E27FC236}">
                <a16:creationId xmlns:a16="http://schemas.microsoft.com/office/drawing/2014/main" id="{2BC2E0ED-AED2-46D9-9114-7B88E853584D}"/>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0c4a135ca25d43d2"/>
              </a:rPr>
              <a:t>IDSA asymptomatic bacteriuria, 2019</a:t>
            </a:r>
          </a:p>
        </p:txBody>
      </p:sp>
      <p:sp>
        <p:nvSpPr>
          <p:cNvPr id="12" name="">
            <a:extLst xmlns:a="http://schemas.openxmlformats.org/drawingml/2006/main">
              <a:ext uri="{FF2B5EF4-FFF2-40B4-BE49-F238E27FC236}">
                <a16:creationId xmlns:a16="http://schemas.microsoft.com/office/drawing/2014/main" id="{145DBFC1-A0BA-4C8E-843E-91A4B499EBDA}"/>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AUAABX20</a:t>
            </a:r>
          </a:p>
        </p:txBody>
      </p:sp>
      <p:sp>
        <p:nvSpPr>
          <p:cNvPr id="13" name="">
            <a:extLst xmlns:a="http://schemas.openxmlformats.org/drawingml/2006/main">
              <a:ext uri="{FF2B5EF4-FFF2-40B4-BE49-F238E27FC236}">
                <a16:creationId xmlns:a16="http://schemas.microsoft.com/office/drawing/2014/main" id="{C61F221E-4F47-4269-B85A-8D763DC3F8C8}"/>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9f617eaf4d004ec9"/>
              </a:rPr>
              <a:t>AUA antimicrobial prophylaxis, 2020</a:t>
            </a:r>
          </a:p>
        </p:txBody>
      </p:sp>
      <p:sp>
        <p:nvSpPr>
          <p:cNvPr id="14" name="">
            <a:extLst xmlns:a="http://schemas.openxmlformats.org/drawingml/2006/main">
              <a:ext uri="{FF2B5EF4-FFF2-40B4-BE49-F238E27FC236}">
                <a16:creationId xmlns:a16="http://schemas.microsoft.com/office/drawing/2014/main" id="{2F8AC3D3-2A2E-4406-891C-FEF68EC7B7BD}"/>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CCSAFETY</a:t>
            </a:r>
          </a:p>
        </p:txBody>
      </p:sp>
      <p:sp>
        <p:nvSpPr>
          <p:cNvPr id="15" name="">
            <a:extLst xmlns:a="http://schemas.openxmlformats.org/drawingml/2006/main">
              <a:ext uri="{FF2B5EF4-FFF2-40B4-BE49-F238E27FC236}">
                <a16:creationId xmlns:a16="http://schemas.microsoft.com/office/drawing/2014/main" id="{D55082C8-34A0-462A-A728-3AA3FC08F7C5}"/>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f06224c6f67e43b2"/>
              </a:rPr>
              <a:t>Wilson: ContiClassic safety, IJIR 2024</a:t>
            </a:r>
          </a:p>
        </p:txBody>
      </p:sp>
      <p:sp>
        <p:nvSpPr>
          <p:cNvPr id="16" name="">
            <a:extLst xmlns:a="http://schemas.openxmlformats.org/drawingml/2006/main">
              <a:ext uri="{FF2B5EF4-FFF2-40B4-BE49-F238E27FC236}">
                <a16:creationId xmlns:a16="http://schemas.microsoft.com/office/drawing/2014/main" id="{E3D193AA-2157-491D-BFD6-52FB4898156C}"/>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MASTER22</a:t>
            </a:r>
          </a:p>
        </p:txBody>
      </p:sp>
      <p:sp>
        <p:nvSpPr>
          <p:cNvPr id="17" name="">
            <a:extLst xmlns:a="http://schemas.openxmlformats.org/drawingml/2006/main">
              <a:ext uri="{FF2B5EF4-FFF2-40B4-BE49-F238E27FC236}">
                <a16:creationId xmlns:a16="http://schemas.microsoft.com/office/drawing/2014/main" id="{4E86ACD0-8540-471E-92CB-697B27A40DFC}"/>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b315a2230e9540cc"/>
              </a:rPr>
              <a:t>MASTER randomised trial, HTA 2022</a:t>
            </a:r>
          </a:p>
        </p:txBody>
      </p:sp>
      <p:sp>
        <p:nvSpPr>
          <p:cNvPr id="18" name="">
            <a:extLst xmlns:a="http://schemas.openxmlformats.org/drawingml/2006/main">
              <a:ext uri="{FF2B5EF4-FFF2-40B4-BE49-F238E27FC236}">
                <a16:creationId xmlns:a16="http://schemas.microsoft.com/office/drawing/2014/main" id="{4A9F878F-5B2B-4DF7-B73F-A2FF005F5E07}"/>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UDS09</a:t>
            </a:r>
          </a:p>
        </p:txBody>
      </p:sp>
      <p:sp>
        <p:nvSpPr>
          <p:cNvPr id="19" name="">
            <a:extLst xmlns:a="http://schemas.openxmlformats.org/drawingml/2006/main">
              <a:ext uri="{FF2B5EF4-FFF2-40B4-BE49-F238E27FC236}">
                <a16:creationId xmlns:a16="http://schemas.microsoft.com/office/drawing/2014/main" id="{FAC9237C-091E-4D78-99DC-C6C5D071E222}"/>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c850431a31d04840"/>
              </a:rPr>
              <a:t>Lai: pre-AUS urodynamics, Urology 2009</a:t>
            </a:r>
          </a:p>
        </p:txBody>
      </p:sp>
      <p:sp>
        <p:nvSpPr>
          <p:cNvPr id="20" name="">
            <a:extLst xmlns:a="http://schemas.openxmlformats.org/drawingml/2006/main">
              <a:ext uri="{FF2B5EF4-FFF2-40B4-BE49-F238E27FC236}">
                <a16:creationId xmlns:a16="http://schemas.microsoft.com/office/drawing/2014/main" id="{02DB6DEE-2EAB-4474-9A1C-D4B2969DC608}"/>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OAB11</a:t>
            </a:r>
          </a:p>
        </p:txBody>
      </p:sp>
      <p:sp>
        <p:nvSpPr>
          <p:cNvPr id="21" name="">
            <a:extLst xmlns:a="http://schemas.openxmlformats.org/drawingml/2006/main">
              <a:ext uri="{FF2B5EF4-FFF2-40B4-BE49-F238E27FC236}">
                <a16:creationId xmlns:a16="http://schemas.microsoft.com/office/drawing/2014/main" id="{3116B840-3CB6-4DFE-9C85-F7BE7E1D9D63}"/>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55e95f28806245fe"/>
              </a:rPr>
              <a:t>Lai: OAB and post-prostatectomy AUS, 2011</a:t>
            </a:r>
          </a:p>
        </p:txBody>
      </p:sp>
    </p:spTree>
    <p:extLst>
      <p:ext uri="{BB962C8B-B14F-4D97-AF65-F5344CB8AC3E}">
        <p14:creationId xmlns:p14="http://schemas.microsoft.com/office/powerpoint/2010/main" val="204248110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A19853E-600C-4C94-9EA0-56D6D8729055}"/>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References 3 of 4</a:t>
            </a:r>
          </a:p>
        </p:txBody>
      </p:sp>
      <p:sp>
        <p:nvSpPr>
          <p:cNvPr id="2" name="">
            <a:extLst xmlns:a="http://schemas.openxmlformats.org/drawingml/2006/main">
              <a:ext uri="{FF2B5EF4-FFF2-40B4-BE49-F238E27FC236}">
                <a16:creationId xmlns:a16="http://schemas.microsoft.com/office/drawing/2014/main" id="{4A11B1FB-B08B-45E2-9978-79415215F913}"/>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4508E33-59BD-4B16-9F5D-42D6C7BB026E}"/>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Backup: outside the timed talk</a:t>
            </a:r>
          </a:p>
        </p:txBody>
      </p:sp>
      <p:sp>
        <p:nvSpPr>
          <p:cNvPr id="4" name="">
            <a:extLst xmlns:a="http://schemas.openxmlformats.org/drawingml/2006/main">
              <a:ext uri="{FF2B5EF4-FFF2-40B4-BE49-F238E27FC236}">
                <a16:creationId xmlns:a16="http://schemas.microsoft.com/office/drawing/2014/main" id="{FA2A22BD-2CEA-411F-BE16-125B77E5F568}"/>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DO24</a:t>
            </a:r>
          </a:p>
        </p:txBody>
      </p:sp>
      <p:sp>
        <p:nvSpPr>
          <p:cNvPr id="5" name="">
            <a:extLst xmlns:a="http://schemas.openxmlformats.org/drawingml/2006/main">
              <a:ext uri="{FF2B5EF4-FFF2-40B4-BE49-F238E27FC236}">
                <a16:creationId xmlns:a16="http://schemas.microsoft.com/office/drawing/2014/main" id="{8E4E653F-446A-470A-8EBF-E1F5E40CD6C3}"/>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759bde7504944f4d"/>
              </a:rPr>
              <a:t>Bhatt: preoperative DO systematic review, 2024</a:t>
            </a:r>
          </a:p>
        </p:txBody>
      </p:sp>
      <p:sp>
        <p:nvSpPr>
          <p:cNvPr id="6" name="">
            <a:extLst xmlns:a="http://schemas.openxmlformats.org/drawingml/2006/main">
              <a:ext uri="{FF2B5EF4-FFF2-40B4-BE49-F238E27FC236}">
                <a16:creationId xmlns:a16="http://schemas.microsoft.com/office/drawing/2014/main" id="{D38EA14C-C7B4-4F1D-8E33-8E7C7AA0631C}"/>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DOFAIL23</a:t>
            </a:r>
          </a:p>
        </p:txBody>
      </p:sp>
      <p:sp>
        <p:nvSpPr>
          <p:cNvPr id="7" name="">
            <a:extLst xmlns:a="http://schemas.openxmlformats.org/drawingml/2006/main">
              <a:ext uri="{FF2B5EF4-FFF2-40B4-BE49-F238E27FC236}">
                <a16:creationId xmlns:a16="http://schemas.microsoft.com/office/drawing/2014/main" id="{11F44C29-53AD-4120-A126-7705753589DB}"/>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ad9e4fb0f8744b2b"/>
              </a:rPr>
              <a:t>Krughoff: earlier AUS failure, 2023</a:t>
            </a:r>
          </a:p>
        </p:txBody>
      </p:sp>
      <p:sp>
        <p:nvSpPr>
          <p:cNvPr id="8" name="">
            <a:extLst xmlns:a="http://schemas.openxmlformats.org/drawingml/2006/main">
              <a:ext uri="{FF2B5EF4-FFF2-40B4-BE49-F238E27FC236}">
                <a16:creationId xmlns:a16="http://schemas.microsoft.com/office/drawing/2014/main" id="{030D7CF1-1E5B-474D-9B9C-82CEDC14C5ED}"/>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DU23</a:t>
            </a:r>
          </a:p>
        </p:txBody>
      </p:sp>
      <p:sp>
        <p:nvSpPr>
          <p:cNvPr id="9" name="">
            <a:extLst xmlns:a="http://schemas.openxmlformats.org/drawingml/2006/main">
              <a:ext uri="{FF2B5EF4-FFF2-40B4-BE49-F238E27FC236}">
                <a16:creationId xmlns:a16="http://schemas.microsoft.com/office/drawing/2014/main" id="{E4A3F8E7-BC4F-484B-956E-F509E39D5E25}"/>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5357f15338b04f52"/>
              </a:rPr>
              <a:t>Han: AUS with detrusor underactivity, 2023</a:t>
            </a:r>
          </a:p>
        </p:txBody>
      </p:sp>
      <p:sp>
        <p:nvSpPr>
          <p:cNvPr id="10" name="">
            <a:extLst xmlns:a="http://schemas.openxmlformats.org/drawingml/2006/main">
              <a:ext uri="{FF2B5EF4-FFF2-40B4-BE49-F238E27FC236}">
                <a16:creationId xmlns:a16="http://schemas.microsoft.com/office/drawing/2014/main" id="{F18D648F-CA19-4DB1-9270-F1D27BBAC6D8}"/>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CIC23</a:t>
            </a:r>
          </a:p>
        </p:txBody>
      </p:sp>
      <p:sp>
        <p:nvSpPr>
          <p:cNvPr id="11" name="">
            <a:extLst xmlns:a="http://schemas.openxmlformats.org/drawingml/2006/main">
              <a:ext uri="{FF2B5EF4-FFF2-40B4-BE49-F238E27FC236}">
                <a16:creationId xmlns:a16="http://schemas.microsoft.com/office/drawing/2014/main" id="{7CF70F3D-7526-448B-A966-727BCAB98269}"/>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0173d374b30d4784"/>
              </a:rPr>
              <a:t>Krughoff: CIC after bulbar AUS, 2023</a:t>
            </a:r>
          </a:p>
        </p:txBody>
      </p:sp>
      <p:sp>
        <p:nvSpPr>
          <p:cNvPr id="12" name="">
            <a:extLst xmlns:a="http://schemas.openxmlformats.org/drawingml/2006/main">
              <a:ext uri="{FF2B5EF4-FFF2-40B4-BE49-F238E27FC236}">
                <a16:creationId xmlns:a16="http://schemas.microsoft.com/office/drawing/2014/main" id="{82121609-D67B-4874-ABE4-2D41D2820348}"/>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CATH13</a:t>
            </a:r>
          </a:p>
        </p:txBody>
      </p:sp>
      <p:sp>
        <p:nvSpPr>
          <p:cNvPr id="13" name="">
            <a:extLst xmlns:a="http://schemas.openxmlformats.org/drawingml/2006/main">
              <a:ext uri="{FF2B5EF4-FFF2-40B4-BE49-F238E27FC236}">
                <a16:creationId xmlns:a16="http://schemas.microsoft.com/office/drawing/2014/main" id="{11EAF091-4BDD-480D-B8A2-7D6A678E2DB0}"/>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7a59ec7540424546"/>
              </a:rPr>
              <a:t>Seideman: prolonged catheterisation, 2013</a:t>
            </a:r>
          </a:p>
        </p:txBody>
      </p:sp>
      <p:sp>
        <p:nvSpPr>
          <p:cNvPr id="14" name="">
            <a:extLst xmlns:a="http://schemas.openxmlformats.org/drawingml/2006/main">
              <a:ext uri="{FF2B5EF4-FFF2-40B4-BE49-F238E27FC236}">
                <a16:creationId xmlns:a16="http://schemas.microsoft.com/office/drawing/2014/main" id="{746B9D76-8642-4789-8E48-50847B47030E}"/>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UDS14</a:t>
            </a:r>
          </a:p>
        </p:txBody>
      </p:sp>
      <p:sp>
        <p:nvSpPr>
          <p:cNvPr id="15" name="">
            <a:extLst xmlns:a="http://schemas.openxmlformats.org/drawingml/2006/main">
              <a:ext uri="{FF2B5EF4-FFF2-40B4-BE49-F238E27FC236}">
                <a16:creationId xmlns:a16="http://schemas.microsoft.com/office/drawing/2014/main" id="{231EB0A0-6F7A-45BC-B849-38C3DFCAE49E}"/>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cc7be44aea744f04"/>
              </a:rPr>
              <a:t>Weissbart: absent leak during UDS, 2014</a:t>
            </a:r>
          </a:p>
        </p:txBody>
      </p:sp>
      <p:sp>
        <p:nvSpPr>
          <p:cNvPr id="16" name="">
            <a:extLst xmlns:a="http://schemas.openxmlformats.org/drawingml/2006/main">
              <a:ext uri="{FF2B5EF4-FFF2-40B4-BE49-F238E27FC236}">
                <a16:creationId xmlns:a16="http://schemas.microsoft.com/office/drawing/2014/main" id="{46EF8209-A522-4814-902C-5B303F2CCE26}"/>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RT22</a:t>
            </a:r>
          </a:p>
        </p:txBody>
      </p:sp>
      <p:sp>
        <p:nvSpPr>
          <p:cNvPr id="17" name="">
            <a:extLst xmlns:a="http://schemas.openxmlformats.org/drawingml/2006/main">
              <a:ext uri="{FF2B5EF4-FFF2-40B4-BE49-F238E27FC236}">
                <a16:creationId xmlns:a16="http://schemas.microsoft.com/office/drawing/2014/main" id="{1FCF1C13-C3C1-49A3-B87B-3729A20A4AED}"/>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a5097c935c5f4e6a"/>
              </a:rPr>
              <a:t>Zhang: radiation meta-analysis, 2022</a:t>
            </a:r>
          </a:p>
        </p:txBody>
      </p:sp>
      <p:sp>
        <p:nvSpPr>
          <p:cNvPr id="18" name="">
            <a:extLst xmlns:a="http://schemas.openxmlformats.org/drawingml/2006/main">
              <a:ext uri="{FF2B5EF4-FFF2-40B4-BE49-F238E27FC236}">
                <a16:creationId xmlns:a16="http://schemas.microsoft.com/office/drawing/2014/main" id="{12E95E34-D06A-4344-8F2B-0DBECC527D12}"/>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URETH26</a:t>
            </a:r>
          </a:p>
        </p:txBody>
      </p:sp>
      <p:sp>
        <p:nvSpPr>
          <p:cNvPr id="19" name="">
            <a:extLst xmlns:a="http://schemas.openxmlformats.org/drawingml/2006/main">
              <a:ext uri="{FF2B5EF4-FFF2-40B4-BE49-F238E27FC236}">
                <a16:creationId xmlns:a16="http://schemas.microsoft.com/office/drawing/2014/main" id="{61F98AD9-20F2-45D7-907C-3632A98135BE}"/>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6dff166ed93647c8"/>
              </a:rPr>
              <a:t>Davis: AUS after urethroplasty, 2026</a:t>
            </a:r>
          </a:p>
        </p:txBody>
      </p:sp>
      <p:sp>
        <p:nvSpPr>
          <p:cNvPr id="20" name="">
            <a:extLst xmlns:a="http://schemas.openxmlformats.org/drawingml/2006/main">
              <a:ext uri="{FF2B5EF4-FFF2-40B4-BE49-F238E27FC236}">
                <a16:creationId xmlns:a16="http://schemas.microsoft.com/office/drawing/2014/main" id="{A97CB93D-3E2A-45A7-A94E-842881203B6B}"/>
              </a:ext>
            </a:extLst>
          </p:cNvPr>
          <p:cNvSpPr>
            <a:spLocks xmlns:a="http://schemas.openxmlformats.org/drawingml/2006/main" noGrp="1"/>
          </p:cNvSpPr>
          <p:nvPr/>
        </p:nvSpPr>
        <p:spPr>
          <a:xfrm xmlns:a="http://schemas.openxmlformats.org/drawingml/2006/main">
            <a:off x="609600" y="49625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TC20</a:t>
            </a:r>
          </a:p>
        </p:txBody>
      </p:sp>
      <p:sp>
        <p:nvSpPr>
          <p:cNvPr id="21" name="">
            <a:extLst xmlns:a="http://schemas.openxmlformats.org/drawingml/2006/main">
              <a:ext uri="{FF2B5EF4-FFF2-40B4-BE49-F238E27FC236}">
                <a16:creationId xmlns:a16="http://schemas.microsoft.com/office/drawing/2014/main" id="{BF55FC6A-4258-4865-834F-A3AF93B707FA}"/>
              </a:ext>
            </a:extLst>
          </p:cNvPr>
          <p:cNvSpPr>
            <a:spLocks xmlns:a="http://schemas.openxmlformats.org/drawingml/2006/main" noGrp="1"/>
          </p:cNvSpPr>
          <p:nvPr/>
        </p:nvSpPr>
        <p:spPr>
          <a:xfrm xmlns:a="http://schemas.openxmlformats.org/drawingml/2006/main">
            <a:off x="609600" y="52482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c7e101b8a36c4946"/>
              </a:rPr>
              <a:t>Redmond: transcorporal fragile urethra, 2020</a:t>
            </a:r>
          </a:p>
        </p:txBody>
      </p:sp>
    </p:spTree>
    <p:extLst>
      <p:ext uri="{BB962C8B-B14F-4D97-AF65-F5344CB8AC3E}">
        <p14:creationId xmlns:p14="http://schemas.microsoft.com/office/powerpoint/2010/main" val="136447277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8410B19-3ECD-4271-A8CB-53B1D5402684}"/>
              </a:ext>
            </a:extLst>
          </p:cNvPr>
          <p:cNvSpPr>
            <a:spLocks xmlns:a="http://schemas.openxmlformats.org/drawingml/2006/main" noGrp="1"/>
          </p:cNvSpPr>
          <p:nvPr/>
        </p:nvSpPr>
        <p:spPr>
          <a:xfrm xmlns:a="http://schemas.openxmlformats.org/drawingml/2006/main">
            <a:off x="609600" y="47625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83343"/>
                </a:solidFill>
                <a:latin typeface="Arial"/>
                <a:ea typeface="Arial"/>
                <a:cs typeface="Arial"/>
              </a:defRPr>
            </a:pPr>
            <a:r>
              <a:rPr sz="3300" b="1">
                <a:solidFill>
                  <a:srgbClr val="183343"/>
                </a:solidFill>
                <a:latin typeface="Arial"/>
                <a:ea typeface="Arial"/>
                <a:cs typeface="Arial"/>
              </a:rPr>
              <a:t>References 4 of 4</a:t>
            </a:r>
          </a:p>
        </p:txBody>
      </p:sp>
      <p:sp>
        <p:nvSpPr>
          <p:cNvPr id="2" name="">
            <a:extLst xmlns:a="http://schemas.openxmlformats.org/drawingml/2006/main">
              <a:ext uri="{FF2B5EF4-FFF2-40B4-BE49-F238E27FC236}">
                <a16:creationId xmlns:a16="http://schemas.microsoft.com/office/drawing/2014/main" id="{5A48C3CA-4AAE-4AAD-BA6A-62132D2F5D7D}"/>
              </a:ext>
            </a:extLst>
          </p:cNvPr>
          <p:cNvSpPr>
            <a:spLocks xmlns:a="http://schemas.openxmlformats.org/drawingml/2006/main" noGrp="1"/>
          </p:cNvSpPr>
          <p:nvPr/>
        </p:nvSpPr>
        <p:spPr>
          <a:xfrm xmlns:a="http://schemas.openxmlformats.org/drawingml/2006/main">
            <a:off x="609600" y="1428750"/>
            <a:ext cx="800100" cy="28575"/>
          </a:xfrm>
          <a:prstGeom xmlns:a="http://schemas.openxmlformats.org/drawingml/2006/main" prst="rect">
            <a:avLst/>
          </a:prstGeom>
          <a:solidFill xmlns:a="http://schemas.openxmlformats.org/drawingml/2006/main">
            <a:srgbClr val="147F8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C13184C-9644-42EA-922B-1C5622E86333}"/>
              </a:ext>
            </a:extLst>
          </p:cNvPr>
          <p:cNvSpPr>
            <a:spLocks xmlns:a="http://schemas.openxmlformats.org/drawingml/2006/main" noGrp="1"/>
          </p:cNvSpPr>
          <p:nvPr/>
        </p:nvSpPr>
        <p:spPr>
          <a:xfrm xmlns:a="http://schemas.openxmlformats.org/drawingml/2006/main">
            <a:off x="609600" y="641985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00" b="0">
                <a:solidFill>
                  <a:srgbClr val="526773"/>
                </a:solidFill>
                <a:latin typeface="Arial"/>
                <a:ea typeface="Arial"/>
                <a:cs typeface="Arial"/>
              </a:defRPr>
            </a:pPr>
            <a:r>
              <a:rPr sz="1200" b="0">
                <a:solidFill>
                  <a:srgbClr val="526773"/>
                </a:solidFill>
                <a:latin typeface="Arial"/>
                <a:ea typeface="Arial"/>
                <a:cs typeface="Arial"/>
              </a:rPr>
              <a:t>Backup: outside the timed talk</a:t>
            </a:r>
          </a:p>
        </p:txBody>
      </p:sp>
      <p:sp>
        <p:nvSpPr>
          <p:cNvPr id="4" name="">
            <a:extLst xmlns:a="http://schemas.openxmlformats.org/drawingml/2006/main">
              <a:ext uri="{FF2B5EF4-FFF2-40B4-BE49-F238E27FC236}">
                <a16:creationId xmlns:a16="http://schemas.microsoft.com/office/drawing/2014/main" id="{0F69387C-1C8B-41F5-882D-7AFB5AE33789}"/>
              </a:ext>
            </a:extLst>
          </p:cNvPr>
          <p:cNvSpPr>
            <a:spLocks xmlns:a="http://schemas.openxmlformats.org/drawingml/2006/main" noGrp="1"/>
          </p:cNvSpPr>
          <p:nvPr/>
        </p:nvSpPr>
        <p:spPr>
          <a:xfrm xmlns:a="http://schemas.openxmlformats.org/drawingml/2006/main">
            <a:off x="609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TC23</a:t>
            </a:r>
          </a:p>
        </p:txBody>
      </p:sp>
      <p:sp>
        <p:nvSpPr>
          <p:cNvPr id="5" name="">
            <a:extLst xmlns:a="http://schemas.openxmlformats.org/drawingml/2006/main">
              <a:ext uri="{FF2B5EF4-FFF2-40B4-BE49-F238E27FC236}">
                <a16:creationId xmlns:a16="http://schemas.microsoft.com/office/drawing/2014/main" id="{FD62F616-0854-49D5-8D5A-479A64E05FFF}"/>
              </a:ext>
            </a:extLst>
          </p:cNvPr>
          <p:cNvSpPr>
            <a:spLocks xmlns:a="http://schemas.openxmlformats.org/drawingml/2006/main" noGrp="1"/>
          </p:cNvSpPr>
          <p:nvPr/>
        </p:nvSpPr>
        <p:spPr>
          <a:xfrm xmlns:a="http://schemas.openxmlformats.org/drawingml/2006/main">
            <a:off x="609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7aeac573c1f44da3"/>
              </a:rPr>
              <a:t>Kurtzman: high-risk transcorporal AUS, 2023</a:t>
            </a:r>
          </a:p>
        </p:txBody>
      </p:sp>
      <p:sp>
        <p:nvSpPr>
          <p:cNvPr id="6" name="">
            <a:extLst xmlns:a="http://schemas.openxmlformats.org/drawingml/2006/main">
              <a:ext uri="{FF2B5EF4-FFF2-40B4-BE49-F238E27FC236}">
                <a16:creationId xmlns:a16="http://schemas.microsoft.com/office/drawing/2014/main" id="{3D162117-DF7F-45EF-A989-8B6A51F838DC}"/>
              </a:ext>
            </a:extLst>
          </p:cNvPr>
          <p:cNvSpPr>
            <a:spLocks xmlns:a="http://schemas.openxmlformats.org/drawingml/2006/main" noGrp="1"/>
          </p:cNvSpPr>
          <p:nvPr/>
        </p:nvSpPr>
        <p:spPr>
          <a:xfrm xmlns:a="http://schemas.openxmlformats.org/drawingml/2006/main">
            <a:off x="6324600" y="17621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ATROPHY20</a:t>
            </a:r>
          </a:p>
        </p:txBody>
      </p:sp>
      <p:sp>
        <p:nvSpPr>
          <p:cNvPr id="7" name="">
            <a:extLst xmlns:a="http://schemas.openxmlformats.org/drawingml/2006/main">
              <a:ext uri="{FF2B5EF4-FFF2-40B4-BE49-F238E27FC236}">
                <a16:creationId xmlns:a16="http://schemas.microsoft.com/office/drawing/2014/main" id="{5114731C-A7DB-4951-B40C-99DDE92C6ED1}"/>
              </a:ext>
            </a:extLst>
          </p:cNvPr>
          <p:cNvSpPr>
            <a:spLocks xmlns:a="http://schemas.openxmlformats.org/drawingml/2006/main" noGrp="1"/>
          </p:cNvSpPr>
          <p:nvPr/>
        </p:nvSpPr>
        <p:spPr>
          <a:xfrm xmlns:a="http://schemas.openxmlformats.org/drawingml/2006/main">
            <a:off x="6324600" y="20478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999d320be5fb42b0"/>
              </a:rPr>
              <a:t>Bergeson: urethral atrophy and revision, 2020</a:t>
            </a:r>
          </a:p>
        </p:txBody>
      </p:sp>
      <p:sp>
        <p:nvSpPr>
          <p:cNvPr id="8" name="">
            <a:extLst xmlns:a="http://schemas.openxmlformats.org/drawingml/2006/main">
              <a:ext uri="{FF2B5EF4-FFF2-40B4-BE49-F238E27FC236}">
                <a16:creationId xmlns:a16="http://schemas.microsoft.com/office/drawing/2014/main" id="{91B60836-4FD9-434C-9B5E-CB9D44D0C36A}"/>
              </a:ext>
            </a:extLst>
          </p:cNvPr>
          <p:cNvSpPr>
            <a:spLocks xmlns:a="http://schemas.openxmlformats.org/drawingml/2006/main" noGrp="1"/>
          </p:cNvSpPr>
          <p:nvPr/>
        </p:nvSpPr>
        <p:spPr>
          <a:xfrm xmlns:a="http://schemas.openxmlformats.org/drawingml/2006/main">
            <a:off x="609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PREP24</a:t>
            </a:r>
          </a:p>
        </p:txBody>
      </p:sp>
      <p:sp>
        <p:nvSpPr>
          <p:cNvPr id="9" name="">
            <a:extLst xmlns:a="http://schemas.openxmlformats.org/drawingml/2006/main">
              <a:ext uri="{FF2B5EF4-FFF2-40B4-BE49-F238E27FC236}">
                <a16:creationId xmlns:a16="http://schemas.microsoft.com/office/drawing/2014/main" id="{528BC532-1227-4C9F-A0F1-96F27D0ECD51}"/>
              </a:ext>
            </a:extLst>
          </p:cNvPr>
          <p:cNvSpPr>
            <a:spLocks xmlns:a="http://schemas.openxmlformats.org/drawingml/2006/main" noGrp="1"/>
          </p:cNvSpPr>
          <p:nvPr/>
        </p:nvSpPr>
        <p:spPr>
          <a:xfrm xmlns:a="http://schemas.openxmlformats.org/drawingml/2006/main">
            <a:off x="609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35440475a01a4e30"/>
              </a:rPr>
              <a:t>Bourgi: AUS preparation protocols, 2024</a:t>
            </a:r>
          </a:p>
        </p:txBody>
      </p:sp>
      <p:sp>
        <p:nvSpPr>
          <p:cNvPr id="10" name="">
            <a:extLst xmlns:a="http://schemas.openxmlformats.org/drawingml/2006/main">
              <a:ext uri="{FF2B5EF4-FFF2-40B4-BE49-F238E27FC236}">
                <a16:creationId xmlns:a16="http://schemas.microsoft.com/office/drawing/2014/main" id="{231ABE48-3D4D-409F-89D9-54562EF9B95C}"/>
              </a:ext>
            </a:extLst>
          </p:cNvPr>
          <p:cNvSpPr>
            <a:spLocks xmlns:a="http://schemas.openxmlformats.org/drawingml/2006/main" noGrp="1"/>
          </p:cNvSpPr>
          <p:nvPr/>
        </p:nvSpPr>
        <p:spPr>
          <a:xfrm xmlns:a="http://schemas.openxmlformats.org/drawingml/2006/main">
            <a:off x="6324600" y="25622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YEUNG13</a:t>
            </a:r>
          </a:p>
        </p:txBody>
      </p:sp>
      <p:sp>
        <p:nvSpPr>
          <p:cNvPr id="11" name="">
            <a:extLst xmlns:a="http://schemas.openxmlformats.org/drawingml/2006/main">
              <a:ext uri="{FF2B5EF4-FFF2-40B4-BE49-F238E27FC236}">
                <a16:creationId xmlns:a16="http://schemas.microsoft.com/office/drawing/2014/main" id="{760D535A-6801-4F68-8AE8-94EA5913A34E}"/>
              </a:ext>
            </a:extLst>
          </p:cNvPr>
          <p:cNvSpPr>
            <a:spLocks xmlns:a="http://schemas.openxmlformats.org/drawingml/2006/main" noGrp="1"/>
          </p:cNvSpPr>
          <p:nvPr/>
        </p:nvSpPr>
        <p:spPr>
          <a:xfrm xmlns:a="http://schemas.openxmlformats.org/drawingml/2006/main">
            <a:off x="6324600" y="28479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7b0cd445f8b64d59"/>
              </a:rPr>
              <a:t>Yeung: GU skin preparation RCT, 2013</a:t>
            </a:r>
          </a:p>
        </p:txBody>
      </p:sp>
      <p:sp>
        <p:nvSpPr>
          <p:cNvPr id="12" name="">
            <a:extLst xmlns:a="http://schemas.openxmlformats.org/drawingml/2006/main">
              <a:ext uri="{FF2B5EF4-FFF2-40B4-BE49-F238E27FC236}">
                <a16:creationId xmlns:a16="http://schemas.microsoft.com/office/drawing/2014/main" id="{3CCD03D3-AE25-4255-B941-94FBEAE19A28}"/>
              </a:ext>
            </a:extLst>
          </p:cNvPr>
          <p:cNvSpPr>
            <a:spLocks xmlns:a="http://schemas.openxmlformats.org/drawingml/2006/main" noGrp="1"/>
          </p:cNvSpPr>
          <p:nvPr/>
        </p:nvSpPr>
        <p:spPr>
          <a:xfrm xmlns:a="http://schemas.openxmlformats.org/drawingml/2006/main">
            <a:off x="609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ABX18</a:t>
            </a:r>
          </a:p>
        </p:txBody>
      </p:sp>
      <p:sp>
        <p:nvSpPr>
          <p:cNvPr id="13" name="">
            <a:extLst xmlns:a="http://schemas.openxmlformats.org/drawingml/2006/main">
              <a:ext uri="{FF2B5EF4-FFF2-40B4-BE49-F238E27FC236}">
                <a16:creationId xmlns:a16="http://schemas.microsoft.com/office/drawing/2014/main" id="{7632FF5F-C4C0-4E78-9A56-3E3CF55B8B43}"/>
              </a:ext>
            </a:extLst>
          </p:cNvPr>
          <p:cNvSpPr>
            <a:spLocks xmlns:a="http://schemas.openxmlformats.org/drawingml/2006/main" noGrp="1"/>
          </p:cNvSpPr>
          <p:nvPr/>
        </p:nvSpPr>
        <p:spPr>
          <a:xfrm xmlns:a="http://schemas.openxmlformats.org/drawingml/2006/main">
            <a:off x="609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6664e2d039b24e0f"/>
              </a:rPr>
              <a:t>Adamsky: postoperative antibiotics, 2018</a:t>
            </a:r>
          </a:p>
        </p:txBody>
      </p:sp>
      <p:sp>
        <p:nvSpPr>
          <p:cNvPr id="14" name="">
            <a:extLst xmlns:a="http://schemas.openxmlformats.org/drawingml/2006/main">
              <a:ext uri="{FF2B5EF4-FFF2-40B4-BE49-F238E27FC236}">
                <a16:creationId xmlns:a16="http://schemas.microsoft.com/office/drawing/2014/main" id="{D2607493-3F2E-4948-84C8-69E136E8BD36}"/>
              </a:ext>
            </a:extLst>
          </p:cNvPr>
          <p:cNvSpPr>
            <a:spLocks xmlns:a="http://schemas.openxmlformats.org/drawingml/2006/main" noGrp="1"/>
          </p:cNvSpPr>
          <p:nvPr/>
        </p:nvSpPr>
        <p:spPr>
          <a:xfrm xmlns:a="http://schemas.openxmlformats.org/drawingml/2006/main">
            <a:off x="6324600" y="33623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TOUCH23</a:t>
            </a:r>
          </a:p>
        </p:txBody>
      </p:sp>
      <p:sp>
        <p:nvSpPr>
          <p:cNvPr id="15" name="">
            <a:extLst xmlns:a="http://schemas.openxmlformats.org/drawingml/2006/main">
              <a:ext uri="{FF2B5EF4-FFF2-40B4-BE49-F238E27FC236}">
                <a16:creationId xmlns:a16="http://schemas.microsoft.com/office/drawing/2014/main" id="{15160ACE-3120-4D43-AB56-4C2A6FFA24DB}"/>
              </a:ext>
            </a:extLst>
          </p:cNvPr>
          <p:cNvSpPr>
            <a:spLocks xmlns:a="http://schemas.openxmlformats.org/drawingml/2006/main" noGrp="1"/>
          </p:cNvSpPr>
          <p:nvPr/>
        </p:nvSpPr>
        <p:spPr>
          <a:xfrm xmlns:a="http://schemas.openxmlformats.org/drawingml/2006/main">
            <a:off x="6324600" y="36480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310fdb50cc5a4ffd"/>
              </a:rPr>
              <a:t>Ziegelmann: minimal-touch AUS, 2023</a:t>
            </a:r>
          </a:p>
        </p:txBody>
      </p:sp>
      <p:sp>
        <p:nvSpPr>
          <p:cNvPr id="16" name="">
            <a:extLst xmlns:a="http://schemas.openxmlformats.org/drawingml/2006/main">
              <a:ext uri="{FF2B5EF4-FFF2-40B4-BE49-F238E27FC236}">
                <a16:creationId xmlns:a16="http://schemas.microsoft.com/office/drawing/2014/main" id="{2DF7FA4E-341A-46A5-868E-B48C5F3A16B3}"/>
              </a:ext>
            </a:extLst>
          </p:cNvPr>
          <p:cNvSpPr>
            <a:spLocks xmlns:a="http://schemas.openxmlformats.org/drawingml/2006/main" noGrp="1"/>
          </p:cNvSpPr>
          <p:nvPr/>
        </p:nvSpPr>
        <p:spPr>
          <a:xfrm xmlns:a="http://schemas.openxmlformats.org/drawingml/2006/main">
            <a:off x="609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LINDER15</a:t>
            </a:r>
          </a:p>
        </p:txBody>
      </p:sp>
      <p:sp>
        <p:nvSpPr>
          <p:cNvPr id="17" name="">
            <a:extLst xmlns:a="http://schemas.openxmlformats.org/drawingml/2006/main">
              <a:ext uri="{FF2B5EF4-FFF2-40B4-BE49-F238E27FC236}">
                <a16:creationId xmlns:a16="http://schemas.microsoft.com/office/drawing/2014/main" id="{E2E4CAC4-9A2F-460F-969F-111BE051F981}"/>
              </a:ext>
            </a:extLst>
          </p:cNvPr>
          <p:cNvSpPr>
            <a:spLocks xmlns:a="http://schemas.openxmlformats.org/drawingml/2006/main" noGrp="1"/>
          </p:cNvSpPr>
          <p:nvPr/>
        </p:nvSpPr>
        <p:spPr>
          <a:xfrm xmlns:a="http://schemas.openxmlformats.org/drawingml/2006/main">
            <a:off x="609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4d0de13f645a4238"/>
              </a:rPr>
              <a:t>Linder: long-term AMS 800 outcomes, 2015</a:t>
            </a:r>
          </a:p>
        </p:txBody>
      </p:sp>
      <p:sp>
        <p:nvSpPr>
          <p:cNvPr id="18" name="">
            <a:extLst xmlns:a="http://schemas.openxmlformats.org/drawingml/2006/main">
              <a:ext uri="{FF2B5EF4-FFF2-40B4-BE49-F238E27FC236}">
                <a16:creationId xmlns:a16="http://schemas.microsoft.com/office/drawing/2014/main" id="{9F15E298-0145-46DA-996F-9CA0D0AB8C35}"/>
              </a:ext>
            </a:extLst>
          </p:cNvPr>
          <p:cNvSpPr>
            <a:spLocks xmlns:a="http://schemas.openxmlformats.org/drawingml/2006/main" noGrp="1"/>
          </p:cNvSpPr>
          <p:nvPr/>
        </p:nvSpPr>
        <p:spPr>
          <a:xfrm xmlns:a="http://schemas.openxmlformats.org/drawingml/2006/main">
            <a:off x="6324600" y="416242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1">
                <a:solidFill>
                  <a:srgbClr val="147F83"/>
                </a:solidFill>
                <a:latin typeface="Arial"/>
                <a:ea typeface="Arial"/>
                <a:cs typeface="Arial"/>
              </a:defRPr>
            </a:pPr>
            <a:r>
              <a:rPr sz="1500" b="1">
                <a:solidFill>
                  <a:srgbClr val="147F83"/>
                </a:solidFill>
                <a:latin typeface="Arial"/>
                <a:ea typeface="Arial"/>
                <a:cs typeface="Arial"/>
              </a:rPr>
              <a:t>AUSCO26</a:t>
            </a:r>
          </a:p>
        </p:txBody>
      </p:sp>
      <p:sp>
        <p:nvSpPr>
          <p:cNvPr id="19" name="">
            <a:extLst xmlns:a="http://schemas.openxmlformats.org/drawingml/2006/main">
              <a:ext uri="{FF2B5EF4-FFF2-40B4-BE49-F238E27FC236}">
                <a16:creationId xmlns:a16="http://schemas.microsoft.com/office/drawing/2014/main" id="{9B7E2307-30CC-456F-80B2-F2091B98AF5C}"/>
              </a:ext>
            </a:extLst>
          </p:cNvPr>
          <p:cNvSpPr>
            <a:spLocks xmlns:a="http://schemas.openxmlformats.org/drawingml/2006/main" noGrp="1"/>
          </p:cNvSpPr>
          <p:nvPr/>
        </p:nvSpPr>
        <p:spPr>
          <a:xfrm xmlns:a="http://schemas.openxmlformats.org/drawingml/2006/main">
            <a:off x="6324600" y="4448175"/>
            <a:ext cx="5191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183343"/>
                </a:solidFill>
                <a:latin typeface="Arial"/>
                <a:ea typeface="Arial"/>
                <a:cs typeface="Arial"/>
              </a:defRPr>
            </a:pPr>
            <a:r>
              <a:rPr sz="1800" b="0">
                <a:solidFill>
                  <a:srgbClr val="183343"/>
                </a:solidFill>
                <a:latin typeface="Arial"/>
                <a:ea typeface="Arial"/>
                <a:cs typeface="Arial"/>
                <a:hlinkClick xmlns:r="http://schemas.openxmlformats.org/officeDocument/2006/relationships" r:id="R8da92f0ce0074c51"/>
              </a:rPr>
              <a:t>Kaufman: AMS 800 AUSCO study, 2026</a:t>
            </a:r>
          </a:p>
        </p:txBody>
      </p:sp>
    </p:spTree>
    <p:extLst>
      <p:ext uri="{BB962C8B-B14F-4D97-AF65-F5344CB8AC3E}">
        <p14:creationId xmlns:p14="http://schemas.microsoft.com/office/powerpoint/2010/main" val="11855008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2026-10-01T00:08:23.6430000Z</dcterms:created>
  <dcterms:modified xsi:type="dcterms:W3CDTF">2026-10-01T00:08:23.6430000Z</dcterms:modified>
</coreProperties>
</file>