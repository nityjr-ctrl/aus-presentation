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3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68af4c7-2734-212b-35f7-f05c24323a7d}">
          <p14:sldIdLst>
            <p14:sldId id="256"/>
          </p14:sldIdLst>
        </p14:section>
        <p14:section name="Decide before theatre" id="{00a7f29e-6a41-acbb-95dd-7aee49c79323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The bladder" id="{f9b0f002-8b66-3985-a208-64ae4f488e58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The urethra" id="{4154e7d3-3d8e-6db9-e34d-b340c0d85273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Preparation without ritual" id="{6ce1b4af-89c7-2e8b-7315-cf543e6326c1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The operation" id="{86e7331b-7b7a-2170-85b4-6ddd96963a24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After the implant" id="{b1b58db6-8c01-f722-3ebc-266ea553d12a}">
          <p14:sldIdLst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Backup and references" id="{5ab3d336-b606-27de-6f36-c2ef64c89df7}">
          <p14:sldIdLst>
            <p14:sldId id="301"/>
            <p14:sldId id="302"/>
            <p14:sldId id="303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0F7F86"/>
            </a:solidFill>
            <a:ln w="38100" cap="flat">
              <a:solidFill>
                <a:srgbClr val="0F7F8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F86"/>
              </a:solidFill>
              <a:ln w="9525" cap="flat">
                <a:solidFill>
                  <a:srgbClr val="0F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0.4</c:v>
                </c:pt>
                <c:pt idx="4">
                  <c:v>2.8</c:v>
                </c:pt>
                <c:pt idx="5">
                  <c:v>7</c:v>
                </c:pt>
                <c:pt idx="6">
                  <c:v>1.2</c:v>
                </c:pt>
                <c:pt idx="7">
                  <c:v>0.4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C2482D"/>
            </a:solidFill>
            <a:ln w="38100" cap="flat">
              <a:solidFill>
                <a:srgbClr val="C248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482D"/>
              </a:solidFill>
              <a:ln w="9525" cap="flat">
                <a:solidFill>
                  <a:srgbClr val="C248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0.3</c:v>
                </c:pt>
                <c:pt idx="2">
                  <c:v>0.7</c:v>
                </c:pt>
                <c:pt idx="3">
                  <c:v>1.2</c:v>
                </c:pt>
                <c:pt idx="4">
                  <c:v>1.8</c:v>
                </c:pt>
                <c:pt idx="5">
                  <c:v>2.6</c:v>
                </c:pt>
                <c:pt idx="6">
                  <c:v>3.5</c:v>
                </c:pt>
                <c:pt idx="7">
                  <c:v>4.6</c:v>
                </c:pt>
                <c:pt idx="8">
                  <c:v>5.8</c:v>
                </c:pt>
                <c:pt idx="9">
                  <c:v>7.2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Positive cultures</c:v>
                </c:pt>
              </c:strCache>
            </c:strRef>
          </c:tx>
          <c:spPr>
            <a:solidFill>
              <a:srgbClr val="0F7F8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7F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8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Chlorhexidine–alcohol</c:v>
                  </c:pt>
                  <c:pt idx="1">
                    <c:v>Povidone–iodine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2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3F4F6"/>
        </a:solidFill>
        <a:ln>
          <a:noFill/>
        </a:ln>
        <a:effectLst/>
      </c:spPr>
    </c:plotArea>
    <c:plotVisOnly val="1"/>
    <c:dispBlanksAs val="span"/>
  </c:chart>
  <c:spPr>
    <a:solidFill>
      <a:srgbClr val="F3F4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 teaching schematic of the implanted device, captured from https://uroops3d.com/lab/aus on 10 October 2026, with clinical review pending. It is not a record of an actual operation. No personal operative experience or local outcomes are asserted.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Rigicon ContiClassic IFU, CC-IFU REV.03, 12 October 2023, printed page 1 (PDF page 4). https://www.rigicon.com/files/e-labeling/ContiClassic-IFU.pdf . Manufacturer illustration, shown for component identification, without a comparative superiority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uroops3d.com/lab/aus" TargetMode="External"/><Relationship Id="rId1" Type="http://schemas.openxmlformats.org/officeDocument/2006/relationships/image" Target="../media/image-3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bju.16726" TargetMode="External"/><Relationship Id="rId2" Type="http://schemas.openxmlformats.org/officeDocument/2006/relationships/hyperlink" Target="https://uroweb.org/guidelines/management-of-non-neurogenic-male-luts/chapter/disease-management" TargetMode="External"/><Relationship Id="rId3" Type="http://schemas.openxmlformats.org/officeDocument/2006/relationships/hyperlink" Target="https://www.auanet.org/documents/Guidelines/PDF/2024%20Guidelines/IPT%20Unabridged%20Final%206-18-24.pdf" TargetMode="External"/><Relationship Id="rId4" Type="http://schemas.openxmlformats.org/officeDocument/2006/relationships/hyperlink" Target="https://uroweb.org/guidelines/urethral-strictures/chapter/disease-management-in-males" TargetMode="External"/><Relationship Id="rId5" Type="http://schemas.openxmlformats.org/officeDocument/2006/relationships/hyperlink" Target="https://www.ics.org/folder/standardisation/current-ics-standardisations/d/artificial-urinary-sphincter-report-of-the-2015-consensus-conference/download" TargetMode="External"/><Relationship Id="rId6" Type="http://schemas.openxmlformats.org/officeDocument/2006/relationships/hyperlink" Target="https://doi.org/10.1111/iju.15083" TargetMode="External"/><Relationship Id="rId7" Type="http://schemas.openxmlformats.org/officeDocument/2006/relationships/hyperlink" Target="https://www.rigicon.com/files/e-labeling/ContiClassic-IFU.pdf" TargetMode="External"/><Relationship Id="rId8" Type="http://schemas.openxmlformats.org/officeDocument/2006/relationships/hyperlink" Target="https://doi.org/10.1002/nau.23124" TargetMode="External"/><Relationship Id="rId9" Type="http://schemas.openxmlformats.org/officeDocument/2006/relationships/hyperlink" Target="https://doi.org/10.1097/JU.0000000000003985" TargetMode="External"/><Relationship Id="rId10" Type="http://schemas.openxmlformats.org/officeDocument/2006/relationships/hyperlink" Target="https://www.nice.org.uk/guidance/ng125/chapter/recommendations" TargetMode="External"/><Relationship Id="rId11" Type="http://schemas.openxmlformats.org/officeDocument/2006/relationships/hyperlink" Target="https://www.who.int/publications/i/item/9789241597906" TargetMode="External"/><Relationship Id="rId12" Type="http://schemas.openxmlformats.org/officeDocument/2006/relationships/hyperlink" Target="https://www.medicines.org.uk/emc/product/101238/smpc" TargetMode="External"/><Relationship Id="rId13" Type="http://schemas.openxmlformats.org/officeDocument/2006/relationships/hyperlink" Target="https://www.idsociety.org/practice-guideline/asymptomatic-bacteriuria/" TargetMode="External"/><Relationship Id="rId14" Type="http://schemas.openxmlformats.org/officeDocument/2006/relationships/hyperlink" Target="https://doi.org/10.1097/JU.0000000000000509" TargetMode="External"/><Relationship Id="rId15" Type="http://schemas.openxmlformats.org/officeDocument/2006/relationships/hyperlink" Target="https://pubmed.ncbi.nlm.nih.gov/37543658/" TargetMode="External"/><Relationship Id="rId16" Type="http://schemas.openxmlformats.org/officeDocument/2006/relationships/hyperlink" Target="https://doi.org/10.3310/TBFZ0277" TargetMode="External"/><Relationship Id="rId17" Type="http://schemas.openxmlformats.org/officeDocument/2006/relationships/hyperlink" Target="https://pubmed.ncbi.nlm.nih.gov/19371935/" TargetMode="External"/><Relationship Id="rId18" Type="http://schemas.openxmlformats.org/officeDocument/2006/relationships/hyperlink" Target="https://pubmed.ncbi.nlm.nih.gov/21497853/" TargetMode="External"/><Relationship Id="rId19" Type="http://schemas.openxmlformats.org/officeDocument/2006/relationships/hyperlink" Target="https://doi.org/10.1002/bco2.442" TargetMode="External"/><Relationship Id="rId20" Type="http://schemas.openxmlformats.org/officeDocument/2006/relationships/hyperlink" Target="https://pubmed.ncbi.nlm.nih.gov/36921845/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36906798/" TargetMode="External"/><Relationship Id="rId2" Type="http://schemas.openxmlformats.org/officeDocument/2006/relationships/hyperlink" Target="https://pubmed.ncbi.nlm.nih.gov/36332702/" TargetMode="External"/><Relationship Id="rId3" Type="http://schemas.openxmlformats.org/officeDocument/2006/relationships/hyperlink" Target="https://pubmed.ncbi.nlm.nih.gov/24074987/" TargetMode="External"/><Relationship Id="rId4" Type="http://schemas.openxmlformats.org/officeDocument/2006/relationships/hyperlink" Target="https://pubmed.ncbi.nlm.nih.gov/25483765/" TargetMode="External"/><Relationship Id="rId5" Type="http://schemas.openxmlformats.org/officeDocument/2006/relationships/hyperlink" Target="https://doi.org/10.3389/fsurg.2022.825239" TargetMode="External"/><Relationship Id="rId6" Type="http://schemas.openxmlformats.org/officeDocument/2006/relationships/hyperlink" Target="https://pubmed.ncbi.nlm.nih.gov/41022035/" TargetMode="External"/><Relationship Id="rId7" Type="http://schemas.openxmlformats.org/officeDocument/2006/relationships/hyperlink" Target="https://doi.org/10.5489/cuaj.6431" TargetMode="External"/><Relationship Id="rId8" Type="http://schemas.openxmlformats.org/officeDocument/2006/relationships/hyperlink" Target="https://pubmed.ncbi.nlm.nih.gov/36749394/" TargetMode="External"/><Relationship Id="rId9" Type="http://schemas.openxmlformats.org/officeDocument/2006/relationships/hyperlink" Target="https://doi.org/10.21037/tau.2019.07.18" TargetMode="External"/><Relationship Id="rId10" Type="http://schemas.openxmlformats.org/officeDocument/2006/relationships/hyperlink" Target="https://tau.amegroups.org/article/view/130351/html" TargetMode="External"/><Relationship Id="rId11" Type="http://schemas.openxmlformats.org/officeDocument/2006/relationships/hyperlink" Target="https://pubmed.ncbi.nlm.nih.gov/23164373/" TargetMode="External"/><Relationship Id="rId12" Type="http://schemas.openxmlformats.org/officeDocument/2006/relationships/hyperlink" Target="https://doi.org/10.1016/j.urology.2017.07.064" TargetMode="External"/><Relationship Id="rId13" Type="http://schemas.openxmlformats.org/officeDocument/2006/relationships/hyperlink" Target="https://doi.org/10.5152/tud.2023.22136" TargetMode="External"/><Relationship Id="rId14" Type="http://schemas.openxmlformats.org/officeDocument/2006/relationships/hyperlink" Target="https://pubmed.ncbi.nlm.nih.gov/26135815/" TargetMode="External"/><Relationship Id="rId15" Type="http://schemas.openxmlformats.org/officeDocument/2006/relationships/hyperlink" Target="https://pmc.ncbi.nlm.nih.gov/articles/PMC12794701/" TargetMode="External"/><Relationship Id="rId16" Type="http://schemas.openxmlformats.org/officeDocument/2006/relationships/hyperlink" Target="https://helpdesk.auanet.org/hc/en-us/articles/40948838469143-Guidelines" TargetMode="External"/><Relationship Id="rId17" Type="http://schemas.openxmlformats.org/officeDocument/2006/relationships/hyperlink" Target="https://journals.sagepub.com/doi/full/10.1177/20514158261451299" TargetMode="External"/><Relationship Id="rId18" Type="http://schemas.openxmlformats.org/officeDocument/2006/relationships/hyperlink" Target="https://journals.sagepub.com/doi/full/10.1177/20514158261451299" TargetMode="External"/><Relationship Id="rId19" Type="http://schemas.openxmlformats.org/officeDocument/2006/relationships/hyperlink" Target="https://doi.org/10.1097/01.JU.0001191316.72449.22.22" TargetMode="External"/><Relationship Id="rId20" Type="http://schemas.openxmlformats.org/officeDocument/2006/relationships/hyperlink" Target="https://doi.org/10.1097/01.JU.0001191316.72449.22.18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01.JU.0001191316.72449.22.17" TargetMode="External"/><Relationship Id="rId2" Type="http://schemas.openxmlformats.org/officeDocument/2006/relationships/hyperlink" Target="https://doi.org/10.1016/j.euf.2026.07.012" TargetMode="External"/><Relationship Id="rId3" Type="http://schemas.openxmlformats.org/officeDocument/2006/relationships/hyperlink" Target="https://doi.org/10.1016/j.urology.2026.05.024" TargetMode="External"/><Relationship Id="rId4" Type="http://schemas.openxmlformats.org/officeDocument/2006/relationships/hyperlink" Target="https://doi.org/10.3390/antibiotics15090894" TargetMode="External"/><Relationship Id="rId5" Type="http://schemas.openxmlformats.org/officeDocument/2006/relationships/hyperlink" Target="https://doi.org/10.1007/s11255-025-04711-y" TargetMode="External"/><Relationship Id="rId6" Type="http://schemas.openxmlformats.org/officeDocument/2006/relationships/hyperlink" Target="https://doi.org/10.1016/j.fjurol.2026.103135" TargetMode="External"/><Relationship Id="rId7" Type="http://schemas.openxmlformats.org/officeDocument/2006/relationships/hyperlink" Target="https://doi.org/10.1097/ju.0000000000005102" TargetMode="External"/><Relationship Id="rId8" Type="http://schemas.openxmlformats.org/officeDocument/2006/relationships/hyperlink" Target="https://doi.org/10.1111/bju.70224" TargetMode="External"/><Relationship Id="rId9" Type="http://schemas.openxmlformats.org/officeDocument/2006/relationships/hyperlink" Target="https://doi.org/10.1016/j.urology.2025.12.031" TargetMode="External"/><Relationship Id="rId10" Type="http://schemas.openxmlformats.org/officeDocument/2006/relationships/hyperlink" Target="https://doi.org/10.1016/j.euros.2025.12.006" TargetMode="External"/><Relationship Id="rId11" Type="http://schemas.openxmlformats.org/officeDocument/2006/relationships/hyperlink" Target="https://doi.org/10.1002/nau.70417" TargetMode="External"/><Relationship Id="rId12" Type="http://schemas.openxmlformats.org/officeDocument/2006/relationships/hyperlink" Target="https://doi.org/10.1007/s00345-026-06629-1" TargetMode="External"/><Relationship Id="rId13" Type="http://schemas.openxmlformats.org/officeDocument/2006/relationships/hyperlink" Target="https://doi.org/10.1002/nau.70400" TargetMode="External"/><Relationship Id="rId14" Type="http://schemas.openxmlformats.org/officeDocument/2006/relationships/hyperlink" Target="https://doi.org/10.1590/s1677-5538.ibju.2025.0374" TargetMode="External"/><Relationship Id="rId15" Type="http://schemas.openxmlformats.org/officeDocument/2006/relationships/hyperlink" Target="https://doi.org/10.1016/j.urology.2025.11.222" TargetMode="External"/><Relationship Id="rId16" Type="http://schemas.openxmlformats.org/officeDocument/2006/relationships/hyperlink" Target="https://doi.org/10.1007/s00345-025-05625-1" TargetMode="External"/><Relationship Id="rId17" Type="http://schemas.openxmlformats.org/officeDocument/2006/relationships/hyperlink" Target="https://doi.org/10.1097/ju.0000000000004945" TargetMode="External"/><Relationship Id="rId18" Type="http://schemas.openxmlformats.org/officeDocument/2006/relationships/hyperlink" Target="https://doi.org/10.1007/s00345-026-06246-y" TargetMode="Externa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assets\uroops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005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EXPERT TEACHING SESSION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1732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2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Artificial urinary sphincter surgery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375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selection, difficult bladders and difficult urethras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[Meeting and date]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7091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Andrew Baird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9320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Abu Yousif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47725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Nity G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ST5 Urology Registrar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 before theatre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this patient obtain useful continence while storing and emptying safely and operating the device?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 before theatre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0726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0726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device boundaries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4993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4993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patient goals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9260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29260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Timing after prostate treatment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35280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35280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 over time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7795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37795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cystoscopy before implantation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42062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42062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Urodynamics: BAUS, EAU and AUA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46329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680960" y="46329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Interpreting an imperfect study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50596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50596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Consent: improvement and lifetime burden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decision before theatre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leakage is only the starting point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880360"/>
            <a:ext cx="182880" cy="18288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SUI, safe storage, reliable emptying and usable pump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36544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2" name="Shape 10"/>
          <p:cNvSpPr/>
          <p:nvPr/>
        </p:nvSpPr>
        <p:spPr>
          <a:xfrm>
            <a:off x="3729152" y="2880360"/>
            <a:ext cx="182880" cy="182880"/>
          </a:xfrm>
          <a:prstGeom prst="ellipse">
            <a:avLst/>
          </a:prstGeom>
          <a:solidFill>
            <a:srgbClr val="B8791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10864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B879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Optimise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10864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treatable bladder or functional problem dominates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33008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525616" y="2880360"/>
            <a:ext cx="182880" cy="182880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7328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Investigate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mechanism, measurements or anatomy remain uncertain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9029471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2079" y="2880360"/>
            <a:ext cx="182880" cy="182880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03791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Reconsider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function or independent device use is unlikely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and device boundaries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AP23  ·  CCIFU  ·  AUASTATUS26  ·  DEVICE26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 · AUA amendment 2024 · EAU 2026. Meeting abstracts are separate evidence. Device results are not interchangeable.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Source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What it can tell us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Guidelines and consensus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recommended clinical pathway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Clinical studies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Outcomes in a defined population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Manufacturer IFU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Permitted use and device precautions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or local practice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practical choice with stated uncertainty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Leakage mechanism and patient goals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PAD26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count is useful; 2026 data show wide weight variability at 2–4 pads/day. Measure when severity is uncertain.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Characterise the leak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Urgency, night-time symptoms and emptying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use, pad weight and activity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Define useful improvement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Recovery trajectory and prior treatment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validated symptom and quality-of-life measure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activity the patient wants back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Timing after prostate treatment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BAUS25  ·  EAU26  ·  MASTER22  ·  MASTER26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 2026: sling remained non-inferior at 24 months; further surgery 11% after sling versus 2% after AUS. Selected population.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Guidance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six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twelve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months’ recovery for severe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twelve months for mild–moderate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Surgery may be offered for bothersome, non-improving SUI despite conservative care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Offer surgery for persisting bothersome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use over time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CCIFU  ·  FRAIL26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expl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assessment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the patient operate a demonstration pump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reach, strength and understanding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an accessible position before surgery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Assess frailty as well as future pump use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Flexible cystoscopy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EAU26  ·  EAUSTR26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IP09-22 revisits testing; full results unverified. Existing cystoscopy guidance remains applicable.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Guidance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recommends cystourethroscopy before SUI surgery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selects cystoscopy within its VUDS pathway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 inspection is a practical preference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Findings that change the plan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Stricture, BNC or VUAS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foreign material or stones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Tumour or likely repeated instrumentation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Urodynamics: BAUS, EAU and AUA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AUASTATUS26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2025, EAU 2026 and AUA 2024 differ. AUA 2026 IP09-22 is conference material; full results remain unverified.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Position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Clinical implication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Video-urodynamics for surgical candidates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Follow the investigation pathway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before invasive treatment, weak recommendation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Interpret alongside the selective-testing narrative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when diagnosis or counselling benefits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State the uncertainty the test should resolve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Interpreting an imperfect study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  ·  UDS14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capacity can reflect leakage. A weak laboratory contraction needs the real voiding history.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Dominant symptoms and demonstrated SUI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Urine, bladder diary, free flow and repeated residual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anatomy and future access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chosen guideline-based UDS strategy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safety, emptying and outlet stability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Consent: improvement and lifetime burden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  ·  CCSAFETY  ·  AUA24  ·  RT22  ·  FRAIL26  ·  REGRET26  ·  DEVICE26  ·  REPORT26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endpoints do not compare devices. Long-term regret data reinforce counselling about leakage and future surgery.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800: zero-pad use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60%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 / 101 at 12 months after activation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 2026: 115 primary implants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Single-arm, manufacturer-funded study. Missing outcomes and one-year follow-up.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1628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ContiClassic: device survival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621628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93.2%</a:t>
            </a:r>
            <a:endParaRPr lang="en-US" sz="6600" dirty="0"/>
          </a:p>
        </p:txBody>
      </p:sp>
      <p:sp>
        <p:nvSpPr>
          <p:cNvPr id="15" name="Text 13"/>
          <p:cNvSpPr txBox="1"/>
          <p:nvPr/>
        </p:nvSpPr>
        <p:spPr>
          <a:xfrm>
            <a:off x="6621628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12-month Kaplan–Meier estimate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116 recipients, mixed indications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21628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Abstract-level, no comparator. A standardised continence result is unverified.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bladder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overactivity, weak contraction and poor compliance, because each leads to a different decision.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1: six pads and urgency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treatment and emptying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2: weak contraction and residual urine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Catheterisation with a cuff in place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Detrusor overactivity and poor compliance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1: six pads and urgency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  ·  OAB11  ·  DOFAIL23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alone need not exclude general AUS surgery. ContiClassic labelling requires bladder conditions to be controlled or resolved.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post-prostatectomy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leakage and detrusor overactivity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Reassuring compliance and emptying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Goal: walk without soaking his clothes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 now or optimise first?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100938" cy="365760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10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OPTIMISE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023299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023299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Urgency treatment and emptying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AUAOAB24  ·  OAB11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universally superior treatment sequence around a cuff has been established.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Address reversible contributors and symptom burden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medication with cognition and residual urine in mind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retention and repeated access before botulinum toxin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persistent urgency as a separate outcome after AUS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2: weak contraction and residual urine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  ·  AUA24  ·  ICSUDS17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DU cohorts do not establish safety in unresolved retention. There is no universal residual cutoff.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leakage with slow voiding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Repeatedly raised residual urine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Weak contraction and abdominal straining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Obstruction and test inhibition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a reliable emptying plan change your answer?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Catheterisation with a cuff in place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  ·  CATH13  ·  CCIFU  ·  ICS16  ·  BAUSSCI26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survey highlights deactivation training gaps. Follow the actual device instructions; no universal French-size rule applies.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fully deflated.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Device deactivated.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the reason and likely frequency of catheterisation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competence and agree the drainage route before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repeated or prolonged access with specialist input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Detrusor overactivity and poor compliance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  ·  ICS16  ·  BAUS25  ·  CCIFU  ·  BAUSSCI26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Schematic traces only, with arbitrary units. Confirm trace quality and assess renal function or upper tracts when indicated.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DO: transient contraction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0" name="Chart 0" descr=""/>
          <p:cNvGraphicFramePr/>
          <p:nvPr/>
        </p:nvGraphicFramePr>
        <p:xfrm>
          <a:off x="960120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960120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Involuntary filling contraction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75908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Poor compliance: sustained rise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530188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5" name="Chart 1" descr=""/>
          <p:cNvGraphicFramePr/>
          <p:nvPr/>
        </p:nvGraphicFramePr>
        <p:xfrm>
          <a:off x="6575908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6575908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separate storage-safety problem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urethra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the narrowing, prove the outlet is stable, and plan the tissue the cuff will need.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different sites of narrowing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Reassessment and urethral stability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3: radiation and recurrent VUAS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 after urethral reconstruction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Transcorporal placement: role and costs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different sites of narrowing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  ·  BAUS25  ·  AUA24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Symptoms, flow, residual and anatomy must support a stable outlet.</a:t>
            </a:r>
            <a:endParaRPr lang="en-US" sz="1200" dirty="0"/>
          </a:p>
        </p:txBody>
      </p:sp>
      <p:pic>
        <p:nvPicPr>
          <p:cNvPr id="7" name="Image 0" descr="C:\NityProjects\AUS-Presentation\repo\presentation\assets\uroops-sagit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Anatomical distinctions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67928" y="237744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Anterior stricture: urethra and spongiosum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321040" y="323697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67928" y="315468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Bladder-neck contracture: prostate partly present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321040" y="40142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67928" y="393192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VUAS: anastomosis after radical prostatectomy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Reassessment and urethral stability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EAUSTR26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intervals describe different pathways. Recurrence pattern, tissue quality and future access remain decisive.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Interval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The relevant pathway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4–6 weeks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Interval cystoscopy after symptomatic BNC/VUAS treatment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3–6 months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Advice after redo vesicourethral anastomosis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 without recurrence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treatment of post-prostatectomy narrowing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3: radiation and recurrent VUAS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  ·  BAUS25  ·  EAUSTR26  ·  AUA24  ·  RTTIME25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Radiation increases risk. A 2025 timing study does not establish a fixed waiting rule; stable patency and reconstruction come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Radical prostatectomy and salvage radiotherapy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SUI between endoscopic treatments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vesicourethral anastomotic stenosis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Patency still depends on further intervention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Implant, stage reconstruction or reconsider the endpoint?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560966" y="3950208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560966" y="3950208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AUS after urethral reconstruction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  ·  BAUS25  ·  AUA24  ·  ICS16  ·  URETHMETA26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meta-analysis: prior urethroplasty is associated with more explantation; transecting repairs carry higher erosion risk. Observational.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reconstruction history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Repair site and operative report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Transecting or non-transecting repair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 erosion, graft or posterior reconstruction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next operation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remaining tissue and attachments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viable cuff-bearing tissue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 unsafe planes or stage the procedure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Transcorporal placement: role and costs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  ·  TC23  ·  BAUS25  ·  AP23  ·  TCSYS25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systematic review suggests less erosion but more revision. Non-randomised data do not prove causal protection.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Selected role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hazardous dorsal dissection plane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manoeuvre addressing a defined dissection problem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erosion protection remains uncertain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Costs and limitations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Corporal injury and bleeding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Sexual consequences and future prosthesis surgery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Confounding by indication in comparative series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Preparation without ritual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the activity, the product and the evidence before debating a duration.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fifteen-minute wash question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Skin culture reduction and clinical infection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 and antibiotic disagreements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Contamination control during implantation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pre-implant theatre checklist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fifteen-minute wash question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NICE  ·  WHO09  ·  PREP24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BAUS’s five-minute topical field scrub is consensus with extrapolation. Product timings address different activities.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direct AUS outcome evidence establishes a fixed 15-minute preparation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washing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Preoperative hygiene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507328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7328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55968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preparation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55968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product, site, contact and drying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Hand antisepsis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team’s hands and forearms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33008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24" name="Shape 22"/>
          <p:cNvSpPr/>
          <p:nvPr/>
        </p:nvSpPr>
        <p:spPr>
          <a:xfrm>
            <a:off x="6507328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7328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55968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Irrigation and device preparation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055968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interventions and compatibility rules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culture reduction and clinical infection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  ·  PREP24  ·  NICE  ·  CHLORA26  ·  BAUS25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 2013: 100 initial GU prosthetic procedures, 50 per arm. Immediate skin cultures, not AUS infection or a duration trial.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035040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Positive post-preparation skin cultures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960120" y="242316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132320" y="1828800"/>
            <a:ext cx="4419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microbiological endpoint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468880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AUS infection evidence remains limited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132320" y="3429000"/>
            <a:ext cx="4419295" cy="1188720"/>
          </a:xfrm>
          <a:prstGeom prst="roundRect">
            <a:avLst>
              <a:gd name="adj" fmla="val 10769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3611880"/>
            <a:ext cx="3779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product, anatomy and complete drying still matter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Urine and antibiotic disagreements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  ·  BAUS25  ·  AUAABX20  ·  ABX18  ·  CCIFU  ·  AUAABX26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IP09-18 addresses postoperative antibiotics; full results unverified. Reconcile regional IFU and local microbiology policy.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Question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Evidence or instruction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Symptomatic infection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Treat and reassess before implantation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Asymptomatic bacteriuria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 urine pathway and IDSA’s AUS-specific position differ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Complete before incision and plan appropriate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Postoperative antibiotics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Older observational data show no clear benefit; retrieved ContiClassic IFU differs.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Contamination control during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  ·  NICE  ·  AP23  ·  CCIFU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uncoated AMS 800 cohort: 90-day SSI 1/59 with gentamicin versus 2/114 without. Wide uncertainty; no equivalence proof.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implant until the field is ready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 skin contact and unnecessary handling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fresh sterile gloves and a clean handling pause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irrigation, device dipping and internal filling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pre-implant theatre checklist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  ·  BAUS25  ·  CCIFU  ·  AUAABX20  ·  IRRIG26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Check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Basis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Indication, infection review, prophylaxis and asepsis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Guidance-supported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Antiseptic, drying, antibiotic choice and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 and local policy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Model, sizes, pressure, preparation and drainage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Current device instructions and local plan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 handling pause and contamination response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implementation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Fixed 15 minutes, best irrigant, prolonged 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Unresolved evidence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design\build\envato-section-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326">
              <a:alpha val="70000"/>
            </a:srgbClr>
          </a:solidFill>
          <a:ln/>
        </p:spPr>
      </p:sp>
      <p:sp>
        <p:nvSpPr>
          <p:cNvPr id="4" name="divider gradient 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326">
                  <a:alpha val="0"/>
                </a:srgbClr>
              </a:gs>
              <a:gs pos="40000">
                <a:srgbClr val="1F2326">
                  <a:alpha val="0"/>
                </a:srgbClr>
              </a:gs>
              <a:gs pos="72000">
                <a:srgbClr val="1F2326">
                  <a:alpha val="62000"/>
                </a:srgbClr>
              </a:gs>
              <a:gs pos="100000">
                <a:srgbClr val="1F2326">
                  <a:alpha val="96000"/>
                </a:srgbClr>
              </a:gs>
            </a:gsLst>
            <a:lin ang="0" scaled="0"/>
          </a:gradFill>
          <a:ln/>
        </p:spPr>
      </p:sp>
      <p:sp>
        <p:nvSpPr>
          <p:cNvPr id="5" name="Shape 2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operation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tissue, measure what the cuff will enclose, follow the actual device protocol, and verify before closing.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Positioning and exposure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Bulbar dissection and tissue preservation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measurement and fit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injury or contamination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 and pressure selection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position and patient access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22376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80960" y="4389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checks and handover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22376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680960" y="4846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UroOps 3D: anatomy and component routes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Positioning and exposure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AP23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surge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285"/>
            <a:ext cx="7223760" cy="29788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access plan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 hip mobility and protect pressure points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perineal, abdominal and pump access together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scars, mesh, previous devices and repairs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limited exposure before further dissection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Bulbar dissection and tissue preservation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  ·  URETH26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cuff-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285"/>
            <a:ext cx="7223760" cy="29788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cuff-bearing segment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Viable tissue with adequate spongiosal support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Dorsal dissection under direct control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Mobilisation limited to the required length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Uncertain plane or integrity prompts reassessment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measurement and fit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CCIFU  ·  CCSAFETY  ·  AP23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a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852160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Sizing errors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traction and artificial compression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which tissue the cuff will enclose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exact system’s supplied sizing method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poor fit rather than increasing pressure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Urethral injury or contamination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AP23  ·  ICS16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improvised antiseptic soak cannot rescue a contaminated single-use implant.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endpoint can change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repair and safe drainage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uncertain integrity with controlled testing or endoscopy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Recognised urethral injury prompts stopping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contaminated disposables and restore the clean setup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Balloon pocket and pressure selection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AP23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safe pocket and the correct pressure component are separate decisions. Fill volumes and selection rules require the current OR protocol.</a:t>
            </a:r>
            <a:endParaRPr lang="en-US" sz="1200" dirty="0"/>
          </a:p>
        </p:txBody>
      </p:sp>
      <p:pic>
        <p:nvPicPr>
          <p:cNvPr id="7" name="Image 0" descr="C:\NityProjects\AUS-Presentation\repo\presentation\design\build\conticlassic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783080"/>
            <a:ext cx="3657600" cy="3657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09360" y="17830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20116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 label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23500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60–69 cmH₂O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309360" y="33832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36118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 consensus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9502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Commonly 61–70 cmH₂O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507492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ranges are device-specific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position and patient access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  ·  ICS16  ·  CCIFU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three-spa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285"/>
            <a:ext cx="7223760" cy="297887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functional position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accessible side agreed in clinic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Avoid crowding, skin tension and testicular compression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orientation and tubing traction before closure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access with the patient at activation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System checks and handover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ICS16  ·  AP23  ·  CATH13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Deactivation and urgent-contact instructions matter: a 2026 survey identifies training gaps. Filling follows the actual product protocol.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tubing for tension, bends and entrapment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compatible connections and device function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an open cuff and correct deactivation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device details, drainage and the urgent contact route</a:t>
            </a:r>
            <a:endParaRPr lang="en-US" sz="17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3D: anatomy and component routes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</a:t>
            </a:r>
            <a:endParaRPr lang="en-US" sz="800" dirty="0"/>
          </a:p>
        </p:txBody>
      </p:sp>
      <p:pic>
        <p:nvPicPr>
          <p:cNvPr id="6" name="Image 0" descr="C:\NityProjects\AUS-Presentation\repo\presentation\assets\uroops-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85765"/>
            <a:ext cx="7223760" cy="297791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21040" y="182880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0" y="18288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23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DEMONSTRATION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321040" y="2377440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3210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851392" y="2377440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and dorsal plane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21040" y="2944368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851392" y="2944368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access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21040" y="3511296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2104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851392" y="3511296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321040" y="4078224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51392" y="4078224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Tubing route</a:t>
            </a:r>
            <a:endParaRPr lang="en-US" sz="1500" dirty="0"/>
          </a:p>
        </p:txBody>
      </p:sp>
      <p:sp>
        <p:nvSpPr>
          <p:cNvPr id="21" name="Text 18">
            <a:hlinkClick r:id="rId2" tooltip=""/>
          </p:cNvPr>
          <p:cNvSpPr txBox="1"/>
          <p:nvPr/>
        </p:nvSpPr>
        <p:spPr>
          <a:xfrm>
            <a:off x="8321040" y="470916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u="sng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uroops3d.com/lab/aus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52578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page. Teaching schematic, clinical review pending.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the implant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over the risk, diagnose late leakage before revising, and say where the evidence stops.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Aftercare, activation and urgent review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4: leakage after three good years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Established benefit and unresolved questions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before implantation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protecting the result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Aftercare, activation and urgent review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CCIFU  ·  AUA24  ·  CATH13  ·  BAUSDAY26  ·  DAYMETA26  ·  DAYCASE26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2026 day-case audit and comparative studies support selected pathways. Confirm emptying, support and rapid access to review.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 care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day-case care with verified emptying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ContiClassic: 4–6 weeks deactivated until pain and oedema settle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Activation includes patient demonstration and device information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Earlier assessment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 or difficult voiding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Worsening pain, erythema, discharge or fever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Suspected infection or erosion needs specialist review</a:t>
            </a:r>
            <a:endParaRPr lang="en-US" sz="15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4: leakage after three good years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  ·  BAUS25  ·  AUA24  ·  CCIFU  ·  AUASAFER26  ·  PRBFAT26  ·  EROSION26  ·  SECOND26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PRB fatigue study adds a mechanical explanation. Diagnose the cause; do not automatically downsize or replace the balloon.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initially useful AUS result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leakage after three years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pump use still need assessment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mechanics and bladder dysfunction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investigate before choosing revision?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60716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60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33258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33258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63456" y="3950208"/>
            <a:ext cx="1199693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63456" y="3950208"/>
            <a:ext cx="11996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MECHANICS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98080" y="4425696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98080" y="4425696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Established benefit and unresolved questions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  ·  TC20  ·  TC23  ·  PREP24  ·  CCSAFETY  ·  DEVICE26  ·  UROACTIVE26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reviews and early electronic-AUS data add options, while comparative and long-term evidence remains limited.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Supported or plausible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patients gain substantial continence benefit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Tissue preservation and contamination control have strong rationale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access belongs in the operative plan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Still uncertain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salvage strategy for a fragile urethra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Optimal irrigants and preparation duration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Comparable long-term ContiClassic outcomes</a:t>
            </a:r>
            <a:endParaRPr lang="en-US" sz="15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DU23  ·  ICS16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SUI and a meaningful patient goal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use, access and future capability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Investigations resolving anatomy, storage and emptying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DO, DU and poor compliance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stable urethra and future access plan</a:t>
            </a:r>
            <a:endParaRPr 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protecting the result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NICE  ·  AP23  ·  ATROPHY20  ·  BAUS25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antisepsis and appropriate prophylaxis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Preserved tissue and undistorted measurement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device protocol and explicit stop conditions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deactivation, drainage and patient teaching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diagnosis before choosing revision</a:t>
            </a:r>
            <a:endParaRPr lang="en-US" sz="17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1031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bladder finding makes you defer an implant?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0080" y="317296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06324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establishes urethral stability in your practice?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40080" y="413308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02336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preparation or salvage practice needs a trial?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4864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finding would change your plan?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Outcome evidence: device and endpoint</a:t>
            </a:r>
            <a:endParaRPr lang="en-US" sz="3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 and population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Endpoint and result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AUSCO 2026: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115 primary implants, 25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months after activation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91/97 ≥50% pad-weight reduction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61/101 zero pads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Prospective single-arm, funded by manufacturer. Missing data, one year, expert centres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Linder 2015: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1,082 primary implants, 27%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Freedom from any secondary surgery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KM 74% at five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57% at ten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Historical specialist cohort. Continence and revision-free survival differ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Wilson 2024: ContiClassic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116 recipients,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Eight revisions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12-month KM device survival 93.2%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Early safety series. No standardised continence comparator;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Comparative and preparation evidence</a:t>
            </a:r>
            <a:endParaRPr lang="en-US" sz="3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Finding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MASTER 2022 /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380 randomised men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24-month non-inferiority retained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Further surgery: sling 11%, AUS 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Selected trial population. Secondary outcomes favour AUS; not general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Yeung 2013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 initial GU prosthetic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Post-preparation skin culture positivity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8% versus 32%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Surrogate outcome. Mixed devices. No AUS infection or duration conclusion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Gentamicin withdrawal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173 uncoated AMS 800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90-day SSI: 1/59 versus 2/114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significant difference detected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Sparse events, era confounding, broad systemic prophylaxis; not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versus selective UDS and meaningful outcomes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0148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484468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4468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033108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Functional eligibility in DU or chronic retention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 intervals after different reconstructions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0148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7" name="Shape 15"/>
          <p:cNvSpPr/>
          <p:nvPr/>
        </p:nvSpPr>
        <p:spPr>
          <a:xfrm>
            <a:off x="6484468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4468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33108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protection from salvage strategies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Preparation, irrigation and prolonged prophylaxis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0148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484468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8446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33108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long-term ContiClassic outcomes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5212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400" y="5477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349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Mechanisms and revision strategy in late leakage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1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consensus, BJU Int 2025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male LUTS guidelines,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AUA/GURS/SUFU IPT amendment, 2024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urethral strictures guidelines,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AUS consensus, NUU 2016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Asia-Pacific AMS 800 consensus, 2023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Rigicon ContiClassic IFU, REV.03, 2023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ICSUDS17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good urodynamic practices, 2017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AUAOAB24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AUA/SUFU idiopathic OAB guideline, 2024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NICE NG125: surgical site infection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WHO09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 hand hygiene guidance, 2009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CHLORA26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ChloraPrep UK product information,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IDSA asymptomatic bacteriuria, 2019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AUAABX20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antimicrobial prophylaxis, 2020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CCSAFETY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Wilson: ContiClassic safety, IJIR 2024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randomised trial, HTA 2022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pre-AUS urodynamics, Urology 2009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OAB11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OAB and post-prostatectomy AUS, 2011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Bhatt: preoperative DO systematic review, 2024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DOFAIL23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earlier AUS failure, 2023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2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Han: AUS with detrusor underactivity, 2023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CIC after bulbar AUS, 2023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CATH13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Seideman: prolonged catheterisation, 2013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UDS14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Weissbart: absent leak during UDS, 2014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Zhang: radiation meta-analysis, 2022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Davis: AUS after urethroplasty,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Redmond: transcorporal fragile urethra, 2020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TC23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Kurtzman: high-risk transcorporal AUS, 2023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Bergeson: urethral atrophy and revision, 2020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PREP24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Bourgi: AUS preparation protocols, 2024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Yeung: GU skin preparation RCT, 2013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ABX18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Adamsky: postoperative antibiotics, 2018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Ziegelmann: minimal-touch AUS, 2023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LINDER15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Linder: long-term AMS 800 outcomes, 2015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Kaufman: AMS 800 AUSCO study, 2026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AUASTATUS26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current guideline register, July 2026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BAUSDAY26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P4-8: day-case AUS audit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BAUSSCI26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P12-7: bulbar AUS in SCI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AUAUDS26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IP09-22: pre-AUS UDS and cystoscopy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AUAABX26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IP09-18: postoperative antibiotics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3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AUASAFER26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IP09-17: SAFER erosion management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MASTER: 24-month RCT results,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URETHMETA26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Prior urethroplasty: meta-analysis, 2026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IRRIG26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Gentamicin withdrawal: AMS 800 cohort,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DAYMETA26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AUS meta-analysis: 2026 issue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DAYCASE26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versus inpatient AUS: 177 men,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FRAIL26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Frailty and SUI surgery: Medicare cohort, 2026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PAD26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Pad count versus 24-hour weight: 2026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PRBFAT26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PRB material fatigue: 2026 issue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REGRET26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Long-term decisional regret after AUS, 2026 issue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INSTR26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AUS instrumentation knowledge survey, 2026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Immediate urethral repair at explantation,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DEVICE26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Emerging AUS devices review, 2026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SECOND26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Second AUS survival: national French cohort, 2026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TCSYS25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Transcorporal systematic review, online 2025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RTTIME25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Radiation and cuff-removal timing cohort, 2025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UROACTIVE26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Electronic AUS: first-in-human study, 2026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Standardised complication reporting: 2026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urinary sphincter surgery</dc:title>
  <dc:subject>Patient selection, difficult bladders and difficult urethras</dc:subject>
  <dc:creator>Mr Andrew Baird, Mr Abu Yousif, Nity G</dc:creator>
  <cp:lastModifiedBy>Mr Andrew Baird, Mr Abu Yousif, Nity G</cp:lastModifiedBy>
  <cp:revision>1</cp:revision>
  <dcterms:created xsi:type="dcterms:W3CDTF">2026-10-20T09:58:37Z</dcterms:created>
  <dcterms:modified xsi:type="dcterms:W3CDTF">2026-10-20T09:58:37Z</dcterms:modified>
</cp:coreProperties>
</file>