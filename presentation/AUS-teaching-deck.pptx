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025bc89eea4ffd" /><Relationship Type="http://schemas.openxmlformats.org/officeDocument/2006/relationships/extended-properties" Target="/docProps/app.xml" Id="R165de378295844a3" /><Relationship Type="http://schemas.openxmlformats.org/officeDocument/2006/relationships/officeDocument" Target="/ppt/presentation.xml" Id="R0b4d8dcabcbf4cb3" /></Relationships>
</file>

<file path=ppt/presentation.xml><?xml version="1.0" encoding="utf-8"?>
<p:presentation xmlns:p="http://schemas.openxmlformats.org/presentationml/2006/main">
  <p:sldMasterIdLst>
    <p:sldMasterId xmlns:r="http://schemas.openxmlformats.org/officeDocument/2006/relationships" id="2147483648" r:id="Ra3037b4d2f7942dc"/>
  </p:sldMasterIdLst>
  <p:notesMasterIdLst>
    <p:notesMasterId xmlns:r="http://schemas.openxmlformats.org/officeDocument/2006/relationships" r:id="Rb278855dfe5141e6"/>
  </p:notesMasterIdLst>
  <p:sldIdLst>
    <p:sldId xmlns:r="http://schemas.openxmlformats.org/officeDocument/2006/relationships" id="256" r:id="Rbbc7d0aae7c24cc7"/>
    <p:sldId xmlns:r="http://schemas.openxmlformats.org/officeDocument/2006/relationships" id="257" r:id="Rd6e7579896864372"/>
    <p:sldId xmlns:r="http://schemas.openxmlformats.org/officeDocument/2006/relationships" id="258" r:id="R66e9edd4dc1b42c8"/>
    <p:sldId xmlns:r="http://schemas.openxmlformats.org/officeDocument/2006/relationships" id="259" r:id="R6aa57c03211b4a0a"/>
    <p:sldId xmlns:r="http://schemas.openxmlformats.org/officeDocument/2006/relationships" id="260" r:id="R0a65094bd5f54be7"/>
    <p:sldId xmlns:r="http://schemas.openxmlformats.org/officeDocument/2006/relationships" id="261" r:id="R6e840b59921a4851"/>
    <p:sldId xmlns:r="http://schemas.openxmlformats.org/officeDocument/2006/relationships" id="262" r:id="Rc70d9a8edda14725"/>
    <p:sldId xmlns:r="http://schemas.openxmlformats.org/officeDocument/2006/relationships" id="263" r:id="R92519e4f753242e8"/>
    <p:sldId xmlns:r="http://schemas.openxmlformats.org/officeDocument/2006/relationships" id="264" r:id="Re6b826def8fc4775"/>
    <p:sldId xmlns:r="http://schemas.openxmlformats.org/officeDocument/2006/relationships" id="265" r:id="R19e7a79aaa6d414e"/>
    <p:sldId xmlns:r="http://schemas.openxmlformats.org/officeDocument/2006/relationships" id="266" r:id="R8467d3412cc04ce0"/>
    <p:sldId xmlns:r="http://schemas.openxmlformats.org/officeDocument/2006/relationships" id="267" r:id="R70d7d0c56c734eaf"/>
    <p:sldId xmlns:r="http://schemas.openxmlformats.org/officeDocument/2006/relationships" id="268" r:id="R41bf77c28ba94f53"/>
    <p:sldId xmlns:r="http://schemas.openxmlformats.org/officeDocument/2006/relationships" id="269" r:id="R9402e0b3aaad405b"/>
    <p:sldId xmlns:r="http://schemas.openxmlformats.org/officeDocument/2006/relationships" id="270" r:id="R9e4eb645a20543be"/>
    <p:sldId xmlns:r="http://schemas.openxmlformats.org/officeDocument/2006/relationships" id="271" r:id="R0c8c47b8dc75473f"/>
    <p:sldId xmlns:r="http://schemas.openxmlformats.org/officeDocument/2006/relationships" id="272" r:id="Rfd176154822c42c4"/>
    <p:sldId xmlns:r="http://schemas.openxmlformats.org/officeDocument/2006/relationships" id="273" r:id="R1f85db14a61345e5"/>
    <p:sldId xmlns:r="http://schemas.openxmlformats.org/officeDocument/2006/relationships" id="274" r:id="R1d5db7401fc94ea5"/>
    <p:sldId xmlns:r="http://schemas.openxmlformats.org/officeDocument/2006/relationships" id="275" r:id="Raa8b34bebe094246"/>
    <p:sldId xmlns:r="http://schemas.openxmlformats.org/officeDocument/2006/relationships" id="276" r:id="Rdc47b12bec6c4d0a"/>
    <p:sldId xmlns:r="http://schemas.openxmlformats.org/officeDocument/2006/relationships" id="277" r:id="Rfe7f1f84e0394724"/>
    <p:sldId xmlns:r="http://schemas.openxmlformats.org/officeDocument/2006/relationships" id="278" r:id="Rd7736bd45e7040f4"/>
    <p:sldId xmlns:r="http://schemas.openxmlformats.org/officeDocument/2006/relationships" id="279" r:id="R2e9f6a0d599f4265"/>
    <p:sldId xmlns:r="http://schemas.openxmlformats.org/officeDocument/2006/relationships" id="280" r:id="Rffd7f17c5cdd4ff2"/>
    <p:sldId xmlns:r="http://schemas.openxmlformats.org/officeDocument/2006/relationships" id="281" r:id="R22a907830b3043fc"/>
    <p:sldId xmlns:r="http://schemas.openxmlformats.org/officeDocument/2006/relationships" id="282" r:id="R2735146d9e0040a8"/>
    <p:sldId xmlns:r="http://schemas.openxmlformats.org/officeDocument/2006/relationships" id="283" r:id="R4cddc0fd91d34ecd"/>
    <p:sldId xmlns:r="http://schemas.openxmlformats.org/officeDocument/2006/relationships" id="284" r:id="Rf6712ad2984b4abd"/>
    <p:sldId xmlns:r="http://schemas.openxmlformats.org/officeDocument/2006/relationships" id="285" r:id="R070e257c6a3e4e4b"/>
    <p:sldId xmlns:r="http://schemas.openxmlformats.org/officeDocument/2006/relationships" id="286" r:id="R50fba3fe481640e3"/>
    <p:sldId xmlns:r="http://schemas.openxmlformats.org/officeDocument/2006/relationships" id="287" r:id="R63acfd22ed8243ca"/>
    <p:sldId xmlns:r="http://schemas.openxmlformats.org/officeDocument/2006/relationships" id="288" r:id="Rfe6dbe922688449f"/>
    <p:sldId xmlns:r="http://schemas.openxmlformats.org/officeDocument/2006/relationships" id="289" r:id="Rf6dc529066754c68"/>
    <p:sldId xmlns:r="http://schemas.openxmlformats.org/officeDocument/2006/relationships" id="290" r:id="R7924e8266b924fea"/>
    <p:sldId xmlns:r="http://schemas.openxmlformats.org/officeDocument/2006/relationships" id="291" r:id="R6288dfc3175a4661"/>
    <p:sldId xmlns:r="http://schemas.openxmlformats.org/officeDocument/2006/relationships" id="292" r:id="R9a89106ccef048ca"/>
    <p:sldId xmlns:r="http://schemas.openxmlformats.org/officeDocument/2006/relationships" id="293" r:id="R21b58d0b25594358"/>
    <p:sldId xmlns:r="http://schemas.openxmlformats.org/officeDocument/2006/relationships" id="294" r:id="R523e5d6d907d4522"/>
    <p:sldId xmlns:r="http://schemas.openxmlformats.org/officeDocument/2006/relationships" id="295" r:id="R6b589315d78241e3"/>
    <p:sldId xmlns:r="http://schemas.openxmlformats.org/officeDocument/2006/relationships" id="296" r:id="Red30abf783974b46"/>
    <p:sldId xmlns:r="http://schemas.openxmlformats.org/officeDocument/2006/relationships" id="297" r:id="R30ed5254379d471c"/>
    <p:sldId xmlns:r="http://schemas.openxmlformats.org/officeDocument/2006/relationships" id="298" r:id="R7e0543635e34486a"/>
    <p:sldId xmlns:r="http://schemas.openxmlformats.org/officeDocument/2006/relationships" id="299" r:id="Rd5aa0009234041b6"/>
    <p:sldId xmlns:r="http://schemas.openxmlformats.org/officeDocument/2006/relationships" id="300" r:id="R0ccf06a36fca4694"/>
    <p:sldId xmlns:r="http://schemas.openxmlformats.org/officeDocument/2006/relationships" id="301" r:id="R4cdee9676184474a"/>
    <p:sldId xmlns:r="http://schemas.openxmlformats.org/officeDocument/2006/relationships" id="302" r:id="Rc637e88ed6ef4eda"/>
    <p:sldId xmlns:r="http://schemas.openxmlformats.org/officeDocument/2006/relationships" id="303" r:id="Ra61e9f800f694a5d"/>
    <p:sldId xmlns:r="http://schemas.openxmlformats.org/officeDocument/2006/relationships" id="304" r:id="R69f64c47242447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0AF7EDE5-490F-44FA-BAEA-A03204E10917}">
  <a:tblStyle styleId="{0AF7EDE5-490F-44FA-BAEA-A03204E1091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&#65279;<?xml version="1.0" encoding="utf-8"?><Relationships xmlns="http://schemas.openxmlformats.org/package/2006/relationships"><Relationship Type="http://schemas.openxmlformats.org/officeDocument/2006/relationships/theme" Target="/ppt/theme/theme1.xml" Id="R35248bfc2cd3485d" /><Relationship Type="http://schemas.openxmlformats.org/officeDocument/2006/relationships/slideMaster" Target="/ppt/slideMasters/slideMaster1.xml" Id="Ra3037b4d2f7942dc" /><Relationship Type="http://schemas.openxmlformats.org/officeDocument/2006/relationships/notesMaster" Target="/ppt/notesMasters/notesMaster1.xml" Id="Rb278855dfe5141e6" /><Relationship Type="http://schemas.openxmlformats.org/officeDocument/2006/relationships/presProps" Target="/ppt/presProps.xml" Id="R153d9550a96a4f70" /><Relationship Type="http://schemas.openxmlformats.org/officeDocument/2006/relationships/tableStyles" Target="/ppt/tableStyles.xml" Id="Rca1255643c974d2d" /><Relationship Type="http://schemas.openxmlformats.org/officeDocument/2006/relationships/slide" Target="/ppt/slides/slide1.xml" Id="Rbbc7d0aae7c24cc7" /><Relationship Type="http://schemas.openxmlformats.org/officeDocument/2006/relationships/slide" Target="/ppt/slides/slide2.xml" Id="Rd6e7579896864372" /><Relationship Type="http://schemas.openxmlformats.org/officeDocument/2006/relationships/slide" Target="/ppt/slides/slide3.xml" Id="R66e9edd4dc1b42c8" /><Relationship Type="http://schemas.openxmlformats.org/officeDocument/2006/relationships/slide" Target="/ppt/slides/slide4.xml" Id="R6aa57c03211b4a0a" /><Relationship Type="http://schemas.openxmlformats.org/officeDocument/2006/relationships/slide" Target="/ppt/slides/slide5.xml" Id="R0a65094bd5f54be7" /><Relationship Type="http://schemas.openxmlformats.org/officeDocument/2006/relationships/slide" Target="/ppt/slides/slide6.xml" Id="R6e840b59921a4851" /><Relationship Type="http://schemas.openxmlformats.org/officeDocument/2006/relationships/slide" Target="/ppt/slides/slide7.xml" Id="Rc70d9a8edda14725" /><Relationship Type="http://schemas.openxmlformats.org/officeDocument/2006/relationships/slide" Target="/ppt/slides/slide8.xml" Id="R92519e4f753242e8" /><Relationship Type="http://schemas.openxmlformats.org/officeDocument/2006/relationships/slide" Target="/ppt/slides/slide9.xml" Id="Re6b826def8fc4775" /><Relationship Type="http://schemas.openxmlformats.org/officeDocument/2006/relationships/slide" Target="/ppt/slides/slide10.xml" Id="R19e7a79aaa6d414e" /><Relationship Type="http://schemas.openxmlformats.org/officeDocument/2006/relationships/slide" Target="/ppt/slides/slide11.xml" Id="R8467d3412cc04ce0" /><Relationship Type="http://schemas.openxmlformats.org/officeDocument/2006/relationships/slide" Target="/ppt/slides/slide12.xml" Id="R70d7d0c56c734eaf" /><Relationship Type="http://schemas.openxmlformats.org/officeDocument/2006/relationships/slide" Target="/ppt/slides/slide13.xml" Id="R41bf77c28ba94f53" /><Relationship Type="http://schemas.openxmlformats.org/officeDocument/2006/relationships/slide" Target="/ppt/slides/slide14.xml" Id="R9402e0b3aaad405b" /><Relationship Type="http://schemas.openxmlformats.org/officeDocument/2006/relationships/slide" Target="/ppt/slides/slide15.xml" Id="R9e4eb645a20543be" /><Relationship Type="http://schemas.openxmlformats.org/officeDocument/2006/relationships/slide" Target="/ppt/slides/slide16.xml" Id="R0c8c47b8dc75473f" /><Relationship Type="http://schemas.openxmlformats.org/officeDocument/2006/relationships/slide" Target="/ppt/slides/slide17.xml" Id="Rfd176154822c42c4" /><Relationship Type="http://schemas.openxmlformats.org/officeDocument/2006/relationships/slide" Target="/ppt/slides/slide18.xml" Id="R1f85db14a61345e5" /><Relationship Type="http://schemas.openxmlformats.org/officeDocument/2006/relationships/slide" Target="/ppt/slides/slide19.xml" Id="R1d5db7401fc94ea5" /><Relationship Type="http://schemas.openxmlformats.org/officeDocument/2006/relationships/slide" Target="/ppt/slides/slide20.xml" Id="Raa8b34bebe094246" /><Relationship Type="http://schemas.openxmlformats.org/officeDocument/2006/relationships/slide" Target="/ppt/slides/slide21.xml" Id="Rdc47b12bec6c4d0a" /><Relationship Type="http://schemas.openxmlformats.org/officeDocument/2006/relationships/slide" Target="/ppt/slides/slide22.xml" Id="Rfe7f1f84e0394724" /><Relationship Type="http://schemas.openxmlformats.org/officeDocument/2006/relationships/slide" Target="/ppt/slides/slide23.xml" Id="Rd7736bd45e7040f4" /><Relationship Type="http://schemas.openxmlformats.org/officeDocument/2006/relationships/slide" Target="/ppt/slides/slide24.xml" Id="R2e9f6a0d599f4265" /><Relationship Type="http://schemas.openxmlformats.org/officeDocument/2006/relationships/slide" Target="/ppt/slides/slide25.xml" Id="Rffd7f17c5cdd4ff2" /><Relationship Type="http://schemas.openxmlformats.org/officeDocument/2006/relationships/slide" Target="/ppt/slides/slide26.xml" Id="R22a907830b3043fc" /><Relationship Type="http://schemas.openxmlformats.org/officeDocument/2006/relationships/slide" Target="/ppt/slides/slide27.xml" Id="R2735146d9e0040a8" /><Relationship Type="http://schemas.openxmlformats.org/officeDocument/2006/relationships/slide" Target="/ppt/slides/slide28.xml" Id="R4cddc0fd91d34ecd" /><Relationship Type="http://schemas.openxmlformats.org/officeDocument/2006/relationships/slide" Target="/ppt/slides/slide29.xml" Id="Rf6712ad2984b4abd" /><Relationship Type="http://schemas.openxmlformats.org/officeDocument/2006/relationships/slide" Target="/ppt/slides/slide30.xml" Id="R070e257c6a3e4e4b" /><Relationship Type="http://schemas.openxmlformats.org/officeDocument/2006/relationships/slide" Target="/ppt/slides/slide31.xml" Id="R50fba3fe481640e3" /><Relationship Type="http://schemas.openxmlformats.org/officeDocument/2006/relationships/slide" Target="/ppt/slides/slide32.xml" Id="R63acfd22ed8243ca" /><Relationship Type="http://schemas.openxmlformats.org/officeDocument/2006/relationships/slide" Target="/ppt/slides/slide33.xml" Id="Rfe6dbe922688449f" /><Relationship Type="http://schemas.openxmlformats.org/officeDocument/2006/relationships/slide" Target="/ppt/slides/slide34.xml" Id="Rf6dc529066754c68" /><Relationship Type="http://schemas.openxmlformats.org/officeDocument/2006/relationships/slide" Target="/ppt/slides/slide35.xml" Id="R7924e8266b924fea" /><Relationship Type="http://schemas.openxmlformats.org/officeDocument/2006/relationships/slide" Target="/ppt/slides/slide36.xml" Id="R6288dfc3175a4661" /><Relationship Type="http://schemas.openxmlformats.org/officeDocument/2006/relationships/slide" Target="/ppt/slides/slide37.xml" Id="R9a89106ccef048ca" /><Relationship Type="http://schemas.openxmlformats.org/officeDocument/2006/relationships/slide" Target="/ppt/slides/slide38.xml" Id="R21b58d0b25594358" /><Relationship Type="http://schemas.openxmlformats.org/officeDocument/2006/relationships/slide" Target="/ppt/slides/slide39.xml" Id="R523e5d6d907d4522" /><Relationship Type="http://schemas.openxmlformats.org/officeDocument/2006/relationships/slide" Target="/ppt/slides/slide40.xml" Id="R6b589315d78241e3" /><Relationship Type="http://schemas.openxmlformats.org/officeDocument/2006/relationships/slide" Target="/ppt/slides/slide41.xml" Id="Red30abf783974b46" /><Relationship Type="http://schemas.openxmlformats.org/officeDocument/2006/relationships/slide" Target="/ppt/slides/slide42.xml" Id="R30ed5254379d471c" /><Relationship Type="http://schemas.openxmlformats.org/officeDocument/2006/relationships/slide" Target="/ppt/slides/slide43.xml" Id="R7e0543635e34486a" /><Relationship Type="http://schemas.openxmlformats.org/officeDocument/2006/relationships/slide" Target="/ppt/slides/slide44.xml" Id="Rd5aa0009234041b6" /><Relationship Type="http://schemas.openxmlformats.org/officeDocument/2006/relationships/slide" Target="/ppt/slides/slide45.xml" Id="R0ccf06a36fca4694" /><Relationship Type="http://schemas.openxmlformats.org/officeDocument/2006/relationships/slide" Target="/ppt/slides/slide46.xml" Id="R4cdee9676184474a" /><Relationship Type="http://schemas.openxmlformats.org/officeDocument/2006/relationships/slide" Target="/ppt/slides/slide47.xml" Id="Rc637e88ed6ef4eda" /><Relationship Type="http://schemas.openxmlformats.org/officeDocument/2006/relationships/slide" Target="/ppt/slides/slide48.xml" Id="Ra61e9f800f694a5d" /><Relationship Type="http://schemas.openxmlformats.org/officeDocument/2006/relationships/slide" Target="/ppt/slides/slide49.xml" Id="R69f64c47242447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65dbd44904e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a461274d1743f2" /><Relationship Type="http://schemas.openxmlformats.org/officeDocument/2006/relationships/notesMaster" Target="/ppt/notesMasters/notesMaster1.xml" Id="Raaa812a9ddf24e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ed996834c54af3" /><Relationship Type="http://schemas.openxmlformats.org/officeDocument/2006/relationships/notesMaster" Target="/ppt/notesMasters/notesMaster1.xml" Id="R6ab5fda8d73c42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85e28b6dd7420a" /><Relationship Type="http://schemas.openxmlformats.org/officeDocument/2006/relationships/notesMaster" Target="/ppt/notesMasters/notesMaster1.xml" Id="Rec9e58799df64c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aadf834161416e" /><Relationship Type="http://schemas.openxmlformats.org/officeDocument/2006/relationships/notesMaster" Target="/ppt/notesMasters/notesMaster1.xml" Id="R70734284422842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a4f96a6040480c" /><Relationship Type="http://schemas.openxmlformats.org/officeDocument/2006/relationships/notesMaster" Target="/ppt/notesMasters/notesMaster1.xml" Id="R87147981589d49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8e5ed4d5214e5b" /><Relationship Type="http://schemas.openxmlformats.org/officeDocument/2006/relationships/notesMaster" Target="/ppt/notesMasters/notesMaster1.xml" Id="Rb42006bda72548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230f7b546245fc" /><Relationship Type="http://schemas.openxmlformats.org/officeDocument/2006/relationships/notesMaster" Target="/ppt/notesMasters/notesMaster1.xml" Id="R93ec705f5b6542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85e594e908469b" /><Relationship Type="http://schemas.openxmlformats.org/officeDocument/2006/relationships/notesMaster" Target="/ppt/notesMasters/notesMaster1.xml" Id="R89cd3ce706c248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0c08deacec4c34" /><Relationship Type="http://schemas.openxmlformats.org/officeDocument/2006/relationships/notesMaster" Target="/ppt/notesMasters/notesMaster1.xml" Id="Rff5d6f39e19f47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00ae57c18446cb" /><Relationship Type="http://schemas.openxmlformats.org/officeDocument/2006/relationships/notesMaster" Target="/ppt/notesMasters/notesMaster1.xml" Id="Ree517f75832d45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7bcbe6178074d6c" /><Relationship Type="http://schemas.openxmlformats.org/officeDocument/2006/relationships/notesMaster" Target="/ppt/notesMasters/notesMaster1.xml" Id="R25d13a08deb646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e97007a33845db" /><Relationship Type="http://schemas.openxmlformats.org/officeDocument/2006/relationships/notesMaster" Target="/ppt/notesMasters/notesMaster1.xml" Id="Rcd151f3c8e6248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34eda5adac8454d" /><Relationship Type="http://schemas.openxmlformats.org/officeDocument/2006/relationships/notesMaster" Target="/ppt/notesMasters/notesMaster1.xml" Id="R599c29b415ce4d9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866d006a6942c1" /><Relationship Type="http://schemas.openxmlformats.org/officeDocument/2006/relationships/notesMaster" Target="/ppt/notesMasters/notesMaster1.xml" Id="R2e9d60227ca8434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8de0e68f035423b" /><Relationship Type="http://schemas.openxmlformats.org/officeDocument/2006/relationships/notesMaster" Target="/ppt/notesMasters/notesMaster1.xml" Id="R829d8087a39341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5cded62a1491a" /><Relationship Type="http://schemas.openxmlformats.org/officeDocument/2006/relationships/notesMaster" Target="/ppt/notesMasters/notesMaster1.xml" Id="R0897d56536b64c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5c54bcae8d440d7" /><Relationship Type="http://schemas.openxmlformats.org/officeDocument/2006/relationships/notesMaster" Target="/ppt/notesMasters/notesMaster1.xml" Id="R81f2331c09bb4e8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0be552f30c4a5c" /><Relationship Type="http://schemas.openxmlformats.org/officeDocument/2006/relationships/notesMaster" Target="/ppt/notesMasters/notesMaster1.xml" Id="Rb119cc1a7ef346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a14965a4704a26" /><Relationship Type="http://schemas.openxmlformats.org/officeDocument/2006/relationships/notesMaster" Target="/ppt/notesMasters/notesMaster1.xml" Id="Rd219cbdaac0343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45748edab442f1" /><Relationship Type="http://schemas.openxmlformats.org/officeDocument/2006/relationships/notesMaster" Target="/ppt/notesMasters/notesMaster1.xml" Id="Rf6efb403839d4f2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ac178d65fe645c6" /><Relationship Type="http://schemas.openxmlformats.org/officeDocument/2006/relationships/notesMaster" Target="/ppt/notesMasters/notesMaster1.xml" Id="R3637c92cb9a445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c9ca2f388044efe" /><Relationship Type="http://schemas.openxmlformats.org/officeDocument/2006/relationships/notesMaster" Target="/ppt/notesMasters/notesMaster1.xml" Id="Rd64a521e8e254c7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b24c0332824b26" /><Relationship Type="http://schemas.openxmlformats.org/officeDocument/2006/relationships/notesMaster" Target="/ppt/notesMasters/notesMaster1.xml" Id="R4413da72e01d46e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9f6dc33c7b4d35" /><Relationship Type="http://schemas.openxmlformats.org/officeDocument/2006/relationships/notesMaster" Target="/ppt/notesMasters/notesMaster1.xml" Id="R921a65e53f77445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4e352310d154ec6" /><Relationship Type="http://schemas.openxmlformats.org/officeDocument/2006/relationships/notesMaster" Target="/ppt/notesMasters/notesMaster1.xml" Id="R1e9c6b6f238944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91f961fe66a48e6" /><Relationship Type="http://schemas.openxmlformats.org/officeDocument/2006/relationships/notesMaster" Target="/ppt/notesMasters/notesMaster1.xml" Id="Rf6df3e46f1de4ec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ebfb67c51f94455" /><Relationship Type="http://schemas.openxmlformats.org/officeDocument/2006/relationships/notesMaster" Target="/ppt/notesMasters/notesMaster1.xml" Id="R47759ebca9314c9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77c704aec4842a9" /><Relationship Type="http://schemas.openxmlformats.org/officeDocument/2006/relationships/notesMaster" Target="/ppt/notesMasters/notesMaster1.xml" Id="R04d85557b3f84b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bea252d73d34d81" /><Relationship Type="http://schemas.openxmlformats.org/officeDocument/2006/relationships/notesMaster" Target="/ppt/notesMasters/notesMaster1.xml" Id="R86c86511e09a4f2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18840a39dff4154" /><Relationship Type="http://schemas.openxmlformats.org/officeDocument/2006/relationships/notesMaster" Target="/ppt/notesMasters/notesMaster1.xml" Id="R0abbedc3bfeb481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86860ecf9434bb6" /><Relationship Type="http://schemas.openxmlformats.org/officeDocument/2006/relationships/notesMaster" Target="/ppt/notesMasters/notesMaster1.xml" Id="R4c48b82a16b84ed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8d36de3873e4bb5" /><Relationship Type="http://schemas.openxmlformats.org/officeDocument/2006/relationships/notesMaster" Target="/ppt/notesMasters/notesMaster1.xml" Id="Rdef5d0d2cde1493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d02c719790f4227" /><Relationship Type="http://schemas.openxmlformats.org/officeDocument/2006/relationships/notesMaster" Target="/ppt/notesMasters/notesMaster1.xml" Id="Raee76e5b73c24d8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48a0d55754f4fb4" /><Relationship Type="http://schemas.openxmlformats.org/officeDocument/2006/relationships/notesMaster" Target="/ppt/notesMasters/notesMaster1.xml" Id="R71dfaaed40b7408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95ae870e3db4dff" /><Relationship Type="http://schemas.openxmlformats.org/officeDocument/2006/relationships/notesMaster" Target="/ppt/notesMasters/notesMaster1.xml" Id="R6eba53a78b124e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b7ae9ada85f437a" /><Relationship Type="http://schemas.openxmlformats.org/officeDocument/2006/relationships/notesMaster" Target="/ppt/notesMasters/notesMaster1.xml" Id="R304e3160e0a143f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25e952650f14ba2" /><Relationship Type="http://schemas.openxmlformats.org/officeDocument/2006/relationships/notesMaster" Target="/ppt/notesMasters/notesMaster1.xml" Id="R79311fa4513c402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daac5658473473a" /><Relationship Type="http://schemas.openxmlformats.org/officeDocument/2006/relationships/notesMaster" Target="/ppt/notesMasters/notesMaster1.xml" Id="R6edd3c9278414b0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79eb8219a7844ff" /><Relationship Type="http://schemas.openxmlformats.org/officeDocument/2006/relationships/notesMaster" Target="/ppt/notesMasters/notesMaster1.xml" Id="Ra4842960687d4dd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c8dc6d2425f41de" /><Relationship Type="http://schemas.openxmlformats.org/officeDocument/2006/relationships/notesMaster" Target="/ppt/notesMasters/notesMaster1.xml" Id="R4e2ecbc43969487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c7fb12ac3f640d7" /><Relationship Type="http://schemas.openxmlformats.org/officeDocument/2006/relationships/notesMaster" Target="/ppt/notesMasters/notesMaster1.xml" Id="Rb976bc2e504e487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3b4e2b182a4f79" /><Relationship Type="http://schemas.openxmlformats.org/officeDocument/2006/relationships/notesMaster" Target="/ppt/notesMasters/notesMaster1.xml" Id="Red53ad4433814e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821f4844ba14e91" /><Relationship Type="http://schemas.openxmlformats.org/officeDocument/2006/relationships/notesMaster" Target="/ppt/notesMasters/notesMaster1.xml" Id="R2353087497d74c2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f42a7416aa2439c" /><Relationship Type="http://schemas.openxmlformats.org/officeDocument/2006/relationships/notesMaster" Target="/ppt/notesMasters/notesMaster1.xml" Id="R0842759c1b28421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96dc550949e4a5b" /><Relationship Type="http://schemas.openxmlformats.org/officeDocument/2006/relationships/notesMaster" Target="/ppt/notesMasters/notesMaster1.xml" Id="R54df00ac00114bd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39d1d4297534a03" /><Relationship Type="http://schemas.openxmlformats.org/officeDocument/2006/relationships/notesMaster" Target="/ppt/notesMasters/notesMaster1.xml" Id="R923d72bf24ab45f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7ef68e180b0488b" /><Relationship Type="http://schemas.openxmlformats.org/officeDocument/2006/relationships/notesMaster" Target="/ppt/notesMasters/notesMaster1.xml" Id="Rdb6d3a65c1c9468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d5e5e19e3f444f3" /><Relationship Type="http://schemas.openxmlformats.org/officeDocument/2006/relationships/notesMaster" Target="/ppt/notesMasters/notesMaster1.xml" Id="R805dd86b30154f3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71b75db16754fb0" /><Relationship Type="http://schemas.openxmlformats.org/officeDocument/2006/relationships/notesMaster" Target="/ppt/notesMasters/notesMaster1.xml" Id="R90f989e7ca6c41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Cover, displayed before the timed teaching session. Presenters supplied by the user: Mr Andrew Baird, Urology Consultant, Mr Abu Yousif, Urology Consultant, and Nity G, ST5 Urology Registrar. Add the meeting and date. Add personal disclosures to the evidence slide before presenting. Image: AI-generated illustrative theatre scene, not a record of an actual operation. No personal operative experience or local outcomes are asserted.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AUS can be a technically satisfactory implant and a disappointing treatment. The cuff may coapt, the pump may cycle, and the patient may still avoid leaving the house because urgency, difficult emptying or fear of another procedure dominates his life.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Today we want to follow the decisions that separate those outcomes. We will start with what the patient actually wants, then examine the bladder and urethra that are to be operated 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will spend time on evidence based preparation and the small operative decisions that are difficult to rescue later.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One question will keep coming back: would I implant now, optimise first, investigate further, or reconsider whether an AUS is the right treatment? Each of those choices needs rationalization.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Thank you to Rigicon for organising the meeting. The clinical discussion needs to stay independent of the sponsor, so device choice should follow the evidence, patient suitability and the instructions for that device.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have useful guidance, but agreement among experts is not the same as a comparative trial. A manufacturer's instruction tells us how its product is intended to be used. It tells us nothing about whether that product outperforms another.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retrospective series can identify a concern without proving that the proposed solution prevents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BAUS consensus is particularly useful because it sets out the clinical pathway. We will compare it with EAU and AUA guidance where they differ. The ICS and Asia-Pacific consensus documents are also useful, but both are centred on AMS 800.</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aims are to choose investigations sensibly, separate three different bladder problems, preserve a usable urethra, question preparation rituals and diagnose failure before choosing revision. Where the evidence stops, we will say 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Start with a description of a bad day. Does he leak when standing, walking or coughing? Does an urge come before the leak? Is he dry overnight, or does night-time leakage suggest another cause?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Mixed symptoms are common, but the word mixed must not replace an explanation.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Demonstrate stress leakage with a suitably filled bladder and a practical provocative test. If the history and examination disagree, investigate that disagreement. A dry examination just after he has emptied his bladder proves very little.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Pad number is easy to record, but it depends on pad capacity and the patient's changing behaviour. A pad-weight assessment can quantify leakage when severity or progress is uncertain, provided the collection conditions and activity are recorded. A diary helps separate urinary frequency from precautionary voiding.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Then ask what improvement would justify an implant. Walking the golf course, returning to work or managing with one precautionary pad may matter more than a label of continence. Record a validated symptom and quality-of-life measure, and keep the patient's own goal beside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let conservative management drift on indefinitely. But do not interrupt a convincing recovery without a reason either. Establish what has been tried, whether pelvic-floor training was properly taught, and whether leakage is still improving.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Anticipated salvage treatment, recurrence and the patient's recovery so far still belong in the decision.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MASTER trial supports an informed comparison, but its non-inferiority result does not make the procedures interchangeable in every subgroup. It excluded previous continence implants and unresolved narrowing, so it should not be applied to complex revision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Ask the patient to operate a demonstration pump, and watch what happens. Arthritis, neuropathy, tremor and weak pinch may only show when he attempts the task.</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Access matters as much as strength. Can he reach the proposed side of the scrotum while seated? Obesity, a high scrotum, limited hip movement or another scrotal device can make a well placed pump unusable. Agree the side with him, because his dominant hand alone does not settle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Frailty is more than an age cutoff. Balance anaesthetic burden, recovery, expected benefit and the likelihood of future revision. If safe independent use is unlikely, reconsider the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Here, flexion means flexible cystoscopy. The AUA recommends it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Look for a stricture, vesicourethral anastomotic stenosis, bladder-neck contracture, foreign material or previous cuff erosion. Bladder stones, tumour and significant radiation changes may alter treatment or predict repeated instrumentation.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With suspected narrowing, add flow and residual assessment and define the site and length. Retrograde urethrography, sometimes with a voiding study, is useful when reconstruction is being considered or the segment cannot be assessed endoscopically.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turn a diagnostic cystoscopy into an unplanned dilation simply to complete the examination.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yield is greatest when stress leakage is uncertain, urgency is dominant, emptying is poor, compliance is a concern, or previous treatment has complicated the mechanism.</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 an uncomplicated man with demonstrable severe stress leakage, reassuring emptying and no worrying storage symptoms, urodynamics may add little under the AUA approach. BAUS and EAU still take a different position.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requesting the test, state the question. Is this unsafe storage, obstruction, weak contraction, or a bladder that never gets a chance to fill? Decide in advance what would change surgery or counselling.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found no comparative trial showing that routine testing itself improves AUS outcomes for every candidate. A consensus can recommend a sensible investigation without proof that its universal use is superior.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man who leaks throughout filling may never reach a meaningful storage challenge. A small recorded capacity can reflect leakage, urgency, discomfort, filling conditions or genuinely poor storage, and each of those leads to a different decision.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catheter in place during a pressure-flow study may inhibit voiding or alter outlet behaviour. And a man who empties by abdominal straining through a very incompetent outlet may not behave the same after continence surgery. Repeat free flow and residual measurements under representative conditions, and explain the remaining uncertainty.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pathway runs like this. Establish the dominant symptom and demonstrable stress leakage. Assess urine, diary, flow and residual, and evaluate the urethral anatomy. Use the chosen guideline-based urodynamic strategy, then classify storage safety, emptying and outlet stability.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a study is technically inadequate and its result would decide whether implantation is safe, investigate further. An uninterpretable trace is neither a contraindication nor reassurance.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Consent includes residual leakage, urgency, erosion, infection, mechanical failure and revision. Radiation and previous surgery change those risks, and future instrumentation needs precautions.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first 116-recipient ContiClassic series reported 93.2% Kaplan-Meier device survival at twelve months. A standardised continence result and primary, revision or radiation subgroup outcomes could not be verified in the accessible abstract.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That tells us about early device survival. It does not tell us about pad freedom, and it makes no comparison between devices.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Quote each endpoint with its population and time horizon. The patient should know what the device may improve and what happens if it has to be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This fictional patient uses six pads on an active day. Stress leakage is clearly demonstrated. He also has urgency leakage, and urodynamics shows detrusor overactivity, with reassuring storage pressures between contractions and adequate emptying. His urethra is patent.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Would you implant now or treat the bladder first? [Pause for eight seconds.] Both may be defensible in general AUS practice, depending on which symptom dominates, how severe the urgency is and what the device's instructions say.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Overactive bladder is a symptom syndrome, whereas detrusor overactivity is an observation during filling. One does not perfectly predict the 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systematic review found insufficient grounds to deny stress-incontinence surgery solely because DO was present, but the studies and definitions were heterogeneous. It does not guarantee that urgency or device durability is unaffected.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approach would be to offer treatment for bothersome storage symptoms, agree a separate goal for urgency, and reassess. If stress leakage remains the dominant burden and storage is safe, AUS can remain appropriate.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ContiClassic specifically, the retrieved IFU requires these bladder conditions to be treated and controlled or resolved, and irresolvable instability is contraindicated. General reassurance about DO must not override that device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Neuromodulation can also be considered through an appropriate overactive-bladder pathway. We still need to establish that the outlet is stable and emptying is adequate.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Return to the patient's two outcomes: stress leakage and urgency leakage. Improvement in one is not failure because the other persists, provided that possibility was properly discussed.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But do not dismiss severe postoperative urgency as an inevitable inconvenience. Reassess it, including infection, residual urine and device function, before escalating medication.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second fictional patient has demonstrable stress leakage but voids slowly, strains and repeatedly leaves urine behind. The pressure-flow study shows a weak contraction. Is that enough to refuse him an AUS? [Pause for eight seconds.]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First exclude a narrowing, review medications and neurological history, and compare the laboratory void with his usual void. A large residual with a weak contraction still needs an explanation. A technically poor study should not define his future treatment.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Selected retrospective data suggest that men labelled as having detrusor underactivity can do reasonably well after AUS. But one such study excluded early complications requiring revision, and the accessible report does not allow confident extrapolation to every patient with severe retention or an acontractile bladder.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AUS opens during cycling, so it differs from a permanently obstructive outlet procedure. Even so, we cannot promise that a man who empties mainly by straining will empty equally well after implantation.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initial decision is to investigate further and establish a practical emptying plan. If that becomes reliable, implantation may be reasonable. If he cannot empty or safely manage the likely rescue strategy, reconsider AUS.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No universal residual or contractility number makes this decision for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Poor compliance needs its own decision. It describes the pressure-volume relationship during filling, not simply the presence of an involuntary contraction. An apparently dry patient may be storing urine at an unacceptable pressure.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Optimise the bladder and repeat the assessment that will show whether storage is acceptable. Refractory cases may need reconstructive or diversion advice before anyone increases outlet resistance. Continence studies reporting acceptable pad use with abnormal urodynamics do not prove renal safety.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Those categories are a clinical framework and have not been validated as a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Use the anatomy in the discussion and in the referral.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every dilation, urethrotomy and reconstruction, including the operative reports. Establish how quickly the narrowing recurred and whether patency currently depends on repeated calibration. Add imaging when the anatomy, length or reconstructive plan requires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call an outlet stable after a credible interval without recurrence, with symptoms, flow, residual and endoscopic findings that support a durable outlet. A scope that happened to pass once does not show that.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Finally, think ahead. A patient who is likely to need further incision, tumour surveillance or treatment for radiation bleeding needs an access plan before a cuff makes those procedures more complicated.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recommends waiting at least six months after treating a post-prostatectomy narrowing, with no recurrence, before continence surgery. That is a genuine consensus recommendation, although it is not a randomised demonstration that six months is the unique safe interval.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AUA discussion describes interval cystoscopy at least four to six weeks after treatment of symptomatic bladder-neck contracture or anastomotic stenosis. That is a point for reassessment, with no guarantee that every reconstructed or irradiated urethra is ready for a cuff.</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EAU's three-to-six-month advice after redo vesicourethral anastomosis belongs to that particular reconstructive setting.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Staged treatment lets us observe recurrence and avoid instrumenting a newly implanted cuff. Synchronous treatment has been reported in selected expert series, but should not become the default for aggressive, recurrent disease.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decision would use the recurrence pattern, tissue quality, planned future access and the guideline context. A patient who has repeatedly restenosed after a short interval has not become low risk because the calendar reaches a convenient 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This fictional patient has had radical prostatectomy, salvage radiotherapy and repeated treatment of an anastomotic stenosis. He leaks severely when the outlet is open, but the narrowing returns. He understandably wants continence now.</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Radiation is associated with worse continence and greater erosion or explantation risk in pooled observational AUS studies. Those estimates combine different follow-up periods and case mixes, so they cannot give his personal probability of failure.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Definitive reconstruction followed by demonstrated stability and later AUS may be reasonable. In a devastated outlet with unsafe or intolerable bladder function, a different drainage or diversion strategy may ultimately offer the better life.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There is more than one defensible endpoint. Repeatedly reopening a narrow lumen is not necessarily progress if it stops us agreeing a durable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Previous urethroplasty covers several different operations. Was the urethra transected? Was there a graft, a posterior reconstruction, a prior cuff erosion or a fistula? Where is the viable spongiosum now? Those details should change where and how we dissect.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operation must preserve what remains. Avoid extending mobilisation through a repaired segment unless it is needed. A technically convenient cuff site may have poor tissue. If a safe plane cannot be established, pause and reconsider the approach or stage the operation.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multicentre cohort published in the 2026 Journal of Urology issue reports different subsequent AUS outcomes after transecting and non-transecting urethroplasty. This adds evidence beyond the older guidance, but it remains observational: stricture severity, anatomy, selection and unequal follow-up confound the comparison.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It supports taking a more detailed reconstructive history and counselling carefully, but it cannot support a retrospective claim that every transection was avoidable.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practical point is to plan the reconstruction and any future continence surgery together. After previous erosion and explantation, healing, patency and realistic reimplantation expectations need to be demonstrated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19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Transcorporal placement can avoid a hazardous dorsal dissection and include tunical tissue beneath part of the cuff. That is a plausible reconstructive purpose, but it does not prove protection from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comparative retrospective evidence points in different directions. Some fragile-urethra series favour it. Another high-risk series found more infection or erosion-related explantation in the transcorporal group. Surgeons tend to select it for the worst urethras, so confounding by indication is substantial in both directions.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Discuss corporal bleeding, erectile consequences and the implications for an existing or future penile prosthesis. Sizing must account for the tissue actually enclosed, using the relevant device protocol and no improvised correction factor.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Tandem cuffs, wraps, relocation and capsular procedures also consume tissue or add complexity. Choose a manoeuvre because it addresses a demonstrated problem, and state its limitation.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the proposal is simply to squeeze a failing urethra harder, the diagnosis and the endpoint need another look.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Is a fifteen-minute wash or scrub necessary before AUS implantation? We found no direct evidence that establishes a universal requirement.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NICE advises soap washing the day before or day of surgery. That is different from operative skin preparation, surgical hand antisepsis, wound irrigation, external device dipping and internal device filling. Identify the activity before debating its duration.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recommends a five-minute topical field scrub by Delphi consensus, and acknowledges that this is extrapolated from penile prosthesis and other implant surgery. It does not establish fifteen minutes as an AUS standard.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hands, use the selected product's surgical antisepsis instructions. For the patient's skin, use the appropriate product and its application, contact and complete drying requirements.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Waiting fifteen minutes cannot compensate for missed skin, an unsuitable product, pooled alcohol or a contaminated field. The lack of evidence for this ritual does not make antisepsis dispensable. We need correct, reproducible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 a randomised study of one hundred patients having initial genitourinary prosthetic surgery, chlorhexidine-alcohol produced fewer positive post-preparation skin cultures than povidone-iodine. The reported proportions were eight versus thirty-two per cent.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That is a microbiological endpoint in a mixed prosthesis population. The study did not show fewer ContiClassic infections.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Do not remove hair routinely. If it is required for exposure or adhesion, clipping on the day is the general NICE recommendation, and avoid skin trauma. BAUS's permissive wording on razors does not make razors an evidence-based necessity.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draping and diathermy, confirm drying and the absence of pooling in skin folds or under the patient. Those are practical safety requirements, whatever the stopwatch says.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22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Treat symptomatic urinary infection and reassess before elective implantation. Asymptomatic bacteriuria is different.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Observational AUS evidence has not shown a convincing benefit from routine postoperative oral antibiotics. However, the retrieved ContiClassic IFU describes forty-eight hours of intravenous antibiotics and five days of oral antibiotics after discharge as general care. That conflicts with shorter-prophylaxis stewardship approaches.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would respond by verifying current regional labelling and agreeing a documented protocol with the implant service and microbiology. Do not silently ignore either source, and do not describe an extended regimen as universally proven to prevent infection.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There are sensible ways to reduce contamination. Prepare the equipment before opening the implant, establish a protected sterile handling area, minimise skin contact, and avoid unnecessary traffic and repeated hand-offs.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preference is fresh sterile gloves before handling the device and after any contamination concern. We offer that as a practical control, without claiming that each glove change has been proven to reduce AUS infection.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Minimal-touch AUS series are encouraging, but they compare different eras and unequal follow-up. We cannot attribute their results to one drape or one manoeuvre. Draping should maintain access and a stable clean field, and adhesive products still require attention to skin and allergy.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Separate wound irrigation from device dipping and internal filling. General NICE guidance does not support wound irrigation solely to prevent SSI. AUS consensus literature also acknowledges uncertainty about antibiotic irrigants. A hydrophilic coating's ability to absorb a solution does not establish that any chosen antibiotic mixture improves clinical outcomes.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ContiClassic, follow the verified device instructions and obtain the operative protocol for detailed preparation. Do not substitute a remembered AMS 800 recipe or improvise an unverified antiseptic bath for an implant.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opening the implant, confirm the patient, intended operation, tissue concerns and stop conditions. Review urinary and skin infection concerns, prophylaxis delivery and the redosing plan. Confirm that the preparation is anatomically suitable and dry.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Then confirm the exact device and compatible components, available cuff sizes, planned pressure range, current instructions and the person responsible for preparation. Agree the catheter and postoperative rescue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Finally, establish what happens if the urethra is injured or sterility is compromised. A checklist is most useful when it makes that response predictable.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Audit completion of these steps. The duration of a wash is not a measure of the quality of the whole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Positioning should expose the bulbar urethra while protecting pressure points and respecting hip mobility. Check the patient before anaesthesia when restricted movement is likely to matter. Do not accept excessive flexion simply because it improves the first view.</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a standard male bulbar implant, a single-cuff perineal approach has guideline support. Other approaches may be appropriate for selected anatomy and experienced operators, but convenience alone should not determine access to a compromised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Plan where the balloon and pump will go at the same time. Previous pelvic surgery, inguinal mesh, abdominal scars and an existing penile prosthesis alter that plan. Have the relevant operative records available.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exposure is poor, improve the incision, retraction or positioning deliberately. Excessive traction to compensate for a small working space transfers force to the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purpose of exposure is to make the next decision visible, and a shorter incision is not worth losing that.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goal is a cuff around a viable urethral segment, not a completely skeletonised urethra. In a straightforward case, the proximal bulbar region often offers useful spongiosal tissue. Prior repair, erosion or scarring may change which segment is safest.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dorsal relationship to the corporal bodies is where a small error can become a full-thickness injury. Use controlled dissection with a clear view of the plane. Do not pass an instrument blindly behind the urethra and assume that resistance is a harmless adhesion.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Preserve spongiosum and vascular attachments, limit circumferential mobilisation to what the cuff requires, and control bleeding without indiscriminate thermal injury. In scarred tissue, repeated forceful spreading can do more damage than a deliberate change of approach.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If the plane disappears, stop. Improve the view, reassess the site or seek reconstructive help. Transcorporal placement may be an option in selected hands, but it should be a considered plan with consent and appropriate expertise.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Tissue preservation has a clear biological rationale. The contribution of each manoeuvre to erosion prevention has not been separated in high-quality comparative trials.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Too small a cuff can cause excessive compression, retention and tissue injury. Too large a cuff can leave poor coaptation and persistent leakage. Neither problem is reliably solved by choosing a stronger pressure-regulating balloon.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Assess the final relationship and device function, with an appropriate integrity check when indicated. If the finding and the measurement disagree, investigate the discrepancy.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early ContiClassic safety series included revisions attributed to sizing errors. That reinforces the importance of this step without telling us which sizing strategy is superior.</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More available sizes may help a surgeon choose a fit. Their availability alone is not evidence of better long-term continence or less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28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Consensus intervals are guides. The injury and the reconstruction determine the actual pathway.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These are single-use implants. A dropped or contaminated component should not return to service after an improvised antiseptic soak. Finishing with no implant can be the correct outcome when the conditions for safe implantation have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29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Pressure selection is a separate issue. ContiClassic labelling lists ranges including sixty to sixty-nine centimetres of water. AMS 800 consensus commonly discusses sixty-one to seventy. Those labels must not be treated as interchangeable operative instructions.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public ContiClassic IFU confirms sterile saline filling but directs detailed implantation to a separate Operating Room Protocol. Without that protocol we cannot verify a filling volume or a universal pressure-selection algorithm. Confirm both before surgery.</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Increasing pressure should never be a substitute for diagnosing a poor cuff fit or a failing urethra.</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source: Rigicon ContiClassic IFU, CC-IFU REV.03, 12 October 2023, printed page 1 (PDF page 4). https://www.rigicon.com/files/e-labeling/ContiClassic-IFU.pdf . Manufacturer illustration, shown for component identification, without a comparative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30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pump position is part of the functional result. The patient has already shown us where he can reach, which hand he uses and whether another scrotal device causes confusion. Use that information.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Before closure, consider how the pump will sit when the patient stands, and whether the tubing will pull it upwards. Check that its orientation permits both normal cycling and access to the deactivation control.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demonstration pump that is easy to feel on a table does not tell us that a swollen postoperative scrotum will be easy to use. Check accessibility again at activation, with the patient performing the task.</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31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Follow each tube between components. Avoid tension, excessive loops, kinks and entrapment during closure. Keep needles and instruments away from the components.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Choose an appropriate small, atraumatically placed catheter for the individual cuff and urethra, and plan early removal after an uncomplicated implant. Device instructions, an injury or a reconstruction may change that plan, and no universal catheter size should be improvised.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handover should record the model, cuff site and size, balloon specification and position, deactivated state, catheter plan and contact details. The next clinician must know there is an AUS before attempting drainage.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32. Four minutes, 46:00–50:00.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Open https://uroops3d.com/lab/aus and use the scene controls. Public page and available view labels were inspected on 30 September 2026. Schematic ContiClassic model, clinical review pending. No claim of anatomical validation.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Transition to anatomical relationships.</a:t>
            </a:r>
            <a:endParaRPr/>
          </a:p>
          <a:p xmlns:a="http://schemas.openxmlformats.org/drawingml/2006/main">
            <a:pPr marL="0" lvl="0" indent="0" algn="l">
              <a:spcBef>
                <a:spcPts val="0"/>
              </a:spcBef>
              <a:spcAft>
                <a:spcPts val="0"/>
              </a:spcAft>
              <a:buNone/>
            </a:pPr>
            <a:r>
              <a:rPr sz="1200"/>
              <a:t>00:20–01:05: Cuff site view. Discuss viable bulbar tissue and supporting spongiosum.</a:t>
            </a:r>
            <a:endParaRPr/>
          </a:p>
          <a:p xmlns:a="http://schemas.openxmlformats.org/drawingml/2006/main">
            <a:pPr marL="0" lvl="0" indent="0" algn="l">
              <a:spcBef>
                <a:spcPts val="0"/>
              </a:spcBef>
              <a:spcAft>
                <a:spcPts val="0"/>
              </a:spcAft>
              <a:buNone/>
            </a:pPr>
            <a:r>
              <a:rPr sz="1200"/>
              <a:t>01:05–01:45: Surgeon’s view. Discuss the dorsal plane and why scarred tissue changes dissection.</a:t>
            </a:r>
            <a:endParaRPr/>
          </a:p>
          <a:p xmlns:a="http://schemas.openxmlformats.org/drawingml/2006/main">
            <a:pPr marL="0" lvl="0" indent="0" algn="l">
              <a:spcBef>
                <a:spcPts val="0"/>
              </a:spcBef>
              <a:spcAft>
                <a:spcPts val="0"/>
              </a:spcAft>
              <a:buNone/>
            </a:pPr>
            <a:r>
              <a:rPr sz="1200"/>
              <a:t>01:45–02:20: The three spaces view. Discuss accessible pump position.</a:t>
            </a:r>
            <a:endParaRPr/>
          </a:p>
          <a:p xmlns:a="http://schemas.openxmlformats.org/drawingml/2006/main">
            <a:pPr marL="0" lvl="0" indent="0" algn="l">
              <a:spcBef>
                <a:spcPts val="0"/>
              </a:spcBef>
              <a:spcAft>
                <a:spcPts val="0"/>
              </a:spcAft>
              <a:buNone/>
            </a:pPr>
            <a:r>
              <a:rPr sz="1200"/>
              <a:t>02:20–03:10: Space of Retzius view. Discuss how previous surgery changes balloon access. Describe alternative pockets only verbally if absent.</a:t>
            </a:r>
            <a:endParaRPr/>
          </a:p>
          <a:p xmlns:a="http://schemas.openxmlformats.org/drawingml/2006/main">
            <a:pPr marL="0" lvl="0" indent="0" algn="l">
              <a:spcBef>
                <a:spcPts val="0"/>
              </a:spcBef>
              <a:spcAft>
                <a:spcPts val="0"/>
              </a:spcAft>
              <a:buNone/>
            </a:pPr>
            <a:r>
              <a:rPr sz="1200"/>
              <a:t>03:10–03:45: Final configuration view. Trace tubing without claiming the schematic proves tension or perfusion.</a:t>
            </a:r>
            <a:endParaRPr/>
          </a:p>
          <a:p xmlns:a="http://schemas.openxmlformats.org/drawingml/2006/main">
            <a:pPr marL="0" lvl="0" indent="0" algn="l">
              <a:spcBef>
                <a:spcPts val="0"/>
              </a:spcBef>
              <a:spcAft>
                <a:spcPts val="0"/>
              </a:spcAft>
              <a:buNone/>
            </a:pPr>
            <a:r>
              <a:rPr sz="1200"/>
              <a:t>03:45–04:00: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If loading fails, keep this slide displayed and use the original four-minute spoken fallback below. Do not spend the allocated session troubleshooting.</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 replaces the same four minutes if the live demonstration fails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[Do not troubleshoot beyond the opening twenty-second interval. Keep this slide displayed. The following six timed segments replace the live narration; they are not additional content.]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00:00-00:20: “The model is not loading, so let us walk through the same anatomy verbally. Picture the bulbar urethra in the perineum, the pump in the scrotum and the balloon beneath the abdominal wall. We will connect each position to one operative decision.”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[Pause briefly.]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03:10-04:00: “Trace the tubing between all three components. Avoid tension, sharp turns and entrapment under closure. Recheck connections, cycle the system and confirm an open cuff with correct deactivation. [Pause.]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I wanted the model to demonstrate. Let us return to postoperative care.”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ICS16 https://www.ics.org/folder/standardisation/current-ics-standardisations/d/artificial-urinary-sphincter-report-of-the-2015-consensus-conference/download; AP23 https://doi.org/10.1111/iju.15083; CCIFU https://www.rigicon.com/files/e-labeling/ContiClassic-IFU.pdf. UroOps link and model-specific verification require presenter input.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General anatomical teaching and expert synthesis. The public model is a teaching schematic awaiting clinical review. Exact device operation and placement permissions remain manufacturer-specific.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Sources: ICS16 https://www.ics.org/folder/standardisation/current-ics-standardisations/d/artificial-urinary-sphincter-report-of-the-2015-consensus-conference/download; AP23 https://doi.org/10.1111/iju.15083; CCIFU https://www.rigicon.com/files/e-labeling/ContiClassic-IFU.pdf. Image © UroOps3D / UroRef / Nity G. https://uroops3d.com/lab/aus</a:t>
            </a:r>
            <a:endParaRP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33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After uncomplicated implantation, remove the catheter early and check voiding. Persistent retention needs assessment of deactivation, oedema, cuff fit and obstruction, with safe drainage and no repeated blind catheter attempts.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Worsening pain, erythema, discharge, fever or voiding difficulty needs specialist review. Suspected erosion requires device-aware investigation, and established infection or erosion generally needs explantation, not antibiotics alone.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ContiClassic specifies four to six weeks deactivated, until pain and oedema settle. At activation, verify patient operation and emptying. Arrange subsequent functional review and access for problems.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Give him the device card and clear instructions to alert clinicians before catheterisation or endoscopy. Safe future care depends on that information reaching the person holding the instrument.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34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Our fourth fictional patient had three useful years with his AUS and now leaks again. Would you book a smaller cuff? [Pause for five seconds.]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Start by separating persistent leakage since activation from true recurrence after a successful interval. Ask whether this is activity-related leakage, urgency, overflow or difficulty cycling. Observe his technique and check the device state.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Review urine and residual, examine the components, and use appropriately deactivated cystoscopy to look for erosion and assess the urethra. Investigate fluid loss, mechanical problems and bladder dysfunction as indicated.</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Urethral atrophy is an explanation to establish, not a diagnosis made by the passage of time. Modern revision series attribute many failures to the pressure-regulating balloon or other mechanics, and the definition of atrophy often depends on how the revision was investigated. Capsular restriction and poor initial sizing can also complicate the label.</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answer may be retraining, bladder treatment, component revision, a revised cuff strategy or explantation. In an older system, discuss whole-system replacement. Repeated failure or a compromised urethra warrants specialist review before another tissue-consuming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35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AUS can deliver substantial benefit, with revision and erosion part of its lifetime burden. Tissue preservation, contamination control and planned instrumentation have strong rationale, although individual technical details often lack comparative evidence.</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We cannot name one best salvage operation for every fragile urethra, one optimal irrigant or a proven universal preparation duration. New device features need outcome evidence with comparable populations and definitions.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Make that uncertainty visible in consent and operative planning.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36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The first five take-home messages belong before theatre. Establish the leakage mechanism and the improvement that matters. Watch the patient use a pump and assess access over time. Choose investigations to answer explicit questions, acknowledging the differences between guidelines.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Keep detrusor overactivity, underactivity and poor compliance separate, because they lead to different decisions. Finally, establish a stable outlet and think through future instrumentation.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A successful implant starts with a patient, bladder and urethra that can support the intended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p xmlns:a="http://schemas.openxmlformats.org/drawingml/2006/main">
            <a:pPr marL="0" lvl="0" indent="0" algn="l">
              <a:spcBef>
                <a:spcPts val="0"/>
              </a:spcBef>
              <a:spcAft>
                <a:spcPts val="0"/>
              </a:spcAft>
              <a:buNone/>
            </a:pPr>
            <a:r>
              <a:rPr lang="en-GB" sz="1200" dirty="0"/>
              <a:t>Slide 37 : Speaker notes</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Preparation must be correct for the product, anatomy and implant pathway. A fifteen-minute ritual is not a substitute. In theatre, preserve the tissue you need, measure what the cuff will actually enclose, and correct uncertainty before closing.</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Use the instructions for the device being implanted. Similar components do not make pressure ranges, preparation or operating sequences interchangeable. Recognised injury or unsafe contamination is a reason to change the plan.</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Confirm the cuff state, drainage and the patient's ability to use the device. Make future instrumentation precautions explicit.</a:t>
            </a:r>
          </a:p>
          <a:p xmlns:a="http://schemas.openxmlformats.org/drawingml/2006/main">
            <a:pPr marL="0" lvl="0" indent="0" algn="l">
              <a:spcBef>
                <a:spcPts val="0"/>
              </a:spcBef>
              <a:spcAft>
                <a:spcPts val="0"/>
              </a:spcAft>
              <a:buNone/>
            </a:pPr>
            <a:endParaRPr lang="en-GB" sz="1200" dirty="0"/>
          </a:p>
          <a:p xmlns:a="http://schemas.openxmlformats.org/drawingml/2006/main">
            <a:pPr marL="0" lvl="0" indent="0" algn="l">
              <a:spcBef>
                <a:spcPts val="0"/>
              </a:spcBef>
              <a:spcAft>
                <a:spcPts val="0"/>
              </a:spcAft>
              <a:buNone/>
            </a:pPr>
            <a:r>
              <a:rPr lang="en-GB" sz="1200" dirty="0"/>
              <a:t>When leakage returns, diagnose it before selecting a smaller cuff or higher pressure. The goal is useful continence over time, with safe storage, emptying and an agreed plan for further treatment.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Teaching slide 38. Discussion: which finding would change your plan?</a:t>
            </a:r>
            <a:endParaRPr/>
          </a:p>
          <a:p xmlns:a="http://schemas.openxmlformats.org/drawingml/2006/main">
            <a:pPr marL="0" lvl="0" indent="0" algn="l">
              <a:spcBef>
                <a:spcPts val="0"/>
              </a:spcBef>
              <a:spcAft>
                <a:spcPts val="0"/>
              </a:spcAft>
              <a:buNone/>
            </a:pPr>
            <a:r>
              <a:rPr sz="1200"/>
              <a:t>Time 5:00. Clock 55:00-60:00.</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Speaker notes and moderation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55:00-55:20: “I would like to use these final five minutes on decisions rather than preferences alone. Choose one of the cases, tell us what you would do, and identify the finding that would make you change your plan.”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55:20-57:20: Invite a response on bladder dysfunction or urethral stability. Take one contrasting view and a brief reply. Ask, if needed: “Is that a guideline requirement, a device instruction, or your interpretation of the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57:20-59:40: Invite a second question on operative practice, preparation or failure. Use the balanced answers below if relevant. Keep individual contributions brief enough to allow disagreement and clarification.</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59:40-60:00: “Thank you. The useful differences are now clear: what the evidence supports, what the device requires and where our judgement remains decisive. Those distinctions should be visible in our consent, our operation notes and the outcomes we report.”</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References: Sources depend on the question; see the ten prepared answers and bibliography below.</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Evidence status: Moderated discussion. Audience contributions are opinion unless supported; do not convert a show of hands into consensus evidence.</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br/>
            <a:r>
              <a:rPr sz="1200"/>
              <a:t>Prepared expert questions and balanced answers, outside the timed talk:</a:t>
            </a:r>
            <a:br/>
            <a:r>
              <a:rPr sz="1200"/>
              <a:t> Ten challenging expert questions and balanced suggested answers</a:t>
            </a:r>
            <a:br/>
            <a:br/>
            <a:r>
              <a:rPr sz="1200"/>
              <a:t>These are preparation notes outside the sixty-minute running order. Use only the answer relevant to the live question.</a:t>
            </a:r>
            <a:br/>
            <a:br/>
            <a:r>
              <a:rPr sz="1200"/>
              <a:t>### 1. If BAUS recommends video-urodynamics, is selective testing unacceptable?</a:t>
            </a:r>
            <a:br/>
            <a:br/>
            <a:r>
              <a:rPr sz="1200"/>
              <a:t>BAUS and AUA take different positions; neither should be misquoted to remove that difference. BAUS favours VUDS in surgical candidates. AUA permits selective testing, while EAU has a weak pre-invasive-treatment recommendation alongside a selective narrative. A defensible pathway states which guidance it follows, confirms SUI and anatomy, and explains how storage safety and emptying were assessed. The case for UDS is stronger when those are uncertain. Its universal use has not been shown in an identified comparative trial to improve every AUS outcome. Selective testing therefore needs explicit clinical reasoning, not a claim that urodynamics is obsolete. [BAUS25]; [AUA24]; [EAU26]; [ICS16].</a:t>
            </a:r>
            <a:br/>
            <a:br/>
            <a:r>
              <a:rPr sz="1200"/>
              <a:t>### 2. What continence rate should we quote, and is ContiClassic as good as AMS 800?</a:t>
            </a:r>
            <a:br/>
            <a:br/>
            <a:r>
              <a:rPr sz="1200"/>
              <a:t>There is no defensible single rate for every patient. Specify pad-free continence, a defined allowance such as one safety pad, pad-weight improvement, patient satisfaction or freedom from revision. Quote a comparable population with radiation status and follow-up. AUSCO provides contemporary prospective AMS 800 outcomes, while historical cohorts inform durability. Neither offers a matched ContiClassic comparison. Its early report provides uncontrolled safety and survival information, without a verified standardised continence endpoint in the accessible abstract. It cannot establish equivalence or superiority. The outcome-context table below separates these endpoints and populations. [CCSAFETY]; [AUSCO26]; [LINDER15]; [MASTER22].</a:t>
            </a:r>
            <a:br/>
            <a:br/>
            <a:r>
              <a:rPr sz="1200"/>
              <a:t>### 3. Must detrusor overactivity be eliminated before any AUS?</a:t>
            </a:r>
            <a:br/>
            <a:br/>
            <a:r>
              <a:rPr sz="1200"/>
              <a:t>No single urodynamic observation should settle the general AUS decision. Relate DO to symptoms, pressures, functional capacity, treatment burden and the patient's goals. Selected clinical evidence supports implantation despite DO, but does not promise resolution of urgency or prove that DO has no association with later failure. Device instructions can be more restrictive: the reviewed ContiClassic IFU requires associated urge/overflow/instability to be controlled or resolved and contraindicates irresolvable instability. For that product, confirm and follow the current regional label. Do not use general AMS-era observational experience as an exemption from a specific contraindication. [DO24]; [DOFAIL23]; [CCIFU].</a:t>
            </a:r>
            <a:br/>
            <a:br/>
            <a:r>
              <a:rPr sz="1200"/>
              <a:t>### 4. What residual volume or contractility index is too poor for AUS?</a:t>
            </a:r>
            <a:br/>
            <a:br/>
            <a:r>
              <a:rPr sz="1200"/>
              <a:t>No universal cutoff is established for this decision. Repeated residuals, representative flow, pressure-flow quality, obstruction, straining and the proposed emptying strategy matter together. A study's BCI threshold is a research definition, not a validated post-prostatectomy implantation rule. Selected DU data are reassuring, but exclusions and incomplete subgroup reporting prevent a blanket safety claim. The question is whether this patient can empty safely after cycling and manage a credible rescue plan. If that is unresolved, investigate or optimise first. A man who may catheterise needs a separate assessment of competence, route and urethral risk. [DU23]; [CIC23]; [ICSUDS17].</a:t>
            </a:r>
            <a:br/>
            <a:br/>
            <a:r>
              <a:rPr sz="1200"/>
              <a: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Outcome definitions, populations and limitations follow the repository outcome-context table. Sources: AUSCO26 https://pmc.ncbi.nlm.nih.gov/articles/PMC12794701/</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r>
              <a:t>
The original ContiClassic safety abstract reports eight revisions, with sizing/fluid-loss causes. Device survival is not continence. Newer outcome interpretation:
REGRET26: Ninety-one men responded (87.5%), with median follow-up 82 months. Reoperation was the only independent predictor of regret in the reported model (+18 points on the Decisional Regret Scale). Continence benefit persisted but deteriorated over time. 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 https://doi.org/10.1016/j.euros.2025.12.006
SECOND26: 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 Administrative observational data distinguish replacement from reimplantation after removal. These results are not primary-implant survival, pad-free continence or a randomised choice of revision method. They strengthen consent about the uncertain path after erosion/explantation. https://doi.org/10.1590/s1677-5538.ibju.2025.0374
REPORT26: A retrospective 227-implant series using systematic complication capture reported 47% early complications, predominantly minor, and 7.9% major complications requiring intervention. Five-year explantation-free survival was 73%. Selected techniques included distal double cuffs and transcorporal cuffs. These results are not a universal primary single-bulbar-cuff complication rate. Systematic reporting and endpoint definitions explain why superficially similar published percentages differ. https://doi.org/10.1007/s00345-026-06246-y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Current comparative and preparation evidence:</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 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 https://doi.org/10.1016/j.euf.2026.07.012</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IRRIG26: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https://doi.org/10.3390/antibiotics15090894</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Yeung 2013 is still a skin-culture surrogate trial, not an AUS infection/duration trial: https://pubmed.ncbi.nlm.nih.gov/23164373/</a:t>
            </a:r>
            <a:endParaRPr/>
          </a:p>
          <a:p xmlns:a="http://schemas.openxmlformats.org/drawingml/2006/main">
            <a:pPr marL="0" lvl="0" indent="0" algn="l">
              <a:spcBef>
                <a:spcPts val="0"/>
              </a:spcBef>
              <a:spcAft>
                <a:spcPts val="0"/>
              </a:spcAft>
              <a:buNone/>
            </a:pPr>
            <a:r>
              <a:rPr sz="1200"/>
              <a:t>Bourgi 2024 remains in the bibliography as an earlier sequential preparation study: https://tau.amegroups.org/article/view/130351/html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Evidence gaps preserved from section 7 of the manuscript. No new clinical thresholds or device superiority claims are introduced.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Linked source dictionary, checked 5 October 2026:</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BAUS25 https://doi.org/10.1111/bju.16726</a:t>
            </a:r>
            <a:endParaRPr/>
          </a:p>
          <a:p xmlns:a="http://schemas.openxmlformats.org/drawingml/2006/main">
            <a:pPr marL="0" lvl="0" indent="0" algn="l">
              <a:spcBef>
                <a:spcPts val="0"/>
              </a:spcBef>
              <a:spcAft>
                <a:spcPts val="0"/>
              </a:spcAft>
              <a:buNone/>
            </a:pPr>
            <a:r>
              <a:t>EAU26 https://uroweb.org/guidelines/management-of-non-neurogenic-male-luts/chapter/disease-management</a:t>
            </a:r>
            <a:endParaRPr sz="1200"/>
          </a:p>
          <a:p xmlns:a="http://schemas.openxmlformats.org/drawingml/2006/main">
            <a:pPr marL="0" lvl="0" indent="0" algn="l">
              <a:spcBef>
                <a:spcPts val="0"/>
              </a:spcBef>
              <a:spcAft>
                <a:spcPts val="0"/>
              </a:spcAft>
              <a:buNone/>
            </a:pPr>
            <a:r>
              <a:rPr sz="1200"/>
              <a:t>AUA24 https://www.auanet.org/documents/Guidelines/PDF/2024%20Guidelines/IPT%20Unabridged%20Final%206-18-24.pdf</a:t>
            </a:r>
            <a:endParaRPr/>
          </a:p>
          <a:p xmlns:a="http://schemas.openxmlformats.org/drawingml/2006/main">
            <a:pPr marL="0" lvl="0" indent="0" algn="l">
              <a:spcBef>
                <a:spcPts val="0"/>
              </a:spcBef>
              <a:spcAft>
                <a:spcPts val="0"/>
              </a:spcAft>
              <a:buNone/>
            </a:pPr>
            <a:r>
              <a:t>EAUSTR26 https://uroweb.org/guidelines/urethral-strictures/chapter/disease-management-in-males</a:t>
            </a:r>
            <a:endParaRPr sz="1200"/>
          </a:p>
          <a:p xmlns:a="http://schemas.openxmlformats.org/drawingml/2006/main">
            <a:pPr marL="0" lvl="0" indent="0" algn="l">
              <a:spcBef>
                <a:spcPts val="0"/>
              </a:spcBef>
              <a:spcAft>
                <a:spcPts val="0"/>
              </a:spcAft>
              <a:buNone/>
            </a:pPr>
            <a:r>
              <a:rPr sz="1200"/>
              <a:t>ICS16 https://www.ics.org/folder/standardisation/current-ics-standardisations/d/artificial-urinary-sphincter-report-of-the-2015-consensus-conference/download</a:t>
            </a:r>
            <a:endParaRPr/>
          </a:p>
          <a:p xmlns:a="http://schemas.openxmlformats.org/drawingml/2006/main">
            <a:pPr marL="0" lvl="0" indent="0" algn="l">
              <a:spcBef>
                <a:spcPts val="0"/>
              </a:spcBef>
              <a:spcAft>
                <a:spcPts val="0"/>
              </a:spcAft>
              <a:buNone/>
            </a:pPr>
            <a:r>
              <a:t>AP23 https://doi.org/10.1111/iju.15083</a:t>
            </a:r>
            <a:endParaRPr sz="1200"/>
          </a:p>
          <a:p xmlns:a="http://schemas.openxmlformats.org/drawingml/2006/main">
            <a:pPr marL="0" lvl="0" indent="0" algn="l">
              <a:spcBef>
                <a:spcPts val="0"/>
              </a:spcBef>
              <a:spcAft>
                <a:spcPts val="0"/>
              </a:spcAft>
              <a:buNone/>
            </a:pPr>
            <a:r>
              <a:rPr sz="1200"/>
              <a:t>CCIFU https://www.rigicon.com/files/e-labeling/ContiClassic-IFU.pdf</a:t>
            </a:r>
            <a:endParaRPr/>
          </a:p>
          <a:p xmlns:a="http://schemas.openxmlformats.org/drawingml/2006/main">
            <a:pPr marL="0" lvl="0" indent="0" algn="l">
              <a:spcBef>
                <a:spcPts val="0"/>
              </a:spcBef>
              <a:spcAft>
                <a:spcPts val="0"/>
              </a:spcAft>
              <a:buNone/>
            </a:pPr>
            <a:r>
              <a:t>ICSUDS17 https://doi.org/10.1002/nau.23124</a:t>
            </a:r>
            <a:endParaRPr sz="1200"/>
          </a:p>
          <a:p xmlns:a="http://schemas.openxmlformats.org/drawingml/2006/main">
            <a:pPr marL="0" lvl="0" indent="0" algn="l">
              <a:spcBef>
                <a:spcPts val="0"/>
              </a:spcBef>
              <a:spcAft>
                <a:spcPts val="0"/>
              </a:spcAft>
              <a:buNone/>
            </a:pPr>
            <a:r>
              <a:rPr sz="1200"/>
              <a:t>AUAOAB24 https://doi.org/10.1097/JU.0000000000003985</a:t>
            </a:r>
            <a:endParaRPr/>
          </a:p>
          <a:p xmlns:a="http://schemas.openxmlformats.org/drawingml/2006/main">
            <a:pPr marL="0" lvl="0" indent="0" algn="l">
              <a:spcBef>
                <a:spcPts val="0"/>
              </a:spcBef>
              <a:spcAft>
                <a:spcPts val="0"/>
              </a:spcAft>
              <a:buNone/>
            </a:pPr>
            <a:r>
              <a:t>NICE https://www.nice.org.uk/guidance/ng125/chapter/recommendations</a:t>
            </a:r>
            <a:endParaRPr sz="1200"/>
          </a:p>
          <a:p xmlns:a="http://schemas.openxmlformats.org/drawingml/2006/main">
            <a:pPr marL="0" lvl="0" indent="0" algn="l">
              <a:spcBef>
                <a:spcPts val="0"/>
              </a:spcBef>
              <a:spcAft>
                <a:spcPts val="0"/>
              </a:spcAft>
              <a:buNone/>
            </a:pPr>
            <a:r>
              <a:rPr sz="1200"/>
              <a:t>WHO09 https://www.who.int/publications/i/item/9789241597906</a:t>
            </a:r>
            <a:endParaRPr/>
          </a:p>
          <a:p xmlns:a="http://schemas.openxmlformats.org/drawingml/2006/main">
            <a:pPr marL="0" lvl="0" indent="0" algn="l">
              <a:spcBef>
                <a:spcPts val="0"/>
              </a:spcBef>
              <a:spcAft>
                <a:spcPts val="0"/>
              </a:spcAft>
              <a:buNone/>
            </a:pPr>
            <a:r>
              <a:t>CHLORA26 https://www.medicines.org.uk/emc/product/101238/smpc</a:t>
            </a:r>
            <a:endParaRPr sz="1200"/>
          </a:p>
          <a:p xmlns:a="http://schemas.openxmlformats.org/drawingml/2006/main">
            <a:pPr marL="0" lvl="0" indent="0" algn="l">
              <a:spcBef>
                <a:spcPts val="0"/>
              </a:spcBef>
              <a:spcAft>
                <a:spcPts val="0"/>
              </a:spcAft>
              <a:buNone/>
            </a:pPr>
            <a:r>
              <a:rPr sz="1200"/>
              <a:t>IDSA19 https://www.idsociety.org/practice-guideline/asymptomatic-bacteriuria/</a:t>
            </a:r>
            <a:endParaRPr/>
          </a:p>
          <a:p xmlns:a="http://schemas.openxmlformats.org/drawingml/2006/main">
            <a:pPr marL="0" lvl="0" indent="0" algn="l">
              <a:spcBef>
                <a:spcPts val="0"/>
              </a:spcBef>
              <a:spcAft>
                <a:spcPts val="0"/>
              </a:spcAft>
              <a:buNone/>
            </a:pPr>
            <a:r>
              <a:t>AUAABX20 https://doi.org/10.1097/JU.0000000000000509</a:t>
            </a:r>
            <a:endParaRPr sz="1200"/>
          </a:p>
          <a:p xmlns:a="http://schemas.openxmlformats.org/drawingml/2006/main">
            <a:pPr marL="0" lvl="0" indent="0" algn="l">
              <a:spcBef>
                <a:spcPts val="0"/>
              </a:spcBef>
              <a:spcAft>
                <a:spcPts val="0"/>
              </a:spcAft>
              <a:buNone/>
            </a:pPr>
            <a:r>
              <a:rPr sz="1200"/>
              <a:t>CCSAFETY https://pubmed.ncbi.nlm.nih.gov/37543658/</a:t>
            </a:r>
            <a:endParaRPr/>
          </a:p>
          <a:p xmlns:a="http://schemas.openxmlformats.org/drawingml/2006/main">
            <a:pPr marL="0" lvl="0" indent="0" algn="l">
              <a:spcBef>
                <a:spcPts val="0"/>
              </a:spcBef>
              <a:spcAft>
                <a:spcPts val="0"/>
              </a:spcAft>
              <a:buNone/>
            </a:pPr>
            <a:r>
              <a:t>MASTER22 https://doi.org/10.3310/TBFZ0277</a:t>
            </a:r>
            <a:endParaRPr sz="1200"/>
          </a:p>
          <a:p xmlns:a="http://schemas.openxmlformats.org/drawingml/2006/main">
            <a:pPr marL="0" lvl="0" indent="0" algn="l">
              <a:spcBef>
                <a:spcPts val="0"/>
              </a:spcBef>
              <a:spcAft>
                <a:spcPts val="0"/>
              </a:spcAft>
              <a:buNone/>
            </a:pPr>
            <a:r>
              <a:rPr sz="1200"/>
              <a:t>UDS09 https://pubmed.ncbi.nlm.nih.gov/19371935/</a:t>
            </a:r>
            <a:endParaRPr/>
          </a:p>
          <a:p xmlns:a="http://schemas.openxmlformats.org/drawingml/2006/main">
            <a:pPr marL="0" lvl="0" indent="0" algn="l">
              <a:spcBef>
                <a:spcPts val="0"/>
              </a:spcBef>
              <a:spcAft>
                <a:spcPts val="0"/>
              </a:spcAft>
              <a:buNone/>
            </a:pPr>
            <a:r>
              <a:t>OAB11 https://pubmed.ncbi.nlm.nih.gov/21497853/</a:t>
            </a:r>
            <a:endParaRPr sz="1200"/>
          </a:p>
          <a:p xmlns:a="http://schemas.openxmlformats.org/drawingml/2006/main">
            <a:pPr marL="0" lvl="0" indent="0" algn="l">
              <a:spcBef>
                <a:spcPts val="0"/>
              </a:spcBef>
              <a:spcAft>
                <a:spcPts val="0"/>
              </a:spcAft>
              <a:buNone/>
            </a:pPr>
            <a:r>
              <a:rPr sz="1200"/>
              <a:t>DO24 https://doi.org/10.1002/bco2.442</a:t>
            </a:r>
            <a:endParaRPr/>
          </a:p>
          <a:p xmlns:a="http://schemas.openxmlformats.org/drawingml/2006/main">
            <a:pPr marL="0" lvl="0" indent="0" algn="l">
              <a:spcBef>
                <a:spcPts val="0"/>
              </a:spcBef>
              <a:spcAft>
                <a:spcPts val="0"/>
              </a:spcAft>
              <a:buNone/>
            </a:pPr>
            <a:r>
              <a:t>DOFAIL23 https://pubmed.ncbi.nlm.nih.gov/36921845/</a:t>
            </a:r>
            <a:endParaRPr sz="1200"/>
          </a:p>
          <a:p xmlns:a="http://schemas.openxmlformats.org/drawingml/2006/main">
            <a:pPr marL="0" lvl="0" indent="0" algn="l">
              <a:spcBef>
                <a:spcPts val="0"/>
              </a:spcBef>
              <a:spcAft>
                <a:spcPts val="0"/>
              </a:spcAft>
              <a:buNone/>
            </a:pPr>
            <a:r>
              <a:t>DU23 https://pubmed.ncbi.nlm.nih.gov/36906798/</a:t>
            </a:r>
            <a:endParaRPr sz="1200"/>
          </a:p>
          <a:p xmlns:a="http://schemas.openxmlformats.org/drawingml/2006/main">
            <a:pPr marL="0" lvl="0" indent="0" algn="l">
              <a:spcBef>
                <a:spcPts val="0"/>
              </a:spcBef>
              <a:spcAft>
                <a:spcPts val="0"/>
              </a:spcAft>
              <a:buNone/>
            </a:pPr>
            <a:r>
              <a:t>CIC23 https://pubmed.ncbi.nlm.nih.gov/36332702/</a:t>
            </a:r>
            <a:endParaRPr sz="1200"/>
          </a:p>
          <a:p xmlns:a="http://schemas.openxmlformats.org/drawingml/2006/main">
            <a:pPr marL="0" lvl="0" indent="0" algn="l">
              <a:spcBef>
                <a:spcPts val="0"/>
              </a:spcBef>
              <a:spcAft>
                <a:spcPts val="0"/>
              </a:spcAft>
              <a:buNone/>
            </a:pPr>
            <a:r>
              <a:rPr sz="1200"/>
              <a:t>CATH13 https://pubmed.ncbi.nlm.nih.gov/24074987/</a:t>
            </a:r>
            <a:endParaRPr/>
          </a:p>
          <a:p xmlns:a="http://schemas.openxmlformats.org/drawingml/2006/main">
            <a:pPr marL="0" lvl="0" indent="0" algn="l">
              <a:spcBef>
                <a:spcPts val="0"/>
              </a:spcBef>
              <a:spcAft>
                <a:spcPts val="0"/>
              </a:spcAft>
              <a:buNone/>
            </a:pPr>
            <a:r>
              <a:rPr sz="1200"/>
              <a:t>UDS14 https://pubmed.ncbi.nlm.nih.gov/25483765/</a:t>
            </a:r>
            <a:endParaRPr/>
          </a:p>
          <a:p xmlns:a="http://schemas.openxmlformats.org/drawingml/2006/main">
            <a:pPr marL="0" lvl="0" indent="0" algn="l">
              <a:spcBef>
                <a:spcPts val="0"/>
              </a:spcBef>
              <a:spcAft>
                <a:spcPts val="0"/>
              </a:spcAft>
              <a:buNone/>
            </a:pPr>
            <a:r>
              <a:rPr sz="1200"/>
              <a:t>RT22 https://doi.org/10.3389/fsurg.2022.825239</a:t>
            </a:r>
            <a:endParaRPr/>
          </a:p>
          <a:p xmlns:a="http://schemas.openxmlformats.org/drawingml/2006/main">
            <a:pPr marL="0" lvl="0" indent="0" algn="l">
              <a:spcBef>
                <a:spcPts val="0"/>
              </a:spcBef>
              <a:spcAft>
                <a:spcPts val="0"/>
              </a:spcAft>
              <a:buNone/>
            </a:pPr>
            <a:r>
              <a:rPr sz="1200"/>
              <a:t>URETH26 https://pubmed.ncbi.nlm.nih.gov/41022035/</a:t>
            </a:r>
            <a:endParaRPr/>
          </a:p>
          <a:p xmlns:a="http://schemas.openxmlformats.org/drawingml/2006/main">
            <a:pPr marL="0" lvl="0" indent="0" algn="l">
              <a:spcBef>
                <a:spcPts val="0"/>
              </a:spcBef>
              <a:spcAft>
                <a:spcPts val="0"/>
              </a:spcAft>
              <a:buNone/>
            </a:pPr>
            <a:r>
              <a:rPr sz="1200"/>
              <a:t>TC20 https://doi.org/10.5489/cuaj.6431</a:t>
            </a:r>
            <a:endParaRPr/>
          </a:p>
          <a:p xmlns:a="http://schemas.openxmlformats.org/drawingml/2006/main">
            <a:pPr marL="0" lvl="0" indent="0" algn="l">
              <a:spcBef>
                <a:spcPts val="0"/>
              </a:spcBef>
              <a:spcAft>
                <a:spcPts val="0"/>
              </a:spcAft>
              <a:buNone/>
            </a:pPr>
            <a:r>
              <a:rPr sz="1200"/>
              <a:t>TC23 https://pubmed.ncbi.nlm.nih.gov/36749394/</a:t>
            </a:r>
            <a:endParaRPr/>
          </a:p>
          <a:p xmlns:a="http://schemas.openxmlformats.org/drawingml/2006/main">
            <a:pPr marL="0" lvl="0" indent="0" algn="l">
              <a:spcBef>
                <a:spcPts val="0"/>
              </a:spcBef>
              <a:spcAft>
                <a:spcPts val="0"/>
              </a:spcAft>
              <a:buNone/>
            </a:pPr>
            <a:r>
              <a:rPr sz="1200"/>
              <a:t>ATROPHY20 https://doi.org/10.21037/tau.2019.07.18</a:t>
            </a:r>
            <a:endParaRPr/>
          </a:p>
          <a:p xmlns:a="http://schemas.openxmlformats.org/drawingml/2006/main">
            <a:pPr marL="0" lvl="0" indent="0" algn="l">
              <a:spcBef>
                <a:spcPts val="0"/>
              </a:spcBef>
              <a:spcAft>
                <a:spcPts val="0"/>
              </a:spcAft>
              <a:buNone/>
            </a:pPr>
            <a:r>
              <a:rPr sz="1200"/>
              <a:t>PREP24 https://tau.amegroups.org/article/view/130351/html</a:t>
            </a:r>
            <a:endParaRPr/>
          </a:p>
          <a:p xmlns:a="http://schemas.openxmlformats.org/drawingml/2006/main">
            <a:pPr marL="0" lvl="0" indent="0" algn="l">
              <a:spcBef>
                <a:spcPts val="0"/>
              </a:spcBef>
              <a:spcAft>
                <a:spcPts val="0"/>
              </a:spcAft>
              <a:buNone/>
            </a:pPr>
            <a:r>
              <a:rPr sz="1200"/>
              <a:t>YEUNG13 https://pubmed.ncbi.nlm.nih.gov/23164373/</a:t>
            </a:r>
            <a:endParaRPr/>
          </a:p>
          <a:p xmlns:a="http://schemas.openxmlformats.org/drawingml/2006/main">
            <a:pPr marL="0" lvl="0" indent="0" algn="l">
              <a:spcBef>
                <a:spcPts val="0"/>
              </a:spcBef>
              <a:spcAft>
                <a:spcPts val="0"/>
              </a:spcAft>
              <a:buNone/>
            </a:pPr>
            <a:r>
              <a:rPr sz="1200"/>
              <a:t>ABX18 https://doi.org/10.1016/j.urology.2017.07.064</a:t>
            </a:r>
            <a:endParaRPr/>
          </a:p>
          <a:p xmlns:a="http://schemas.openxmlformats.org/drawingml/2006/main">
            <a:pPr marL="0" lvl="0" indent="0" algn="l">
              <a:spcBef>
                <a:spcPts val="0"/>
              </a:spcBef>
              <a:spcAft>
                <a:spcPts val="0"/>
              </a:spcAft>
              <a:buNone/>
            </a:pPr>
            <a:r>
              <a:rPr sz="1200"/>
              <a:t>TOUCH23 https://doi.org/10.5152/tud.2023.22136</a:t>
            </a:r>
            <a:endParaRPr/>
          </a:p>
          <a:p xmlns:a="http://schemas.openxmlformats.org/drawingml/2006/main">
            <a:pPr marL="0" lvl="0" indent="0" algn="l">
              <a:spcBef>
                <a:spcPts val="0"/>
              </a:spcBef>
              <a:spcAft>
                <a:spcPts val="0"/>
              </a:spcAft>
              <a:buNone/>
            </a:pPr>
            <a:r>
              <a:rPr sz="1200"/>
              <a:t>LINDER15 https://pubmed.ncbi.nlm.nih.gov/26135815/</a:t>
            </a:r>
            <a:endParaRPr/>
          </a:p>
          <a:p xmlns:a="http://schemas.openxmlformats.org/drawingml/2006/main">
            <a:pPr marL="0" lvl="0" indent="0" algn="l">
              <a:spcBef>
                <a:spcPts val="0"/>
              </a:spcBef>
              <a:spcAft>
                <a:spcPts val="0"/>
              </a:spcAft>
              <a:buNone/>
            </a:pPr>
            <a:r>
              <a:rPr sz="1200"/>
              <a:t>AUSCO26 https://pmc.ncbi.nlm.nih.gov/articles/PMC12794701/</a:t>
            </a:r>
            <a:endParaRPr/>
          </a:p>
          <a:p xmlns:a="http://schemas.openxmlformats.org/drawingml/2006/main">
            <a:pPr marL="0" lvl="0" indent="0" algn="l">
              <a:spcBef>
                <a:spcPts val="0"/>
              </a:spcBef>
              <a:spcAft>
                <a:spcPts val="0"/>
              </a:spcAft>
              <a:buNone/>
            </a:pPr>
            <a:r>
              <a:rPr sz="1200"/>
              <a:t>AUASTATUS26 https://helpdesk.auanet.org/hc/en-us/articles/40948838469143-Guidelines</a:t>
            </a:r>
            <a:endParaRPr/>
          </a:p>
          <a:p xmlns:a="http://schemas.openxmlformats.org/drawingml/2006/main">
            <a:pPr marL="0" lvl="0" indent="0" algn="l">
              <a:spcBef>
                <a:spcPts val="0"/>
              </a:spcBef>
              <a:spcAft>
                <a:spcPts val="0"/>
              </a:spcAft>
              <a:buNone/>
            </a:pPr>
            <a:r>
              <a:rPr sz="1200"/>
              <a:t>BAUSDAY26 https://journals.sagepub.com/doi/full/10.1177/20514158261451299</a:t>
            </a:r>
            <a:endParaRPr/>
          </a:p>
          <a:p xmlns:a="http://schemas.openxmlformats.org/drawingml/2006/main">
            <a:pPr marL="0" lvl="0" indent="0" algn="l">
              <a:spcBef>
                <a:spcPts val="0"/>
              </a:spcBef>
              <a:spcAft>
                <a:spcPts val="0"/>
              </a:spcAft>
              <a:buNone/>
            </a:pPr>
            <a:r>
              <a:rPr sz="1200"/>
              <a:t>BAUSSCI26 https://journals.sagepub.com/doi/full/10.1177/20514158261451299</a:t>
            </a:r>
            <a:endParaRPr/>
          </a:p>
          <a:p xmlns:a="http://schemas.openxmlformats.org/drawingml/2006/main">
            <a:pPr marL="0" lvl="0" indent="0" algn="l">
              <a:spcBef>
                <a:spcPts val="0"/>
              </a:spcBef>
              <a:spcAft>
                <a:spcPts val="0"/>
              </a:spcAft>
              <a:buNone/>
            </a:pPr>
            <a:r>
              <a:rPr sz="1200"/>
              <a:t>AUAUDS26 https://doi.org/10.1097/01.JU.0001191316.72449.22.22</a:t>
            </a:r>
            <a:endParaRPr/>
          </a:p>
          <a:p xmlns:a="http://schemas.openxmlformats.org/drawingml/2006/main">
            <a:pPr marL="0" lvl="0" indent="0" algn="l">
              <a:spcBef>
                <a:spcPts val="0"/>
              </a:spcBef>
              <a:spcAft>
                <a:spcPts val="0"/>
              </a:spcAft>
              <a:buNone/>
            </a:pPr>
            <a:r>
              <a:rPr sz="1200"/>
              <a:t>AUAABX26 https://doi.org/10.1097/01.JU.0001191316.72449.22.18</a:t>
            </a:r>
            <a:endParaRPr/>
          </a:p>
          <a:p xmlns:a="http://schemas.openxmlformats.org/drawingml/2006/main">
            <a:pPr marL="0" lvl="0" indent="0" algn="l">
              <a:spcBef>
                <a:spcPts val="0"/>
              </a:spcBef>
              <a:spcAft>
                <a:spcPts val="0"/>
              </a:spcAft>
              <a:buNone/>
            </a:pPr>
            <a:r>
              <a:rPr sz="1200"/>
              <a:t>AUASAFER26 https://doi.org/10.1097/01.JU.0001191316.72449.22.17</a:t>
            </a:r>
            <a:endParaRPr/>
          </a:p>
          <a:p xmlns:a="http://schemas.openxmlformats.org/drawingml/2006/main">
            <a:pPr marL="0" lvl="0" indent="0" algn="l">
              <a:spcBef>
                <a:spcPts val="0"/>
              </a:spcBef>
              <a:spcAft>
                <a:spcPts val="0"/>
              </a:spcAft>
              <a:buNone/>
            </a:pPr>
            <a:r>
              <a:rPr sz="1200"/>
              <a:t>MASTER26 https://doi.org/10.1016/j.euf.2026.07.012</a:t>
            </a:r>
            <a:endParaRPr/>
          </a:p>
          <a:p xmlns:a="http://schemas.openxmlformats.org/drawingml/2006/main">
            <a:pPr marL="0" lvl="0" indent="0" algn="l">
              <a:spcBef>
                <a:spcPts val="0"/>
              </a:spcBef>
              <a:spcAft>
                <a:spcPts val="0"/>
              </a:spcAft>
              <a:buNone/>
            </a:pPr>
            <a:r>
              <a:rPr sz="1200"/>
              <a:t>URETHMETA26 https://doi.org/10.1016/j.urology.2026.05.024</a:t>
            </a:r>
            <a:endParaRPr/>
          </a:p>
          <a:p xmlns:a="http://schemas.openxmlformats.org/drawingml/2006/main">
            <a:pPr marL="0" lvl="0" indent="0" algn="l">
              <a:spcBef>
                <a:spcPts val="0"/>
              </a:spcBef>
              <a:spcAft>
                <a:spcPts val="0"/>
              </a:spcAft>
              <a:buNone/>
            </a:pPr>
            <a:r>
              <a:rPr sz="1200"/>
              <a:t>IRRIG26 https://doi.org/10.3390/antibiotics15090894</a:t>
            </a:r>
            <a:endParaRPr/>
          </a:p>
          <a:p xmlns:a="http://schemas.openxmlformats.org/drawingml/2006/main">
            <a:pPr marL="0" lvl="0" indent="0" algn="l">
              <a:spcBef>
                <a:spcPts val="0"/>
              </a:spcBef>
              <a:spcAft>
                <a:spcPts val="0"/>
              </a:spcAft>
              <a:buNone/>
            </a:pPr>
            <a:r>
              <a:rPr sz="1200"/>
              <a:t>DAYMETA26 https://doi.org/10.1007/s11255-025-04711-y</a:t>
            </a:r>
            <a:endParaRPr/>
          </a:p>
          <a:p xmlns:a="http://schemas.openxmlformats.org/drawingml/2006/main">
            <a:pPr marL="0" lvl="0" indent="0" algn="l">
              <a:spcBef>
                <a:spcPts val="0"/>
              </a:spcBef>
              <a:spcAft>
                <a:spcPts val="0"/>
              </a:spcAft>
              <a:buNone/>
            </a:pPr>
            <a:r>
              <a:rPr sz="1200"/>
              <a:t>DAYCASE26 https://doi.org/10.1016/j.fjurol.2026.103135</a:t>
            </a:r>
            <a:endParaRPr/>
          </a:p>
          <a:p xmlns:a="http://schemas.openxmlformats.org/drawingml/2006/main">
            <a:pPr marL="0" lvl="0" indent="0" algn="l">
              <a:spcBef>
                <a:spcPts val="0"/>
              </a:spcBef>
              <a:spcAft>
                <a:spcPts val="0"/>
              </a:spcAft>
              <a:buNone/>
            </a:pPr>
            <a:r>
              <a:rPr sz="1200"/>
              <a:t>FRAIL26 https://doi.org/10.1097/ju.0000000000005102</a:t>
            </a:r>
            <a:endParaRPr/>
          </a:p>
          <a:p xmlns:a="http://schemas.openxmlformats.org/drawingml/2006/main">
            <a:pPr marL="0" lvl="0" indent="0" algn="l">
              <a:spcBef>
                <a:spcPts val="0"/>
              </a:spcBef>
              <a:spcAft>
                <a:spcPts val="0"/>
              </a:spcAft>
              <a:buNone/>
            </a:pPr>
            <a:r>
              <a:rPr sz="1200"/>
              <a:t>PAD26 https://doi.org/10.1111/bju.70224</a:t>
            </a:r>
            <a:endParaRPr/>
          </a:p>
          <a:p xmlns:a="http://schemas.openxmlformats.org/drawingml/2006/main">
            <a:pPr marL="0" lvl="0" indent="0" algn="l">
              <a:spcBef>
                <a:spcPts val="0"/>
              </a:spcBef>
              <a:spcAft>
                <a:spcPts val="0"/>
              </a:spcAft>
              <a:buNone/>
            </a:pPr>
            <a:r>
              <a:rPr sz="1200"/>
              <a:t>PRBFAT26 https://doi.org/10.1016/j.urology.2025.12.031</a:t>
            </a:r>
            <a:endParaRPr/>
          </a:p>
          <a:p xmlns:a="http://schemas.openxmlformats.org/drawingml/2006/main">
            <a:pPr marL="0" lvl="0" indent="0" algn="l">
              <a:spcBef>
                <a:spcPts val="0"/>
              </a:spcBef>
              <a:spcAft>
                <a:spcPts val="0"/>
              </a:spcAft>
              <a:buNone/>
            </a:pPr>
            <a:r>
              <a:rPr sz="1200"/>
              <a:t>REGRET26 https://doi.org/10.1016/j.euros.2025.12.006</a:t>
            </a:r>
            <a:endParaRPr/>
          </a:p>
          <a:p xmlns:a="http://schemas.openxmlformats.org/drawingml/2006/main">
            <a:pPr marL="0" lvl="0" indent="0" algn="l">
              <a:spcBef>
                <a:spcPts val="0"/>
              </a:spcBef>
              <a:spcAft>
                <a:spcPts val="0"/>
              </a:spcAft>
              <a:buNone/>
            </a:pPr>
            <a:r>
              <a:rPr sz="1200"/>
              <a:t>INSTR26 https://doi.org/10.1002/nau.70417</a:t>
            </a:r>
            <a:endParaRPr/>
          </a:p>
          <a:p xmlns:a="http://schemas.openxmlformats.org/drawingml/2006/main">
            <a:pPr marL="0" lvl="0" indent="0" algn="l">
              <a:spcBef>
                <a:spcPts val="0"/>
              </a:spcBef>
              <a:spcAft>
                <a:spcPts val="0"/>
              </a:spcAft>
              <a:buNone/>
            </a:pPr>
            <a:r>
              <a:rPr sz="1200"/>
              <a:t>EROSION26 https://doi.org/10.1007/s00345-026-06629-1</a:t>
            </a:r>
            <a:endParaRPr/>
          </a:p>
          <a:p xmlns:a="http://schemas.openxmlformats.org/drawingml/2006/main">
            <a:pPr marL="0" lvl="0" indent="0" algn="l">
              <a:spcBef>
                <a:spcPts val="0"/>
              </a:spcBef>
              <a:spcAft>
                <a:spcPts val="0"/>
              </a:spcAft>
              <a:buNone/>
            </a:pPr>
            <a:r>
              <a:rPr sz="1200"/>
              <a:t>DEVICE26 https://doi.org/10.1002/nau.70400</a:t>
            </a:r>
            <a:endParaRPr/>
          </a:p>
          <a:p xmlns:a="http://schemas.openxmlformats.org/drawingml/2006/main">
            <a:pPr marL="0" lvl="0" indent="0" algn="l">
              <a:spcBef>
                <a:spcPts val="0"/>
              </a:spcBef>
              <a:spcAft>
                <a:spcPts val="0"/>
              </a:spcAft>
              <a:buNone/>
            </a:pPr>
            <a:r>
              <a:rPr sz="1200"/>
              <a:t>SECOND26 https://doi.org/10.1590/s1677-5538.ibju.2025.0374</a:t>
            </a:r>
            <a:endParaRPr/>
          </a:p>
          <a:p xmlns:a="http://schemas.openxmlformats.org/drawingml/2006/main">
            <a:pPr marL="0" lvl="0" indent="0" algn="l">
              <a:spcBef>
                <a:spcPts val="0"/>
              </a:spcBef>
              <a:spcAft>
                <a:spcPts val="0"/>
              </a:spcAft>
              <a:buNone/>
            </a:pPr>
            <a:r>
              <a:rPr sz="1200"/>
              <a:t>TCSYS25 https://doi.org/10.1016/j.urology.2025.11.222</a:t>
            </a:r>
            <a:endParaRPr/>
          </a:p>
          <a:p xmlns:a="http://schemas.openxmlformats.org/drawingml/2006/main">
            <a:pPr marL="0" lvl="0" indent="0" algn="l">
              <a:spcBef>
                <a:spcPts val="0"/>
              </a:spcBef>
              <a:spcAft>
                <a:spcPts val="0"/>
              </a:spcAft>
              <a:buNone/>
            </a:pPr>
            <a:r>
              <a:rPr sz="1200"/>
              <a:t>RTTIME25 https://doi.org/10.1007/s00345-025-05625-1</a:t>
            </a:r>
            <a:endParaRPr/>
          </a:p>
          <a:p xmlns:a="http://schemas.openxmlformats.org/drawingml/2006/main">
            <a:pPr marL="0" lvl="0" indent="0" algn="l">
              <a:spcBef>
                <a:spcPts val="0"/>
              </a:spcBef>
              <a:spcAft>
                <a:spcPts val="0"/>
              </a:spcAft>
              <a:buNone/>
            </a:pPr>
            <a:r>
              <a:rPr sz="1200"/>
              <a:t>UROACTIVE26 https://doi.org/10.1097/ju.0000000000004945</a:t>
            </a:r>
            <a:endParaRPr/>
          </a:p>
          <a:p xmlns:a="http://schemas.openxmlformats.org/drawingml/2006/main">
            <a:pPr marL="0" lvl="0" indent="0" algn="l">
              <a:spcBef>
                <a:spcPts val="0"/>
              </a:spcBef>
              <a:spcAft>
                <a:spcPts val="0"/>
              </a:spcAft>
              <a:buNone/>
            </a:pPr>
            <a:r>
              <a:rPr sz="1200"/>
              <a:t>REPORT26 https://doi.org/10.1007/s00345-026-06246-y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AUASTATUS26 | AUA current guideline register, July 2026</a:t>
            </a:r>
            <a:endParaRPr/>
          </a:p>
          <a:p xmlns:a="http://schemas.openxmlformats.org/drawingml/2006/main">
            <a:pPr marL="0" lvl="0" indent="0" algn="l">
              <a:spcBef>
                <a:spcPts val="0"/>
              </a:spcBef>
              <a:spcAft>
                <a:spcPts val="0"/>
              </a:spcAft>
              <a:buNone/>
            </a:pPr>
            <a:r>
              <a:t>The AUA's July 2026 register still lists Incontinence after Prostate Treatment as amended in 2024. No 2026 amendment was identified. BAUS's relevant PPI-SUI consensus remains the 2025 publication.</a:t>
            </a:r>
            <a:endParaRPr sz="1200"/>
          </a:p>
          <a:p xmlns:a="http://schemas.openxmlformats.org/drawingml/2006/main">
            <a:pPr marL="0" lvl="0" indent="0" algn="l">
              <a:spcBef>
                <a:spcPts val="0"/>
              </a:spcBef>
              <a:spcAft>
                <a:spcPts val="0"/>
              </a:spcAft>
              <a:buNone/>
            </a:pPr>
            <a:r>
              <a:rPr sz="1200"/>
              <a:t>Meeting abstracts and the AUA 2026 educational Update Series are separate from a new guideline. Preserve the actual publication years.</a:t>
            </a:r>
            <a:endParaRPr/>
          </a:p>
          <a:p xmlns:a="http://schemas.openxmlformats.org/drawingml/2006/main">
            <a:pPr marL="0" lvl="0" indent="0" algn="l">
              <a:spcBef>
                <a:spcPts val="0"/>
              </a:spcBef>
              <a:spcAft>
                <a:spcPts val="0"/>
              </a:spcAft>
              <a:buNone/>
            </a:pPr>
            <a:r>
              <a:t>https://helpdesk.auanet.org/hc/en-us/articles/40948838469143-Guidelines</a:t>
            </a:r>
            <a:endParaRPr sz="1200"/>
          </a:p>
          <a:p xmlns:a="http://schemas.openxmlformats.org/drawingml/2006/main">
            <a:pPr marL="0" lvl="0" indent="0" algn="l">
              <a:spcBef>
                <a:spcPts val="0"/>
              </a:spcBef>
              <a:spcAft>
                <a:spcPts val="0"/>
              </a:spcAft>
              <a:buNone/>
            </a:pPr>
            <a:r>
              <a:rPr sz="1200"/>
              <a:t>Access: Official AUA page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BAUSDAY26 | BAUS 2026 P4-8: day-case AUS audit</a:t>
            </a:r>
            <a:endParaRPr/>
          </a:p>
          <a:p xmlns:a="http://schemas.openxmlformats.org/drawingml/2006/main">
            <a:pPr marL="0" lvl="0" indent="0" algn="l">
              <a:spcBef>
                <a:spcPts val="0"/>
              </a:spcBef>
              <a:spcAft>
                <a:spcPts val="0"/>
              </a:spcAft>
              <a:buNone/>
            </a:pPr>
            <a:r>
              <a:t>An audit of 98 men reported 88% same-day discharge. It supports feasibility within an established service.</a:t>
            </a:r>
            <a:endParaRPr sz="1200"/>
          </a:p>
          <a:p xmlns:a="http://schemas.openxmlformats.org/drawingml/2006/main">
            <a:pPr marL="0" lvl="0" indent="0" algn="l">
              <a:spcBef>
                <a:spcPts val="0"/>
              </a:spcBef>
              <a:spcAft>
                <a:spcPts val="0"/>
              </a:spcAft>
              <a:buNone/>
            </a:pPr>
            <a:r>
              <a:rPr sz="1200"/>
              <a:t>As a conference audit with short follow-up and a selected population, it does not establish long-term equivalence or antibiotic policy.</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BAUSSCI26 | BAUS 2026 P12-7: bulbar AUS in SCI</a:t>
            </a:r>
            <a:endParaRPr/>
          </a:p>
          <a:p xmlns:a="http://schemas.openxmlformats.org/drawingml/2006/main">
            <a:pPr marL="0" lvl="0" indent="0" algn="l">
              <a:spcBef>
                <a:spcPts val="0"/>
              </a:spcBef>
              <a:spcAft>
                <a:spcPts val="0"/>
              </a:spcAft>
              <a:buNone/>
            </a:pPr>
            <a:r>
              <a:t>A small retrospective SCI series explored predominantly bulbar placement. It is a specialist discussion point.</a:t>
            </a:r>
            <a:endParaRPr sz="1200"/>
          </a:p>
          <a:p xmlns:a="http://schemas.openxmlformats.org/drawingml/2006/main">
            <a:pPr marL="0" lvl="0" indent="0" algn="l">
              <a:spcBef>
                <a:spcPts val="0"/>
              </a:spcBef>
              <a:spcAft>
                <a:spcPts val="0"/>
              </a:spcAft>
              <a:buNone/>
            </a:pPr>
            <a:r>
              <a:rPr sz="1200"/>
              <a:t>The cohort was small and selected, with no direct bladder-neck comparator and no proof of equivalence. Keep safe storage and an emptying plan central.</a:t>
            </a:r>
            <a:endParaRPr/>
          </a:p>
          <a:p xmlns:a="http://schemas.openxmlformats.org/drawingml/2006/main">
            <a:pPr marL="0" lvl="0" indent="0" algn="l">
              <a:spcBef>
                <a:spcPts val="0"/>
              </a:spcBef>
              <a:spcAft>
                <a:spcPts val="0"/>
              </a:spcAft>
              <a:buNone/>
            </a:pPr>
            <a:r>
              <a:t>https://journals.sagepub.com/doi/full/10.1177/20514158261451299</a:t>
            </a:r>
            <a:endParaRPr sz="1200"/>
          </a:p>
          <a:p xmlns:a="http://schemas.openxmlformats.org/drawingml/2006/main">
            <a:pPr marL="0" lvl="0" indent="0" algn="l">
              <a:spcBef>
                <a:spcPts val="0"/>
              </a:spcBef>
              <a:spcAft>
                <a:spcPts val="0"/>
              </a:spcAft>
              <a:buNone/>
            </a:pPr>
            <a:r>
              <a:rPr sz="1200"/>
              <a:t>Access: Published BAUS abstract read in full</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AUAUDS26 | AUA 2026 IP09-22: pre-AUS UDS and cystoscopy</a:t>
            </a:r>
            <a:endParaRPr/>
          </a:p>
          <a:p xmlns:a="http://schemas.openxmlformats.org/drawingml/2006/main">
            <a:pPr marL="0" lvl="0" indent="0" algn="l">
              <a:spcBef>
                <a:spcPts val="0"/>
              </a:spcBef>
              <a:spcAft>
                <a:spcPts val="0"/>
              </a:spcAft>
              <a:buNone/>
            </a:pPr>
            <a:r>
              <a:t>The 2026 male-incontinence session revisited the value of preoperative UDS and cystoscopy.</a:t>
            </a:r>
            <a:endParaRPr sz="1200"/>
          </a:p>
          <a:p xmlns:a="http://schemas.openxmlformats.org/drawingml/2006/main">
            <a:pPr marL="0" lvl="0" indent="0" algn="l">
              <a:spcBef>
                <a:spcPts val="0"/>
              </a:spcBef>
              <a:spcAft>
                <a:spcPts val="0"/>
              </a:spcAft>
              <a:buNone/>
            </a:pPr>
            <a:r>
              <a:t>The programme and title were verified, but complete methods, results and denominators were unavailable. No numerical result or change in practice is inferred. This is conference material, not an AUA guideline.</a:t>
            </a:r>
            <a:endParaRPr sz="1200"/>
          </a:p>
          <a:p xmlns:a="http://schemas.openxmlformats.org/drawingml/2006/main">
            <a:pPr marL="0" lvl="0" indent="0" algn="l">
              <a:spcBef>
                <a:spcPts val="0"/>
              </a:spcBef>
              <a:spcAft>
                <a:spcPts val="0"/>
              </a:spcAft>
              <a:buNone/>
            </a:pPr>
            <a:r>
              <a:t>https://doi.org/10.1097/01.JU.0001191316.72449.22.22</a:t>
            </a:r>
            <a:endParaRPr sz="1200"/>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AUAABX26 | AUA 2026 IP09-18: postoperative antibiotics</a:t>
            </a:r>
            <a:endParaRPr/>
          </a:p>
          <a:p xmlns:a="http://schemas.openxmlformats.org/drawingml/2006/main">
            <a:pPr marL="0" lvl="0" indent="0" algn="l">
              <a:spcBef>
                <a:spcPts val="0"/>
              </a:spcBef>
              <a:spcAft>
                <a:spcPts val="0"/>
              </a:spcAft>
              <a:buNone/>
            </a:pPr>
            <a:r>
              <a:rPr sz="1200"/>
              <a:t>The 2026 meeting included an AUS postoperative-antibiotic report. Its title states no infection benefit.</a:t>
            </a:r>
            <a:endParaRPr/>
          </a:p>
          <a:p xmlns:a="http://schemas.openxmlformats.org/drawingml/2006/main">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https://doi.org/10.1097/01.JU.0001191316.72449.22.18</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AUASAFER26 | AUA 2026 IP09-17: SAFER erosion management</a:t>
            </a:r>
            <a:endParaRPr/>
          </a:p>
          <a:p xmlns:a="http://schemas.openxmlformats.org/drawingml/2006/main">
            <a:pPr marL="0" lvl="0" indent="0" algn="l">
              <a:spcBef>
                <a:spcPts val="0"/>
              </a:spcBef>
              <a:spcAft>
                <a:spcPts val="0"/>
              </a:spcAft>
              <a:buNone/>
            </a:pPr>
            <a:r>
              <a:rPr sz="1200"/>
              <a:t>SAFER compared in situ urethroplasty with conservative management at explantation for cuff erosion.</a:t>
            </a:r>
            <a:endParaRPr/>
          </a:p>
          <a:p xmlns:a="http://schemas.openxmlformats.org/drawingml/2006/main">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xmlns:a="http://schemas.openxmlformats.org/drawingml/2006/main">
            <a:pPr marL="0" lvl="0" indent="0" algn="l">
              <a:spcBef>
                <a:spcPts val="0"/>
              </a:spcBef>
              <a:spcAft>
                <a:spcPts val="0"/>
              </a:spcAft>
              <a:buNone/>
            </a:pPr>
            <a:r>
              <a:rPr sz="1200"/>
              <a:t>https://doi.org/10.1097/01.JU.0001191316.72449.22.17</a:t>
            </a:r>
            <a:endParaRPr/>
          </a:p>
          <a:p xmlns:a="http://schemas.openxmlformats.org/drawingml/2006/main">
            <a:pPr marL="0" lvl="0" indent="0" algn="l">
              <a:spcBef>
                <a:spcPts val="0"/>
              </a:spcBef>
              <a:spcAft>
                <a:spcPts val="0"/>
              </a:spcAft>
              <a:buNone/>
            </a:pPr>
            <a:r>
              <a:rPr sz="1200"/>
              <a:t>Access: Official journal/programme record and publisher-deposited Crossref metadata only</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MASTER26 | MASTER: 24-month RCT results, 2026</a:t>
            </a:r>
            <a:endParaRPr/>
          </a:p>
          <a:p xmlns:a="http://schemas.openxmlformats.org/drawingml/2006/main">
            <a:pPr marL="0" lvl="0" indent="0" algn="l">
              <a:spcBef>
                <a:spcPts val="0"/>
              </a:spcBef>
              <a:spcAft>
                <a:spcPts val="0"/>
              </a:spcAft>
              <a:buNone/>
            </a:pPr>
            <a:r>
              <a:rPr sz="1200"/>
              <a:t>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a:t>
            </a:r>
            <a:endParaRPr/>
          </a:p>
          <a:p xmlns:a="http://schemas.openxmlformats.org/drawingml/2006/main">
            <a:pPr marL="0" lvl="0" indent="0" algn="l">
              <a:spcBef>
                <a:spcPts val="0"/>
              </a:spcBef>
              <a:spcAft>
                <a:spcPts val="0"/>
              </a:spcAft>
              <a:buNone/>
            </a:pPr>
            <a:r>
              <a:rPr sz="1200"/>
              <a:t>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a:t>
            </a:r>
            <a:endParaRPr/>
          </a:p>
          <a:p xmlns:a="http://schemas.openxmlformats.org/drawingml/2006/main">
            <a:pPr marL="0" lvl="0" indent="0" algn="l">
              <a:spcBef>
                <a:spcPts val="0"/>
              </a:spcBef>
              <a:spcAft>
                <a:spcPts val="0"/>
              </a:spcAft>
              <a:buNone/>
            </a:pPr>
            <a:r>
              <a:rPr sz="1200"/>
              <a:t>https://doi.org/10.1016/j.euf.2026.07.012</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URETHMETA26 | Prior urethroplasty: meta-analysis, 2026</a:t>
            </a:r>
            <a:endParaRPr/>
          </a:p>
          <a:p xmlns:a="http://schemas.openxmlformats.org/drawingml/2006/main">
            <a:pPr marL="0" lvl="0" indent="0" algn="l">
              <a:spcBef>
                <a:spcPts val="0"/>
              </a:spcBef>
              <a:spcAft>
                <a:spcPts val="0"/>
              </a:spcAft>
              <a:buNone/>
            </a:pPr>
            <a:r>
              <a:rPr sz="1200"/>
              <a:t>Four studies included 533 men. Prior urethroplasty was associated with higher explantation risk (RR 2.05, 95% CI 1.08-3.89); its pooled erosion difference was not statistically significant. Within repair-technique comparisons, transecting versus non-transecting repair was associated with higher erosion (RR 2.34, 1.30-4.21) and explantation (RR 2.38, 1.59-3.57).</a:t>
            </a:r>
            <a:endParaRPr/>
          </a:p>
          <a:p xmlns:a="http://schemas.openxmlformats.org/drawingml/2006/main">
            <a:pPr marL="0" lvl="0" indent="0" algn="l">
              <a:spcBef>
                <a:spcPts val="0"/>
              </a:spcBef>
              <a:spcAft>
                <a:spcPts val="0"/>
              </a:spcAft>
              <a:buNone/>
            </a:pPr>
            <a:r>
              <a:rPr sz="1200"/>
              <a:t>These are separate comparisons. Pooled observational studies, some overlapping with Davis, do not make the association causal or independently validate one reconstructive strategy. Explain tissue quality and individual anatomy.</a:t>
            </a:r>
            <a:endParaRPr/>
          </a:p>
          <a:p xmlns:a="http://schemas.openxmlformats.org/drawingml/2006/main">
            <a:pPr marL="0" lvl="0" indent="0" algn="l">
              <a:spcBef>
                <a:spcPts val="0"/>
              </a:spcBef>
              <a:spcAft>
                <a:spcPts val="0"/>
              </a:spcAft>
              <a:buNone/>
            </a:pPr>
            <a:r>
              <a:rPr sz="1200"/>
              <a:t>https://doi.org/10.1016/j.urology.2026.05.024</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IRRIG26 | Gentamicin withdrawal: AMS 800 cohort, 2026</a:t>
            </a:r>
            <a:endParaRPr/>
          </a:p>
          <a:p xmlns:a="http://schemas.openxmlformats.org/drawingml/2006/main">
            <a:pPr marL="0" lvl="0" indent="0" algn="l">
              <a:spcBef>
                <a:spcPts val="0"/>
              </a:spcBef>
              <a:spcAft>
                <a:spcPts val="0"/>
              </a:spcAft>
              <a:buNone/>
            </a:pPr>
            <a:r>
              <a:t>The before-after study included 173 uncoated AMS 800 procedures in 164 men: 59 gentamicin-containing and 114 gentamicin-free. Ninety-day SSI occurred in 1/59 (1.7%) and 2/114 (1.8%), respectively; the risk difference was +0.1 percentage points (95% CI -7.4 to +4.7). No significant difference was detected.</a:t>
            </a:r>
            <a:endParaRPr sz="1200"/>
          </a:p>
          <a:p xmlns:a="http://schemas.openxmlformats.org/drawingml/2006/main">
            <a:pPr marL="0" lvl="0" indent="0" algn="l">
              <a:spcBef>
                <a:spcPts val="0"/>
              </a:spcBef>
              <a:spcAft>
                <a:spcPts val="0"/>
              </a:spcAft>
              <a:buNone/>
            </a:pPr>
            <a:r>
              <a:rPr sz="1200"/>
              <a:t>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a:t>
            </a:r>
            <a:endParaRPr/>
          </a:p>
          <a:p xmlns:a="http://schemas.openxmlformats.org/drawingml/2006/main">
            <a:pPr marL="0" lvl="0" indent="0" algn="l">
              <a:spcBef>
                <a:spcPts val="0"/>
              </a:spcBef>
              <a:spcAft>
                <a:spcPts val="0"/>
              </a:spcAft>
              <a:buNone/>
            </a:pPr>
            <a:r>
              <a:t>https://doi.org/10.3390/antibiotics15090894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DAYMETA26 | Day-case AUS meta-analysis: 2026 issue</a:t>
            </a:r>
            <a:endParaRPr/>
          </a:p>
          <a:p xmlns:a="http://schemas.openxmlformats.org/drawingml/2006/main">
            <a:pPr marL="0" lvl="0" indent="0" algn="l">
              <a:spcBef>
                <a:spcPts val="0"/>
              </a:spcBef>
              <a:spcAft>
                <a:spcPts val="0"/>
              </a:spcAft>
              <a:buNone/>
            </a:pPr>
            <a:r>
              <a:t>Six studies included 2,424 men; four (1,085) entered the meta-analysis. No statistically significant difference was detected in retention (RR 1.44, 95% CI 0.81-2.56) or 90-day emergency visits (RR 0.91, 0.59-1.42).</a:t>
            </a:r>
            <a:endParaRPr sz="1200"/>
          </a:p>
          <a:p xmlns:a="http://schemas.openxmlformats.org/drawingml/2006/main">
            <a:pPr marL="0" lvl="0" indent="0" algn="l">
              <a:spcBef>
                <a:spcPts val="0"/>
              </a:spcBef>
              <a:spcAft>
                <a:spcPts val="0"/>
              </a:spcAft>
              <a:buNone/>
            </a:pPr>
            <a:r>
              <a:rPr sz="1200"/>
              <a:t>Moderate-to-serious bias and wide intervals prevent equivalence claims. Same-day catheter-free discharge is a selected pathway, not a universal instruction. Online August 2025; March 2026 issue.</a:t>
            </a:r>
            <a:endParaRPr/>
          </a:p>
          <a:p xmlns:a="http://schemas.openxmlformats.org/drawingml/2006/main">
            <a:pPr marL="0" lvl="0" indent="0" algn="l">
              <a:spcBef>
                <a:spcPts val="0"/>
              </a:spcBef>
              <a:spcAft>
                <a:spcPts val="0"/>
              </a:spcAft>
              <a:buNone/>
            </a:pPr>
            <a:r>
              <a:t>https://doi.org/10.1007/s11255-025-04711-y</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DAYCASE26 | Day-case versus inpatient AUS: 177 men, 2026</a:t>
            </a:r>
            <a:endParaRPr/>
          </a:p>
          <a:p xmlns:a="http://schemas.openxmlformats.org/drawingml/2006/main">
            <a:pPr marL="0" lvl="0" indent="0" algn="l">
              <a:spcBef>
                <a:spcPts val="0"/>
              </a:spcBef>
              <a:spcAft>
                <a:spcPts val="0"/>
              </a:spcAft>
              <a:buNone/>
            </a:pPr>
            <a:r>
              <a:t>A retrospective primary AMS 800 comparison included 126 ambulatory and 51 inpatient men. The evaluable 30-day composite was 14/124 (11.3%) versus 4/49 (8.2%), p=0.78.</a:t>
            </a:r>
            <a:endParaRPr sz="1200"/>
          </a:p>
          <a:p xmlns:a="http://schemas.openxmlformats.org/drawingml/2006/main">
            <a:pPr marL="0" lvl="0" indent="0" algn="l">
              <a:spcBef>
                <a:spcPts val="0"/>
              </a:spcBef>
              <a:spcAft>
                <a:spcPts val="0"/>
              </a:spcAft>
              <a:buNone/>
            </a:pPr>
            <a:r>
              <a:rPr sz="1200"/>
              <a:t>Inpatient selection depended on ASA score and social circumstances. Confounding and different enrolled/evaluable denominators matter. The abstract's early/severe complication percentages are not sufficiently clear for additional teaching statistics. A nonsignificant result is not proof of equal safety.</a:t>
            </a:r>
            <a:endParaRPr/>
          </a:p>
          <a:p xmlns:a="http://schemas.openxmlformats.org/drawingml/2006/main">
            <a:pPr marL="0" lvl="0" indent="0" algn="l">
              <a:spcBef>
                <a:spcPts val="0"/>
              </a:spcBef>
              <a:spcAft>
                <a:spcPts val="0"/>
              </a:spcAft>
              <a:buNone/>
            </a:pPr>
            <a:r>
              <a:t>https://doi.org/10.1016/j.fjurol.2026.103135</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FRAIL26 | Frailty and SUI surgery: Medicare cohort, 2026</a:t>
            </a:r>
            <a:endParaRPr/>
          </a:p>
          <a:p xmlns:a="http://schemas.openxmlformats.org/drawingml/2006/main">
            <a:pPr marL="0" lvl="0" indent="0" algn="l">
              <a:spcBef>
                <a:spcPts val="0"/>
              </a:spcBef>
              <a:spcAft>
                <a:spcPts val="0"/>
              </a:spcAft>
              <a:buNone/>
            </a:pPr>
            <a:r>
              <a:t>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a:t>
            </a:r>
            <a:endParaRPr sz="1200"/>
          </a:p>
          <a:p xmlns:a="http://schemas.openxmlformats.org/drawingml/2006/main">
            <a:pPr marL="0" lvl="0" indent="0" algn="l">
              <a:spcBef>
                <a:spcPts val="0"/>
              </a:spcBef>
              <a:spcAft>
                <a:spcPts val="0"/>
              </a:spcAft>
              <a:buNone/>
            </a:pPr>
            <a:r>
              <a:t>The data mix AUS and sling procedures, come from historical Medicare records and rely on a claims frailty index. These relative risks are not an individual AUS-specific absolute probability, and they do not validate a bedside pump score. Use a practical frailty assessment alongside observed dexterity and cognition.</a:t>
            </a:r>
            <a:endParaRPr sz="1200"/>
          </a:p>
          <a:p xmlns:a="http://schemas.openxmlformats.org/drawingml/2006/main">
            <a:pPr marL="0" lvl="0" indent="0" algn="l">
              <a:spcBef>
                <a:spcPts val="0"/>
              </a:spcBef>
              <a:spcAft>
                <a:spcPts val="0"/>
              </a:spcAft>
              <a:buNone/>
            </a:pPr>
            <a:r>
              <a:t>https://doi.org/10.1097/ju.0000000000005102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PAD26 | Pad count versus 24-hour weight: 2026</a:t>
            </a:r>
            <a:endParaRPr/>
          </a:p>
          <a:p xmlns:a="http://schemas.openxmlformats.org/drawingml/2006/main">
            <a:pPr marL="0" lvl="0" indent="0" algn="l">
              <a:spcBef>
                <a:spcPts val="0"/>
              </a:spcBef>
              <a:spcAft>
                <a:spcPts val="0"/>
              </a:spcAft>
              <a:buNone/>
            </a:pPr>
            <a:r>
              <a:rPr sz="1200"/>
              <a:t>A retrospective analysis of prospectively collected follow-up included 2,040 men and 8,787 paired measurements. Pad count tracked leakage well overall (Spearman rho 0.94), but two-to-four pads/day had considerable weight variability.</a:t>
            </a:r>
            <a:endParaRPr/>
          </a:p>
          <a:p xmlns:a="http://schemas.openxmlformats.org/drawingml/2006/main">
            <a:pPr marL="0" lvl="0" indent="0" algn="l">
              <a:spcBef>
                <a:spcPts val="0"/>
              </a:spcBef>
              <a:spcAft>
                <a:spcPts val="0"/>
              </a:spcAft>
              <a:buNone/>
            </a:pPr>
            <a:r>
              <a:rPr sz="1200"/>
              <a:t>Repeated observations are not independent additional patients; single-centre first-year post-RP follow-up is not a universal AUS selection rule. Pad weight is particularly helpful when the intermediate count, activity or pad type leaves severity uncertain.</a:t>
            </a:r>
            <a:endParaRPr/>
          </a:p>
          <a:p xmlns:a="http://schemas.openxmlformats.org/drawingml/2006/main">
            <a:pPr marL="0" lvl="0" indent="0" algn="l">
              <a:spcBef>
                <a:spcPts val="0"/>
              </a:spcBef>
              <a:spcAft>
                <a:spcPts val="0"/>
              </a:spcAft>
              <a:buNone/>
            </a:pPr>
            <a:r>
              <a:rPr sz="1200"/>
              <a:t>https://doi.org/10.1111/bju.70224</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PRBFAT26 | PRB material fatigue: 2026 issue</a:t>
            </a:r>
            <a:endParaRPr/>
          </a:p>
          <a:p xmlns:a="http://schemas.openxmlformats.org/drawingml/2006/main">
            <a:pPr marL="0" lvl="0" indent="0" algn="l">
              <a:spcBef>
                <a:spcPts val="0"/>
              </a:spcBef>
              <a:spcAft>
                <a:spcPts val="0"/>
              </a:spcAft>
              <a:buNone/>
            </a:pPr>
            <a:r>
              <a:rPr sz="1200"/>
              <a:t>Mechanical testing compared 32 retrieved balloons with one new balloon; seven underwent additional testing. Age correlated with increased stiffness and reduced wall thickness; microcracks were seen in the four oldest specimens tested microscopically.</a:t>
            </a:r>
            <a:endParaRPr/>
          </a:p>
          <a:p xmlns:a="http://schemas.openxmlformats.org/drawingml/2006/main">
            <a:pPr marL="0" lvl="0" indent="0" algn="l">
              <a:spcBef>
                <a:spcPts val="0"/>
              </a:spcBef>
              <a:spcAft>
                <a:spcPts val="0"/>
              </a:spcAft>
              <a:buNone/>
            </a:pPr>
            <a:r>
              <a:rPr sz="1200"/>
              <a:t>Retrieved components are selected samples; laboratory ageing is mechanistic evidence, not a trial of balloon-only versus complete-system revision. Do not replace a balloon solely because three years have elapsed. Online December 2025; 2026 issue.</a:t>
            </a:r>
            <a:endParaRPr/>
          </a:p>
          <a:p xmlns:a="http://schemas.openxmlformats.org/drawingml/2006/main">
            <a:pPr marL="0" lvl="0" indent="0" algn="l">
              <a:spcBef>
                <a:spcPts val="0"/>
              </a:spcBef>
              <a:spcAft>
                <a:spcPts val="0"/>
              </a:spcAft>
              <a:buNone/>
            </a:pPr>
            <a:r>
              <a:rPr sz="1200"/>
              <a:t>https://doi.org/10.1016/j.urology.2025.12.031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REGRET26 | Long-term decisional regret after AUS, 2026 issue</a:t>
            </a:r>
            <a:endParaRPr/>
          </a:p>
          <a:p xmlns:a="http://schemas.openxmlformats.org/drawingml/2006/main">
            <a:pPr marL="0" lvl="0" indent="0" algn="l">
              <a:spcBef>
                <a:spcPts val="0"/>
              </a:spcBef>
              <a:spcAft>
                <a:spcPts val="0"/>
              </a:spcAft>
              <a:buNone/>
            </a:pPr>
            <a:r>
              <a:rPr sz="1200"/>
              <a:t>Ninety-one men responded (87.5%), with median follow-up 82 months. Reoperation was the only independent predictor of regret in the reported model (+18 points on the Decisional Regret Scale). Continence benefit persisted but deteriorated over time.</a:t>
            </a:r>
            <a:endParaRPr/>
          </a:p>
          <a:p xmlns:a="http://schemas.openxmlformats.org/drawingml/2006/main">
            <a:pPr marL="0" lvl="0" indent="0" algn="l">
              <a:spcBef>
                <a:spcPts val="0"/>
              </a:spcBef>
              <a:spcAft>
                <a:spcPts val="0"/>
              </a:spcAft>
              <a:buNone/>
            </a:pPr>
            <a:r>
              <a:rPr sz="1200"/>
              <a:t>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a:t>
            </a:r>
            <a:endParaRPr/>
          </a:p>
          <a:p xmlns:a="http://schemas.openxmlformats.org/drawingml/2006/main">
            <a:pPr marL="0" lvl="0" indent="0" algn="l">
              <a:spcBef>
                <a:spcPts val="0"/>
              </a:spcBef>
              <a:spcAft>
                <a:spcPts val="0"/>
              </a:spcAft>
              <a:buNone/>
            </a:pPr>
            <a:r>
              <a:rPr sz="1200"/>
              <a:t>https://doi.org/10.1016/j.euros.2025.12.006</a:t>
            </a:r>
            <a:endParaRPr/>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INSTR26 | AUS instrumentation knowledge survey, 2026</a:t>
            </a:r>
            <a:endParaRPr/>
          </a:p>
          <a:p xmlns:a="http://schemas.openxmlformats.org/drawingml/2006/main">
            <a:pPr marL="0" lvl="0" indent="0" algn="l">
              <a:spcBef>
                <a:spcPts val="0"/>
              </a:spcBef>
              <a:spcAft>
                <a:spcPts val="0"/>
              </a:spcAft>
              <a:buNone/>
            </a:pPr>
            <a:r>
              <a:rPr sz="1200"/>
              <a:t>A survey of 286 Turkish urologists identified training and confidence gaps in AUS deactivation and instrumentation. It reinforces the practical value of patient/device information and a clear urgent-contact route.</a:t>
            </a:r>
            <a:endParaRPr/>
          </a:p>
          <a:p xmlns:a="http://schemas.openxmlformats.org/drawingml/2006/main">
            <a:pPr marL="0" lvl="0" indent="0" algn="l">
              <a:spcBef>
                <a:spcPts val="0"/>
              </a:spcBef>
              <a:spcAft>
                <a:spcPts val="0"/>
              </a:spcAft>
              <a:buNone/>
            </a:pPr>
            <a:r>
              <a:rPr sz="1200"/>
              <a:t>It was a self-selected knowledge survey and did not test catheter safety. Its proposed diameter/duration answers cannot become universal rules for every cuff, tissue or device. Follow the actual system's instructions.</a:t>
            </a:r>
            <a:endParaRPr/>
          </a:p>
          <a:p xmlns:a="http://schemas.openxmlformats.org/drawingml/2006/main">
            <a:pPr marL="0" lvl="0" indent="0" algn="l">
              <a:spcBef>
                <a:spcPts val="0"/>
              </a:spcBef>
              <a:spcAft>
                <a:spcPts val="0"/>
              </a:spcAft>
              <a:buNone/>
            </a:pPr>
            <a:r>
              <a:rPr sz="1200"/>
              <a:t>https://doi.org/10.1002/nau.70417</a:t>
            </a:r>
            <a:endParaRPr/>
          </a:p>
          <a:p xmlns:a="http://schemas.openxmlformats.org/drawingml/2006/main">
            <a:pPr marL="0" lvl="0" indent="0" algn="l">
              <a:spcBef>
                <a:spcPts val="0"/>
              </a:spcBef>
              <a:spcAft>
                <a:spcPts val="0"/>
              </a:spcAft>
              <a:buNone/>
            </a:pPr>
            <a:r>
              <a:rPr sz="1200"/>
              <a:t>Access: Publisher abstract via Europe PMC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rPr sz="1200"/>
              <a:t>Reference additions, outside the timed talk:</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EROSION26 | Immediate urethral repair at explantation, 2026</a:t>
            </a:r>
            <a:endParaRPr/>
          </a:p>
          <a:p xmlns:a="http://schemas.openxmlformats.org/drawingml/2006/main">
            <a:pPr marL="0" lvl="0" indent="0" algn="l">
              <a:spcBef>
                <a:spcPts val="0"/>
              </a:spcBef>
              <a:spcAft>
                <a:spcPts val="0"/>
              </a:spcAft>
              <a:buNone/>
            </a:pPr>
            <a:r>
              <a:t>In a selected single-centre series of 16 men, one developed a stricture after repair at eroded-cuff explantation (6.3%); seven developed wound dehiscence requiring closure (43.8%). The low stricture rate therefore sits beside a substantial wound-treatment burden.</a:t>
            </a:r>
            <a:endParaRPr sz="1200"/>
          </a:p>
          <a:p xmlns:a="http://schemas.openxmlformats.org/drawingml/2006/main">
            <a:pPr marL="0" lvl="0" indent="0" algn="l">
              <a:spcBef>
                <a:spcPts val="0"/>
              </a:spcBef>
              <a:spcAft>
                <a:spcPts val="0"/>
              </a:spcAft>
              <a:buNone/>
            </a:pPr>
            <a:r>
              <a:rPr sz="1200"/>
              <a:t>The series had no drainage-only comparator, a small sample and a median follow-up of 14 months. This is not an interim SAFER comparative result and does not establish universal immediate repair. Partial and circumferential erosions require different reconstructive assessments.</a:t>
            </a:r>
            <a:endParaRPr/>
          </a:p>
          <a:p xmlns:a="http://schemas.openxmlformats.org/drawingml/2006/main">
            <a:pPr marL="0" lvl="0" indent="0" algn="l">
              <a:spcBef>
                <a:spcPts val="0"/>
              </a:spcBef>
              <a:spcAft>
                <a:spcPts val="0"/>
              </a:spcAft>
              <a:buNone/>
            </a:pPr>
            <a:r>
              <a:t>https://doi.org/10.1007/s00345-026-06629-1</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DEVICE26 | Emerging AUS devices review, 2026</a:t>
            </a:r>
            <a:endParaRPr/>
          </a:p>
          <a:p xmlns:a="http://schemas.openxmlformats.org/drawingml/2006/main">
            <a:pPr marL="0" lvl="0" indent="0" algn="l">
              <a:spcBef>
                <a:spcPts val="0"/>
              </a:spcBef>
              <a:spcAft>
                <a:spcPts val="0"/>
              </a:spcAft>
              <a:buNone/>
            </a:pPr>
            <a:r>
              <a:t>The contemporary review describes new hydraulic and electronic designs, while emphasising the lack of robust direct comparisons and long-term outcomes for many devices. It supports keeping engineering advantages separate from proven clinical superiority.</a:t>
            </a:r>
            <a:endParaRPr sz="1200"/>
          </a:p>
          <a:p xmlns:a="http://schemas.openxmlformats.org/drawingml/2006/main">
            <a:pPr marL="0" lvl="0" indent="0" algn="l">
              <a:spcBef>
                <a:spcPts val="0"/>
              </a:spcBef>
              <a:spcAft>
                <a:spcPts val="0"/>
              </a:spcAft>
              <a:buNone/>
            </a:pPr>
            <a:r>
              <a:rPr sz="1200"/>
              <a:t>A review combining clinical, regulatory, manufacturer and preclinical materials is context rather than a head-to-head trial. Early ContiClassic safety cannot be compared with AMS 800 continence as if the endpoints were interchangeable.</a:t>
            </a:r>
            <a:endParaRPr/>
          </a:p>
          <a:p xmlns:a="http://schemas.openxmlformats.org/drawingml/2006/main">
            <a:pPr marL="0" lvl="0" indent="0" algn="l">
              <a:spcBef>
                <a:spcPts val="0"/>
              </a:spcBef>
              <a:spcAft>
                <a:spcPts val="0"/>
              </a:spcAft>
              <a:buNone/>
            </a:pPr>
            <a:r>
              <a:t>https://doi.org/10.1002/nau.70400</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SECOND26 | Second AUS survival: national French cohort, 2026</a:t>
            </a:r>
            <a:endParaRPr/>
          </a:p>
          <a:p xmlns:a="http://schemas.openxmlformats.org/drawingml/2006/main">
            <a:pPr marL="0" lvl="0" indent="0" algn="l">
              <a:spcBef>
                <a:spcPts val="0"/>
              </a:spcBef>
              <a:spcAft>
                <a:spcPts val="0"/>
              </a:spcAft>
              <a:buNone/>
            </a:pPr>
            <a:r>
              <a:t>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a:t>
            </a:r>
            <a:endParaRPr sz="1200"/>
          </a:p>
          <a:p xmlns:a="http://schemas.openxmlformats.org/drawingml/2006/main">
            <a:pPr marL="0" lvl="0" indent="0" algn="l">
              <a:spcBef>
                <a:spcPts val="0"/>
              </a:spcBef>
              <a:spcAft>
                <a:spcPts val="0"/>
              </a:spcAft>
              <a:buNone/>
            </a:pPr>
            <a:r>
              <a:rPr sz="1200"/>
              <a:t>Administrative observational data distinguish replacement from reimplantation after removal. These results are not primary-implant survival, pad-free continence or a randomised choice of revision method. They strengthen consent about the uncertain path after erosion/explantation.</a:t>
            </a:r>
            <a:endParaRPr/>
          </a:p>
          <a:p xmlns:a="http://schemas.openxmlformats.org/drawingml/2006/main">
            <a:pPr marL="0" lvl="0" indent="0" algn="l">
              <a:spcBef>
                <a:spcPts val="0"/>
              </a:spcBef>
              <a:spcAft>
                <a:spcPts val="0"/>
              </a:spcAft>
              <a:buNone/>
            </a:pPr>
            <a:r>
              <a:t>https://doi.org/10.1590/s1677-5538.ibju.2025.0374</a:t>
            </a:r>
            <a:endParaRPr sz="1200"/>
          </a:p>
          <a:p xmlns:a="http://schemas.openxmlformats.org/drawingml/2006/main">
            <a:pPr marL="0" lvl="0" indent="0" algn="l">
              <a:spcBef>
                <a:spcPts val="0"/>
              </a:spcBef>
              <a:spcAft>
                <a:spcPts val="0"/>
              </a:spcAft>
              <a:buNone/>
            </a:pPr>
            <a:r>
              <a:rPr sz="1200"/>
              <a:t>Access: Full open article read</a:t>
            </a:r>
            <a:endParaRPr/>
          </a:p>
          <a:p xmlns:a="http://schemas.openxmlformats.org/drawingml/2006/main">
            <a:pPr marL="0" lvl="0" indent="0" algn="l">
              <a:spcBef>
                <a:spcPts val="0"/>
              </a:spcBef>
              <a:spcAft>
                <a:spcPts val="0"/>
              </a:spcAft>
              <a:buNone/>
            </a:pPr>
            <a:r>
              <a:t/>
            </a:r>
            <a:endParaRPr sz="1200"/>
          </a:p>
          <a:p xmlns:a="http://schemas.openxmlformats.org/drawingml/2006/main">
            <a:pPr marL="0" lvl="0" indent="0" algn="l">
              <a:spcBef>
                <a:spcPts val="0"/>
              </a:spcBef>
              <a:spcAft>
                <a:spcPts val="0"/>
              </a:spcAft>
              <a:buNone/>
            </a:pPr>
            <a:r>
              <a:rPr sz="1200"/>
              <a:t>TCSYS25 | Transcorporal systematic review, online 2025</a:t>
            </a:r>
            <a:endParaRPr/>
          </a:p>
          <a:p xmlns:a="http://schemas.openxmlformats.org/drawingml/2006/main">
            <a:pPr marL="0" lvl="0" indent="0" algn="l">
              <a:spcBef>
                <a:spcPts val="0"/>
              </a:spcBef>
              <a:spcAft>
                <a:spcPts val="0"/>
              </a:spcAft>
              <a:buNone/>
            </a:pPr>
            <a:r>
              <a:t>Twenty studies were included, eight comparative. The meta-analysis associated transcorporal placement with more revisions (OR 2.99, 95% CI 1.16-7.75), less erosion (OR 0.35, 0.15-0.81) and infection (OR 0.33, 0.12-0.95), with no significant explantation difference.</a:t>
            </a:r>
            <a:endParaRPr sz="1200"/>
          </a:p>
          <a:p xmlns:a="http://schemas.openxmlformats.org/drawingml/2006/main">
            <a:pPr marL="0" lvl="0" indent="0" algn="l">
              <a:spcBef>
                <a:spcPts val="0"/>
              </a:spcBef>
              <a:spcAft>
                <a:spcPts val="0"/>
              </a:spcAft>
              <a:buNone/>
            </a:pPr>
            <a:r>
              <a:t>The series were non-randomised with heterogeneous risk selection, and the pooled estimates conflict with some individual cohorts. Search ended January 2024 despite online publication in November 2025. Present it as a specialist option with uncertain causal protection, not proof that every fragile urethra should receive it.</a:t>
            </a:r>
            <a:endParaRPr sz="1200"/>
          </a:p>
          <a:p xmlns:a="http://schemas.openxmlformats.org/drawingml/2006/main">
            <a:pPr marL="0" lvl="0" indent="0" algn="l">
              <a:spcBef>
                <a:spcPts val="0"/>
              </a:spcBef>
              <a:spcAft>
                <a:spcPts val="0"/>
              </a:spcAft>
              <a:buNone/>
            </a:pPr>
            <a:r>
              <a:t>https://doi.org/10.1016/j.urology.2025.11.222</a:t>
            </a:r>
            <a:endParaRPr sz="1200"/>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RTTIME25 | Radiation and cuff-removal timing cohort, 2025</a:t>
            </a:r>
            <a:endParaRPr/>
          </a:p>
          <a:p xmlns:a="http://schemas.openxmlformats.org/drawingml/2006/main">
            <a:pPr marL="0" lvl="0" indent="0" algn="l">
              <a:spcBef>
                <a:spcPts val="0"/>
              </a:spcBef>
              <a:spcAft>
                <a:spcPts val="0"/>
              </a:spcAft>
              <a:buNone/>
            </a:pPr>
            <a:r>
              <a:rPr sz="1200"/>
              <a:t>In 283 men, prior radiation was associated with cuff removal (HR 3.30, 95% CI 1.05-10.40). Exploratory modelling suggested a later-implantation trend after radiation, but this was not statistically significant.</a:t>
            </a:r>
            <a:endParaRPr/>
          </a:p>
          <a:p xmlns:a="http://schemas.openxmlformats.org/drawingml/2006/main">
            <a:pPr marL="0" lvl="0" indent="0" algn="l">
              <a:spcBef>
                <a:spcPts val="0"/>
              </a:spcBef>
              <a:spcAft>
                <a:spcPts val="0"/>
              </a:spcAft>
              <a:buNone/>
            </a:pPr>
            <a:r>
              <a:rPr sz="1200"/>
              <a:t>The wide interval and retrospective spline analysis do not validate a 635-day or 1.74-year waiting rule. Radiation risk, oncological timing, urethral stability and individual function must be considered separately.</a:t>
            </a:r>
            <a:endParaRPr/>
          </a:p>
          <a:p xmlns:a="http://schemas.openxmlformats.org/drawingml/2006/main">
            <a:pPr marL="0" lvl="0" indent="0" algn="l">
              <a:spcBef>
                <a:spcPts val="0"/>
              </a:spcBef>
              <a:spcAft>
                <a:spcPts val="0"/>
              </a:spcAft>
              <a:buNone/>
            </a:pPr>
            <a:r>
              <a:rPr sz="1200"/>
              <a:t>https://doi.org/10.1007/s00345-025-05625-1</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UROACTIVE26 | Electronic AUS: first-in-human study, 2026</a:t>
            </a:r>
            <a:endParaRPr/>
          </a:p>
          <a:p xmlns:a="http://schemas.openxmlformats.org/drawingml/2006/main">
            <a:pPr marL="0" lvl="0" indent="0" algn="l">
              <a:spcBef>
                <a:spcPts val="0"/>
              </a:spcBef>
              <a:spcAft>
                <a:spcPts val="0"/>
              </a:spcAft>
              <a:buNone/>
            </a:pPr>
            <a:r>
              <a:rPr sz="1200"/>
              <a:t>Six men received the electronic UroActive AUS; all activated successfully, with no explant or surgical revision during one year after activation. Nine device deficiencies involved the remote control.</a:t>
            </a:r>
            <a:endParaRPr/>
          </a:p>
          <a:p xmlns:a="http://schemas.openxmlformats.org/drawingml/2006/main">
            <a:pPr marL="0" lvl="0" indent="0" algn="l">
              <a:spcBef>
                <a:spcPts val="0"/>
              </a:spcBef>
              <a:spcAft>
                <a:spcPts val="0"/>
              </a:spcAft>
              <a:buNone/>
            </a:pPr>
            <a:r>
              <a:rPr sz="1200"/>
              <a:t>This was a very small single-arm feasibility study. Zero observed revisions is not zero risk or comparative superiority; it does not establish replacement of manual hydraulic devices in routine practice.</a:t>
            </a:r>
            <a:endParaRPr/>
          </a:p>
          <a:p xmlns:a="http://schemas.openxmlformats.org/drawingml/2006/main">
            <a:pPr marL="0" lvl="0" indent="0" algn="l">
              <a:spcBef>
                <a:spcPts val="0"/>
              </a:spcBef>
              <a:spcAft>
                <a:spcPts val="0"/>
              </a:spcAft>
              <a:buNone/>
            </a:pPr>
            <a:r>
              <a:rPr sz="1200"/>
              <a:t>https://doi.org/10.1097/ju.0000000000004945</a:t>
            </a:r>
            <a:endParaRPr/>
          </a:p>
          <a:p xmlns:a="http://schemas.openxmlformats.org/drawingml/2006/main">
            <a:pPr marL="0" lvl="0" indent="0" algn="l">
              <a:spcBef>
                <a:spcPts val="0"/>
              </a:spcBef>
              <a:spcAft>
                <a:spcPts val="0"/>
              </a:spcAft>
              <a:buNone/>
            </a:pPr>
            <a:r>
              <a:rPr sz="1200"/>
              <a:t>Access: Publisher abstract via Europe PMC</a:t>
            </a:r>
            <a:endParaRPr/>
          </a:p>
          <a:p xmlns:a="http://schemas.openxmlformats.org/drawingml/2006/main">
            <a:pPr marL="0" lvl="0" indent="0" algn="l">
              <a:spcBef>
                <a:spcPts val="0"/>
              </a:spcBef>
              <a:spcAft>
                <a:spcPts val="0"/>
              </a:spcAft>
              <a:buNone/>
            </a:pPr>
            <a:r>
              <a:rPr sz="1200"/>
              <a:t/>
            </a:r>
            <a:endParaRPr/>
          </a:p>
          <a:p xmlns:a="http://schemas.openxmlformats.org/drawingml/2006/main">
            <a:pPr marL="0" lvl="0" indent="0" algn="l">
              <a:spcBef>
                <a:spcPts val="0"/>
              </a:spcBef>
              <a:spcAft>
                <a:spcPts val="0"/>
              </a:spcAft>
              <a:buNone/>
            </a:pPr>
            <a:r>
              <a:rPr sz="1200"/>
              <a:t>REPORT26 | Standardised complication reporting: 2026</a:t>
            </a:r>
            <a:endParaRPr/>
          </a:p>
          <a:p xmlns:a="http://schemas.openxmlformats.org/drawingml/2006/main">
            <a:pPr marL="0" lvl="0" indent="0" algn="l">
              <a:spcBef>
                <a:spcPts val="0"/>
              </a:spcBef>
              <a:spcAft>
                <a:spcPts val="0"/>
              </a:spcAft>
              <a:buNone/>
            </a:pPr>
            <a:r>
              <a:rPr sz="1200"/>
              <a:t>A retrospective 227-implant series using systematic complication capture reported 47% early complications, predominantly minor, and 7.9% major complications requiring intervention. Five-year explantation-free survival was 73%.</a:t>
            </a:r>
            <a:endParaRPr/>
          </a:p>
          <a:p xmlns:a="http://schemas.openxmlformats.org/drawingml/2006/main">
            <a:pPr marL="0" lvl="0" indent="0" algn="l">
              <a:spcBef>
                <a:spcPts val="0"/>
              </a:spcBef>
              <a:spcAft>
                <a:spcPts val="0"/>
              </a:spcAft>
              <a:buNone/>
            </a:pPr>
            <a:r>
              <a:rPr sz="1200"/>
              <a:t>Selected techniques included distal double cuffs and transcorporal cuffs. These results are not a universal primary single-bulbar-cuff complication rate. Systematic reporting and endpoint definitions explain why superficially similar published percentages differ.</a:t>
            </a:r>
            <a:endParaRPr/>
          </a:p>
          <a:p xmlns:a="http://schemas.openxmlformats.org/drawingml/2006/main">
            <a:pPr marL="0" lvl="0" indent="0" algn="l">
              <a:spcBef>
                <a:spcPts val="0"/>
              </a:spcBef>
              <a:spcAft>
                <a:spcPts val="0"/>
              </a:spcAft>
              <a:buNone/>
            </a:pPr>
            <a:r>
              <a:rPr sz="1200"/>
              <a:t>https://doi.org/10.1007/s00345-026-06246-y</a:t>
            </a:r>
            <a:endParaRPr/>
          </a:p>
          <a:p xmlns:a="http://schemas.openxmlformats.org/drawingml/2006/main">
            <a:pPr marL="0" lvl="0" indent="0" algn="l">
              <a:spcBef>
                <a:spcPts val="0"/>
              </a:spcBef>
              <a:spcAft>
                <a:spcPts val="0"/>
              </a:spcAft>
              <a:buNone/>
            </a:pPr>
            <a:r>
              <a:rPr sz="1200"/>
              <a:t>Access: Full open article read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1b721b85934793"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b90e2f0b85452e" /><Relationship Type="http://schemas.openxmlformats.org/officeDocument/2006/relationships/slideLayout" Target="/ppt/slideLayouts/slideLayout1.xml" Id="R73c5fe07109e4186"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73c5fe07109e418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4dc6a03c224014" /><Relationship Type="http://schemas.openxmlformats.org/officeDocument/2006/relationships/image" Target="/ppt/media/image.png" Id="Rdbb07247ab4d43db" /><Relationship Type="http://schemas.openxmlformats.org/officeDocument/2006/relationships/notesSlide" Target="/ppt/notesSlides/notesSlide1.xml" Id="R20c31e9dff564b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1a474bd35b4bfe" /><Relationship Type="http://schemas.openxmlformats.org/officeDocument/2006/relationships/notesSlide" Target="/ppt/notesSlides/notesSlide2.xml" Id="R329440e5fd6444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3795e9d3084972" /><Relationship Type="http://schemas.openxmlformats.org/officeDocument/2006/relationships/notesSlide" Target="/ppt/notesSlides/notesSlide3.xml" Id="Rafb45bd4704945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00f62d7d4541b6" /><Relationship Type="http://schemas.openxmlformats.org/officeDocument/2006/relationships/notesSlide" Target="/ppt/notesSlides/notesSlide4.xml" Id="Rac23d66faa5949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7b245a9109e460e" /><Relationship Type="http://schemas.openxmlformats.org/officeDocument/2006/relationships/notesSlide" Target="/ppt/notesSlides/notesSlide5.xml" Id="Rd0eacb62a84445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eaf0252c694c5e" /><Relationship Type="http://schemas.openxmlformats.org/officeDocument/2006/relationships/image" Target="/ppt/media/image2.png" Id="Rf28c826e5164477d" /><Relationship Type="http://schemas.openxmlformats.org/officeDocument/2006/relationships/notesSlide" Target="/ppt/notesSlides/notesSlide6.xml" Id="Re097de6189f743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73f6f6a23147b4" /><Relationship Type="http://schemas.openxmlformats.org/officeDocument/2006/relationships/notesSlide" Target="/ppt/notesSlides/notesSlide7.xml" Id="Rec69f1545b274a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8252ceae82d4282" /><Relationship Type="http://schemas.openxmlformats.org/officeDocument/2006/relationships/notesSlide" Target="/ppt/notesSlides/notesSlide8.xml" Id="R4e5f3a531eae4f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3498f1beb42476e" /><Relationship Type="http://schemas.openxmlformats.org/officeDocument/2006/relationships/notesSlide" Target="/ppt/notesSlides/notesSlide9.xml" Id="R09c1604f970042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9020b0abab7472d" /><Relationship Type="http://schemas.openxmlformats.org/officeDocument/2006/relationships/notesSlide" Target="/ppt/notesSlides/notesSlide10.xml" Id="Rd587e1011f934f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5f2aa43ccb64d2b" /><Relationship Type="http://schemas.openxmlformats.org/officeDocument/2006/relationships/notesSlide" Target="/ppt/notesSlides/notesSlide11.xml" Id="Rf708a214043f48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5bc3362432547b2" /><Relationship Type="http://schemas.openxmlformats.org/officeDocument/2006/relationships/notesSlide" Target="/ppt/notesSlides/notesSlide12.xml" Id="R429cfd83ca5845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751ad339d4d41e4" /><Relationship Type="http://schemas.openxmlformats.org/officeDocument/2006/relationships/notesSlide" Target="/ppt/notesSlides/notesSlide13.xml" Id="R9e41d67bed9841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9c4749af094417f" /><Relationship Type="http://schemas.openxmlformats.org/officeDocument/2006/relationships/notesSlide" Target="/ppt/notesSlides/notesSlide14.xml" Id="R75964a48ae4543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c846fd106ae4f74" /><Relationship Type="http://schemas.openxmlformats.org/officeDocument/2006/relationships/image" Target="/ppt/media/image3.png" Id="Rbc5c7b36ec3644a3" /><Relationship Type="http://schemas.openxmlformats.org/officeDocument/2006/relationships/image" Target="/ppt/media/image4.png" Id="Rc4a05305a97d4c66" /><Relationship Type="http://schemas.openxmlformats.org/officeDocument/2006/relationships/notesSlide" Target="/ppt/notesSlides/notesSlide15.xml" Id="R00e2b13cdfec489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aecd36e6004caa" /><Relationship Type="http://schemas.openxmlformats.org/officeDocument/2006/relationships/image" Target="/ppt/media/image5.png" Id="Rc20f5d5de3a24197" /><Relationship Type="http://schemas.openxmlformats.org/officeDocument/2006/relationships/notesSlide" Target="/ppt/notesSlides/notesSlide16.xml" Id="R3c48700238b343d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8e6a5196d2b4355" /><Relationship Type="http://schemas.openxmlformats.org/officeDocument/2006/relationships/notesSlide" Target="/ppt/notesSlides/notesSlide17.xml" Id="Rf69213feb8d140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88c0d56d8b14bef" /><Relationship Type="http://schemas.openxmlformats.org/officeDocument/2006/relationships/notesSlide" Target="/ppt/notesSlides/notesSlide18.xml" Id="R2f0584989c46437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ba953b1ede44f3d" /><Relationship Type="http://schemas.openxmlformats.org/officeDocument/2006/relationships/notesSlide" Target="/ppt/notesSlides/notesSlide19.xml" Id="Rcda8e01f5ffb453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6e5cdbb4f874780" /><Relationship Type="http://schemas.openxmlformats.org/officeDocument/2006/relationships/notesSlide" Target="/ppt/notesSlides/notesSlide20.xml" Id="R901c818d00964ea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41e95ef6f844d4c" /><Relationship Type="http://schemas.openxmlformats.org/officeDocument/2006/relationships/notesSlide" Target="/ppt/notesSlides/notesSlide21.xml" Id="R0a7dff830d35439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16309398af24204" /><Relationship Type="http://schemas.openxmlformats.org/officeDocument/2006/relationships/image" Target="/ppt/media/image6.png" Id="R50e9f644036a4677" /><Relationship Type="http://schemas.openxmlformats.org/officeDocument/2006/relationships/notesSlide" Target="/ppt/notesSlides/notesSlide22.xml" Id="Rb941ce4b2517413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a3af1c07efd4c49" /><Relationship Type="http://schemas.openxmlformats.org/officeDocument/2006/relationships/notesSlide" Target="/ppt/notesSlides/notesSlide23.xml" Id="R904c4f64245444a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de9e6c25b814d07" /><Relationship Type="http://schemas.openxmlformats.org/officeDocument/2006/relationships/notesSlide" Target="/ppt/notesSlides/notesSlide24.xml" Id="Ra0bc45bf9d2e4c0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39ea02561d7409f" /><Relationship Type="http://schemas.openxmlformats.org/officeDocument/2006/relationships/notesSlide" Target="/ppt/notesSlides/notesSlide25.xml" Id="R11190c2cd86d49d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f71779e52934c02" /><Relationship Type="http://schemas.openxmlformats.org/officeDocument/2006/relationships/image" Target="/ppt/media/image7.png" Id="R0a440d50116b444a" /><Relationship Type="http://schemas.openxmlformats.org/officeDocument/2006/relationships/notesSlide" Target="/ppt/notesSlides/notesSlide26.xml" Id="R3e589ee993e34c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c5df8c0cb0e4bc8" /><Relationship Type="http://schemas.openxmlformats.org/officeDocument/2006/relationships/image" Target="/ppt/media/image8.png" Id="R498b90db5ea14efe" /><Relationship Type="http://schemas.openxmlformats.org/officeDocument/2006/relationships/notesSlide" Target="/ppt/notesSlides/notesSlide27.xml" Id="R655f599a858f446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99fe745ff564ec4" /><Relationship Type="http://schemas.openxmlformats.org/officeDocument/2006/relationships/image" Target="/ppt/media/image9.png" Id="Red82c222ed294b0a" /><Relationship Type="http://schemas.openxmlformats.org/officeDocument/2006/relationships/notesSlide" Target="/ppt/notesSlides/notesSlide28.xml" Id="R705e8fcb60bc41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3286e5407ec43f4" /><Relationship Type="http://schemas.openxmlformats.org/officeDocument/2006/relationships/notesSlide" Target="/ppt/notesSlides/notesSlide29.xml" Id="Rb0e1a2e9d0db44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8f907e3937b4abc" /><Relationship Type="http://schemas.openxmlformats.org/officeDocument/2006/relationships/image" Target="/ppt/media/image10.png" Id="Rc03584ee61754edb" /><Relationship Type="http://schemas.openxmlformats.org/officeDocument/2006/relationships/notesSlide" Target="/ppt/notesSlides/notesSlide30.xml" Id="R40770afcec2149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0627393b17a4005" /><Relationship Type="http://schemas.openxmlformats.org/officeDocument/2006/relationships/image" Target="/ppt/media/image11.png" Id="R05c28ba10b124a8f" /><Relationship Type="http://schemas.openxmlformats.org/officeDocument/2006/relationships/notesSlide" Target="/ppt/notesSlides/notesSlide31.xml" Id="R4ae06516032a4d3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6d32214d8d04cdf" /><Relationship Type="http://schemas.openxmlformats.org/officeDocument/2006/relationships/notesSlide" Target="/ppt/notesSlides/notesSlide32.xml" Id="R11ca601dc07b448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9e9ae00c6b466e" /><Relationship Type="http://schemas.openxmlformats.org/officeDocument/2006/relationships/image" Target="/ppt/media/image12.png" Id="R786c785947264588" /><Relationship Type="http://schemas.openxmlformats.org/officeDocument/2006/relationships/hyperlink" Target="https://uroops3d.com/lab/aus" TargetMode="External" Id="R7315f3b3515d4f64" /><Relationship Type="http://schemas.openxmlformats.org/officeDocument/2006/relationships/notesSlide" Target="/ppt/notesSlides/notesSlide33.xml" Id="R9651bca3524b45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86430d9ff9640a0" /><Relationship Type="http://schemas.openxmlformats.org/officeDocument/2006/relationships/notesSlide" Target="/ppt/notesSlides/notesSlide34.xml" Id="R3e70fb76f87443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3608bfed95c4df7" /><Relationship Type="http://schemas.openxmlformats.org/officeDocument/2006/relationships/notesSlide" Target="/ppt/notesSlides/notesSlide35.xml" Id="Rc818efb06825414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fb62e24f01d4ba6" /><Relationship Type="http://schemas.openxmlformats.org/officeDocument/2006/relationships/notesSlide" Target="/ppt/notesSlides/notesSlide36.xml" Id="Rf16e4b53746045f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20bcd1db2d94cd4" /><Relationship Type="http://schemas.openxmlformats.org/officeDocument/2006/relationships/notesSlide" Target="/ppt/notesSlides/notesSlide37.xml" Id="Rc3e3a950859241d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99604eeec8241fc" /><Relationship Type="http://schemas.openxmlformats.org/officeDocument/2006/relationships/notesSlide" Target="/ppt/notesSlides/notesSlide38.xml" Id="Rc96709490744491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81e81024c5d4587" /><Relationship Type="http://schemas.openxmlformats.org/officeDocument/2006/relationships/notesSlide" Target="/ppt/notesSlides/notesSlide39.xml" Id="Rd4698f7d43bf462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1b2cc23bea84a6a" /><Relationship Type="http://schemas.openxmlformats.org/officeDocument/2006/relationships/notesSlide" Target="/ppt/notesSlides/notesSlide40.xml" Id="R83495a6c601a4b3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bf453841f4a4255" /><Relationship Type="http://schemas.openxmlformats.org/officeDocument/2006/relationships/notesSlide" Target="/ppt/notesSlides/notesSlide41.xml" Id="Rc36c137189f84f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d84f609d3884bdd" /><Relationship Type="http://schemas.openxmlformats.org/officeDocument/2006/relationships/notesSlide" Target="/ppt/notesSlides/notesSlide42.xml" Id="R3a1f422f39d9400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4ae60ce50354ed4" /><Relationship Type="http://schemas.openxmlformats.org/officeDocument/2006/relationships/hyperlink" Target="https://doi.org/10.1111/bju.16726" TargetMode="External" Id="Rad96062852274a82" /><Relationship Type="http://schemas.openxmlformats.org/officeDocument/2006/relationships/hyperlink" Target="https://uroweb.org/guidelines/management-of-non-neurogenic-male-luts/chapter/disease-management" TargetMode="External" Id="Read07626e602445d" /><Relationship Type="http://schemas.openxmlformats.org/officeDocument/2006/relationships/hyperlink" Target="https://www.auanet.org/documents/Guidelines/PDF/2024 Guidelines/IPT Unabridged Final 6-18-24.pdf" TargetMode="External" Id="R60aeaaace05a4fa8" /><Relationship Type="http://schemas.openxmlformats.org/officeDocument/2006/relationships/hyperlink" Target="https://uroweb.org/guidelines/urethral-strictures/chapter/disease-management-in-males" TargetMode="External" Id="R93338d9c33e14a31" /><Relationship Type="http://schemas.openxmlformats.org/officeDocument/2006/relationships/hyperlink" Target="https://www.ics.org/folder/standardisation/current-ics-standardisations/d/artificial-urinary-sphincter-report-of-the-2015-consensus-conference/download" TargetMode="External" Id="Ra2d3d6b9f40541c0" /><Relationship Type="http://schemas.openxmlformats.org/officeDocument/2006/relationships/hyperlink" Target="https://doi.org/10.1111/iju.15083" TargetMode="External" Id="R82fe3b65a5d44a15" /><Relationship Type="http://schemas.openxmlformats.org/officeDocument/2006/relationships/hyperlink" Target="https://www.rigicon.com/files/e-labeling/ContiClassic-IFU.pdf" TargetMode="External" Id="R9d9e000020f244f2" /><Relationship Type="http://schemas.openxmlformats.org/officeDocument/2006/relationships/hyperlink" Target="https://doi.org/10.1002/nau.23124" TargetMode="External" Id="R6a7968e533ce44ae" /><Relationship Type="http://schemas.openxmlformats.org/officeDocument/2006/relationships/hyperlink" Target="https://doi.org/10.1097/JU.0000000000003985" TargetMode="External" Id="Rcf90e922458244c0" /><Relationship Type="http://schemas.openxmlformats.org/officeDocument/2006/relationships/notesSlide" Target="/ppt/notesSlides/notesSlide43.xml" Id="Rf803f9365d6a44e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f0e9e382d0df48cb" /><Relationship Type="http://schemas.openxmlformats.org/officeDocument/2006/relationships/hyperlink" Target="https://www.nice.org.uk/guidance/ng125/chapter/recommendations" TargetMode="External" Id="Rb8a43f838df64bb9" /><Relationship Type="http://schemas.openxmlformats.org/officeDocument/2006/relationships/hyperlink" Target="https://www.who.int/publications/i/item/9789241597906" TargetMode="External" Id="Rad1c66e972d94a08" /><Relationship Type="http://schemas.openxmlformats.org/officeDocument/2006/relationships/hyperlink" Target="https://www.medicines.org.uk/emc/product/101238/smpc" TargetMode="External" Id="Rf8b72e16e7454baa" /><Relationship Type="http://schemas.openxmlformats.org/officeDocument/2006/relationships/hyperlink" Target="https://www.idsociety.org/practice-guideline/asymptomatic-bacteriuria/" TargetMode="External" Id="R19e8bbeb9fea45ab" /><Relationship Type="http://schemas.openxmlformats.org/officeDocument/2006/relationships/hyperlink" Target="https://doi.org/10.1097/JU.0000000000000509" TargetMode="External" Id="R4d59e275f5294856" /><Relationship Type="http://schemas.openxmlformats.org/officeDocument/2006/relationships/hyperlink" Target="https://pubmed.ncbi.nlm.nih.gov/37543658/" TargetMode="External" Id="R0ef312843753474e" /><Relationship Type="http://schemas.openxmlformats.org/officeDocument/2006/relationships/hyperlink" Target="https://doi.org/10.3310/TBFZ0277" TargetMode="External" Id="R635fad21d39c47fd" /><Relationship Type="http://schemas.openxmlformats.org/officeDocument/2006/relationships/hyperlink" Target="https://pubmed.ncbi.nlm.nih.gov/19371935/" TargetMode="External" Id="R868dca45bd73476c" /><Relationship Type="http://schemas.openxmlformats.org/officeDocument/2006/relationships/hyperlink" Target="https://pubmed.ncbi.nlm.nih.gov/21497853/" TargetMode="External" Id="Rfb8d16a56af94498" /><Relationship Type="http://schemas.openxmlformats.org/officeDocument/2006/relationships/notesSlide" Target="/ppt/notesSlides/notesSlide44.xml" Id="Rdb8d2251ed68466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cae5e44da224d92" /><Relationship Type="http://schemas.openxmlformats.org/officeDocument/2006/relationships/hyperlink" Target="https://doi.org/10.1002/bco2.442" TargetMode="External" Id="Rdc3cf29530c94219" /><Relationship Type="http://schemas.openxmlformats.org/officeDocument/2006/relationships/hyperlink" Target="https://pubmed.ncbi.nlm.nih.gov/36921845/" TargetMode="External" Id="Rfcb257e840f34a08" /><Relationship Type="http://schemas.openxmlformats.org/officeDocument/2006/relationships/hyperlink" Target="https://pubmed.ncbi.nlm.nih.gov/36906798/" TargetMode="External" Id="R260e96048fb24e4d" /><Relationship Type="http://schemas.openxmlformats.org/officeDocument/2006/relationships/hyperlink" Target="https://pubmed.ncbi.nlm.nih.gov/36332702/" TargetMode="External" Id="R08d10eb4deb34748" /><Relationship Type="http://schemas.openxmlformats.org/officeDocument/2006/relationships/hyperlink" Target="https://pubmed.ncbi.nlm.nih.gov/24074987/" TargetMode="External" Id="R38397ebc16264232" /><Relationship Type="http://schemas.openxmlformats.org/officeDocument/2006/relationships/hyperlink" Target="https://pubmed.ncbi.nlm.nih.gov/25483765/" TargetMode="External" Id="Rb8b526d3072a47d0" /><Relationship Type="http://schemas.openxmlformats.org/officeDocument/2006/relationships/hyperlink" Target="https://doi.org/10.3389/fsurg.2022.825239" TargetMode="External" Id="R80b9b53f318741ed" /><Relationship Type="http://schemas.openxmlformats.org/officeDocument/2006/relationships/hyperlink" Target="https://pubmed.ncbi.nlm.nih.gov/41022035/" TargetMode="External" Id="R36a70ee436774414" /><Relationship Type="http://schemas.openxmlformats.org/officeDocument/2006/relationships/hyperlink" Target="https://doi.org/10.5489/cuaj.6431" TargetMode="External" Id="R08295113c03a42a3" /><Relationship Type="http://schemas.openxmlformats.org/officeDocument/2006/relationships/notesSlide" Target="/ppt/notesSlides/notesSlide45.xml" Id="R5286a1b26f354d4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433b76db89e4bcb" /><Relationship Type="http://schemas.openxmlformats.org/officeDocument/2006/relationships/hyperlink" Target="https://pubmed.ncbi.nlm.nih.gov/36749394/" TargetMode="External" Id="R26ed76f2d37e4007" /><Relationship Type="http://schemas.openxmlformats.org/officeDocument/2006/relationships/hyperlink" Target="https://doi.org/10.21037/tau.2019.07.18" TargetMode="External" Id="Rdca876b6986d4224" /><Relationship Type="http://schemas.openxmlformats.org/officeDocument/2006/relationships/hyperlink" Target="https://tau.amegroups.org/article/view/130351/html" TargetMode="External" Id="R8ab70dd81ebe46fa" /><Relationship Type="http://schemas.openxmlformats.org/officeDocument/2006/relationships/hyperlink" Target="https://pubmed.ncbi.nlm.nih.gov/23164373/" TargetMode="External" Id="R761a1c151ff44ec1" /><Relationship Type="http://schemas.openxmlformats.org/officeDocument/2006/relationships/hyperlink" Target="https://doi.org/10.1016/j.urology.2017.07.064" TargetMode="External" Id="Rd615dd7fbee74a51" /><Relationship Type="http://schemas.openxmlformats.org/officeDocument/2006/relationships/hyperlink" Target="https://doi.org/10.5152/tud.2023.22136" TargetMode="External" Id="R857be31b25e74636" /><Relationship Type="http://schemas.openxmlformats.org/officeDocument/2006/relationships/hyperlink" Target="https://pubmed.ncbi.nlm.nih.gov/26135815/" TargetMode="External" Id="Rf3746a89bebe4e3b" /><Relationship Type="http://schemas.openxmlformats.org/officeDocument/2006/relationships/hyperlink" Target="https://pmc.ncbi.nlm.nih.gov/articles/PMC12794701/" TargetMode="External" Id="R5748c9004dee42be" /><Relationship Type="http://schemas.openxmlformats.org/officeDocument/2006/relationships/notesSlide" Target="/ppt/notesSlides/notesSlide46.xml" Id="Re17ef01acfbb4d6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8fe190a69eb47fb" /><Relationship Type="http://schemas.openxmlformats.org/officeDocument/2006/relationships/hyperlink" Target="https://helpdesk.auanet.org/hc/en-us/articles/40948838469143-Guidelines" TargetMode="External" Id="Rdfbd4d6c011f447c" /><Relationship Type="http://schemas.openxmlformats.org/officeDocument/2006/relationships/hyperlink" Target="https://journals.sagepub.com/doi/full/10.1177/20514158261451299" TargetMode="External" Id="R0311aebd328940ee" /><Relationship Type="http://schemas.openxmlformats.org/officeDocument/2006/relationships/hyperlink" Target="https://journals.sagepub.com/doi/full/10.1177/20514158261451299" TargetMode="External" Id="Rb7a05fb776774a65" /><Relationship Type="http://schemas.openxmlformats.org/officeDocument/2006/relationships/hyperlink" Target="https://doi.org/10.1097/01.JU.0001191316.72449.22.22" TargetMode="External" Id="R75ff4be8b4ea4140" /><Relationship Type="http://schemas.openxmlformats.org/officeDocument/2006/relationships/hyperlink" Target="https://doi.org/10.1097/01.JU.0001191316.72449.22.18" TargetMode="External" Id="R816568730f924130" /><Relationship Type="http://schemas.openxmlformats.org/officeDocument/2006/relationships/hyperlink" Target="https://doi.org/10.1097/01.JU.0001191316.72449.22.17" TargetMode="External" Id="Rac47faac222b42ba" /><Relationship Type="http://schemas.openxmlformats.org/officeDocument/2006/relationships/hyperlink" Target="https://doi.org/10.1016/j.euf.2026.07.012" TargetMode="External" Id="R4389e244afea4a66" /><Relationship Type="http://schemas.openxmlformats.org/officeDocument/2006/relationships/hyperlink" Target="https://doi.org/10.1016/j.urology.2026.05.024" TargetMode="External" Id="Rcdedef0c064540e4" /><Relationship Type="http://schemas.openxmlformats.org/officeDocument/2006/relationships/notesSlide" Target="/ppt/notesSlides/notesSlide47.xml" Id="R2a91c4bb5729434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70e247dca4940d1" /><Relationship Type="http://schemas.openxmlformats.org/officeDocument/2006/relationships/hyperlink" Target="https://doi.org/10.3390/antibiotics15090894" TargetMode="External" Id="Rb7e8ec8814fc4258" /><Relationship Type="http://schemas.openxmlformats.org/officeDocument/2006/relationships/hyperlink" Target="https://doi.org/10.1007/s11255-025-04711-y" TargetMode="External" Id="R2bba7903f75341fb" /><Relationship Type="http://schemas.openxmlformats.org/officeDocument/2006/relationships/hyperlink" Target="https://doi.org/10.1016/j.fjurol.2026.103135" TargetMode="External" Id="R054f2552f682469b" /><Relationship Type="http://schemas.openxmlformats.org/officeDocument/2006/relationships/hyperlink" Target="https://doi.org/10.1097/ju.0000000000005102" TargetMode="External" Id="Rf545ed39d52c4fd9" /><Relationship Type="http://schemas.openxmlformats.org/officeDocument/2006/relationships/hyperlink" Target="https://doi.org/10.1111/bju.70224" TargetMode="External" Id="Rf162f4535d1449e8" /><Relationship Type="http://schemas.openxmlformats.org/officeDocument/2006/relationships/hyperlink" Target="https://doi.org/10.1016/j.urology.2025.12.031" TargetMode="External" Id="Rcfb16a3b6bcb4231" /><Relationship Type="http://schemas.openxmlformats.org/officeDocument/2006/relationships/hyperlink" Target="https://doi.org/10.1016/j.euros.2025.12.006" TargetMode="External" Id="Rc2d8a0a9523a4910" /><Relationship Type="http://schemas.openxmlformats.org/officeDocument/2006/relationships/hyperlink" Target="https://doi.org/10.1002/nau.70417" TargetMode="External" Id="R314b93abce9a41f1" /><Relationship Type="http://schemas.openxmlformats.org/officeDocument/2006/relationships/notesSlide" Target="/ppt/notesSlides/notesSlide48.xml" Id="Rc24feb7659a941a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c8761f5d794142" /><Relationship Type="http://schemas.openxmlformats.org/officeDocument/2006/relationships/hyperlink" Target="https://doi.org/10.1007/s00345-026-06629-1" TargetMode="External" Id="Rcb160f8167c543a1" /><Relationship Type="http://schemas.openxmlformats.org/officeDocument/2006/relationships/hyperlink" Target="https://doi.org/10.1002/nau.70400" TargetMode="External" Id="R4c461daf406a44dd" /><Relationship Type="http://schemas.openxmlformats.org/officeDocument/2006/relationships/hyperlink" Target="https://doi.org/10.1590/s1677-5538.ibju.2025.0374" TargetMode="External" Id="R7c510c2b74274100" /><Relationship Type="http://schemas.openxmlformats.org/officeDocument/2006/relationships/hyperlink" Target="https://doi.org/10.1016/j.urology.2025.11.222" TargetMode="External" Id="Ra9b1c3ca1b814845" /><Relationship Type="http://schemas.openxmlformats.org/officeDocument/2006/relationships/hyperlink" Target="https://doi.org/10.1007/s00345-025-05625-1" TargetMode="External" Id="R8f45e874dc4f4067" /><Relationship Type="http://schemas.openxmlformats.org/officeDocument/2006/relationships/hyperlink" Target="https://doi.org/10.1097/ju.0000000000004945" TargetMode="External" Id="Rec62ab02731b44f1" /><Relationship Type="http://schemas.openxmlformats.org/officeDocument/2006/relationships/hyperlink" Target="https://doi.org/10.1007/s00345-026-06246-y" TargetMode="External" Id="Ra5d94814c3be4a0c" /><Relationship Type="http://schemas.openxmlformats.org/officeDocument/2006/relationships/notesSlide" Target="/ppt/notesSlides/notesSlide49.xml" Id="Rbd8e90aa12d847a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6" name="Google Shape;16;p3"/>
          <p:cNvPicPr>
            <a:picLocks xmlns:a="http://schemas.openxmlformats.org/drawingml/2006/main" noChangeAspect="1"/>
          </p:cNvPicPr>
          <p:nvPr/>
        </p:nvPicPr>
        <p:blipFill rotWithShape="1">
          <a:blip xmlns:r="http://schemas.openxmlformats.org/officeDocument/2006/relationships" xmlns:a="http://schemas.openxmlformats.org/drawingml/2006/main" r:embed="Rdbb07247ab4d43db">
            <a:alphaModFix/>
          </a:blip>
          <a:srcRect xmlns:a="http://schemas.openxmlformats.org/drawingml/2006/main" l="0" t="0" r="0" b="0"/>
          <a:stretch xmlns:a="http://schemas.openxmlformats.org/drawingml/2006/main"/>
        </p:blipFill>
        <p:spPr>
          <a:xfrm xmlns:a="http://schemas.openxmlformats.org/drawingml/2006/main">
            <a:off x="6000750" y="1365250"/>
            <a:ext cx="6191250" cy="4127500"/>
          </a:xfrm>
          <a:prstGeom xmlns:a="http://schemas.openxmlformats.org/drawingml/2006/main" prst="rect">
            <a:avLst/>
          </a:prstGeom>
          <a:ln xmlns:a="http://schemas.openxmlformats.org/drawingml/2006/main">
            <a:noFill/>
          </a:ln>
        </p:spPr>
      </p:pic>
      <p:sp>
        <p:nvSpPr>
          <p:cNvPr id="17" name="Google Shape;17;p3">
            <a:extLst xmlns:a="http://schemas.openxmlformats.org/drawingml/2006/main">
              <a:ext uri="{FF2B5EF4-FFF2-40B4-BE49-F238E27FC236}">
                <a16:creationId xmlns:a16="http://schemas.microsoft.com/office/drawing/2014/main" id="{88E77A58-1E86-4E07-8665-897E39A5B061}"/>
              </a:ext>
            </a:extLst>
          </p:cNvPr>
          <p:cNvSpPr>
            <a:spLocks xmlns:a="http://schemas.openxmlformats.org/drawingml/2006/main" noGrp="1"/>
          </p:cNvSpPr>
          <p:nvPr/>
        </p:nvSpPr>
        <p:spPr>
          <a:xfrm xmlns:a="http://schemas.openxmlformats.org/drawingml/2006/main">
            <a:off x="609600" y="1333500"/>
            <a:ext cx="5476875" cy="1762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Artificial urinary</a:t>
            </a:r>
            <a:endParaRPr/>
          </a:p>
          <a:p xmlns:a="http://schemas.openxmlformats.org/drawingml/2006/main">
            <a:pPr marL="0" marR="0" lvl="0" indent="0" algn="l">
              <a:spcBef>
                <a:spcPts val="0"/>
              </a:spcBef>
              <a:spcAft>
                <a:spcPts val="0"/>
              </a:spcAft>
              <a:buNone/>
            </a:pPr>
            <a:r>
              <a:rPr sz="4350" b="1">
                <a:solidFill>
                  <a:srgbClr val="183343"/>
                </a:solidFill>
                <a:latin typeface="Arial"/>
                <a:ea typeface="Arial"/>
                <a:cs typeface="Arial"/>
              </a:rPr>
              <a:t>sphincter surgery</a:t>
            </a:r>
            <a:endParaRPr/>
          </a:p>
        </p:txBody>
      </p:sp>
      <p:sp>
        <p:nvSpPr>
          <p:cNvPr id="18" name="Google Shape;18;p3">
            <a:extLst xmlns:a="http://schemas.openxmlformats.org/drawingml/2006/main">
              <a:ext uri="{FF2B5EF4-FFF2-40B4-BE49-F238E27FC236}">
                <a16:creationId xmlns:a16="http://schemas.microsoft.com/office/drawing/2014/main" id="{6926818C-D993-46DE-B6B5-F32622BB70B2}"/>
              </a:ext>
            </a:extLst>
          </p:cNvPr>
          <p:cNvSpPr>
            <a:spLocks xmlns:a="http://schemas.openxmlformats.org/drawingml/2006/main" noGrp="1"/>
          </p:cNvSpPr>
          <p:nvPr/>
        </p:nvSpPr>
        <p:spPr>
          <a:xfrm xmlns:a="http://schemas.openxmlformats.org/drawingml/2006/main">
            <a:off x="609600" y="3429000"/>
            <a:ext cx="5143500" cy="1104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Patient selection, difficult bladders</a:t>
            </a:r>
            <a:endParaRPr/>
          </a:p>
          <a:p xmlns:a="http://schemas.openxmlformats.org/drawingml/2006/main">
            <a:pPr marL="0" marR="0" lvl="0" indent="0" algn="l">
              <a:spcBef>
                <a:spcPts val="0"/>
              </a:spcBef>
              <a:spcAft>
                <a:spcPts val="0"/>
              </a:spcAft>
              <a:buNone/>
            </a:pPr>
            <a:r>
              <a:rPr sz="2325" b="0">
                <a:solidFill>
                  <a:srgbClr val="526773"/>
                </a:solidFill>
                <a:latin typeface="Arial"/>
                <a:ea typeface="Arial"/>
                <a:cs typeface="Arial"/>
              </a:rPr>
              <a:t>and difficult urethras</a:t>
            </a:r>
            <a:endParaRPr/>
          </a:p>
        </p:txBody>
      </p:sp>
      <p:sp>
        <p:nvSpPr>
          <p:cNvPr id="19" name="Google Shape;19;p3">
            <a:extLst xmlns:a="http://schemas.openxmlformats.org/drawingml/2006/main">
              <a:ext uri="{FF2B5EF4-FFF2-40B4-BE49-F238E27FC236}">
                <a16:creationId xmlns:a16="http://schemas.microsoft.com/office/drawing/2014/main" id="{A4E85CBE-06EA-4FC2-BF7C-CAA2DCEA49B5}"/>
              </a:ext>
            </a:extLst>
          </p:cNvPr>
          <p:cNvSpPr>
            <a:spLocks xmlns:a="http://schemas.openxmlformats.org/drawingml/2006/main" noGrp="1"/>
          </p:cNvSpPr>
          <p:nvPr/>
        </p:nvSpPr>
        <p:spPr>
          <a:xfrm xmlns:a="http://schemas.openxmlformats.org/drawingml/2006/main">
            <a:off x="609600" y="495300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0" name="Google Shape;20;p3">
            <a:extLst xmlns:a="http://schemas.openxmlformats.org/drawingml/2006/main">
              <a:ext uri="{FF2B5EF4-FFF2-40B4-BE49-F238E27FC236}">
                <a16:creationId xmlns:a16="http://schemas.microsoft.com/office/drawing/2014/main" id="{38864E53-B17D-4E03-BB42-22CE15E604E6}"/>
              </a:ext>
            </a:extLst>
          </p:cNvPr>
          <p:cNvSpPr>
            <a:spLocks xmlns:a="http://schemas.openxmlformats.org/drawingml/2006/main" noGrp="1"/>
          </p:cNvSpPr>
          <p:nvPr/>
        </p:nvSpPr>
        <p:spPr>
          <a:xfrm xmlns:a="http://schemas.openxmlformats.org/drawingml/2006/main">
            <a:off x="609600" y="4552950"/>
            <a:ext cx="5095875"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526773"/>
                </a:solidFill>
                <a:latin typeface="Arial"/>
                <a:ea typeface="Arial"/>
                <a:cs typeface="Arial"/>
              </a:rPr>
              <a:t>[Meeting and date]</a:t>
            </a:r>
            <a:endParaRPr/>
          </a:p>
        </p:txBody>
      </p:sp>
      <p:sp>
        <p:nvSpPr>
          <p:cNvPr id="9021" name="Presenter 9021">
            <a:extLst xmlns:a="http://schemas.openxmlformats.org/drawingml/2006/main">
              <a:ext uri="{6B51D07B-736C-4DED-A78E-E2C2F78D7EB0}">
                <a16:creationId xmlns:a16="http://schemas.microsoft.com/office/drawing/2014/main" id="{6B51D07B-736C-4DED-A78E-E2C2F78D7EB0}"/>
              </a:ext>
            </a:extLst>
          </p:cNvPr>
          <p:cNvSpPr>
            <a:spLocks xmlns:a="http://schemas.openxmlformats.org/drawingml/2006/main" noGrp="1"/>
          </p:cNvSpPr>
          <p:nvPr/>
        </p:nvSpPr>
        <p:spPr>
          <a:xfrm xmlns:a="http://schemas.openxmlformats.org/drawingml/2006/main">
            <a:off x="609600" y="508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Mr Andrew Baird</a:t>
            </a:r>
            <a:endParaRPr/>
          </a:p>
        </p:txBody>
      </p:sp>
      <p:sp>
        <p:nvSpPr>
          <p:cNvPr id="9022" name="Presenter 9022">
            <a:extLst xmlns:a="http://schemas.openxmlformats.org/drawingml/2006/main">
              <a:ext uri="{A1C1BEF5-968F-4F10-B6F8-924E4227C610}">
                <a16:creationId xmlns:a16="http://schemas.microsoft.com/office/drawing/2014/main" id="{A1C1BEF5-968F-4F10-B6F8-924E4227C610}"/>
              </a:ext>
            </a:extLst>
          </p:cNvPr>
          <p:cNvSpPr>
            <a:spLocks xmlns:a="http://schemas.openxmlformats.org/drawingml/2006/main" noGrp="1"/>
          </p:cNvSpPr>
          <p:nvPr/>
        </p:nvSpPr>
        <p:spPr>
          <a:xfrm xmlns:a="http://schemas.openxmlformats.org/drawingml/2006/main">
            <a:off x="609600" y="534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1" name="Google Shape;21;p3">
            <a:extLst xmlns:a="http://schemas.openxmlformats.org/drawingml/2006/main">
              <a:ext uri="{FF2B5EF4-FFF2-40B4-BE49-F238E27FC236}">
                <a16:creationId xmlns:a16="http://schemas.microsoft.com/office/drawing/2014/main" id="{78C91B36-1C1F-4C6B-987B-E1B69A9CE8EC}"/>
              </a:ext>
            </a:extLst>
          </p:cNvPr>
          <p:cNvSpPr>
            <a:spLocks xmlns:a="http://schemas.openxmlformats.org/drawingml/2006/main" noGrp="1"/>
          </p:cNvSpPr>
          <p:nvPr/>
        </p:nvSpPr>
        <p:spPr>
          <a:xfrm xmlns:a="http://schemas.openxmlformats.org/drawingml/2006/main">
            <a:off x="609600" y="563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Mr Abu Yousif</a:t>
            </a:r>
            <a:endParaRPr/>
          </a:p>
        </p:txBody>
      </p:sp>
      <p:sp>
        <p:nvSpPr>
          <p:cNvPr id="22" name="Google Shape;22;p3">
            <a:extLst xmlns:a="http://schemas.openxmlformats.org/drawingml/2006/main">
              <a:ext uri="{FF2B5EF4-FFF2-40B4-BE49-F238E27FC236}">
                <a16:creationId xmlns:a16="http://schemas.microsoft.com/office/drawing/2014/main" id="{E8603EAD-2D67-48A0-AED3-FC7A1F301743}"/>
              </a:ext>
            </a:extLst>
          </p:cNvPr>
          <p:cNvSpPr>
            <a:spLocks xmlns:a="http://schemas.openxmlformats.org/drawingml/2006/main" noGrp="1"/>
          </p:cNvSpPr>
          <p:nvPr/>
        </p:nvSpPr>
        <p:spPr>
          <a:xfrm xmlns:a="http://schemas.openxmlformats.org/drawingml/2006/main">
            <a:off x="609600" y="589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3" name="Google Shape;23;p3">
            <a:extLst xmlns:a="http://schemas.openxmlformats.org/drawingml/2006/main">
              <a:ext uri="{FF2B5EF4-FFF2-40B4-BE49-F238E27FC236}">
                <a16:creationId xmlns:a16="http://schemas.microsoft.com/office/drawing/2014/main" id="{9FDBAF1A-D44B-4C16-8894-5B46E3850C7A}"/>
              </a:ext>
            </a:extLst>
          </p:cNvPr>
          <p:cNvSpPr>
            <a:spLocks xmlns:a="http://schemas.openxmlformats.org/drawingml/2006/main" noGrp="1"/>
          </p:cNvSpPr>
          <p:nvPr/>
        </p:nvSpPr>
        <p:spPr>
          <a:xfrm xmlns:a="http://schemas.openxmlformats.org/drawingml/2006/main">
            <a:off x="609600" y="6180000"/>
            <a:ext cx="5095875" cy="2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650" b="1">
                <a:solidFill>
                  <a:srgbClr val="183343"/>
                </a:solidFill>
                <a:latin typeface="Arial"/>
                <a:ea typeface="Arial"/>
                <a:cs typeface="Arial"/>
              </a:rPr>
              <a:t>Nity G</a:t>
            </a:r>
            <a:endParaRPr/>
          </a:p>
        </p:txBody>
      </p:sp>
      <p:sp>
        <p:nvSpPr>
          <p:cNvPr id="24" name="Google Shape;24;p3">
            <a:extLst xmlns:a="http://schemas.openxmlformats.org/drawingml/2006/main">
              <a:ext uri="{FF2B5EF4-FFF2-40B4-BE49-F238E27FC236}">
                <a16:creationId xmlns:a16="http://schemas.microsoft.com/office/drawing/2014/main" id="{0D9EE845-FB92-4D47-A706-4FFF97070DDB}"/>
              </a:ext>
            </a:extLst>
          </p:cNvPr>
          <p:cNvSpPr>
            <a:spLocks xmlns:a="http://schemas.openxmlformats.org/drawingml/2006/main" noGrp="1"/>
          </p:cNvSpPr>
          <p:nvPr/>
        </p:nvSpPr>
        <p:spPr>
          <a:xfrm xmlns:a="http://schemas.openxmlformats.org/drawingml/2006/main">
            <a:off x="609600" y="6445000"/>
            <a:ext cx="5095875"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00" b="0">
                <a:solidFill>
                  <a:srgbClr val="526773"/>
                </a:solidFill>
                <a:latin typeface="Arial"/>
                <a:ea typeface="Arial"/>
                <a:cs typeface="Arial"/>
              </a:rPr>
              <a:t>ST5 Urology Registrar</a:t>
            </a:r>
            <a:endParaRPr/>
          </a:p>
        </p:txBody>
      </p:sp>
    </p:spTree>
    <p:extLst>
      <p:ext uri="{BB962C8B-B14F-4D97-AF65-F5344CB8AC3E}">
        <p14:creationId xmlns:p14="http://schemas.microsoft.com/office/powerpoint/2010/main" val="15715451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Google Shape;30;p4">
            <a:extLst xmlns:a="http://schemas.openxmlformats.org/drawingml/2006/main">
              <a:ext uri="{FF2B5EF4-FFF2-40B4-BE49-F238E27FC236}">
                <a16:creationId xmlns:a16="http://schemas.microsoft.com/office/drawing/2014/main" id="{F15F03EC-9F1B-4C61-873D-23FE88AA324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decision before theatre</a:t>
            </a:r>
            <a:endParaRPr/>
          </a:p>
        </p:txBody>
      </p:sp>
      <p:sp>
        <p:nvSpPr>
          <p:cNvPr id="31" name="Google Shape;31;p4">
            <a:extLst xmlns:a="http://schemas.openxmlformats.org/drawingml/2006/main">
              <a:ext uri="{FF2B5EF4-FFF2-40B4-BE49-F238E27FC236}">
                <a16:creationId xmlns:a16="http://schemas.microsoft.com/office/drawing/2014/main" id="{2363F1F2-7722-4FA1-BA85-C4D22D9599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 name="Google Shape;32;p4">
            <a:extLst xmlns:a="http://schemas.openxmlformats.org/drawingml/2006/main">
              <a:ext uri="{FF2B5EF4-FFF2-40B4-BE49-F238E27FC236}">
                <a16:creationId xmlns:a16="http://schemas.microsoft.com/office/drawing/2014/main" id="{71988591-0323-4C3A-B9AA-E1D4652FBDF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a:t>
            </a:r>
            <a:endParaRPr/>
          </a:p>
        </p:txBody>
      </p:sp>
      <p:sp>
        <p:nvSpPr>
          <p:cNvPr id="33" name="Google Shape;33;p4">
            <a:extLst xmlns:a="http://schemas.openxmlformats.org/drawingml/2006/main">
              <a:ext uri="{FF2B5EF4-FFF2-40B4-BE49-F238E27FC236}">
                <a16:creationId xmlns:a16="http://schemas.microsoft.com/office/drawing/2014/main" id="{01605D51-8685-41BC-ACAC-4B000A5277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01</a:t>
            </a:r>
            <a:endParaRPr/>
          </a:p>
        </p:txBody>
      </p:sp>
      <p:sp>
        <p:nvSpPr>
          <p:cNvPr id="34" name="Google Shape;34;p4">
            <a:extLst xmlns:a="http://schemas.openxmlformats.org/drawingml/2006/main">
              <a:ext uri="{FF2B5EF4-FFF2-40B4-BE49-F238E27FC236}">
                <a16:creationId xmlns:a16="http://schemas.microsoft.com/office/drawing/2014/main" id="{B4F13D2F-82A7-4FBA-A6A3-5CD2D37A7BA9}"/>
              </a:ext>
            </a:extLst>
          </p:cNvPr>
          <p:cNvSpPr>
            <a:spLocks xmlns:a="http://schemas.openxmlformats.org/drawingml/2006/main" noGrp="1"/>
          </p:cNvSpPr>
          <p:nvPr/>
        </p:nvSpPr>
        <p:spPr>
          <a:xfrm xmlns:a="http://schemas.openxmlformats.org/drawingml/2006/main">
            <a:off x="609600" y="1809750"/>
            <a:ext cx="1097280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0">
                <a:solidFill>
                  <a:srgbClr val="526773"/>
                </a:solidFill>
                <a:latin typeface="Arial"/>
                <a:ea typeface="Arial"/>
                <a:cs typeface="Arial"/>
              </a:rPr>
              <a:t>Severe leakage is only the starting point</a:t>
            </a:r>
            <a:endParaRPr/>
          </a:p>
        </p:txBody>
      </p:sp>
      <p:sp>
        <p:nvSpPr>
          <p:cNvPr id="35" name="Google Shape;35;p4">
            <a:extLst xmlns:a="http://schemas.openxmlformats.org/drawingml/2006/main">
              <a:ext uri="{FF2B5EF4-FFF2-40B4-BE49-F238E27FC236}">
                <a16:creationId xmlns:a16="http://schemas.microsoft.com/office/drawing/2014/main" id="{DAEF8642-3DD7-45FF-BA04-AC8CC03C9D0C}"/>
              </a:ext>
            </a:extLst>
          </p:cNvPr>
          <p:cNvSpPr>
            <a:spLocks xmlns:a="http://schemas.openxmlformats.org/drawingml/2006/main" noGrp="1"/>
          </p:cNvSpPr>
          <p:nvPr/>
        </p:nvSpPr>
        <p:spPr>
          <a:xfrm xmlns:a="http://schemas.openxmlformats.org/drawingml/2006/main">
            <a:off x="609600" y="266700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Implant</a:t>
            </a:r>
            <a:endParaRPr/>
          </a:p>
        </p:txBody>
      </p:sp>
      <p:sp>
        <p:nvSpPr>
          <p:cNvPr id="36" name="Google Shape;36;p4">
            <a:extLst xmlns:a="http://schemas.openxmlformats.org/drawingml/2006/main">
              <a:ext uri="{FF2B5EF4-FFF2-40B4-BE49-F238E27FC236}">
                <a16:creationId xmlns:a16="http://schemas.microsoft.com/office/drawing/2014/main" id="{5B38ED72-FC83-4016-884E-3220E958195B}"/>
              </a:ext>
            </a:extLst>
          </p:cNvPr>
          <p:cNvSpPr>
            <a:spLocks xmlns:a="http://schemas.openxmlformats.org/drawingml/2006/main" noGrp="1"/>
          </p:cNvSpPr>
          <p:nvPr/>
        </p:nvSpPr>
        <p:spPr>
          <a:xfrm xmlns:a="http://schemas.openxmlformats.org/drawingml/2006/main">
            <a:off x="3095625" y="268605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SUI, safe storage, reliable emptying and usable pump</a:t>
            </a:r>
            <a:endParaRPr/>
          </a:p>
        </p:txBody>
      </p:sp>
      <p:sp>
        <p:nvSpPr>
          <p:cNvPr id="37" name="Google Shape;37;p4">
            <a:extLst xmlns:a="http://schemas.openxmlformats.org/drawingml/2006/main">
              <a:ext uri="{FF2B5EF4-FFF2-40B4-BE49-F238E27FC236}">
                <a16:creationId xmlns:a16="http://schemas.microsoft.com/office/drawing/2014/main" id="{F74A4E1A-02A7-45A7-AE0D-B847066F71CB}"/>
              </a:ext>
            </a:extLst>
          </p:cNvPr>
          <p:cNvSpPr>
            <a:spLocks xmlns:a="http://schemas.openxmlformats.org/drawingml/2006/main" noGrp="1"/>
          </p:cNvSpPr>
          <p:nvPr/>
        </p:nvSpPr>
        <p:spPr>
          <a:xfrm xmlns:a="http://schemas.openxmlformats.org/drawingml/2006/main">
            <a:off x="609600" y="340042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997227"/>
                </a:solidFill>
                <a:latin typeface="Arial"/>
                <a:ea typeface="Arial"/>
                <a:cs typeface="Arial"/>
              </a:rPr>
              <a:t>Optimise</a:t>
            </a:r>
            <a:endParaRPr/>
          </a:p>
        </p:txBody>
      </p:sp>
      <p:sp>
        <p:nvSpPr>
          <p:cNvPr id="38" name="Google Shape;38;p4">
            <a:extLst xmlns:a="http://schemas.openxmlformats.org/drawingml/2006/main">
              <a:ext uri="{FF2B5EF4-FFF2-40B4-BE49-F238E27FC236}">
                <a16:creationId xmlns:a16="http://schemas.microsoft.com/office/drawing/2014/main" id="{78084311-194D-46ED-937F-41CAF4DCF662}"/>
              </a:ext>
            </a:extLst>
          </p:cNvPr>
          <p:cNvSpPr>
            <a:spLocks xmlns:a="http://schemas.openxmlformats.org/drawingml/2006/main" noGrp="1"/>
          </p:cNvSpPr>
          <p:nvPr/>
        </p:nvSpPr>
        <p:spPr>
          <a:xfrm xmlns:a="http://schemas.openxmlformats.org/drawingml/2006/main">
            <a:off x="3095625" y="341947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treatable bladder or functional problem dominates</a:t>
            </a:r>
            <a:endParaRPr/>
          </a:p>
        </p:txBody>
      </p:sp>
      <p:sp>
        <p:nvSpPr>
          <p:cNvPr id="39" name="Google Shape;39;p4">
            <a:extLst xmlns:a="http://schemas.openxmlformats.org/drawingml/2006/main">
              <a:ext uri="{FF2B5EF4-FFF2-40B4-BE49-F238E27FC236}">
                <a16:creationId xmlns:a16="http://schemas.microsoft.com/office/drawing/2014/main" id="{14502EAA-6EB9-4599-BF41-3A1ABFD5EE4A}"/>
              </a:ext>
            </a:extLst>
          </p:cNvPr>
          <p:cNvSpPr>
            <a:spLocks xmlns:a="http://schemas.openxmlformats.org/drawingml/2006/main" noGrp="1"/>
          </p:cNvSpPr>
          <p:nvPr/>
        </p:nvSpPr>
        <p:spPr>
          <a:xfrm xmlns:a="http://schemas.openxmlformats.org/drawingml/2006/main">
            <a:off x="609600" y="4133850"/>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83343"/>
                </a:solidFill>
                <a:latin typeface="Arial"/>
                <a:ea typeface="Arial"/>
                <a:cs typeface="Arial"/>
              </a:rPr>
              <a:t>Investigate</a:t>
            </a:r>
            <a:endParaRPr/>
          </a:p>
        </p:txBody>
      </p:sp>
      <p:sp>
        <p:nvSpPr>
          <p:cNvPr id="40" name="Google Shape;40;p4">
            <a:extLst xmlns:a="http://schemas.openxmlformats.org/drawingml/2006/main">
              <a:ext uri="{FF2B5EF4-FFF2-40B4-BE49-F238E27FC236}">
                <a16:creationId xmlns:a16="http://schemas.microsoft.com/office/drawing/2014/main" id="{65DDC171-5395-4FEA-ACD7-2D4A93BC5994}"/>
              </a:ext>
            </a:extLst>
          </p:cNvPr>
          <p:cNvSpPr>
            <a:spLocks xmlns:a="http://schemas.openxmlformats.org/drawingml/2006/main" noGrp="1"/>
          </p:cNvSpPr>
          <p:nvPr/>
        </p:nvSpPr>
        <p:spPr>
          <a:xfrm xmlns:a="http://schemas.openxmlformats.org/drawingml/2006/main">
            <a:off x="3095625" y="4152900"/>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mechanism, measurements or anatomy remain uncertain</a:t>
            </a:r>
            <a:endParaRPr/>
          </a:p>
        </p:txBody>
      </p:sp>
      <p:sp>
        <p:nvSpPr>
          <p:cNvPr id="41" name="Google Shape;41;p4">
            <a:extLst xmlns:a="http://schemas.openxmlformats.org/drawingml/2006/main">
              <a:ext uri="{FF2B5EF4-FFF2-40B4-BE49-F238E27FC236}">
                <a16:creationId xmlns:a16="http://schemas.microsoft.com/office/drawing/2014/main" id="{AB167CE7-C96E-4EBA-A601-91650CB5984A}"/>
              </a:ext>
            </a:extLst>
          </p:cNvPr>
          <p:cNvSpPr>
            <a:spLocks xmlns:a="http://schemas.openxmlformats.org/drawingml/2006/main" noGrp="1"/>
          </p:cNvSpPr>
          <p:nvPr/>
        </p:nvSpPr>
        <p:spPr>
          <a:xfrm xmlns:a="http://schemas.openxmlformats.org/drawingml/2006/main">
            <a:off x="609600" y="4867275"/>
            <a:ext cx="20955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A64135"/>
                </a:solidFill>
                <a:latin typeface="Arial"/>
                <a:ea typeface="Arial"/>
                <a:cs typeface="Arial"/>
              </a:rPr>
              <a:t>Reconsider</a:t>
            </a:r>
            <a:endParaRPr/>
          </a:p>
        </p:txBody>
      </p:sp>
      <p:sp>
        <p:nvSpPr>
          <p:cNvPr id="42" name="Google Shape;42;p4">
            <a:extLst xmlns:a="http://schemas.openxmlformats.org/drawingml/2006/main">
              <a:ext uri="{FF2B5EF4-FFF2-40B4-BE49-F238E27FC236}">
                <a16:creationId xmlns:a16="http://schemas.microsoft.com/office/drawing/2014/main" id="{78C26F52-0832-4AD3-89D3-DC9C7B94E3F1}"/>
              </a:ext>
            </a:extLst>
          </p:cNvPr>
          <p:cNvSpPr>
            <a:spLocks xmlns:a="http://schemas.openxmlformats.org/drawingml/2006/main" noGrp="1"/>
          </p:cNvSpPr>
          <p:nvPr/>
        </p:nvSpPr>
        <p:spPr>
          <a:xfrm xmlns:a="http://schemas.openxmlformats.org/drawingml/2006/main">
            <a:off x="3095625" y="4886325"/>
            <a:ext cx="847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Safe function or independent device use is unlikely</a:t>
            </a:r>
            <a:endParaRPr/>
          </a:p>
        </p:txBody>
      </p:sp>
    </p:spTree>
    <p:extLst>
      <p:ext uri="{BB962C8B-B14F-4D97-AF65-F5344CB8AC3E}">
        <p14:creationId xmlns:p14="http://schemas.microsoft.com/office/powerpoint/2010/main" val="21119894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3915633E-5BB2-4033-8193-6A83F8C7906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and device boundaries</a:t>
            </a:r>
            <a:endParaRPr/>
          </a:p>
        </p:txBody>
      </p:sp>
      <p:sp>
        <p:nvSpPr>
          <p:cNvPr id="49" name="Google Shape;49;p5">
            <a:extLst xmlns:a="http://schemas.openxmlformats.org/drawingml/2006/main">
              <a:ext uri="{FF2B5EF4-FFF2-40B4-BE49-F238E27FC236}">
                <a16:creationId xmlns:a16="http://schemas.microsoft.com/office/drawing/2014/main" id="{4CC04D64-E05D-4511-97EA-8117FD8771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 name="Google Shape;50;p5">
            <a:extLst xmlns:a="http://schemas.openxmlformats.org/drawingml/2006/main">
              <a:ext uri="{FF2B5EF4-FFF2-40B4-BE49-F238E27FC236}">
                <a16:creationId xmlns:a16="http://schemas.microsoft.com/office/drawing/2014/main" id="{288FE6B1-E8BD-44BB-9967-5744F62DEF7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AP23 · CCIFU · AUASTATUS26 · DEVICE26</a:t>
            </a:r>
            <a:endParaRPr/>
          </a:p>
        </p:txBody>
      </p:sp>
      <p:sp>
        <p:nvSpPr>
          <p:cNvPr id="51" name="Google Shape;51;p5">
            <a:extLst xmlns:a="http://schemas.openxmlformats.org/drawingml/2006/main">
              <a:ext uri="{FF2B5EF4-FFF2-40B4-BE49-F238E27FC236}">
                <a16:creationId xmlns:a16="http://schemas.microsoft.com/office/drawing/2014/main" id="{085C0719-E7F7-4A14-8062-0D41742BEAD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02</a:t>
            </a:r>
            <a:endParaRPr/>
          </a:p>
        </p:txBody>
      </p:sp>
      <p:graphicFrame>
        <p:nvGraphicFramePr>
          <p:cNvPr id="60" name="Google Shape;52;p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950"/>
                        <a:buFont typeface="Arial"/>
                        <a:buNone/>
                      </a:pPr>
                      <a:r>
                        <a:rPr sz="1950" b="1" u="none" cap="none">
                          <a:solidFill>
                            <a:srgbClr val="FFFFFF"/>
                          </a:solidFill>
                          <a:latin typeface="Arial"/>
                          <a:ea typeface="Arial"/>
                          <a:cs typeface="Arial"/>
                        </a:rPr>
                        <a:t>Source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What it can tell us</a:t>
                      </a:r>
                      <a:endParaRPr/>
                    </a:p>
                  </a:txBody>
                  <a:tcPr marL="133350" marR="133350" marT="95250" marB="76200" anchor="ctr">
                    <a:solidFill>
                      <a:srgbClr val="183343"/>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Guidelines and consensus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recommended clinical pathway</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Clinical studies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Outcomes in a defined population</a:t>
                      </a:r>
                      <a:endParaRPr/>
                    </a:p>
                  </a:txBody>
                  <a:tcPr marL="133350" marR="133350" marT="95250" marB="76200" anchor="ctr">
                    <a:solidFill>
                      <a:srgbClr val="FFFFFF"/>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Manufacturer IFU</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Permitted use and device precautions</a:t>
                      </a:r>
                      <a:endParaRPr/>
                    </a:p>
                  </a:txBody>
                  <a:tcPr marL="133350" marR="133350" marT="95250" marB="76200" anchor="ctr">
                    <a:solidFill>
                      <a:srgbClr val="EEF4F5"/>
                    </a:solidFill>
                  </a:tcPr>
                </a:tc>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or local practice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practical choice with stated uncertainty</a:t>
                      </a:r>
                      <a:endParaRPr/>
                    </a:p>
                  </a:txBody>
                  <a:tcPr marL="133350" marR="133350" marT="95250" marB="76200" anchor="ctr">
                    <a:solidFill>
                      <a:srgbClr val="FFFFFF"/>
                    </a:solidFill>
                  </a:tcPr>
                </a:tc>
              </a:tr>
            </a:tbl>
          </a:graphicData>
        </a:graphic>
      </p:graphicFrame>
      <p:sp>
        <p:nvSpPr>
          <p:cNvPr id="53" name="Google Shape;53;p5">
            <a:extLst xmlns:a="http://schemas.openxmlformats.org/drawingml/2006/main">
              <a:ext uri="{FF2B5EF4-FFF2-40B4-BE49-F238E27FC236}">
                <a16:creationId xmlns:a16="http://schemas.microsoft.com/office/drawing/2014/main" id="{9BE7754C-C007-4C6E-B057-CD6FB4F9C2F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 AUA amendment 2024 · EAU 2026. Meeting abstracts are separate evidence. Device results are not interchangeable.</a:t>
            </a:r>
            <a:endParaRPr/>
          </a:p>
        </p:txBody>
      </p:sp>
      <p:sp>
        <p:nvSpPr>
          <p:cNvPr id="54" name="Google Shape;54;p5">
            <a:extLst xmlns:a="http://schemas.openxmlformats.org/drawingml/2006/main">
              <a:ext uri="{FF2B5EF4-FFF2-40B4-BE49-F238E27FC236}">
                <a16:creationId xmlns:a16="http://schemas.microsoft.com/office/drawing/2014/main" id="{7AE069EF-74E3-4422-8448-9E6B32D2A776}"/>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[Personal disclosures]</a:t>
            </a:r>
            <a:endParaRPr/>
          </a:p>
        </p:txBody>
      </p:sp>
    </p:spTree>
    <p:extLst>
      <p:ext uri="{BB962C8B-B14F-4D97-AF65-F5344CB8AC3E}">
        <p14:creationId xmlns:p14="http://schemas.microsoft.com/office/powerpoint/2010/main" val="6126377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Google Shape;60;p6">
            <a:extLst xmlns:a="http://schemas.openxmlformats.org/drawingml/2006/main">
              <a:ext uri="{FF2B5EF4-FFF2-40B4-BE49-F238E27FC236}">
                <a16:creationId xmlns:a16="http://schemas.microsoft.com/office/drawing/2014/main" id="{D385D071-C348-442F-A3D2-E5FBB95104C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Leakage mechanism and patient goals</a:t>
            </a:r>
            <a:endParaRPr/>
          </a:p>
        </p:txBody>
      </p:sp>
      <p:sp>
        <p:nvSpPr>
          <p:cNvPr id="61" name="Google Shape;61;p6">
            <a:extLst xmlns:a="http://schemas.openxmlformats.org/drawingml/2006/main">
              <a:ext uri="{FF2B5EF4-FFF2-40B4-BE49-F238E27FC236}">
                <a16:creationId xmlns:a16="http://schemas.microsoft.com/office/drawing/2014/main" id="{081FFDE1-0FA9-4D99-9364-4BE1D26F3A2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 name="Google Shape;62;p6">
            <a:extLst xmlns:a="http://schemas.openxmlformats.org/drawingml/2006/main">
              <a:ext uri="{FF2B5EF4-FFF2-40B4-BE49-F238E27FC236}">
                <a16:creationId xmlns:a16="http://schemas.microsoft.com/office/drawing/2014/main" id="{9C7682FF-2FB6-49B5-A501-33A65316C07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PAD26</a:t>
            </a:r>
            <a:endParaRPr/>
          </a:p>
        </p:txBody>
      </p:sp>
      <p:sp>
        <p:nvSpPr>
          <p:cNvPr id="63" name="Google Shape;63;p6">
            <a:extLst xmlns:a="http://schemas.openxmlformats.org/drawingml/2006/main">
              <a:ext uri="{FF2B5EF4-FFF2-40B4-BE49-F238E27FC236}">
                <a16:creationId xmlns:a16="http://schemas.microsoft.com/office/drawing/2014/main" id="{791A2188-CA12-44A7-9A96-2DE497DBABB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03</a:t>
            </a:r>
            <a:endParaRPr/>
          </a:p>
        </p:txBody>
      </p:sp>
      <p:sp>
        <p:nvSpPr>
          <p:cNvPr id="64" name="Google Shape;64;p6">
            <a:extLst xmlns:a="http://schemas.openxmlformats.org/drawingml/2006/main">
              <a:ext uri="{FF2B5EF4-FFF2-40B4-BE49-F238E27FC236}">
                <a16:creationId xmlns:a16="http://schemas.microsoft.com/office/drawing/2014/main" id="{2CB30E2B-46E0-48E4-9D6D-49D7C2BCE2DA}"/>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Characterise the leak</a:t>
            </a:r>
            <a:endParaRPr/>
          </a:p>
        </p:txBody>
      </p:sp>
      <p:sp>
        <p:nvSpPr>
          <p:cNvPr id="65" name="Google Shape;65;p6">
            <a:extLst xmlns:a="http://schemas.openxmlformats.org/drawingml/2006/main">
              <a:ext uri="{FF2B5EF4-FFF2-40B4-BE49-F238E27FC236}">
                <a16:creationId xmlns:a16="http://schemas.microsoft.com/office/drawing/2014/main" id="{684E73F5-A11C-4A6D-AA24-E7121705135E}"/>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stress leakage</a:t>
            </a:r>
            <a:endParaRPr/>
          </a:p>
        </p:txBody>
      </p:sp>
      <p:sp>
        <p:nvSpPr>
          <p:cNvPr id="66" name="Google Shape;66;p6">
            <a:extLst xmlns:a="http://schemas.openxmlformats.org/drawingml/2006/main">
              <a:ext uri="{FF2B5EF4-FFF2-40B4-BE49-F238E27FC236}">
                <a16:creationId xmlns:a16="http://schemas.microsoft.com/office/drawing/2014/main" id="{2F4E2D34-E26A-4621-8300-350D6A873CB9}"/>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night-time symptoms and emptying</a:t>
            </a:r>
            <a:endParaRPr/>
          </a:p>
        </p:txBody>
      </p:sp>
      <p:sp>
        <p:nvSpPr>
          <p:cNvPr id="67" name="Google Shape;67;p6">
            <a:extLst xmlns:a="http://schemas.openxmlformats.org/drawingml/2006/main">
              <a:ext uri="{FF2B5EF4-FFF2-40B4-BE49-F238E27FC236}">
                <a16:creationId xmlns:a16="http://schemas.microsoft.com/office/drawing/2014/main" id="{05AA5EF8-2D94-46F2-828C-CE1B177378A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Pad use, pad weight and activity</a:t>
            </a:r>
            <a:endParaRPr/>
          </a:p>
        </p:txBody>
      </p:sp>
      <p:sp>
        <p:nvSpPr>
          <p:cNvPr id="68" name="Google Shape;68;p6">
            <a:extLst xmlns:a="http://schemas.openxmlformats.org/drawingml/2006/main">
              <a:ext uri="{FF2B5EF4-FFF2-40B4-BE49-F238E27FC236}">
                <a16:creationId xmlns:a16="http://schemas.microsoft.com/office/drawing/2014/main" id="{7F8CA775-1442-4EDB-AC59-703BFF15210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Define useful improvement</a:t>
            </a:r>
            <a:endParaRPr/>
          </a:p>
        </p:txBody>
      </p:sp>
      <p:sp>
        <p:nvSpPr>
          <p:cNvPr id="69" name="Google Shape;69;p6">
            <a:extLst xmlns:a="http://schemas.openxmlformats.org/drawingml/2006/main">
              <a:ext uri="{FF2B5EF4-FFF2-40B4-BE49-F238E27FC236}">
                <a16:creationId xmlns:a16="http://schemas.microsoft.com/office/drawing/2014/main" id="{4E97DE74-35D2-43BC-84C9-7D6D6A63567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Recovery trajectory and prior treatment</a:t>
            </a:r>
            <a:endParaRPr/>
          </a:p>
        </p:txBody>
      </p:sp>
      <p:sp>
        <p:nvSpPr>
          <p:cNvPr id="70" name="Google Shape;70;p6">
            <a:extLst xmlns:a="http://schemas.openxmlformats.org/drawingml/2006/main">
              <a:ext uri="{FF2B5EF4-FFF2-40B4-BE49-F238E27FC236}">
                <a16:creationId xmlns:a16="http://schemas.microsoft.com/office/drawing/2014/main" id="{FDD54B14-50B1-47C4-9976-0B6255040ADC}"/>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validated symptom and quality-of-life measure</a:t>
            </a:r>
            <a:endParaRPr/>
          </a:p>
        </p:txBody>
      </p:sp>
      <p:sp>
        <p:nvSpPr>
          <p:cNvPr id="71" name="Google Shape;71;p6">
            <a:extLst xmlns:a="http://schemas.openxmlformats.org/drawingml/2006/main">
              <a:ext uri="{FF2B5EF4-FFF2-40B4-BE49-F238E27FC236}">
                <a16:creationId xmlns:a16="http://schemas.microsoft.com/office/drawing/2014/main" id="{E65BBE5F-05EC-49EE-A2C6-33CABC95DBC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activity the patient wants back</a:t>
            </a:r>
            <a:endParaRPr/>
          </a:p>
        </p:txBody>
      </p:sp>
      <p:sp>
        <p:nvSpPr>
          <p:cNvPr id="72" name="Google Shape;72;p6">
            <a:extLst xmlns:a="http://schemas.openxmlformats.org/drawingml/2006/main">
              <a:ext uri="{FF2B5EF4-FFF2-40B4-BE49-F238E27FC236}">
                <a16:creationId xmlns:a16="http://schemas.microsoft.com/office/drawing/2014/main" id="{329E9E42-3C96-4A31-B777-222F60DE4A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Pad count is useful; 2026 data show wide weight variability at 2–4 pads/day. Measure when severity is uncertain.</a:t>
            </a:r>
            <a:endParaRPr/>
          </a:p>
        </p:txBody>
      </p:sp>
    </p:spTree>
    <p:extLst>
      <p:ext uri="{BB962C8B-B14F-4D97-AF65-F5344CB8AC3E}">
        <p14:creationId xmlns:p14="http://schemas.microsoft.com/office/powerpoint/2010/main" val="319436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Google Shape;78;p7">
            <a:extLst xmlns:a="http://schemas.openxmlformats.org/drawingml/2006/main">
              <a:ext uri="{FF2B5EF4-FFF2-40B4-BE49-F238E27FC236}">
                <a16:creationId xmlns:a16="http://schemas.microsoft.com/office/drawing/2014/main" id="{CA238459-DAFD-4027-BC76-F33C3DBA767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Timing after prostate treatment</a:t>
            </a:r>
            <a:endParaRPr/>
          </a:p>
        </p:txBody>
      </p:sp>
      <p:sp>
        <p:nvSpPr>
          <p:cNvPr id="79" name="Google Shape;79;p7">
            <a:extLst xmlns:a="http://schemas.openxmlformats.org/drawingml/2006/main">
              <a:ext uri="{FF2B5EF4-FFF2-40B4-BE49-F238E27FC236}">
                <a16:creationId xmlns:a16="http://schemas.microsoft.com/office/drawing/2014/main" id="{96453A4B-97B4-48DC-9F5B-269EAFF1AE9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80" name="Google Shape;80;p7">
            <a:extLst xmlns:a="http://schemas.openxmlformats.org/drawingml/2006/main">
              <a:ext uri="{FF2B5EF4-FFF2-40B4-BE49-F238E27FC236}">
                <a16:creationId xmlns:a16="http://schemas.microsoft.com/office/drawing/2014/main" id="{AF445D60-89DC-4017-B53D-934EC09B83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BAUS25 · EAU26 · MASTER22 · MASTER26</a:t>
            </a:r>
            <a:endParaRPr/>
          </a:p>
        </p:txBody>
      </p:sp>
      <p:sp>
        <p:nvSpPr>
          <p:cNvPr id="81" name="Google Shape;81;p7">
            <a:extLst xmlns:a="http://schemas.openxmlformats.org/drawingml/2006/main">
              <a:ext uri="{FF2B5EF4-FFF2-40B4-BE49-F238E27FC236}">
                <a16:creationId xmlns:a16="http://schemas.microsoft.com/office/drawing/2014/main" id="{19D640A1-2027-492C-9291-A1BE1AAD601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04</a:t>
            </a:r>
            <a:endParaRPr/>
          </a:p>
        </p:txBody>
      </p:sp>
      <p:graphicFrame>
        <p:nvGraphicFramePr>
          <p:cNvPr id="89" name="Google Shape;82;p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Guidance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six months</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twelve months</a:t>
                      </a:r>
                      <a:endParaRPr/>
                    </a:p>
                  </a:txBody>
                  <a:tcPr marL="133350" marR="133350" marT="95250" marB="76200" anchor="ctr">
                    <a:solidFill>
                      <a:srgbClr val="183343"/>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recovery for severe SUI</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twelve months for mild–moderate SUI</a:t>
                      </a:r>
                      <a:endParaRPr/>
                    </a:p>
                  </a:txBody>
                  <a:tcPr marL="133350" marR="133350" marT="95250" marB="76200" anchor="ctr">
                    <a:solidFill>
                      <a:srgbClr val="EEF4F5"/>
                    </a:solidFill>
                  </a:tcPr>
                </a:tc>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Surgery may be offered for bothersome, non-improving SUI despite conservative care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Offer surgery for persisting bothersome SUI</a:t>
                      </a:r>
                      <a:endParaRPr/>
                    </a:p>
                  </a:txBody>
                  <a:tcPr marL="133350" marR="133350" marT="95250" marB="76200" anchor="ctr">
                    <a:solidFill>
                      <a:srgbClr val="FFFFFF"/>
                    </a:solidFill>
                  </a:tcPr>
                </a:tc>
              </a:tr>
            </a:tbl>
          </a:graphicData>
        </a:graphic>
      </p:graphicFrame>
      <p:sp>
        <p:nvSpPr>
          <p:cNvPr id="83" name="Google Shape;83;p7">
            <a:extLst xmlns:a="http://schemas.openxmlformats.org/drawingml/2006/main">
              <a:ext uri="{FF2B5EF4-FFF2-40B4-BE49-F238E27FC236}">
                <a16:creationId xmlns:a16="http://schemas.microsoft.com/office/drawing/2014/main" id="{FDD644E2-A32F-4DCC-8B9A-9CCDCACB692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MASTER 2026: sling remained non-inferior at 24 months; further surgery 11% after sling versus 2% after AUS. Selected population.</a:t>
            </a:r>
            <a:endParaRPr/>
          </a:p>
        </p:txBody>
      </p:sp>
    </p:spTree>
    <p:extLst>
      <p:ext uri="{BB962C8B-B14F-4D97-AF65-F5344CB8AC3E}">
        <p14:creationId xmlns:p14="http://schemas.microsoft.com/office/powerpoint/2010/main" val="1595057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9" name="Google Shape;89;p8">
            <a:extLst xmlns:a="http://schemas.openxmlformats.org/drawingml/2006/main">
              <a:ext uri="{FF2B5EF4-FFF2-40B4-BE49-F238E27FC236}">
                <a16:creationId xmlns:a16="http://schemas.microsoft.com/office/drawing/2014/main" id="{64A9266A-3D67-4B9F-999E-B5AF759B37C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use over time</a:t>
            </a:r>
            <a:endParaRPr/>
          </a:p>
        </p:txBody>
      </p:sp>
      <p:sp>
        <p:nvSpPr>
          <p:cNvPr id="90" name="Google Shape;90;p8">
            <a:extLst xmlns:a="http://schemas.openxmlformats.org/drawingml/2006/main">
              <a:ext uri="{FF2B5EF4-FFF2-40B4-BE49-F238E27FC236}">
                <a16:creationId xmlns:a16="http://schemas.microsoft.com/office/drawing/2014/main" id="{5FF3BEBD-7718-423A-82D4-CDA97AD1A47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1" name="Google Shape;91;p8">
            <a:extLst xmlns:a="http://schemas.openxmlformats.org/drawingml/2006/main">
              <a:ext uri="{FF2B5EF4-FFF2-40B4-BE49-F238E27FC236}">
                <a16:creationId xmlns:a16="http://schemas.microsoft.com/office/drawing/2014/main" id="{D093D30F-3782-4F22-85F1-9E7383B38A1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CCIFU · FRAIL26</a:t>
            </a:r>
            <a:endParaRPr/>
          </a:p>
        </p:txBody>
      </p:sp>
      <p:sp>
        <p:nvSpPr>
          <p:cNvPr id="92" name="Google Shape;92;p8">
            <a:extLst xmlns:a="http://schemas.openxmlformats.org/drawingml/2006/main">
              <a:ext uri="{FF2B5EF4-FFF2-40B4-BE49-F238E27FC236}">
                <a16:creationId xmlns:a16="http://schemas.microsoft.com/office/drawing/2014/main" id="{54E52ED2-3D0A-4ADB-AC5E-36DA12882E6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05</a:t>
            </a:r>
            <a:endParaRPr/>
          </a:p>
        </p:txBody>
      </p:sp>
      <p:pic>
        <p:nvPicPr>
          <p:cNvPr id="105" name="Google Shape;93;p8"/>
          <p:cNvPicPr>
            <a:picLocks xmlns:a="http://schemas.openxmlformats.org/drawingml/2006/main" noChangeAspect="1"/>
          </p:cNvPicPr>
          <p:nvPr/>
        </p:nvPicPr>
        <p:blipFill rotWithShape="1">
          <a:blip xmlns:r="http://schemas.openxmlformats.org/officeDocument/2006/relationships" xmlns:a="http://schemas.openxmlformats.org/drawingml/2006/main" r:embed="Rf28c826e5164477d">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94" name="Google Shape;94;p8">
            <a:extLst xmlns:a="http://schemas.openxmlformats.org/drawingml/2006/main">
              <a:ext uri="{FF2B5EF4-FFF2-40B4-BE49-F238E27FC236}">
                <a16:creationId xmlns:a16="http://schemas.microsoft.com/office/drawing/2014/main" id="{D76FB345-CA67-4237-A779-988C7A97FC6F}"/>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Pump assessment</a:t>
            </a:r>
            <a:endParaRPr/>
          </a:p>
        </p:txBody>
      </p:sp>
      <p:sp>
        <p:nvSpPr>
          <p:cNvPr id="95" name="Google Shape;95;p8">
            <a:extLst xmlns:a="http://schemas.openxmlformats.org/drawingml/2006/main">
              <a:ext uri="{FF2B5EF4-FFF2-40B4-BE49-F238E27FC236}">
                <a16:creationId xmlns:a16="http://schemas.microsoft.com/office/drawing/2014/main" id="{85005C1C-1297-411A-BAEA-FFD5F461C7C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Watch the patient operate a demonstration pump</a:t>
            </a:r>
            <a:endParaRPr/>
          </a:p>
        </p:txBody>
      </p:sp>
      <p:sp>
        <p:nvSpPr>
          <p:cNvPr id="96" name="Google Shape;96;p8">
            <a:extLst xmlns:a="http://schemas.openxmlformats.org/drawingml/2006/main">
              <a:ext uri="{FF2B5EF4-FFF2-40B4-BE49-F238E27FC236}">
                <a16:creationId xmlns:a16="http://schemas.microsoft.com/office/drawing/2014/main" id="{0446F547-EA0C-461B-96A3-1F19C336F049}"/>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reach, strength and understanding</a:t>
            </a:r>
            <a:endParaRPr/>
          </a:p>
        </p:txBody>
      </p:sp>
      <p:sp>
        <p:nvSpPr>
          <p:cNvPr id="97" name="Google Shape;97;p8">
            <a:extLst xmlns:a="http://schemas.openxmlformats.org/drawingml/2006/main">
              <a:ext uri="{FF2B5EF4-FFF2-40B4-BE49-F238E27FC236}">
                <a16:creationId xmlns:a16="http://schemas.microsoft.com/office/drawing/2014/main" id="{EC678FF9-FF1D-4FEC-BC39-A230783B2683}"/>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Agree an accessible position before surgery</a:t>
            </a:r>
            <a:endParaRPr/>
          </a:p>
        </p:txBody>
      </p:sp>
      <p:sp>
        <p:nvSpPr>
          <p:cNvPr id="98" name="Google Shape;98;p8">
            <a:extLst xmlns:a="http://schemas.openxmlformats.org/drawingml/2006/main">
              <a:ext uri="{FF2B5EF4-FFF2-40B4-BE49-F238E27FC236}">
                <a16:creationId xmlns:a16="http://schemas.microsoft.com/office/drawing/2014/main" id="{6304FD04-B712-4DEF-AA2B-2E7153DE910D}"/>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Assess frailty as well as future pump use</a:t>
            </a:r>
            <a:endParaRPr/>
          </a:p>
        </p:txBody>
      </p:sp>
      <p:sp>
        <p:nvSpPr>
          <p:cNvPr id="99" name="Google Shape;99;p8">
            <a:extLst xmlns:a="http://schemas.openxmlformats.org/drawingml/2006/main">
              <a:ext uri="{FF2B5EF4-FFF2-40B4-BE49-F238E27FC236}">
                <a16:creationId xmlns:a16="http://schemas.microsoft.com/office/drawing/2014/main" id="{00618F8A-EC6A-43B3-9060-00B37D51E53B}"/>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2012773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5" name="Google Shape;105;p9">
            <a:extLst xmlns:a="http://schemas.openxmlformats.org/drawingml/2006/main">
              <a:ext uri="{FF2B5EF4-FFF2-40B4-BE49-F238E27FC236}">
                <a16:creationId xmlns:a16="http://schemas.microsoft.com/office/drawing/2014/main" id="{8CE87C71-39F4-4926-AF4D-0E5A63098BE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Flexible cystoscopy before implantation</a:t>
            </a:r>
            <a:endParaRPr/>
          </a:p>
        </p:txBody>
      </p:sp>
      <p:sp>
        <p:nvSpPr>
          <p:cNvPr id="106" name="Google Shape;106;p9">
            <a:extLst xmlns:a="http://schemas.openxmlformats.org/drawingml/2006/main">
              <a:ext uri="{FF2B5EF4-FFF2-40B4-BE49-F238E27FC236}">
                <a16:creationId xmlns:a16="http://schemas.microsoft.com/office/drawing/2014/main" id="{2072EC72-22E0-4604-9B98-2EA002F2A15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07" name="Google Shape;107;p9">
            <a:extLst xmlns:a="http://schemas.openxmlformats.org/drawingml/2006/main">
              <a:ext uri="{FF2B5EF4-FFF2-40B4-BE49-F238E27FC236}">
                <a16:creationId xmlns:a16="http://schemas.microsoft.com/office/drawing/2014/main" id="{F3E613C6-5330-40BF-93EB-CD3FA9030EE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EAU26 · EAUSTR26 · AUAUDS26</a:t>
            </a:r>
            <a:endParaRPr/>
          </a:p>
        </p:txBody>
      </p:sp>
      <p:sp>
        <p:nvSpPr>
          <p:cNvPr id="108" name="Google Shape;108;p9">
            <a:extLst xmlns:a="http://schemas.openxmlformats.org/drawingml/2006/main">
              <a:ext uri="{FF2B5EF4-FFF2-40B4-BE49-F238E27FC236}">
                <a16:creationId xmlns:a16="http://schemas.microsoft.com/office/drawing/2014/main" id="{05BD6E63-85F4-4835-826A-369D4A3A8CC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06</a:t>
            </a:r>
            <a:endParaRPr/>
          </a:p>
        </p:txBody>
      </p:sp>
      <p:sp>
        <p:nvSpPr>
          <p:cNvPr id="109" name="Google Shape;109;p9">
            <a:extLst xmlns:a="http://schemas.openxmlformats.org/drawingml/2006/main">
              <a:ext uri="{FF2B5EF4-FFF2-40B4-BE49-F238E27FC236}">
                <a16:creationId xmlns:a16="http://schemas.microsoft.com/office/drawing/2014/main" id="{0759DDC6-DD6C-4633-8CC0-138D9C52DA7E}"/>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Guidance</a:t>
            </a:r>
            <a:endParaRPr/>
          </a:p>
        </p:txBody>
      </p:sp>
      <p:sp>
        <p:nvSpPr>
          <p:cNvPr id="110" name="Google Shape;110;p9">
            <a:extLst xmlns:a="http://schemas.openxmlformats.org/drawingml/2006/main">
              <a:ext uri="{FF2B5EF4-FFF2-40B4-BE49-F238E27FC236}">
                <a16:creationId xmlns:a16="http://schemas.microsoft.com/office/drawing/2014/main" id="{38DB4EC7-E9A3-4001-9018-E8A3D499207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AUA recommends cystourethroscopy before SUI surgery</a:t>
            </a:r>
            <a:endParaRPr/>
          </a:p>
        </p:txBody>
      </p:sp>
      <p:sp>
        <p:nvSpPr>
          <p:cNvPr id="111" name="Google Shape;111;p9">
            <a:extLst xmlns:a="http://schemas.openxmlformats.org/drawingml/2006/main">
              <a:ext uri="{FF2B5EF4-FFF2-40B4-BE49-F238E27FC236}">
                <a16:creationId xmlns:a16="http://schemas.microsoft.com/office/drawing/2014/main" id="{D9E9A419-6999-4DE4-B803-D0A5B7E4AF8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BAUS selects cystoscopy within its VUDS pathway</a:t>
            </a:r>
            <a:endParaRPr/>
          </a:p>
        </p:txBody>
      </p:sp>
      <p:sp>
        <p:nvSpPr>
          <p:cNvPr id="112" name="Google Shape;112;p9">
            <a:extLst xmlns:a="http://schemas.openxmlformats.org/drawingml/2006/main">
              <a:ext uri="{FF2B5EF4-FFF2-40B4-BE49-F238E27FC236}">
                <a16:creationId xmlns:a16="http://schemas.microsoft.com/office/drawing/2014/main" id="{E15E1DA1-AC1D-416A-96AA-5B0F23B26329}"/>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Advance inspection is a practical preference</a:t>
            </a:r>
            <a:endParaRPr/>
          </a:p>
        </p:txBody>
      </p:sp>
      <p:sp>
        <p:nvSpPr>
          <p:cNvPr id="113" name="Google Shape;113;p9">
            <a:extLst xmlns:a="http://schemas.openxmlformats.org/drawingml/2006/main">
              <a:ext uri="{FF2B5EF4-FFF2-40B4-BE49-F238E27FC236}">
                <a16:creationId xmlns:a16="http://schemas.microsoft.com/office/drawing/2014/main" id="{4A703553-997A-488B-92C2-6D73E3647062}"/>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Findings that change the plan</a:t>
            </a:r>
            <a:endParaRPr/>
          </a:p>
        </p:txBody>
      </p:sp>
      <p:sp>
        <p:nvSpPr>
          <p:cNvPr id="114" name="Google Shape;114;p9">
            <a:extLst xmlns:a="http://schemas.openxmlformats.org/drawingml/2006/main">
              <a:ext uri="{FF2B5EF4-FFF2-40B4-BE49-F238E27FC236}">
                <a16:creationId xmlns:a16="http://schemas.microsoft.com/office/drawing/2014/main" id="{AB0D22AB-9FDE-4D6B-B246-7E2E9E4ABBCE}"/>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Stricture, BNC or VUAS</a:t>
            </a:r>
            <a:endParaRPr/>
          </a:p>
        </p:txBody>
      </p:sp>
      <p:sp>
        <p:nvSpPr>
          <p:cNvPr id="115" name="Google Shape;115;p9">
            <a:extLst xmlns:a="http://schemas.openxmlformats.org/drawingml/2006/main">
              <a:ext uri="{FF2B5EF4-FFF2-40B4-BE49-F238E27FC236}">
                <a16:creationId xmlns:a16="http://schemas.microsoft.com/office/drawing/2014/main" id="{17FDAAA8-9116-4E79-9F6A-23984B8B93F4}"/>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foreign material or stones</a:t>
            </a:r>
            <a:endParaRPr/>
          </a:p>
        </p:txBody>
      </p:sp>
      <p:sp>
        <p:nvSpPr>
          <p:cNvPr id="116" name="Google Shape;116;p9">
            <a:extLst xmlns:a="http://schemas.openxmlformats.org/drawingml/2006/main">
              <a:ext uri="{FF2B5EF4-FFF2-40B4-BE49-F238E27FC236}">
                <a16:creationId xmlns:a16="http://schemas.microsoft.com/office/drawing/2014/main" id="{96DA6DF4-B963-4DE1-9991-99565E4D2AED}"/>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Tumour or likely repeated instrumentation</a:t>
            </a:r>
            <a:endParaRPr/>
          </a:p>
        </p:txBody>
      </p:sp>
      <p:sp>
        <p:nvSpPr>
          <p:cNvPr id="117" name="Google Shape;117;p9">
            <a:extLst xmlns:a="http://schemas.openxmlformats.org/drawingml/2006/main">
              <a:ext uri="{FF2B5EF4-FFF2-40B4-BE49-F238E27FC236}">
                <a16:creationId xmlns:a16="http://schemas.microsoft.com/office/drawing/2014/main" id="{FCEE26BD-E684-4D46-BF4E-CF8145EC189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IP09-22 revisits testing; full results unverified. Existing cystoscopy guidance remains applicable.</a:t>
            </a:r>
            <a:endParaRPr/>
          </a:p>
        </p:txBody>
      </p:sp>
    </p:spTree>
    <p:extLst>
      <p:ext uri="{BB962C8B-B14F-4D97-AF65-F5344CB8AC3E}">
        <p14:creationId xmlns:p14="http://schemas.microsoft.com/office/powerpoint/2010/main" val="13434077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3" name="Google Shape;123;p10">
            <a:extLst xmlns:a="http://schemas.openxmlformats.org/drawingml/2006/main">
              <a:ext uri="{FF2B5EF4-FFF2-40B4-BE49-F238E27FC236}">
                <a16:creationId xmlns:a16="http://schemas.microsoft.com/office/drawing/2014/main" id="{3A43204B-DE77-4F7D-8FC5-850724FDA63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Urodynamics: BAUS, EAU and AUA</a:t>
            </a:r>
            <a:endParaRPr/>
          </a:p>
        </p:txBody>
      </p:sp>
      <p:sp>
        <p:nvSpPr>
          <p:cNvPr id="124" name="Google Shape;124;p10">
            <a:extLst xmlns:a="http://schemas.openxmlformats.org/drawingml/2006/main">
              <a:ext uri="{FF2B5EF4-FFF2-40B4-BE49-F238E27FC236}">
                <a16:creationId xmlns:a16="http://schemas.microsoft.com/office/drawing/2014/main" id="{0B7379A8-9F69-4F16-A82A-851F804E7FB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25" name="Google Shape;125;p10">
            <a:extLst xmlns:a="http://schemas.openxmlformats.org/drawingml/2006/main">
              <a:ext uri="{FF2B5EF4-FFF2-40B4-BE49-F238E27FC236}">
                <a16:creationId xmlns:a16="http://schemas.microsoft.com/office/drawing/2014/main" id="{A2BB4D0C-ACCC-4FE8-BA50-6E2A990BC2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ICS16 · AUASTATUS26 · AUAUDS26</a:t>
            </a:r>
            <a:endParaRPr/>
          </a:p>
        </p:txBody>
      </p:sp>
      <p:sp>
        <p:nvSpPr>
          <p:cNvPr id="126" name="Google Shape;126;p10">
            <a:extLst xmlns:a="http://schemas.openxmlformats.org/drawingml/2006/main">
              <a:ext uri="{FF2B5EF4-FFF2-40B4-BE49-F238E27FC236}">
                <a16:creationId xmlns:a16="http://schemas.microsoft.com/office/drawing/2014/main" id="{B4F83B2D-3F35-4C50-8C2A-0E835A4EBC6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07</a:t>
            </a:r>
            <a:endParaRPr/>
          </a:p>
        </p:txBody>
      </p:sp>
      <p:graphicFrame>
        <p:nvGraphicFramePr>
          <p:cNvPr id="134" name="Google Shape;127;p10"/>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Position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Clinical implication</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Video-urodynamics for surgical candidates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Follow the investigation pathway</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before invasive treatment, weak recommendation</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Interpret alongside the selective-testing narrative</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when diagnosis or counselling benefits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State the uncertainty the test should resolve</a:t>
                      </a:r>
                      <a:endParaRPr/>
                    </a:p>
                  </a:txBody>
                  <a:tcPr marL="133350" marR="133350" marT="95250" marB="76200" anchor="ctr">
                    <a:solidFill>
                      <a:srgbClr val="EEF4F5"/>
                    </a:solidFill>
                  </a:tcPr>
                </a:tc>
              </a:tr>
            </a:tbl>
          </a:graphicData>
        </a:graphic>
      </p:graphicFrame>
      <p:sp>
        <p:nvSpPr>
          <p:cNvPr id="128" name="Google Shape;128;p10">
            <a:extLst xmlns:a="http://schemas.openxmlformats.org/drawingml/2006/main">
              <a:ext uri="{FF2B5EF4-FFF2-40B4-BE49-F238E27FC236}">
                <a16:creationId xmlns:a16="http://schemas.microsoft.com/office/drawing/2014/main" id="{A7202DC4-0B87-4C2B-8350-E93E1E94694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2025, EAU 2026 and AUA 2024 differ. AUA 2026 IP09-22 is conference material; full results remain unverified.</a:t>
            </a:r>
            <a:endParaRPr/>
          </a:p>
        </p:txBody>
      </p:sp>
    </p:spTree>
    <p:extLst>
      <p:ext uri="{BB962C8B-B14F-4D97-AF65-F5344CB8AC3E}">
        <p14:creationId xmlns:p14="http://schemas.microsoft.com/office/powerpoint/2010/main" val="125119330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4" name="Google Shape;134;p11">
            <a:extLst xmlns:a="http://schemas.openxmlformats.org/drawingml/2006/main">
              <a:ext uri="{FF2B5EF4-FFF2-40B4-BE49-F238E27FC236}">
                <a16:creationId xmlns:a16="http://schemas.microsoft.com/office/drawing/2014/main" id="{181D1778-3C23-495F-9904-8EA063390B0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Interpreting an imperfect study</a:t>
            </a:r>
            <a:endParaRPr/>
          </a:p>
        </p:txBody>
      </p:sp>
      <p:sp>
        <p:nvSpPr>
          <p:cNvPr id="135" name="Google Shape;135;p11">
            <a:extLst xmlns:a="http://schemas.openxmlformats.org/drawingml/2006/main">
              <a:ext uri="{FF2B5EF4-FFF2-40B4-BE49-F238E27FC236}">
                <a16:creationId xmlns:a16="http://schemas.microsoft.com/office/drawing/2014/main" id="{5C5F4FEA-7CF7-4404-98BE-6E8E4408B04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36" name="Google Shape;136;p11">
            <a:extLst xmlns:a="http://schemas.openxmlformats.org/drawingml/2006/main">
              <a:ext uri="{FF2B5EF4-FFF2-40B4-BE49-F238E27FC236}">
                <a16:creationId xmlns:a16="http://schemas.microsoft.com/office/drawing/2014/main" id="{6F13FB40-9ED4-4308-87DF-A2E8839594A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ICS16 · UDS14</a:t>
            </a:r>
            <a:endParaRPr/>
          </a:p>
        </p:txBody>
      </p:sp>
      <p:sp>
        <p:nvSpPr>
          <p:cNvPr id="137" name="Google Shape;137;p11">
            <a:extLst xmlns:a="http://schemas.openxmlformats.org/drawingml/2006/main">
              <a:ext uri="{FF2B5EF4-FFF2-40B4-BE49-F238E27FC236}">
                <a16:creationId xmlns:a16="http://schemas.microsoft.com/office/drawing/2014/main" id="{8BF52693-EB89-467F-9D0A-E91118BB70C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08</a:t>
            </a:r>
            <a:endParaRPr/>
          </a:p>
        </p:txBody>
      </p:sp>
      <p:sp>
        <p:nvSpPr>
          <p:cNvPr id="138" name="Google Shape;138;p11">
            <a:extLst xmlns:a="http://schemas.openxmlformats.org/drawingml/2006/main">
              <a:ext uri="{FF2B5EF4-FFF2-40B4-BE49-F238E27FC236}">
                <a16:creationId xmlns:a16="http://schemas.microsoft.com/office/drawing/2014/main" id="{8CB68B61-1AC9-4956-B31F-6146C8AB9DA5}"/>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39" name="Google Shape;139;p11">
            <a:extLst xmlns:a="http://schemas.openxmlformats.org/drawingml/2006/main">
              <a:ext uri="{FF2B5EF4-FFF2-40B4-BE49-F238E27FC236}">
                <a16:creationId xmlns:a16="http://schemas.microsoft.com/office/drawing/2014/main" id="{6B381AB5-6FE5-4D6E-BBA4-C462143B73AD}"/>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Dominant symptoms and demonstrated SUI</a:t>
            </a:r>
            <a:endParaRPr/>
          </a:p>
        </p:txBody>
      </p:sp>
      <p:sp>
        <p:nvSpPr>
          <p:cNvPr id="140" name="Google Shape;140;p11">
            <a:extLst xmlns:a="http://schemas.openxmlformats.org/drawingml/2006/main">
              <a:ext uri="{FF2B5EF4-FFF2-40B4-BE49-F238E27FC236}">
                <a16:creationId xmlns:a16="http://schemas.microsoft.com/office/drawing/2014/main" id="{7D9A87BA-95C8-4CC5-A429-196C775D9EB7}"/>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41" name="Google Shape;141;p11">
            <a:extLst xmlns:a="http://schemas.openxmlformats.org/drawingml/2006/main">
              <a:ext uri="{FF2B5EF4-FFF2-40B4-BE49-F238E27FC236}">
                <a16:creationId xmlns:a16="http://schemas.microsoft.com/office/drawing/2014/main" id="{7E11CD0C-D80A-40BA-88DC-9E243D8888C2}"/>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Urine, bladder diary, free flow and repeated residual</a:t>
            </a:r>
            <a:endParaRPr/>
          </a:p>
        </p:txBody>
      </p:sp>
      <p:sp>
        <p:nvSpPr>
          <p:cNvPr id="142" name="Google Shape;142;p11">
            <a:extLst xmlns:a="http://schemas.openxmlformats.org/drawingml/2006/main">
              <a:ext uri="{FF2B5EF4-FFF2-40B4-BE49-F238E27FC236}">
                <a16:creationId xmlns:a16="http://schemas.microsoft.com/office/drawing/2014/main" id="{438AE1C9-AF1C-409A-95F1-40AF0B708655}"/>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43" name="Google Shape;143;p11">
            <a:extLst xmlns:a="http://schemas.openxmlformats.org/drawingml/2006/main">
              <a:ext uri="{FF2B5EF4-FFF2-40B4-BE49-F238E27FC236}">
                <a16:creationId xmlns:a16="http://schemas.microsoft.com/office/drawing/2014/main" id="{723F6BB2-E2D5-47BB-B22E-E9FFEE169A89}"/>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Urethral anatomy and future access</a:t>
            </a:r>
            <a:endParaRPr/>
          </a:p>
        </p:txBody>
      </p:sp>
      <p:sp>
        <p:nvSpPr>
          <p:cNvPr id="144" name="Google Shape;144;p11">
            <a:extLst xmlns:a="http://schemas.openxmlformats.org/drawingml/2006/main">
              <a:ext uri="{FF2B5EF4-FFF2-40B4-BE49-F238E27FC236}">
                <a16:creationId xmlns:a16="http://schemas.microsoft.com/office/drawing/2014/main" id="{8C442936-A7B8-4A5D-8CEE-E3A451B2EE46}"/>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145" name="Google Shape;145;p11">
            <a:extLst xmlns:a="http://schemas.openxmlformats.org/drawingml/2006/main">
              <a:ext uri="{FF2B5EF4-FFF2-40B4-BE49-F238E27FC236}">
                <a16:creationId xmlns:a16="http://schemas.microsoft.com/office/drawing/2014/main" id="{AB311B40-7F1C-4F69-BE03-7118119C4B2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The chosen guideline-based UDS strategy</a:t>
            </a:r>
            <a:endParaRPr/>
          </a:p>
        </p:txBody>
      </p:sp>
      <p:sp>
        <p:nvSpPr>
          <p:cNvPr id="146" name="Google Shape;146;p11">
            <a:extLst xmlns:a="http://schemas.openxmlformats.org/drawingml/2006/main">
              <a:ext uri="{FF2B5EF4-FFF2-40B4-BE49-F238E27FC236}">
                <a16:creationId xmlns:a16="http://schemas.microsoft.com/office/drawing/2014/main" id="{503D0B44-B1D8-45EC-9848-E06A14F4275A}"/>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147" name="Google Shape;147;p11">
            <a:extLst xmlns:a="http://schemas.openxmlformats.org/drawingml/2006/main">
              <a:ext uri="{FF2B5EF4-FFF2-40B4-BE49-F238E27FC236}">
                <a16:creationId xmlns:a16="http://schemas.microsoft.com/office/drawing/2014/main" id="{6E459AF7-036D-4630-AEE8-011761E6D96B}"/>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Storage safety, emptying and outlet stability</a:t>
            </a:r>
            <a:endParaRPr/>
          </a:p>
        </p:txBody>
      </p:sp>
      <p:sp>
        <p:nvSpPr>
          <p:cNvPr id="148" name="Google Shape;148;p11">
            <a:extLst xmlns:a="http://schemas.openxmlformats.org/drawingml/2006/main">
              <a:ext uri="{FF2B5EF4-FFF2-40B4-BE49-F238E27FC236}">
                <a16:creationId xmlns:a16="http://schemas.microsoft.com/office/drawing/2014/main" id="{03900818-5549-4F37-8E2B-609BF45757A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Low capacity can reflect leakage. A weak laboratory contraction needs the real voiding history.</a:t>
            </a:r>
            <a:endParaRPr/>
          </a:p>
        </p:txBody>
      </p:sp>
    </p:spTree>
    <p:extLst>
      <p:ext uri="{BB962C8B-B14F-4D97-AF65-F5344CB8AC3E}">
        <p14:creationId xmlns:p14="http://schemas.microsoft.com/office/powerpoint/2010/main" val="12621643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4" name="Google Shape;154;p12">
            <a:extLst xmlns:a="http://schemas.openxmlformats.org/drawingml/2006/main">
              <a:ext uri="{FF2B5EF4-FFF2-40B4-BE49-F238E27FC236}">
                <a16:creationId xmlns:a16="http://schemas.microsoft.com/office/drawing/2014/main" id="{DF7277A5-8029-4CA4-8382-B974A21DB16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Consent: improvement and lifetime burden</a:t>
            </a:r>
            <a:endParaRPr/>
          </a:p>
        </p:txBody>
      </p:sp>
      <p:sp>
        <p:nvSpPr>
          <p:cNvPr id="155" name="Google Shape;155;p12">
            <a:extLst xmlns:a="http://schemas.openxmlformats.org/drawingml/2006/main">
              <a:ext uri="{FF2B5EF4-FFF2-40B4-BE49-F238E27FC236}">
                <a16:creationId xmlns:a16="http://schemas.microsoft.com/office/drawing/2014/main" id="{D3641FA0-F0FC-4F00-AB05-BA6FB29B88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56" name="Google Shape;156;p12">
            <a:extLst xmlns:a="http://schemas.openxmlformats.org/drawingml/2006/main">
              <a:ext uri="{FF2B5EF4-FFF2-40B4-BE49-F238E27FC236}">
                <a16:creationId xmlns:a16="http://schemas.microsoft.com/office/drawing/2014/main" id="{DF26C3C4-3CBA-42F7-9A91-C7AA7CF6F5B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AUSCO26 · CCSAFETY · AUA24 · RT22 · FRAIL26 · REGRET26 · DEVICE26 · REPORT26</a:t>
            </a:r>
            <a:endParaRPr/>
          </a:p>
        </p:txBody>
      </p:sp>
      <p:sp>
        <p:nvSpPr>
          <p:cNvPr id="157" name="Google Shape;157;p12">
            <a:extLst xmlns:a="http://schemas.openxmlformats.org/drawingml/2006/main">
              <a:ext uri="{FF2B5EF4-FFF2-40B4-BE49-F238E27FC236}">
                <a16:creationId xmlns:a16="http://schemas.microsoft.com/office/drawing/2014/main" id="{F56A80E7-ED75-43F7-8E64-3E5CF4471D6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09</a:t>
            </a:r>
            <a:endParaRPr/>
          </a:p>
        </p:txBody>
      </p:sp>
      <p:sp>
        <p:nvSpPr>
          <p:cNvPr id="158" name="Google Shape;158;p12">
            <a:extLst xmlns:a="http://schemas.openxmlformats.org/drawingml/2006/main">
              <a:ext uri="{FF2B5EF4-FFF2-40B4-BE49-F238E27FC236}">
                <a16:creationId xmlns:a16="http://schemas.microsoft.com/office/drawing/2014/main" id="{7B99EA1D-7C10-453B-897E-5A4C37A0E37A}"/>
              </a:ext>
            </a:extLst>
          </p:cNvPr>
          <p:cNvSpPr>
            <a:spLocks xmlns:a="http://schemas.openxmlformats.org/drawingml/2006/main" noGrp="1"/>
          </p:cNvSpPr>
          <p:nvPr/>
        </p:nvSpPr>
        <p:spPr>
          <a:xfrm xmlns:a="http://schemas.openxmlformats.org/drawingml/2006/main">
            <a:off x="609600" y="1828800"/>
            <a:ext cx="50482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AMS 800: zero-pad use</a:t>
            </a:r>
            <a:endParaRPr/>
          </a:p>
        </p:txBody>
      </p:sp>
      <p:sp>
        <p:nvSpPr>
          <p:cNvPr id="159" name="Google Shape;159;p12">
            <a:extLst xmlns:a="http://schemas.openxmlformats.org/drawingml/2006/main">
              <a:ext uri="{FF2B5EF4-FFF2-40B4-BE49-F238E27FC236}">
                <a16:creationId xmlns:a16="http://schemas.microsoft.com/office/drawing/2014/main" id="{A0FD1291-E15F-4B97-874A-9BA0F539ED6E}"/>
              </a:ext>
            </a:extLst>
          </p:cNvPr>
          <p:cNvSpPr>
            <a:spLocks xmlns:a="http://schemas.openxmlformats.org/drawingml/2006/main" noGrp="1"/>
          </p:cNvSpPr>
          <p:nvPr/>
        </p:nvSpPr>
        <p:spPr>
          <a:xfrm xmlns:a="http://schemas.openxmlformats.org/drawingml/2006/main">
            <a:off x="609600" y="2352675"/>
            <a:ext cx="4762500"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60%</a:t>
            </a:r>
            <a:endParaRPr/>
          </a:p>
        </p:txBody>
      </p:sp>
      <p:sp>
        <p:nvSpPr>
          <p:cNvPr id="160" name="Google Shape;160;p12">
            <a:extLst xmlns:a="http://schemas.openxmlformats.org/drawingml/2006/main">
              <a:ext uri="{FF2B5EF4-FFF2-40B4-BE49-F238E27FC236}">
                <a16:creationId xmlns:a16="http://schemas.microsoft.com/office/drawing/2014/main" id="{6CB6776E-70F7-4A2B-BCA7-5DE533FAA875}"/>
              </a:ext>
            </a:extLst>
          </p:cNvPr>
          <p:cNvSpPr>
            <a:spLocks xmlns:a="http://schemas.openxmlformats.org/drawingml/2006/main" noGrp="1"/>
          </p:cNvSpPr>
          <p:nvPr/>
        </p:nvSpPr>
        <p:spPr>
          <a:xfrm xmlns:a="http://schemas.openxmlformats.org/drawingml/2006/main">
            <a:off x="609600" y="3571875"/>
            <a:ext cx="50958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61/101 at 12 months after activation</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AUSCO: 115 primary implants</a:t>
            </a:r>
            <a:endParaRPr/>
          </a:p>
        </p:txBody>
      </p:sp>
      <p:sp>
        <p:nvSpPr>
          <p:cNvPr id="161" name="Google Shape;161;p12">
            <a:extLst xmlns:a="http://schemas.openxmlformats.org/drawingml/2006/main">
              <a:ext uri="{FF2B5EF4-FFF2-40B4-BE49-F238E27FC236}">
                <a16:creationId xmlns:a16="http://schemas.microsoft.com/office/drawing/2014/main" id="{BBCCC218-B50C-444A-8BF3-5FD04E715843}"/>
              </a:ext>
            </a:extLst>
          </p:cNvPr>
          <p:cNvSpPr>
            <a:spLocks xmlns:a="http://schemas.openxmlformats.org/drawingml/2006/main" noGrp="1"/>
          </p:cNvSpPr>
          <p:nvPr/>
        </p:nvSpPr>
        <p:spPr>
          <a:xfrm xmlns:a="http://schemas.openxmlformats.org/drawingml/2006/main">
            <a:off x="609600" y="4848225"/>
            <a:ext cx="50958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Single-arm, manufacturer-funded study.</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Missing outcomes and one-year follow-up.</a:t>
            </a:r>
            <a:endParaRPr/>
          </a:p>
        </p:txBody>
      </p:sp>
      <p:sp>
        <p:nvSpPr>
          <p:cNvPr id="162" name="Google Shape;162;p12">
            <a:extLst xmlns:a="http://schemas.openxmlformats.org/drawingml/2006/main">
              <a:ext uri="{FF2B5EF4-FFF2-40B4-BE49-F238E27FC236}">
                <a16:creationId xmlns:a16="http://schemas.microsoft.com/office/drawing/2014/main" id="{DCCB63C8-24B8-4E97-9078-BE38D3161012}"/>
              </a:ext>
            </a:extLst>
          </p:cNvPr>
          <p:cNvSpPr>
            <a:spLocks xmlns:a="http://schemas.openxmlformats.org/drawingml/2006/main" noGrp="1"/>
          </p:cNvSpPr>
          <p:nvPr/>
        </p:nvSpPr>
        <p:spPr>
          <a:xfrm xmlns:a="http://schemas.openxmlformats.org/drawingml/2006/main">
            <a:off x="6667500" y="1828800"/>
            <a:ext cx="4905375"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ContiClassic: device survival</a:t>
            </a:r>
            <a:endParaRPr/>
          </a:p>
        </p:txBody>
      </p:sp>
      <p:sp>
        <p:nvSpPr>
          <p:cNvPr id="163" name="Google Shape;163;p12">
            <a:extLst xmlns:a="http://schemas.openxmlformats.org/drawingml/2006/main">
              <a:ext uri="{FF2B5EF4-FFF2-40B4-BE49-F238E27FC236}">
                <a16:creationId xmlns:a16="http://schemas.microsoft.com/office/drawing/2014/main" id="{ABAD03AC-9CA3-4F5B-83A4-9E02666565F3}"/>
              </a:ext>
            </a:extLst>
          </p:cNvPr>
          <p:cNvSpPr>
            <a:spLocks xmlns:a="http://schemas.openxmlformats.org/drawingml/2006/main" noGrp="1"/>
          </p:cNvSpPr>
          <p:nvPr/>
        </p:nvSpPr>
        <p:spPr>
          <a:xfrm xmlns:a="http://schemas.openxmlformats.org/drawingml/2006/main">
            <a:off x="6667500" y="2352675"/>
            <a:ext cx="4905375" cy="1123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6600" b="1">
                <a:solidFill>
                  <a:srgbClr val="183343"/>
                </a:solidFill>
                <a:latin typeface="Arial"/>
                <a:ea typeface="Arial"/>
                <a:cs typeface="Arial"/>
              </a:rPr>
              <a:t>93.2%</a:t>
            </a:r>
            <a:endParaRPr/>
          </a:p>
        </p:txBody>
      </p:sp>
      <p:sp>
        <p:nvSpPr>
          <p:cNvPr id="164" name="Google Shape;164;p12">
            <a:extLst xmlns:a="http://schemas.openxmlformats.org/drawingml/2006/main">
              <a:ext uri="{FF2B5EF4-FFF2-40B4-BE49-F238E27FC236}">
                <a16:creationId xmlns:a16="http://schemas.microsoft.com/office/drawing/2014/main" id="{44AD7820-AECA-4623-B63F-44B4CFECCEAD}"/>
              </a:ext>
            </a:extLst>
          </p:cNvPr>
          <p:cNvSpPr>
            <a:spLocks xmlns:a="http://schemas.openxmlformats.org/drawingml/2006/main" noGrp="1"/>
          </p:cNvSpPr>
          <p:nvPr/>
        </p:nvSpPr>
        <p:spPr>
          <a:xfrm xmlns:a="http://schemas.openxmlformats.org/drawingml/2006/main">
            <a:off x="6667500" y="3571875"/>
            <a:ext cx="4905375" cy="1095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12-month Kaplan–Meier estimate</a:t>
            </a:r>
            <a:endParaRPr/>
          </a:p>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First 116 recipients, mixed indications</a:t>
            </a:r>
            <a:endParaRPr/>
          </a:p>
        </p:txBody>
      </p:sp>
      <p:sp>
        <p:nvSpPr>
          <p:cNvPr id="165" name="Google Shape;165;p12">
            <a:extLst xmlns:a="http://schemas.openxmlformats.org/drawingml/2006/main">
              <a:ext uri="{FF2B5EF4-FFF2-40B4-BE49-F238E27FC236}">
                <a16:creationId xmlns:a16="http://schemas.microsoft.com/office/drawing/2014/main" id="{7ED0D103-3376-4EEA-9F30-E93085EB3724}"/>
              </a:ext>
            </a:extLst>
          </p:cNvPr>
          <p:cNvSpPr>
            <a:spLocks xmlns:a="http://schemas.openxmlformats.org/drawingml/2006/main" noGrp="1"/>
          </p:cNvSpPr>
          <p:nvPr/>
        </p:nvSpPr>
        <p:spPr>
          <a:xfrm xmlns:a="http://schemas.openxmlformats.org/drawingml/2006/main">
            <a:off x="6667500" y="4848225"/>
            <a:ext cx="4905375" cy="714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Abstract-level, no comparator.</a:t>
            </a:r>
            <a:endParaRPr/>
          </a:p>
          <a:p xmlns:a="http://schemas.openxmlformats.org/drawingml/2006/main">
            <a:pPr marL="0" marR="0" lvl="0" indent="0" algn="l">
              <a:spcBef>
                <a:spcPts val="0"/>
              </a:spcBef>
              <a:spcAft>
                <a:spcPts val="0"/>
              </a:spcAft>
              <a:buNone/>
            </a:pPr>
            <a:r>
              <a:rPr sz="1800" b="0">
                <a:solidFill>
                  <a:srgbClr val="526773"/>
                </a:solidFill>
                <a:latin typeface="Arial"/>
                <a:ea typeface="Arial"/>
                <a:cs typeface="Arial"/>
              </a:rPr>
              <a:t>A standardised continence result is unverified.</a:t>
            </a:r>
            <a:endParaRPr/>
          </a:p>
        </p:txBody>
      </p:sp>
      <p:sp>
        <p:nvSpPr>
          <p:cNvPr id="166" name="Google Shape;166;p12">
            <a:extLst xmlns:a="http://schemas.openxmlformats.org/drawingml/2006/main">
              <a:ext uri="{FF2B5EF4-FFF2-40B4-BE49-F238E27FC236}">
                <a16:creationId xmlns:a16="http://schemas.microsoft.com/office/drawing/2014/main" id="{01279333-428D-49F1-A9DB-042EDDF259A5}"/>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endpoints do not compare devices. Long-term regret data reinforce counselling about leakage and future surgery.</a:t>
            </a:r>
            <a:endParaRPr/>
          </a:p>
        </p:txBody>
      </p:sp>
    </p:spTree>
    <p:extLst>
      <p:ext uri="{BB962C8B-B14F-4D97-AF65-F5344CB8AC3E}">
        <p14:creationId xmlns:p14="http://schemas.microsoft.com/office/powerpoint/2010/main" val="13440434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2" name="Google Shape;172;p13">
            <a:extLst xmlns:a="http://schemas.openxmlformats.org/drawingml/2006/main">
              <a:ext uri="{FF2B5EF4-FFF2-40B4-BE49-F238E27FC236}">
                <a16:creationId xmlns:a16="http://schemas.microsoft.com/office/drawing/2014/main" id="{258C504F-76AE-45DD-BDAC-A8E21752826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1: six pads and urgency</a:t>
            </a:r>
            <a:endParaRPr/>
          </a:p>
        </p:txBody>
      </p:sp>
      <p:sp>
        <p:nvSpPr>
          <p:cNvPr id="173" name="Google Shape;173;p13">
            <a:extLst xmlns:a="http://schemas.openxmlformats.org/drawingml/2006/main">
              <a:ext uri="{FF2B5EF4-FFF2-40B4-BE49-F238E27FC236}">
                <a16:creationId xmlns:a16="http://schemas.microsoft.com/office/drawing/2014/main" id="{819F7FB3-EFA2-4BD1-9D02-ACD8A07E44E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3">
            <a:extLst xmlns:a="http://schemas.openxmlformats.org/drawingml/2006/main">
              <a:ext uri="{FF2B5EF4-FFF2-40B4-BE49-F238E27FC236}">
                <a16:creationId xmlns:a16="http://schemas.microsoft.com/office/drawing/2014/main" id="{65928FF8-1EF2-4828-9377-94E00B9C328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DO24 · OAB11 · DOFAIL23 · CCIFU</a:t>
            </a:r>
            <a:endParaRPr/>
          </a:p>
        </p:txBody>
      </p:sp>
      <p:sp>
        <p:nvSpPr>
          <p:cNvPr id="175" name="Google Shape;175;p13">
            <a:extLst xmlns:a="http://schemas.openxmlformats.org/drawingml/2006/main">
              <a:ext uri="{FF2B5EF4-FFF2-40B4-BE49-F238E27FC236}">
                <a16:creationId xmlns:a16="http://schemas.microsoft.com/office/drawing/2014/main" id="{4D8C9539-E1C3-4A5C-B974-F6776DE17A4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10</a:t>
            </a:r>
            <a:endParaRPr/>
          </a:p>
        </p:txBody>
      </p:sp>
      <p:sp>
        <p:nvSpPr>
          <p:cNvPr id="176" name="Google Shape;176;p13">
            <a:extLst xmlns:a="http://schemas.openxmlformats.org/drawingml/2006/main">
              <a:ext uri="{FF2B5EF4-FFF2-40B4-BE49-F238E27FC236}">
                <a16:creationId xmlns:a16="http://schemas.microsoft.com/office/drawing/2014/main" id="{6D361A13-CBB4-4375-B4F9-35DFDA486B66}"/>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01</a:t>
            </a:r>
            <a:endParaRPr/>
          </a:p>
        </p:txBody>
      </p:sp>
      <p:sp>
        <p:nvSpPr>
          <p:cNvPr id="177" name="Google Shape;177;p13">
            <a:extLst xmlns:a="http://schemas.openxmlformats.org/drawingml/2006/main">
              <a:ext uri="{FF2B5EF4-FFF2-40B4-BE49-F238E27FC236}">
                <a16:creationId xmlns:a16="http://schemas.microsoft.com/office/drawing/2014/main" id="{333B6FEB-303E-4C4B-8760-F138D7403A66}"/>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Demonstrated post-prostatectomy stress leakage</a:t>
            </a:r>
            <a:endParaRPr/>
          </a:p>
        </p:txBody>
      </p:sp>
      <p:sp>
        <p:nvSpPr>
          <p:cNvPr id="178" name="Google Shape;178;p13">
            <a:extLst xmlns:a="http://schemas.openxmlformats.org/drawingml/2006/main">
              <a:ext uri="{FF2B5EF4-FFF2-40B4-BE49-F238E27FC236}">
                <a16:creationId xmlns:a16="http://schemas.microsoft.com/office/drawing/2014/main" id="{F658E0C2-7D8F-4CA5-AF65-5BD0C0184590}"/>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Urgency leakage and detrusor overactivity</a:t>
            </a:r>
            <a:endParaRPr/>
          </a:p>
        </p:txBody>
      </p:sp>
      <p:sp>
        <p:nvSpPr>
          <p:cNvPr id="179" name="Google Shape;179;p13">
            <a:extLst xmlns:a="http://schemas.openxmlformats.org/drawingml/2006/main">
              <a:ext uri="{FF2B5EF4-FFF2-40B4-BE49-F238E27FC236}">
                <a16:creationId xmlns:a16="http://schemas.microsoft.com/office/drawing/2014/main" id="{1C1F308C-E94A-4BB1-8C70-A492A9E44443}"/>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Reassuring compliance and emptying</a:t>
            </a:r>
            <a:endParaRPr/>
          </a:p>
        </p:txBody>
      </p:sp>
      <p:sp>
        <p:nvSpPr>
          <p:cNvPr id="180" name="Google Shape;180;p13">
            <a:extLst xmlns:a="http://schemas.openxmlformats.org/drawingml/2006/main">
              <a:ext uri="{FF2B5EF4-FFF2-40B4-BE49-F238E27FC236}">
                <a16:creationId xmlns:a16="http://schemas.microsoft.com/office/drawing/2014/main" id="{969BFFB1-8033-465A-B61D-A5C40F25B1C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Goal: walk without soaking his clothes</a:t>
            </a:r>
            <a:endParaRPr/>
          </a:p>
        </p:txBody>
      </p:sp>
      <p:sp>
        <p:nvSpPr>
          <p:cNvPr id="181" name="Google Shape;181;p13">
            <a:extLst xmlns:a="http://schemas.openxmlformats.org/drawingml/2006/main">
              <a:ext uri="{FF2B5EF4-FFF2-40B4-BE49-F238E27FC236}">
                <a16:creationId xmlns:a16="http://schemas.microsoft.com/office/drawing/2014/main" id="{EE57E083-4DBA-4511-A2C7-3E0AE3387704}"/>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now or optimise first?</a:t>
            </a:r>
            <a:endParaRPr/>
          </a:p>
        </p:txBody>
      </p:sp>
      <p:sp>
        <p:nvSpPr>
          <p:cNvPr id="182" name="Google Shape;182;p13">
            <a:extLst xmlns:a="http://schemas.openxmlformats.org/drawingml/2006/main">
              <a:ext uri="{FF2B5EF4-FFF2-40B4-BE49-F238E27FC236}">
                <a16:creationId xmlns:a16="http://schemas.microsoft.com/office/drawing/2014/main" id="{8FECE03B-8F17-4D6D-8331-B279F6DCCF7C}"/>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3" name="Google Shape;183;p13">
            <a:extLst xmlns:a="http://schemas.openxmlformats.org/drawingml/2006/main">
              <a:ext uri="{FF2B5EF4-FFF2-40B4-BE49-F238E27FC236}">
                <a16:creationId xmlns:a16="http://schemas.microsoft.com/office/drawing/2014/main" id="{A7C464A1-5704-498C-90E2-B61133403FDA}"/>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Optimise / Investigate / Reconsider</a:t>
            </a:r>
            <a:endParaRPr/>
          </a:p>
        </p:txBody>
      </p:sp>
      <p:sp>
        <p:nvSpPr>
          <p:cNvPr id="184" name="Google Shape;184;p13">
            <a:extLst xmlns:a="http://schemas.openxmlformats.org/drawingml/2006/main">
              <a:ext uri="{FF2B5EF4-FFF2-40B4-BE49-F238E27FC236}">
                <a16:creationId xmlns:a16="http://schemas.microsoft.com/office/drawing/2014/main" id="{E78D7708-F82E-4153-A57D-3708C3D42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DO alone need not exclude general AUS surgery. ContiClassic labelling requires bladder conditions to be controlled or resolved.</a:t>
            </a:r>
            <a:endParaRPr/>
          </a:p>
        </p:txBody>
      </p:sp>
    </p:spTree>
    <p:extLst>
      <p:ext uri="{BB962C8B-B14F-4D97-AF65-F5344CB8AC3E}">
        <p14:creationId xmlns:p14="http://schemas.microsoft.com/office/powerpoint/2010/main" val="470920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0" name="Google Shape;190;p14">
            <a:extLst xmlns:a="http://schemas.openxmlformats.org/drawingml/2006/main">
              <a:ext uri="{FF2B5EF4-FFF2-40B4-BE49-F238E27FC236}">
                <a16:creationId xmlns:a16="http://schemas.microsoft.com/office/drawing/2014/main" id="{08ACE6D7-B599-4A2F-AF5D-94E3BE5267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Urgency treatment and emptying</a:t>
            </a:r>
            <a:endParaRPr/>
          </a:p>
        </p:txBody>
      </p:sp>
      <p:sp>
        <p:nvSpPr>
          <p:cNvPr id="191" name="Google Shape;191;p14">
            <a:extLst xmlns:a="http://schemas.openxmlformats.org/drawingml/2006/main">
              <a:ext uri="{FF2B5EF4-FFF2-40B4-BE49-F238E27FC236}">
                <a16:creationId xmlns:a16="http://schemas.microsoft.com/office/drawing/2014/main" id="{C8723018-4BE7-4C28-9490-C0C14CC88B9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92" name="Google Shape;192;p14">
            <a:extLst xmlns:a="http://schemas.openxmlformats.org/drawingml/2006/main">
              <a:ext uri="{FF2B5EF4-FFF2-40B4-BE49-F238E27FC236}">
                <a16:creationId xmlns:a16="http://schemas.microsoft.com/office/drawing/2014/main" id="{F981D89F-F242-4BBF-B8E2-0F74F29F38A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AUAOAB24 · OAB11 · CCIFU</a:t>
            </a:r>
            <a:endParaRPr/>
          </a:p>
        </p:txBody>
      </p:sp>
      <p:sp>
        <p:nvSpPr>
          <p:cNvPr id="193" name="Google Shape;193;p14">
            <a:extLst xmlns:a="http://schemas.openxmlformats.org/drawingml/2006/main">
              <a:ext uri="{FF2B5EF4-FFF2-40B4-BE49-F238E27FC236}">
                <a16:creationId xmlns:a16="http://schemas.microsoft.com/office/drawing/2014/main" id="{DBDDECE9-56AC-4A29-A6AB-79538673E68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11</a:t>
            </a:r>
            <a:endParaRPr/>
          </a:p>
        </p:txBody>
      </p:sp>
      <p:sp>
        <p:nvSpPr>
          <p:cNvPr id="194" name="Google Shape;194;p14">
            <a:extLst xmlns:a="http://schemas.openxmlformats.org/drawingml/2006/main">
              <a:ext uri="{FF2B5EF4-FFF2-40B4-BE49-F238E27FC236}">
                <a16:creationId xmlns:a16="http://schemas.microsoft.com/office/drawing/2014/main" id="{C9BD1169-CDCE-446A-A25B-2D90A9E05ACB}"/>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95" name="Google Shape;195;p14">
            <a:extLst xmlns:a="http://schemas.openxmlformats.org/drawingml/2006/main">
              <a:ext uri="{FF2B5EF4-FFF2-40B4-BE49-F238E27FC236}">
                <a16:creationId xmlns:a16="http://schemas.microsoft.com/office/drawing/2014/main" id="{0D8873C1-F9A1-46BE-812E-B68DE8435D87}"/>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Address reversible contributors and symptom burden</a:t>
            </a:r>
            <a:endParaRPr/>
          </a:p>
        </p:txBody>
      </p:sp>
      <p:sp>
        <p:nvSpPr>
          <p:cNvPr id="196" name="Google Shape;196;p14">
            <a:extLst xmlns:a="http://schemas.openxmlformats.org/drawingml/2006/main">
              <a:ext uri="{FF2B5EF4-FFF2-40B4-BE49-F238E27FC236}">
                <a16:creationId xmlns:a16="http://schemas.microsoft.com/office/drawing/2014/main" id="{770790FB-DDF3-41F8-A2EF-F6D308ED2583}"/>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97" name="Google Shape;197;p14">
            <a:extLst xmlns:a="http://schemas.openxmlformats.org/drawingml/2006/main">
              <a:ext uri="{FF2B5EF4-FFF2-40B4-BE49-F238E27FC236}">
                <a16:creationId xmlns:a16="http://schemas.microsoft.com/office/drawing/2014/main" id="{B87986B4-951B-4F44-BB12-3C805AA6C1CF}"/>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Choose medication with cognition and residual urine in mind</a:t>
            </a:r>
            <a:endParaRPr/>
          </a:p>
        </p:txBody>
      </p:sp>
      <p:sp>
        <p:nvSpPr>
          <p:cNvPr id="198" name="Google Shape;198;p14">
            <a:extLst xmlns:a="http://schemas.openxmlformats.org/drawingml/2006/main">
              <a:ext uri="{FF2B5EF4-FFF2-40B4-BE49-F238E27FC236}">
                <a16:creationId xmlns:a16="http://schemas.microsoft.com/office/drawing/2014/main" id="{136D4754-683E-48AB-9C44-C79D9A6D7989}"/>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99" name="Google Shape;199;p14">
            <a:extLst xmlns:a="http://schemas.openxmlformats.org/drawingml/2006/main">
              <a:ext uri="{FF2B5EF4-FFF2-40B4-BE49-F238E27FC236}">
                <a16:creationId xmlns:a16="http://schemas.microsoft.com/office/drawing/2014/main" id="{17F5FA35-4D56-4CF7-ACCE-A930B1E3D972}"/>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Plan retention and repeated access before botulinum toxin</a:t>
            </a:r>
            <a:endParaRPr/>
          </a:p>
        </p:txBody>
      </p:sp>
      <p:sp>
        <p:nvSpPr>
          <p:cNvPr id="200" name="Google Shape;200;p14">
            <a:extLst xmlns:a="http://schemas.openxmlformats.org/drawingml/2006/main">
              <a:ext uri="{FF2B5EF4-FFF2-40B4-BE49-F238E27FC236}">
                <a16:creationId xmlns:a16="http://schemas.microsoft.com/office/drawing/2014/main" id="{323421FC-72FE-4C22-88C8-5FAADFCF0E6A}"/>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201" name="Google Shape;201;p14">
            <a:extLst xmlns:a="http://schemas.openxmlformats.org/drawingml/2006/main">
              <a:ext uri="{FF2B5EF4-FFF2-40B4-BE49-F238E27FC236}">
                <a16:creationId xmlns:a16="http://schemas.microsoft.com/office/drawing/2014/main" id="{6E8AFA8E-E4A3-48F2-97B2-A719346E119E}"/>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Treat persistent urgency as a separate outcome after AUS</a:t>
            </a:r>
            <a:endParaRPr/>
          </a:p>
        </p:txBody>
      </p:sp>
      <p:sp>
        <p:nvSpPr>
          <p:cNvPr id="202" name="Google Shape;202;p14">
            <a:extLst xmlns:a="http://schemas.openxmlformats.org/drawingml/2006/main">
              <a:ext uri="{FF2B5EF4-FFF2-40B4-BE49-F238E27FC236}">
                <a16:creationId xmlns:a16="http://schemas.microsoft.com/office/drawing/2014/main" id="{7469C322-4F57-4CB9-9104-123AA9B521E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No universally superior treatment sequence around a cuff has been established.</a:t>
            </a:r>
            <a:endParaRPr/>
          </a:p>
        </p:txBody>
      </p:sp>
    </p:spTree>
    <p:extLst>
      <p:ext uri="{BB962C8B-B14F-4D97-AF65-F5344CB8AC3E}">
        <p14:creationId xmlns:p14="http://schemas.microsoft.com/office/powerpoint/2010/main" val="1149124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8" name="Google Shape;208;p15">
            <a:extLst xmlns:a="http://schemas.openxmlformats.org/drawingml/2006/main">
              <a:ext uri="{FF2B5EF4-FFF2-40B4-BE49-F238E27FC236}">
                <a16:creationId xmlns:a16="http://schemas.microsoft.com/office/drawing/2014/main" id="{7218007D-C38B-4468-9F79-A15AB27A8AF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2: weak contraction and residual urine</a:t>
            </a:r>
            <a:endParaRPr/>
          </a:p>
        </p:txBody>
      </p:sp>
      <p:sp>
        <p:nvSpPr>
          <p:cNvPr id="209" name="Google Shape;209;p15">
            <a:extLst xmlns:a="http://schemas.openxmlformats.org/drawingml/2006/main">
              <a:ext uri="{FF2B5EF4-FFF2-40B4-BE49-F238E27FC236}">
                <a16:creationId xmlns:a16="http://schemas.microsoft.com/office/drawing/2014/main" id="{FC5FD79F-EDF4-4B42-8848-ABD207F98F8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0" name="Google Shape;210;p15">
            <a:extLst xmlns:a="http://schemas.openxmlformats.org/drawingml/2006/main">
              <a:ext uri="{FF2B5EF4-FFF2-40B4-BE49-F238E27FC236}">
                <a16:creationId xmlns:a16="http://schemas.microsoft.com/office/drawing/2014/main" id="{F862F20F-5422-4220-88A1-8844660A700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DU23 · AUA24 · ICSUDS17 · CCIFU</a:t>
            </a:r>
            <a:endParaRPr/>
          </a:p>
        </p:txBody>
      </p:sp>
      <p:sp>
        <p:nvSpPr>
          <p:cNvPr id="211" name="Google Shape;211;p15">
            <a:extLst xmlns:a="http://schemas.openxmlformats.org/drawingml/2006/main">
              <a:ext uri="{FF2B5EF4-FFF2-40B4-BE49-F238E27FC236}">
                <a16:creationId xmlns:a16="http://schemas.microsoft.com/office/drawing/2014/main" id="{0254D6D0-FCC3-42C3-A945-DE51302283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12</a:t>
            </a:r>
            <a:endParaRPr/>
          </a:p>
        </p:txBody>
      </p:sp>
      <p:sp>
        <p:nvSpPr>
          <p:cNvPr id="212" name="Google Shape;212;p15">
            <a:extLst xmlns:a="http://schemas.openxmlformats.org/drawingml/2006/main">
              <a:ext uri="{FF2B5EF4-FFF2-40B4-BE49-F238E27FC236}">
                <a16:creationId xmlns:a16="http://schemas.microsoft.com/office/drawing/2014/main" id="{2A0E7185-4E12-483C-B6CA-506B8EED2869}"/>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02</a:t>
            </a:r>
            <a:endParaRPr/>
          </a:p>
        </p:txBody>
      </p:sp>
      <p:sp>
        <p:nvSpPr>
          <p:cNvPr id="213" name="Google Shape;213;p15">
            <a:extLst xmlns:a="http://schemas.openxmlformats.org/drawingml/2006/main">
              <a:ext uri="{FF2B5EF4-FFF2-40B4-BE49-F238E27FC236}">
                <a16:creationId xmlns:a16="http://schemas.microsoft.com/office/drawing/2014/main" id="{952A1F6C-87D1-4E65-A3DD-2D192D1B9B97}"/>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Stress leakage with slow voiding</a:t>
            </a:r>
            <a:endParaRPr/>
          </a:p>
        </p:txBody>
      </p:sp>
      <p:sp>
        <p:nvSpPr>
          <p:cNvPr id="214" name="Google Shape;214;p15">
            <a:extLst xmlns:a="http://schemas.openxmlformats.org/drawingml/2006/main">
              <a:ext uri="{FF2B5EF4-FFF2-40B4-BE49-F238E27FC236}">
                <a16:creationId xmlns:a16="http://schemas.microsoft.com/office/drawing/2014/main" id="{411E44AC-F8D3-462B-A28D-C657F5E39BF6}"/>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Repeatedly raised residual urine</a:t>
            </a:r>
            <a:endParaRPr/>
          </a:p>
        </p:txBody>
      </p:sp>
      <p:sp>
        <p:nvSpPr>
          <p:cNvPr id="215" name="Google Shape;215;p15">
            <a:extLst xmlns:a="http://schemas.openxmlformats.org/drawingml/2006/main">
              <a:ext uri="{FF2B5EF4-FFF2-40B4-BE49-F238E27FC236}">
                <a16:creationId xmlns:a16="http://schemas.microsoft.com/office/drawing/2014/main" id="{4F7D95BF-618D-4619-A193-2A8CB09C4904}"/>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Weak contraction and abdominal straining</a:t>
            </a:r>
            <a:endParaRPr/>
          </a:p>
        </p:txBody>
      </p:sp>
      <p:sp>
        <p:nvSpPr>
          <p:cNvPr id="216" name="Google Shape;216;p15">
            <a:extLst xmlns:a="http://schemas.openxmlformats.org/drawingml/2006/main">
              <a:ext uri="{FF2B5EF4-FFF2-40B4-BE49-F238E27FC236}">
                <a16:creationId xmlns:a16="http://schemas.microsoft.com/office/drawing/2014/main" id="{8D4BC738-0DBB-4802-B0D9-EC759790A4FF}"/>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Obstruction and test inhibition remain possible</a:t>
            </a:r>
            <a:endParaRPr/>
          </a:p>
        </p:txBody>
      </p:sp>
      <p:sp>
        <p:nvSpPr>
          <p:cNvPr id="217" name="Google Shape;217;p15">
            <a:extLst xmlns:a="http://schemas.openxmlformats.org/drawingml/2006/main">
              <a:ext uri="{FF2B5EF4-FFF2-40B4-BE49-F238E27FC236}">
                <a16:creationId xmlns:a16="http://schemas.microsoft.com/office/drawing/2014/main" id="{E81D374E-C7FB-4007-ABA2-A6EEC657C40B}"/>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Would a reliable emptying plan change your answer?</a:t>
            </a:r>
            <a:endParaRPr/>
          </a:p>
        </p:txBody>
      </p:sp>
      <p:sp>
        <p:nvSpPr>
          <p:cNvPr id="218" name="Google Shape;218;p15">
            <a:extLst xmlns:a="http://schemas.openxmlformats.org/drawingml/2006/main">
              <a:ext uri="{FF2B5EF4-FFF2-40B4-BE49-F238E27FC236}">
                <a16:creationId xmlns:a16="http://schemas.microsoft.com/office/drawing/2014/main" id="{203211AB-9F5B-4D89-B53B-9430DB368D79}"/>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19" name="Google Shape;219;p15">
            <a:extLst xmlns:a="http://schemas.openxmlformats.org/drawingml/2006/main">
              <a:ext uri="{FF2B5EF4-FFF2-40B4-BE49-F238E27FC236}">
                <a16:creationId xmlns:a16="http://schemas.microsoft.com/office/drawing/2014/main" id="{A8C724D2-8681-4A3A-8E5B-E27FF4ECECB5}"/>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Investigate / Reconsider</a:t>
            </a:r>
            <a:endParaRPr/>
          </a:p>
        </p:txBody>
      </p:sp>
      <p:sp>
        <p:nvSpPr>
          <p:cNvPr id="220" name="Google Shape;220;p15">
            <a:extLst xmlns:a="http://schemas.openxmlformats.org/drawingml/2006/main">
              <a:ext uri="{FF2B5EF4-FFF2-40B4-BE49-F238E27FC236}">
                <a16:creationId xmlns:a16="http://schemas.microsoft.com/office/drawing/2014/main" id="{6FDBEC0D-96B0-4C8E-A95D-32D47B4FD06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Selected DU cohorts do not establish safety in unresolved retention. There is no universal residual cutoff.</a:t>
            </a:r>
            <a:endParaRPr/>
          </a:p>
        </p:txBody>
      </p:sp>
    </p:spTree>
    <p:extLst>
      <p:ext uri="{BB962C8B-B14F-4D97-AF65-F5344CB8AC3E}">
        <p14:creationId xmlns:p14="http://schemas.microsoft.com/office/powerpoint/2010/main" val="57441146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6">
            <a:extLst xmlns:a="http://schemas.openxmlformats.org/drawingml/2006/main">
              <a:ext uri="{FF2B5EF4-FFF2-40B4-BE49-F238E27FC236}">
                <a16:creationId xmlns:a16="http://schemas.microsoft.com/office/drawing/2014/main" id="{7026DCA4-D385-4A16-8D8F-6EBB445626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Catheterisation with a cuff in place</a:t>
            </a:r>
            <a:endParaRPr/>
          </a:p>
        </p:txBody>
      </p:sp>
      <p:sp>
        <p:nvSpPr>
          <p:cNvPr id="227" name="Google Shape;227;p16">
            <a:extLst xmlns:a="http://schemas.openxmlformats.org/drawingml/2006/main">
              <a:ext uri="{FF2B5EF4-FFF2-40B4-BE49-F238E27FC236}">
                <a16:creationId xmlns:a16="http://schemas.microsoft.com/office/drawing/2014/main" id="{113625D4-D2C6-47E9-B89D-F3BF895BF2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28" name="Google Shape;228;p16">
            <a:extLst xmlns:a="http://schemas.openxmlformats.org/drawingml/2006/main">
              <a:ext uri="{FF2B5EF4-FFF2-40B4-BE49-F238E27FC236}">
                <a16:creationId xmlns:a16="http://schemas.microsoft.com/office/drawing/2014/main" id="{17F3B771-149E-4534-9444-A0E267059B4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CIC23 · CATH13 · CCIFU · ICS16 · BAUSSCI26 · INSTR26</a:t>
            </a:r>
            <a:endParaRPr/>
          </a:p>
        </p:txBody>
      </p:sp>
      <p:sp>
        <p:nvSpPr>
          <p:cNvPr id="229" name="Google Shape;229;p16">
            <a:extLst xmlns:a="http://schemas.openxmlformats.org/drawingml/2006/main">
              <a:ext uri="{FF2B5EF4-FFF2-40B4-BE49-F238E27FC236}">
                <a16:creationId xmlns:a16="http://schemas.microsoft.com/office/drawing/2014/main" id="{55F6759D-3276-40FF-B1C1-F8D5230170C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13</a:t>
            </a:r>
            <a:endParaRPr/>
          </a:p>
        </p:txBody>
      </p:sp>
      <p:sp>
        <p:nvSpPr>
          <p:cNvPr id="230" name="Google Shape;230;p16">
            <a:extLst xmlns:a="http://schemas.openxmlformats.org/drawingml/2006/main">
              <a:ext uri="{FF2B5EF4-FFF2-40B4-BE49-F238E27FC236}">
                <a16:creationId xmlns:a16="http://schemas.microsoft.com/office/drawing/2014/main" id="{56DE93EA-E5A2-4F0F-8DD4-32AB589C69C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Cuff fully deflated.</a:t>
            </a:r>
            <a:endParaRPr/>
          </a:p>
          <a:p xmlns:a="http://schemas.openxmlformats.org/drawingml/2006/main">
            <a:pPr marL="0" marR="0" lvl="0" indent="0" algn="l">
              <a:spcBef>
                <a:spcPts val="0"/>
              </a:spcBef>
              <a:spcAft>
                <a:spcPts val="0"/>
              </a:spcAft>
              <a:buNone/>
            </a:pPr>
            <a:r>
              <a:rPr sz="3150" b="1">
                <a:solidFill>
                  <a:srgbClr val="147F83"/>
                </a:solidFill>
                <a:latin typeface="Arial"/>
                <a:ea typeface="Arial"/>
                <a:cs typeface="Arial"/>
              </a:rPr>
              <a:t>Device deactivated.</a:t>
            </a:r>
            <a:endParaRPr/>
          </a:p>
        </p:txBody>
      </p:sp>
      <p:sp>
        <p:nvSpPr>
          <p:cNvPr id="231" name="Google Shape;231;p16">
            <a:extLst xmlns:a="http://schemas.openxmlformats.org/drawingml/2006/main">
              <a:ext uri="{FF2B5EF4-FFF2-40B4-BE49-F238E27FC236}">
                <a16:creationId xmlns:a16="http://schemas.microsoft.com/office/drawing/2014/main" id="{B9FF9661-2400-43A3-A720-C94784A530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Establish the reason and likely frequency of catheterisation</a:t>
            </a:r>
            <a:endParaRPr/>
          </a:p>
        </p:txBody>
      </p:sp>
      <p:sp>
        <p:nvSpPr>
          <p:cNvPr id="232" name="Google Shape;232;p16">
            <a:extLst xmlns:a="http://schemas.openxmlformats.org/drawingml/2006/main">
              <a:ext uri="{FF2B5EF4-FFF2-40B4-BE49-F238E27FC236}">
                <a16:creationId xmlns:a16="http://schemas.microsoft.com/office/drawing/2014/main" id="{57150E63-BBDF-45C3-B44C-DD4F60101267}"/>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Test competence and agree the drainage route before implantation</a:t>
            </a:r>
            <a:endParaRPr/>
          </a:p>
        </p:txBody>
      </p:sp>
      <p:sp>
        <p:nvSpPr>
          <p:cNvPr id="233" name="Google Shape;233;p16">
            <a:extLst xmlns:a="http://schemas.openxmlformats.org/drawingml/2006/main">
              <a:ext uri="{FF2B5EF4-FFF2-40B4-BE49-F238E27FC236}">
                <a16:creationId xmlns:a16="http://schemas.microsoft.com/office/drawing/2014/main" id="{DB421B89-7EE4-4771-90D5-A4D68C540A22}"/>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Plan repeated or prolonged access with specialist input</a:t>
            </a:r>
            <a:endParaRPr/>
          </a:p>
        </p:txBody>
      </p:sp>
      <p:sp>
        <p:nvSpPr>
          <p:cNvPr id="234" name="Google Shape;234;p16">
            <a:extLst xmlns:a="http://schemas.openxmlformats.org/drawingml/2006/main">
              <a:ext uri="{FF2B5EF4-FFF2-40B4-BE49-F238E27FC236}">
                <a16:creationId xmlns:a16="http://schemas.microsoft.com/office/drawing/2014/main" id="{D9FEDE8B-FDD0-44DB-8E42-077AC91AB6E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survey highlights deactivation training gaps. Follow the actual device instructions; no universal French-size rule applies.</a:t>
            </a:r>
            <a:endParaRPr/>
          </a:p>
        </p:txBody>
      </p:sp>
    </p:spTree>
    <p:extLst>
      <p:ext uri="{BB962C8B-B14F-4D97-AF65-F5344CB8AC3E}">
        <p14:creationId xmlns:p14="http://schemas.microsoft.com/office/powerpoint/2010/main" val="9843777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0" name="Google Shape;240;p17">
            <a:extLst xmlns:a="http://schemas.openxmlformats.org/drawingml/2006/main">
              <a:ext uri="{FF2B5EF4-FFF2-40B4-BE49-F238E27FC236}">
                <a16:creationId xmlns:a16="http://schemas.microsoft.com/office/drawing/2014/main" id="{DCD1D5CB-5248-4964-8616-CAB017A0FA8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Detrusor overactivity and poor compliance</a:t>
            </a:r>
            <a:endParaRPr/>
          </a:p>
        </p:txBody>
      </p:sp>
      <p:sp>
        <p:nvSpPr>
          <p:cNvPr id="241" name="Google Shape;241;p17">
            <a:extLst xmlns:a="http://schemas.openxmlformats.org/drawingml/2006/main">
              <a:ext uri="{FF2B5EF4-FFF2-40B4-BE49-F238E27FC236}">
                <a16:creationId xmlns:a16="http://schemas.microsoft.com/office/drawing/2014/main" id="{8BC25A8F-9394-4433-B407-8BA9F8BEDED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42" name="Google Shape;242;p17">
            <a:extLst xmlns:a="http://schemas.openxmlformats.org/drawingml/2006/main">
              <a:ext uri="{FF2B5EF4-FFF2-40B4-BE49-F238E27FC236}">
                <a16:creationId xmlns:a16="http://schemas.microsoft.com/office/drawing/2014/main" id="{7263CE1B-EF0F-44E7-AD3E-5A8B774E21B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UDS09 · ICS16 · BAUS25 · CCIFU · BAUSSCI26</a:t>
            </a:r>
            <a:endParaRPr/>
          </a:p>
        </p:txBody>
      </p:sp>
      <p:sp>
        <p:nvSpPr>
          <p:cNvPr id="243" name="Google Shape;243;p17">
            <a:extLst xmlns:a="http://schemas.openxmlformats.org/drawingml/2006/main">
              <a:ext uri="{FF2B5EF4-FFF2-40B4-BE49-F238E27FC236}">
                <a16:creationId xmlns:a16="http://schemas.microsoft.com/office/drawing/2014/main" id="{84792035-D190-4655-8CEC-0BEF2B0C329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14</a:t>
            </a:r>
            <a:endParaRPr/>
          </a:p>
        </p:txBody>
      </p:sp>
      <p:sp>
        <p:nvSpPr>
          <p:cNvPr id="244" name="Google Shape;244;p17">
            <a:extLst xmlns:a="http://schemas.openxmlformats.org/drawingml/2006/main">
              <a:ext uri="{FF2B5EF4-FFF2-40B4-BE49-F238E27FC236}">
                <a16:creationId xmlns:a16="http://schemas.microsoft.com/office/drawing/2014/main" id="{891B128F-6E6A-4467-9672-8E33BB722D6D}"/>
              </a:ext>
            </a:extLst>
          </p:cNvPr>
          <p:cNvSpPr>
            <a:spLocks xmlns:a="http://schemas.openxmlformats.org/drawingml/2006/main" noGrp="1"/>
          </p:cNvSpPr>
          <p:nvPr/>
        </p:nvSpPr>
        <p:spPr>
          <a:xfrm xmlns:a="http://schemas.openxmlformats.org/drawingml/2006/main">
            <a:off x="609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DO: transient contraction</a:t>
            </a:r>
            <a:endParaRPr/>
          </a:p>
        </p:txBody>
      </p:sp>
      <p:sp>
        <p:nvSpPr>
          <p:cNvPr id="245" name="Google Shape;245;p17">
            <a:extLst xmlns:a="http://schemas.openxmlformats.org/drawingml/2006/main">
              <a:ext uri="{FF2B5EF4-FFF2-40B4-BE49-F238E27FC236}">
                <a16:creationId xmlns:a16="http://schemas.microsoft.com/office/drawing/2014/main" id="{156EF54F-4FB1-4F4F-9F16-56ECC930830A}"/>
              </a:ext>
            </a:extLst>
          </p:cNvPr>
          <p:cNvSpPr>
            <a:spLocks xmlns:a="http://schemas.openxmlformats.org/drawingml/2006/main" noGrp="1"/>
          </p:cNvSpPr>
          <p:nvPr/>
        </p:nvSpPr>
        <p:spPr>
          <a:xfrm xmlns:a="http://schemas.openxmlformats.org/drawingml/2006/main">
            <a:off x="609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46" name="Google Shape;246;p17">
            <a:extLst xmlns:a="http://schemas.openxmlformats.org/drawingml/2006/main">
              <a:ext uri="{FF2B5EF4-FFF2-40B4-BE49-F238E27FC236}">
                <a16:creationId xmlns:a16="http://schemas.microsoft.com/office/drawing/2014/main" id="{E206C122-69AB-4832-B1C1-B4EBB75AE6FF}"/>
              </a:ext>
            </a:extLst>
          </p:cNvPr>
          <p:cNvSpPr>
            <a:spLocks xmlns:a="http://schemas.openxmlformats.org/drawingml/2006/main" noGrp="1"/>
          </p:cNvSpPr>
          <p:nvPr/>
        </p:nvSpPr>
        <p:spPr>
          <a:xfrm xmlns:a="http://schemas.openxmlformats.org/drawingml/2006/main">
            <a:off x="609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4" name="Google Shape;247;p17"/>
          <p:cNvPicPr>
            <a:picLocks xmlns:a="http://schemas.openxmlformats.org/drawingml/2006/main" noChangeAspect="1"/>
          </p:cNvPicPr>
          <p:nvPr/>
        </p:nvPicPr>
        <p:blipFill rotWithShape="1">
          <a:blip xmlns:r="http://schemas.openxmlformats.org/officeDocument/2006/relationships" xmlns:a="http://schemas.openxmlformats.org/drawingml/2006/main" r:embed="Rbc5c7b36ec3644a3">
            <a:alphaModFix/>
          </a:blip>
          <a:srcRect xmlns:a="http://schemas.openxmlformats.org/drawingml/2006/main" l="0" t="0" r="0" b="0"/>
          <a:stretch xmlns:a="http://schemas.openxmlformats.org/drawingml/2006/main"/>
        </p:blipFill>
        <p:spPr>
          <a:xfrm xmlns:a="http://schemas.openxmlformats.org/drawingml/2006/main">
            <a:off x="609600" y="2628900"/>
            <a:ext cx="5257800" cy="2143125"/>
          </a:xfrm>
          <a:prstGeom xmlns:a="http://schemas.openxmlformats.org/drawingml/2006/main" prst="rect">
            <a:avLst/>
          </a:prstGeom>
          <a:ln xmlns:a="http://schemas.openxmlformats.org/drawingml/2006/main">
            <a:noFill/>
          </a:ln>
        </p:spPr>
      </p:pic>
      <p:sp>
        <p:nvSpPr>
          <p:cNvPr id="248" name="Google Shape;248;p17">
            <a:extLst xmlns:a="http://schemas.openxmlformats.org/drawingml/2006/main">
              <a:ext uri="{FF2B5EF4-FFF2-40B4-BE49-F238E27FC236}">
                <a16:creationId xmlns:a16="http://schemas.microsoft.com/office/drawing/2014/main" id="{2607B2AC-18A6-45FC-80EA-86B78F8D6DC2}"/>
              </a:ext>
            </a:extLst>
          </p:cNvPr>
          <p:cNvSpPr>
            <a:spLocks xmlns:a="http://schemas.openxmlformats.org/drawingml/2006/main" noGrp="1"/>
          </p:cNvSpPr>
          <p:nvPr/>
        </p:nvSpPr>
        <p:spPr>
          <a:xfrm xmlns:a="http://schemas.openxmlformats.org/drawingml/2006/main">
            <a:off x="6324600" y="1762125"/>
            <a:ext cx="52387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a:solidFill>
                  <a:srgbClr val="147F83"/>
                </a:solidFill>
                <a:latin typeface="Arial"/>
                <a:ea typeface="Arial"/>
                <a:cs typeface="Arial"/>
              </a:rPr>
              <a:t>Poor compliance: sustained rise</a:t>
            </a:r>
            <a:endParaRPr/>
          </a:p>
        </p:txBody>
      </p:sp>
      <p:sp>
        <p:nvSpPr>
          <p:cNvPr id="249" name="Google Shape;249;p17">
            <a:extLst xmlns:a="http://schemas.openxmlformats.org/drawingml/2006/main">
              <a:ext uri="{FF2B5EF4-FFF2-40B4-BE49-F238E27FC236}">
                <a16:creationId xmlns:a16="http://schemas.microsoft.com/office/drawing/2014/main" id="{7239BF99-B50A-49D2-A063-624292D685EF}"/>
              </a:ext>
            </a:extLst>
          </p:cNvPr>
          <p:cNvSpPr>
            <a:spLocks xmlns:a="http://schemas.openxmlformats.org/drawingml/2006/main" noGrp="1"/>
          </p:cNvSpPr>
          <p:nvPr/>
        </p:nvSpPr>
        <p:spPr>
          <a:xfrm xmlns:a="http://schemas.openxmlformats.org/drawingml/2006/main">
            <a:off x="6324600" y="23050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50" name="Google Shape;250;p17">
            <a:extLst xmlns:a="http://schemas.openxmlformats.org/drawingml/2006/main">
              <a:ext uri="{FF2B5EF4-FFF2-40B4-BE49-F238E27FC236}">
                <a16:creationId xmlns:a16="http://schemas.microsoft.com/office/drawing/2014/main" id="{85AD761A-0895-4138-A9CA-FD6FBFB6FAAC}"/>
              </a:ext>
            </a:extLst>
          </p:cNvPr>
          <p:cNvSpPr>
            <a:spLocks xmlns:a="http://schemas.openxmlformats.org/drawingml/2006/main" noGrp="1"/>
          </p:cNvSpPr>
          <p:nvPr/>
        </p:nvSpPr>
        <p:spPr>
          <a:xfrm xmlns:a="http://schemas.openxmlformats.org/drawingml/2006/main">
            <a:off x="6324600" y="4781550"/>
            <a:ext cx="525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8" name="Google Shape;251;p17"/>
          <p:cNvPicPr>
            <a:picLocks xmlns:a="http://schemas.openxmlformats.org/drawingml/2006/main" noChangeAspect="1"/>
          </p:cNvPicPr>
          <p:nvPr/>
        </p:nvPicPr>
        <p:blipFill rotWithShape="1">
          <a:blip xmlns:r="http://schemas.openxmlformats.org/officeDocument/2006/relationships" xmlns:a="http://schemas.openxmlformats.org/drawingml/2006/main" r:embed="Rc4a05305a97d4c66">
            <a:alphaModFix/>
          </a:blip>
          <a:srcRect xmlns:a="http://schemas.openxmlformats.org/drawingml/2006/main" l="0" t="0" r="0" b="0"/>
          <a:stretch xmlns:a="http://schemas.openxmlformats.org/drawingml/2006/main"/>
        </p:blipFill>
        <p:spPr>
          <a:xfrm xmlns:a="http://schemas.openxmlformats.org/drawingml/2006/main">
            <a:off x="6324600" y="2628900"/>
            <a:ext cx="5257800" cy="2143125"/>
          </a:xfrm>
          <a:prstGeom xmlns:a="http://schemas.openxmlformats.org/drawingml/2006/main" prst="rect">
            <a:avLst/>
          </a:prstGeom>
          <a:ln xmlns:a="http://schemas.openxmlformats.org/drawingml/2006/main">
            <a:noFill/>
          </a:ln>
        </p:spPr>
      </p:pic>
      <p:sp>
        <p:nvSpPr>
          <p:cNvPr id="252" name="Google Shape;252;p17">
            <a:extLst xmlns:a="http://schemas.openxmlformats.org/drawingml/2006/main">
              <a:ext uri="{FF2B5EF4-FFF2-40B4-BE49-F238E27FC236}">
                <a16:creationId xmlns:a16="http://schemas.microsoft.com/office/drawing/2014/main" id="{CD54D08C-260B-4FF0-B249-7BEE9375C2ED}"/>
              </a:ext>
            </a:extLst>
          </p:cNvPr>
          <p:cNvSpPr>
            <a:spLocks xmlns:a="http://schemas.openxmlformats.org/drawingml/2006/main" noGrp="1"/>
          </p:cNvSpPr>
          <p:nvPr/>
        </p:nvSpPr>
        <p:spPr>
          <a:xfrm xmlns:a="http://schemas.openxmlformats.org/drawingml/2006/main">
            <a:off x="609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Involuntary filling contraction</a:t>
            </a:r>
            <a:endParaRPr/>
          </a:p>
        </p:txBody>
      </p:sp>
      <p:sp>
        <p:nvSpPr>
          <p:cNvPr id="253" name="Google Shape;253;p17">
            <a:extLst xmlns:a="http://schemas.openxmlformats.org/drawingml/2006/main">
              <a:ext uri="{FF2B5EF4-FFF2-40B4-BE49-F238E27FC236}">
                <a16:creationId xmlns:a16="http://schemas.microsoft.com/office/drawing/2014/main" id="{806DDDC6-1D89-45F7-94F4-84372E0277DE}"/>
              </a:ext>
            </a:extLst>
          </p:cNvPr>
          <p:cNvSpPr>
            <a:spLocks xmlns:a="http://schemas.openxmlformats.org/drawingml/2006/main" noGrp="1"/>
          </p:cNvSpPr>
          <p:nvPr/>
        </p:nvSpPr>
        <p:spPr>
          <a:xfrm xmlns:a="http://schemas.openxmlformats.org/drawingml/2006/main">
            <a:off x="6324600" y="5067300"/>
            <a:ext cx="523875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separate storage-safety problem</a:t>
            </a:r>
            <a:endParaRPr/>
          </a:p>
        </p:txBody>
      </p:sp>
      <p:sp>
        <p:nvSpPr>
          <p:cNvPr id="254" name="Google Shape;254;p17">
            <a:extLst xmlns:a="http://schemas.openxmlformats.org/drawingml/2006/main">
              <a:ext uri="{FF2B5EF4-FFF2-40B4-BE49-F238E27FC236}">
                <a16:creationId xmlns:a16="http://schemas.microsoft.com/office/drawing/2014/main" id="{1832A190-6BD5-48E0-80DD-6BC66486B76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Schematic traces only, with arbitrary units. Confirm trace quality and assess renal function or upper tracts when indicated.</a:t>
            </a:r>
            <a:endParaRPr/>
          </a:p>
        </p:txBody>
      </p:sp>
    </p:spTree>
    <p:extLst>
      <p:ext uri="{BB962C8B-B14F-4D97-AF65-F5344CB8AC3E}">
        <p14:creationId xmlns:p14="http://schemas.microsoft.com/office/powerpoint/2010/main" val="7365179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0" name="Google Shape;260;p18">
            <a:extLst xmlns:a="http://schemas.openxmlformats.org/drawingml/2006/main">
              <a:ext uri="{FF2B5EF4-FFF2-40B4-BE49-F238E27FC236}">
                <a16:creationId xmlns:a16="http://schemas.microsoft.com/office/drawing/2014/main" id="{E636AECB-1CC7-45A4-9D46-2D0380E1B4A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Three different sites of narrowing</a:t>
            </a:r>
            <a:endParaRPr/>
          </a:p>
        </p:txBody>
      </p:sp>
      <p:sp>
        <p:nvSpPr>
          <p:cNvPr id="261" name="Google Shape;261;p18">
            <a:extLst xmlns:a="http://schemas.openxmlformats.org/drawingml/2006/main">
              <a:ext uri="{FF2B5EF4-FFF2-40B4-BE49-F238E27FC236}">
                <a16:creationId xmlns:a16="http://schemas.microsoft.com/office/drawing/2014/main" id="{915BC68A-6B7C-4006-BF70-CB1D73F96C5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62" name="Google Shape;262;p18">
            <a:extLst xmlns:a="http://schemas.openxmlformats.org/drawingml/2006/main">
              <a:ext uri="{FF2B5EF4-FFF2-40B4-BE49-F238E27FC236}">
                <a16:creationId xmlns:a16="http://schemas.microsoft.com/office/drawing/2014/main" id="{F94F67A1-AA0D-4F52-8918-34BEBA5714D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EAUSTR26 · BAUS25 · AUA24</a:t>
            </a:r>
            <a:endParaRPr/>
          </a:p>
        </p:txBody>
      </p:sp>
      <p:sp>
        <p:nvSpPr>
          <p:cNvPr id="263" name="Google Shape;263;p18">
            <a:extLst xmlns:a="http://schemas.openxmlformats.org/drawingml/2006/main">
              <a:ext uri="{FF2B5EF4-FFF2-40B4-BE49-F238E27FC236}">
                <a16:creationId xmlns:a16="http://schemas.microsoft.com/office/drawing/2014/main" id="{91A159CB-9D78-44BA-9B8E-649ADF4E0A2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15</a:t>
            </a:r>
            <a:endParaRPr/>
          </a:p>
        </p:txBody>
      </p:sp>
      <p:pic>
        <p:nvPicPr>
          <p:cNvPr id="276" name="Google Shape;264;p18"/>
          <p:cNvPicPr>
            <a:picLocks xmlns:a="http://schemas.openxmlformats.org/drawingml/2006/main" noChangeAspect="1"/>
          </p:cNvPicPr>
          <p:nvPr/>
        </p:nvPicPr>
        <p:blipFill rotWithShape="1">
          <a:blip xmlns:r="http://schemas.openxmlformats.org/officeDocument/2006/relationships" xmlns:a="http://schemas.openxmlformats.org/drawingml/2006/main" r:embed="Rc20f5d5de3a24197">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265" name="Google Shape;265;p18">
            <a:extLst xmlns:a="http://schemas.openxmlformats.org/drawingml/2006/main">
              <a:ext uri="{FF2B5EF4-FFF2-40B4-BE49-F238E27FC236}">
                <a16:creationId xmlns:a16="http://schemas.microsoft.com/office/drawing/2014/main" id="{6AA44037-80E1-4A57-A707-4DBFCDD03D8E}"/>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Anatomical distinctions</a:t>
            </a:r>
            <a:endParaRPr/>
          </a:p>
        </p:txBody>
      </p:sp>
      <p:sp>
        <p:nvSpPr>
          <p:cNvPr id="266" name="Google Shape;266;p18">
            <a:extLst xmlns:a="http://schemas.openxmlformats.org/drawingml/2006/main">
              <a:ext uri="{FF2B5EF4-FFF2-40B4-BE49-F238E27FC236}">
                <a16:creationId xmlns:a16="http://schemas.microsoft.com/office/drawing/2014/main" id="{7D8630DA-BE4E-4940-B2EC-5CF63A790957}"/>
              </a:ext>
            </a:extLst>
          </p:cNvPr>
          <p:cNvSpPr>
            <a:spLocks xmlns:a="http://schemas.openxmlformats.org/drawingml/2006/main" noGrp="1"/>
          </p:cNvSpPr>
          <p:nvPr/>
        </p:nvSpPr>
        <p:spPr>
          <a:xfrm xmlns:a="http://schemas.openxmlformats.org/drawingml/2006/main">
            <a:off x="7505700" y="24193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Anterior stricture: urethra and spongiosum</a:t>
            </a:r>
            <a:endParaRPr/>
          </a:p>
        </p:txBody>
      </p:sp>
      <p:sp>
        <p:nvSpPr>
          <p:cNvPr id="267" name="Google Shape;267;p18">
            <a:extLst xmlns:a="http://schemas.openxmlformats.org/drawingml/2006/main">
              <a:ext uri="{FF2B5EF4-FFF2-40B4-BE49-F238E27FC236}">
                <a16:creationId xmlns:a16="http://schemas.microsoft.com/office/drawing/2014/main" id="{70F6146D-00F4-43E3-94FC-EADCB36FB277}"/>
              </a:ext>
            </a:extLst>
          </p:cNvPr>
          <p:cNvSpPr>
            <a:spLocks xmlns:a="http://schemas.openxmlformats.org/drawingml/2006/main" noGrp="1"/>
          </p:cNvSpPr>
          <p:nvPr/>
        </p:nvSpPr>
        <p:spPr>
          <a:xfrm xmlns:a="http://schemas.openxmlformats.org/drawingml/2006/main">
            <a:off x="7505700" y="34099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Bladder-neck contracture: prostate partly present</a:t>
            </a:r>
            <a:endParaRPr/>
          </a:p>
        </p:txBody>
      </p:sp>
      <p:sp>
        <p:nvSpPr>
          <p:cNvPr id="268" name="Google Shape;268;p18">
            <a:extLst xmlns:a="http://schemas.openxmlformats.org/drawingml/2006/main">
              <a:ext uri="{FF2B5EF4-FFF2-40B4-BE49-F238E27FC236}">
                <a16:creationId xmlns:a16="http://schemas.microsoft.com/office/drawing/2014/main" id="{28B9B4C6-5350-44FD-A6A8-259810340470}"/>
              </a:ext>
            </a:extLst>
          </p:cNvPr>
          <p:cNvSpPr>
            <a:spLocks xmlns:a="http://schemas.openxmlformats.org/drawingml/2006/main" noGrp="1"/>
          </p:cNvSpPr>
          <p:nvPr/>
        </p:nvSpPr>
        <p:spPr>
          <a:xfrm xmlns:a="http://schemas.openxmlformats.org/drawingml/2006/main">
            <a:off x="7505700" y="4400550"/>
            <a:ext cx="40767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VUAS: anastomosis after radical prostatectomy</a:t>
            </a:r>
            <a:endParaRPr/>
          </a:p>
        </p:txBody>
      </p:sp>
      <p:sp>
        <p:nvSpPr>
          <p:cNvPr id="269" name="Google Shape;269;p18">
            <a:extLst xmlns:a="http://schemas.openxmlformats.org/drawingml/2006/main">
              <a:ext uri="{FF2B5EF4-FFF2-40B4-BE49-F238E27FC236}">
                <a16:creationId xmlns:a16="http://schemas.microsoft.com/office/drawing/2014/main" id="{7DF28601-4A3B-4BF2-987A-FDCDD5925D00}"/>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
        <p:nvSpPr>
          <p:cNvPr id="270" name="Google Shape;270;p18">
            <a:extLst xmlns:a="http://schemas.openxmlformats.org/drawingml/2006/main">
              <a:ext uri="{FF2B5EF4-FFF2-40B4-BE49-F238E27FC236}">
                <a16:creationId xmlns:a16="http://schemas.microsoft.com/office/drawing/2014/main" id="{78419809-6CD6-47BF-8240-97F6998FAAA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Symptoms, flow, residual and anatomy must support a stable outlet.</a:t>
            </a:r>
            <a:endParaRPr/>
          </a:p>
        </p:txBody>
      </p:sp>
    </p:spTree>
    <p:extLst>
      <p:ext uri="{BB962C8B-B14F-4D97-AF65-F5344CB8AC3E}">
        <p14:creationId xmlns:p14="http://schemas.microsoft.com/office/powerpoint/2010/main" val="7859850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6" name="Google Shape;276;p19">
            <a:extLst xmlns:a="http://schemas.openxmlformats.org/drawingml/2006/main">
              <a:ext uri="{FF2B5EF4-FFF2-40B4-BE49-F238E27FC236}">
                <a16:creationId xmlns:a16="http://schemas.microsoft.com/office/drawing/2014/main" id="{B2A78744-29E5-4BC7-ADDE-24CD175F732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Reassessment and urethral stability</a:t>
            </a:r>
            <a:endParaRPr/>
          </a:p>
        </p:txBody>
      </p:sp>
      <p:sp>
        <p:nvSpPr>
          <p:cNvPr id="277" name="Google Shape;277;p19">
            <a:extLst xmlns:a="http://schemas.openxmlformats.org/drawingml/2006/main">
              <a:ext uri="{FF2B5EF4-FFF2-40B4-BE49-F238E27FC236}">
                <a16:creationId xmlns:a16="http://schemas.microsoft.com/office/drawing/2014/main" id="{AD5BEE9C-1F29-42C5-953E-B32428F02BA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78" name="Google Shape;278;p19">
            <a:extLst xmlns:a="http://schemas.openxmlformats.org/drawingml/2006/main">
              <a:ext uri="{FF2B5EF4-FFF2-40B4-BE49-F238E27FC236}">
                <a16:creationId xmlns:a16="http://schemas.microsoft.com/office/drawing/2014/main" id="{0477A48C-2042-4831-831D-F0F01FD48DE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AUA24 · EAUSTR26 · ICS16</a:t>
            </a:r>
            <a:endParaRPr/>
          </a:p>
        </p:txBody>
      </p:sp>
      <p:sp>
        <p:nvSpPr>
          <p:cNvPr id="279" name="Google Shape;279;p19">
            <a:extLst xmlns:a="http://schemas.openxmlformats.org/drawingml/2006/main">
              <a:ext uri="{FF2B5EF4-FFF2-40B4-BE49-F238E27FC236}">
                <a16:creationId xmlns:a16="http://schemas.microsoft.com/office/drawing/2014/main" id="{0CFAB0CF-C4CB-4459-8C76-0F62454B7E1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16</a:t>
            </a:r>
            <a:endParaRPr/>
          </a:p>
        </p:txBody>
      </p:sp>
      <p:graphicFrame>
        <p:nvGraphicFramePr>
          <p:cNvPr id="287" name="Google Shape;280;p19"/>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2000250"/>
                <a:gridCol w="3714750"/>
                <a:gridCol w="52578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Interval</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The relevant pathway</a:t>
                      </a:r>
                      <a:endParaRPr/>
                    </a:p>
                  </a:txBody>
                  <a:tcPr marL="133350" marR="133350" marT="95250" marB="76200" anchor="ctr">
                    <a:solidFill>
                      <a:srgbClr val="183343"/>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4–6 weeks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Interval cystoscopy after symptomatic BNC/VUAS treatment</a:t>
                      </a:r>
                      <a:endParaRPr/>
                    </a:p>
                  </a:txBody>
                  <a:tcPr marL="133350" marR="133350" marT="95250" marB="76200" anchor="ctr">
                    <a:solidFill>
                      <a:srgbClr val="EEF4F5"/>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3–6 months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Advice after redo vesicourethral anastomosis</a:t>
                      </a:r>
                      <a:endParaRPr/>
                    </a:p>
                  </a:txBody>
                  <a:tcPr marL="133350" marR="133350" marT="95250" marB="76200" anchor="ctr">
                    <a:solidFill>
                      <a:srgbClr val="FFFFFF"/>
                    </a:solidFill>
                  </a:tcPr>
                </a:tc>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without recurrence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After treatment of post-prostatectomy narrowing</a:t>
                      </a:r>
                      <a:endParaRPr/>
                    </a:p>
                  </a:txBody>
                  <a:tcPr marL="133350" marR="133350" marT="95250" marB="76200" anchor="ctr">
                    <a:solidFill>
                      <a:srgbClr val="EEF4F5"/>
                    </a:solidFill>
                  </a:tcPr>
                </a:tc>
              </a:tr>
            </a:tbl>
          </a:graphicData>
        </a:graphic>
      </p:graphicFrame>
      <p:sp>
        <p:nvSpPr>
          <p:cNvPr id="281" name="Google Shape;281;p19">
            <a:extLst xmlns:a="http://schemas.openxmlformats.org/drawingml/2006/main">
              <a:ext uri="{FF2B5EF4-FFF2-40B4-BE49-F238E27FC236}">
                <a16:creationId xmlns:a16="http://schemas.microsoft.com/office/drawing/2014/main" id="{434D19ED-BD71-425B-8D2B-263F84A2944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These intervals describe different pathways. Recurrence pattern, tissue quality and future access remain decisive.</a:t>
            </a:r>
            <a:endParaRPr/>
          </a:p>
        </p:txBody>
      </p:sp>
    </p:spTree>
    <p:extLst>
      <p:ext uri="{BB962C8B-B14F-4D97-AF65-F5344CB8AC3E}">
        <p14:creationId xmlns:p14="http://schemas.microsoft.com/office/powerpoint/2010/main" val="196697547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7" name="Google Shape;287;p20">
            <a:extLst xmlns:a="http://schemas.openxmlformats.org/drawingml/2006/main">
              <a:ext uri="{FF2B5EF4-FFF2-40B4-BE49-F238E27FC236}">
                <a16:creationId xmlns:a16="http://schemas.microsoft.com/office/drawing/2014/main" id="{2CD4AE12-E0A2-44FB-8B2C-5576F104D4E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3: radiation and recurrent VUAS</a:t>
            </a:r>
            <a:endParaRPr/>
          </a:p>
        </p:txBody>
      </p:sp>
      <p:sp>
        <p:nvSpPr>
          <p:cNvPr id="288" name="Google Shape;288;p20">
            <a:extLst xmlns:a="http://schemas.openxmlformats.org/drawingml/2006/main">
              <a:ext uri="{FF2B5EF4-FFF2-40B4-BE49-F238E27FC236}">
                <a16:creationId xmlns:a16="http://schemas.microsoft.com/office/drawing/2014/main" id="{AFD2C636-2AC9-4909-B4D9-506C4877EEF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89" name="Google Shape;289;p20">
            <a:extLst xmlns:a="http://schemas.openxmlformats.org/drawingml/2006/main">
              <a:ext uri="{FF2B5EF4-FFF2-40B4-BE49-F238E27FC236}">
                <a16:creationId xmlns:a16="http://schemas.microsoft.com/office/drawing/2014/main" id="{1E3C164E-293E-4665-BF65-04FE6AF3D8AF}"/>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RT22 · BAUS25 · EAUSTR26 · AUA24 · RTTIME25</a:t>
            </a:r>
            <a:endParaRPr/>
          </a:p>
        </p:txBody>
      </p:sp>
      <p:sp>
        <p:nvSpPr>
          <p:cNvPr id="290" name="Google Shape;290;p20">
            <a:extLst xmlns:a="http://schemas.openxmlformats.org/drawingml/2006/main">
              <a:ext uri="{FF2B5EF4-FFF2-40B4-BE49-F238E27FC236}">
                <a16:creationId xmlns:a16="http://schemas.microsoft.com/office/drawing/2014/main" id="{FF77FBDD-9E32-4289-97B5-3A606D225EF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17</a:t>
            </a:r>
            <a:endParaRPr/>
          </a:p>
        </p:txBody>
      </p:sp>
      <p:sp>
        <p:nvSpPr>
          <p:cNvPr id="291" name="Google Shape;291;p20">
            <a:extLst xmlns:a="http://schemas.openxmlformats.org/drawingml/2006/main">
              <a:ext uri="{FF2B5EF4-FFF2-40B4-BE49-F238E27FC236}">
                <a16:creationId xmlns:a16="http://schemas.microsoft.com/office/drawing/2014/main" id="{FF51D1E4-445B-44A9-90B5-85416D45BFFE}"/>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03</a:t>
            </a:r>
            <a:endParaRPr/>
          </a:p>
        </p:txBody>
      </p:sp>
      <p:sp>
        <p:nvSpPr>
          <p:cNvPr id="292" name="Google Shape;292;p20">
            <a:extLst xmlns:a="http://schemas.openxmlformats.org/drawingml/2006/main">
              <a:ext uri="{FF2B5EF4-FFF2-40B4-BE49-F238E27FC236}">
                <a16:creationId xmlns:a16="http://schemas.microsoft.com/office/drawing/2014/main" id="{9BEEDE15-B08A-47D8-B053-E0689F8E70D3}"/>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Radical prostatectomy and salvage radiotherapy</a:t>
            </a:r>
            <a:endParaRPr/>
          </a:p>
        </p:txBody>
      </p:sp>
      <p:sp>
        <p:nvSpPr>
          <p:cNvPr id="293" name="Google Shape;293;p20">
            <a:extLst xmlns:a="http://schemas.openxmlformats.org/drawingml/2006/main">
              <a:ext uri="{FF2B5EF4-FFF2-40B4-BE49-F238E27FC236}">
                <a16:creationId xmlns:a16="http://schemas.microsoft.com/office/drawing/2014/main" id="{DECEB65C-758F-403B-BD1D-3ADCC080089B}"/>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Severe SUI between endoscopic treatments</a:t>
            </a:r>
            <a:endParaRPr/>
          </a:p>
        </p:txBody>
      </p:sp>
      <p:sp>
        <p:nvSpPr>
          <p:cNvPr id="294" name="Google Shape;294;p20">
            <a:extLst xmlns:a="http://schemas.openxmlformats.org/drawingml/2006/main">
              <a:ext uri="{FF2B5EF4-FFF2-40B4-BE49-F238E27FC236}">
                <a16:creationId xmlns:a16="http://schemas.microsoft.com/office/drawing/2014/main" id="{9DD75C81-C8E9-481E-8865-09D9EDC9C696}"/>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vesicourethral anastomotic stenosis</a:t>
            </a:r>
            <a:endParaRPr/>
          </a:p>
        </p:txBody>
      </p:sp>
      <p:sp>
        <p:nvSpPr>
          <p:cNvPr id="295" name="Google Shape;295;p20">
            <a:extLst xmlns:a="http://schemas.openxmlformats.org/drawingml/2006/main">
              <a:ext uri="{FF2B5EF4-FFF2-40B4-BE49-F238E27FC236}">
                <a16:creationId xmlns:a16="http://schemas.microsoft.com/office/drawing/2014/main" id="{22DA99C1-B169-43AB-918D-16608537C933}"/>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Patency still depends on further intervention</a:t>
            </a:r>
            <a:endParaRPr/>
          </a:p>
        </p:txBody>
      </p:sp>
      <p:sp>
        <p:nvSpPr>
          <p:cNvPr id="296" name="Google Shape;296;p20">
            <a:extLst xmlns:a="http://schemas.openxmlformats.org/drawingml/2006/main">
              <a:ext uri="{FF2B5EF4-FFF2-40B4-BE49-F238E27FC236}">
                <a16:creationId xmlns:a16="http://schemas.microsoft.com/office/drawing/2014/main" id="{ACD07CC0-1697-4F9D-9AAA-F8C937EFDB2A}"/>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Implant, stage reconstruction or reconsider the endpoint?</a:t>
            </a:r>
            <a:endParaRPr/>
          </a:p>
        </p:txBody>
      </p:sp>
      <p:sp>
        <p:nvSpPr>
          <p:cNvPr id="297" name="Google Shape;297;p20">
            <a:extLst xmlns:a="http://schemas.openxmlformats.org/drawingml/2006/main">
              <a:ext uri="{FF2B5EF4-FFF2-40B4-BE49-F238E27FC236}">
                <a16:creationId xmlns:a16="http://schemas.microsoft.com/office/drawing/2014/main" id="{96EE48DE-5065-4FCD-BAB8-10F92AA4848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298" name="Google Shape;298;p20">
            <a:extLst xmlns:a="http://schemas.openxmlformats.org/drawingml/2006/main">
              <a:ext uri="{FF2B5EF4-FFF2-40B4-BE49-F238E27FC236}">
                <a16:creationId xmlns:a16="http://schemas.microsoft.com/office/drawing/2014/main" id="{62FB2FFB-1F2F-48FB-AD8E-5408C7DB7A32}"/>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Implant / Stage / Reconsider</a:t>
            </a:r>
            <a:endParaRPr/>
          </a:p>
        </p:txBody>
      </p:sp>
      <p:sp>
        <p:nvSpPr>
          <p:cNvPr id="299" name="Google Shape;299;p20">
            <a:extLst xmlns:a="http://schemas.openxmlformats.org/drawingml/2006/main">
              <a:ext uri="{FF2B5EF4-FFF2-40B4-BE49-F238E27FC236}">
                <a16:creationId xmlns:a16="http://schemas.microsoft.com/office/drawing/2014/main" id="{FFE89DB9-4755-4B1B-AE21-F8D129D8815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Radiation increases risk. A 2025 timing study does not establish a fixed waiting rule; stable patency and reconstruction come first.</a:t>
            </a:r>
            <a:endParaRPr/>
          </a:p>
        </p:txBody>
      </p:sp>
    </p:spTree>
    <p:extLst>
      <p:ext uri="{BB962C8B-B14F-4D97-AF65-F5344CB8AC3E}">
        <p14:creationId xmlns:p14="http://schemas.microsoft.com/office/powerpoint/2010/main" val="178241161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5" name="Google Shape;305;p21">
            <a:extLst xmlns:a="http://schemas.openxmlformats.org/drawingml/2006/main">
              <a:ext uri="{FF2B5EF4-FFF2-40B4-BE49-F238E27FC236}">
                <a16:creationId xmlns:a16="http://schemas.microsoft.com/office/drawing/2014/main" id="{014AD541-02C7-438B-96EF-C4A8092AB34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AUS after urethral reconstruction</a:t>
            </a:r>
            <a:endParaRPr/>
          </a:p>
        </p:txBody>
      </p:sp>
      <p:sp>
        <p:nvSpPr>
          <p:cNvPr id="306" name="Google Shape;306;p21">
            <a:extLst xmlns:a="http://schemas.openxmlformats.org/drawingml/2006/main">
              <a:ext uri="{FF2B5EF4-FFF2-40B4-BE49-F238E27FC236}">
                <a16:creationId xmlns:a16="http://schemas.microsoft.com/office/drawing/2014/main" id="{90BBAD48-9325-4B52-99AF-1EFBBF7EA2C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07" name="Google Shape;307;p21">
            <a:extLst xmlns:a="http://schemas.openxmlformats.org/drawingml/2006/main">
              <a:ext uri="{FF2B5EF4-FFF2-40B4-BE49-F238E27FC236}">
                <a16:creationId xmlns:a16="http://schemas.microsoft.com/office/drawing/2014/main" id="{4E632F13-E8F9-4EBF-A7E7-939F282223A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URETH26 · BAUS25 · AUA24 · ICS16 · URETHMETA26</a:t>
            </a:r>
            <a:endParaRPr/>
          </a:p>
        </p:txBody>
      </p:sp>
      <p:sp>
        <p:nvSpPr>
          <p:cNvPr id="308" name="Google Shape;308;p21">
            <a:extLst xmlns:a="http://schemas.openxmlformats.org/drawingml/2006/main">
              <a:ext uri="{FF2B5EF4-FFF2-40B4-BE49-F238E27FC236}">
                <a16:creationId xmlns:a16="http://schemas.microsoft.com/office/drawing/2014/main" id="{6FF35770-88E8-479B-8E8B-E4E6690C11F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18</a:t>
            </a:r>
            <a:endParaRPr/>
          </a:p>
        </p:txBody>
      </p:sp>
      <p:sp>
        <p:nvSpPr>
          <p:cNvPr id="309" name="Google Shape;309;p21">
            <a:extLst xmlns:a="http://schemas.openxmlformats.org/drawingml/2006/main">
              <a:ext uri="{FF2B5EF4-FFF2-40B4-BE49-F238E27FC236}">
                <a16:creationId xmlns:a16="http://schemas.microsoft.com/office/drawing/2014/main" id="{C2EBCE4D-D7DF-4926-894D-8133C24CD352}"/>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reconstruction history</a:t>
            </a:r>
            <a:endParaRPr/>
          </a:p>
        </p:txBody>
      </p:sp>
      <p:sp>
        <p:nvSpPr>
          <p:cNvPr id="310" name="Google Shape;310;p21">
            <a:extLst xmlns:a="http://schemas.openxmlformats.org/drawingml/2006/main">
              <a:ext uri="{FF2B5EF4-FFF2-40B4-BE49-F238E27FC236}">
                <a16:creationId xmlns:a16="http://schemas.microsoft.com/office/drawing/2014/main" id="{01CD481B-E319-4666-B291-75F5A4D3FB02}"/>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Repair site and operative report</a:t>
            </a:r>
            <a:endParaRPr/>
          </a:p>
        </p:txBody>
      </p:sp>
      <p:sp>
        <p:nvSpPr>
          <p:cNvPr id="311" name="Google Shape;311;p21">
            <a:extLst xmlns:a="http://schemas.openxmlformats.org/drawingml/2006/main">
              <a:ext uri="{FF2B5EF4-FFF2-40B4-BE49-F238E27FC236}">
                <a16:creationId xmlns:a16="http://schemas.microsoft.com/office/drawing/2014/main" id="{666455F5-1284-4307-B629-5B06A6E0066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Transecting or non-transecting repair</a:t>
            </a:r>
            <a:endParaRPr/>
          </a:p>
        </p:txBody>
      </p:sp>
      <p:sp>
        <p:nvSpPr>
          <p:cNvPr id="312" name="Google Shape;312;p21">
            <a:extLst xmlns:a="http://schemas.openxmlformats.org/drawingml/2006/main">
              <a:ext uri="{FF2B5EF4-FFF2-40B4-BE49-F238E27FC236}">
                <a16:creationId xmlns:a16="http://schemas.microsoft.com/office/drawing/2014/main" id="{8B2302BC-058A-405F-ABD7-349257E29F66}"/>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Prior erosion, graft or posterior reconstruction</a:t>
            </a:r>
            <a:endParaRPr/>
          </a:p>
        </p:txBody>
      </p:sp>
      <p:sp>
        <p:nvSpPr>
          <p:cNvPr id="313" name="Google Shape;313;p21">
            <a:extLst xmlns:a="http://schemas.openxmlformats.org/drawingml/2006/main">
              <a:ext uri="{FF2B5EF4-FFF2-40B4-BE49-F238E27FC236}">
                <a16:creationId xmlns:a16="http://schemas.microsoft.com/office/drawing/2014/main" id="{D11397EF-A5DE-4485-A082-DD5D508C0759}"/>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The next operation</a:t>
            </a:r>
            <a:endParaRPr/>
          </a:p>
        </p:txBody>
      </p:sp>
      <p:sp>
        <p:nvSpPr>
          <p:cNvPr id="314" name="Google Shape;314;p21">
            <a:extLst xmlns:a="http://schemas.openxmlformats.org/drawingml/2006/main">
              <a:ext uri="{FF2B5EF4-FFF2-40B4-BE49-F238E27FC236}">
                <a16:creationId xmlns:a16="http://schemas.microsoft.com/office/drawing/2014/main" id="{EF34E333-09B4-410D-B9D1-FF5E682897EB}"/>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Preserve remaining tissue and attachments</a:t>
            </a:r>
            <a:endParaRPr/>
          </a:p>
        </p:txBody>
      </p:sp>
      <p:sp>
        <p:nvSpPr>
          <p:cNvPr id="315" name="Google Shape;315;p21">
            <a:extLst xmlns:a="http://schemas.openxmlformats.org/drawingml/2006/main">
              <a:ext uri="{FF2B5EF4-FFF2-40B4-BE49-F238E27FC236}">
                <a16:creationId xmlns:a16="http://schemas.microsoft.com/office/drawing/2014/main" id="{443167C1-EFE9-4265-AEE7-0FEF737CD37A}"/>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 viable cuff-bearing tissue</a:t>
            </a:r>
            <a:endParaRPr/>
          </a:p>
        </p:txBody>
      </p:sp>
      <p:sp>
        <p:nvSpPr>
          <p:cNvPr id="316" name="Google Shape;316;p21">
            <a:extLst xmlns:a="http://schemas.openxmlformats.org/drawingml/2006/main">
              <a:ext uri="{FF2B5EF4-FFF2-40B4-BE49-F238E27FC236}">
                <a16:creationId xmlns:a16="http://schemas.microsoft.com/office/drawing/2014/main" id="{A7ECEF45-EFEA-4068-9F6E-8C5296C7D28A}"/>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Reassess unsafe planes or stage the procedure</a:t>
            </a:r>
            <a:endParaRPr/>
          </a:p>
        </p:txBody>
      </p:sp>
      <p:sp>
        <p:nvSpPr>
          <p:cNvPr id="317" name="Google Shape;317;p21">
            <a:extLst xmlns:a="http://schemas.openxmlformats.org/drawingml/2006/main">
              <a:ext uri="{FF2B5EF4-FFF2-40B4-BE49-F238E27FC236}">
                <a16:creationId xmlns:a16="http://schemas.microsoft.com/office/drawing/2014/main" id="{1501C04B-A7EB-4637-B278-79E00509260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meta-analysis: prior urethroplasty is associated with more explantation; transecting repairs carry higher erosion risk. Observational.</a:t>
            </a:r>
            <a:endParaRPr/>
          </a:p>
        </p:txBody>
      </p:sp>
    </p:spTree>
    <p:extLst>
      <p:ext uri="{BB962C8B-B14F-4D97-AF65-F5344CB8AC3E}">
        <p14:creationId xmlns:p14="http://schemas.microsoft.com/office/powerpoint/2010/main" val="121385950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3" name="Google Shape;323;p22">
            <a:extLst xmlns:a="http://schemas.openxmlformats.org/drawingml/2006/main">
              <a:ext uri="{FF2B5EF4-FFF2-40B4-BE49-F238E27FC236}">
                <a16:creationId xmlns:a16="http://schemas.microsoft.com/office/drawing/2014/main" id="{D08F3D32-977D-4118-A469-BD293103C87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Transcorporal placement: role and costs</a:t>
            </a:r>
            <a:endParaRPr/>
          </a:p>
        </p:txBody>
      </p:sp>
      <p:sp>
        <p:nvSpPr>
          <p:cNvPr id="324" name="Google Shape;324;p22">
            <a:extLst xmlns:a="http://schemas.openxmlformats.org/drawingml/2006/main">
              <a:ext uri="{FF2B5EF4-FFF2-40B4-BE49-F238E27FC236}">
                <a16:creationId xmlns:a16="http://schemas.microsoft.com/office/drawing/2014/main" id="{CA63D8FB-1756-439A-99AB-E08EAECEA76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25" name="Google Shape;325;p22">
            <a:extLst xmlns:a="http://schemas.openxmlformats.org/drawingml/2006/main">
              <a:ext uri="{FF2B5EF4-FFF2-40B4-BE49-F238E27FC236}">
                <a16:creationId xmlns:a16="http://schemas.microsoft.com/office/drawing/2014/main" id="{3CD7E48A-7795-4F58-AADE-1DB5028816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TC20 · TC23 · BAUS25 · AP23 · TCSYS25</a:t>
            </a:r>
            <a:endParaRPr/>
          </a:p>
        </p:txBody>
      </p:sp>
      <p:sp>
        <p:nvSpPr>
          <p:cNvPr id="326" name="Google Shape;326;p22">
            <a:extLst xmlns:a="http://schemas.openxmlformats.org/drawingml/2006/main">
              <a:ext uri="{FF2B5EF4-FFF2-40B4-BE49-F238E27FC236}">
                <a16:creationId xmlns:a16="http://schemas.microsoft.com/office/drawing/2014/main" id="{A7AF313C-5910-428A-AE96-21F629A5555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19</a:t>
            </a:r>
            <a:endParaRPr/>
          </a:p>
        </p:txBody>
      </p:sp>
      <p:sp>
        <p:nvSpPr>
          <p:cNvPr id="327" name="Google Shape;327;p22">
            <a:extLst xmlns:a="http://schemas.openxmlformats.org/drawingml/2006/main">
              <a:ext uri="{FF2B5EF4-FFF2-40B4-BE49-F238E27FC236}">
                <a16:creationId xmlns:a16="http://schemas.microsoft.com/office/drawing/2014/main" id="{002ABC5B-F51C-4742-BCF4-5B1678F2F8E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Selected role</a:t>
            </a:r>
            <a:endParaRPr/>
          </a:p>
        </p:txBody>
      </p:sp>
      <p:sp>
        <p:nvSpPr>
          <p:cNvPr id="328" name="Google Shape;328;p22">
            <a:extLst xmlns:a="http://schemas.openxmlformats.org/drawingml/2006/main">
              <a:ext uri="{FF2B5EF4-FFF2-40B4-BE49-F238E27FC236}">
                <a16:creationId xmlns:a16="http://schemas.microsoft.com/office/drawing/2014/main" id="{A5A2185F-7D3F-4967-B69D-3026913EC581}"/>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hazardous dorsal dissection plane</a:t>
            </a:r>
            <a:endParaRPr/>
          </a:p>
        </p:txBody>
      </p:sp>
      <p:sp>
        <p:nvSpPr>
          <p:cNvPr id="329" name="Google Shape;329;p22">
            <a:extLst xmlns:a="http://schemas.openxmlformats.org/drawingml/2006/main">
              <a:ext uri="{FF2B5EF4-FFF2-40B4-BE49-F238E27FC236}">
                <a16:creationId xmlns:a16="http://schemas.microsoft.com/office/drawing/2014/main" id="{470156F6-8BED-4991-B231-32B140D6CFD8}"/>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 manoeuvre addressing a defined dissection problem</a:t>
            </a:r>
            <a:endParaRPr/>
          </a:p>
        </p:txBody>
      </p:sp>
      <p:sp>
        <p:nvSpPr>
          <p:cNvPr id="330" name="Google Shape;330;p22">
            <a:extLst xmlns:a="http://schemas.openxmlformats.org/drawingml/2006/main">
              <a:ext uri="{FF2B5EF4-FFF2-40B4-BE49-F238E27FC236}">
                <a16:creationId xmlns:a16="http://schemas.microsoft.com/office/drawing/2014/main" id="{B963028D-58D3-4E87-B616-DA237C1E3A3C}"/>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Comparative erosion protection remains uncertain</a:t>
            </a:r>
            <a:endParaRPr/>
          </a:p>
        </p:txBody>
      </p:sp>
      <p:sp>
        <p:nvSpPr>
          <p:cNvPr id="331" name="Google Shape;331;p22">
            <a:extLst xmlns:a="http://schemas.openxmlformats.org/drawingml/2006/main">
              <a:ext uri="{FF2B5EF4-FFF2-40B4-BE49-F238E27FC236}">
                <a16:creationId xmlns:a16="http://schemas.microsoft.com/office/drawing/2014/main" id="{94745CDD-41C9-420A-9A44-8CDD242522A7}"/>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Costs and limitations</a:t>
            </a:r>
            <a:endParaRPr/>
          </a:p>
        </p:txBody>
      </p:sp>
      <p:sp>
        <p:nvSpPr>
          <p:cNvPr id="332" name="Google Shape;332;p22">
            <a:extLst xmlns:a="http://schemas.openxmlformats.org/drawingml/2006/main">
              <a:ext uri="{FF2B5EF4-FFF2-40B4-BE49-F238E27FC236}">
                <a16:creationId xmlns:a16="http://schemas.microsoft.com/office/drawing/2014/main" id="{D73618E7-8C0D-4DBE-BF3E-C95E0A71C8B8}"/>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Corporal injury and bleeding</a:t>
            </a:r>
            <a:endParaRPr/>
          </a:p>
        </p:txBody>
      </p:sp>
      <p:sp>
        <p:nvSpPr>
          <p:cNvPr id="333" name="Google Shape;333;p22">
            <a:extLst xmlns:a="http://schemas.openxmlformats.org/drawingml/2006/main">
              <a:ext uri="{FF2B5EF4-FFF2-40B4-BE49-F238E27FC236}">
                <a16:creationId xmlns:a16="http://schemas.microsoft.com/office/drawing/2014/main" id="{1F2DA001-92EF-4AFE-B4AE-B2CBDFBCC548}"/>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Sexual consequences and future prosthesis surgery</a:t>
            </a:r>
            <a:endParaRPr/>
          </a:p>
        </p:txBody>
      </p:sp>
      <p:sp>
        <p:nvSpPr>
          <p:cNvPr id="334" name="Google Shape;334;p22">
            <a:extLst xmlns:a="http://schemas.openxmlformats.org/drawingml/2006/main">
              <a:ext uri="{FF2B5EF4-FFF2-40B4-BE49-F238E27FC236}">
                <a16:creationId xmlns:a16="http://schemas.microsoft.com/office/drawing/2014/main" id="{EE816DDB-57CD-4E55-93C7-86881035B586}"/>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Confounding by indication in comparative series</a:t>
            </a:r>
            <a:endParaRPr/>
          </a:p>
        </p:txBody>
      </p:sp>
      <p:sp>
        <p:nvSpPr>
          <p:cNvPr id="335" name="Google Shape;335;p22">
            <a:extLst xmlns:a="http://schemas.openxmlformats.org/drawingml/2006/main">
              <a:ext uri="{FF2B5EF4-FFF2-40B4-BE49-F238E27FC236}">
                <a16:creationId xmlns:a16="http://schemas.microsoft.com/office/drawing/2014/main" id="{B6107ADD-AEAF-4B8C-AE51-3604BD83D85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Latest systematic review suggests less erosion but more revision. Non-randomised data do not prove causal protection.</a:t>
            </a:r>
            <a:endParaRPr/>
          </a:p>
        </p:txBody>
      </p:sp>
    </p:spTree>
    <p:extLst>
      <p:ext uri="{BB962C8B-B14F-4D97-AF65-F5344CB8AC3E}">
        <p14:creationId xmlns:p14="http://schemas.microsoft.com/office/powerpoint/2010/main" val="12357447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1" name="Google Shape;341;p23">
            <a:extLst xmlns:a="http://schemas.openxmlformats.org/drawingml/2006/main">
              <a:ext uri="{FF2B5EF4-FFF2-40B4-BE49-F238E27FC236}">
                <a16:creationId xmlns:a16="http://schemas.microsoft.com/office/drawing/2014/main" id="{44D99F71-8BA8-438A-982C-95A1CB51642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fifteen-minute wash question</a:t>
            </a:r>
            <a:endParaRPr/>
          </a:p>
        </p:txBody>
      </p:sp>
      <p:sp>
        <p:nvSpPr>
          <p:cNvPr id="342" name="Google Shape;342;p23">
            <a:extLst xmlns:a="http://schemas.openxmlformats.org/drawingml/2006/main">
              <a:ext uri="{FF2B5EF4-FFF2-40B4-BE49-F238E27FC236}">
                <a16:creationId xmlns:a16="http://schemas.microsoft.com/office/drawing/2014/main" id="{C9728E5F-B1A0-431E-BF7E-4A435A3AA8C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43" name="Google Shape;343;p23">
            <a:extLst xmlns:a="http://schemas.openxmlformats.org/drawingml/2006/main">
              <a:ext uri="{FF2B5EF4-FFF2-40B4-BE49-F238E27FC236}">
                <a16:creationId xmlns:a16="http://schemas.microsoft.com/office/drawing/2014/main" id="{B61AAB3D-B859-4DF3-A0DA-B8D0B3ECC67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NICE · WHO09 · PREP24 · IRRIG26</a:t>
            </a:r>
            <a:endParaRPr/>
          </a:p>
        </p:txBody>
      </p:sp>
      <p:sp>
        <p:nvSpPr>
          <p:cNvPr id="344" name="Google Shape;344;p23">
            <a:extLst xmlns:a="http://schemas.openxmlformats.org/drawingml/2006/main">
              <a:ext uri="{FF2B5EF4-FFF2-40B4-BE49-F238E27FC236}">
                <a16:creationId xmlns:a16="http://schemas.microsoft.com/office/drawing/2014/main" id="{E00C6506-9A24-4931-9C25-BA2CBC7FD7E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20</a:t>
            </a:r>
            <a:endParaRPr/>
          </a:p>
        </p:txBody>
      </p:sp>
      <p:sp>
        <p:nvSpPr>
          <p:cNvPr id="345" name="Google Shape;345;p23">
            <a:extLst xmlns:a="http://schemas.openxmlformats.org/drawingml/2006/main">
              <a:ext uri="{FF2B5EF4-FFF2-40B4-BE49-F238E27FC236}">
                <a16:creationId xmlns:a16="http://schemas.microsoft.com/office/drawing/2014/main" id="{B5C02B39-9B6A-4D6B-A168-A64125971EA1}"/>
              </a:ext>
            </a:extLst>
          </p:cNvPr>
          <p:cNvSpPr>
            <a:spLocks xmlns:a="http://schemas.openxmlformats.org/drawingml/2006/main" noGrp="1"/>
          </p:cNvSpPr>
          <p:nvPr/>
        </p:nvSpPr>
        <p:spPr>
          <a:xfrm xmlns:a="http://schemas.openxmlformats.org/drawingml/2006/main">
            <a:off x="609600" y="1733550"/>
            <a:ext cx="10972800" cy="11144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925" b="1">
                <a:solidFill>
                  <a:srgbClr val="183343"/>
                </a:solidFill>
                <a:latin typeface="Arial"/>
                <a:ea typeface="Arial"/>
                <a:cs typeface="Arial"/>
              </a:rPr>
              <a:t>No direct AUS outcome evidence establishes a fixed 15-minute preparation</a:t>
            </a:r>
            <a:endParaRPr/>
          </a:p>
        </p:txBody>
      </p:sp>
      <p:sp>
        <p:nvSpPr>
          <p:cNvPr id="346" name="Google Shape;346;p23">
            <a:extLst xmlns:a="http://schemas.openxmlformats.org/drawingml/2006/main">
              <a:ext uri="{FF2B5EF4-FFF2-40B4-BE49-F238E27FC236}">
                <a16:creationId xmlns:a16="http://schemas.microsoft.com/office/drawing/2014/main" id="{CA9C5BEF-603A-4390-A710-3B8AD4B60017}"/>
              </a:ext>
            </a:extLst>
          </p:cNvPr>
          <p:cNvSpPr>
            <a:spLocks xmlns:a="http://schemas.openxmlformats.org/drawingml/2006/main" noGrp="1"/>
          </p:cNvSpPr>
          <p:nvPr/>
        </p:nvSpPr>
        <p:spPr>
          <a:xfrm xmlns:a="http://schemas.openxmlformats.org/drawingml/2006/main">
            <a:off x="609600" y="319087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Patient washing</a:t>
            </a:r>
            <a:endParaRPr/>
          </a:p>
        </p:txBody>
      </p:sp>
      <p:sp>
        <p:nvSpPr>
          <p:cNvPr id="347" name="Google Shape;347;p23">
            <a:extLst xmlns:a="http://schemas.openxmlformats.org/drawingml/2006/main">
              <a:ext uri="{FF2B5EF4-FFF2-40B4-BE49-F238E27FC236}">
                <a16:creationId xmlns:a16="http://schemas.microsoft.com/office/drawing/2014/main" id="{054C90B5-E1FF-4E82-9182-658FFB2D37A3}"/>
              </a:ext>
            </a:extLst>
          </p:cNvPr>
          <p:cNvSpPr>
            <a:spLocks xmlns:a="http://schemas.openxmlformats.org/drawingml/2006/main" noGrp="1"/>
          </p:cNvSpPr>
          <p:nvPr/>
        </p:nvSpPr>
        <p:spPr>
          <a:xfrm xmlns:a="http://schemas.openxmlformats.org/drawingml/2006/main">
            <a:off x="4953000" y="319087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Preoperative hygiene</a:t>
            </a:r>
            <a:endParaRPr/>
          </a:p>
        </p:txBody>
      </p:sp>
      <p:sp>
        <p:nvSpPr>
          <p:cNvPr id="348" name="Google Shape;348;p23">
            <a:extLst xmlns:a="http://schemas.openxmlformats.org/drawingml/2006/main">
              <a:ext uri="{FF2B5EF4-FFF2-40B4-BE49-F238E27FC236}">
                <a16:creationId xmlns:a16="http://schemas.microsoft.com/office/drawing/2014/main" id="{4136CBF3-5FC7-4C5E-88EC-530DD8577C06}"/>
              </a:ext>
            </a:extLst>
          </p:cNvPr>
          <p:cNvSpPr>
            <a:spLocks xmlns:a="http://schemas.openxmlformats.org/drawingml/2006/main" noGrp="1"/>
          </p:cNvSpPr>
          <p:nvPr/>
        </p:nvSpPr>
        <p:spPr>
          <a:xfrm xmlns:a="http://schemas.openxmlformats.org/drawingml/2006/main">
            <a:off x="609600" y="377190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Skin preparation</a:t>
            </a:r>
            <a:endParaRPr/>
          </a:p>
        </p:txBody>
      </p:sp>
      <p:sp>
        <p:nvSpPr>
          <p:cNvPr id="349" name="Google Shape;349;p23">
            <a:extLst xmlns:a="http://schemas.openxmlformats.org/drawingml/2006/main">
              <a:ext uri="{FF2B5EF4-FFF2-40B4-BE49-F238E27FC236}">
                <a16:creationId xmlns:a16="http://schemas.microsoft.com/office/drawing/2014/main" id="{A9C676E3-4005-4013-93A3-D5BB01BFB7E7}"/>
              </a:ext>
            </a:extLst>
          </p:cNvPr>
          <p:cNvSpPr>
            <a:spLocks xmlns:a="http://schemas.openxmlformats.org/drawingml/2006/main" noGrp="1"/>
          </p:cNvSpPr>
          <p:nvPr/>
        </p:nvSpPr>
        <p:spPr>
          <a:xfrm xmlns:a="http://schemas.openxmlformats.org/drawingml/2006/main">
            <a:off x="4953000" y="377190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Correct product, site, contact and drying</a:t>
            </a:r>
            <a:endParaRPr/>
          </a:p>
        </p:txBody>
      </p:sp>
      <p:sp>
        <p:nvSpPr>
          <p:cNvPr id="350" name="Google Shape;350;p23">
            <a:extLst xmlns:a="http://schemas.openxmlformats.org/drawingml/2006/main">
              <a:ext uri="{FF2B5EF4-FFF2-40B4-BE49-F238E27FC236}">
                <a16:creationId xmlns:a16="http://schemas.microsoft.com/office/drawing/2014/main" id="{823FE434-F1E3-482E-80EF-31BEAE2CD1A5}"/>
              </a:ext>
            </a:extLst>
          </p:cNvPr>
          <p:cNvSpPr>
            <a:spLocks xmlns:a="http://schemas.openxmlformats.org/drawingml/2006/main" noGrp="1"/>
          </p:cNvSpPr>
          <p:nvPr/>
        </p:nvSpPr>
        <p:spPr>
          <a:xfrm xmlns:a="http://schemas.openxmlformats.org/drawingml/2006/main">
            <a:off x="609600" y="4352925"/>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Hand antisepsis</a:t>
            </a:r>
            <a:endParaRPr/>
          </a:p>
        </p:txBody>
      </p:sp>
      <p:sp>
        <p:nvSpPr>
          <p:cNvPr id="351" name="Google Shape;351;p23">
            <a:extLst xmlns:a="http://schemas.openxmlformats.org/drawingml/2006/main">
              <a:ext uri="{FF2B5EF4-FFF2-40B4-BE49-F238E27FC236}">
                <a16:creationId xmlns:a16="http://schemas.microsoft.com/office/drawing/2014/main" id="{8F1A909E-823A-4534-9DAE-4667654C1F65}"/>
              </a:ext>
            </a:extLst>
          </p:cNvPr>
          <p:cNvSpPr>
            <a:spLocks xmlns:a="http://schemas.openxmlformats.org/drawingml/2006/main" noGrp="1"/>
          </p:cNvSpPr>
          <p:nvPr/>
        </p:nvSpPr>
        <p:spPr>
          <a:xfrm xmlns:a="http://schemas.openxmlformats.org/drawingml/2006/main">
            <a:off x="4953000" y="4352925"/>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The team’s hands and forearms</a:t>
            </a:r>
            <a:endParaRPr/>
          </a:p>
        </p:txBody>
      </p:sp>
      <p:sp>
        <p:nvSpPr>
          <p:cNvPr id="352" name="Google Shape;352;p23">
            <a:extLst xmlns:a="http://schemas.openxmlformats.org/drawingml/2006/main">
              <a:ext uri="{FF2B5EF4-FFF2-40B4-BE49-F238E27FC236}">
                <a16:creationId xmlns:a16="http://schemas.microsoft.com/office/drawing/2014/main" id="{7DB6E671-648B-4FD0-89F3-7797D5712B75}"/>
              </a:ext>
            </a:extLst>
          </p:cNvPr>
          <p:cNvSpPr>
            <a:spLocks xmlns:a="http://schemas.openxmlformats.org/drawingml/2006/main" noGrp="1"/>
          </p:cNvSpPr>
          <p:nvPr/>
        </p:nvSpPr>
        <p:spPr>
          <a:xfrm xmlns:a="http://schemas.openxmlformats.org/drawingml/2006/main">
            <a:off x="609600" y="4933950"/>
            <a:ext cx="404812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1">
                <a:solidFill>
                  <a:srgbClr val="147F83"/>
                </a:solidFill>
                <a:latin typeface="Arial"/>
                <a:ea typeface="Arial"/>
                <a:cs typeface="Arial"/>
              </a:rPr>
              <a:t>Irrigation and device preparation</a:t>
            </a:r>
            <a:endParaRPr/>
          </a:p>
        </p:txBody>
      </p:sp>
      <p:sp>
        <p:nvSpPr>
          <p:cNvPr id="353" name="Google Shape;353;p23">
            <a:extLst xmlns:a="http://schemas.openxmlformats.org/drawingml/2006/main">
              <a:ext uri="{FF2B5EF4-FFF2-40B4-BE49-F238E27FC236}">
                <a16:creationId xmlns:a16="http://schemas.microsoft.com/office/drawing/2014/main" id="{40C65AA8-6BF3-47A9-BADB-E87A19E526FC}"/>
              </a:ext>
            </a:extLst>
          </p:cNvPr>
          <p:cNvSpPr>
            <a:spLocks xmlns:a="http://schemas.openxmlformats.org/drawingml/2006/main" noGrp="1"/>
          </p:cNvSpPr>
          <p:nvPr/>
        </p:nvSpPr>
        <p:spPr>
          <a:xfrm xmlns:a="http://schemas.openxmlformats.org/drawingml/2006/main">
            <a:off x="4953000" y="4933950"/>
            <a:ext cx="6619875"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83343"/>
                </a:solidFill>
                <a:latin typeface="Arial"/>
                <a:ea typeface="Arial"/>
                <a:cs typeface="Arial"/>
              </a:rPr>
              <a:t>Separate interventions and compatibility rules</a:t>
            </a:r>
            <a:endParaRPr/>
          </a:p>
        </p:txBody>
      </p:sp>
      <p:sp>
        <p:nvSpPr>
          <p:cNvPr id="354" name="Google Shape;354;p23">
            <a:extLst xmlns:a="http://schemas.openxmlformats.org/drawingml/2006/main">
              <a:ext uri="{FF2B5EF4-FFF2-40B4-BE49-F238E27FC236}">
                <a16:creationId xmlns:a16="http://schemas.microsoft.com/office/drawing/2014/main" id="{969E2BFC-A1E2-421A-9495-B8AE0046B9B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BAUS’s five-minute topical field scrub is consensus with extrapolation. Product timings address different activities.</a:t>
            </a:r>
            <a:endParaRPr/>
          </a:p>
        </p:txBody>
      </p:sp>
    </p:spTree>
    <p:extLst>
      <p:ext uri="{BB962C8B-B14F-4D97-AF65-F5344CB8AC3E}">
        <p14:creationId xmlns:p14="http://schemas.microsoft.com/office/powerpoint/2010/main" val="11263289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0" name="Google Shape;360;p24">
            <a:extLst xmlns:a="http://schemas.openxmlformats.org/drawingml/2006/main">
              <a:ext uri="{FF2B5EF4-FFF2-40B4-BE49-F238E27FC236}">
                <a16:creationId xmlns:a16="http://schemas.microsoft.com/office/drawing/2014/main" id="{B3AFB32E-0FD4-4A07-9FDD-8AECFE8F398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Skin culture reduction and clinical infection</a:t>
            </a:r>
            <a:endParaRPr/>
          </a:p>
        </p:txBody>
      </p:sp>
      <p:sp>
        <p:nvSpPr>
          <p:cNvPr id="361" name="Google Shape;361;p24">
            <a:extLst xmlns:a="http://schemas.openxmlformats.org/drawingml/2006/main">
              <a:ext uri="{FF2B5EF4-FFF2-40B4-BE49-F238E27FC236}">
                <a16:creationId xmlns:a16="http://schemas.microsoft.com/office/drawing/2014/main" id="{86103C88-28BF-46AE-A3D0-AFC5FC17DAD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62" name="Google Shape;362;p24">
            <a:extLst xmlns:a="http://schemas.openxmlformats.org/drawingml/2006/main">
              <a:ext uri="{FF2B5EF4-FFF2-40B4-BE49-F238E27FC236}">
                <a16:creationId xmlns:a16="http://schemas.microsoft.com/office/drawing/2014/main" id="{5AB5CC4D-FF97-470F-86B6-EB62900D7DC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YEUNG13 · PREP24 · NICE · CHLORA26 · BAUS25</a:t>
            </a:r>
            <a:endParaRPr/>
          </a:p>
        </p:txBody>
      </p:sp>
      <p:sp>
        <p:nvSpPr>
          <p:cNvPr id="363" name="Google Shape;363;p24">
            <a:extLst xmlns:a="http://schemas.openxmlformats.org/drawingml/2006/main">
              <a:ext uri="{FF2B5EF4-FFF2-40B4-BE49-F238E27FC236}">
                <a16:creationId xmlns:a16="http://schemas.microsoft.com/office/drawing/2014/main" id="{FD432617-492C-43D0-A74C-344F31AC4EC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21</a:t>
            </a:r>
            <a:endParaRPr/>
          </a:p>
        </p:txBody>
      </p:sp>
      <p:pic>
        <p:nvPicPr>
          <p:cNvPr id="374" name="Google Shape;364;p24"/>
          <p:cNvPicPr>
            <a:picLocks xmlns:a="http://schemas.openxmlformats.org/drawingml/2006/main" noChangeAspect="1"/>
          </p:cNvPicPr>
          <p:nvPr/>
        </p:nvPicPr>
        <p:blipFill rotWithShape="1">
          <a:blip xmlns:r="http://schemas.openxmlformats.org/officeDocument/2006/relationships" xmlns:a="http://schemas.openxmlformats.org/drawingml/2006/main" r:embed="R50e9f644036a4677">
            <a:alphaModFix/>
          </a:blip>
          <a:srcRect xmlns:a="http://schemas.openxmlformats.org/drawingml/2006/main" l="0" t="0" r="0" b="0"/>
          <a:stretch xmlns:a="http://schemas.openxmlformats.org/drawingml/2006/main"/>
        </p:blipFill>
        <p:spPr>
          <a:xfrm xmlns:a="http://schemas.openxmlformats.org/drawingml/2006/main">
            <a:off x="609600" y="1857375"/>
            <a:ext cx="6715125" cy="3429000"/>
          </a:xfrm>
          <a:prstGeom xmlns:a="http://schemas.openxmlformats.org/drawingml/2006/main" prst="rect">
            <a:avLst/>
          </a:prstGeom>
          <a:ln xmlns:a="http://schemas.openxmlformats.org/drawingml/2006/main">
            <a:noFill/>
          </a:ln>
        </p:spPr>
      </p:pic>
      <p:sp>
        <p:nvSpPr>
          <p:cNvPr id="365" name="Google Shape;365;p24">
            <a:extLst xmlns:a="http://schemas.openxmlformats.org/drawingml/2006/main">
              <a:ext uri="{FF2B5EF4-FFF2-40B4-BE49-F238E27FC236}">
                <a16:creationId xmlns:a16="http://schemas.microsoft.com/office/drawing/2014/main" id="{59B67BCA-7E26-491C-A205-71870D4E2FE7}"/>
              </a:ext>
            </a:extLst>
          </p:cNvPr>
          <p:cNvSpPr>
            <a:spLocks xmlns:a="http://schemas.openxmlformats.org/drawingml/2006/main" noGrp="1"/>
          </p:cNvSpPr>
          <p:nvPr/>
        </p:nvSpPr>
        <p:spPr>
          <a:xfrm xmlns:a="http://schemas.openxmlformats.org/drawingml/2006/main">
            <a:off x="7848600" y="2019300"/>
            <a:ext cx="3733800" cy="904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1">
                <a:solidFill>
                  <a:srgbClr val="183343"/>
                </a:solidFill>
                <a:latin typeface="Arial"/>
                <a:ea typeface="Arial"/>
                <a:cs typeface="Arial"/>
              </a:rPr>
              <a:t>A microbiological endpoint</a:t>
            </a:r>
            <a:endParaRPr/>
          </a:p>
        </p:txBody>
      </p:sp>
      <p:sp>
        <p:nvSpPr>
          <p:cNvPr id="366" name="Google Shape;366;p24">
            <a:extLst xmlns:a="http://schemas.openxmlformats.org/drawingml/2006/main">
              <a:ext uri="{FF2B5EF4-FFF2-40B4-BE49-F238E27FC236}">
                <a16:creationId xmlns:a16="http://schemas.microsoft.com/office/drawing/2014/main" id="{3B3AB40F-EAA2-4CB7-B7EB-DECAA1621268}"/>
              </a:ext>
            </a:extLst>
          </p:cNvPr>
          <p:cNvSpPr>
            <a:spLocks xmlns:a="http://schemas.openxmlformats.org/drawingml/2006/main" noGrp="1"/>
          </p:cNvSpPr>
          <p:nvPr/>
        </p:nvSpPr>
        <p:spPr>
          <a:xfrm xmlns:a="http://schemas.openxmlformats.org/drawingml/2006/main">
            <a:off x="7848600" y="3324225"/>
            <a:ext cx="3733800" cy="1047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526773"/>
                </a:solidFill>
                <a:latin typeface="Arial"/>
                <a:ea typeface="Arial"/>
                <a:cs typeface="Arial"/>
              </a:rPr>
              <a:t>Direct AUS infection evidence remains limited</a:t>
            </a:r>
            <a:endParaRPr/>
          </a:p>
        </p:txBody>
      </p:sp>
      <p:sp>
        <p:nvSpPr>
          <p:cNvPr id="367" name="Google Shape;367;p24">
            <a:extLst xmlns:a="http://schemas.openxmlformats.org/drawingml/2006/main">
              <a:ext uri="{FF2B5EF4-FFF2-40B4-BE49-F238E27FC236}">
                <a16:creationId xmlns:a16="http://schemas.microsoft.com/office/drawing/2014/main" id="{5032DF48-80B6-4AE1-91AD-FBDAC71E60EF}"/>
              </a:ext>
            </a:extLst>
          </p:cNvPr>
          <p:cNvSpPr>
            <a:spLocks xmlns:a="http://schemas.openxmlformats.org/drawingml/2006/main" noGrp="1"/>
          </p:cNvSpPr>
          <p:nvPr/>
        </p:nvSpPr>
        <p:spPr>
          <a:xfrm xmlns:a="http://schemas.openxmlformats.org/drawingml/2006/main">
            <a:off x="7848600" y="4600575"/>
            <a:ext cx="3733800" cy="9239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47F83"/>
                </a:solidFill>
                <a:latin typeface="Arial"/>
                <a:ea typeface="Arial"/>
                <a:cs typeface="Arial"/>
              </a:rPr>
              <a:t>Correct product, anatomy and complete drying still matter</a:t>
            </a:r>
            <a:endParaRPr/>
          </a:p>
        </p:txBody>
      </p:sp>
      <p:sp>
        <p:nvSpPr>
          <p:cNvPr id="368" name="Google Shape;368;p24">
            <a:extLst xmlns:a="http://schemas.openxmlformats.org/drawingml/2006/main">
              <a:ext uri="{FF2B5EF4-FFF2-40B4-BE49-F238E27FC236}">
                <a16:creationId xmlns:a16="http://schemas.microsoft.com/office/drawing/2014/main" id="{457EB507-BBBF-47B6-A1FD-6D820F8158D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Yeung 2013: 100 initial GU prosthetic procedures, 50 per arm. Immediate skin cultures, not AUS infection or a duration trial.</a:t>
            </a:r>
            <a:endParaRPr/>
          </a:p>
        </p:txBody>
      </p:sp>
    </p:spTree>
    <p:extLst>
      <p:ext uri="{BB962C8B-B14F-4D97-AF65-F5344CB8AC3E}">
        <p14:creationId xmlns:p14="http://schemas.microsoft.com/office/powerpoint/2010/main" val="8062810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4" name="Google Shape;374;p25">
            <a:extLst xmlns:a="http://schemas.openxmlformats.org/drawingml/2006/main">
              <a:ext uri="{FF2B5EF4-FFF2-40B4-BE49-F238E27FC236}">
                <a16:creationId xmlns:a16="http://schemas.microsoft.com/office/drawing/2014/main" id="{4910449E-B556-49F7-B6B4-34B4AABDBC6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Urine and antibiotic disagreements</a:t>
            </a:r>
            <a:endParaRPr/>
          </a:p>
        </p:txBody>
      </p:sp>
      <p:sp>
        <p:nvSpPr>
          <p:cNvPr id="375" name="Google Shape;375;p25">
            <a:extLst xmlns:a="http://schemas.openxmlformats.org/drawingml/2006/main">
              <a:ext uri="{FF2B5EF4-FFF2-40B4-BE49-F238E27FC236}">
                <a16:creationId xmlns:a16="http://schemas.microsoft.com/office/drawing/2014/main" id="{5B1705AE-C087-4C2B-8966-E5724F644CD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76" name="Google Shape;376;p25">
            <a:extLst xmlns:a="http://schemas.openxmlformats.org/drawingml/2006/main">
              <a:ext uri="{FF2B5EF4-FFF2-40B4-BE49-F238E27FC236}">
                <a16:creationId xmlns:a16="http://schemas.microsoft.com/office/drawing/2014/main" id="{B327AE02-9CB6-4FA4-ACA3-4276152DF39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IDSA19 · BAUS25 · AUAABX20 · ABX18 · CCIFU · AUAABX26</a:t>
            </a:r>
            <a:endParaRPr/>
          </a:p>
        </p:txBody>
      </p:sp>
      <p:sp>
        <p:nvSpPr>
          <p:cNvPr id="377" name="Google Shape;377;p25">
            <a:extLst xmlns:a="http://schemas.openxmlformats.org/drawingml/2006/main">
              <a:ext uri="{FF2B5EF4-FFF2-40B4-BE49-F238E27FC236}">
                <a16:creationId xmlns:a16="http://schemas.microsoft.com/office/drawing/2014/main" id="{D976B4B2-D575-4EAE-AB87-A161794AB5A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22</a:t>
            </a:r>
            <a:endParaRPr/>
          </a:p>
        </p:txBody>
      </p:sp>
      <p:graphicFrame>
        <p:nvGraphicFramePr>
          <p:cNvPr id="385" name="Google Shape;378;p25"/>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381375"/>
                <a:gridCol w="7591425"/>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Question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Evidence or instruction</a:t>
                      </a:r>
                      <a:endParaRPr/>
                    </a:p>
                  </a:txBody>
                  <a:tcPr marL="133350" marR="133350" marT="95250" marB="76200" anchor="ctr">
                    <a:solidFill>
                      <a:srgbClr val="183343"/>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Symptomatic infection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Treat and reassess before implantation</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Asymptomatic bacteriuria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BAUS urine pathway and IDSA’s AUS-specific position differ</a:t>
                      </a:r>
                      <a:endParaRPr/>
                    </a:p>
                  </a:txBody>
                  <a:tcPr marL="133350" marR="133350" marT="95250" marB="76200" anchor="ctr">
                    <a:solidFill>
                      <a:srgbClr val="FFFFFF"/>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Complete before incision and plan appropriate redosing</a:t>
                      </a:r>
                      <a:endParaRPr/>
                    </a:p>
                  </a:txBody>
                  <a:tcPr marL="133350" marR="133350" marT="95250" marB="76200" anchor="ctr">
                    <a:solidFill>
                      <a:srgbClr val="EEF4F5"/>
                    </a:solidFill>
                  </a:tcPr>
                </a:tc>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Postoperative antibiotics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Older observational data show no clear benefit; retrieved ContiClassic IFU differs.</a:t>
                      </a:r>
                      <a:endParaRPr/>
                    </a:p>
                  </a:txBody>
                  <a:tcPr marL="133350" marR="133350" marT="95250" marB="76200" anchor="ctr">
                    <a:solidFill>
                      <a:srgbClr val="FFFFFF"/>
                    </a:solidFill>
                  </a:tcPr>
                </a:tc>
              </a:tr>
            </a:tbl>
          </a:graphicData>
        </a:graphic>
      </p:graphicFrame>
      <p:sp>
        <p:nvSpPr>
          <p:cNvPr id="379" name="Google Shape;379;p25">
            <a:extLst xmlns:a="http://schemas.openxmlformats.org/drawingml/2006/main">
              <a:ext uri="{FF2B5EF4-FFF2-40B4-BE49-F238E27FC236}">
                <a16:creationId xmlns:a16="http://schemas.microsoft.com/office/drawing/2014/main" id="{C8907D32-F2D8-4793-842C-C820ED75882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AUA 2026 IP09-18 addresses postoperative antibiotics; full results unverified. Reconcile regional IFU and local microbiology policy.</a:t>
            </a:r>
            <a:endParaRPr/>
          </a:p>
        </p:txBody>
      </p:sp>
    </p:spTree>
    <p:extLst>
      <p:ext uri="{BB962C8B-B14F-4D97-AF65-F5344CB8AC3E}">
        <p14:creationId xmlns:p14="http://schemas.microsoft.com/office/powerpoint/2010/main" val="15786274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5" name="Google Shape;385;p26">
            <a:extLst xmlns:a="http://schemas.openxmlformats.org/drawingml/2006/main">
              <a:ext uri="{FF2B5EF4-FFF2-40B4-BE49-F238E27FC236}">
                <a16:creationId xmlns:a16="http://schemas.microsoft.com/office/drawing/2014/main" id="{CC9084AF-6E65-4FE5-994F-2673872D836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Contamination control during implantation</a:t>
            </a:r>
            <a:endParaRPr/>
          </a:p>
        </p:txBody>
      </p:sp>
      <p:sp>
        <p:nvSpPr>
          <p:cNvPr id="386" name="Google Shape;386;p26">
            <a:extLst xmlns:a="http://schemas.openxmlformats.org/drawingml/2006/main">
              <a:ext uri="{FF2B5EF4-FFF2-40B4-BE49-F238E27FC236}">
                <a16:creationId xmlns:a16="http://schemas.microsoft.com/office/drawing/2014/main" id="{BB73F1A4-B4F2-432F-ADB8-5017278F673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7" name="Google Shape;387;p26">
            <a:extLst xmlns:a="http://schemas.openxmlformats.org/drawingml/2006/main">
              <a:ext uri="{FF2B5EF4-FFF2-40B4-BE49-F238E27FC236}">
                <a16:creationId xmlns:a16="http://schemas.microsoft.com/office/drawing/2014/main" id="{DC93FE13-3775-45C7-A640-A5BE43A9EC9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TOUCH23 · NICE · AP23 · CCIFU · IRRIG26</a:t>
            </a:r>
            <a:endParaRPr/>
          </a:p>
        </p:txBody>
      </p:sp>
      <p:sp>
        <p:nvSpPr>
          <p:cNvPr id="388" name="Google Shape;388;p26">
            <a:extLst xmlns:a="http://schemas.openxmlformats.org/drawingml/2006/main">
              <a:ext uri="{FF2B5EF4-FFF2-40B4-BE49-F238E27FC236}">
                <a16:creationId xmlns:a16="http://schemas.microsoft.com/office/drawing/2014/main" id="{BE421F52-3A65-4F0A-8ACF-D5A112CA6B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23</a:t>
            </a:r>
            <a:endParaRPr/>
          </a:p>
        </p:txBody>
      </p:sp>
      <p:sp>
        <p:nvSpPr>
          <p:cNvPr id="389" name="Google Shape;389;p26">
            <a:extLst xmlns:a="http://schemas.openxmlformats.org/drawingml/2006/main">
              <a:ext uri="{FF2B5EF4-FFF2-40B4-BE49-F238E27FC236}">
                <a16:creationId xmlns:a16="http://schemas.microsoft.com/office/drawing/2014/main" id="{4DAFA7B4-B6D6-418E-AC61-1A6DA692A9D6}"/>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390" name="Google Shape;390;p26">
            <a:extLst xmlns:a="http://schemas.openxmlformats.org/drawingml/2006/main">
              <a:ext uri="{FF2B5EF4-FFF2-40B4-BE49-F238E27FC236}">
                <a16:creationId xmlns:a16="http://schemas.microsoft.com/office/drawing/2014/main" id="{9A576C3D-B5EF-45EF-9E7F-F4B23E4C63E6}"/>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Protect the implant until the field is ready</a:t>
            </a:r>
            <a:endParaRPr/>
          </a:p>
        </p:txBody>
      </p:sp>
      <p:sp>
        <p:nvSpPr>
          <p:cNvPr id="391" name="Google Shape;391;p26">
            <a:extLst xmlns:a="http://schemas.openxmlformats.org/drawingml/2006/main">
              <a:ext uri="{FF2B5EF4-FFF2-40B4-BE49-F238E27FC236}">
                <a16:creationId xmlns:a16="http://schemas.microsoft.com/office/drawing/2014/main" id="{1EB2FBAB-3697-4060-9B42-5F9F5CD9F4BF}"/>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392" name="Google Shape;392;p26">
            <a:extLst xmlns:a="http://schemas.openxmlformats.org/drawingml/2006/main">
              <a:ext uri="{FF2B5EF4-FFF2-40B4-BE49-F238E27FC236}">
                <a16:creationId xmlns:a16="http://schemas.microsoft.com/office/drawing/2014/main" id="{03008294-1916-48B0-B735-C6B53D2CA294}"/>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Limit skin contact and unnecessary handling</a:t>
            </a:r>
            <a:endParaRPr/>
          </a:p>
        </p:txBody>
      </p:sp>
      <p:sp>
        <p:nvSpPr>
          <p:cNvPr id="393" name="Google Shape;393;p26">
            <a:extLst xmlns:a="http://schemas.openxmlformats.org/drawingml/2006/main">
              <a:ext uri="{FF2B5EF4-FFF2-40B4-BE49-F238E27FC236}">
                <a16:creationId xmlns:a16="http://schemas.microsoft.com/office/drawing/2014/main" id="{5AB1094B-E2D8-4C36-98C3-CFEBA5165D35}"/>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394" name="Google Shape;394;p26">
            <a:extLst xmlns:a="http://schemas.openxmlformats.org/drawingml/2006/main">
              <a:ext uri="{FF2B5EF4-FFF2-40B4-BE49-F238E27FC236}">
                <a16:creationId xmlns:a16="http://schemas.microsoft.com/office/drawing/2014/main" id="{5F51B04D-3F35-40C8-8F69-60BCCC894E34}"/>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Use fresh sterile gloves and a clean handling pause</a:t>
            </a:r>
            <a:endParaRPr/>
          </a:p>
        </p:txBody>
      </p:sp>
      <p:sp>
        <p:nvSpPr>
          <p:cNvPr id="395" name="Google Shape;395;p26">
            <a:extLst xmlns:a="http://schemas.openxmlformats.org/drawingml/2006/main">
              <a:ext uri="{FF2B5EF4-FFF2-40B4-BE49-F238E27FC236}">
                <a16:creationId xmlns:a16="http://schemas.microsoft.com/office/drawing/2014/main" id="{5F0A5239-878D-49EC-B0C8-49725619D9AC}"/>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396" name="Google Shape;396;p26">
            <a:extLst xmlns:a="http://schemas.openxmlformats.org/drawingml/2006/main">
              <a:ext uri="{FF2B5EF4-FFF2-40B4-BE49-F238E27FC236}">
                <a16:creationId xmlns:a16="http://schemas.microsoft.com/office/drawing/2014/main" id="{9E7D3A50-EFBB-41C8-B285-CF5952AD19D1}"/>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irrigation, device dipping and internal filling</a:t>
            </a:r>
            <a:endParaRPr/>
          </a:p>
        </p:txBody>
      </p:sp>
      <p:sp>
        <p:nvSpPr>
          <p:cNvPr id="397" name="Google Shape;397;p26">
            <a:extLst xmlns:a="http://schemas.openxmlformats.org/drawingml/2006/main">
              <a:ext uri="{FF2B5EF4-FFF2-40B4-BE49-F238E27FC236}">
                <a16:creationId xmlns:a16="http://schemas.microsoft.com/office/drawing/2014/main" id="{1CF769A4-55D7-49A4-B634-D4C451BCEB8A}"/>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uncoated AMS 800 cohort: 90-day SSI 1/59 with gentamicin versus 2/114 without. Wide uncertainty; no equivalence proof.</a:t>
            </a:r>
            <a:endParaRPr/>
          </a:p>
        </p:txBody>
      </p:sp>
    </p:spTree>
    <p:extLst>
      <p:ext uri="{BB962C8B-B14F-4D97-AF65-F5344CB8AC3E}">
        <p14:creationId xmlns:p14="http://schemas.microsoft.com/office/powerpoint/2010/main" val="13162128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3" name="Google Shape;403;p27">
            <a:extLst xmlns:a="http://schemas.openxmlformats.org/drawingml/2006/main">
              <a:ext uri="{FF2B5EF4-FFF2-40B4-BE49-F238E27FC236}">
                <a16:creationId xmlns:a16="http://schemas.microsoft.com/office/drawing/2014/main" id="{8CA1F6C5-3B34-4093-A784-4E503948139E}"/>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The pre-implant theatre checklist</a:t>
            </a:r>
            <a:endParaRPr/>
          </a:p>
        </p:txBody>
      </p:sp>
      <p:sp>
        <p:nvSpPr>
          <p:cNvPr id="404" name="Google Shape;404;p27">
            <a:extLst xmlns:a="http://schemas.openxmlformats.org/drawingml/2006/main">
              <a:ext uri="{FF2B5EF4-FFF2-40B4-BE49-F238E27FC236}">
                <a16:creationId xmlns:a16="http://schemas.microsoft.com/office/drawing/2014/main" id="{C06F19E9-57C7-48ED-8EED-0788E71AF7E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05" name="Google Shape;405;p27">
            <a:extLst xmlns:a="http://schemas.openxmlformats.org/drawingml/2006/main">
              <a:ext uri="{FF2B5EF4-FFF2-40B4-BE49-F238E27FC236}">
                <a16:creationId xmlns:a16="http://schemas.microsoft.com/office/drawing/2014/main" id="{4A5B670A-61F9-451C-8EB6-EF989BB10C1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NICE · BAUS25 · CCIFU · AUAABX20 · IRRIG26</a:t>
            </a:r>
            <a:endParaRPr/>
          </a:p>
        </p:txBody>
      </p:sp>
      <p:sp>
        <p:nvSpPr>
          <p:cNvPr id="406" name="Google Shape;406;p27">
            <a:extLst xmlns:a="http://schemas.openxmlformats.org/drawingml/2006/main">
              <a:ext uri="{FF2B5EF4-FFF2-40B4-BE49-F238E27FC236}">
                <a16:creationId xmlns:a16="http://schemas.microsoft.com/office/drawing/2014/main" id="{E1392E98-ABFA-43C3-A346-9D9D8D57DE4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24</a:t>
            </a:r>
            <a:endParaRPr/>
          </a:p>
        </p:txBody>
      </p:sp>
      <p:graphicFrame>
        <p:nvGraphicFramePr>
          <p:cNvPr id="412" name="Google Shape;407;p27"/>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7429500"/>
                <a:gridCol w="3543300"/>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Check</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Basis</a:t>
                      </a:r>
                      <a:endParaRPr/>
                    </a:p>
                  </a:txBody>
                  <a:tcPr marL="133350" marR="133350" marT="95250" marB="76200" anchor="ctr">
                    <a:solidFill>
                      <a:srgbClr val="183343"/>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Indication, infection review, prophylaxis and asepsis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Guidance-supported</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Antiseptic, drying, antibiotic choice and redosing</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Product and local policy</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Model, sizes, pressure, preparation and drainage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Current device instructions and local plan</a:t>
                      </a:r>
                      <a:endParaRPr/>
                    </a:p>
                  </a:txBody>
                  <a:tcPr marL="133350" marR="133350" marT="95250" marB="76200" anchor="ctr">
                    <a:solidFill>
                      <a:srgbClr val="EEF4F5"/>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Clean handling pause and contamination response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implementation</a:t>
                      </a:r>
                      <a:endParaRPr/>
                    </a:p>
                  </a:txBody>
                  <a:tcPr marL="133350" marR="133350" marT="95250" marB="76200" anchor="ctr">
                    <a:solidFill>
                      <a:srgbClr val="FFFFFF"/>
                    </a:solidFill>
                  </a:tcPr>
                </a:tc>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Fixed 15 minutes, best irrigant, prolonged 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Unresolved evidence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31805433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3" name="Google Shape;413;p28">
            <a:extLst xmlns:a="http://schemas.openxmlformats.org/drawingml/2006/main">
              <a:ext uri="{FF2B5EF4-FFF2-40B4-BE49-F238E27FC236}">
                <a16:creationId xmlns:a16="http://schemas.microsoft.com/office/drawing/2014/main" id="{D6E5CF7E-0175-44F1-A6DB-973DFFA3CBA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Positioning and exposure</a:t>
            </a:r>
            <a:endParaRPr/>
          </a:p>
        </p:txBody>
      </p:sp>
      <p:sp>
        <p:nvSpPr>
          <p:cNvPr id="414" name="Google Shape;414;p28">
            <a:extLst xmlns:a="http://schemas.openxmlformats.org/drawingml/2006/main">
              <a:ext uri="{FF2B5EF4-FFF2-40B4-BE49-F238E27FC236}">
                <a16:creationId xmlns:a16="http://schemas.microsoft.com/office/drawing/2014/main" id="{33CF9AF7-3C69-473A-B1C5-03D6BEC367B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15" name="Google Shape;415;p28">
            <a:extLst xmlns:a="http://schemas.openxmlformats.org/drawingml/2006/main">
              <a:ext uri="{FF2B5EF4-FFF2-40B4-BE49-F238E27FC236}">
                <a16:creationId xmlns:a16="http://schemas.microsoft.com/office/drawing/2014/main" id="{8B64224A-11D9-4903-9645-3D1D2D38045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AUA24 · ICS16 · AP23</a:t>
            </a:r>
            <a:endParaRPr/>
          </a:p>
        </p:txBody>
      </p:sp>
      <p:sp>
        <p:nvSpPr>
          <p:cNvPr id="416" name="Google Shape;416;p28">
            <a:extLst xmlns:a="http://schemas.openxmlformats.org/drawingml/2006/main">
              <a:ext uri="{FF2B5EF4-FFF2-40B4-BE49-F238E27FC236}">
                <a16:creationId xmlns:a16="http://schemas.microsoft.com/office/drawing/2014/main" id="{D8E3A421-75BB-4647-A36C-F2991F35EE9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25</a:t>
            </a:r>
            <a:endParaRPr/>
          </a:p>
        </p:txBody>
      </p:sp>
      <p:pic>
        <p:nvPicPr>
          <p:cNvPr id="429" name="Google Shape;417;p28"/>
          <p:cNvPicPr>
            <a:picLocks xmlns:a="http://schemas.openxmlformats.org/drawingml/2006/main" noChangeAspect="1"/>
          </p:cNvPicPr>
          <p:nvPr/>
        </p:nvPicPr>
        <p:blipFill rotWithShape="1">
          <a:blip xmlns:r="http://schemas.openxmlformats.org/officeDocument/2006/relationships" xmlns:a="http://schemas.openxmlformats.org/drawingml/2006/main" r:embed="R0a440d50116b444a">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18" name="Google Shape;418;p28">
            <a:extLst xmlns:a="http://schemas.openxmlformats.org/drawingml/2006/main">
              <a:ext uri="{FF2B5EF4-FFF2-40B4-BE49-F238E27FC236}">
                <a16:creationId xmlns:a16="http://schemas.microsoft.com/office/drawing/2014/main" id="{164DA13C-40AB-4A7A-9126-5779D876D5D8}"/>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access plan</a:t>
            </a:r>
            <a:endParaRPr/>
          </a:p>
        </p:txBody>
      </p:sp>
      <p:sp>
        <p:nvSpPr>
          <p:cNvPr id="419" name="Google Shape;419;p28">
            <a:extLst xmlns:a="http://schemas.openxmlformats.org/drawingml/2006/main">
              <a:ext uri="{FF2B5EF4-FFF2-40B4-BE49-F238E27FC236}">
                <a16:creationId xmlns:a16="http://schemas.microsoft.com/office/drawing/2014/main" id="{0206539C-FD97-40AB-B83A-959AB089E573}"/>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Respect hip mobility and protect pressure points</a:t>
            </a:r>
            <a:endParaRPr/>
          </a:p>
        </p:txBody>
      </p:sp>
      <p:sp>
        <p:nvSpPr>
          <p:cNvPr id="420" name="Google Shape;420;p28">
            <a:extLst xmlns:a="http://schemas.openxmlformats.org/drawingml/2006/main">
              <a:ext uri="{FF2B5EF4-FFF2-40B4-BE49-F238E27FC236}">
                <a16:creationId xmlns:a16="http://schemas.microsoft.com/office/drawing/2014/main" id="{70741B21-B5A6-40D8-B085-41B34F34644E}"/>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Plan perineal, abdominal and pump access together</a:t>
            </a:r>
            <a:endParaRPr/>
          </a:p>
        </p:txBody>
      </p:sp>
      <p:sp>
        <p:nvSpPr>
          <p:cNvPr id="421" name="Google Shape;421;p28">
            <a:extLst xmlns:a="http://schemas.openxmlformats.org/drawingml/2006/main">
              <a:ext uri="{FF2B5EF4-FFF2-40B4-BE49-F238E27FC236}">
                <a16:creationId xmlns:a16="http://schemas.microsoft.com/office/drawing/2014/main" id="{02DE75CF-BA08-49F9-BEE3-1FEAE854BAAA}"/>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Review scars, mesh, previous devices and repairs</a:t>
            </a:r>
            <a:endParaRPr/>
          </a:p>
        </p:txBody>
      </p:sp>
      <p:sp>
        <p:nvSpPr>
          <p:cNvPr id="422" name="Google Shape;422;p28">
            <a:extLst xmlns:a="http://schemas.openxmlformats.org/drawingml/2006/main">
              <a:ext uri="{FF2B5EF4-FFF2-40B4-BE49-F238E27FC236}">
                <a16:creationId xmlns:a16="http://schemas.microsoft.com/office/drawing/2014/main" id="{8EB4ABD0-C7E9-40FD-A15D-E5030BF9E850}"/>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Improve limited exposure before further dissection</a:t>
            </a:r>
            <a:endParaRPr/>
          </a:p>
        </p:txBody>
      </p:sp>
      <p:sp>
        <p:nvSpPr>
          <p:cNvPr id="423" name="Google Shape;423;p28">
            <a:extLst xmlns:a="http://schemas.openxmlformats.org/drawingml/2006/main">
              <a:ext uri="{FF2B5EF4-FFF2-40B4-BE49-F238E27FC236}">
                <a16:creationId xmlns:a16="http://schemas.microsoft.com/office/drawing/2014/main" id="{17CA8218-A5B8-4CDD-8507-21E46A3885B7}"/>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03991948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9" name="Google Shape;429;p29">
            <a:extLst xmlns:a="http://schemas.openxmlformats.org/drawingml/2006/main">
              <a:ext uri="{FF2B5EF4-FFF2-40B4-BE49-F238E27FC236}">
                <a16:creationId xmlns:a16="http://schemas.microsoft.com/office/drawing/2014/main" id="{38FE3B8E-2D84-4AEB-AA7A-0B16C259216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Bulbar dissection and tissue preservation</a:t>
            </a:r>
            <a:endParaRPr/>
          </a:p>
        </p:txBody>
      </p:sp>
      <p:sp>
        <p:nvSpPr>
          <p:cNvPr id="430" name="Google Shape;430;p29">
            <a:extLst xmlns:a="http://schemas.openxmlformats.org/drawingml/2006/main">
              <a:ext uri="{FF2B5EF4-FFF2-40B4-BE49-F238E27FC236}">
                <a16:creationId xmlns:a16="http://schemas.microsoft.com/office/drawing/2014/main" id="{C5A9169D-BBB9-47CE-8D69-EC6B1F97D3F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31" name="Google Shape;431;p29">
            <a:extLst xmlns:a="http://schemas.openxmlformats.org/drawingml/2006/main">
              <a:ext uri="{FF2B5EF4-FFF2-40B4-BE49-F238E27FC236}">
                <a16:creationId xmlns:a16="http://schemas.microsoft.com/office/drawing/2014/main" id="{B2D622FC-5834-4B2C-A157-F86045CB9C9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 · URETH26</a:t>
            </a:r>
            <a:endParaRPr/>
          </a:p>
        </p:txBody>
      </p:sp>
      <p:sp>
        <p:nvSpPr>
          <p:cNvPr id="432" name="Google Shape;432;p29">
            <a:extLst xmlns:a="http://schemas.openxmlformats.org/drawingml/2006/main">
              <a:ext uri="{FF2B5EF4-FFF2-40B4-BE49-F238E27FC236}">
                <a16:creationId xmlns:a16="http://schemas.microsoft.com/office/drawing/2014/main" id="{60C0D270-5EC3-437B-8DA5-4CFE6FA0EFF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26</a:t>
            </a:r>
            <a:endParaRPr/>
          </a:p>
        </p:txBody>
      </p:sp>
      <p:pic>
        <p:nvPicPr>
          <p:cNvPr id="445" name="Google Shape;433;p29"/>
          <p:cNvPicPr>
            <a:picLocks xmlns:a="http://schemas.openxmlformats.org/drawingml/2006/main" noChangeAspect="1"/>
          </p:cNvPicPr>
          <p:nvPr/>
        </p:nvPicPr>
        <p:blipFill rotWithShape="1">
          <a:blip xmlns:r="http://schemas.openxmlformats.org/officeDocument/2006/relationships" xmlns:a="http://schemas.openxmlformats.org/drawingml/2006/main" r:embed="R498b90db5ea14efe">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34" name="Google Shape;434;p29">
            <a:extLst xmlns:a="http://schemas.openxmlformats.org/drawingml/2006/main">
              <a:ext uri="{FF2B5EF4-FFF2-40B4-BE49-F238E27FC236}">
                <a16:creationId xmlns:a16="http://schemas.microsoft.com/office/drawing/2014/main" id="{996335CC-5417-47BF-9535-373CC8FCFC14}"/>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The cuff-bearing segment</a:t>
            </a:r>
            <a:endParaRPr/>
          </a:p>
        </p:txBody>
      </p:sp>
      <p:sp>
        <p:nvSpPr>
          <p:cNvPr id="435" name="Google Shape;435;p29">
            <a:extLst xmlns:a="http://schemas.openxmlformats.org/drawingml/2006/main">
              <a:ext uri="{FF2B5EF4-FFF2-40B4-BE49-F238E27FC236}">
                <a16:creationId xmlns:a16="http://schemas.microsoft.com/office/drawing/2014/main" id="{6D0D3D38-DB26-46E6-B298-30C9938D570C}"/>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Viable tissue with adequate spongiosal support</a:t>
            </a:r>
            <a:endParaRPr/>
          </a:p>
        </p:txBody>
      </p:sp>
      <p:sp>
        <p:nvSpPr>
          <p:cNvPr id="436" name="Google Shape;436;p29">
            <a:extLst xmlns:a="http://schemas.openxmlformats.org/drawingml/2006/main">
              <a:ext uri="{FF2B5EF4-FFF2-40B4-BE49-F238E27FC236}">
                <a16:creationId xmlns:a16="http://schemas.microsoft.com/office/drawing/2014/main" id="{6FD545B7-434B-4F5D-A155-682B1139DCCB}"/>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Dorsal dissection under direct control</a:t>
            </a:r>
            <a:endParaRPr/>
          </a:p>
        </p:txBody>
      </p:sp>
      <p:sp>
        <p:nvSpPr>
          <p:cNvPr id="437" name="Google Shape;437;p29">
            <a:extLst xmlns:a="http://schemas.openxmlformats.org/drawingml/2006/main">
              <a:ext uri="{FF2B5EF4-FFF2-40B4-BE49-F238E27FC236}">
                <a16:creationId xmlns:a16="http://schemas.microsoft.com/office/drawing/2014/main" id="{4C20508B-D3C1-478C-A24A-ED8BBD7D9CBC}"/>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Mobilisation limited to the required length</a:t>
            </a:r>
            <a:endParaRPr/>
          </a:p>
        </p:txBody>
      </p:sp>
      <p:sp>
        <p:nvSpPr>
          <p:cNvPr id="438" name="Google Shape;438;p29">
            <a:extLst xmlns:a="http://schemas.openxmlformats.org/drawingml/2006/main">
              <a:ext uri="{FF2B5EF4-FFF2-40B4-BE49-F238E27FC236}">
                <a16:creationId xmlns:a16="http://schemas.microsoft.com/office/drawing/2014/main" id="{254D98E3-AA75-4272-9F73-7094019D5CDC}"/>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Uncertain plane or integrity prompts reassessment</a:t>
            </a:r>
            <a:endParaRPr/>
          </a:p>
        </p:txBody>
      </p:sp>
      <p:sp>
        <p:nvSpPr>
          <p:cNvPr id="439" name="Google Shape;439;p29">
            <a:extLst xmlns:a="http://schemas.openxmlformats.org/drawingml/2006/main">
              <a:ext uri="{FF2B5EF4-FFF2-40B4-BE49-F238E27FC236}">
                <a16:creationId xmlns:a16="http://schemas.microsoft.com/office/drawing/2014/main" id="{45E2AE94-FC64-45CF-B486-54A4BFE869F0}"/>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02147907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5" name="Google Shape;445;p30">
            <a:extLst xmlns:a="http://schemas.openxmlformats.org/drawingml/2006/main">
              <a:ext uri="{FF2B5EF4-FFF2-40B4-BE49-F238E27FC236}">
                <a16:creationId xmlns:a16="http://schemas.microsoft.com/office/drawing/2014/main" id="{75607064-1407-43CC-9C6A-1E5441DF3F2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Cuff measurement and fit</a:t>
            </a:r>
            <a:endParaRPr/>
          </a:p>
        </p:txBody>
      </p:sp>
      <p:sp>
        <p:nvSpPr>
          <p:cNvPr id="446" name="Google Shape;446;p30">
            <a:extLst xmlns:a="http://schemas.openxmlformats.org/drawingml/2006/main">
              <a:ext uri="{FF2B5EF4-FFF2-40B4-BE49-F238E27FC236}">
                <a16:creationId xmlns:a16="http://schemas.microsoft.com/office/drawing/2014/main" id="{B2AFE15C-370E-4C7A-A99F-17D33C21BE8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47" name="Google Shape;447;p30">
            <a:extLst xmlns:a="http://schemas.openxmlformats.org/drawingml/2006/main">
              <a:ext uri="{FF2B5EF4-FFF2-40B4-BE49-F238E27FC236}">
                <a16:creationId xmlns:a16="http://schemas.microsoft.com/office/drawing/2014/main" id="{EB39C91C-9019-4D0D-A70B-2CEFB7C4450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CCIFU · CCSAFETY · AP23</a:t>
            </a:r>
            <a:endParaRPr/>
          </a:p>
        </p:txBody>
      </p:sp>
      <p:sp>
        <p:nvSpPr>
          <p:cNvPr id="448" name="Google Shape;448;p30">
            <a:extLst xmlns:a="http://schemas.openxmlformats.org/drawingml/2006/main">
              <a:ext uri="{FF2B5EF4-FFF2-40B4-BE49-F238E27FC236}">
                <a16:creationId xmlns:a16="http://schemas.microsoft.com/office/drawing/2014/main" id="{072EDBC4-39E1-4C86-8BFC-BC899E80894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27</a:t>
            </a:r>
            <a:endParaRPr/>
          </a:p>
        </p:txBody>
      </p:sp>
      <p:pic>
        <p:nvPicPr>
          <p:cNvPr id="461" name="Google Shape;449;p30"/>
          <p:cNvPicPr>
            <a:picLocks xmlns:a="http://schemas.openxmlformats.org/drawingml/2006/main" noChangeAspect="1"/>
          </p:cNvPicPr>
          <p:nvPr/>
        </p:nvPicPr>
        <p:blipFill rotWithShape="1">
          <a:blip xmlns:r="http://schemas.openxmlformats.org/officeDocument/2006/relationships" xmlns:a="http://schemas.openxmlformats.org/drawingml/2006/main" r:embed="Red82c222ed294b0a">
            <a:alphaModFix/>
          </a:blip>
          <a:srcRect xmlns:a="http://schemas.openxmlformats.org/drawingml/2006/main" l="0" t="0" r="0" b="0"/>
          <a:stretch xmlns:a="http://schemas.openxmlformats.org/drawingml/2006/main"/>
        </p:blipFill>
        <p:spPr>
          <a:xfrm xmlns:a="http://schemas.openxmlformats.org/drawingml/2006/main">
            <a:off x="817033" y="1809750"/>
            <a:ext cx="6062133" cy="3409950"/>
          </a:xfrm>
          <a:prstGeom xmlns:a="http://schemas.openxmlformats.org/drawingml/2006/main" prst="rect">
            <a:avLst/>
          </a:prstGeom>
          <a:ln xmlns:a="http://schemas.openxmlformats.org/drawingml/2006/main">
            <a:noFill/>
          </a:ln>
        </p:spPr>
      </p:pic>
      <p:sp>
        <p:nvSpPr>
          <p:cNvPr id="450" name="Google Shape;450;p30">
            <a:extLst xmlns:a="http://schemas.openxmlformats.org/drawingml/2006/main">
              <a:ext uri="{FF2B5EF4-FFF2-40B4-BE49-F238E27FC236}">
                <a16:creationId xmlns:a16="http://schemas.microsoft.com/office/drawing/2014/main" id="{EA703599-7DE4-40FD-B6F7-041B410DC871}"/>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Sizing errors</a:t>
            </a:r>
            <a:endParaRPr/>
          </a:p>
        </p:txBody>
      </p:sp>
      <p:sp>
        <p:nvSpPr>
          <p:cNvPr id="451" name="Google Shape;451;p30">
            <a:extLst xmlns:a="http://schemas.openxmlformats.org/drawingml/2006/main">
              <a:ext uri="{FF2B5EF4-FFF2-40B4-BE49-F238E27FC236}">
                <a16:creationId xmlns:a16="http://schemas.microsoft.com/office/drawing/2014/main" id="{24844A3A-12DC-420A-84BC-E160A1707E60}"/>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Release traction and artificial compression</a:t>
            </a:r>
            <a:endParaRPr/>
          </a:p>
        </p:txBody>
      </p:sp>
      <p:sp>
        <p:nvSpPr>
          <p:cNvPr id="452" name="Google Shape;452;p30">
            <a:extLst xmlns:a="http://schemas.openxmlformats.org/drawingml/2006/main">
              <a:ext uri="{FF2B5EF4-FFF2-40B4-BE49-F238E27FC236}">
                <a16:creationId xmlns:a16="http://schemas.microsoft.com/office/drawing/2014/main" id="{114E1406-887A-49CC-A8C5-1AF7D3712B55}"/>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Confirm which tissue the cuff will enclose</a:t>
            </a:r>
            <a:endParaRPr/>
          </a:p>
        </p:txBody>
      </p:sp>
      <p:sp>
        <p:nvSpPr>
          <p:cNvPr id="453" name="Google Shape;453;p30">
            <a:extLst xmlns:a="http://schemas.openxmlformats.org/drawingml/2006/main">
              <a:ext uri="{FF2B5EF4-FFF2-40B4-BE49-F238E27FC236}">
                <a16:creationId xmlns:a16="http://schemas.microsoft.com/office/drawing/2014/main" id="{0EBCE52F-7F16-453C-8708-8A0458A33DB1}"/>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exact system’s supplied sizing method</a:t>
            </a:r>
            <a:endParaRPr/>
          </a:p>
        </p:txBody>
      </p:sp>
      <p:sp>
        <p:nvSpPr>
          <p:cNvPr id="454" name="Google Shape;454;p30">
            <a:extLst xmlns:a="http://schemas.openxmlformats.org/drawingml/2006/main">
              <a:ext uri="{FF2B5EF4-FFF2-40B4-BE49-F238E27FC236}">
                <a16:creationId xmlns:a16="http://schemas.microsoft.com/office/drawing/2014/main" id="{D4FC9842-ACFA-4875-9121-FE6D8CFE9AB8}"/>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poor fit rather than increasing pressure</a:t>
            </a:r>
            <a:endParaRPr/>
          </a:p>
        </p:txBody>
      </p:sp>
      <p:sp>
        <p:nvSpPr>
          <p:cNvPr id="455" name="Google Shape;455;p30">
            <a:extLst xmlns:a="http://schemas.openxmlformats.org/drawingml/2006/main">
              <a:ext uri="{FF2B5EF4-FFF2-40B4-BE49-F238E27FC236}">
                <a16:creationId xmlns:a16="http://schemas.microsoft.com/office/drawing/2014/main" id="{E8303E68-A56E-4D44-9644-0E8D9014CB39}"/>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83647663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1" name="Google Shape;461;p31">
            <a:extLst xmlns:a="http://schemas.openxmlformats.org/drawingml/2006/main">
              <a:ext uri="{FF2B5EF4-FFF2-40B4-BE49-F238E27FC236}">
                <a16:creationId xmlns:a16="http://schemas.microsoft.com/office/drawing/2014/main" id="{2B172A03-9773-4664-B814-05EFC798E0D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Urethral injury or contamination</a:t>
            </a:r>
            <a:endParaRPr/>
          </a:p>
        </p:txBody>
      </p:sp>
      <p:sp>
        <p:nvSpPr>
          <p:cNvPr id="462" name="Google Shape;462;p31">
            <a:extLst xmlns:a="http://schemas.openxmlformats.org/drawingml/2006/main">
              <a:ext uri="{FF2B5EF4-FFF2-40B4-BE49-F238E27FC236}">
                <a16:creationId xmlns:a16="http://schemas.microsoft.com/office/drawing/2014/main" id="{AF2D210E-80DA-4FCB-8E23-531EB98A758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63" name="Google Shape;463;p31">
            <a:extLst xmlns:a="http://schemas.openxmlformats.org/drawingml/2006/main">
              <a:ext uri="{FF2B5EF4-FFF2-40B4-BE49-F238E27FC236}">
                <a16:creationId xmlns:a16="http://schemas.microsoft.com/office/drawing/2014/main" id="{2B33D3F0-5AA2-42CE-A712-1FDD1AEFFF9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AP23 · ICS16 · CCIFU</a:t>
            </a:r>
            <a:endParaRPr/>
          </a:p>
        </p:txBody>
      </p:sp>
      <p:sp>
        <p:nvSpPr>
          <p:cNvPr id="464" name="Google Shape;464;p31">
            <a:extLst xmlns:a="http://schemas.openxmlformats.org/drawingml/2006/main">
              <a:ext uri="{FF2B5EF4-FFF2-40B4-BE49-F238E27FC236}">
                <a16:creationId xmlns:a16="http://schemas.microsoft.com/office/drawing/2014/main" id="{57916E43-341F-4466-AA20-76830732286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28</a:t>
            </a:r>
            <a:endParaRPr/>
          </a:p>
        </p:txBody>
      </p:sp>
      <p:sp>
        <p:nvSpPr>
          <p:cNvPr id="465" name="Google Shape;465;p31">
            <a:extLst xmlns:a="http://schemas.openxmlformats.org/drawingml/2006/main">
              <a:ext uri="{FF2B5EF4-FFF2-40B4-BE49-F238E27FC236}">
                <a16:creationId xmlns:a16="http://schemas.microsoft.com/office/drawing/2014/main" id="{1B47BB45-D5FB-4716-9593-0E7E4394613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The endpoint can change</a:t>
            </a:r>
            <a:endParaRPr/>
          </a:p>
          <a:p xmlns:a="http://schemas.openxmlformats.org/drawingml/2006/main">
            <a:pPr marL="0" marR="0" lvl="0" indent="0" algn="l">
              <a:spcBef>
                <a:spcPts val="0"/>
              </a:spcBef>
              <a:spcAft>
                <a:spcPts val="0"/>
              </a:spcAft>
              <a:buNone/>
            </a:pPr>
            <a:r>
              <a:rPr sz="3150" b="1">
                <a:solidFill>
                  <a:srgbClr val="A64135"/>
                </a:solidFill>
                <a:latin typeface="Arial"/>
                <a:ea typeface="Arial"/>
                <a:cs typeface="Arial"/>
              </a:rPr>
              <a:t>to repair and safe drainage</a:t>
            </a:r>
            <a:endParaRPr/>
          </a:p>
        </p:txBody>
      </p:sp>
      <p:sp>
        <p:nvSpPr>
          <p:cNvPr id="466" name="Google Shape;466;p31">
            <a:extLst xmlns:a="http://schemas.openxmlformats.org/drawingml/2006/main">
              <a:ext uri="{FF2B5EF4-FFF2-40B4-BE49-F238E27FC236}">
                <a16:creationId xmlns:a16="http://schemas.microsoft.com/office/drawing/2014/main" id="{DFB48EF6-C83C-4A14-8194-A73DE9322C73}"/>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Confirm uncertain integrity with controlled testing or endoscopy</a:t>
            </a:r>
            <a:endParaRPr/>
          </a:p>
        </p:txBody>
      </p:sp>
      <p:sp>
        <p:nvSpPr>
          <p:cNvPr id="467" name="Google Shape;467;p31">
            <a:extLst xmlns:a="http://schemas.openxmlformats.org/drawingml/2006/main">
              <a:ext uri="{FF2B5EF4-FFF2-40B4-BE49-F238E27FC236}">
                <a16:creationId xmlns:a16="http://schemas.microsoft.com/office/drawing/2014/main" id="{F395A026-CF83-4790-9275-611A7E1068AD}"/>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Recognised urethral injury prompts stopping implantation</a:t>
            </a:r>
            <a:endParaRPr/>
          </a:p>
        </p:txBody>
      </p:sp>
      <p:sp>
        <p:nvSpPr>
          <p:cNvPr id="468" name="Google Shape;468;p31">
            <a:extLst xmlns:a="http://schemas.openxmlformats.org/drawingml/2006/main">
              <a:ext uri="{FF2B5EF4-FFF2-40B4-BE49-F238E27FC236}">
                <a16:creationId xmlns:a16="http://schemas.microsoft.com/office/drawing/2014/main" id="{23B1B9C9-E842-432B-8ED9-CE18AC5817E1}"/>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0">
                <a:solidFill>
                  <a:srgbClr val="183343"/>
                </a:solidFill>
                <a:latin typeface="Arial"/>
                <a:ea typeface="Arial"/>
                <a:cs typeface="Arial"/>
              </a:rPr>
              <a:t>Replace contaminated disposables and restore the clean setup</a:t>
            </a:r>
            <a:endParaRPr/>
          </a:p>
        </p:txBody>
      </p:sp>
      <p:sp>
        <p:nvSpPr>
          <p:cNvPr id="469" name="Google Shape;469;p31">
            <a:extLst xmlns:a="http://schemas.openxmlformats.org/drawingml/2006/main">
              <a:ext uri="{FF2B5EF4-FFF2-40B4-BE49-F238E27FC236}">
                <a16:creationId xmlns:a16="http://schemas.microsoft.com/office/drawing/2014/main" id="{B373F84C-4ED2-400C-96C9-097218CD58A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An improvised antiseptic soak cannot rescue a contaminated single-use implant.</a:t>
            </a:r>
            <a:endParaRPr/>
          </a:p>
        </p:txBody>
      </p:sp>
    </p:spTree>
    <p:extLst>
      <p:ext uri="{BB962C8B-B14F-4D97-AF65-F5344CB8AC3E}">
        <p14:creationId xmlns:p14="http://schemas.microsoft.com/office/powerpoint/2010/main" val="1742321771"/>
      </p:ext>
    </p:extLst>
  </p:cSld>
</p:sld>
</file>

<file path=ppt/slides/slide30.xml><?xml version="1.0" encoding="utf-8"?>
<p:sld xmlns:p="http://schemas.openxmlformats.org/presentationml/2006/main">
  <p:cSld>
    <p:bg>
      <p:bgPr>
        <a:solidFill xmlns:a="http://schemas.openxmlformats.org/drawingml/2006/main">
          <a:srgbClr val="15272F"/>
        </a:solidFill>
      </p:bgPr>
    </p:bg>
    <p:spTree>
      <p:nvGrpSpPr>
        <p:cNvPr id="1" name=""/>
        <p:cNvGrpSpPr/>
        <p:nvPr/>
      </p:nvGrpSpPr>
      <p:grpSpPr>
        <a:xfrm xmlns:a="http://schemas.openxmlformats.org/drawingml/2006/main"/>
      </p:grpSpPr>
      <p:sp>
        <p:nvSpPr>
          <p:cNvPr id="475" name="Google Shape;475;p32">
            <a:extLst xmlns:a="http://schemas.openxmlformats.org/drawingml/2006/main">
              <a:ext uri="{FF2B5EF4-FFF2-40B4-BE49-F238E27FC236}">
                <a16:creationId xmlns:a16="http://schemas.microsoft.com/office/drawing/2014/main" id="{E0A891B1-71E5-4347-9ECD-94D726B11541}"/>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FFFFFF"/>
                </a:solidFill>
                <a:latin typeface="Arial"/>
                <a:ea typeface="Arial"/>
                <a:cs typeface="Arial"/>
              </a:rPr>
              <a:t>Balloon pocket and pressure selection</a:t>
            </a:r>
            <a:endParaRPr/>
          </a:p>
        </p:txBody>
      </p:sp>
      <p:sp>
        <p:nvSpPr>
          <p:cNvPr id="476" name="Google Shape;476;p32">
            <a:extLst xmlns:a="http://schemas.openxmlformats.org/drawingml/2006/main">
              <a:ext uri="{FF2B5EF4-FFF2-40B4-BE49-F238E27FC236}">
                <a16:creationId xmlns:a16="http://schemas.microsoft.com/office/drawing/2014/main" id="{9F1BEDA4-D2F7-40AD-B188-EB2DAA8E3A1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77" name="Google Shape;477;p32">
            <a:extLst xmlns:a="http://schemas.openxmlformats.org/drawingml/2006/main">
              <a:ext uri="{FF2B5EF4-FFF2-40B4-BE49-F238E27FC236}">
                <a16:creationId xmlns:a16="http://schemas.microsoft.com/office/drawing/2014/main" id="{8E95ECB9-E0F3-408A-995B-477C10B8110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B5C6CB"/>
                </a:solidFill>
                <a:latin typeface="Arial"/>
                <a:ea typeface="Arial"/>
                <a:cs typeface="Arial"/>
              </a:rPr>
              <a:t>CCIFU · AP23 · ICS16</a:t>
            </a:r>
            <a:endParaRPr/>
          </a:p>
        </p:txBody>
      </p:sp>
      <p:sp>
        <p:nvSpPr>
          <p:cNvPr id="478" name="Google Shape;478;p32">
            <a:extLst xmlns:a="http://schemas.openxmlformats.org/drawingml/2006/main">
              <a:ext uri="{FF2B5EF4-FFF2-40B4-BE49-F238E27FC236}">
                <a16:creationId xmlns:a16="http://schemas.microsoft.com/office/drawing/2014/main" id="{878B2FDB-D90E-49CC-A51C-32FB8284757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B5C6CB"/>
                </a:solidFill>
                <a:latin typeface="Arial"/>
                <a:ea typeface="Arial"/>
                <a:cs typeface="Arial"/>
              </a:rPr>
              <a:t>29</a:t>
            </a:r>
            <a:endParaRPr/>
          </a:p>
        </p:txBody>
      </p:sp>
      <p:pic>
        <p:nvPicPr>
          <p:cNvPr id="491" name="Google Shape;479;p32"/>
          <p:cNvPicPr>
            <a:picLocks xmlns:a="http://schemas.openxmlformats.org/drawingml/2006/main" noChangeAspect="1"/>
          </p:cNvPicPr>
          <p:nvPr/>
        </p:nvPicPr>
        <p:blipFill rotWithShape="1">
          <a:blip xmlns:r="http://schemas.openxmlformats.org/officeDocument/2006/relationships" xmlns:a="http://schemas.openxmlformats.org/drawingml/2006/main" r:embed="Rc03584ee61754edb">
            <a:alphaModFix/>
          </a:blip>
          <a:srcRect xmlns:a="http://schemas.openxmlformats.org/drawingml/2006/main" l="0" t="0" r="0" b="0"/>
          <a:stretch xmlns:a="http://schemas.openxmlformats.org/drawingml/2006/main"/>
        </p:blipFill>
        <p:spPr>
          <a:xfrm xmlns:a="http://schemas.openxmlformats.org/drawingml/2006/main">
            <a:off x="1504950" y="1619250"/>
            <a:ext cx="4019550" cy="4019550"/>
          </a:xfrm>
          <a:prstGeom xmlns:a="http://schemas.openxmlformats.org/drawingml/2006/main" prst="rect">
            <a:avLst/>
          </a:prstGeom>
          <a:ln xmlns:a="http://schemas.openxmlformats.org/drawingml/2006/main">
            <a:noFill/>
          </a:ln>
        </p:spPr>
      </p:pic>
      <p:sp>
        <p:nvSpPr>
          <p:cNvPr id="480" name="Google Shape;480;p32">
            <a:extLst xmlns:a="http://schemas.openxmlformats.org/drawingml/2006/main">
              <a:ext uri="{FF2B5EF4-FFF2-40B4-BE49-F238E27FC236}">
                <a16:creationId xmlns:a16="http://schemas.microsoft.com/office/drawing/2014/main" id="{262C754A-8FAE-4B62-A1BA-4ED9754B2AE5}"/>
              </a:ext>
            </a:extLst>
          </p:cNvPr>
          <p:cNvSpPr>
            <a:spLocks xmlns:a="http://schemas.openxmlformats.org/drawingml/2006/main" noGrp="1"/>
          </p:cNvSpPr>
          <p:nvPr/>
        </p:nvSpPr>
        <p:spPr>
          <a:xfrm xmlns:a="http://schemas.openxmlformats.org/drawingml/2006/main">
            <a:off x="6915150" y="1885950"/>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ContiClassic label</a:t>
            </a:r>
            <a:endParaRPr/>
          </a:p>
        </p:txBody>
      </p:sp>
      <p:sp>
        <p:nvSpPr>
          <p:cNvPr id="481" name="Google Shape;481;p32">
            <a:extLst xmlns:a="http://schemas.openxmlformats.org/drawingml/2006/main">
              <a:ext uri="{FF2B5EF4-FFF2-40B4-BE49-F238E27FC236}">
                <a16:creationId xmlns:a16="http://schemas.microsoft.com/office/drawing/2014/main" id="{2DC743D2-DD9E-4E29-B855-0674935E5D6E}"/>
              </a:ext>
            </a:extLst>
          </p:cNvPr>
          <p:cNvSpPr>
            <a:spLocks xmlns:a="http://schemas.openxmlformats.org/drawingml/2006/main" noGrp="1"/>
          </p:cNvSpPr>
          <p:nvPr/>
        </p:nvSpPr>
        <p:spPr>
          <a:xfrm xmlns:a="http://schemas.openxmlformats.org/drawingml/2006/main">
            <a:off x="6915150" y="2400300"/>
            <a:ext cx="4667250" cy="619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FFFFF"/>
                </a:solidFill>
                <a:latin typeface="Arial"/>
                <a:ea typeface="Arial"/>
                <a:cs typeface="Arial"/>
              </a:rPr>
              <a:t>60–69 cmH₂O</a:t>
            </a:r>
            <a:endParaRPr/>
          </a:p>
        </p:txBody>
      </p:sp>
      <p:sp>
        <p:nvSpPr>
          <p:cNvPr id="482" name="Google Shape;482;p32">
            <a:extLst xmlns:a="http://schemas.openxmlformats.org/drawingml/2006/main">
              <a:ext uri="{FF2B5EF4-FFF2-40B4-BE49-F238E27FC236}">
                <a16:creationId xmlns:a16="http://schemas.microsoft.com/office/drawing/2014/main" id="{FAE54296-6269-43B1-B001-058FB10841A9}"/>
              </a:ext>
            </a:extLst>
          </p:cNvPr>
          <p:cNvSpPr>
            <a:spLocks xmlns:a="http://schemas.openxmlformats.org/drawingml/2006/main" noGrp="1"/>
          </p:cNvSpPr>
          <p:nvPr/>
        </p:nvSpPr>
        <p:spPr>
          <a:xfrm xmlns:a="http://schemas.openxmlformats.org/drawingml/2006/main">
            <a:off x="6915150" y="3248025"/>
            <a:ext cx="466725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80CDD0"/>
                </a:solidFill>
                <a:latin typeface="Arial"/>
                <a:ea typeface="Arial"/>
                <a:cs typeface="Arial"/>
              </a:rPr>
              <a:t>AMS 800 consensus</a:t>
            </a:r>
            <a:endParaRPr/>
          </a:p>
        </p:txBody>
      </p:sp>
      <p:sp>
        <p:nvSpPr>
          <p:cNvPr id="483" name="Google Shape;483;p32">
            <a:extLst xmlns:a="http://schemas.openxmlformats.org/drawingml/2006/main">
              <a:ext uri="{FF2B5EF4-FFF2-40B4-BE49-F238E27FC236}">
                <a16:creationId xmlns:a16="http://schemas.microsoft.com/office/drawing/2014/main" id="{D8C57348-499D-4043-9B94-A3C03555CF80}"/>
              </a:ext>
            </a:extLst>
          </p:cNvPr>
          <p:cNvSpPr>
            <a:spLocks xmlns:a="http://schemas.openxmlformats.org/drawingml/2006/main" noGrp="1"/>
          </p:cNvSpPr>
          <p:nvPr/>
        </p:nvSpPr>
        <p:spPr>
          <a:xfrm xmlns:a="http://schemas.openxmlformats.org/drawingml/2006/main">
            <a:off x="6915150" y="3762375"/>
            <a:ext cx="4667250" cy="1000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FFFFFF"/>
                </a:solidFill>
                <a:latin typeface="Arial"/>
                <a:ea typeface="Arial"/>
                <a:cs typeface="Arial"/>
              </a:rPr>
              <a:t>Commonly 61–70 cmH₂O</a:t>
            </a:r>
            <a:endParaRPr/>
          </a:p>
        </p:txBody>
      </p:sp>
      <p:sp>
        <p:nvSpPr>
          <p:cNvPr id="484" name="Google Shape;484;p32">
            <a:extLst xmlns:a="http://schemas.openxmlformats.org/drawingml/2006/main">
              <a:ext uri="{FF2B5EF4-FFF2-40B4-BE49-F238E27FC236}">
                <a16:creationId xmlns:a16="http://schemas.microsoft.com/office/drawing/2014/main" id="{E06D3F20-D343-42CD-87DE-4FE9033C9E3B}"/>
              </a:ext>
            </a:extLst>
          </p:cNvPr>
          <p:cNvSpPr>
            <a:spLocks xmlns:a="http://schemas.openxmlformats.org/drawingml/2006/main" noGrp="1"/>
          </p:cNvSpPr>
          <p:nvPr/>
        </p:nvSpPr>
        <p:spPr>
          <a:xfrm xmlns:a="http://schemas.openxmlformats.org/drawingml/2006/main">
            <a:off x="6915150" y="4943475"/>
            <a:ext cx="4667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0">
                <a:solidFill>
                  <a:srgbClr val="CFDBDE"/>
                </a:solidFill>
                <a:latin typeface="Arial"/>
                <a:ea typeface="Arial"/>
                <a:cs typeface="Arial"/>
              </a:rPr>
              <a:t>These ranges are device-specific</a:t>
            </a:r>
            <a:endParaRPr/>
          </a:p>
        </p:txBody>
      </p:sp>
      <p:sp>
        <p:nvSpPr>
          <p:cNvPr id="485" name="Google Shape;485;p32">
            <a:extLst xmlns:a="http://schemas.openxmlformats.org/drawingml/2006/main">
              <a:ext uri="{FF2B5EF4-FFF2-40B4-BE49-F238E27FC236}">
                <a16:creationId xmlns:a16="http://schemas.microsoft.com/office/drawing/2014/main" id="{D8FA7C24-6512-470F-9073-4428B4D3BA8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CFDBDE"/>
                </a:solidFill>
                <a:latin typeface="Arial"/>
                <a:ea typeface="Arial"/>
                <a:cs typeface="Arial"/>
              </a:rPr>
              <a:t>A safe pocket and the correct pressure component are separate decisions. Fill volumes and selection rules require the current OR protocol.</a:t>
            </a:r>
            <a:endParaRPr/>
          </a:p>
        </p:txBody>
      </p:sp>
    </p:spTree>
    <p:extLst>
      <p:ext uri="{BB962C8B-B14F-4D97-AF65-F5344CB8AC3E}">
        <p14:creationId xmlns:p14="http://schemas.microsoft.com/office/powerpoint/2010/main" val="408167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91" name="Google Shape;491;p33">
            <a:extLst xmlns:a="http://schemas.openxmlformats.org/drawingml/2006/main">
              <a:ext uri="{FF2B5EF4-FFF2-40B4-BE49-F238E27FC236}">
                <a16:creationId xmlns:a16="http://schemas.microsoft.com/office/drawing/2014/main" id="{6B67FF5F-FA61-45CE-ACEE-168FB31B93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Pump position and patient access</a:t>
            </a:r>
            <a:endParaRPr/>
          </a:p>
        </p:txBody>
      </p:sp>
      <p:sp>
        <p:nvSpPr>
          <p:cNvPr id="492" name="Google Shape;492;p33">
            <a:extLst xmlns:a="http://schemas.openxmlformats.org/drawingml/2006/main">
              <a:ext uri="{FF2B5EF4-FFF2-40B4-BE49-F238E27FC236}">
                <a16:creationId xmlns:a16="http://schemas.microsoft.com/office/drawing/2014/main" id="{1CD99FBB-C5C1-4021-8134-4893BA337B2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493" name="Google Shape;493;p33">
            <a:extLst xmlns:a="http://schemas.openxmlformats.org/drawingml/2006/main">
              <a:ext uri="{FF2B5EF4-FFF2-40B4-BE49-F238E27FC236}">
                <a16:creationId xmlns:a16="http://schemas.microsoft.com/office/drawing/2014/main" id="{B0FF34FF-D329-42C8-AA37-A336EAC22F7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AP23 · ICS16 · CCIFU</a:t>
            </a:r>
            <a:endParaRPr/>
          </a:p>
        </p:txBody>
      </p:sp>
      <p:sp>
        <p:nvSpPr>
          <p:cNvPr id="494" name="Google Shape;494;p33">
            <a:extLst xmlns:a="http://schemas.openxmlformats.org/drawingml/2006/main">
              <a:ext uri="{FF2B5EF4-FFF2-40B4-BE49-F238E27FC236}">
                <a16:creationId xmlns:a16="http://schemas.microsoft.com/office/drawing/2014/main" id="{561473FB-6A52-454E-9E9A-082C62EF8D0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30</a:t>
            </a:r>
            <a:endParaRPr/>
          </a:p>
        </p:txBody>
      </p:sp>
      <p:pic>
        <p:nvPicPr>
          <p:cNvPr id="507" name="Google Shape;495;p33"/>
          <p:cNvPicPr>
            <a:picLocks xmlns:a="http://schemas.openxmlformats.org/drawingml/2006/main" noChangeAspect="1"/>
          </p:cNvPicPr>
          <p:nvPr/>
        </p:nvPicPr>
        <p:blipFill rotWithShape="1">
          <a:blip xmlns:r="http://schemas.openxmlformats.org/officeDocument/2006/relationships" xmlns:a="http://schemas.openxmlformats.org/drawingml/2006/main" r:embed="R05c28ba10b124a8f">
            <a:alphaModFix/>
          </a:blip>
          <a:srcRect xmlns:a="http://schemas.openxmlformats.org/drawingml/2006/main" l="0" t="0" r="0" b="0"/>
          <a:stretch xmlns:a="http://schemas.openxmlformats.org/drawingml/2006/main"/>
        </p:blipFill>
        <p:spPr>
          <a:xfrm xmlns:a="http://schemas.openxmlformats.org/drawingml/2006/main">
            <a:off x="609600" y="2179261"/>
            <a:ext cx="6477000" cy="2670928"/>
          </a:xfrm>
          <a:prstGeom xmlns:a="http://schemas.openxmlformats.org/drawingml/2006/main" prst="rect">
            <a:avLst/>
          </a:prstGeom>
          <a:ln xmlns:a="http://schemas.openxmlformats.org/drawingml/2006/main">
            <a:noFill/>
          </a:ln>
        </p:spPr>
      </p:pic>
      <p:sp>
        <p:nvSpPr>
          <p:cNvPr id="496" name="Google Shape;496;p33">
            <a:extLst xmlns:a="http://schemas.openxmlformats.org/drawingml/2006/main">
              <a:ext uri="{FF2B5EF4-FFF2-40B4-BE49-F238E27FC236}">
                <a16:creationId xmlns:a16="http://schemas.microsoft.com/office/drawing/2014/main" id="{31B86D52-890E-419B-8D79-EA816410AED6}"/>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75" b="1">
                <a:solidFill>
                  <a:srgbClr val="147F83"/>
                </a:solidFill>
                <a:latin typeface="Arial"/>
                <a:ea typeface="Arial"/>
                <a:cs typeface="Arial"/>
              </a:rPr>
              <a:t>A functional position</a:t>
            </a:r>
            <a:endParaRPr/>
          </a:p>
        </p:txBody>
      </p:sp>
      <p:sp>
        <p:nvSpPr>
          <p:cNvPr id="497" name="Google Shape;497;p33">
            <a:extLst xmlns:a="http://schemas.openxmlformats.org/drawingml/2006/main">
              <a:ext uri="{FF2B5EF4-FFF2-40B4-BE49-F238E27FC236}">
                <a16:creationId xmlns:a16="http://schemas.microsoft.com/office/drawing/2014/main" id="{A694AF3E-AD0E-4F15-9E6D-87A877579F6D}"/>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Use the accessible side agreed in clinic</a:t>
            </a:r>
            <a:endParaRPr/>
          </a:p>
        </p:txBody>
      </p:sp>
      <p:sp>
        <p:nvSpPr>
          <p:cNvPr id="498" name="Google Shape;498;p33">
            <a:extLst xmlns:a="http://schemas.openxmlformats.org/drawingml/2006/main">
              <a:ext uri="{FF2B5EF4-FFF2-40B4-BE49-F238E27FC236}">
                <a16:creationId xmlns:a16="http://schemas.microsoft.com/office/drawing/2014/main" id="{C6020ACA-967F-4C29-8F6F-C38672E40D14}"/>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Avoid crowding, skin tension and testicular compression</a:t>
            </a:r>
            <a:endParaRPr/>
          </a:p>
        </p:txBody>
      </p:sp>
      <p:sp>
        <p:nvSpPr>
          <p:cNvPr id="499" name="Google Shape;499;p33">
            <a:extLst xmlns:a="http://schemas.openxmlformats.org/drawingml/2006/main">
              <a:ext uri="{FF2B5EF4-FFF2-40B4-BE49-F238E27FC236}">
                <a16:creationId xmlns:a16="http://schemas.microsoft.com/office/drawing/2014/main" id="{E9304B1E-B0E1-4818-A46D-285B107E6556}"/>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Check orientation and tubing traction before closure</a:t>
            </a:r>
            <a:endParaRPr/>
          </a:p>
        </p:txBody>
      </p:sp>
      <p:sp>
        <p:nvSpPr>
          <p:cNvPr id="500" name="Google Shape;500;p33">
            <a:extLst xmlns:a="http://schemas.openxmlformats.org/drawingml/2006/main">
              <a:ext uri="{FF2B5EF4-FFF2-40B4-BE49-F238E27FC236}">
                <a16:creationId xmlns:a16="http://schemas.microsoft.com/office/drawing/2014/main" id="{995A6545-7999-40BB-A920-D103419F7FA9}"/>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Recheck access with the patient at activation</a:t>
            </a:r>
            <a:endParaRPr/>
          </a:p>
        </p:txBody>
      </p:sp>
      <p:sp>
        <p:nvSpPr>
          <p:cNvPr id="501" name="Google Shape;501;p33">
            <a:extLst xmlns:a="http://schemas.openxmlformats.org/drawingml/2006/main">
              <a:ext uri="{FF2B5EF4-FFF2-40B4-BE49-F238E27FC236}">
                <a16:creationId xmlns:a16="http://schemas.microsoft.com/office/drawing/2014/main" id="{8E95DFD3-08EE-4E9F-8352-F236105FA6C7}"/>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350" b="0">
                <a:solidFill>
                  <a:srgbClr val="526773"/>
                </a:solidFill>
                <a:latin typeface="Arial"/>
                <a:ea typeface="Arial"/>
                <a:cs typeface="Arial"/>
              </a:rPr>
              <a:t>UroOps 3D teaching schematic. Clinical review pending.</a:t>
            </a:r>
            <a:endParaRPr/>
          </a:p>
        </p:txBody>
      </p:sp>
    </p:spTree>
    <p:extLst>
      <p:ext uri="{BB962C8B-B14F-4D97-AF65-F5344CB8AC3E}">
        <p14:creationId xmlns:p14="http://schemas.microsoft.com/office/powerpoint/2010/main" val="13222636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7" name="Google Shape;507;p34">
            <a:extLst xmlns:a="http://schemas.openxmlformats.org/drawingml/2006/main">
              <a:ext uri="{FF2B5EF4-FFF2-40B4-BE49-F238E27FC236}">
                <a16:creationId xmlns:a16="http://schemas.microsoft.com/office/drawing/2014/main" id="{431D45EA-4E8A-4C32-8FAC-E518775C99B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System checks and handover</a:t>
            </a:r>
            <a:endParaRPr/>
          </a:p>
        </p:txBody>
      </p:sp>
      <p:sp>
        <p:nvSpPr>
          <p:cNvPr id="508" name="Google Shape;508;p34">
            <a:extLst xmlns:a="http://schemas.openxmlformats.org/drawingml/2006/main">
              <a:ext uri="{FF2B5EF4-FFF2-40B4-BE49-F238E27FC236}">
                <a16:creationId xmlns:a16="http://schemas.microsoft.com/office/drawing/2014/main" id="{0A8815B7-D713-443A-BBCE-0FC8718709A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09" name="Google Shape;509;p34">
            <a:extLst xmlns:a="http://schemas.openxmlformats.org/drawingml/2006/main">
              <a:ext uri="{FF2B5EF4-FFF2-40B4-BE49-F238E27FC236}">
                <a16:creationId xmlns:a16="http://schemas.microsoft.com/office/drawing/2014/main" id="{436C4B8E-9801-4510-87BE-9DE11E8B080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ICS16 · AP23 · CATH13 · INSTR26</a:t>
            </a:r>
            <a:endParaRPr/>
          </a:p>
        </p:txBody>
      </p:sp>
      <p:sp>
        <p:nvSpPr>
          <p:cNvPr id="510" name="Google Shape;510;p34">
            <a:extLst xmlns:a="http://schemas.openxmlformats.org/drawingml/2006/main">
              <a:ext uri="{FF2B5EF4-FFF2-40B4-BE49-F238E27FC236}">
                <a16:creationId xmlns:a16="http://schemas.microsoft.com/office/drawing/2014/main" id="{162F2852-0D75-4A8F-85AB-04C06522220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31</a:t>
            </a:r>
            <a:endParaRPr/>
          </a:p>
        </p:txBody>
      </p:sp>
      <p:sp>
        <p:nvSpPr>
          <p:cNvPr id="511" name="Google Shape;511;p34">
            <a:extLst xmlns:a="http://schemas.openxmlformats.org/drawingml/2006/main">
              <a:ext uri="{FF2B5EF4-FFF2-40B4-BE49-F238E27FC236}">
                <a16:creationId xmlns:a16="http://schemas.microsoft.com/office/drawing/2014/main" id="{90C5019B-A939-4812-BBD4-584B30882920}"/>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12" name="Google Shape;512;p34">
            <a:extLst xmlns:a="http://schemas.openxmlformats.org/drawingml/2006/main">
              <a:ext uri="{FF2B5EF4-FFF2-40B4-BE49-F238E27FC236}">
                <a16:creationId xmlns:a16="http://schemas.microsoft.com/office/drawing/2014/main" id="{E7146B80-0301-4C7D-9823-0D30461C98CD}"/>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Trace tubing for tension, bends and entrapment</a:t>
            </a:r>
            <a:endParaRPr/>
          </a:p>
        </p:txBody>
      </p:sp>
      <p:sp>
        <p:nvSpPr>
          <p:cNvPr id="513" name="Google Shape;513;p34">
            <a:extLst xmlns:a="http://schemas.openxmlformats.org/drawingml/2006/main">
              <a:ext uri="{FF2B5EF4-FFF2-40B4-BE49-F238E27FC236}">
                <a16:creationId xmlns:a16="http://schemas.microsoft.com/office/drawing/2014/main" id="{ACDE22F6-7488-4004-9CFF-ED036195A8A4}"/>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14" name="Google Shape;514;p34">
            <a:extLst xmlns:a="http://schemas.openxmlformats.org/drawingml/2006/main">
              <a:ext uri="{FF2B5EF4-FFF2-40B4-BE49-F238E27FC236}">
                <a16:creationId xmlns:a16="http://schemas.microsoft.com/office/drawing/2014/main" id="{576EEE1B-C1EE-4489-BF92-AEA718F34078}"/>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compatible connections and device function</a:t>
            </a:r>
            <a:endParaRPr/>
          </a:p>
        </p:txBody>
      </p:sp>
      <p:sp>
        <p:nvSpPr>
          <p:cNvPr id="515" name="Google Shape;515;p34">
            <a:extLst xmlns:a="http://schemas.openxmlformats.org/drawingml/2006/main">
              <a:ext uri="{FF2B5EF4-FFF2-40B4-BE49-F238E27FC236}">
                <a16:creationId xmlns:a16="http://schemas.microsoft.com/office/drawing/2014/main" id="{2C238A41-FA52-459C-805C-B4B5276B2F9A}"/>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516" name="Google Shape;516;p34">
            <a:extLst xmlns:a="http://schemas.openxmlformats.org/drawingml/2006/main">
              <a:ext uri="{FF2B5EF4-FFF2-40B4-BE49-F238E27FC236}">
                <a16:creationId xmlns:a16="http://schemas.microsoft.com/office/drawing/2014/main" id="{07C780CA-AE16-4D16-82EA-57ED0D9DADCB}"/>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Confirm an open cuff and correct deactivation</a:t>
            </a:r>
            <a:endParaRPr/>
          </a:p>
        </p:txBody>
      </p:sp>
      <p:sp>
        <p:nvSpPr>
          <p:cNvPr id="517" name="Google Shape;517;p34">
            <a:extLst xmlns:a="http://schemas.openxmlformats.org/drawingml/2006/main">
              <a:ext uri="{FF2B5EF4-FFF2-40B4-BE49-F238E27FC236}">
                <a16:creationId xmlns:a16="http://schemas.microsoft.com/office/drawing/2014/main" id="{38BF2C16-4125-4D9B-BEB0-84B8BDB66586}"/>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518" name="Google Shape;518;p34">
            <a:extLst xmlns:a="http://schemas.openxmlformats.org/drawingml/2006/main">
              <a:ext uri="{FF2B5EF4-FFF2-40B4-BE49-F238E27FC236}">
                <a16:creationId xmlns:a16="http://schemas.microsoft.com/office/drawing/2014/main" id="{B19CFD59-EAA2-4C83-9041-AE43863CCCEA}"/>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Record device details, drainage and the urgent contact route</a:t>
            </a:r>
            <a:endParaRPr/>
          </a:p>
        </p:txBody>
      </p:sp>
      <p:sp>
        <p:nvSpPr>
          <p:cNvPr id="519" name="Google Shape;519;p34">
            <a:extLst xmlns:a="http://schemas.openxmlformats.org/drawingml/2006/main">
              <a:ext uri="{FF2B5EF4-FFF2-40B4-BE49-F238E27FC236}">
                <a16:creationId xmlns:a16="http://schemas.microsoft.com/office/drawing/2014/main" id="{1419B639-D953-4C24-81BD-9A5A23717EA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Deactivation and urgent-contact instructions matter: a 2026 survey identifies training gaps. Filling follows the actual product protocol.</a:t>
            </a:r>
            <a:endParaRPr/>
          </a:p>
        </p:txBody>
      </p:sp>
    </p:spTree>
    <p:extLst>
      <p:ext uri="{BB962C8B-B14F-4D97-AF65-F5344CB8AC3E}">
        <p14:creationId xmlns:p14="http://schemas.microsoft.com/office/powerpoint/2010/main" val="154732878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5" name="Google Shape;525;p35">
            <a:extLst xmlns:a="http://schemas.openxmlformats.org/drawingml/2006/main">
              <a:ext uri="{FF2B5EF4-FFF2-40B4-BE49-F238E27FC236}">
                <a16:creationId xmlns:a16="http://schemas.microsoft.com/office/drawing/2014/main" id="{5DECA613-0971-4232-89B7-A2003F07B7E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UroOps 3D: anatomy and component routes</a:t>
            </a:r>
            <a:endParaRPr/>
          </a:p>
        </p:txBody>
      </p:sp>
      <p:sp>
        <p:nvSpPr>
          <p:cNvPr id="526" name="Google Shape;526;p35">
            <a:extLst xmlns:a="http://schemas.openxmlformats.org/drawingml/2006/main">
              <a:ext uri="{FF2B5EF4-FFF2-40B4-BE49-F238E27FC236}">
                <a16:creationId xmlns:a16="http://schemas.microsoft.com/office/drawing/2014/main" id="{21987C6A-DD57-4151-A6F4-DAF96050D79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27" name="Google Shape;527;p35">
            <a:extLst xmlns:a="http://schemas.openxmlformats.org/drawingml/2006/main">
              <a:ext uri="{FF2B5EF4-FFF2-40B4-BE49-F238E27FC236}">
                <a16:creationId xmlns:a16="http://schemas.microsoft.com/office/drawing/2014/main" id="{BBCF6C30-F905-4337-8D35-4EE813813DF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ICS16 · AP23 · CCIFU</a:t>
            </a:r>
            <a:endParaRPr/>
          </a:p>
        </p:txBody>
      </p:sp>
      <p:sp>
        <p:nvSpPr>
          <p:cNvPr id="528" name="Google Shape;528;p35">
            <a:extLst xmlns:a="http://schemas.openxmlformats.org/drawingml/2006/main">
              <a:ext uri="{FF2B5EF4-FFF2-40B4-BE49-F238E27FC236}">
                <a16:creationId xmlns:a16="http://schemas.microsoft.com/office/drawing/2014/main" id="{E7A7217B-EE73-411D-B534-CC24D6AC2ED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32</a:t>
            </a:r>
            <a:endParaRPr/>
          </a:p>
        </p:txBody>
      </p:sp>
      <p:pic>
        <p:nvPicPr>
          <p:cNvPr id="538" name="Google Shape;529;p35"/>
          <p:cNvPicPr>
            <a:picLocks xmlns:a="http://schemas.openxmlformats.org/drawingml/2006/main" noChangeAspect="1"/>
          </p:cNvPicPr>
          <p:nvPr/>
        </p:nvPicPr>
        <p:blipFill rotWithShape="1">
          <a:blip xmlns:r="http://schemas.openxmlformats.org/officeDocument/2006/relationships" xmlns:a="http://schemas.openxmlformats.org/drawingml/2006/main" r:embed="R786c785947264588">
            <a:alphaModFix/>
          </a:blip>
          <a:srcRect xmlns:a="http://schemas.openxmlformats.org/drawingml/2006/main" l="0" t="0" r="0" b="0"/>
          <a:stretch xmlns:a="http://schemas.openxmlformats.org/drawingml/2006/main"/>
        </p:blipFill>
        <p:spPr>
          <a:xfrm xmlns:a="http://schemas.openxmlformats.org/drawingml/2006/main">
            <a:off x="609600" y="1799538"/>
            <a:ext cx="7810500" cy="3220825"/>
          </a:xfrm>
          <a:prstGeom xmlns:a="http://schemas.openxmlformats.org/drawingml/2006/main" prst="rect">
            <a:avLst/>
          </a:prstGeom>
          <a:ln xmlns:a="http://schemas.openxmlformats.org/drawingml/2006/main">
            <a:noFill/>
          </a:ln>
        </p:spPr>
      </p:pic>
      <p:sp>
        <p:nvSpPr>
          <p:cNvPr id="530" name="Google Shape;530;p35">
            <a:extLst xmlns:a="http://schemas.openxmlformats.org/drawingml/2006/main">
              <a:ext uri="{FF2B5EF4-FFF2-40B4-BE49-F238E27FC236}">
                <a16:creationId xmlns:a16="http://schemas.microsoft.com/office/drawing/2014/main" id="{A7312E36-3F82-4A10-B07B-B685E639C117}"/>
              </a:ext>
            </a:extLst>
          </p:cNvPr>
          <p:cNvSpPr>
            <a:spLocks xmlns:a="http://schemas.openxmlformats.org/drawingml/2006/main" noGrp="1"/>
          </p:cNvSpPr>
          <p:nvPr/>
        </p:nvSpPr>
        <p:spPr>
          <a:xfrm xmlns:a="http://schemas.openxmlformats.org/drawingml/2006/main">
            <a:off x="8858250" y="2000250"/>
            <a:ext cx="2724150" cy="26193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Cuff and dorsal plane</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Pump access</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Balloon pocket</a:t>
            </a:r>
            <a:endParaRPr/>
          </a:p>
          <a:p xmlns:a="http://schemas.openxmlformats.org/drawingml/2006/main">
            <a:pPr marL="0" marR="0" lvl="0" indent="0" algn="l">
              <a:spcBef>
                <a:spcPts val="0"/>
              </a:spcBef>
              <a:spcAft>
                <a:spcPts val="0"/>
              </a:spcAft>
              <a:buNone/>
            </a:pPr>
            <a:r>
              <a:rPr sz="2325" b="0">
                <a:solidFill>
                  <a:srgbClr val="183343"/>
                </a:solidFill>
                <a:latin typeface="Arial"/>
                <a:ea typeface="Arial"/>
                <a:cs typeface="Arial"/>
              </a:rPr>
              <a:t>Tubing route</a:t>
            </a:r>
            <a:endParaRPr/>
          </a:p>
        </p:txBody>
      </p:sp>
      <p:sp>
        <p:nvSpPr>
          <p:cNvPr id="531" name="Google Shape;531;p35">
            <a:extLst xmlns:a="http://schemas.openxmlformats.org/drawingml/2006/main">
              <a:ext uri="{FF2B5EF4-FFF2-40B4-BE49-F238E27FC236}">
                <a16:creationId xmlns:a16="http://schemas.microsoft.com/office/drawing/2014/main" id="{97A793DB-0C93-448F-B249-B13728DBF1C1}"/>
              </a:ext>
            </a:extLst>
          </p:cNvPr>
          <p:cNvSpPr>
            <a:spLocks xmlns:a="http://schemas.openxmlformats.org/drawingml/2006/main" noGrp="1"/>
          </p:cNvSpPr>
          <p:nvPr/>
        </p:nvSpPr>
        <p:spPr>
          <a:xfrm xmlns:a="http://schemas.openxmlformats.org/drawingml/2006/main">
            <a:off x="609600" y="5248275"/>
            <a:ext cx="10477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1" u="sng">
                <a:solidFill>
                  <a:schemeClr val="hlink"/>
                </a:solidFill>
                <a:latin typeface="Arial"/>
                <a:ea typeface="Arial"/>
                <a:cs typeface="Arial"/>
                <a:hlinkClick xmlns:r="http://schemas.openxmlformats.org/officeDocument/2006/relationships" r:id="R7315f3b3515d4f64"/>
              </a:rPr>
              <a:t>uroops3d.com/lab/aus</a:t>
            </a:r>
            <a:endParaRPr/>
          </a:p>
        </p:txBody>
      </p:sp>
      <p:sp>
        <p:nvSpPr>
          <p:cNvPr id="532" name="Google Shape;532;p35">
            <a:extLst xmlns:a="http://schemas.openxmlformats.org/drawingml/2006/main">
              <a:ext uri="{FF2B5EF4-FFF2-40B4-BE49-F238E27FC236}">
                <a16:creationId xmlns:a16="http://schemas.microsoft.com/office/drawing/2014/main" id="{111514B0-E630-42FA-BBD4-D71EAB3CEC3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Teaching schematic, clinical review pending. The model illustrates relationships and does not replace device instructions.</a:t>
            </a:r>
            <a:endParaRPr/>
          </a:p>
        </p:txBody>
      </p:sp>
    </p:spTree>
    <p:extLst>
      <p:ext uri="{BB962C8B-B14F-4D97-AF65-F5344CB8AC3E}">
        <p14:creationId xmlns:p14="http://schemas.microsoft.com/office/powerpoint/2010/main" val="531781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8" name="Google Shape;538;p36">
            <a:extLst xmlns:a="http://schemas.openxmlformats.org/drawingml/2006/main">
              <a:ext uri="{FF2B5EF4-FFF2-40B4-BE49-F238E27FC236}">
                <a16:creationId xmlns:a16="http://schemas.microsoft.com/office/drawing/2014/main" id="{D22DB115-7666-431C-B72D-981CBAD575B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Aftercare, activation and urgent review</a:t>
            </a:r>
            <a:endParaRPr/>
          </a:p>
        </p:txBody>
      </p:sp>
      <p:sp>
        <p:nvSpPr>
          <p:cNvPr id="539" name="Google Shape;539;p36">
            <a:extLst xmlns:a="http://schemas.openxmlformats.org/drawingml/2006/main">
              <a:ext uri="{FF2B5EF4-FFF2-40B4-BE49-F238E27FC236}">
                <a16:creationId xmlns:a16="http://schemas.microsoft.com/office/drawing/2014/main" id="{9D573610-04C7-453C-90EE-F7B872F26A3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40" name="Google Shape;540;p36">
            <a:extLst xmlns:a="http://schemas.openxmlformats.org/drawingml/2006/main">
              <a:ext uri="{FF2B5EF4-FFF2-40B4-BE49-F238E27FC236}">
                <a16:creationId xmlns:a16="http://schemas.microsoft.com/office/drawing/2014/main" id="{1DB66B22-F7BC-4E1C-80AA-FD6E938C55B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CCIFU · AUA24 · CATH13 · BAUSDAY26 · DAYMETA26 · DAYCASE26</a:t>
            </a:r>
            <a:endParaRPr/>
          </a:p>
        </p:txBody>
      </p:sp>
      <p:sp>
        <p:nvSpPr>
          <p:cNvPr id="541" name="Google Shape;541;p36">
            <a:extLst xmlns:a="http://schemas.openxmlformats.org/drawingml/2006/main">
              <a:ext uri="{FF2B5EF4-FFF2-40B4-BE49-F238E27FC236}">
                <a16:creationId xmlns:a16="http://schemas.microsoft.com/office/drawing/2014/main" id="{6A939C1E-ED35-476E-8D84-E8094CA8C03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33</a:t>
            </a:r>
            <a:endParaRPr/>
          </a:p>
        </p:txBody>
      </p:sp>
      <p:sp>
        <p:nvSpPr>
          <p:cNvPr id="542" name="Google Shape;542;p36">
            <a:extLst xmlns:a="http://schemas.openxmlformats.org/drawingml/2006/main">
              <a:ext uri="{FF2B5EF4-FFF2-40B4-BE49-F238E27FC236}">
                <a16:creationId xmlns:a16="http://schemas.microsoft.com/office/drawing/2014/main" id="{1537EA37-292F-48B9-A98B-7E78CF8796F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Planned care</a:t>
            </a:r>
            <a:endParaRPr/>
          </a:p>
        </p:txBody>
      </p:sp>
      <p:sp>
        <p:nvSpPr>
          <p:cNvPr id="543" name="Google Shape;543;p36">
            <a:extLst xmlns:a="http://schemas.openxmlformats.org/drawingml/2006/main">
              <a:ext uri="{FF2B5EF4-FFF2-40B4-BE49-F238E27FC236}">
                <a16:creationId xmlns:a16="http://schemas.microsoft.com/office/drawing/2014/main" id="{F5D3AEB5-F334-4B5E-BEC4-9D061913416B}"/>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day-case care with verified emptying</a:t>
            </a:r>
            <a:endParaRPr/>
          </a:p>
        </p:txBody>
      </p:sp>
      <p:sp>
        <p:nvSpPr>
          <p:cNvPr id="544" name="Google Shape;544;p36">
            <a:extLst xmlns:a="http://schemas.openxmlformats.org/drawingml/2006/main">
              <a:ext uri="{FF2B5EF4-FFF2-40B4-BE49-F238E27FC236}">
                <a16:creationId xmlns:a16="http://schemas.microsoft.com/office/drawing/2014/main" id="{D80498ED-6AE2-4E6B-9C15-2DD9E0C169CF}"/>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ContiClassic: 4–6 weeks deactivated until pain and oedema settle</a:t>
            </a:r>
            <a:endParaRPr/>
          </a:p>
        </p:txBody>
      </p:sp>
      <p:sp>
        <p:nvSpPr>
          <p:cNvPr id="545" name="Google Shape;545;p36">
            <a:extLst xmlns:a="http://schemas.openxmlformats.org/drawingml/2006/main">
              <a:ext uri="{FF2B5EF4-FFF2-40B4-BE49-F238E27FC236}">
                <a16:creationId xmlns:a16="http://schemas.microsoft.com/office/drawing/2014/main" id="{E323973E-E8BD-4A2A-82E8-4AD4B42E8D47}"/>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Activation includes patient demonstration and device information</a:t>
            </a:r>
            <a:endParaRPr/>
          </a:p>
        </p:txBody>
      </p:sp>
      <p:sp>
        <p:nvSpPr>
          <p:cNvPr id="546" name="Google Shape;546;p36">
            <a:extLst xmlns:a="http://schemas.openxmlformats.org/drawingml/2006/main">
              <a:ext uri="{FF2B5EF4-FFF2-40B4-BE49-F238E27FC236}">
                <a16:creationId xmlns:a16="http://schemas.microsoft.com/office/drawing/2014/main" id="{BCC63C6B-3A36-4E5F-A6F2-86D34F3492F6}"/>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Earlier assessment</a:t>
            </a:r>
            <a:endParaRPr/>
          </a:p>
        </p:txBody>
      </p:sp>
      <p:sp>
        <p:nvSpPr>
          <p:cNvPr id="547" name="Google Shape;547;p36">
            <a:extLst xmlns:a="http://schemas.openxmlformats.org/drawingml/2006/main">
              <a:ext uri="{FF2B5EF4-FFF2-40B4-BE49-F238E27FC236}">
                <a16:creationId xmlns:a16="http://schemas.microsoft.com/office/drawing/2014/main" id="{C6B8983A-36AB-4260-9630-A73ACD90CE10}"/>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Retention or difficult voiding</a:t>
            </a:r>
            <a:endParaRPr/>
          </a:p>
        </p:txBody>
      </p:sp>
      <p:sp>
        <p:nvSpPr>
          <p:cNvPr id="548" name="Google Shape;548;p36">
            <a:extLst xmlns:a="http://schemas.openxmlformats.org/drawingml/2006/main">
              <a:ext uri="{FF2B5EF4-FFF2-40B4-BE49-F238E27FC236}">
                <a16:creationId xmlns:a16="http://schemas.microsoft.com/office/drawing/2014/main" id="{B1C3E143-2CEB-477F-B0C7-2B6F8D008873}"/>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Worsening pain, erythema, discharge or fever</a:t>
            </a:r>
            <a:endParaRPr/>
          </a:p>
        </p:txBody>
      </p:sp>
      <p:sp>
        <p:nvSpPr>
          <p:cNvPr id="549" name="Google Shape;549;p36">
            <a:extLst xmlns:a="http://schemas.openxmlformats.org/drawingml/2006/main">
              <a:ext uri="{FF2B5EF4-FFF2-40B4-BE49-F238E27FC236}">
                <a16:creationId xmlns:a16="http://schemas.microsoft.com/office/drawing/2014/main" id="{F242EA04-4889-42BC-801F-0E0575B70F29}"/>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Suspected infection or erosion needs specialist review</a:t>
            </a:r>
            <a:endParaRPr/>
          </a:p>
        </p:txBody>
      </p:sp>
      <p:sp>
        <p:nvSpPr>
          <p:cNvPr id="550" name="Google Shape;550;p36">
            <a:extLst xmlns:a="http://schemas.openxmlformats.org/drawingml/2006/main">
              <a:ext uri="{FF2B5EF4-FFF2-40B4-BE49-F238E27FC236}">
                <a16:creationId xmlns:a16="http://schemas.microsoft.com/office/drawing/2014/main" id="{E6A9C52A-4B15-443D-B8AA-B9F27972607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BAUS 2026 day-case audit and comparative studies support selected pathways. Confirm emptying, support and rapid access to review.</a:t>
            </a:r>
            <a:endParaRPr/>
          </a:p>
        </p:txBody>
      </p:sp>
    </p:spTree>
    <p:extLst>
      <p:ext uri="{BB962C8B-B14F-4D97-AF65-F5344CB8AC3E}">
        <p14:creationId xmlns:p14="http://schemas.microsoft.com/office/powerpoint/2010/main" val="10716425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6" name="Google Shape;556;p37">
            <a:extLst xmlns:a="http://schemas.openxmlformats.org/drawingml/2006/main">
              <a:ext uri="{FF2B5EF4-FFF2-40B4-BE49-F238E27FC236}">
                <a16:creationId xmlns:a16="http://schemas.microsoft.com/office/drawing/2014/main" id="{378A39A4-E615-496C-A645-18461FB7090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Case 4: leakage after three good years</a:t>
            </a:r>
            <a:endParaRPr/>
          </a:p>
        </p:txBody>
      </p:sp>
      <p:sp>
        <p:nvSpPr>
          <p:cNvPr id="557" name="Google Shape;557;p37">
            <a:extLst xmlns:a="http://schemas.openxmlformats.org/drawingml/2006/main">
              <a:ext uri="{FF2B5EF4-FFF2-40B4-BE49-F238E27FC236}">
                <a16:creationId xmlns:a16="http://schemas.microsoft.com/office/drawing/2014/main" id="{18C28A41-E705-4E91-B5F1-8E8284476A2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58" name="Google Shape;558;p37">
            <a:extLst xmlns:a="http://schemas.openxmlformats.org/drawingml/2006/main">
              <a:ext uri="{FF2B5EF4-FFF2-40B4-BE49-F238E27FC236}">
                <a16:creationId xmlns:a16="http://schemas.microsoft.com/office/drawing/2014/main" id="{C007D179-BBD5-44CE-A89D-70AAF48D278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ATROPHY20 · BAUS25 · AUA24 · CCIFU · AUASAFER26 · PRBFAT26 · EROSION26 · SECOND26</a:t>
            </a:r>
            <a:endParaRPr/>
          </a:p>
        </p:txBody>
      </p:sp>
      <p:sp>
        <p:nvSpPr>
          <p:cNvPr id="559" name="Google Shape;559;p37">
            <a:extLst xmlns:a="http://schemas.openxmlformats.org/drawingml/2006/main">
              <a:ext uri="{FF2B5EF4-FFF2-40B4-BE49-F238E27FC236}">
                <a16:creationId xmlns:a16="http://schemas.microsoft.com/office/drawing/2014/main" id="{E9310532-C500-4E6F-A896-F459C53D221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34</a:t>
            </a:r>
            <a:endParaRPr/>
          </a:p>
        </p:txBody>
      </p:sp>
      <p:sp>
        <p:nvSpPr>
          <p:cNvPr id="560" name="Google Shape;560;p37">
            <a:extLst xmlns:a="http://schemas.openxmlformats.org/drawingml/2006/main">
              <a:ext uri="{FF2B5EF4-FFF2-40B4-BE49-F238E27FC236}">
                <a16:creationId xmlns:a16="http://schemas.microsoft.com/office/drawing/2014/main" id="{7563E750-4575-4AF9-B4B9-52BFD4CF86FF}"/>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75" b="1">
                <a:solidFill>
                  <a:srgbClr val="147F83"/>
                </a:solidFill>
                <a:latin typeface="Arial"/>
                <a:ea typeface="Arial"/>
                <a:cs typeface="Arial"/>
              </a:rPr>
              <a:t>Fictional clinical case 04</a:t>
            </a:r>
            <a:endParaRPr/>
          </a:p>
        </p:txBody>
      </p:sp>
      <p:sp>
        <p:nvSpPr>
          <p:cNvPr id="561" name="Google Shape;561;p37">
            <a:extLst xmlns:a="http://schemas.openxmlformats.org/drawingml/2006/main">
              <a:ext uri="{FF2B5EF4-FFF2-40B4-BE49-F238E27FC236}">
                <a16:creationId xmlns:a16="http://schemas.microsoft.com/office/drawing/2014/main" id="{1C2324BC-7DC9-4B32-B683-F656B4AF9A04}"/>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An initially useful AUS result</a:t>
            </a:r>
            <a:endParaRPr/>
          </a:p>
        </p:txBody>
      </p:sp>
      <p:sp>
        <p:nvSpPr>
          <p:cNvPr id="562" name="Google Shape;562;p37">
            <a:extLst xmlns:a="http://schemas.openxmlformats.org/drawingml/2006/main">
              <a:ext uri="{FF2B5EF4-FFF2-40B4-BE49-F238E27FC236}">
                <a16:creationId xmlns:a16="http://schemas.microsoft.com/office/drawing/2014/main" id="{ED244C82-C708-4790-A706-8BA8B8B6CD1C}"/>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Recurrent leakage after three years</a:t>
            </a:r>
            <a:endParaRPr/>
          </a:p>
        </p:txBody>
      </p:sp>
      <p:sp>
        <p:nvSpPr>
          <p:cNvPr id="563" name="Google Shape;563;p37">
            <a:extLst xmlns:a="http://schemas.openxmlformats.org/drawingml/2006/main">
              <a:ext uri="{FF2B5EF4-FFF2-40B4-BE49-F238E27FC236}">
                <a16:creationId xmlns:a16="http://schemas.microsoft.com/office/drawing/2014/main" id="{1C07D31A-67D8-4C31-8AD2-C9F8449F8E68}"/>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Leakage mechanism and pump use still need assessment</a:t>
            </a:r>
            <a:endParaRPr/>
          </a:p>
        </p:txBody>
      </p:sp>
      <p:sp>
        <p:nvSpPr>
          <p:cNvPr id="564" name="Google Shape;564;p37">
            <a:extLst xmlns:a="http://schemas.openxmlformats.org/drawingml/2006/main">
              <a:ext uri="{FF2B5EF4-FFF2-40B4-BE49-F238E27FC236}">
                <a16:creationId xmlns:a16="http://schemas.microsoft.com/office/drawing/2014/main" id="{1C44AA3A-FFBF-4B32-AB79-490AAECFAAE7}"/>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Erosion, mechanics and bladder dysfunction remain possible</a:t>
            </a:r>
            <a:endParaRPr/>
          </a:p>
        </p:txBody>
      </p:sp>
      <p:sp>
        <p:nvSpPr>
          <p:cNvPr id="565" name="Google Shape;565;p37">
            <a:extLst xmlns:a="http://schemas.openxmlformats.org/drawingml/2006/main">
              <a:ext uri="{FF2B5EF4-FFF2-40B4-BE49-F238E27FC236}">
                <a16:creationId xmlns:a16="http://schemas.microsoft.com/office/drawing/2014/main" id="{DC857C3F-A584-4EE2-9223-E3025C615F98}"/>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183343"/>
                </a:solidFill>
                <a:latin typeface="Arial"/>
                <a:ea typeface="Arial"/>
                <a:cs typeface="Arial"/>
              </a:rPr>
              <a:t>What would you investigate before choosing revision?</a:t>
            </a:r>
            <a:endParaRPr/>
          </a:p>
        </p:txBody>
      </p:sp>
      <p:sp>
        <p:nvSpPr>
          <p:cNvPr id="566" name="Google Shape;566;p37">
            <a:extLst xmlns:a="http://schemas.openxmlformats.org/drawingml/2006/main">
              <a:ext uri="{FF2B5EF4-FFF2-40B4-BE49-F238E27FC236}">
                <a16:creationId xmlns:a16="http://schemas.microsoft.com/office/drawing/2014/main" id="{44CF5868-5700-4F24-BF2F-9550936CD9A4}"/>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67" name="Google Shape;567;p37">
            <a:extLst xmlns:a="http://schemas.openxmlformats.org/drawingml/2006/main">
              <a:ext uri="{FF2B5EF4-FFF2-40B4-BE49-F238E27FC236}">
                <a16:creationId xmlns:a16="http://schemas.microsoft.com/office/drawing/2014/main" id="{59AB71D3-C449-4016-AEF6-A5F5E5D76077}"/>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950" b="0">
                <a:solidFill>
                  <a:srgbClr val="147F83"/>
                </a:solidFill>
                <a:latin typeface="Arial"/>
                <a:ea typeface="Arial"/>
                <a:cs typeface="Arial"/>
              </a:rPr>
              <a:t>Use / Urethra / Mechanics / Bladder</a:t>
            </a:r>
            <a:endParaRPr/>
          </a:p>
        </p:txBody>
      </p:sp>
      <p:sp>
        <p:nvSpPr>
          <p:cNvPr id="568" name="Google Shape;568;p37">
            <a:extLst xmlns:a="http://schemas.openxmlformats.org/drawingml/2006/main">
              <a:ext uri="{FF2B5EF4-FFF2-40B4-BE49-F238E27FC236}">
                <a16:creationId xmlns:a16="http://schemas.microsoft.com/office/drawing/2014/main" id="{11C9DCB4-1FD0-443D-A889-539B2033C4F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PRB fatigue study adds a mechanical explanation. Diagnose the cause; do not automatically downsize or replace the balloon.</a:t>
            </a:r>
            <a:endParaRPr/>
          </a:p>
        </p:txBody>
      </p:sp>
    </p:spTree>
    <p:extLst>
      <p:ext uri="{BB962C8B-B14F-4D97-AF65-F5344CB8AC3E}">
        <p14:creationId xmlns:p14="http://schemas.microsoft.com/office/powerpoint/2010/main" val="152628653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4" name="Google Shape;574;p38">
            <a:extLst xmlns:a="http://schemas.openxmlformats.org/drawingml/2006/main">
              <a:ext uri="{FF2B5EF4-FFF2-40B4-BE49-F238E27FC236}">
                <a16:creationId xmlns:a16="http://schemas.microsoft.com/office/drawing/2014/main" id="{AC52B555-BDE2-4A62-883E-4AECBF1D62E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Established benefit and unresolved questions</a:t>
            </a:r>
            <a:endParaRPr/>
          </a:p>
        </p:txBody>
      </p:sp>
      <p:sp>
        <p:nvSpPr>
          <p:cNvPr id="575" name="Google Shape;575;p38">
            <a:extLst xmlns:a="http://schemas.openxmlformats.org/drawingml/2006/main">
              <a:ext uri="{FF2B5EF4-FFF2-40B4-BE49-F238E27FC236}">
                <a16:creationId xmlns:a16="http://schemas.microsoft.com/office/drawing/2014/main" id="{361D11DE-E088-4D36-96D8-7A11B7263048}"/>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76" name="Google Shape;576;p38">
            <a:extLst xmlns:a="http://schemas.openxmlformats.org/drawingml/2006/main">
              <a:ext uri="{FF2B5EF4-FFF2-40B4-BE49-F238E27FC236}">
                <a16:creationId xmlns:a16="http://schemas.microsoft.com/office/drawing/2014/main" id="{EAA58D5D-E738-4632-9808-7409559BE35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MASTER22 · TC20 · TC23 · PREP24 · CCSAFETY · DEVICE26 · UROACTIVE26</a:t>
            </a:r>
            <a:endParaRPr/>
          </a:p>
        </p:txBody>
      </p:sp>
      <p:sp>
        <p:nvSpPr>
          <p:cNvPr id="577" name="Google Shape;577;p38">
            <a:extLst xmlns:a="http://schemas.openxmlformats.org/drawingml/2006/main">
              <a:ext uri="{FF2B5EF4-FFF2-40B4-BE49-F238E27FC236}">
                <a16:creationId xmlns:a16="http://schemas.microsoft.com/office/drawing/2014/main" id="{F3C95CF2-86FA-4157-B8AA-323B333BC23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35</a:t>
            </a:r>
            <a:endParaRPr/>
          </a:p>
        </p:txBody>
      </p:sp>
      <p:sp>
        <p:nvSpPr>
          <p:cNvPr id="578" name="Google Shape;578;p38">
            <a:extLst xmlns:a="http://schemas.openxmlformats.org/drawingml/2006/main">
              <a:ext uri="{FF2B5EF4-FFF2-40B4-BE49-F238E27FC236}">
                <a16:creationId xmlns:a16="http://schemas.microsoft.com/office/drawing/2014/main" id="{ED98A012-DFBF-46CF-9725-AE3208F83DC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Supported or plausible</a:t>
            </a:r>
            <a:endParaRPr/>
          </a:p>
        </p:txBody>
      </p:sp>
      <p:sp>
        <p:nvSpPr>
          <p:cNvPr id="579" name="Google Shape;579;p38">
            <a:extLst xmlns:a="http://schemas.openxmlformats.org/drawingml/2006/main">
              <a:ext uri="{FF2B5EF4-FFF2-40B4-BE49-F238E27FC236}">
                <a16:creationId xmlns:a16="http://schemas.microsoft.com/office/drawing/2014/main" id="{E6873410-1463-4026-8B17-A2EB5A2E128D}"/>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Selected patients gain substantial continence benefit</a:t>
            </a:r>
            <a:endParaRPr/>
          </a:p>
        </p:txBody>
      </p:sp>
      <p:sp>
        <p:nvSpPr>
          <p:cNvPr id="580" name="Google Shape;580;p38">
            <a:extLst xmlns:a="http://schemas.openxmlformats.org/drawingml/2006/main">
              <a:ext uri="{FF2B5EF4-FFF2-40B4-BE49-F238E27FC236}">
                <a16:creationId xmlns:a16="http://schemas.microsoft.com/office/drawing/2014/main" id="{BF0C5DCF-D7DA-4F0A-8484-5F328D0E2E2A}"/>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Tissue preservation and contamination control have strong rationale</a:t>
            </a:r>
            <a:endParaRPr/>
          </a:p>
        </p:txBody>
      </p:sp>
      <p:sp>
        <p:nvSpPr>
          <p:cNvPr id="581" name="Google Shape;581;p38">
            <a:extLst xmlns:a="http://schemas.openxmlformats.org/drawingml/2006/main">
              <a:ext uri="{FF2B5EF4-FFF2-40B4-BE49-F238E27FC236}">
                <a16:creationId xmlns:a16="http://schemas.microsoft.com/office/drawing/2014/main" id="{41FB36F8-45C2-48B9-A08E-527D7B7F7465}"/>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Future access belongs in the operative plan</a:t>
            </a:r>
            <a:endParaRPr/>
          </a:p>
        </p:txBody>
      </p:sp>
      <p:sp>
        <p:nvSpPr>
          <p:cNvPr id="582" name="Google Shape;582;p38">
            <a:extLst xmlns:a="http://schemas.openxmlformats.org/drawingml/2006/main">
              <a:ext uri="{FF2B5EF4-FFF2-40B4-BE49-F238E27FC236}">
                <a16:creationId xmlns:a16="http://schemas.microsoft.com/office/drawing/2014/main" id="{DD2C247B-2C8F-463D-8D9B-454F3ADAB4E8}"/>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147F83"/>
                </a:solidFill>
                <a:latin typeface="Arial"/>
                <a:ea typeface="Arial"/>
                <a:cs typeface="Arial"/>
              </a:rPr>
              <a:t>Still uncertain</a:t>
            </a:r>
            <a:endParaRPr/>
          </a:p>
        </p:txBody>
      </p:sp>
      <p:sp>
        <p:nvSpPr>
          <p:cNvPr id="583" name="Google Shape;583;p38">
            <a:extLst xmlns:a="http://schemas.openxmlformats.org/drawingml/2006/main">
              <a:ext uri="{FF2B5EF4-FFF2-40B4-BE49-F238E27FC236}">
                <a16:creationId xmlns:a16="http://schemas.microsoft.com/office/drawing/2014/main" id="{BD5898BE-1EBF-4BFC-8897-8976636D900A}"/>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The best salvage strategy for a fragile urethra</a:t>
            </a:r>
            <a:endParaRPr/>
          </a:p>
        </p:txBody>
      </p:sp>
      <p:sp>
        <p:nvSpPr>
          <p:cNvPr id="584" name="Google Shape;584;p38">
            <a:extLst xmlns:a="http://schemas.openxmlformats.org/drawingml/2006/main">
              <a:ext uri="{FF2B5EF4-FFF2-40B4-BE49-F238E27FC236}">
                <a16:creationId xmlns:a16="http://schemas.microsoft.com/office/drawing/2014/main" id="{8E6F838C-38CB-488B-B8BC-7845A36EFE96}"/>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Optimal irrigants and preparation duration</a:t>
            </a:r>
            <a:endParaRPr/>
          </a:p>
        </p:txBody>
      </p:sp>
      <p:sp>
        <p:nvSpPr>
          <p:cNvPr id="585" name="Google Shape;585;p38">
            <a:extLst xmlns:a="http://schemas.openxmlformats.org/drawingml/2006/main">
              <a:ext uri="{FF2B5EF4-FFF2-40B4-BE49-F238E27FC236}">
                <a16:creationId xmlns:a16="http://schemas.microsoft.com/office/drawing/2014/main" id="{8CE02E43-3905-49B6-A89B-4A63C6C25EEF}"/>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100" b="0">
                <a:solidFill>
                  <a:srgbClr val="183343"/>
                </a:solidFill>
                <a:latin typeface="Arial"/>
                <a:ea typeface="Arial"/>
                <a:cs typeface="Arial"/>
              </a:rPr>
              <a:t>Comparable long-term ContiClassic outcomes</a:t>
            </a:r>
            <a:endParaRPr/>
          </a:p>
        </p:txBody>
      </p:sp>
      <p:sp>
        <p:nvSpPr>
          <p:cNvPr id="586" name="Google Shape;586;p38">
            <a:extLst xmlns:a="http://schemas.openxmlformats.org/drawingml/2006/main">
              <a:ext uri="{FF2B5EF4-FFF2-40B4-BE49-F238E27FC236}">
                <a16:creationId xmlns:a16="http://schemas.microsoft.com/office/drawing/2014/main" id="{868BE2AE-2CB4-4987-B93F-B2CFA31FDD0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2026 reviews and early electronic-AUS data add options, while comparative and long-term evidence remains limited.</a:t>
            </a:r>
            <a:endParaRPr/>
          </a:p>
        </p:txBody>
      </p:sp>
    </p:spTree>
    <p:extLst>
      <p:ext uri="{BB962C8B-B14F-4D97-AF65-F5344CB8AC3E}">
        <p14:creationId xmlns:p14="http://schemas.microsoft.com/office/powerpoint/2010/main" val="81005021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92" name="Google Shape;592;p39">
            <a:extLst xmlns:a="http://schemas.openxmlformats.org/drawingml/2006/main">
              <a:ext uri="{FF2B5EF4-FFF2-40B4-BE49-F238E27FC236}">
                <a16:creationId xmlns:a16="http://schemas.microsoft.com/office/drawing/2014/main" id="{5193E0C6-9A67-4C36-AA95-E376D3BE502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before implantation</a:t>
            </a:r>
            <a:endParaRPr/>
          </a:p>
        </p:txBody>
      </p:sp>
      <p:sp>
        <p:nvSpPr>
          <p:cNvPr id="593" name="Google Shape;593;p39">
            <a:extLst xmlns:a="http://schemas.openxmlformats.org/drawingml/2006/main">
              <a:ext uri="{FF2B5EF4-FFF2-40B4-BE49-F238E27FC236}">
                <a16:creationId xmlns:a16="http://schemas.microsoft.com/office/drawing/2014/main" id="{954FFEDA-9F23-4BB3-A283-E60C69E393F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4" name="Google Shape;594;p39">
            <a:extLst xmlns:a="http://schemas.openxmlformats.org/drawingml/2006/main">
              <a:ext uri="{FF2B5EF4-FFF2-40B4-BE49-F238E27FC236}">
                <a16:creationId xmlns:a16="http://schemas.microsoft.com/office/drawing/2014/main" id="{290F9422-7F5E-4F67-B9F8-7AEE588918D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BAUS25 · EAU26 · AUA24 · DU23 · ICS16</a:t>
            </a:r>
            <a:endParaRPr/>
          </a:p>
        </p:txBody>
      </p:sp>
      <p:sp>
        <p:nvSpPr>
          <p:cNvPr id="595" name="Google Shape;595;p39">
            <a:extLst xmlns:a="http://schemas.openxmlformats.org/drawingml/2006/main">
              <a:ext uri="{FF2B5EF4-FFF2-40B4-BE49-F238E27FC236}">
                <a16:creationId xmlns:a16="http://schemas.microsoft.com/office/drawing/2014/main" id="{457EE3A2-D893-439A-A564-3B6BA0F967C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36</a:t>
            </a:r>
            <a:endParaRPr/>
          </a:p>
        </p:txBody>
      </p:sp>
      <p:sp>
        <p:nvSpPr>
          <p:cNvPr id="596" name="Google Shape;596;p39">
            <a:extLst xmlns:a="http://schemas.openxmlformats.org/drawingml/2006/main">
              <a:ext uri="{FF2B5EF4-FFF2-40B4-BE49-F238E27FC236}">
                <a16:creationId xmlns:a16="http://schemas.microsoft.com/office/drawing/2014/main" id="{A51EF33B-22D4-4027-A43A-87ADF50666DA}"/>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97" name="Google Shape;597;p39">
            <a:extLst xmlns:a="http://schemas.openxmlformats.org/drawingml/2006/main">
              <a:ext uri="{FF2B5EF4-FFF2-40B4-BE49-F238E27FC236}">
                <a16:creationId xmlns:a16="http://schemas.microsoft.com/office/drawing/2014/main" id="{6F8E44EA-AA5E-49D1-A2DD-CAA3C70320DB}"/>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Demonstrated SUI and a meaningful patient goal</a:t>
            </a:r>
            <a:endParaRPr/>
          </a:p>
        </p:txBody>
      </p:sp>
      <p:sp>
        <p:nvSpPr>
          <p:cNvPr id="598" name="Google Shape;598;p39">
            <a:extLst xmlns:a="http://schemas.openxmlformats.org/drawingml/2006/main">
              <a:ext uri="{FF2B5EF4-FFF2-40B4-BE49-F238E27FC236}">
                <a16:creationId xmlns:a16="http://schemas.microsoft.com/office/drawing/2014/main" id="{DB77A2EE-28E0-4C50-9164-7395DEA1470D}"/>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99" name="Google Shape;599;p39">
            <a:extLst xmlns:a="http://schemas.openxmlformats.org/drawingml/2006/main">
              <a:ext uri="{FF2B5EF4-FFF2-40B4-BE49-F238E27FC236}">
                <a16:creationId xmlns:a16="http://schemas.microsoft.com/office/drawing/2014/main" id="{38D39A36-1174-4F5B-91D8-00AF4BAAEAD7}"/>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Pump use, access and future capability</a:t>
            </a:r>
            <a:endParaRPr/>
          </a:p>
        </p:txBody>
      </p:sp>
      <p:sp>
        <p:nvSpPr>
          <p:cNvPr id="600" name="Google Shape;600;p39">
            <a:extLst xmlns:a="http://schemas.openxmlformats.org/drawingml/2006/main">
              <a:ext uri="{FF2B5EF4-FFF2-40B4-BE49-F238E27FC236}">
                <a16:creationId xmlns:a16="http://schemas.microsoft.com/office/drawing/2014/main" id="{9317F75E-129D-4BD8-908E-57B52ECE2FDB}"/>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601" name="Google Shape;601;p39">
            <a:extLst xmlns:a="http://schemas.openxmlformats.org/drawingml/2006/main">
              <a:ext uri="{FF2B5EF4-FFF2-40B4-BE49-F238E27FC236}">
                <a16:creationId xmlns:a16="http://schemas.microsoft.com/office/drawing/2014/main" id="{7C16ED95-0DD9-46CF-898B-2BD90B5FFF7B}"/>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Investigations resolving anatomy, storage and emptying</a:t>
            </a:r>
            <a:endParaRPr/>
          </a:p>
        </p:txBody>
      </p:sp>
      <p:sp>
        <p:nvSpPr>
          <p:cNvPr id="602" name="Google Shape;602;p39">
            <a:extLst xmlns:a="http://schemas.openxmlformats.org/drawingml/2006/main">
              <a:ext uri="{FF2B5EF4-FFF2-40B4-BE49-F238E27FC236}">
                <a16:creationId xmlns:a16="http://schemas.microsoft.com/office/drawing/2014/main" id="{D5017E76-4100-4A30-A6C9-16006BA7AB65}"/>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603" name="Google Shape;603;p39">
            <a:extLst xmlns:a="http://schemas.openxmlformats.org/drawingml/2006/main">
              <a:ext uri="{FF2B5EF4-FFF2-40B4-BE49-F238E27FC236}">
                <a16:creationId xmlns:a16="http://schemas.microsoft.com/office/drawing/2014/main" id="{F54ED636-8069-4118-BBC1-E3E32629E185}"/>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Separate DO, DU and poor compliance</a:t>
            </a:r>
            <a:endParaRPr/>
          </a:p>
        </p:txBody>
      </p:sp>
      <p:sp>
        <p:nvSpPr>
          <p:cNvPr id="604" name="Google Shape;604;p39">
            <a:extLst xmlns:a="http://schemas.openxmlformats.org/drawingml/2006/main">
              <a:ext uri="{FF2B5EF4-FFF2-40B4-BE49-F238E27FC236}">
                <a16:creationId xmlns:a16="http://schemas.microsoft.com/office/drawing/2014/main" id="{998B0C6C-0F30-44E8-9EE1-E2DB22C42B79}"/>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605" name="Google Shape;605;p39">
            <a:extLst xmlns:a="http://schemas.openxmlformats.org/drawingml/2006/main">
              <a:ext uri="{FF2B5EF4-FFF2-40B4-BE49-F238E27FC236}">
                <a16:creationId xmlns:a16="http://schemas.microsoft.com/office/drawing/2014/main" id="{7098944A-6953-4280-BA81-32AE8FCF8D06}"/>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stable urethra and future access plan</a:t>
            </a:r>
            <a:endParaRPr/>
          </a:p>
        </p:txBody>
      </p:sp>
    </p:spTree>
    <p:extLst>
      <p:ext uri="{BB962C8B-B14F-4D97-AF65-F5344CB8AC3E}">
        <p14:creationId xmlns:p14="http://schemas.microsoft.com/office/powerpoint/2010/main" val="78438362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1" name="Google Shape;611;p40">
            <a:extLst xmlns:a="http://schemas.openxmlformats.org/drawingml/2006/main">
              <a:ext uri="{FF2B5EF4-FFF2-40B4-BE49-F238E27FC236}">
                <a16:creationId xmlns:a16="http://schemas.microsoft.com/office/drawing/2014/main" id="{27A8BD2B-A093-4CCB-93BA-863556796BCB}"/>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Five decisions protecting the result</a:t>
            </a:r>
            <a:endParaRPr/>
          </a:p>
        </p:txBody>
      </p:sp>
      <p:sp>
        <p:nvSpPr>
          <p:cNvPr id="612" name="Google Shape;612;p40">
            <a:extLst xmlns:a="http://schemas.openxmlformats.org/drawingml/2006/main">
              <a:ext uri="{FF2B5EF4-FFF2-40B4-BE49-F238E27FC236}">
                <a16:creationId xmlns:a16="http://schemas.microsoft.com/office/drawing/2014/main" id="{315672C6-FA79-4A95-8970-6F1CB3C7A8F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3" name="Google Shape;613;p40">
            <a:extLst xmlns:a="http://schemas.openxmlformats.org/drawingml/2006/main">
              <a:ext uri="{FF2B5EF4-FFF2-40B4-BE49-F238E27FC236}">
                <a16:creationId xmlns:a16="http://schemas.microsoft.com/office/drawing/2014/main" id="{77F301FF-9EEA-478F-8E66-69535B6003D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CCIFU · NICE · AP23 · ATROPHY20 · BAUS25</a:t>
            </a:r>
            <a:endParaRPr/>
          </a:p>
        </p:txBody>
      </p:sp>
      <p:sp>
        <p:nvSpPr>
          <p:cNvPr id="614" name="Google Shape;614;p40">
            <a:extLst xmlns:a="http://schemas.openxmlformats.org/drawingml/2006/main">
              <a:ext uri="{FF2B5EF4-FFF2-40B4-BE49-F238E27FC236}">
                <a16:creationId xmlns:a16="http://schemas.microsoft.com/office/drawing/2014/main" id="{3E6C59AD-207D-47D6-B954-2AADD77037A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37</a:t>
            </a:r>
            <a:endParaRPr/>
          </a:p>
        </p:txBody>
      </p:sp>
      <p:sp>
        <p:nvSpPr>
          <p:cNvPr id="615" name="Google Shape;615;p40">
            <a:extLst xmlns:a="http://schemas.openxmlformats.org/drawingml/2006/main">
              <a:ext uri="{FF2B5EF4-FFF2-40B4-BE49-F238E27FC236}">
                <a16:creationId xmlns:a16="http://schemas.microsoft.com/office/drawing/2014/main" id="{E6BE052A-8DFA-41BE-ACF4-6EFCED214C6F}"/>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6</a:t>
            </a:r>
            <a:endParaRPr/>
          </a:p>
        </p:txBody>
      </p:sp>
      <p:sp>
        <p:nvSpPr>
          <p:cNvPr id="616" name="Google Shape;616;p40">
            <a:extLst xmlns:a="http://schemas.openxmlformats.org/drawingml/2006/main">
              <a:ext uri="{FF2B5EF4-FFF2-40B4-BE49-F238E27FC236}">
                <a16:creationId xmlns:a16="http://schemas.microsoft.com/office/drawing/2014/main" id="{D8A55BE1-3DE8-4D0E-B961-76AC7314E1A9}"/>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Correct antisepsis and appropriate prophylaxis</a:t>
            </a:r>
            <a:endParaRPr/>
          </a:p>
        </p:txBody>
      </p:sp>
      <p:sp>
        <p:nvSpPr>
          <p:cNvPr id="617" name="Google Shape;617;p40">
            <a:extLst xmlns:a="http://schemas.openxmlformats.org/drawingml/2006/main">
              <a:ext uri="{FF2B5EF4-FFF2-40B4-BE49-F238E27FC236}">
                <a16:creationId xmlns:a16="http://schemas.microsoft.com/office/drawing/2014/main" id="{348C1ACC-1801-4821-AA42-30532812940F}"/>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7</a:t>
            </a:r>
            <a:endParaRPr/>
          </a:p>
        </p:txBody>
      </p:sp>
      <p:sp>
        <p:nvSpPr>
          <p:cNvPr id="618" name="Google Shape;618;p40">
            <a:extLst xmlns:a="http://schemas.openxmlformats.org/drawingml/2006/main">
              <a:ext uri="{FF2B5EF4-FFF2-40B4-BE49-F238E27FC236}">
                <a16:creationId xmlns:a16="http://schemas.microsoft.com/office/drawing/2014/main" id="{3913BD08-EC4E-45A3-BB67-33E6CDF09ACF}"/>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Preserved tissue and undistorted measurement</a:t>
            </a:r>
            <a:endParaRPr/>
          </a:p>
        </p:txBody>
      </p:sp>
      <p:sp>
        <p:nvSpPr>
          <p:cNvPr id="619" name="Google Shape;619;p40">
            <a:extLst xmlns:a="http://schemas.openxmlformats.org/drawingml/2006/main">
              <a:ext uri="{FF2B5EF4-FFF2-40B4-BE49-F238E27FC236}">
                <a16:creationId xmlns:a16="http://schemas.microsoft.com/office/drawing/2014/main" id="{A2CC4E9D-CFEB-4E9F-82F5-6E8E828B6C1E}"/>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8</a:t>
            </a:r>
            <a:endParaRPr/>
          </a:p>
        </p:txBody>
      </p:sp>
      <p:sp>
        <p:nvSpPr>
          <p:cNvPr id="620" name="Google Shape;620;p40">
            <a:extLst xmlns:a="http://schemas.openxmlformats.org/drawingml/2006/main">
              <a:ext uri="{FF2B5EF4-FFF2-40B4-BE49-F238E27FC236}">
                <a16:creationId xmlns:a16="http://schemas.microsoft.com/office/drawing/2014/main" id="{1C6A8FEC-D9D9-4A21-9676-F889B6BECB9E}"/>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Actual device protocol and explicit stop conditions</a:t>
            </a:r>
            <a:endParaRPr/>
          </a:p>
        </p:txBody>
      </p:sp>
      <p:sp>
        <p:nvSpPr>
          <p:cNvPr id="621" name="Google Shape;621;p40">
            <a:extLst xmlns:a="http://schemas.openxmlformats.org/drawingml/2006/main">
              <a:ext uri="{FF2B5EF4-FFF2-40B4-BE49-F238E27FC236}">
                <a16:creationId xmlns:a16="http://schemas.microsoft.com/office/drawing/2014/main" id="{06A907F8-093E-460C-A911-0DDD4149EC40}"/>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9</a:t>
            </a:r>
            <a:endParaRPr/>
          </a:p>
        </p:txBody>
      </p:sp>
      <p:sp>
        <p:nvSpPr>
          <p:cNvPr id="622" name="Google Shape;622;p40">
            <a:extLst xmlns:a="http://schemas.openxmlformats.org/drawingml/2006/main">
              <a:ext uri="{FF2B5EF4-FFF2-40B4-BE49-F238E27FC236}">
                <a16:creationId xmlns:a16="http://schemas.microsoft.com/office/drawing/2014/main" id="{177A511F-C085-4EE0-AE43-8A90661491C4}"/>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Verified deactivation, drainage and patient teaching</a:t>
            </a:r>
            <a:endParaRPr/>
          </a:p>
        </p:txBody>
      </p:sp>
      <p:sp>
        <p:nvSpPr>
          <p:cNvPr id="623" name="Google Shape;623;p40">
            <a:extLst xmlns:a="http://schemas.openxmlformats.org/drawingml/2006/main">
              <a:ext uri="{FF2B5EF4-FFF2-40B4-BE49-F238E27FC236}">
                <a16:creationId xmlns:a16="http://schemas.microsoft.com/office/drawing/2014/main" id="{2D39082D-24C9-416E-A419-06C554A8FD3F}"/>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850" b="1">
                <a:solidFill>
                  <a:srgbClr val="147F83"/>
                </a:solidFill>
                <a:latin typeface="Arial"/>
                <a:ea typeface="Arial"/>
                <a:cs typeface="Arial"/>
              </a:rPr>
              <a:t>10</a:t>
            </a:r>
            <a:endParaRPr/>
          </a:p>
        </p:txBody>
      </p:sp>
      <p:sp>
        <p:nvSpPr>
          <p:cNvPr id="624" name="Google Shape;624;p40">
            <a:extLst xmlns:a="http://schemas.openxmlformats.org/drawingml/2006/main">
              <a:ext uri="{FF2B5EF4-FFF2-40B4-BE49-F238E27FC236}">
                <a16:creationId xmlns:a16="http://schemas.microsoft.com/office/drawing/2014/main" id="{6FDF34DB-A81D-4016-9965-598D57910538}"/>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250" b="0">
                <a:solidFill>
                  <a:srgbClr val="183343"/>
                </a:solidFill>
                <a:latin typeface="Arial"/>
                <a:ea typeface="Arial"/>
                <a:cs typeface="Arial"/>
              </a:rPr>
              <a:t>A diagnosis before choosing revision</a:t>
            </a:r>
            <a:endParaRPr/>
          </a:p>
        </p:txBody>
      </p:sp>
    </p:spTree>
    <p:extLst>
      <p:ext uri="{BB962C8B-B14F-4D97-AF65-F5344CB8AC3E}">
        <p14:creationId xmlns:p14="http://schemas.microsoft.com/office/powerpoint/2010/main" val="80689186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0" name="Google Shape;630;p41">
            <a:extLst xmlns:a="http://schemas.openxmlformats.org/drawingml/2006/main">
              <a:ext uri="{FF2B5EF4-FFF2-40B4-BE49-F238E27FC236}">
                <a16:creationId xmlns:a16="http://schemas.microsoft.com/office/drawing/2014/main" id="{43FAFA5D-B800-4F9E-8FDB-921112CC09E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Discussion</a:t>
            </a:r>
            <a:endParaRPr/>
          </a:p>
        </p:txBody>
      </p:sp>
      <p:sp>
        <p:nvSpPr>
          <p:cNvPr id="631" name="Google Shape;631;p41">
            <a:extLst xmlns:a="http://schemas.openxmlformats.org/drawingml/2006/main">
              <a:ext uri="{FF2B5EF4-FFF2-40B4-BE49-F238E27FC236}">
                <a16:creationId xmlns:a16="http://schemas.microsoft.com/office/drawing/2014/main" id="{B8140A1E-A4AB-419A-A6A9-6EB1CDF817B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32" name="Google Shape;632;p41">
            <a:extLst xmlns:a="http://schemas.openxmlformats.org/drawingml/2006/main">
              <a:ext uri="{FF2B5EF4-FFF2-40B4-BE49-F238E27FC236}">
                <a16:creationId xmlns:a16="http://schemas.microsoft.com/office/drawing/2014/main" id="{7F126BA9-2C01-490E-969F-38ACBA6BF54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25" b="0">
                <a:solidFill>
                  <a:srgbClr val="526773"/>
                </a:solidFill>
                <a:latin typeface="Arial"/>
                <a:ea typeface="Arial"/>
                <a:cs typeface="Arial"/>
              </a:rPr>
              <a:t>Discussion</a:t>
            </a:r>
            <a:endParaRPr/>
          </a:p>
        </p:txBody>
      </p:sp>
      <p:sp>
        <p:nvSpPr>
          <p:cNvPr id="633" name="Google Shape;633;p41">
            <a:extLst xmlns:a="http://schemas.openxmlformats.org/drawingml/2006/main">
              <a:ext uri="{FF2B5EF4-FFF2-40B4-BE49-F238E27FC236}">
                <a16:creationId xmlns:a16="http://schemas.microsoft.com/office/drawing/2014/main" id="{9DB870C4-DA14-48CE-A5D9-20D289011B9A}"/>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38</a:t>
            </a:r>
            <a:endParaRPr/>
          </a:p>
        </p:txBody>
      </p:sp>
      <p:sp>
        <p:nvSpPr>
          <p:cNvPr id="634" name="Google Shape;634;p41">
            <a:extLst xmlns:a="http://schemas.openxmlformats.org/drawingml/2006/main">
              <a:ext uri="{FF2B5EF4-FFF2-40B4-BE49-F238E27FC236}">
                <a16:creationId xmlns:a16="http://schemas.microsoft.com/office/drawing/2014/main" id="{75B6C77E-3965-4E91-A030-7D5BAEABD698}"/>
              </a:ext>
            </a:extLst>
          </p:cNvPr>
          <p:cNvSpPr>
            <a:spLocks xmlns:a="http://schemas.openxmlformats.org/drawingml/2006/main" noGrp="1"/>
          </p:cNvSpPr>
          <p:nvPr/>
        </p:nvSpPr>
        <p:spPr>
          <a:xfrm xmlns:a="http://schemas.openxmlformats.org/drawingml/2006/main">
            <a:off x="609600" y="2057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bladder finding makes you defer an implant?</a:t>
            </a:r>
            <a:endParaRPr/>
          </a:p>
        </p:txBody>
      </p:sp>
      <p:sp>
        <p:nvSpPr>
          <p:cNvPr id="635" name="Google Shape;635;p41">
            <a:extLst xmlns:a="http://schemas.openxmlformats.org/drawingml/2006/main">
              <a:ext uri="{FF2B5EF4-FFF2-40B4-BE49-F238E27FC236}">
                <a16:creationId xmlns:a16="http://schemas.microsoft.com/office/drawing/2014/main" id="{2F29F443-5B24-45A7-B70E-42B9F7B9B6F3}"/>
              </a:ext>
            </a:extLst>
          </p:cNvPr>
          <p:cNvSpPr>
            <a:spLocks xmlns:a="http://schemas.openxmlformats.org/drawingml/2006/main" noGrp="1"/>
          </p:cNvSpPr>
          <p:nvPr/>
        </p:nvSpPr>
        <p:spPr>
          <a:xfrm xmlns:a="http://schemas.openxmlformats.org/drawingml/2006/main">
            <a:off x="609600" y="3200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What establishes urethral stability in your practice?</a:t>
            </a:r>
            <a:endParaRPr/>
          </a:p>
        </p:txBody>
      </p:sp>
      <p:sp>
        <p:nvSpPr>
          <p:cNvPr id="636" name="Google Shape;636;p41">
            <a:extLst xmlns:a="http://schemas.openxmlformats.org/drawingml/2006/main">
              <a:ext uri="{FF2B5EF4-FFF2-40B4-BE49-F238E27FC236}">
                <a16:creationId xmlns:a16="http://schemas.microsoft.com/office/drawing/2014/main" id="{F24A21E1-2DBF-4297-83DF-7B760FF04F4C}"/>
              </a:ext>
            </a:extLst>
          </p:cNvPr>
          <p:cNvSpPr>
            <a:spLocks xmlns:a="http://schemas.openxmlformats.org/drawingml/2006/main" noGrp="1"/>
          </p:cNvSpPr>
          <p:nvPr/>
        </p:nvSpPr>
        <p:spPr>
          <a:xfrm xmlns:a="http://schemas.openxmlformats.org/drawingml/2006/main">
            <a:off x="609600" y="4343400"/>
            <a:ext cx="10668000" cy="1028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700" b="0">
                <a:solidFill>
                  <a:srgbClr val="183343"/>
                </a:solidFill>
                <a:latin typeface="Arial"/>
                <a:ea typeface="Arial"/>
                <a:cs typeface="Arial"/>
              </a:rPr>
              <a:t>Which preparation or salvage practice needs a trial?</a:t>
            </a:r>
            <a:endParaRPr/>
          </a:p>
        </p:txBody>
      </p:sp>
      <p:sp>
        <p:nvSpPr>
          <p:cNvPr id="637" name="Google Shape;637;p41">
            <a:extLst xmlns:a="http://schemas.openxmlformats.org/drawingml/2006/main">
              <a:ext uri="{FF2B5EF4-FFF2-40B4-BE49-F238E27FC236}">
                <a16:creationId xmlns:a16="http://schemas.microsoft.com/office/drawing/2014/main" id="{5F0B6E18-12A0-4E61-ADC7-7FA4D4D83689}"/>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75" b="0">
                <a:solidFill>
                  <a:srgbClr val="147F83"/>
                </a:solidFill>
                <a:latin typeface="Arial"/>
                <a:ea typeface="Arial"/>
                <a:cs typeface="Arial"/>
              </a:rPr>
              <a:t>Five minutes</a:t>
            </a:r>
            <a:endParaRPr/>
          </a:p>
        </p:txBody>
      </p:sp>
      <p:sp>
        <p:nvSpPr>
          <p:cNvPr id="638" name="Google Shape;638;p41">
            <a:extLst xmlns:a="http://schemas.openxmlformats.org/drawingml/2006/main">
              <a:ext uri="{FF2B5EF4-FFF2-40B4-BE49-F238E27FC236}">
                <a16:creationId xmlns:a16="http://schemas.microsoft.com/office/drawing/2014/main" id="{AAE22CF6-A501-4F30-AFB1-0BC24728236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725" b="0">
                <a:solidFill>
                  <a:srgbClr val="526773"/>
                </a:solidFill>
                <a:latin typeface="Arial"/>
                <a:ea typeface="Arial"/>
                <a:cs typeface="Arial"/>
              </a:rPr>
              <a:t>Which finding would change your plan?</a:t>
            </a:r>
            <a:endParaRPr/>
          </a:p>
        </p:txBody>
      </p:sp>
    </p:spTree>
    <p:extLst>
      <p:ext uri="{BB962C8B-B14F-4D97-AF65-F5344CB8AC3E}">
        <p14:creationId xmlns:p14="http://schemas.microsoft.com/office/powerpoint/2010/main" val="61118270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4" name="Google Shape;644;p42">
            <a:extLst xmlns:a="http://schemas.openxmlformats.org/drawingml/2006/main">
              <a:ext uri="{FF2B5EF4-FFF2-40B4-BE49-F238E27FC236}">
                <a16:creationId xmlns:a16="http://schemas.microsoft.com/office/drawing/2014/main" id="{E6562790-9C05-480E-BA25-4E13405CB97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Outcome evidence: device and endpoint</a:t>
            </a:r>
            <a:endParaRPr/>
          </a:p>
        </p:txBody>
      </p:sp>
      <p:sp>
        <p:nvSpPr>
          <p:cNvPr id="645" name="Google Shape;645;p42">
            <a:extLst xmlns:a="http://schemas.openxmlformats.org/drawingml/2006/main">
              <a:ext uri="{FF2B5EF4-FFF2-40B4-BE49-F238E27FC236}">
                <a16:creationId xmlns:a16="http://schemas.microsoft.com/office/drawing/2014/main" id="{F086F284-DFC4-4225-A2FE-ED8A1B3B104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46" name="Google Shape;646;p42">
            <a:extLst xmlns:a="http://schemas.openxmlformats.org/drawingml/2006/main">
              <a:ext uri="{FF2B5EF4-FFF2-40B4-BE49-F238E27FC236}">
                <a16:creationId xmlns:a16="http://schemas.microsoft.com/office/drawing/2014/main" id="{0BBF19F2-3DC5-49E0-865C-D029D7FE8C4E}"/>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51" name="Google Shape;647;p42"/>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524250"/>
                <a:gridCol w="3714750"/>
                <a:gridCol w="3733800"/>
              </a:tblGrid>
              <a:tr h="552450">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Study and population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Endpoint and result</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AUSCO 2026: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115 primary implants, 25 irradiated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 months after activation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91/97 ≥50% pad-weight reduction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61/101 zero pads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Prospective single-arm, funded by manufacturer. Missing data, one year, expert centres</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Linder 2015: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1,082 primary implants, 27% irradiated</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Freedom from any secondary surgery</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KM 74% at five years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57% at ten years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Historical specialist cohort. Continence and revision-free survival differ</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Wilson 2024: ContiClassic</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116 recipients, mixed indications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Eight revisions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12-month KM device survival 93.2%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Early safety series. No standardised continence comparator; mixed indications</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29934439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53" name="Google Shape;653;p43">
            <a:extLst xmlns:a="http://schemas.openxmlformats.org/drawingml/2006/main">
              <a:ext uri="{FF2B5EF4-FFF2-40B4-BE49-F238E27FC236}">
                <a16:creationId xmlns:a16="http://schemas.microsoft.com/office/drawing/2014/main" id="{F361F6C9-96D1-4D0C-9DB7-9AE2D478AEA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Comparative and preparation evidence</a:t>
            </a:r>
            <a:endParaRPr/>
          </a:p>
        </p:txBody>
      </p:sp>
      <p:sp>
        <p:nvSpPr>
          <p:cNvPr id="654" name="Google Shape;654;p43">
            <a:extLst xmlns:a="http://schemas.openxmlformats.org/drawingml/2006/main">
              <a:ext uri="{FF2B5EF4-FFF2-40B4-BE49-F238E27FC236}">
                <a16:creationId xmlns:a16="http://schemas.microsoft.com/office/drawing/2014/main" id="{4FE15E15-D20F-453B-8168-85593E7C5A7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55" name="Google Shape;655;p43">
            <a:extLst xmlns:a="http://schemas.openxmlformats.org/drawingml/2006/main">
              <a:ext uri="{FF2B5EF4-FFF2-40B4-BE49-F238E27FC236}">
                <a16:creationId xmlns:a16="http://schemas.microsoft.com/office/drawing/2014/main" id="{31C3A0C3-090C-47D8-AD52-4F4802CA6D04}"/>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60" name="Google Shape;656;p43"/>
          <p:cNvGraphicFramePr/>
          <p:nvPr/>
        </p:nvGraphicFramePr>
        <p:xfrm>
          <a:off xmlns:a="http://schemas.openxmlformats.org/drawingml/2006/main" x="609600" y="1790700"/>
          <a:ext xmlns:a="http://schemas.openxmlformats.org/drawingml/2006/main" cx="3000000" cy="3000000"/>
        </p:xfrm>
        <a:graphic xmlns:a="http://schemas.openxmlformats.org/drawingml/2006/main">
          <a:graphicData uri="http://schemas.openxmlformats.org/drawingml/2006/table">
            <a:tbl>
              <a:tblPr>
                <a:tableStyleId>{0AF7EDE5-490F-44FA-BAEA-A03204E10917}</a:tableStyleId>
              </a:tblPr>
              <a:tblGrid>
                <a:gridCol w="3048000"/>
                <a:gridCol w="4000500"/>
                <a:gridCol w="3924300"/>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Study</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Finding</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Limits</a:t>
                      </a:r>
                      <a:endParaRPr/>
                    </a:p>
                  </a:txBody>
                  <a:tcPr marL="133350" marR="133350" marT="95250" marB="76200" anchor="ctr">
                    <a:solidFill>
                      <a:srgbClr val="183343"/>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MASTER 2022 /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Same 380 randomised men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24-month non-inferiority retained</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Further surgery: sling 11%, AUS 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Selected trial population. Secondary outcomes favour AUS; not general equivalence</a:t>
                      </a:r>
                      <a:endParaRPr/>
                    </a:p>
                  </a:txBody>
                  <a:tcPr marL="133350" marR="133350" marT="95250" marB="76200" anchor="ctr">
                    <a:solidFill>
                      <a:srgbClr val="EEF4F5"/>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Yeung 2013</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100 initial GU prosthetic procedures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Post-preparation skin culture positivity</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8% versus 32%</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Surrogate outcome. Mixed devices. No AUS infection or duration conclusion</a:t>
                      </a:r>
                      <a:endParaRPr/>
                    </a:p>
                  </a:txBody>
                  <a:tcPr marL="133350" marR="133350" marT="95250" marB="76200" anchor="ctr">
                    <a:solidFill>
                      <a:srgbClr val="FFFFFF"/>
                    </a:solidFill>
                  </a:tcPr>
                </a:tc>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Gentamicin withdrawal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173 uncoated AMS 800 procedures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90-day SSI: 1/59 versus 2/114</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No significant difference detected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Sparse events, era confounding, broad systemic prophylaxis; not equivalence</a:t>
                      </a:r>
                      <a:endParaRP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08732951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2" name="Google Shape;662;p44">
            <a:extLst xmlns:a="http://schemas.openxmlformats.org/drawingml/2006/main">
              <a:ext uri="{FF2B5EF4-FFF2-40B4-BE49-F238E27FC236}">
                <a16:creationId xmlns:a16="http://schemas.microsoft.com/office/drawing/2014/main" id="{036CD798-9981-47D7-BB69-513AFEF51A0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Evidence gaps</a:t>
            </a:r>
            <a:endParaRPr/>
          </a:p>
        </p:txBody>
      </p:sp>
      <p:sp>
        <p:nvSpPr>
          <p:cNvPr id="663" name="Google Shape;663;p44">
            <a:extLst xmlns:a="http://schemas.openxmlformats.org/drawingml/2006/main">
              <a:ext uri="{FF2B5EF4-FFF2-40B4-BE49-F238E27FC236}">
                <a16:creationId xmlns:a16="http://schemas.microsoft.com/office/drawing/2014/main" id="{31E7DCAD-91AF-4DA5-9C56-98BDA6A598D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64" name="Google Shape;664;p44">
            <a:extLst xmlns:a="http://schemas.openxmlformats.org/drawingml/2006/main">
              <a:ext uri="{FF2B5EF4-FFF2-40B4-BE49-F238E27FC236}">
                <a16:creationId xmlns:a16="http://schemas.microsoft.com/office/drawing/2014/main" id="{A8CAADC6-854F-4DB0-A724-4952C10E428C}"/>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65" name="Google Shape;665;p44">
            <a:extLst xmlns:a="http://schemas.openxmlformats.org/drawingml/2006/main">
              <a:ext uri="{FF2B5EF4-FFF2-40B4-BE49-F238E27FC236}">
                <a16:creationId xmlns:a16="http://schemas.microsoft.com/office/drawing/2014/main" id="{C2E7250D-EF0B-47BF-B9CB-80C24C52C20E}"/>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Routine versus selective UDS and meaningful outcomes</a:t>
            </a:r>
            <a:endParaRPr/>
          </a:p>
        </p:txBody>
      </p:sp>
      <p:sp>
        <p:nvSpPr>
          <p:cNvPr id="666" name="Google Shape;666;p44">
            <a:extLst xmlns:a="http://schemas.openxmlformats.org/drawingml/2006/main">
              <a:ext uri="{FF2B5EF4-FFF2-40B4-BE49-F238E27FC236}">
                <a16:creationId xmlns:a16="http://schemas.microsoft.com/office/drawing/2014/main" id="{827B8F5D-4274-4C98-AC27-7F25ACC8F8ED}"/>
              </a:ext>
            </a:extLst>
          </p:cNvPr>
          <p:cNvSpPr>
            <a:spLocks xmlns:a="http://schemas.openxmlformats.org/drawingml/2006/main" noGrp="1"/>
          </p:cNvSpPr>
          <p:nvPr/>
        </p:nvSpPr>
        <p:spPr>
          <a:xfrm xmlns:a="http://schemas.openxmlformats.org/drawingml/2006/main">
            <a:off x="609600" y="23336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Functional eligibility in DU or chronic retention</a:t>
            </a:r>
            <a:endParaRPr/>
          </a:p>
        </p:txBody>
      </p:sp>
      <p:sp>
        <p:nvSpPr>
          <p:cNvPr id="667" name="Google Shape;667;p44">
            <a:extLst xmlns:a="http://schemas.openxmlformats.org/drawingml/2006/main">
              <a:ext uri="{FF2B5EF4-FFF2-40B4-BE49-F238E27FC236}">
                <a16:creationId xmlns:a16="http://schemas.microsoft.com/office/drawing/2014/main" id="{57032BFF-ECE6-4516-ABDF-B705911894A8}"/>
              </a:ext>
            </a:extLst>
          </p:cNvPr>
          <p:cNvSpPr>
            <a:spLocks xmlns:a="http://schemas.openxmlformats.org/drawingml/2006/main" noGrp="1"/>
          </p:cNvSpPr>
          <p:nvPr/>
        </p:nvSpPr>
        <p:spPr>
          <a:xfrm xmlns:a="http://schemas.openxmlformats.org/drawingml/2006/main">
            <a:off x="609600" y="28765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Staging intervals after different reconstructions</a:t>
            </a:r>
            <a:endParaRPr/>
          </a:p>
        </p:txBody>
      </p:sp>
      <p:sp>
        <p:nvSpPr>
          <p:cNvPr id="668" name="Google Shape;668;p44">
            <a:extLst xmlns:a="http://schemas.openxmlformats.org/drawingml/2006/main">
              <a:ext uri="{FF2B5EF4-FFF2-40B4-BE49-F238E27FC236}">
                <a16:creationId xmlns:a16="http://schemas.microsoft.com/office/drawing/2014/main" id="{7B185408-0308-4E63-951C-08A445C865B4}"/>
              </a:ext>
            </a:extLst>
          </p:cNvPr>
          <p:cNvSpPr>
            <a:spLocks xmlns:a="http://schemas.openxmlformats.org/drawingml/2006/main" noGrp="1"/>
          </p:cNvSpPr>
          <p:nvPr/>
        </p:nvSpPr>
        <p:spPr>
          <a:xfrm xmlns:a="http://schemas.openxmlformats.org/drawingml/2006/main">
            <a:off x="609600" y="341947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Comparative protection from salvage strategies</a:t>
            </a:r>
            <a:endParaRPr/>
          </a:p>
        </p:txBody>
      </p:sp>
      <p:sp>
        <p:nvSpPr>
          <p:cNvPr id="669" name="Google Shape;669;p44">
            <a:extLst xmlns:a="http://schemas.openxmlformats.org/drawingml/2006/main">
              <a:ext uri="{FF2B5EF4-FFF2-40B4-BE49-F238E27FC236}">
                <a16:creationId xmlns:a16="http://schemas.microsoft.com/office/drawing/2014/main" id="{5D60F2C8-0EFA-4070-9683-F2C01AE405A3}"/>
              </a:ext>
            </a:extLst>
          </p:cNvPr>
          <p:cNvSpPr>
            <a:spLocks xmlns:a="http://schemas.openxmlformats.org/drawingml/2006/main" noGrp="1"/>
          </p:cNvSpPr>
          <p:nvPr/>
        </p:nvSpPr>
        <p:spPr>
          <a:xfrm xmlns:a="http://schemas.openxmlformats.org/drawingml/2006/main">
            <a:off x="609600" y="396240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Preparation, irrigation and prolonged prophylaxis</a:t>
            </a:r>
            <a:endParaRPr/>
          </a:p>
        </p:txBody>
      </p:sp>
      <p:sp>
        <p:nvSpPr>
          <p:cNvPr id="670" name="Google Shape;670;p44">
            <a:extLst xmlns:a="http://schemas.openxmlformats.org/drawingml/2006/main">
              <a:ext uri="{FF2B5EF4-FFF2-40B4-BE49-F238E27FC236}">
                <a16:creationId xmlns:a16="http://schemas.microsoft.com/office/drawing/2014/main" id="{9F3C88B6-DC91-43AE-B070-BFD04AA7BA3E}"/>
              </a:ext>
            </a:extLst>
          </p:cNvPr>
          <p:cNvSpPr>
            <a:spLocks xmlns:a="http://schemas.openxmlformats.org/drawingml/2006/main" noGrp="1"/>
          </p:cNvSpPr>
          <p:nvPr/>
        </p:nvSpPr>
        <p:spPr>
          <a:xfrm xmlns:a="http://schemas.openxmlformats.org/drawingml/2006/main">
            <a:off x="609600" y="4505325"/>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Independent long-term ContiClassic outcomes</a:t>
            </a:r>
            <a:endParaRPr/>
          </a:p>
        </p:txBody>
      </p:sp>
      <p:sp>
        <p:nvSpPr>
          <p:cNvPr id="671" name="Google Shape;671;p44">
            <a:extLst xmlns:a="http://schemas.openxmlformats.org/drawingml/2006/main">
              <a:ext uri="{FF2B5EF4-FFF2-40B4-BE49-F238E27FC236}">
                <a16:creationId xmlns:a16="http://schemas.microsoft.com/office/drawing/2014/main" id="{B69B213D-E526-4508-83C4-4DD3E919531A}"/>
              </a:ext>
            </a:extLst>
          </p:cNvPr>
          <p:cNvSpPr>
            <a:spLocks xmlns:a="http://schemas.openxmlformats.org/drawingml/2006/main" noGrp="1"/>
          </p:cNvSpPr>
          <p:nvPr/>
        </p:nvSpPr>
        <p:spPr>
          <a:xfrm xmlns:a="http://schemas.openxmlformats.org/drawingml/2006/main">
            <a:off x="609600" y="5048250"/>
            <a:ext cx="10972800" cy="428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025" b="0">
                <a:solidFill>
                  <a:srgbClr val="183343"/>
                </a:solidFill>
                <a:latin typeface="Arial"/>
                <a:ea typeface="Arial"/>
                <a:cs typeface="Arial"/>
              </a:rPr>
              <a:t>Mechanisms and revision strategy in late leakage</a:t>
            </a:r>
            <a:endParaRPr/>
          </a:p>
        </p:txBody>
      </p:sp>
    </p:spTree>
    <p:extLst>
      <p:ext uri="{BB962C8B-B14F-4D97-AF65-F5344CB8AC3E}">
        <p14:creationId xmlns:p14="http://schemas.microsoft.com/office/powerpoint/2010/main" val="83447776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7" name="Google Shape;677;p45">
            <a:extLst xmlns:a="http://schemas.openxmlformats.org/drawingml/2006/main">
              <a:ext uri="{FF2B5EF4-FFF2-40B4-BE49-F238E27FC236}">
                <a16:creationId xmlns:a16="http://schemas.microsoft.com/office/drawing/2014/main" id="{C6228662-B7FE-463A-BD6F-167E6FFB48B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1 of 7</a:t>
            </a:r>
            <a:endParaRPr/>
          </a:p>
        </p:txBody>
      </p:sp>
      <p:sp>
        <p:nvSpPr>
          <p:cNvPr id="678" name="Google Shape;678;p45">
            <a:extLst xmlns:a="http://schemas.openxmlformats.org/drawingml/2006/main">
              <a:ext uri="{FF2B5EF4-FFF2-40B4-BE49-F238E27FC236}">
                <a16:creationId xmlns:a16="http://schemas.microsoft.com/office/drawing/2014/main" id="{01F8340F-6FB9-4086-8FDA-AE2B816D137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79" name="Google Shape;679;p45">
            <a:extLst xmlns:a="http://schemas.openxmlformats.org/drawingml/2006/main">
              <a:ext uri="{FF2B5EF4-FFF2-40B4-BE49-F238E27FC236}">
                <a16:creationId xmlns:a16="http://schemas.microsoft.com/office/drawing/2014/main" id="{CB8E62FC-2D7F-4F3A-8254-C6298B5A4A5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80" name="Google Shape;680;p45">
            <a:extLst xmlns:a="http://schemas.openxmlformats.org/drawingml/2006/main">
              <a:ext uri="{FF2B5EF4-FFF2-40B4-BE49-F238E27FC236}">
                <a16:creationId xmlns:a16="http://schemas.microsoft.com/office/drawing/2014/main" id="{2119172F-AD3C-4DB3-BBA4-AB6336496CF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BAUS25</a:t>
            </a:r>
            <a:endParaRPr/>
          </a:p>
        </p:txBody>
      </p:sp>
      <p:sp>
        <p:nvSpPr>
          <p:cNvPr id="681" name="Google Shape;681;p45">
            <a:extLst xmlns:a="http://schemas.openxmlformats.org/drawingml/2006/main">
              <a:ext uri="{FF2B5EF4-FFF2-40B4-BE49-F238E27FC236}">
                <a16:creationId xmlns:a16="http://schemas.microsoft.com/office/drawing/2014/main" id="{7E24354D-9651-467E-9F1C-5857C013AB59}"/>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96062852274a82"/>
              </a:rPr>
              <a:t>BAUS consensus, BJU Int 2025</a:t>
            </a:r>
            <a:endParaRPr/>
          </a:p>
        </p:txBody>
      </p:sp>
      <p:sp>
        <p:nvSpPr>
          <p:cNvPr id="682" name="Google Shape;682;p45">
            <a:extLst xmlns:a="http://schemas.openxmlformats.org/drawingml/2006/main">
              <a:ext uri="{FF2B5EF4-FFF2-40B4-BE49-F238E27FC236}">
                <a16:creationId xmlns:a16="http://schemas.microsoft.com/office/drawing/2014/main" id="{635C07E4-B27E-4D43-9929-EB965E328B14}"/>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EAU26</a:t>
            </a:r>
            <a:endParaRPr/>
          </a:p>
        </p:txBody>
      </p:sp>
      <p:sp>
        <p:nvSpPr>
          <p:cNvPr id="683" name="Google Shape;683;p45">
            <a:extLst xmlns:a="http://schemas.openxmlformats.org/drawingml/2006/main">
              <a:ext uri="{FF2B5EF4-FFF2-40B4-BE49-F238E27FC236}">
                <a16:creationId xmlns:a16="http://schemas.microsoft.com/office/drawing/2014/main" id="{87A0D8D9-CD67-481E-87CE-EA1C7D13EB1B}"/>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ad07626e602445d"/>
              </a:rPr>
              <a:t>EAU male LUTS guidelines, 2026</a:t>
            </a:r>
            <a:endParaRPr/>
          </a:p>
        </p:txBody>
      </p:sp>
      <p:sp>
        <p:nvSpPr>
          <p:cNvPr id="684" name="Google Shape;684;p45">
            <a:extLst xmlns:a="http://schemas.openxmlformats.org/drawingml/2006/main">
              <a:ext uri="{FF2B5EF4-FFF2-40B4-BE49-F238E27FC236}">
                <a16:creationId xmlns:a16="http://schemas.microsoft.com/office/drawing/2014/main" id="{3A117B3D-AED8-407E-B77C-974A20D8B468}"/>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AUA24</a:t>
            </a:r>
            <a:endParaRPr/>
          </a:p>
        </p:txBody>
      </p:sp>
      <p:sp>
        <p:nvSpPr>
          <p:cNvPr id="685" name="Google Shape;685;p45">
            <a:extLst xmlns:a="http://schemas.openxmlformats.org/drawingml/2006/main">
              <a:ext uri="{FF2B5EF4-FFF2-40B4-BE49-F238E27FC236}">
                <a16:creationId xmlns:a16="http://schemas.microsoft.com/office/drawing/2014/main" id="{5E87272F-9E3E-44F9-BA41-1B2B016B6B65}"/>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0aeaaace05a4fa8"/>
              </a:rPr>
              <a:t>AUA/GURS/SUFU IPT amendment, 2024</a:t>
            </a:r>
            <a:endParaRPr/>
          </a:p>
        </p:txBody>
      </p:sp>
      <p:sp>
        <p:nvSpPr>
          <p:cNvPr id="686" name="Google Shape;686;p45">
            <a:extLst xmlns:a="http://schemas.openxmlformats.org/drawingml/2006/main">
              <a:ext uri="{FF2B5EF4-FFF2-40B4-BE49-F238E27FC236}">
                <a16:creationId xmlns:a16="http://schemas.microsoft.com/office/drawing/2014/main" id="{547EB6A0-2605-48C8-9BC0-E9C129769CEF}"/>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EAUSTR26</a:t>
            </a:r>
            <a:endParaRPr/>
          </a:p>
        </p:txBody>
      </p:sp>
      <p:sp>
        <p:nvSpPr>
          <p:cNvPr id="687" name="Google Shape;687;p45">
            <a:extLst xmlns:a="http://schemas.openxmlformats.org/drawingml/2006/main">
              <a:ext uri="{FF2B5EF4-FFF2-40B4-BE49-F238E27FC236}">
                <a16:creationId xmlns:a16="http://schemas.microsoft.com/office/drawing/2014/main" id="{488A738B-F80A-4F8F-BE05-E53606CE7ACC}"/>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3338d9c33e14a31"/>
              </a:rPr>
              <a:t>EAU urethral strictures guidelines, 2026</a:t>
            </a:r>
            <a:endParaRPr/>
          </a:p>
        </p:txBody>
      </p:sp>
      <p:sp>
        <p:nvSpPr>
          <p:cNvPr id="688" name="Google Shape;688;p45">
            <a:extLst xmlns:a="http://schemas.openxmlformats.org/drawingml/2006/main">
              <a:ext uri="{FF2B5EF4-FFF2-40B4-BE49-F238E27FC236}">
                <a16:creationId xmlns:a16="http://schemas.microsoft.com/office/drawing/2014/main" id="{91B56B8B-6A60-49D1-BFE1-488C1DBBF3A6}"/>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ICS16</a:t>
            </a:r>
            <a:endParaRPr/>
          </a:p>
        </p:txBody>
      </p:sp>
      <p:sp>
        <p:nvSpPr>
          <p:cNvPr id="689" name="Google Shape;689;p45">
            <a:extLst xmlns:a="http://schemas.openxmlformats.org/drawingml/2006/main">
              <a:ext uri="{FF2B5EF4-FFF2-40B4-BE49-F238E27FC236}">
                <a16:creationId xmlns:a16="http://schemas.microsoft.com/office/drawing/2014/main" id="{E723CB15-7992-4402-9465-667A496E9A5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2d3d6b9f40541c0"/>
              </a:rPr>
              <a:t>ICS AUS consensus, NUU 2016</a:t>
            </a:r>
            <a:endParaRPr/>
          </a:p>
        </p:txBody>
      </p:sp>
      <p:sp>
        <p:nvSpPr>
          <p:cNvPr id="690" name="Google Shape;690;p45">
            <a:extLst xmlns:a="http://schemas.openxmlformats.org/drawingml/2006/main">
              <a:ext uri="{FF2B5EF4-FFF2-40B4-BE49-F238E27FC236}">
                <a16:creationId xmlns:a16="http://schemas.microsoft.com/office/drawing/2014/main" id="{8A773160-6407-46C5-B34A-BBBE0C6E3A3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AP23</a:t>
            </a:r>
            <a:endParaRPr/>
          </a:p>
        </p:txBody>
      </p:sp>
      <p:sp>
        <p:nvSpPr>
          <p:cNvPr id="691" name="Google Shape;691;p45">
            <a:extLst xmlns:a="http://schemas.openxmlformats.org/drawingml/2006/main">
              <a:ext uri="{FF2B5EF4-FFF2-40B4-BE49-F238E27FC236}">
                <a16:creationId xmlns:a16="http://schemas.microsoft.com/office/drawing/2014/main" id="{3FD953F6-BAB7-4201-AC7A-B11AA20B8B7A}"/>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2fe3b65a5d44a15"/>
              </a:rPr>
              <a:t>Asia-Pacific AMS 800 consensus, 2023</a:t>
            </a:r>
            <a:endParaRPr/>
          </a:p>
        </p:txBody>
      </p:sp>
      <p:sp>
        <p:nvSpPr>
          <p:cNvPr id="692" name="Google Shape;692;p45">
            <a:extLst xmlns:a="http://schemas.openxmlformats.org/drawingml/2006/main">
              <a:ext uri="{FF2B5EF4-FFF2-40B4-BE49-F238E27FC236}">
                <a16:creationId xmlns:a16="http://schemas.microsoft.com/office/drawing/2014/main" id="{56DC4BDD-EBB9-43DA-9E54-65C17B03A12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CCIFU</a:t>
            </a:r>
            <a:endParaRPr/>
          </a:p>
        </p:txBody>
      </p:sp>
      <p:sp>
        <p:nvSpPr>
          <p:cNvPr id="693" name="Google Shape;693;p45">
            <a:extLst xmlns:a="http://schemas.openxmlformats.org/drawingml/2006/main">
              <a:ext uri="{FF2B5EF4-FFF2-40B4-BE49-F238E27FC236}">
                <a16:creationId xmlns:a16="http://schemas.microsoft.com/office/drawing/2014/main" id="{FBC78B69-FE43-4334-BDA2-41BE3EBA6C7A}"/>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9d9e000020f244f2"/>
              </a:rPr>
              <a:t>Rigicon ContiClassic IFU, REV.03, 2023</a:t>
            </a:r>
            <a:endParaRPr/>
          </a:p>
        </p:txBody>
      </p:sp>
      <p:sp>
        <p:nvSpPr>
          <p:cNvPr id="694" name="Google Shape;694;p45">
            <a:extLst xmlns:a="http://schemas.openxmlformats.org/drawingml/2006/main">
              <a:ext uri="{FF2B5EF4-FFF2-40B4-BE49-F238E27FC236}">
                <a16:creationId xmlns:a16="http://schemas.microsoft.com/office/drawing/2014/main" id="{15900066-3B51-4247-AD99-D2A4091F7613}"/>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ICSUDS17</a:t>
            </a:r>
            <a:endParaRPr/>
          </a:p>
        </p:txBody>
      </p:sp>
      <p:sp>
        <p:nvSpPr>
          <p:cNvPr id="695" name="Google Shape;695;p45">
            <a:extLst xmlns:a="http://schemas.openxmlformats.org/drawingml/2006/main">
              <a:ext uri="{FF2B5EF4-FFF2-40B4-BE49-F238E27FC236}">
                <a16:creationId xmlns:a16="http://schemas.microsoft.com/office/drawing/2014/main" id="{CFB4DA69-8AFF-4751-9932-0335026E91FC}"/>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a7968e533ce44ae"/>
              </a:rPr>
              <a:t>ICS good urodynamic practices, 2017</a:t>
            </a:r>
            <a:endParaRPr/>
          </a:p>
        </p:txBody>
      </p:sp>
      <p:sp>
        <p:nvSpPr>
          <p:cNvPr id="696" name="Google Shape;696;p45">
            <a:extLst xmlns:a="http://schemas.openxmlformats.org/drawingml/2006/main">
              <a:ext uri="{FF2B5EF4-FFF2-40B4-BE49-F238E27FC236}">
                <a16:creationId xmlns:a16="http://schemas.microsoft.com/office/drawing/2014/main" id="{1977937A-862D-41DA-9123-8D4E7F77D6C6}"/>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AUAOAB24</a:t>
            </a:r>
            <a:endParaRPr/>
          </a:p>
        </p:txBody>
      </p:sp>
      <p:sp>
        <p:nvSpPr>
          <p:cNvPr id="697" name="Google Shape;697;p45">
            <a:extLst xmlns:a="http://schemas.openxmlformats.org/drawingml/2006/main">
              <a:ext uri="{FF2B5EF4-FFF2-40B4-BE49-F238E27FC236}">
                <a16:creationId xmlns:a16="http://schemas.microsoft.com/office/drawing/2014/main" id="{16B28CC7-FC68-4AED-90DE-64E7CC43FE4D}"/>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90e922458244c0"/>
              </a:rPr>
              <a:t>AUA/SUFU idiopathic OAB guideline, 2024</a:t>
            </a:r>
            <a:endParaRPr/>
          </a:p>
        </p:txBody>
      </p:sp>
    </p:spTree>
    <p:extLst>
      <p:ext uri="{BB962C8B-B14F-4D97-AF65-F5344CB8AC3E}">
        <p14:creationId xmlns:p14="http://schemas.microsoft.com/office/powerpoint/2010/main" val="195436186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3" name="Google Shape;703;p46">
            <a:extLst xmlns:a="http://schemas.openxmlformats.org/drawingml/2006/main">
              <a:ext uri="{FF2B5EF4-FFF2-40B4-BE49-F238E27FC236}">
                <a16:creationId xmlns:a16="http://schemas.microsoft.com/office/drawing/2014/main" id="{DE20F023-FE2F-4870-A8F9-93C51A3C4E2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2 of 7</a:t>
            </a:r>
            <a:endParaRPr/>
          </a:p>
        </p:txBody>
      </p:sp>
      <p:sp>
        <p:nvSpPr>
          <p:cNvPr id="704" name="Google Shape;704;p46">
            <a:extLst xmlns:a="http://schemas.openxmlformats.org/drawingml/2006/main">
              <a:ext uri="{FF2B5EF4-FFF2-40B4-BE49-F238E27FC236}">
                <a16:creationId xmlns:a16="http://schemas.microsoft.com/office/drawing/2014/main" id="{BADBF60E-3D2C-419A-8F2A-70ED46385C0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05" name="Google Shape;705;p46">
            <a:extLst xmlns:a="http://schemas.openxmlformats.org/drawingml/2006/main">
              <a:ext uri="{FF2B5EF4-FFF2-40B4-BE49-F238E27FC236}">
                <a16:creationId xmlns:a16="http://schemas.microsoft.com/office/drawing/2014/main" id="{2786B6CF-ED91-4A91-BD3A-41F5F6B12B36}"/>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06" name="Google Shape;706;p46">
            <a:extLst xmlns:a="http://schemas.openxmlformats.org/drawingml/2006/main">
              <a:ext uri="{FF2B5EF4-FFF2-40B4-BE49-F238E27FC236}">
                <a16:creationId xmlns:a16="http://schemas.microsoft.com/office/drawing/2014/main" id="{D5C3B403-D96E-47B6-B195-5C76C5500D54}"/>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NICE</a:t>
            </a:r>
            <a:endParaRPr/>
          </a:p>
        </p:txBody>
      </p:sp>
      <p:sp>
        <p:nvSpPr>
          <p:cNvPr id="707" name="Google Shape;707;p46">
            <a:extLst xmlns:a="http://schemas.openxmlformats.org/drawingml/2006/main">
              <a:ext uri="{FF2B5EF4-FFF2-40B4-BE49-F238E27FC236}">
                <a16:creationId xmlns:a16="http://schemas.microsoft.com/office/drawing/2014/main" id="{08443FA3-DBB6-4B7B-9ADC-53ACEBC0925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a43f838df64bb9"/>
              </a:rPr>
              <a:t>NICE NG125: surgical site infection</a:t>
            </a:r>
            <a:endParaRPr/>
          </a:p>
        </p:txBody>
      </p:sp>
      <p:sp>
        <p:nvSpPr>
          <p:cNvPr id="708" name="Google Shape;708;p46">
            <a:extLst xmlns:a="http://schemas.openxmlformats.org/drawingml/2006/main">
              <a:ext uri="{FF2B5EF4-FFF2-40B4-BE49-F238E27FC236}">
                <a16:creationId xmlns:a16="http://schemas.microsoft.com/office/drawing/2014/main" id="{9A8107EF-C699-4FB3-897D-D4B661D94219}"/>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WHO09</a:t>
            </a:r>
            <a:endParaRPr/>
          </a:p>
        </p:txBody>
      </p:sp>
      <p:sp>
        <p:nvSpPr>
          <p:cNvPr id="709" name="Google Shape;709;p46">
            <a:extLst xmlns:a="http://schemas.openxmlformats.org/drawingml/2006/main">
              <a:ext uri="{FF2B5EF4-FFF2-40B4-BE49-F238E27FC236}">
                <a16:creationId xmlns:a16="http://schemas.microsoft.com/office/drawing/2014/main" id="{A0AB7CA9-0EEA-4DA4-A2CB-64AEA1D13817}"/>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d1c66e972d94a08"/>
              </a:rPr>
              <a:t>WHO hand hygiene guidance, 2009</a:t>
            </a:r>
            <a:endParaRPr/>
          </a:p>
        </p:txBody>
      </p:sp>
      <p:sp>
        <p:nvSpPr>
          <p:cNvPr id="710" name="Google Shape;710;p46">
            <a:extLst xmlns:a="http://schemas.openxmlformats.org/drawingml/2006/main">
              <a:ext uri="{FF2B5EF4-FFF2-40B4-BE49-F238E27FC236}">
                <a16:creationId xmlns:a16="http://schemas.microsoft.com/office/drawing/2014/main" id="{3DE5C937-6033-4DB6-B54A-536E34362636}"/>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CHLORA26</a:t>
            </a:r>
            <a:endParaRPr/>
          </a:p>
        </p:txBody>
      </p:sp>
      <p:sp>
        <p:nvSpPr>
          <p:cNvPr id="711" name="Google Shape;711;p46">
            <a:extLst xmlns:a="http://schemas.openxmlformats.org/drawingml/2006/main">
              <a:ext uri="{FF2B5EF4-FFF2-40B4-BE49-F238E27FC236}">
                <a16:creationId xmlns:a16="http://schemas.microsoft.com/office/drawing/2014/main" id="{93400416-FEB4-452D-9467-17864F72A85F}"/>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8b72e16e7454baa"/>
              </a:rPr>
              <a:t>ChloraPrep UK product information, 2026</a:t>
            </a:r>
            <a:endParaRPr/>
          </a:p>
        </p:txBody>
      </p:sp>
      <p:sp>
        <p:nvSpPr>
          <p:cNvPr id="712" name="Google Shape;712;p46">
            <a:extLst xmlns:a="http://schemas.openxmlformats.org/drawingml/2006/main">
              <a:ext uri="{FF2B5EF4-FFF2-40B4-BE49-F238E27FC236}">
                <a16:creationId xmlns:a16="http://schemas.microsoft.com/office/drawing/2014/main" id="{457D26AC-47E3-455C-9097-1E5545FBC94E}"/>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IDSA19</a:t>
            </a:r>
            <a:endParaRPr/>
          </a:p>
        </p:txBody>
      </p:sp>
      <p:sp>
        <p:nvSpPr>
          <p:cNvPr id="713" name="Google Shape;713;p46">
            <a:extLst xmlns:a="http://schemas.openxmlformats.org/drawingml/2006/main">
              <a:ext uri="{FF2B5EF4-FFF2-40B4-BE49-F238E27FC236}">
                <a16:creationId xmlns:a16="http://schemas.microsoft.com/office/drawing/2014/main" id="{6364D571-2B7F-4AD9-918E-C35014E5884D}"/>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19e8bbeb9fea45ab"/>
              </a:rPr>
              <a:t>IDSA asymptomatic bacteriuria, 2019</a:t>
            </a:r>
            <a:endParaRPr/>
          </a:p>
        </p:txBody>
      </p:sp>
      <p:sp>
        <p:nvSpPr>
          <p:cNvPr id="714" name="Google Shape;714;p46">
            <a:extLst xmlns:a="http://schemas.openxmlformats.org/drawingml/2006/main">
              <a:ext uri="{FF2B5EF4-FFF2-40B4-BE49-F238E27FC236}">
                <a16:creationId xmlns:a16="http://schemas.microsoft.com/office/drawing/2014/main" id="{3ABEC950-3D2C-4B1D-B8F9-EF750EB2C8B5}"/>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AUAABX20</a:t>
            </a:r>
            <a:endParaRPr/>
          </a:p>
        </p:txBody>
      </p:sp>
      <p:sp>
        <p:nvSpPr>
          <p:cNvPr id="715" name="Google Shape;715;p46">
            <a:extLst xmlns:a="http://schemas.openxmlformats.org/drawingml/2006/main">
              <a:ext uri="{FF2B5EF4-FFF2-40B4-BE49-F238E27FC236}">
                <a16:creationId xmlns:a16="http://schemas.microsoft.com/office/drawing/2014/main" id="{88C97427-6951-48E7-B71F-8089F8FF364D}"/>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d59e275f5294856"/>
              </a:rPr>
              <a:t>AUA antimicrobial prophylaxis, 2020</a:t>
            </a:r>
            <a:endParaRPr/>
          </a:p>
        </p:txBody>
      </p:sp>
      <p:sp>
        <p:nvSpPr>
          <p:cNvPr id="716" name="Google Shape;716;p46">
            <a:extLst xmlns:a="http://schemas.openxmlformats.org/drawingml/2006/main">
              <a:ext uri="{FF2B5EF4-FFF2-40B4-BE49-F238E27FC236}">
                <a16:creationId xmlns:a16="http://schemas.microsoft.com/office/drawing/2014/main" id="{F01B9B2B-0BCC-4D8F-887E-E93A4551CD97}"/>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CCSAFETY</a:t>
            </a:r>
            <a:endParaRPr/>
          </a:p>
        </p:txBody>
      </p:sp>
      <p:sp>
        <p:nvSpPr>
          <p:cNvPr id="717" name="Google Shape;717;p46">
            <a:extLst xmlns:a="http://schemas.openxmlformats.org/drawingml/2006/main">
              <a:ext uri="{FF2B5EF4-FFF2-40B4-BE49-F238E27FC236}">
                <a16:creationId xmlns:a16="http://schemas.microsoft.com/office/drawing/2014/main" id="{D53E99DF-A682-4825-BB44-300ECA013BB8}"/>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ef312843753474e"/>
              </a:rPr>
              <a:t>Wilson: ContiClassic safety, IJIR 2024</a:t>
            </a:r>
            <a:endParaRPr/>
          </a:p>
        </p:txBody>
      </p:sp>
      <p:sp>
        <p:nvSpPr>
          <p:cNvPr id="718" name="Google Shape;718;p46">
            <a:extLst xmlns:a="http://schemas.openxmlformats.org/drawingml/2006/main">
              <a:ext uri="{FF2B5EF4-FFF2-40B4-BE49-F238E27FC236}">
                <a16:creationId xmlns:a16="http://schemas.microsoft.com/office/drawing/2014/main" id="{62F07B65-D076-46CE-BF74-B1427B776BAB}"/>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MASTER22</a:t>
            </a:r>
            <a:endParaRPr/>
          </a:p>
        </p:txBody>
      </p:sp>
      <p:sp>
        <p:nvSpPr>
          <p:cNvPr id="719" name="Google Shape;719;p46">
            <a:extLst xmlns:a="http://schemas.openxmlformats.org/drawingml/2006/main">
              <a:ext uri="{FF2B5EF4-FFF2-40B4-BE49-F238E27FC236}">
                <a16:creationId xmlns:a16="http://schemas.microsoft.com/office/drawing/2014/main" id="{FEDAF567-1321-4575-B5D3-41C4D1156F3B}"/>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635fad21d39c47fd"/>
              </a:rPr>
              <a:t>MASTER randomised trial, HTA 2022</a:t>
            </a:r>
            <a:endParaRPr/>
          </a:p>
        </p:txBody>
      </p:sp>
      <p:sp>
        <p:nvSpPr>
          <p:cNvPr id="720" name="Google Shape;720;p46">
            <a:extLst xmlns:a="http://schemas.openxmlformats.org/drawingml/2006/main">
              <a:ext uri="{FF2B5EF4-FFF2-40B4-BE49-F238E27FC236}">
                <a16:creationId xmlns:a16="http://schemas.microsoft.com/office/drawing/2014/main" id="{FFA87D14-5729-4D04-A03E-CE3EA71A0D70}"/>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UDS09</a:t>
            </a:r>
            <a:endParaRPr/>
          </a:p>
        </p:txBody>
      </p:sp>
      <p:sp>
        <p:nvSpPr>
          <p:cNvPr id="721" name="Google Shape;721;p46">
            <a:extLst xmlns:a="http://schemas.openxmlformats.org/drawingml/2006/main">
              <a:ext uri="{FF2B5EF4-FFF2-40B4-BE49-F238E27FC236}">
                <a16:creationId xmlns:a16="http://schemas.microsoft.com/office/drawing/2014/main" id="{1ACC04BD-740A-48DB-A431-5AF2FC0A8772}"/>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68dca45bd73476c"/>
              </a:rPr>
              <a:t>Lai: pre-AUS urodynamics, Urology 2009</a:t>
            </a:r>
            <a:endParaRPr/>
          </a:p>
        </p:txBody>
      </p:sp>
      <p:sp>
        <p:nvSpPr>
          <p:cNvPr id="722" name="Google Shape;722;p46">
            <a:extLst xmlns:a="http://schemas.openxmlformats.org/drawingml/2006/main">
              <a:ext uri="{FF2B5EF4-FFF2-40B4-BE49-F238E27FC236}">
                <a16:creationId xmlns:a16="http://schemas.microsoft.com/office/drawing/2014/main" id="{064BF14F-E2E3-46A6-AB9E-DA1561FC6B07}"/>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OAB11</a:t>
            </a:r>
            <a:endParaRPr/>
          </a:p>
        </p:txBody>
      </p:sp>
      <p:sp>
        <p:nvSpPr>
          <p:cNvPr id="723" name="Google Shape;723;p46">
            <a:extLst xmlns:a="http://schemas.openxmlformats.org/drawingml/2006/main">
              <a:ext uri="{FF2B5EF4-FFF2-40B4-BE49-F238E27FC236}">
                <a16:creationId xmlns:a16="http://schemas.microsoft.com/office/drawing/2014/main" id="{68CA8996-0257-4AA3-8A06-A995C0B1097C}"/>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b8d16a56af94498"/>
              </a:rPr>
              <a:t>Lai: OAB and post-prostatectomy AUS, 2011</a:t>
            </a:r>
            <a:endParaRPr/>
          </a:p>
        </p:txBody>
      </p:sp>
    </p:spTree>
    <p:extLst>
      <p:ext uri="{BB962C8B-B14F-4D97-AF65-F5344CB8AC3E}">
        <p14:creationId xmlns:p14="http://schemas.microsoft.com/office/powerpoint/2010/main" val="6001719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9" name="Google Shape;729;p47">
            <a:extLst xmlns:a="http://schemas.openxmlformats.org/drawingml/2006/main">
              <a:ext uri="{FF2B5EF4-FFF2-40B4-BE49-F238E27FC236}">
                <a16:creationId xmlns:a16="http://schemas.microsoft.com/office/drawing/2014/main" id="{6FA9AAC0-4BD5-4399-A6B0-F07495F05FA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3 of 7</a:t>
            </a:r>
            <a:endParaRPr/>
          </a:p>
        </p:txBody>
      </p:sp>
      <p:sp>
        <p:nvSpPr>
          <p:cNvPr id="730" name="Google Shape;730;p47">
            <a:extLst xmlns:a="http://schemas.openxmlformats.org/drawingml/2006/main">
              <a:ext uri="{FF2B5EF4-FFF2-40B4-BE49-F238E27FC236}">
                <a16:creationId xmlns:a16="http://schemas.microsoft.com/office/drawing/2014/main" id="{B8BC7DD5-9A46-41B6-B55F-0C8EA1FE517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31" name="Google Shape;731;p47">
            <a:extLst xmlns:a="http://schemas.openxmlformats.org/drawingml/2006/main">
              <a:ext uri="{FF2B5EF4-FFF2-40B4-BE49-F238E27FC236}">
                <a16:creationId xmlns:a16="http://schemas.microsoft.com/office/drawing/2014/main" id="{EF363283-BB17-497F-9CBA-265AAFD0D1A7}"/>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32" name="Google Shape;732;p47">
            <a:extLst xmlns:a="http://schemas.openxmlformats.org/drawingml/2006/main">
              <a:ext uri="{FF2B5EF4-FFF2-40B4-BE49-F238E27FC236}">
                <a16:creationId xmlns:a16="http://schemas.microsoft.com/office/drawing/2014/main" id="{0C63BBDE-B84D-4EFF-8CA6-F7DC01EB993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DO24</a:t>
            </a:r>
            <a:endParaRPr/>
          </a:p>
        </p:txBody>
      </p:sp>
      <p:sp>
        <p:nvSpPr>
          <p:cNvPr id="733" name="Google Shape;733;p47">
            <a:extLst xmlns:a="http://schemas.openxmlformats.org/drawingml/2006/main">
              <a:ext uri="{FF2B5EF4-FFF2-40B4-BE49-F238E27FC236}">
                <a16:creationId xmlns:a16="http://schemas.microsoft.com/office/drawing/2014/main" id="{4F518C65-724E-45B9-BD0C-5D87F97F74EF}"/>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3cf29530c94219"/>
              </a:rPr>
              <a:t>Bhatt: preoperative DO systematic review, 2024</a:t>
            </a:r>
            <a:endParaRPr/>
          </a:p>
        </p:txBody>
      </p:sp>
      <p:sp>
        <p:nvSpPr>
          <p:cNvPr id="734" name="Google Shape;734;p47">
            <a:extLst xmlns:a="http://schemas.openxmlformats.org/drawingml/2006/main">
              <a:ext uri="{FF2B5EF4-FFF2-40B4-BE49-F238E27FC236}">
                <a16:creationId xmlns:a16="http://schemas.microsoft.com/office/drawing/2014/main" id="{B445EE04-845C-49B8-A706-61C484FBC2BB}"/>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DOFAIL23</a:t>
            </a:r>
            <a:endParaRPr/>
          </a:p>
        </p:txBody>
      </p:sp>
      <p:sp>
        <p:nvSpPr>
          <p:cNvPr id="735" name="Google Shape;735;p47">
            <a:extLst xmlns:a="http://schemas.openxmlformats.org/drawingml/2006/main">
              <a:ext uri="{FF2B5EF4-FFF2-40B4-BE49-F238E27FC236}">
                <a16:creationId xmlns:a16="http://schemas.microsoft.com/office/drawing/2014/main" id="{9D273DB2-0A09-4ADB-95F5-1B38CCBAD6C4}"/>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cb257e840f34a08"/>
              </a:rPr>
              <a:t>Krughoff: earlier AUS failure, 2023</a:t>
            </a:r>
            <a:endParaRPr/>
          </a:p>
        </p:txBody>
      </p:sp>
      <p:sp>
        <p:nvSpPr>
          <p:cNvPr id="736" name="Google Shape;736;p47">
            <a:extLst xmlns:a="http://schemas.openxmlformats.org/drawingml/2006/main">
              <a:ext uri="{FF2B5EF4-FFF2-40B4-BE49-F238E27FC236}">
                <a16:creationId xmlns:a16="http://schemas.microsoft.com/office/drawing/2014/main" id="{DD29A1C4-104A-4A49-89BD-EFB677529DDD}"/>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DU23</a:t>
            </a:r>
            <a:endParaRPr/>
          </a:p>
        </p:txBody>
      </p:sp>
      <p:sp>
        <p:nvSpPr>
          <p:cNvPr id="737" name="Google Shape;737;p47">
            <a:extLst xmlns:a="http://schemas.openxmlformats.org/drawingml/2006/main">
              <a:ext uri="{FF2B5EF4-FFF2-40B4-BE49-F238E27FC236}">
                <a16:creationId xmlns:a16="http://schemas.microsoft.com/office/drawing/2014/main" id="{13A99068-6556-4CA0-84E7-BAD4C7628A46}"/>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0e96048fb24e4d"/>
              </a:rPr>
              <a:t>Han: AUS with detrusor underactivity, 2023</a:t>
            </a:r>
            <a:endParaRPr/>
          </a:p>
        </p:txBody>
      </p:sp>
      <p:sp>
        <p:nvSpPr>
          <p:cNvPr id="738" name="Google Shape;738;p47">
            <a:extLst xmlns:a="http://schemas.openxmlformats.org/drawingml/2006/main">
              <a:ext uri="{FF2B5EF4-FFF2-40B4-BE49-F238E27FC236}">
                <a16:creationId xmlns:a16="http://schemas.microsoft.com/office/drawing/2014/main" id="{AA0B7CB4-17D6-4FD6-89D5-948BB81AD573}"/>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CIC23</a:t>
            </a:r>
            <a:endParaRPr/>
          </a:p>
        </p:txBody>
      </p:sp>
      <p:sp>
        <p:nvSpPr>
          <p:cNvPr id="739" name="Google Shape;739;p47">
            <a:extLst xmlns:a="http://schemas.openxmlformats.org/drawingml/2006/main">
              <a:ext uri="{FF2B5EF4-FFF2-40B4-BE49-F238E27FC236}">
                <a16:creationId xmlns:a16="http://schemas.microsoft.com/office/drawing/2014/main" id="{A50799BD-C2D0-49DE-8B4A-4F9FF9AF726B}"/>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d10eb4deb34748"/>
              </a:rPr>
              <a:t>Krughoff: CIC after bulbar AUS, 2023</a:t>
            </a:r>
            <a:endParaRPr/>
          </a:p>
        </p:txBody>
      </p:sp>
      <p:sp>
        <p:nvSpPr>
          <p:cNvPr id="740" name="Google Shape;740;p47">
            <a:extLst xmlns:a="http://schemas.openxmlformats.org/drawingml/2006/main">
              <a:ext uri="{FF2B5EF4-FFF2-40B4-BE49-F238E27FC236}">
                <a16:creationId xmlns:a16="http://schemas.microsoft.com/office/drawing/2014/main" id="{23D88D80-DE46-48F1-8EE5-85682E28E4EA}"/>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CATH13</a:t>
            </a:r>
            <a:endParaRPr/>
          </a:p>
        </p:txBody>
      </p:sp>
      <p:sp>
        <p:nvSpPr>
          <p:cNvPr id="741" name="Google Shape;741;p47">
            <a:extLst xmlns:a="http://schemas.openxmlformats.org/drawingml/2006/main">
              <a:ext uri="{FF2B5EF4-FFF2-40B4-BE49-F238E27FC236}">
                <a16:creationId xmlns:a16="http://schemas.microsoft.com/office/drawing/2014/main" id="{4F903700-72E8-462B-BB92-E6DBF122170C}"/>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8397ebc16264232"/>
              </a:rPr>
              <a:t>Seideman: prolonged catheterisation, 2013</a:t>
            </a:r>
            <a:endParaRPr/>
          </a:p>
        </p:txBody>
      </p:sp>
      <p:sp>
        <p:nvSpPr>
          <p:cNvPr id="742" name="Google Shape;742;p47">
            <a:extLst xmlns:a="http://schemas.openxmlformats.org/drawingml/2006/main">
              <a:ext uri="{FF2B5EF4-FFF2-40B4-BE49-F238E27FC236}">
                <a16:creationId xmlns:a16="http://schemas.microsoft.com/office/drawing/2014/main" id="{56BB4525-747B-425A-A31F-C58924E41C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UDS14</a:t>
            </a:r>
            <a:endParaRPr/>
          </a:p>
        </p:txBody>
      </p:sp>
      <p:sp>
        <p:nvSpPr>
          <p:cNvPr id="743" name="Google Shape;743;p47">
            <a:extLst xmlns:a="http://schemas.openxmlformats.org/drawingml/2006/main">
              <a:ext uri="{FF2B5EF4-FFF2-40B4-BE49-F238E27FC236}">
                <a16:creationId xmlns:a16="http://schemas.microsoft.com/office/drawing/2014/main" id="{14C5E843-DA48-46B9-8471-010EF5EF86C5}"/>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8b526d3072a47d0"/>
              </a:rPr>
              <a:t>Weissbart: absent leak during UDS, 2014</a:t>
            </a:r>
            <a:endParaRPr/>
          </a:p>
        </p:txBody>
      </p:sp>
      <p:sp>
        <p:nvSpPr>
          <p:cNvPr id="744" name="Google Shape;744;p47">
            <a:extLst xmlns:a="http://schemas.openxmlformats.org/drawingml/2006/main">
              <a:ext uri="{FF2B5EF4-FFF2-40B4-BE49-F238E27FC236}">
                <a16:creationId xmlns:a16="http://schemas.microsoft.com/office/drawing/2014/main" id="{5B61F7A2-9816-4BEC-9E80-C85145E563EF}"/>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RT22</a:t>
            </a:r>
            <a:endParaRPr/>
          </a:p>
        </p:txBody>
      </p:sp>
      <p:sp>
        <p:nvSpPr>
          <p:cNvPr id="745" name="Google Shape;745;p47">
            <a:extLst xmlns:a="http://schemas.openxmlformats.org/drawingml/2006/main">
              <a:ext uri="{FF2B5EF4-FFF2-40B4-BE49-F238E27FC236}">
                <a16:creationId xmlns:a16="http://schemas.microsoft.com/office/drawing/2014/main" id="{CC81600F-87A1-48A8-8D1E-0D44392A190E}"/>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0b9b53f318741ed"/>
              </a:rPr>
              <a:t>Zhang: radiation meta-analysis, 2022</a:t>
            </a:r>
            <a:endParaRPr/>
          </a:p>
        </p:txBody>
      </p:sp>
      <p:sp>
        <p:nvSpPr>
          <p:cNvPr id="746" name="Google Shape;746;p47">
            <a:extLst xmlns:a="http://schemas.openxmlformats.org/drawingml/2006/main">
              <a:ext uri="{FF2B5EF4-FFF2-40B4-BE49-F238E27FC236}">
                <a16:creationId xmlns:a16="http://schemas.microsoft.com/office/drawing/2014/main" id="{69A7299F-D175-4FD4-A918-D1DE112E50B5}"/>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URETH26</a:t>
            </a:r>
            <a:endParaRPr/>
          </a:p>
        </p:txBody>
      </p:sp>
      <p:sp>
        <p:nvSpPr>
          <p:cNvPr id="747" name="Google Shape;747;p47">
            <a:extLst xmlns:a="http://schemas.openxmlformats.org/drawingml/2006/main">
              <a:ext uri="{FF2B5EF4-FFF2-40B4-BE49-F238E27FC236}">
                <a16:creationId xmlns:a16="http://schemas.microsoft.com/office/drawing/2014/main" id="{A36C63F4-2450-45E4-879F-6FCABD129460}"/>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6a70ee436774414"/>
              </a:rPr>
              <a:t>Davis: AUS after urethroplasty, 2026</a:t>
            </a:r>
            <a:endParaRPr/>
          </a:p>
        </p:txBody>
      </p:sp>
      <p:sp>
        <p:nvSpPr>
          <p:cNvPr id="748" name="Google Shape;748;p47">
            <a:extLst xmlns:a="http://schemas.openxmlformats.org/drawingml/2006/main">
              <a:ext uri="{FF2B5EF4-FFF2-40B4-BE49-F238E27FC236}">
                <a16:creationId xmlns:a16="http://schemas.microsoft.com/office/drawing/2014/main" id="{6602255C-59E1-4AEC-B60B-CBE49FC42370}"/>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TC20</a:t>
            </a:r>
            <a:endParaRPr/>
          </a:p>
        </p:txBody>
      </p:sp>
      <p:sp>
        <p:nvSpPr>
          <p:cNvPr id="749" name="Google Shape;749;p47">
            <a:extLst xmlns:a="http://schemas.openxmlformats.org/drawingml/2006/main">
              <a:ext uri="{FF2B5EF4-FFF2-40B4-BE49-F238E27FC236}">
                <a16:creationId xmlns:a16="http://schemas.microsoft.com/office/drawing/2014/main" id="{2A48D73E-A858-4A47-B87F-76AEFE9900AF}"/>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8295113c03a42a3"/>
              </a:rPr>
              <a:t>Redmond: transcorporal fragile urethra, 2020</a:t>
            </a:r>
            <a:endParaRPr/>
          </a:p>
        </p:txBody>
      </p:sp>
    </p:spTree>
    <p:extLst>
      <p:ext uri="{BB962C8B-B14F-4D97-AF65-F5344CB8AC3E}">
        <p14:creationId xmlns:p14="http://schemas.microsoft.com/office/powerpoint/2010/main" val="17137867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4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TC23</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6ed76f2d37e4007"/>
              </a:rPr>
              <a:t>Kurtzman: high-risk transcorporal AUS, 2023</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ATROPHY20</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ca876b6986d4224"/>
              </a:rPr>
              <a:t>Bergeson: urethral atrophy and revision, 2020</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PREP24</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ab70dd81ebe46fa"/>
              </a:rPr>
              <a:t>Bourgi: AUS preparation protocols, 2024</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YEUNG13</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61a1c151ff44ec1"/>
              </a:rPr>
              <a:t>Yeung: GU skin preparation RCT, 2013</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ABX18</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615dd7fbee74a51"/>
              </a:rPr>
              <a:t>Adamsky: postoperative antibiotics, 2018</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TOUCH23</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57be31b25e74636"/>
              </a:rPr>
              <a:t>Ziegelmann: minimal-touch AUS, 2023</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LINDER15</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3746a89bebe4e3b"/>
              </a:rPr>
              <a:t>Linder: long-term AMS 800 outcomes, 2015</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AUSCO26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5748c9004dee42be"/>
              </a:rPr>
              <a:t>Kaufman: AMS 800 AUSCO study, 2026</a:t>
            </a:r>
            <a:endParaRPr/>
          </a:p>
        </p:txBody>
      </p:sp>
    </p:spTree>
    <p:extLst>
      <p:ext uri="{BB962C8B-B14F-4D97-AF65-F5344CB8AC3E}">
        <p14:creationId xmlns:p14="http://schemas.microsoft.com/office/powerpoint/2010/main" val="98966143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5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AUASTATUS26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dfbd4d6c011f447c"/>
              </a:rPr>
              <a:t>AUA current guideline register, July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BAUSDAY26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311aebd328940ee"/>
              </a:rPr>
              <a:t>BAUS 2026 P4-8: day-case AUS audit</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BAUSSCI26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a05fb776774a65"/>
              </a:rPr>
              <a:t>BAUS 2026 P12-7: bulbar AUS in SCI</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AUAUDS26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5ff4be8b4ea4140"/>
              </a:rPr>
              <a:t>AUA 2026 IP09-22: pre-AUS UDS and cystoscopy</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AUAABX26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16568730f924130"/>
              </a:rPr>
              <a:t>AUA 2026 IP09-18: postoperative antibiotics</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AUASAFER26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c47faac222b42ba"/>
              </a:rPr>
              <a:t>AUA 2026 IP09-17: SAFER erosion management</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MASTER26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389e244afea4a66"/>
              </a:rPr>
              <a:t>MASTER: 24-month RCT results,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URETHMETA26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dedef0c064540e4"/>
              </a:rPr>
              <a:t>Prior urethroplasty: meta-analysis, 2026</a:t>
            </a:r>
            <a:endParaRPr/>
          </a:p>
        </p:txBody>
      </p:sp>
    </p:spTree>
    <p:extLst>
      <p:ext uri="{BB962C8B-B14F-4D97-AF65-F5344CB8AC3E}">
        <p14:creationId xmlns:p14="http://schemas.microsoft.com/office/powerpoint/2010/main" val="9896614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6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IRRIG26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b7e8ec8814fc4258"/>
              </a:rPr>
              <a:t>Gentamicin withdrawal: AMS 800 cohort,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DAYMETA26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2bba7903f75341fb"/>
              </a:rPr>
              <a:t>Day-case AUS meta-analysis: 2026 issue</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DAYCASE26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054f2552f682469b"/>
              </a:rPr>
              <a:t>Day-case versus inpatient AUS: 177 men,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FRAIL26</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545ed39d52c4fd9"/>
              </a:rPr>
              <a:t>Frailty and SUI surgery: Medicare cohort, 2026</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PAD26</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f162f4535d1449e8"/>
              </a:rPr>
              <a:t>Pad count versus 24-hour weight: 2026</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PRBFAT26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fb16a3b6bcb4231"/>
              </a:rPr>
              <a:t>PRB material fatigue: 2026 issue</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REGRET26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2d8a0a9523a4910"/>
              </a:rPr>
              <a:t>Long-term decisional regret after AUS, 2026 issue</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INSTR26</a:t>
            </a: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314b93abce9a41f1"/>
              </a:rPr>
              <a:t>AUS instrumentation knowledge survey, 2026</a:t>
            </a:r>
            <a:endParaRPr/>
          </a:p>
        </p:txBody>
      </p:sp>
    </p:spTree>
    <p:extLst>
      <p:ext uri="{BB962C8B-B14F-4D97-AF65-F5344CB8AC3E}">
        <p14:creationId xmlns:p14="http://schemas.microsoft.com/office/powerpoint/2010/main" val="98966143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55" name="Google Shape;755;p48">
            <a:extLst xmlns:a="http://schemas.openxmlformats.org/drawingml/2006/main">
              <a:ext uri="{FF2B5EF4-FFF2-40B4-BE49-F238E27FC236}">
                <a16:creationId xmlns:a16="http://schemas.microsoft.com/office/drawing/2014/main" id="{19511F19-B71A-4C01-AD96-CB959B9B531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300" b="1">
                <a:solidFill>
                  <a:srgbClr val="183343"/>
                </a:solidFill>
                <a:latin typeface="Arial"/>
                <a:ea typeface="Arial"/>
                <a:cs typeface="Arial"/>
              </a:rPr>
              <a:t>References 7 of 7</a:t>
            </a:r>
            <a:endParaRPr/>
          </a:p>
        </p:txBody>
      </p:sp>
      <p:sp>
        <p:nvSpPr>
          <p:cNvPr id="756" name="Google Shape;756;p48">
            <a:extLst xmlns:a="http://schemas.openxmlformats.org/drawingml/2006/main">
              <a:ext uri="{FF2B5EF4-FFF2-40B4-BE49-F238E27FC236}">
                <a16:creationId xmlns:a16="http://schemas.microsoft.com/office/drawing/2014/main" id="{72475BBB-3801-4616-8C4D-C188BBDA26B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757" name="Google Shape;757;p48">
            <a:extLst xmlns:a="http://schemas.openxmlformats.org/drawingml/2006/main">
              <a:ext uri="{FF2B5EF4-FFF2-40B4-BE49-F238E27FC236}">
                <a16:creationId xmlns:a16="http://schemas.microsoft.com/office/drawing/2014/main" id="{2AE89C65-56A4-44A2-8934-ADA6EAF8C491}"/>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xmlns:a="http://schemas.openxmlformats.org/drawingml/2006/main">
              <a:ext uri="{FF2B5EF4-FFF2-40B4-BE49-F238E27FC236}">
                <a16:creationId xmlns:a16="http://schemas.microsoft.com/office/drawing/2014/main" id="{12F7C283-B7CE-4E0B-A7A8-5D8604F370B6}"/>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EROSION26</a:t>
            </a:r>
            <a:endParaRPr/>
          </a:p>
        </p:txBody>
      </p:sp>
      <p:sp>
        <p:nvSpPr>
          <p:cNvPr id="759" name="Google Shape;759;p48">
            <a:extLst xmlns:a="http://schemas.openxmlformats.org/drawingml/2006/main">
              <a:ext uri="{FF2B5EF4-FFF2-40B4-BE49-F238E27FC236}">
                <a16:creationId xmlns:a16="http://schemas.microsoft.com/office/drawing/2014/main" id="{FA7D6FBE-18BC-464B-973C-53582895D02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cb160f8167c543a1"/>
              </a:rPr>
              <a:t>Immediate urethral repair at explantation, 2026</a:t>
            </a:r>
            <a:endParaRPr/>
          </a:p>
        </p:txBody>
      </p:sp>
      <p:sp>
        <p:nvSpPr>
          <p:cNvPr id="760" name="Google Shape;760;p48">
            <a:extLst xmlns:a="http://schemas.openxmlformats.org/drawingml/2006/main">
              <a:ext uri="{FF2B5EF4-FFF2-40B4-BE49-F238E27FC236}">
                <a16:creationId xmlns:a16="http://schemas.microsoft.com/office/drawing/2014/main" id="{11A67F6E-2407-4984-B987-FC04B584AA10}"/>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DEVICE26</a:t>
            </a:r>
            <a:endParaRPr/>
          </a:p>
        </p:txBody>
      </p:sp>
      <p:sp>
        <p:nvSpPr>
          <p:cNvPr id="761" name="Google Shape;761;p48">
            <a:extLst xmlns:a="http://schemas.openxmlformats.org/drawingml/2006/main">
              <a:ext uri="{FF2B5EF4-FFF2-40B4-BE49-F238E27FC236}">
                <a16:creationId xmlns:a16="http://schemas.microsoft.com/office/drawing/2014/main" id="{C07A6073-7E81-48A2-97D4-9EF4437ABDCC}"/>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4c461daf406a44dd"/>
              </a:rPr>
              <a:t>Emerging AUS devices review, 2026</a:t>
            </a:r>
            <a:endParaRPr/>
          </a:p>
        </p:txBody>
      </p:sp>
      <p:sp>
        <p:nvSpPr>
          <p:cNvPr id="762" name="Google Shape;762;p48">
            <a:extLst xmlns:a="http://schemas.openxmlformats.org/drawingml/2006/main">
              <a:ext uri="{FF2B5EF4-FFF2-40B4-BE49-F238E27FC236}">
                <a16:creationId xmlns:a16="http://schemas.microsoft.com/office/drawing/2014/main" id="{13F59B02-1E83-4B2D-AA39-696707244959}"/>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SECOND26</a:t>
            </a:r>
            <a:endParaRPr/>
          </a:p>
        </p:txBody>
      </p:sp>
      <p:sp>
        <p:nvSpPr>
          <p:cNvPr id="763" name="Google Shape;763;p48">
            <a:extLst xmlns:a="http://schemas.openxmlformats.org/drawingml/2006/main">
              <a:ext uri="{FF2B5EF4-FFF2-40B4-BE49-F238E27FC236}">
                <a16:creationId xmlns:a16="http://schemas.microsoft.com/office/drawing/2014/main" id="{2130340C-8E25-4399-9557-6AA8ECA161FE}"/>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7c510c2b74274100"/>
              </a:rPr>
              <a:t>Second AUS survival: national French cohort, 2026</a:t>
            </a:r>
            <a:endParaRPr/>
          </a:p>
        </p:txBody>
      </p:sp>
      <p:sp>
        <p:nvSpPr>
          <p:cNvPr id="764" name="Google Shape;764;p48">
            <a:extLst xmlns:a="http://schemas.openxmlformats.org/drawingml/2006/main">
              <a:ext uri="{FF2B5EF4-FFF2-40B4-BE49-F238E27FC236}">
                <a16:creationId xmlns:a16="http://schemas.microsoft.com/office/drawing/2014/main" id="{D710E189-B2AD-4FEC-8CBC-8AC72753B507}"/>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TCSYS25</a:t>
            </a:r>
            <a:endParaRPr/>
          </a:p>
        </p:txBody>
      </p:sp>
      <p:sp>
        <p:nvSpPr>
          <p:cNvPr id="765" name="Google Shape;765;p48">
            <a:extLst xmlns:a="http://schemas.openxmlformats.org/drawingml/2006/main">
              <a:ext uri="{FF2B5EF4-FFF2-40B4-BE49-F238E27FC236}">
                <a16:creationId xmlns:a16="http://schemas.microsoft.com/office/drawing/2014/main" id="{26F6B006-5176-4985-BD19-26B42DD48136}"/>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9b1c3ca1b814845"/>
              </a:rPr>
              <a:t>Transcorporal systematic review, online 2025</a:t>
            </a:r>
            <a:endParaRPr/>
          </a:p>
        </p:txBody>
      </p:sp>
      <p:sp>
        <p:nvSpPr>
          <p:cNvPr id="766" name="Google Shape;766;p48">
            <a:extLst xmlns:a="http://schemas.openxmlformats.org/drawingml/2006/main">
              <a:ext uri="{FF2B5EF4-FFF2-40B4-BE49-F238E27FC236}">
                <a16:creationId xmlns:a16="http://schemas.microsoft.com/office/drawing/2014/main" id="{A220F533-ACE4-4B5B-ACDA-AE6909EE329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RTTIME25</a:t>
            </a:r>
            <a:endParaRPr/>
          </a:p>
        </p:txBody>
      </p:sp>
      <p:sp>
        <p:nvSpPr>
          <p:cNvPr id="767" name="Google Shape;767;p48">
            <a:extLst xmlns:a="http://schemas.openxmlformats.org/drawingml/2006/main">
              <a:ext uri="{FF2B5EF4-FFF2-40B4-BE49-F238E27FC236}">
                <a16:creationId xmlns:a16="http://schemas.microsoft.com/office/drawing/2014/main" id="{5F6AFEBF-C283-4139-84F0-55F9988C2736}"/>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8f45e874dc4f4067"/>
              </a:rPr>
              <a:t>Radiation and cuff-removal timing cohort, 2025</a:t>
            </a:r>
            <a:endParaRPr/>
          </a:p>
        </p:txBody>
      </p:sp>
      <p:sp>
        <p:nvSpPr>
          <p:cNvPr id="768" name="Google Shape;768;p48">
            <a:extLst xmlns:a="http://schemas.openxmlformats.org/drawingml/2006/main">
              <a:ext uri="{FF2B5EF4-FFF2-40B4-BE49-F238E27FC236}">
                <a16:creationId xmlns:a16="http://schemas.microsoft.com/office/drawing/2014/main" id="{5C98680D-3573-4294-86A9-9DB24A5B512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UROACTIVE26</a:t>
            </a:r>
            <a:endParaRPr/>
          </a:p>
        </p:txBody>
      </p:sp>
      <p:sp>
        <p:nvSpPr>
          <p:cNvPr id="769" name="Google Shape;769;p48">
            <a:extLst xmlns:a="http://schemas.openxmlformats.org/drawingml/2006/main">
              <a:ext uri="{FF2B5EF4-FFF2-40B4-BE49-F238E27FC236}">
                <a16:creationId xmlns:a16="http://schemas.microsoft.com/office/drawing/2014/main" id="{F51666B6-7D3F-4836-A3E4-3404771DFE54}"/>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ec62ab02731b44f1"/>
              </a:rPr>
              <a:t>Electronic AUS: first-in-human study, 2026</a:t>
            </a:r>
            <a:endParaRPr/>
          </a:p>
        </p:txBody>
      </p:sp>
      <p:sp>
        <p:nvSpPr>
          <p:cNvPr id="770" name="Google Shape;770;p48">
            <a:extLst xmlns:a="http://schemas.openxmlformats.org/drawingml/2006/main">
              <a:ext uri="{FF2B5EF4-FFF2-40B4-BE49-F238E27FC236}">
                <a16:creationId xmlns:a16="http://schemas.microsoft.com/office/drawing/2014/main" id="{4027BF03-632B-4352-A4AD-B1D3558BAD1A}"/>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500" b="1">
                <a:solidFill>
                  <a:srgbClr val="147F83"/>
                </a:solidFill>
                <a:latin typeface="Arial"/>
                <a:ea typeface="Arial"/>
                <a:cs typeface="Arial"/>
              </a:rPr>
              <a:t>REPORT26</a:t>
            </a:r>
            <a:endParaRPr/>
          </a:p>
        </p:txBody>
      </p:sp>
      <p:sp>
        <p:nvSpPr>
          <p:cNvPr id="771" name="Google Shape;771;p48">
            <a:extLst xmlns:a="http://schemas.openxmlformats.org/drawingml/2006/main">
              <a:ext uri="{FF2B5EF4-FFF2-40B4-BE49-F238E27FC236}">
                <a16:creationId xmlns:a16="http://schemas.microsoft.com/office/drawing/2014/main" id="{102D5EB1-5F32-462D-95D4-4725CF83BD49}"/>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800" b="0" u="sng">
                <a:solidFill>
                  <a:schemeClr val="hlink"/>
                </a:solidFill>
                <a:latin typeface="Arial"/>
                <a:ea typeface="Arial"/>
                <a:cs typeface="Arial"/>
                <a:hlinkClick xmlns:r="http://schemas.openxmlformats.org/officeDocument/2006/relationships" r:id="Ra5d94814c3be4a0c"/>
              </a:rPr>
              <a:t>Standardised complication reporting: 2026</a:t>
            </a:r>
            <a:endParaRPr/>
          </a:p>
        </p:txBody>
      </p:sp>
      <p:sp>
        <p:nvSpPr>
          <p:cNvPr id="772" name="Google Shape;772;p48">
            <a:extLst xmlns:a="http://schemas.openxmlformats.org/drawingml/2006/main">
              <a:ext uri="{FF2B5EF4-FFF2-40B4-BE49-F238E27FC236}">
                <a16:creationId xmlns:a16="http://schemas.microsoft.com/office/drawing/2014/main" id="{950C1318-1540-47AE-9090-CACF879437EA}"/>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
        <p:nvSpPr>
          <p:cNvPr id="773" name="Google Shape;773;p48">
            <a:extLst xmlns:a="http://schemas.openxmlformats.org/drawingml/2006/main">
              <a:ext uri="{FF2B5EF4-FFF2-40B4-BE49-F238E27FC236}">
                <a16:creationId xmlns:a16="http://schemas.microsoft.com/office/drawing/2014/main" id="{786CE0F2-1F3B-4C33-8345-9932DA4EBFA7}"/>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endParaRPr/>
          </a:p>
        </p:txBody>
      </p:sp>
    </p:spTree>
    <p:extLst>
      <p:ext uri="{BB962C8B-B14F-4D97-AF65-F5344CB8AC3E}">
        <p14:creationId xmlns:p14="http://schemas.microsoft.com/office/powerpoint/2010/main" val="989661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2026-10-05T14:18:01.3470000Z</dcterms:created>
  <dcterms:modified xsi:type="dcterms:W3CDTF">2026-10-05T14:18:01.3470000Z</dcterms:modified>
</coreProperties>
</file>