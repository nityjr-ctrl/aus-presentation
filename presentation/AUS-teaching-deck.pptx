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d025bc89eea4ffd" /><Relationship Type="http://schemas.openxmlformats.org/officeDocument/2006/relationships/extended-properties" Target="/docProps/app.xml" Id="R165de378295844a3" /><Relationship Type="http://schemas.openxmlformats.org/officeDocument/2006/relationships/officeDocument" Target="/ppt/presentation.xml" Id="R0b4d8dcabcbf4cb3" /></Relationships>
</file>

<file path=ppt/presentation.xml><?xml version="1.0" encoding="utf-8"?>
<p:presentation xmlns:p="http://schemas.openxmlformats.org/presentationml/2006/main">
  <p:sldMasterIdLst>
    <p:sldMasterId xmlns:r="http://schemas.openxmlformats.org/officeDocument/2006/relationships" id="2147483648" r:id="Ra3037b4d2f7942dc"/>
  </p:sldMasterIdLst>
  <p:notesMasterIdLst>
    <p:notesMasterId xmlns:r="http://schemas.openxmlformats.org/officeDocument/2006/relationships" r:id="Rb278855dfe5141e6"/>
  </p:notesMasterIdLst>
  <p:sldIdLst>
    <p:sldId xmlns:r="http://schemas.openxmlformats.org/officeDocument/2006/relationships" id="256" r:id="Rbbc7d0aae7c24cc7"/>
    <p:sldId xmlns:r="http://schemas.openxmlformats.org/officeDocument/2006/relationships" id="257" r:id="Rd6e7579896864372"/>
    <p:sldId xmlns:r="http://schemas.openxmlformats.org/officeDocument/2006/relationships" id="258" r:id="R66e9edd4dc1b42c8"/>
    <p:sldId xmlns:r="http://schemas.openxmlformats.org/officeDocument/2006/relationships" id="259" r:id="R6aa57c03211b4a0a"/>
    <p:sldId xmlns:r="http://schemas.openxmlformats.org/officeDocument/2006/relationships" id="260" r:id="R0a65094bd5f54be7"/>
    <p:sldId xmlns:r="http://schemas.openxmlformats.org/officeDocument/2006/relationships" id="261" r:id="R6e840b59921a4851"/>
    <p:sldId xmlns:r="http://schemas.openxmlformats.org/officeDocument/2006/relationships" id="262" r:id="Rc70d9a8edda14725"/>
    <p:sldId xmlns:r="http://schemas.openxmlformats.org/officeDocument/2006/relationships" id="263" r:id="R92519e4f753242e8"/>
    <p:sldId xmlns:r="http://schemas.openxmlformats.org/officeDocument/2006/relationships" id="264" r:id="Re6b826def8fc4775"/>
    <p:sldId xmlns:r="http://schemas.openxmlformats.org/officeDocument/2006/relationships" id="265" r:id="R19e7a79aaa6d414e"/>
    <p:sldId xmlns:r="http://schemas.openxmlformats.org/officeDocument/2006/relationships" id="266" r:id="R8467d3412cc04ce0"/>
    <p:sldId xmlns:r="http://schemas.openxmlformats.org/officeDocument/2006/relationships" id="267" r:id="R70d7d0c56c734eaf"/>
    <p:sldId xmlns:r="http://schemas.openxmlformats.org/officeDocument/2006/relationships" id="268" r:id="R41bf77c28ba94f53"/>
    <p:sldId xmlns:r="http://schemas.openxmlformats.org/officeDocument/2006/relationships" id="269" r:id="R9402e0b3aaad405b"/>
    <p:sldId xmlns:r="http://schemas.openxmlformats.org/officeDocument/2006/relationships" id="270" r:id="R9e4eb645a20543be"/>
    <p:sldId xmlns:r="http://schemas.openxmlformats.org/officeDocument/2006/relationships" id="271" r:id="R0c8c47b8dc75473f"/>
    <p:sldId xmlns:r="http://schemas.openxmlformats.org/officeDocument/2006/relationships" id="272" r:id="Rfd176154822c42c4"/>
    <p:sldId xmlns:r="http://schemas.openxmlformats.org/officeDocument/2006/relationships" id="273" r:id="R1f85db14a61345e5"/>
    <p:sldId xmlns:r="http://schemas.openxmlformats.org/officeDocument/2006/relationships" id="274" r:id="R1d5db7401fc94ea5"/>
    <p:sldId xmlns:r="http://schemas.openxmlformats.org/officeDocument/2006/relationships" id="275" r:id="Raa8b34bebe094246"/>
    <p:sldId xmlns:r="http://schemas.openxmlformats.org/officeDocument/2006/relationships" id="276" r:id="Rdc47b12bec6c4d0a"/>
    <p:sldId xmlns:r="http://schemas.openxmlformats.org/officeDocument/2006/relationships" id="277" r:id="Rfe7f1f84e0394724"/>
    <p:sldId xmlns:r="http://schemas.openxmlformats.org/officeDocument/2006/relationships" id="278" r:id="Rd7736bd45e7040f4"/>
    <p:sldId xmlns:r="http://schemas.openxmlformats.org/officeDocument/2006/relationships" id="279" r:id="R2e9f6a0d599f4265"/>
    <p:sldId xmlns:r="http://schemas.openxmlformats.org/officeDocument/2006/relationships" id="280" r:id="Rffd7f17c5cdd4ff2"/>
    <p:sldId xmlns:r="http://schemas.openxmlformats.org/officeDocument/2006/relationships" id="281" r:id="R22a907830b3043fc"/>
    <p:sldId xmlns:r="http://schemas.openxmlformats.org/officeDocument/2006/relationships" id="282" r:id="R2735146d9e0040a8"/>
    <p:sldId xmlns:r="http://schemas.openxmlformats.org/officeDocument/2006/relationships" id="283" r:id="R4cddc0fd91d34ecd"/>
    <p:sldId xmlns:r="http://schemas.openxmlformats.org/officeDocument/2006/relationships" id="284" r:id="Rf6712ad2984b4abd"/>
    <p:sldId xmlns:r="http://schemas.openxmlformats.org/officeDocument/2006/relationships" id="285" r:id="R070e257c6a3e4e4b"/>
    <p:sldId xmlns:r="http://schemas.openxmlformats.org/officeDocument/2006/relationships" id="286" r:id="R50fba3fe481640e3"/>
    <p:sldId xmlns:r="http://schemas.openxmlformats.org/officeDocument/2006/relationships" id="287" r:id="R63acfd22ed8243ca"/>
    <p:sldId xmlns:r="http://schemas.openxmlformats.org/officeDocument/2006/relationships" id="288" r:id="Rfe6dbe922688449f"/>
    <p:sldId xmlns:r="http://schemas.openxmlformats.org/officeDocument/2006/relationships" id="289" r:id="Rf6dc529066754c68"/>
    <p:sldId xmlns:r="http://schemas.openxmlformats.org/officeDocument/2006/relationships" id="290" r:id="R7924e8266b924fea"/>
    <p:sldId xmlns:r="http://schemas.openxmlformats.org/officeDocument/2006/relationships" id="291" r:id="R6288dfc3175a4661"/>
    <p:sldId xmlns:r="http://schemas.openxmlformats.org/officeDocument/2006/relationships" id="292" r:id="R9a89106ccef048ca"/>
    <p:sldId xmlns:r="http://schemas.openxmlformats.org/officeDocument/2006/relationships" id="293" r:id="R21b58d0b25594358"/>
    <p:sldId xmlns:r="http://schemas.openxmlformats.org/officeDocument/2006/relationships" id="294" r:id="R523e5d6d907d4522"/>
    <p:sldId xmlns:r="http://schemas.openxmlformats.org/officeDocument/2006/relationships" id="295" r:id="R6b589315d78241e3"/>
    <p:sldId xmlns:r="http://schemas.openxmlformats.org/officeDocument/2006/relationships" id="296" r:id="Red30abf783974b46"/>
    <p:sldId xmlns:r="http://schemas.openxmlformats.org/officeDocument/2006/relationships" id="297" r:id="R30ed5254379d471c"/>
    <p:sldId xmlns:r="http://schemas.openxmlformats.org/officeDocument/2006/relationships" id="298" r:id="R7e0543635e34486a"/>
    <p:sldId xmlns:r="http://schemas.openxmlformats.org/officeDocument/2006/relationships" id="299" r:id="Rd5aa0009234041b6"/>
    <p:sldId xmlns:r="http://schemas.openxmlformats.org/officeDocument/2006/relationships" id="300" r:id="R0ccf06a36fca4694"/>
    <p:sldId xmlns:r="http://schemas.openxmlformats.org/officeDocument/2006/relationships" id="301" r:id="R4cdee9676184474a"/>
    <p:sldId xmlns:r="http://schemas.openxmlformats.org/officeDocument/2006/relationships" id="302" r:id="Rc637e88ed6ef4eda"/>
    <p:sldId xmlns:r="http://schemas.openxmlformats.org/officeDocument/2006/relationships" id="303" r:id="Ra61e9f800f694a5d"/>
    <p:sldId xmlns:r="http://schemas.openxmlformats.org/officeDocument/2006/relationships" id="304" r:id="R69f64c472424476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xmlns:r="http://schemas.openxmlformats.org/officeDocument/2006/relationships" def="{0AF7EDE5-490F-44FA-BAEA-A03204E10917}">
  <a:tblStyle styleId="{0AF7EDE5-490F-44FA-BAEA-A03204E10917}"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&#65279;<?xml version="1.0" encoding="utf-8"?><Relationships xmlns="http://schemas.openxmlformats.org/package/2006/relationships"><Relationship Type="http://schemas.openxmlformats.org/officeDocument/2006/relationships/theme" Target="/ppt/theme/theme1.xml" Id="R35248bfc2cd3485d" /><Relationship Type="http://schemas.openxmlformats.org/officeDocument/2006/relationships/slideMaster" Target="/ppt/slideMasters/slideMaster1.xml" Id="Ra3037b4d2f7942dc" /><Relationship Type="http://schemas.openxmlformats.org/officeDocument/2006/relationships/notesMaster" Target="/ppt/notesMasters/notesMaster1.xml" Id="Rb278855dfe5141e6" /><Relationship Type="http://schemas.openxmlformats.org/officeDocument/2006/relationships/presProps" Target="/ppt/presProps.xml" Id="R153d9550a96a4f70" /><Relationship Type="http://schemas.openxmlformats.org/officeDocument/2006/relationships/tableStyles" Target="/ppt/tableStyles.xml" Id="Rca1255643c974d2d" /><Relationship Type="http://schemas.openxmlformats.org/officeDocument/2006/relationships/slide" Target="/ppt/slides/slide1.xml" Id="Rbbc7d0aae7c24cc7" /><Relationship Type="http://schemas.openxmlformats.org/officeDocument/2006/relationships/slide" Target="/ppt/slides/slide2.xml" Id="Rd6e7579896864372" /><Relationship Type="http://schemas.openxmlformats.org/officeDocument/2006/relationships/slide" Target="/ppt/slides/slide3.xml" Id="R66e9edd4dc1b42c8" /><Relationship Type="http://schemas.openxmlformats.org/officeDocument/2006/relationships/slide" Target="/ppt/slides/slide4.xml" Id="R6aa57c03211b4a0a" /><Relationship Type="http://schemas.openxmlformats.org/officeDocument/2006/relationships/slide" Target="/ppt/slides/slide5.xml" Id="R0a65094bd5f54be7" /><Relationship Type="http://schemas.openxmlformats.org/officeDocument/2006/relationships/slide" Target="/ppt/slides/slide6.xml" Id="R6e840b59921a4851" /><Relationship Type="http://schemas.openxmlformats.org/officeDocument/2006/relationships/slide" Target="/ppt/slides/slide7.xml" Id="Rc70d9a8edda14725" /><Relationship Type="http://schemas.openxmlformats.org/officeDocument/2006/relationships/slide" Target="/ppt/slides/slide8.xml" Id="R92519e4f753242e8" /><Relationship Type="http://schemas.openxmlformats.org/officeDocument/2006/relationships/slide" Target="/ppt/slides/slide9.xml" Id="Re6b826def8fc4775" /><Relationship Type="http://schemas.openxmlformats.org/officeDocument/2006/relationships/slide" Target="/ppt/slides/slide10.xml" Id="R19e7a79aaa6d414e" /><Relationship Type="http://schemas.openxmlformats.org/officeDocument/2006/relationships/slide" Target="/ppt/slides/slide11.xml" Id="R8467d3412cc04ce0" /><Relationship Type="http://schemas.openxmlformats.org/officeDocument/2006/relationships/slide" Target="/ppt/slides/slide12.xml" Id="R70d7d0c56c734eaf" /><Relationship Type="http://schemas.openxmlformats.org/officeDocument/2006/relationships/slide" Target="/ppt/slides/slide13.xml" Id="R41bf77c28ba94f53" /><Relationship Type="http://schemas.openxmlformats.org/officeDocument/2006/relationships/slide" Target="/ppt/slides/slide14.xml" Id="R9402e0b3aaad405b" /><Relationship Type="http://schemas.openxmlformats.org/officeDocument/2006/relationships/slide" Target="/ppt/slides/slide15.xml" Id="R9e4eb645a20543be" /><Relationship Type="http://schemas.openxmlformats.org/officeDocument/2006/relationships/slide" Target="/ppt/slides/slide16.xml" Id="R0c8c47b8dc75473f" /><Relationship Type="http://schemas.openxmlformats.org/officeDocument/2006/relationships/slide" Target="/ppt/slides/slide17.xml" Id="Rfd176154822c42c4" /><Relationship Type="http://schemas.openxmlformats.org/officeDocument/2006/relationships/slide" Target="/ppt/slides/slide18.xml" Id="R1f85db14a61345e5" /><Relationship Type="http://schemas.openxmlformats.org/officeDocument/2006/relationships/slide" Target="/ppt/slides/slide19.xml" Id="R1d5db7401fc94ea5" /><Relationship Type="http://schemas.openxmlformats.org/officeDocument/2006/relationships/slide" Target="/ppt/slides/slide20.xml" Id="Raa8b34bebe094246" /><Relationship Type="http://schemas.openxmlformats.org/officeDocument/2006/relationships/slide" Target="/ppt/slides/slide21.xml" Id="Rdc47b12bec6c4d0a" /><Relationship Type="http://schemas.openxmlformats.org/officeDocument/2006/relationships/slide" Target="/ppt/slides/slide22.xml" Id="Rfe7f1f84e0394724" /><Relationship Type="http://schemas.openxmlformats.org/officeDocument/2006/relationships/slide" Target="/ppt/slides/slide23.xml" Id="Rd7736bd45e7040f4" /><Relationship Type="http://schemas.openxmlformats.org/officeDocument/2006/relationships/slide" Target="/ppt/slides/slide24.xml" Id="R2e9f6a0d599f4265" /><Relationship Type="http://schemas.openxmlformats.org/officeDocument/2006/relationships/slide" Target="/ppt/slides/slide25.xml" Id="Rffd7f17c5cdd4ff2" /><Relationship Type="http://schemas.openxmlformats.org/officeDocument/2006/relationships/slide" Target="/ppt/slides/slide26.xml" Id="R22a907830b3043fc" /><Relationship Type="http://schemas.openxmlformats.org/officeDocument/2006/relationships/slide" Target="/ppt/slides/slide27.xml" Id="R2735146d9e0040a8" /><Relationship Type="http://schemas.openxmlformats.org/officeDocument/2006/relationships/slide" Target="/ppt/slides/slide28.xml" Id="R4cddc0fd91d34ecd" /><Relationship Type="http://schemas.openxmlformats.org/officeDocument/2006/relationships/slide" Target="/ppt/slides/slide29.xml" Id="Rf6712ad2984b4abd" /><Relationship Type="http://schemas.openxmlformats.org/officeDocument/2006/relationships/slide" Target="/ppt/slides/slide30.xml" Id="R070e257c6a3e4e4b" /><Relationship Type="http://schemas.openxmlformats.org/officeDocument/2006/relationships/slide" Target="/ppt/slides/slide31.xml" Id="R50fba3fe481640e3" /><Relationship Type="http://schemas.openxmlformats.org/officeDocument/2006/relationships/slide" Target="/ppt/slides/slide32.xml" Id="R63acfd22ed8243ca" /><Relationship Type="http://schemas.openxmlformats.org/officeDocument/2006/relationships/slide" Target="/ppt/slides/slide33.xml" Id="Rfe6dbe922688449f" /><Relationship Type="http://schemas.openxmlformats.org/officeDocument/2006/relationships/slide" Target="/ppt/slides/slide34.xml" Id="Rf6dc529066754c68" /><Relationship Type="http://schemas.openxmlformats.org/officeDocument/2006/relationships/slide" Target="/ppt/slides/slide35.xml" Id="R7924e8266b924fea" /><Relationship Type="http://schemas.openxmlformats.org/officeDocument/2006/relationships/slide" Target="/ppt/slides/slide36.xml" Id="R6288dfc3175a4661" /><Relationship Type="http://schemas.openxmlformats.org/officeDocument/2006/relationships/slide" Target="/ppt/slides/slide37.xml" Id="R9a89106ccef048ca" /><Relationship Type="http://schemas.openxmlformats.org/officeDocument/2006/relationships/slide" Target="/ppt/slides/slide38.xml" Id="R21b58d0b25594358" /><Relationship Type="http://schemas.openxmlformats.org/officeDocument/2006/relationships/slide" Target="/ppt/slides/slide39.xml" Id="R523e5d6d907d4522" /><Relationship Type="http://schemas.openxmlformats.org/officeDocument/2006/relationships/slide" Target="/ppt/slides/slide40.xml" Id="R6b589315d78241e3" /><Relationship Type="http://schemas.openxmlformats.org/officeDocument/2006/relationships/slide" Target="/ppt/slides/slide41.xml" Id="Red30abf783974b46" /><Relationship Type="http://schemas.openxmlformats.org/officeDocument/2006/relationships/slide" Target="/ppt/slides/slide42.xml" Id="R30ed5254379d471c" /><Relationship Type="http://schemas.openxmlformats.org/officeDocument/2006/relationships/slide" Target="/ppt/slides/slide43.xml" Id="R7e0543635e34486a" /><Relationship Type="http://schemas.openxmlformats.org/officeDocument/2006/relationships/slide" Target="/ppt/slides/slide44.xml" Id="Rd5aa0009234041b6" /><Relationship Type="http://schemas.openxmlformats.org/officeDocument/2006/relationships/slide" Target="/ppt/slides/slide45.xml" Id="R0ccf06a36fca4694" /><Relationship Type="http://schemas.openxmlformats.org/officeDocument/2006/relationships/slide" Target="/ppt/slides/slide46.xml" Id="R4cdee9676184474a" /><Relationship Type="http://schemas.openxmlformats.org/officeDocument/2006/relationships/slide" Target="/ppt/slides/slide47.xml" Id="Rc637e88ed6ef4eda" /><Relationship Type="http://schemas.openxmlformats.org/officeDocument/2006/relationships/slide" Target="/ppt/slides/slide48.xml" Id="Ra61e9f800f694a5d" /><Relationship Type="http://schemas.openxmlformats.org/officeDocument/2006/relationships/slide" Target="/ppt/slides/slide49.xml" Id="R69f64c472424476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3265dbd44904e4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hatGP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9a461274d1743f2" /><Relationship Type="http://schemas.openxmlformats.org/officeDocument/2006/relationships/notesMaster" Target="/ppt/notesMasters/notesMaster1.xml" Id="Raaa812a9ddf24e9a" /></Relationships>
</file>

<file path=ppt/notesSlides/_rels/notesSlide2.xml.rels>&#65279;<?xml version="1.0" encoding="utf-8"?><Relationships xmlns="http://schemas.openxmlformats.org/package/2006/relationships"><Relationship Type="http://schemas.openxmlformats.org/officeDocument/2006/relationships/slide" Target="/ppt/slides/slide2.xml" Id="R79ed996834c54af3" /><Relationship Type="http://schemas.openxmlformats.org/officeDocument/2006/relationships/notesMaster" Target="/ppt/notesMasters/notesMaster1.xml" Id="R6ab5fda8d73c420e" /></Relationships>
</file>

<file path=ppt/notesSlides/_rels/notesSlide3.xml.rels>&#65279;<?xml version="1.0" encoding="utf-8"?><Relationships xmlns="http://schemas.openxmlformats.org/package/2006/relationships"><Relationship Type="http://schemas.openxmlformats.org/officeDocument/2006/relationships/slide" Target="/ppt/slides/slide3.xml" Id="R5785e28b6dd7420a" /><Relationship Type="http://schemas.openxmlformats.org/officeDocument/2006/relationships/notesMaster" Target="/ppt/notesMasters/notesMaster1.xml" Id="Rec9e58799df64cc8" /></Relationships>
</file>

<file path=ppt/notesSlides/_rels/notesSlide4.xml.rels>&#65279;<?xml version="1.0" encoding="utf-8"?><Relationships xmlns="http://schemas.openxmlformats.org/package/2006/relationships"><Relationship Type="http://schemas.openxmlformats.org/officeDocument/2006/relationships/slide" Target="/ppt/slides/slide4.xml" Id="Re6aadf834161416e" /><Relationship Type="http://schemas.openxmlformats.org/officeDocument/2006/relationships/notesMaster" Target="/ppt/notesMasters/notesMaster1.xml" Id="R707342844228424d" /></Relationships>
</file>

<file path=ppt/notesSlides/_rels/notesSlide5.xml.rels>&#65279;<?xml version="1.0" encoding="utf-8"?><Relationships xmlns="http://schemas.openxmlformats.org/package/2006/relationships"><Relationship Type="http://schemas.openxmlformats.org/officeDocument/2006/relationships/slide" Target="/ppt/slides/slide5.xml" Id="R7ea4f96a6040480c" /><Relationship Type="http://schemas.openxmlformats.org/officeDocument/2006/relationships/notesMaster" Target="/ppt/notesMasters/notesMaster1.xml" Id="R87147981589d49e2" /></Relationships>
</file>

<file path=ppt/notesSlides/_rels/notesSlide6.xml.rels>&#65279;<?xml version="1.0" encoding="utf-8"?><Relationships xmlns="http://schemas.openxmlformats.org/package/2006/relationships"><Relationship Type="http://schemas.openxmlformats.org/officeDocument/2006/relationships/slide" Target="/ppt/slides/slide6.xml" Id="R638e5ed4d5214e5b" /><Relationship Type="http://schemas.openxmlformats.org/officeDocument/2006/relationships/notesMaster" Target="/ppt/notesMasters/notesMaster1.xml" Id="Rb42006bda72548a7" /></Relationships>
</file>

<file path=ppt/notesSlides/_rels/notesSlide7.xml.rels>&#65279;<?xml version="1.0" encoding="utf-8"?><Relationships xmlns="http://schemas.openxmlformats.org/package/2006/relationships"><Relationship Type="http://schemas.openxmlformats.org/officeDocument/2006/relationships/slide" Target="/ppt/slides/slide7.xml" Id="R16230f7b546245fc" /><Relationship Type="http://schemas.openxmlformats.org/officeDocument/2006/relationships/notesMaster" Target="/ppt/notesMasters/notesMaster1.xml" Id="R93ec705f5b6542cc" /></Relationships>
</file>

<file path=ppt/notesSlides/_rels/notesSlide8.xml.rels>&#65279;<?xml version="1.0" encoding="utf-8"?><Relationships xmlns="http://schemas.openxmlformats.org/package/2006/relationships"><Relationship Type="http://schemas.openxmlformats.org/officeDocument/2006/relationships/slide" Target="/ppt/slides/slide8.xml" Id="R2d85e594e908469b" /><Relationship Type="http://schemas.openxmlformats.org/officeDocument/2006/relationships/notesMaster" Target="/ppt/notesMasters/notesMaster1.xml" Id="R89cd3ce706c24818" /></Relationships>
</file>

<file path=ppt/notesSlides/_rels/notesSlide9.xml.rels>&#65279;<?xml version="1.0" encoding="utf-8"?><Relationships xmlns="http://schemas.openxmlformats.org/package/2006/relationships"><Relationship Type="http://schemas.openxmlformats.org/officeDocument/2006/relationships/slide" Target="/ppt/slides/slide9.xml" Id="R4b0c08deacec4c34" /><Relationship Type="http://schemas.openxmlformats.org/officeDocument/2006/relationships/notesMaster" Target="/ppt/notesMasters/notesMaster1.xml" Id="Rff5d6f39e19f4724"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f00ae57c18446cb" /><Relationship Type="http://schemas.openxmlformats.org/officeDocument/2006/relationships/notesMaster" Target="/ppt/notesMasters/notesMaster1.xml" Id="Ree517f75832d4583"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d7bcbe6178074d6c" /><Relationship Type="http://schemas.openxmlformats.org/officeDocument/2006/relationships/notesMaster" Target="/ppt/notesMasters/notesMaster1.xml" Id="R25d13a08deb64657"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83e97007a33845db" /><Relationship Type="http://schemas.openxmlformats.org/officeDocument/2006/relationships/notesMaster" Target="/ppt/notesMasters/notesMaster1.xml" Id="Rcd151f3c8e6248c3"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134eda5adac8454d" /><Relationship Type="http://schemas.openxmlformats.org/officeDocument/2006/relationships/notesMaster" Target="/ppt/notesMasters/notesMaster1.xml" Id="R599c29b415ce4d94"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d8866d006a6942c1" /><Relationship Type="http://schemas.openxmlformats.org/officeDocument/2006/relationships/notesMaster" Target="/ppt/notesMasters/notesMaster1.xml" Id="R2e9d60227ca84343"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c8de0e68f035423b" /><Relationship Type="http://schemas.openxmlformats.org/officeDocument/2006/relationships/notesMaster" Target="/ppt/notesMasters/notesMaster1.xml" Id="R829d8087a39341a5"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c315cded62a1491a" /><Relationship Type="http://schemas.openxmlformats.org/officeDocument/2006/relationships/notesMaster" Target="/ppt/notesMasters/notesMaster1.xml" Id="R0897d56536b64cf3"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45c54bcae8d440d7" /><Relationship Type="http://schemas.openxmlformats.org/officeDocument/2006/relationships/notesMaster" Target="/ppt/notesMasters/notesMaster1.xml" Id="R81f2331c09bb4e88"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950be552f30c4a5c" /><Relationship Type="http://schemas.openxmlformats.org/officeDocument/2006/relationships/notesMaster" Target="/ppt/notesMasters/notesMaster1.xml" Id="Rb119cc1a7ef346a2"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e4a14965a4704a26" /><Relationship Type="http://schemas.openxmlformats.org/officeDocument/2006/relationships/notesMaster" Target="/ppt/notesMasters/notesMaster1.xml" Id="Rd219cbdaac0343c8"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8b45748edab442f1" /><Relationship Type="http://schemas.openxmlformats.org/officeDocument/2006/relationships/notesMaster" Target="/ppt/notesMasters/notesMaster1.xml" Id="Rf6efb403839d4f2c"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bac178d65fe645c6" /><Relationship Type="http://schemas.openxmlformats.org/officeDocument/2006/relationships/notesMaster" Target="/ppt/notesMasters/notesMaster1.xml" Id="R3637c92cb9a445e5"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1c9ca2f388044efe" /><Relationship Type="http://schemas.openxmlformats.org/officeDocument/2006/relationships/notesMaster" Target="/ppt/notesMasters/notesMaster1.xml" Id="Rd64a521e8e254c79"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1db24c0332824b26" /><Relationship Type="http://schemas.openxmlformats.org/officeDocument/2006/relationships/notesMaster" Target="/ppt/notesMasters/notesMaster1.xml" Id="R4413da72e01d46e1"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7a9f6dc33c7b4d35" /><Relationship Type="http://schemas.openxmlformats.org/officeDocument/2006/relationships/notesMaster" Target="/ppt/notesMasters/notesMaster1.xml" Id="R921a65e53f774458"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14e352310d154ec6" /><Relationship Type="http://schemas.openxmlformats.org/officeDocument/2006/relationships/notesMaster" Target="/ppt/notesMasters/notesMaster1.xml" Id="R1e9c6b6f238944e3"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791f961fe66a48e6" /><Relationship Type="http://schemas.openxmlformats.org/officeDocument/2006/relationships/notesMaster" Target="/ppt/notesMasters/notesMaster1.xml" Id="Rf6df3e46f1de4ec2"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5ebfb67c51f94455" /><Relationship Type="http://schemas.openxmlformats.org/officeDocument/2006/relationships/notesMaster" Target="/ppt/notesMasters/notesMaster1.xml" Id="R47759ebca9314c90"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777c704aec4842a9" /><Relationship Type="http://schemas.openxmlformats.org/officeDocument/2006/relationships/notesMaster" Target="/ppt/notesMasters/notesMaster1.xml" Id="R04d85557b3f84ba9"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9bea252d73d34d81" /><Relationship Type="http://schemas.openxmlformats.org/officeDocument/2006/relationships/notesMaster" Target="/ppt/notesMasters/notesMaster1.xml" Id="R86c86511e09a4f20"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c18840a39dff4154" /><Relationship Type="http://schemas.openxmlformats.org/officeDocument/2006/relationships/notesMaster" Target="/ppt/notesMasters/notesMaster1.xml" Id="R0abbedc3bfeb4813"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f86860ecf9434bb6" /><Relationship Type="http://schemas.openxmlformats.org/officeDocument/2006/relationships/notesMaster" Target="/ppt/notesMasters/notesMaster1.xml" Id="R4c48b82a16b84ed5"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28d36de3873e4bb5" /><Relationship Type="http://schemas.openxmlformats.org/officeDocument/2006/relationships/notesMaster" Target="/ppt/notesMasters/notesMaster1.xml" Id="Rdef5d0d2cde14933"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3d02c719790f4227" /><Relationship Type="http://schemas.openxmlformats.org/officeDocument/2006/relationships/notesMaster" Target="/ppt/notesMasters/notesMaster1.xml" Id="Raee76e5b73c24d87"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848a0d55754f4fb4" /><Relationship Type="http://schemas.openxmlformats.org/officeDocument/2006/relationships/notesMaster" Target="/ppt/notesMasters/notesMaster1.xml" Id="R71dfaaed40b74080"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e95ae870e3db4dff" /><Relationship Type="http://schemas.openxmlformats.org/officeDocument/2006/relationships/notesMaster" Target="/ppt/notesMasters/notesMaster1.xml" Id="R6eba53a78b124e97"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6b7ae9ada85f437a" /><Relationship Type="http://schemas.openxmlformats.org/officeDocument/2006/relationships/notesMaster" Target="/ppt/notesMasters/notesMaster1.xml" Id="R304e3160e0a143f6"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525e952650f14ba2" /><Relationship Type="http://schemas.openxmlformats.org/officeDocument/2006/relationships/notesMaster" Target="/ppt/notesMasters/notesMaster1.xml" Id="R79311fa4513c402b"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0daac5658473473a" /><Relationship Type="http://schemas.openxmlformats.org/officeDocument/2006/relationships/notesMaster" Target="/ppt/notesMasters/notesMaster1.xml" Id="R6edd3c9278414b01"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879eb8219a7844ff" /><Relationship Type="http://schemas.openxmlformats.org/officeDocument/2006/relationships/notesMaster" Target="/ppt/notesMasters/notesMaster1.xml" Id="Ra4842960687d4dd1"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5c8dc6d2425f41de" /><Relationship Type="http://schemas.openxmlformats.org/officeDocument/2006/relationships/notesMaster" Target="/ppt/notesMasters/notesMaster1.xml" Id="R4e2ecbc43969487f"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dc7fb12ac3f640d7" /><Relationship Type="http://schemas.openxmlformats.org/officeDocument/2006/relationships/notesMaster" Target="/ppt/notesMasters/notesMaster1.xml" Id="Rb976bc2e504e487f"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a53b4e2b182a4f79" /><Relationship Type="http://schemas.openxmlformats.org/officeDocument/2006/relationships/notesMaster" Target="/ppt/notesMasters/notesMaster1.xml" Id="Red53ad4433814e34"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c821f4844ba14e91" /><Relationship Type="http://schemas.openxmlformats.org/officeDocument/2006/relationships/notesMaster" Target="/ppt/notesMasters/notesMaster1.xml" Id="R2353087497d74c2a"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bf42a7416aa2439c" /><Relationship Type="http://schemas.openxmlformats.org/officeDocument/2006/relationships/notesMaster" Target="/ppt/notesMasters/notesMaster1.xml" Id="R0842759c1b284210"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496dc550949e4a5b" /><Relationship Type="http://schemas.openxmlformats.org/officeDocument/2006/relationships/notesMaster" Target="/ppt/notesMasters/notesMaster1.xml" Id="R54df00ac00114bd7"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739d1d4297534a03" /><Relationship Type="http://schemas.openxmlformats.org/officeDocument/2006/relationships/notesMaster" Target="/ppt/notesMasters/notesMaster1.xml" Id="R923d72bf24ab45f6"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f7ef68e180b0488b" /><Relationship Type="http://schemas.openxmlformats.org/officeDocument/2006/relationships/notesMaster" Target="/ppt/notesMasters/notesMaster1.xml" Id="Rdb6d3a65c1c94680"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2d5e5e19e3f444f3" /><Relationship Type="http://schemas.openxmlformats.org/officeDocument/2006/relationships/notesMaster" Target="/ppt/notesMasters/notesMaster1.xml" Id="R805dd86b30154f31"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971b75db16754fb0" /><Relationship Type="http://schemas.openxmlformats.org/officeDocument/2006/relationships/notesMaster" Target="/ppt/notesMasters/notesMaster1.xml" Id="R90f989e7ca6c418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rPr sz="1200"/>
              <a:t>Cover, displayed before the timed teaching session. Presenters supplied by the user: Mr Abu Yousif, Urology Consultant, and Nity G, ST5 Urology Registrar. Add the meeting and date. Add personal disclosures to the evidence slide before presenting. Image: AI-generated illustrative theatre scene, not a record of an actual operation. No personal operative experience or local outcomes are asserted.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rPr sz="1200"/>
              <a:t>Teaching slide 1. The operation starts before theatre</a:t>
            </a:r>
            <a:endParaRPr/>
          </a:p>
          <a:p xmlns:a="http://schemas.openxmlformats.org/drawingml/2006/main">
            <a:pPr marL="0" lvl="0" indent="0" algn="l">
              <a:spcBef>
                <a:spcPts val="0"/>
              </a:spcBef>
              <a:spcAft>
                <a:spcPts val="0"/>
              </a:spcAft>
              <a:buNone/>
            </a:pPr>
            <a:r>
              <a:rPr sz="1200"/>
              <a:t>Time 1:30. Clock 00:00-01:30.</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Speaker notes</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An AUS can be a technically satisfactory implant and a disappointing treatment. The cuff may coapt, the pump may cycle, and the patient may still avoid leaving the house because urgency, difficult emptying or fear of another procedure dominates his life.</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Today I want to follow the decisions that separate those outcomes. We will start with what the patient actually wants, then examine the bladder we are asking to store urine and the urethra we are asking to tolerate a cuff. We will spend time on preparation and the small operative decisions that are difficult to rescue later.</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The recurring question is straightforward: would I implant now, optimise first, investigate further, or reconsider whether an AUS is the right treatment? Those choices need reasons, not simply a favourite operation.</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The four cases are fictional. They are deliberately plausible rather than unusual. Please choose an initial answer when each appears, and notice which new finding would make you change it. [Pause for five seconds.] That is the level at which I hope we can discuss the evidence.</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References: BAUS25 https://doi.org/10.1111/bju.16726; AUA24 https://www.auanet.org/documents/Guidelines/PDF/2024%20Guidelines/IPT%20Unabridged%20Final%206-18-24.pdf; ICS16 https://www.ics.org/folder/standardisation/current-ics-standardisations/d/artificial-urinary-sphincter-report-of-the-2015-consensus-conference/download.</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Evidence status: Clinical framing and teaching method are editorial synthesis. No patient data are presented.</a:t>
            </a:r>
            <a:endParaRPr/>
          </a:p>
          <a:p xmlns:a="http://schemas.openxmlformats.org/drawingml/2006/main">
            <a:pPr marL="0" lvl="0" indent="0" algn="l">
              <a:spcBef>
                <a:spcPts val="0"/>
              </a:spcBef>
              <a:spcAft>
                <a:spcPts val="0"/>
              </a:spcAft>
              <a:buNone/>
            </a:pPr>
            <a:r>
              <a:t/>
            </a:r>
            <a:endParaRPr sz="120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rPr sz="1200"/>
              <a:t>Teaching slide 2. The evidence has boundaries</a:t>
            </a:r>
            <a:endParaRPr/>
          </a:p>
          <a:p xmlns:a="http://schemas.openxmlformats.org/drawingml/2006/main">
            <a:pPr marL="0" lvl="0" indent="0" algn="l">
              <a:spcBef>
                <a:spcPts val="0"/>
              </a:spcBef>
              <a:spcAft>
                <a:spcPts val="0"/>
              </a:spcAft>
              <a:buNone/>
            </a:pPr>
            <a:r>
              <a:rPr sz="1200"/>
              <a:t>Time 1:30. Clock 01:30-03:00.</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Speaker notes</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Thank you to Rigicon for organising the meeting. The clinical discussion needs to remain independent of the sponsor. Device choice should follow evidence, patient suitability and the instructions applicable to that device.</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We have useful guidance, but agreement among experts is not the same as a comparative trial. A manufacturer's instruction tells us how its product is intended to be used; it does not establish that the product outperforms another. A retrospective series can identify a concern without proving that the proposed solution prevents it.</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The BAUS consensus is particularly useful because it makes the clinical pathway explicit. We will compare it with EAU and AUA guidance where their approaches differ. The international ICS and Asia-Pacific consensus documents are also valuable, but both are specifically centred on AMS 800.</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Our aims are to choose investigations intelligently, distinguish three different bladder problems, preserve a usable urethra, challenge preparation rituals and diagnose failure before choosing revision. Where the evidence stops, I will say so. [Brief pause.] The most useful expert discussion often starts at that boundary.</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References: BAUS25 https://doi.org/10.1111/bju.16726; EAU26 https://uroweb.org/guidelines/management-of-non-neurogenic-male-luts/chapter/disease-management; AUA24 https://www.auanet.org/documents/Guidelines/PDF/2024%20Guidelines/IPT%20Unabridged%20Final%206-18-24.pdf; ICS16 https://www.ics.org/folder/standardisation/current-ics-standardisations/d/artificial-urinary-sphincter-report-of-the-2015-consensus-conference/download; AP23 https://doi.org/10.1111/iju.15083; CCIFU https://www.rigicon.com/files/e-labeling/ContiClassic-IFU.pdf.</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Evidence status: Scope and interpretation of source types. Presenter must supply their own accurate personal disclosure; none is assumed here.</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br/>
            <a:r>
              <a:rPr sz="1200"/>
              <a:t>Replace the disclosure placeholder with the presenter’s accurate relationships. The source brief identifies Rigicon as organiser.</a:t>
            </a:r>
            <a:endParaRPr/>
          </a:p>
          <a:p xmlns:a="http://schemas.openxmlformats.org/drawingml/2006/main">
            <a:r>
              <a:t>
Evidence update — 5 October 2026:
AUASTATUS26 — AUA current guideline register, July 2026. The AUA's July 2026 register still lists Incontinence after Prostate Treatment as amended in 2024. No 2026 amendment was identified. BAUS's relevant PPI-SUI consensus remains the 2025 publication. Meeting abstracts and the AUA 2026 educational Update Series are separate from a new guideline. Preserve the actual publication years. Source: https://helpdesk.auanet.org/hc/en-us/articles/40948838469143-Guidelines Access: Official AUA page read in full.
DEVICE26 — Emerging AUS devices review, 2026. The contemporary review describes new hydraulic and electronic designs, while emphasising the lack of robust direct comparisons and long-term outcomes for many devices. It supports keeping engineering advantages separate from proven clinical superiority. A review combining clinical, regulatory, manufacturer and preclinical materials is context rather than a head-to-head trial. Early ContiClassic safety cannot be compared with AMS 800 continence as if the endpoints were interchangeable. Source: https://doi.org/10.1002/nau.70400 Access: Publisher abstract via Europe PMC.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rPr sz="1200"/>
              <a:t>Teaching slide 3. Define the leakage that matters</a:t>
            </a:r>
            <a:endParaRPr/>
          </a:p>
          <a:p xmlns:a="http://schemas.openxmlformats.org/drawingml/2006/main">
            <a:pPr marL="0" lvl="0" indent="0" algn="l">
              <a:spcBef>
                <a:spcPts val="0"/>
              </a:spcBef>
              <a:spcAft>
                <a:spcPts val="0"/>
              </a:spcAft>
              <a:buNone/>
            </a:pPr>
            <a:r>
              <a:rPr sz="1200"/>
              <a:t>Time 1:45. Clock 03:00-04:45.</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Speaker notes</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Start with a description of a bad day. Does he leak when standing, walking or coughing? Does an irresistible urge precede the leak? Does he remain dry overnight, or does nocturnal leakage suggest another contributor? Mixed symptoms are common, but the word mixed must not replace an explanation.</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Demonstrate stress leakage with a suitably filled bladder and a practical provocative test. If the history and examination disagree, investigate that disagreement. A dry examination performed after he has just emptied his bladder proves very little.</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Pad number is easy to record but depends on pad capacity and the patient's changing behaviour. A pad-weight assessment can quantify leakage when severity or progress is uncertain; record the collection conditions and activity. A diary helps separate urinary frequency from precautionary voiding to prevent stress leakage.</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Then ask what improvement would justify an implant. Being able to walk the golf course, return to work or manage one precautionary pad may matter more than a categorical label of continence. Record a validated symptom and quality-of-life measure, but keep the patient's own goal beside it. We need both when judging success.</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References: BAUS25 https://doi.org/10.1111/bju.16726; EAU26 https://uroweb.org/guidelines/management-of-non-neurogenic-male-luts/chapter/disease-management; AUA24 https://www.auanet.org/documents/Guidelines/PDF/2024%20Guidelines/IPT%20Unabridged%20Final%206-18-24.pdf.</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Evidence status: Assessment is guideline-supported. Combining burden, activity and goals is clinical interpretation; no pad threshold alone determines eligibility.</a:t>
            </a:r>
            <a:endParaRPr/>
          </a:p>
          <a:p xmlns:a="http://schemas.openxmlformats.org/drawingml/2006/main">
            <a:pPr marL="0" lvl="0" indent="0" algn="l">
              <a:spcBef>
                <a:spcPts val="0"/>
              </a:spcBef>
              <a:spcAft>
                <a:spcPts val="0"/>
              </a:spcAft>
              <a:buNone/>
            </a:pPr>
            <a:r>
              <a:t/>
            </a:r>
            <a:endParaRPr sz="1200"/>
          </a:p>
          <a:p xmlns:a="http://schemas.openxmlformats.org/drawingml/2006/main">
            <a:r>
              <a:t>
Evidence update — 5 October 2026:
PAD26 — Pad count versus 24-hour weight: 2026. A retrospective analysis of prospectively collected follow-up included 2,040 men and 8,787 paired measurements. Pad count tracked leakage well overall (Spearman rho 0.94), but two-to-four pads/day had considerable weight variability. Repeated observations are not independent additional patients; single-centre first-year post-RP follow-up is not a universal AUS selection rule. Pad weight is particularly helpful when the intermediate count, activity or pad type leaves severity uncertain. Source: https://doi.org/10.1111/bju.70224 Access: Publisher abstract via Europe PMC.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rPr sz="1200"/>
              <a:t>Teaching slide 4. Timing and alternatives: avoid both drift and haste</a:t>
            </a:r>
            <a:endParaRPr/>
          </a:p>
          <a:p xmlns:a="http://schemas.openxmlformats.org/drawingml/2006/main">
            <a:pPr marL="0" lvl="0" indent="0" algn="l">
              <a:spcBef>
                <a:spcPts val="0"/>
              </a:spcBef>
              <a:spcAft>
                <a:spcPts val="0"/>
              </a:spcAft>
              <a:buNone/>
            </a:pPr>
            <a:r>
              <a:rPr sz="1200"/>
              <a:t>Time 1:30. Clock 04:45-06:15.</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Speaker notes</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Do not let conservative management become an indefinite holding pattern. Equally, do not interrupt convincing recovery without a reason. Establish what has been tried, whether pelvic-floor training was properly taught, and whether leakage is still improving.</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BAUS allows a recovery period of at least six months for severe leakage and twelve for mild-to-moderate leakage. The AUA permits surgery from six months when bothersome stress leakage is not improving despite conservative treatment, and recommends offering it at one year when it persists. Anticipated salvage treatment, recurrence and the patient's recovery trajectory still belong in the decision.</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A sling remains an option for selected men with less severe leakage and favourable tissues. Severe leakage and previous radiation generally move the discussion towards AUS; the AUA specifically favours AUS over slings or adjustable balloons in irradiated men seeking surgery. Containment, collecting devices and continued conservative care remain legitimate choices.</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The MASTER trial supports an informed comparison, but its non-inferiority result does not mean that the procedures are interchangeable in every subgroup. It excluded previous continence implants and unresolved narrowing. Avoid exporting that result into complex revision practice.</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References: AUA24 https://www.auanet.org/documents/Guidelines/PDF/2024%20Guidelines/IPT%20Unabridged%20Final%206-18-24.pdf; BAUS25 https://doi.org/10.1111/bju.16726; EAU26 https://uroweb.org/guidelines/management-of-non-neurogenic-male-luts/chapter/disease-management; MASTER22 https://doi.org/10.3310/TBFZ0277.</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Evidence status: Timing and radiation recommendations are guideline statements. MASTER was a randomised comparison in selected men after prostate surgery; it does not establish equivalence in revisions or unstable urethras.</a:t>
            </a:r>
            <a:endParaRPr/>
          </a:p>
          <a:p xmlns:a="http://schemas.openxmlformats.org/drawingml/2006/main">
            <a:pPr marL="0" lvl="0" indent="0" algn="l">
              <a:spcBef>
                <a:spcPts val="0"/>
              </a:spcBef>
              <a:spcAft>
                <a:spcPts val="0"/>
              </a:spcAft>
              <a:buNone/>
            </a:pPr>
            <a:r>
              <a:t/>
            </a:r>
            <a:endParaRPr sz="1200"/>
          </a:p>
          <a:p xmlns:a="http://schemas.openxmlformats.org/drawingml/2006/main">
            <a:r>
              <a:t>
Evidence update — 5 October 2026:
MASTER26 — MASTER: 24-month RCT results, 2026. This is extended follow-up of the same 380 randomised men, not a second independent trial. At 24 months, sling met the prespecified non-inferiority criterion on the strict self-reported continence endpoint: risk difference -0.006 (95% CI -0.092 to 0.080), or -0.6 percentage points (-9.2 to +8.0). Further surgery was reported in 20 men (11%) after sling and four (2%) after AUS. Secondary outcomes generally favoured AUS. The 15-percentage-point margin applies to the prespecified endpoint, not every outcome. Do not translate non-inferiority into identical effectiveness, zero-pad equivalence or an endorsement for irradiated/reconstructed revision cases. Abstract symptom-score means and adjusted difference are distinct estimates; do not subtract them and label it the adjusted effect. Source: https://doi.org/10.1016/j.euf.2026.07.012 Access: Publisher abstract via Europe PMC.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rPr sz="1200"/>
              <a:t>Teaching slide 5. Can this patient use this pump in five years?</a:t>
            </a:r>
            <a:endParaRPr/>
          </a:p>
          <a:p xmlns:a="http://schemas.openxmlformats.org/drawingml/2006/main">
            <a:pPr marL="0" lvl="0" indent="0" algn="l">
              <a:spcBef>
                <a:spcPts val="0"/>
              </a:spcBef>
              <a:spcAft>
                <a:spcPts val="0"/>
              </a:spcAft>
              <a:buNone/>
            </a:pPr>
            <a:r>
              <a:rPr sz="1200"/>
              <a:t>Time 1:15. Clock 06:15-07:30.</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Speaker notes</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Ask the patient to operate a demonstration pump. Watch what happens rather than asking whether his hands are all right. Arthritis, neuropathy, tremor and weak pinch may emerge only when the task is attempted.</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Access matters as much as strength. Can he reach the proposed hemiscrotum while seated? Obesity, a high scrotum, limited hip movement or another scrotal device can make a technically satisfactory pump unusable. Agree the side with him; dominant hand alone is not the answer.</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Assess whether he understands cycling, deactivation and what to tell another clinician before catheterisation. Cognitive decline and progressive disease change the long-term plan. Family support is helpful, but does not automatically solve inability to operate a device when alone.</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Frailty is not simply an age cutoff. Balance anaesthetic burden, recovery, expected benefit and the likelihood of future revision. If safe independent use is unlikely, reconsider the treatment rather than burying that concern in the consent form.</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References: AUA24 https://www.auanet.org/documents/Guidelines/PDF/2024%20Guidelines/IPT%20Unabridged%20Final%206-18-24.pdf; ICS16 https://www.ics.org/folder/standardisation/current-ics-standardisations/d/artificial-urinary-sphincter-report-of-the-2015-consensus-conference/download; CCIFU https://www.rigicon.com/files/e-labeling/ContiClassic-IFU.pdf.</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Evidence status: Functional capability is guideline/IFU-supported; the practical demonstration and access checks are expert implementation, without a validated universal dexterity score.</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br/>
            <a:r>
              <a:rPr sz="1200"/>
              <a:t>Image source: https://uroops3d.com/lab/aus . Captured 30 September–1 October 2026 (UTC). © UroOps3D / UroRef / Nity G. The site describes this as a schematic ContiClassic model with clinical review pending. Images illustrate spatial relationships, not validated anatomy, tissue perfusion or operative instructions.</a:t>
            </a:r>
            <a:endParaRPr/>
          </a:p>
          <a:p xmlns:a="http://schemas.openxmlformats.org/drawingml/2006/main">
            <a:r>
              <a:t>
Evidence update — 5 October 2026:
FRAIL26 — Frailty and SUI surgery: Medicare cohort, 2026. In 7,252 men undergoing AUS or sling, claims-defined frailty was associated with 30-day complications independently of age and comorbidity. Relative to not frail, adjusted relative risks were 1.5 for prefrail and 2.5 for mildly-to-severely frail men. Revision/removal was also associated with frailty. Mixed AUS/sling procedures, historical Medicare data and a claims frailty index. These relative risks are not an individual AUS-specific absolute probability, and they do not validate a bedside pump score. Use a practical frailty assessment alongside observed dexterity and cognition. Source: https://doi.org/10.1097/ju.0000000000005102 Access: Publisher abstract via Europe PMC.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rPr sz="1200"/>
              <a:t>Teaching slide 6. Flexible cystoscopy: know what will change the plan</a:t>
            </a:r>
            <a:endParaRPr/>
          </a:p>
          <a:p xmlns:a="http://schemas.openxmlformats.org/drawingml/2006/main">
            <a:pPr marL="0" lvl="0" indent="0" algn="l">
              <a:spcBef>
                <a:spcPts val="0"/>
              </a:spcBef>
              <a:spcAft>
                <a:spcPts val="0"/>
              </a:spcAft>
              <a:buNone/>
            </a:pPr>
            <a:r>
              <a:rPr sz="1200"/>
              <a:t>Time 1:45. Clock 07:30-09:15.</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Speaker notes</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Here, flexion means flexible cystoscopy. AUA recommends it before stress-incontinence surgery. BAUS selects cystoscopy for indications alongside its video-urodynamics pathway, or combines it with standard urodynamics where video is unavailable. EAU describes selective cystoscopy for narrowing or bladder pathology, with a weak general LUTS recommendation when findings would change diagnosis or treatment.</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My practical preference before an AUS is to inspect the urethra and bladder in advance, so an unexpected finding can be discussed before the day of implantation. That preference should be labelled as such, rather than attributed to unanimous guideline agreement. Repeat assessment is appropriate after intervening urethral treatment or new obstructive symptoms.</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Look for a stricture, vesicourethral anastomotic stenosis, bladder-neck contracture, foreign material or previous cuff erosion. Bladder stones, tumour and significant radiation changes may alter treatment or predict repeated instrumentation.</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With suspected narrowing, add flow and residual assessment and define the site and length. Retrograde urethrography, sometimes with a voiding study, is useful when reconstruction is being considered or the segment cannot be characterised endoscopically. Do not turn a diagnostic cystoscopy into unplanned dilation simply to complete the examination.</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References: BAUS25 https://doi.org/10.1111/bju.16726; AUA24 https://www.auanet.org/documents/Guidelines/PDF/2024%20Guidelines/IPT%20Unabridged%20Final%206-18-24.pdf; EAU26 https://uroweb.org/guidelines/management-of-non-neurogenic-male-luts/chapter/disease-management; EAUSTR26 https://uroweb.org/guidelines/urethral-strictures/chapter/disease-management-in-males.</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Evidence status: AUA and BAUS recommendations are distinguished explicitly. Routine advance cystoscopy is the proposed expert pathway, not a claim that all three guidelines mandate it in identical terms.</a:t>
            </a:r>
            <a:endParaRPr/>
          </a:p>
          <a:p xmlns:a="http://schemas.openxmlformats.org/drawingml/2006/main">
            <a:pPr marL="0" lvl="0" indent="0" algn="l">
              <a:spcBef>
                <a:spcPts val="0"/>
              </a:spcBef>
              <a:spcAft>
                <a:spcPts val="0"/>
              </a:spcAft>
              <a:buNone/>
            </a:pPr>
            <a:r>
              <a:t/>
            </a:r>
            <a:endParaRPr sz="1200"/>
          </a:p>
          <a:p xmlns:a="http://schemas.openxmlformats.org/drawingml/2006/main">
            <a:r>
              <a:t>
Evidence update — 5 October 2026:
AUAUDS26 — AUA 2026 IP09-22: pre-AUS UDS and cystoscopy. The 2026 male-incontinence session revisited the value of preoperative UDS and cystoscopy. Programme/title verified; complete methods, results and denominators unavailable. No numerical result or change in practice is inferred. This is conference material, not an AUA guideline. Source: https://doi.org/10.1097/01.JU.0001191316.72449.22.22 Access: Official journal/programme record and publisher-deposited Crossref metadata only.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rPr sz="1200"/>
              <a:t>Teaching slide 7. Urodynamics: the guidelines really do differ</a:t>
            </a:r>
            <a:endParaRPr/>
          </a:p>
          <a:p xmlns:a="http://schemas.openxmlformats.org/drawingml/2006/main">
            <a:pPr marL="0" lvl="0" indent="0" algn="l">
              <a:spcBef>
                <a:spcPts val="0"/>
              </a:spcBef>
              <a:spcAft>
                <a:spcPts val="0"/>
              </a:spcAft>
              <a:buNone/>
            </a:pPr>
            <a:r>
              <a:rPr sz="1200"/>
              <a:t>Time 1:45. Clock 09:15-11:00.</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Speaker notes</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BAUS favours video-urodynamics in the surgical pathway. EAU's table recommends urodynamics before invasive treatment, with weak strength; its surrounding narrative still discusses selective testing and limited outcome evidence. AUA permits testing when diagnosis or counselling benefits, rather than making it universal. The older ICS consensus also takes a selective approach.</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The yield is greatest when stress leakage is uncertain, urgency is dominant, emptying is poor, compliance is a concern, or previous treatment makes the mechanism complicated. In an uncomplicated man with demonstrable severe stress leakage, reassuring emptying and no concerning storage symptoms, urodynamics may add little under the AUA approach. That does not erase the different BAUS and EAU positions.</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Before requesting the test, state the question: is this unsafe storage, obstruction, weak contraction, or simply a bladder that never gets a chance to fill? Decide in advance what would change surgery or counselling.</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No comparative trial identified in this search established that routine testing itself improves AUS outcomes for every candidate. A sensible investigation can be recommended by consensus without its universal use having been proven superior.</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References: BAUS25 https://doi.org/10.1111/bju.16726; EAU26 https://uroweb.org/guidelines/management-of-non-neurogenic-male-luts/chapter/disease-management; AUA24 https://www.auanet.org/documents/Guidelines/PDF/2024%20Guidelines/IPT%20Unabridged%20Final%206-18-24.pdf; ICS16 https://www.ics.org/folder/standardisation/current-ics-standardisations/d/artificial-urinary-sphincter-report-of-the-2015-consensus-conference/download.</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Evidence status: Guideline/consensus comparison. The benefit of routine versus selective UDS for AUS outcomes remains an evidence gap; weak recommendation does not mean the test is unhelpful.</a:t>
            </a:r>
            <a:endParaRPr/>
          </a:p>
          <a:p xmlns:a="http://schemas.openxmlformats.org/drawingml/2006/main">
            <a:pPr marL="0" lvl="0" indent="0" algn="l">
              <a:spcBef>
                <a:spcPts val="0"/>
              </a:spcBef>
              <a:spcAft>
                <a:spcPts val="0"/>
              </a:spcAft>
              <a:buNone/>
            </a:pPr>
            <a:r>
              <a:t/>
            </a:r>
            <a:endParaRPr sz="1200"/>
          </a:p>
          <a:p xmlns:a="http://schemas.openxmlformats.org/drawingml/2006/main">
            <a:r>
              <a:t>
Evidence update — 5 October 2026:
AUASTATUS26 — AUA current guideline register, July 2026. The AUA's July 2026 register still lists Incontinence after Prostate Treatment as amended in 2024. No 2026 amendment was identified. BAUS's relevant PPI-SUI consensus remains the 2025 publication. Meeting abstracts and the AUA 2026 educational Update Series are separate from a new guideline. Preserve the actual publication years. Source: https://helpdesk.auanet.org/hc/en-us/articles/40948838469143-Guidelines Access: Official AUA page read in full.
AUAUDS26 — AUA 2026 IP09-22: pre-AUS UDS and cystoscopy. The 2026 male-incontinence session revisited the value of preoperative UDS and cystoscopy. Programme/title verified; complete methods, results and denominators unavailable. No numerical result or change in practice is inferred. This is conference material, not an AUA guideline. Source: https://doi.org/10.1097/01.JU.0001191316.72449.22.22 Access: Official journal/programme record and publisher-deposited Crossref metadata only.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rPr sz="1200"/>
              <a:t>Teaching slide 8. Read the study in the context of the patient</a:t>
            </a:r>
            <a:endParaRPr/>
          </a:p>
          <a:p xmlns:a="http://schemas.openxmlformats.org/drawingml/2006/main">
            <a:pPr marL="0" lvl="0" indent="0" algn="l">
              <a:spcBef>
                <a:spcPts val="0"/>
              </a:spcBef>
              <a:spcAft>
                <a:spcPts val="0"/>
              </a:spcAft>
              <a:buNone/>
            </a:pPr>
            <a:r>
              <a:rPr sz="1200"/>
              <a:t>Time 1:45. Clock 11:00-12:45.</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Speaker notes</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A man who leaks throughout filling may never reach a meaningful storage challenge. A small recorded capacity can reflect leakage, urgency, discomfort, filling conditions or genuinely poor storage. Those possibilities have different implications.</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Review the actual traces, pressure subtraction, filling rate, leakage and the reason filling stopped. A compliance value calculated during artefact or substantial unaccounted leakage should not acquire authority simply because the machine printed it. Compare with his diary and usual voided volumes.</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An intubated pressure-flow study may inhibit voiding or alter outlet behaviour. Conversely, a man who empties by abdominal straining through a very incompetent outlet may not behave the same after continence surgery. Repeat free flow and residual measurements under representative conditions, and explain the remaining uncertainty.</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The pathway is: establish the dominant symptom and demonstrable stress leakage; assess urine, diary, flow and residual; evaluate urethral anatomy; use the chosen guideline-based urodynamic strategy; then classify storage safety, emptying and outlet stability. If a study is technically inadequate and the result would determine whether implantation is safe, investigate further. Do not convert an uninterpretable trace into either a contraindication or reassurance.</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References: BAUS25 https://doi.org/10.1111/bju.16726; AUA24 https://www.auanet.org/documents/Guidelines/PDF/2024%20Guidelines/IPT%20Unabridged%20Final%206-18-24.pdf; ICS16 https://www.ics.org/folder/standardisation/current-ics-standardisations/d/artificial-urinary-sphincter-report-of-the-2015-consensus-conference/download; UDS14 https://pubmed.ncbi.nlm.nih.gov/25483765/.</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Evidence status: Test selection is guideline-based; interpretation and the proposed pathway are expert synthesis. No universal capacity, contractility or residual cutoff is proposed.</a:t>
            </a:r>
            <a:endParaRPr/>
          </a:p>
          <a:p xmlns:a="http://schemas.openxmlformats.org/drawingml/2006/main">
            <a:pPr marL="0" lvl="0" indent="0" algn="l">
              <a:spcBef>
                <a:spcPts val="0"/>
              </a:spcBef>
              <a:spcAft>
                <a:spcPts val="0"/>
              </a:spcAft>
              <a:buNone/>
            </a:pPr>
            <a:r>
              <a:t/>
            </a:r>
            <a:endParaRPr sz="120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rPr sz="1200"/>
              <a:t>Teaching slide 9. Consent to a pathway, not a promise of permanent dryness</a:t>
            </a:r>
            <a:endParaRPr/>
          </a:p>
          <a:p xmlns:a="http://schemas.openxmlformats.org/drawingml/2006/main">
            <a:pPr marL="0" lvl="0" indent="0" algn="l">
              <a:spcBef>
                <a:spcPts val="0"/>
              </a:spcBef>
              <a:spcAft>
                <a:spcPts val="0"/>
              </a:spcAft>
              <a:buNone/>
            </a:pPr>
            <a:r>
              <a:rPr sz="1200"/>
              <a:t>Time 1:15. Clock 12:45-14:00.</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Speaker notes</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Consent includes residual leakage, urgency, erosion, infection, mechanical failure and revision. Radiation and previous surgery change those risks; future instrumentation needs precautions.</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AUSCO gives contemporary AMS 800 context: 115 primary implants, including 25 previously irradiated men. At twelve months after activation, 61 of 101 reporting participants used zero pads. It was a manufacturer-funded, single-arm study in expert centres; missing outcomes and one-year follow-up limit inference.</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The first 116-recipient ContiClassic series reported 93.2% Kaplan-Meier device survival at twelve months. A standardised continence result and primary/revision or radiation subgroup outcomes could not be verified in the accessible abstract. That is early survival information, not pad freedom or a comparative device claim.</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Quote each endpoint with its population and time horizon. The patient should know what the device may improve and what happens if it has to be removed.</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References: AUSCO26 https://pmc.ncbi.nlm.nih.gov/articles/PMC12794701/; CCSAFETY https://pubmed.ncbi.nlm.nih.gov/37543658/; AUA24 https://www.auanet.org/documents/Guidelines/PDF/2024%20Guidelines/IPT%20Unabridged%20Final%206-18-24.pdf; RT22 https://doi.org/10.3389/fsurg.2022.825239.</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Evidence status: AUSCO is prospective but uncontrolled, with incomplete endpoint data; zero pad use is its reported endpoint. ContiClassic findings are abstract-level; detailed follow-up and subgroup limitations remain. These are not matched device comparisons.</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br/>
            <a:r>
              <a:rPr sz="1200"/>
              <a:t>The displayed percentages describe different endpoints and populations. Do not compare them as device efficacy. AMS 800 61/101 = 60.4%, rounded to 60%. ContiClassic estimate is survival, not continence.</a:t>
            </a:r>
            <a:endParaRPr/>
          </a:p>
          <a:p xmlns:a="http://schemas.openxmlformats.org/drawingml/2006/main">
            <a:r>
              <a:t>
Evidence update — 5 October 2026:
FRAIL26 — Frailty and SUI surgery: Medicare cohort, 2026. In 7,252 men undergoing AUS or sling, claims-defined frailty was associated with 30-day complications independently of age and comorbidity. Relative to not frail, adjusted relative risks were 1.5 for prefrail and 2.5 for mildly-to-severely frail men. Revision/removal was also associated with frailty. Mixed AUS/sling procedures, historical Medicare data and a claims frailty index. These relative risks are not an individual AUS-specific absolute probability, and they do not validate a bedside pump score. Use a practical frailty assessment alongside observed dexterity and cognition. Source: https://doi.org/10.1097/ju.0000000000005102 Access: Publisher abstract via Europe PMC.
REGRET26 — Long-term decisional regret after AUS, 2026 issue. Ninety-one men responded (87.5%), with median follow-up 82 months. Reoperation was the only independent predictor of regret in the reported model (+18 points on the Decisional Regret Scale). Continence benefit persisted but deteriorated over time. A retrospective single-centre survivor/respondent cohort without a nonsurgical comparator. Association does not prove reoperation causes all regret or predict an individual response. Counselling should include residual leakage, future surgery and psychological burden. Online December 2025; 2026 issue. Source: https://doi.org/10.1016/j.euros.2025.12.006 Access: Full open article read.
DEVICE26 — Emerging AUS devices review, 2026. The contemporary review describes new hydraulic and electronic designs, while emphasising the lack of robust direct comparisons and long-term outcomes for many devices. It supports keeping engineering advantages separate from proven clinical superiority. A review combining clinical, regulatory, manufacturer and preclinical materials is context rather than a head-to-head trial. Early ContiClassic safety cannot be compared with AMS 800 continence as if the endpoints were interchangeable. Source: https://doi.org/10.1002/nau.70400 Access: Publisher abstract via Europe PMC.
REPORT26 — Standardised complication reporting: 2026. A retrospective 227-implant series using systematic complication capture reported 47% early complications, predominantly minor, and 7.9% major complications requiring intervention. Five-year explantation-free survival was 73%. Selected techniques included distal double cuffs and transcorporal cuffs. These results are not a universal primary single-bulbar-cuff complication rate. Systematic reporting and endpoint definitions explain why superficially similar published percentages differ. Source: https://doi.org/10.1007/s00345-026-06246-y Access: Full open article read.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rPr sz="1200"/>
              <a:t>Teaching slide 10. Fictional case 1: six pads, urgency and DO</a:t>
            </a:r>
            <a:endParaRPr/>
          </a:p>
          <a:p xmlns:a="http://schemas.openxmlformats.org/drawingml/2006/main">
            <a:pPr marL="0" lvl="0" indent="0" algn="l">
              <a:spcBef>
                <a:spcPts val="0"/>
              </a:spcBef>
              <a:spcAft>
                <a:spcPts val="0"/>
              </a:spcAft>
              <a:buNone/>
            </a:pPr>
            <a:r>
              <a:rPr sz="1200"/>
              <a:t>Time 1:45. Clock 14:00-15:45.</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Speaker notes</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This fictional patient uses six pads on an active day. Stress leakage is clearly demonstrated. He also has urgency leakage, and urodynamics shows detrusor overactivity, with reassuring storage pressures between contractions and adequate emptying. His urethra is patent.</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Would you implant now or treat the bladder first? [Pause for eight seconds.] Both may be defensible in general AUS practice, depending on which symptom dominates, the severity of urgency and the device's instructions.</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Overactive bladder is a symptom syndrome. Detrusor overactivity is an observation during filling. One does not perfectly predict the other. A systematic review found insufficient grounds to deny stress-incontinence surgery solely because DO was present, but the studies and definitions were heterogeneous. That is not a guarantee that urgency or device durability is unaffected.</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My approach would be to offer treatment for bothersome storage symptoms, agree a separate goal for urgency, and reassess. If stress leakage remains the dominant burden and storage is safe, AUS can remain appropriate. For ContiClassic specifically, the retrieved IFU requires these bladder conditions to be treated and controlled or resolved; irresolvable instability is contraindicated. General reassurance about DO must not override that device boundary.</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References: DO24 https://doi.org/10.1002/bco2.442; OAB11 https://pubmed.ncbi.nlm.nih.gov/21497853/; DOFAIL23 https://pubmed.ncbi.nlm.nih.gov/36921845/; CCIFU https://www.rigicon.com/files/e-labeling/ContiClassic-IFU.pdf.</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Evidence status: Case is fictional. Evidence supporting selected implantation with DO is mainly observational; treatment sequencing is individualised. The ContiClassic statement is manufacturer labelling, not a comparative trial conclusion.</a:t>
            </a:r>
            <a:endParaRPr/>
          </a:p>
          <a:p xmlns:a="http://schemas.openxmlformats.org/drawingml/2006/main">
            <a:pPr marL="0" lvl="0" indent="0" algn="l">
              <a:spcBef>
                <a:spcPts val="0"/>
              </a:spcBef>
              <a:spcAft>
                <a:spcPts val="0"/>
              </a:spcAft>
              <a:buNone/>
            </a:pPr>
            <a:r>
              <a:t/>
            </a:r>
            <a:endParaRPr sz="120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rPr sz="1200"/>
              <a:t>Teaching slide 11. Treat urgency without creating an emptying problem</a:t>
            </a:r>
            <a:endParaRPr/>
          </a:p>
          <a:p xmlns:a="http://schemas.openxmlformats.org/drawingml/2006/main">
            <a:pPr marL="0" lvl="0" indent="0" algn="l">
              <a:spcBef>
                <a:spcPts val="0"/>
              </a:spcBef>
              <a:spcAft>
                <a:spcPts val="0"/>
              </a:spcAft>
              <a:buNone/>
            </a:pPr>
            <a:r>
              <a:rPr sz="1200"/>
              <a:t>Time 1:30. Clock 15:45-17:15.</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Speaker notes</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Begin with the reversible contributors: fluid pattern, caffeine, constipation, infection when clinically suspected, and medications. Bladder training and an appropriate antimuscarinic or beta-3 agonist may be useful, chosen with the patient's comorbidity, interactions and residual urine in mind. The lecture is not prescribing a universal drug sequence.</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Botulinum toxin can be effective for refractory urgency, but its implications matter before an AUS. Could this patient catheterise if needed? How would repeated cystoscopic injections be delivered safely through the future cuff? If retention develops, a successful storage treatment may have created a different functional problem.</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Neuromodulation can also be considered through an appropriate overactive-bladder pathway. Its suitability does not eliminate the need to establish whether the outlet is stable and emptying is adequate.</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Return to the patient's two outcomes: stress leakage and urgency leakage. Improvement in one is not failure because the other persists, provided that possibility was properly discussed. Conversely, do not dismiss severe postoperative urgency as an inevitable inconvenience. Reassess it, including infection, residual urine and device function, before simply escalating medication.</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References: BAUS25 https://doi.org/10.1111/bju.16726; AUAOAB24 https://doi.org/10.1097/JU.0000000000003985; OAB11 https://pubmed.ncbi.nlm.nih.gov/21497853/; CCIFU https://www.rigicon.com/files/e-labeling/ContiClassic-IFU.pdf.</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Evidence status: OAB treatment options follow guidance. Sequencing around a cuff and anticipated instrumentation is expert synthesis; evidence does not establish one universally superior sequence.</a:t>
            </a:r>
            <a:endParaRPr/>
          </a:p>
          <a:p xmlns:a="http://schemas.openxmlformats.org/drawingml/2006/main">
            <a:pPr marL="0" lvl="0" indent="0" algn="l">
              <a:spcBef>
                <a:spcPts val="0"/>
              </a:spcBef>
              <a:spcAft>
                <a:spcPts val="0"/>
              </a:spcAft>
              <a:buNone/>
            </a:pPr>
            <a:r>
              <a:t/>
            </a:r>
            <a:endParaRPr sz="120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rPr sz="1200"/>
              <a:t>Teaching slide 12. Fictional case 2: weak contraction and a raised residual</a:t>
            </a:r>
            <a:endParaRPr/>
          </a:p>
          <a:p xmlns:a="http://schemas.openxmlformats.org/drawingml/2006/main">
            <a:pPr marL="0" lvl="0" indent="0" algn="l">
              <a:spcBef>
                <a:spcPts val="0"/>
              </a:spcBef>
              <a:spcAft>
                <a:spcPts val="0"/>
              </a:spcAft>
              <a:buNone/>
            </a:pPr>
            <a:r>
              <a:rPr sz="1200"/>
              <a:t>Time 1:45. Clock 17:15-19:00.</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Speaker notes</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Our second fictional patient has demonstrable stress leakage but voids slowly, strains and repeatedly leaves urine behind. The pressure-flow study shows a weak contraction. Is that enough to refuse him an AUS? [Pause for eight seconds.]</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First exclude a narrowing, review medications and neurological history, and compare the laboratory void with his usual void. A large residual with a weak contraction is a problem to explain; it is not a self-explanatory diagnosis. A technically poor study should not define his future treatment.</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Selected retrospective data suggest that men labelled as having detrusor underactivity can do reasonably well after AUS. However, one such study excluded early complications requiring revision, and the accessible report does not allow confident extrapolation to every patient with severe retention or an acontractile bladder.</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An AUS opens during cycling, so it is different from a permanently obstructive outlet procedure. Nevertheless, we cannot promise that a man who empties mainly by straining will empty equally well after implantation.</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My initial decision is investigate further and establish a practical emptying plan. If that becomes reliable, implantation may be reasonable. If he cannot empty or safely manage the likely rescue strategy, reconsider AUS. There is no universal residual or contractility number that makes this decision for us.</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References: DU23 https://pubmed.ncbi.nlm.nih.gov/36906798/; AUA24 https://www.auanet.org/documents/Guidelines/PDF/2024%20Guidelines/IPT%20Unabridged%20Final%206-18-24.pdf; ICSUDS17 https://doi.org/10.1002/nau.23124; CCIFU https://www.rigicon.com/files/e-labeling/ContiClassic-IFU.pdf.</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Evidence status: Fictional case; selected observational DU evidence, not proof of safety in unresolved retention. ContiClassic warnings on overflow and irreversible obstruction remain relevant.</a:t>
            </a:r>
            <a:endParaRPr/>
          </a:p>
          <a:p xmlns:a="http://schemas.openxmlformats.org/drawingml/2006/main">
            <a:pPr marL="0" lvl="0" indent="0" algn="l">
              <a:spcBef>
                <a:spcPts val="0"/>
              </a:spcBef>
              <a:spcAft>
                <a:spcPts val="0"/>
              </a:spcAft>
              <a:buNone/>
            </a:pPr>
            <a:r>
              <a:t/>
            </a:r>
            <a:endParaRPr sz="120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rPr sz="1200"/>
              <a:t>Teaching slide 13. Intermittent catheterisation changes the consent and the operation</a:t>
            </a:r>
            <a:endParaRPr/>
          </a:p>
          <a:p xmlns:a="http://schemas.openxmlformats.org/drawingml/2006/main">
            <a:pPr marL="0" lvl="0" indent="0" algn="l">
              <a:spcBef>
                <a:spcPts val="0"/>
              </a:spcBef>
              <a:spcAft>
                <a:spcPts val="0"/>
              </a:spcAft>
              <a:buNone/>
            </a:pPr>
            <a:r>
              <a:rPr sz="1200"/>
              <a:t>Time 1:30. Clock 19:00-20:30.</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Speaker notes</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The prospect of intermittent catheterisation is not an automatic exclusion from AUS, but neither is it a minor footnote. A small, selected retrospective series supports the feasibility of bulbar AUS in some men who continue catheterisation. It does not demonstrate safety equivalence with men who never catheterise.</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Clarify whether the problem is weak emptying, recurrent narrowing or an unresolved outlet that would be better treated first. Establish actual catheter competence, including access and recognition of resistance. Do not discover after implantation that the patient can squeeze a pump but cannot perform the drainage strategy you have proposed.</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Any catheterisation requires the cuff to be fully deflated and the device deactivated according to its instructions. Use the least traumatic appropriate instrumentation; stop when resistance is unexplained. A deflated cuff's advertised internal diameter is not a safe catheter-size chart because urethral tissue occupies that space.</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Repeated instrumentation and prolonged indwelling drainage deserve a specialist plan, potentially including an alternative drainage route. Observational evidence links prolonged urethral catheterisation with erosion. It does not establish a universally safe duration or prove that careful intermittent catheterisation carries the same risk.</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References: CIC23 https://pubmed.ncbi.nlm.nih.gov/36332702/; CATH13 https://pubmed.ncbi.nlm.nih.gov/24074987/; CCIFU https://www.rigicon.com/files/e-labeling/ContiClassic-IFU.pdf; ICS16 https://www.ics.org/folder/standardisation/current-ics-standardisations/d/artificial-urinary-sphincter-report-of-the-2015-consensus-conference/download.</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Evidence status: Feasibility and catheter-associated risk come from observational cohorts. Drainage route and catheter selection require patient- and device-specific judgement; no universal French-size rule is offered.</a:t>
            </a:r>
            <a:endParaRPr/>
          </a:p>
          <a:p xmlns:a="http://schemas.openxmlformats.org/drawingml/2006/main">
            <a:pPr marL="0" lvl="0" indent="0" algn="l">
              <a:spcBef>
                <a:spcPts val="0"/>
              </a:spcBef>
              <a:spcAft>
                <a:spcPts val="0"/>
              </a:spcAft>
              <a:buNone/>
            </a:pPr>
            <a:r>
              <a:t/>
            </a:r>
            <a:endParaRPr sz="1200"/>
          </a:p>
          <a:p xmlns:a="http://schemas.openxmlformats.org/drawingml/2006/main">
            <a:r>
              <a:t>
Evidence update — 5 October 2026:
BAUSSCI26 — BAUS 2026 P12-7: bulbar AUS in SCI. A small retrospective SCI series explored predominantly bulbar placement. It is a specialist discussion point. Small selected cohort; no direct bladder-neck comparator and no equivalence proof. Keep safe storage and an emptying plan central. Source: https://journals.sagepub.com/doi/full/10.1177/20514158261451299 Access: Published BAUS abstract read in full.
INSTR26 — AUS instrumentation knowledge survey, 2026. A survey of 286 Turkish urologists identified training and confidence gaps in AUS deactivation and instrumentation. It reinforces the practical value of patient/device information and a clear urgent-contact route. A self-selected knowledge survey, not a catheter-safety trial. Its proposed diameter/duration answers cannot become universal rules for every cuff, tissue or device. Follow the actual system's instructions. Source: https://doi.org/10.1002/nau.70417 Access: Publisher abstract via Europe PMC.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rPr sz="1200"/>
              <a:t>Teaching slide 14. Poor compliance: dry can still be unsafe</a:t>
            </a:r>
            <a:endParaRPr/>
          </a:p>
          <a:p xmlns:a="http://schemas.openxmlformats.org/drawingml/2006/main">
            <a:pPr marL="0" lvl="0" indent="0" algn="l">
              <a:spcBef>
                <a:spcPts val="0"/>
              </a:spcBef>
              <a:spcAft>
                <a:spcPts val="0"/>
              </a:spcAft>
              <a:buNone/>
            </a:pPr>
            <a:r>
              <a:rPr sz="1200"/>
              <a:t>Time 1:30. Clock 20:30-22:00.</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Speaker notes</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Poor compliance needs its own decision. It describes the pressure-volume relationship during filling, not simply the presence of an involuntary contraction. An apparently dry patient may be storing urine at an unacceptable pressure.</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Check the trace and the circumstances. Was there a sustained rise in detrusor pressure, adequate filling and valid subtraction? Consider radiation, fibrosis, neurological disease and the effect of chronic leakage. Assess renal function and upper tracts when there is concern about high-pressure storage or impaired emptying.</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Optimise the bladder and repeat the assessment that will show whether storage is acceptable. Refractory cases may need reconstructive or diversion advice; increasing outlet resistance is not the immediate objective. Continence studies reporting acceptable pad use with abnormal urodynamics do not prove renal safety.</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Our four decisions are now clearer. Implant when the leakage mechanism, storage, emptying and device suitability align. Optimise when a treatable bladder problem is dominant. Investigate when the measurements are unreliable or the mechanism uncertain. Reconsider AUS when safe storage, emptying or device operation cannot be achieved. Those categories are a clinical framework, not a validated score.</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References: UDS09 https://pubmed.ncbi.nlm.nih.gov/19371935/; ICS16 https://www.ics.org/folder/standardisation/current-ics-standardisations/d/artificial-urinary-sphincter-report-of-the-2015-consensus-conference/download; BAUS25 https://doi.org/10.1111/bju.16726; CCIFU https://www.rigicon.com/files/e-labeling/ContiClassic-IFU.pdf.</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Evidence status: Physiological distinction and safety concern are supported by urodynamic standards and consensus. No universal pressure/compliance threshold for non-neurogenic post-prostatectomy AUS eligibility is established here.</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br/>
            <a:r>
              <a:rPr sz="1200"/>
              <a:t>Trace illustration: synthetic schematic values authored only to show transient contraction versus sustained pressure rise. They are not patient observations, clinical thresholds or an eligibility test. Physiology follows ICS urodynamic standards.</a:t>
            </a:r>
            <a:endParaRPr/>
          </a:p>
          <a:p xmlns:a="http://schemas.openxmlformats.org/drawingml/2006/main">
            <a:r>
              <a:t>
Evidence update — 5 October 2026:
BAUSSCI26 — BAUS 2026 P12-7: bulbar AUS in SCI. A small retrospective SCI series explored predominantly bulbar placement. It is a specialist discussion point. Small selected cohort; no direct bladder-neck comparator and no equivalence proof. Keep safe storage and an emptying plan central. Source: https://journals.sagepub.com/doi/full/10.1177/20514158261451299 Access: Published BAUS abstract read in full.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rPr sz="1200"/>
              <a:t>Teaching slide 15. Name the narrowing before choosing its treatment</a:t>
            </a:r>
            <a:endParaRPr/>
          </a:p>
          <a:p xmlns:a="http://schemas.openxmlformats.org/drawingml/2006/main">
            <a:pPr marL="0" lvl="0" indent="0" algn="l">
              <a:spcBef>
                <a:spcPts val="0"/>
              </a:spcBef>
              <a:spcAft>
                <a:spcPts val="0"/>
              </a:spcAft>
              <a:buNone/>
            </a:pPr>
            <a:r>
              <a:rPr sz="1200"/>
              <a:t>Time 1:15. Clock 22:00-23:15.</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Speaker notes</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The shorthand stricture hides different operations and different risks. An anterior urethral stricture involves the urethra and spongiosum. Bladder-neck contracture commonly follows surgery with the prostate still present in part. After radical prostatectomy, the relevant narrowing is usually the vesicourethral anastomosis. Use the anatomy in the discussion and in the referral.</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Review every dilation, urethrotomy and reconstruction, including operative reports. Establish how quickly the narrowing recurred and whether patency currently depends on repeated calibration. Add imaging when the anatomy, length or reconstructive plan requires it.</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Stable does not mean that a scope happened to pass once. It means a credible interval without recurrence, with symptoms, flow, residual and endoscopic findings that support a durable outlet.</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Finally, think ahead. A patient who is likely to need further incision, tumour surveillance or treatment for radiation bleeding needs an access strategy before a cuff makes those procedures more complicated.</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References: EAUSTR26 https://uroweb.org/guidelines/urethral-strictures/chapter/disease-management-in-males; BAUS25 https://doi.org/10.1111/bju.16726; AUA24 https://www.auanet.org/documents/Guidelines/PDF/2024%20Guidelines/IPT%20Unabridged%20Final%206-18-24.pdf.</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Evidence status: Anatomical distinction and investigation are guideline-based. The combined assessment of stability is clinical synthesis; exact waiting intervals vary by context and source.</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br/>
            <a:r>
              <a:rPr sz="1200"/>
              <a:t>Image source: https://uroops3d.com/lab/aus . Captured 30 September–1 October 2026 (UTC). © UroOps3D / UroRef / Nity G. The site describes this as a schematic ContiClassic model with clinical review pending. Images illustrate spatial relationships, not validated anatomy, tissue perfusion or operative instructions.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rPr sz="1200"/>
              <a:t>Teaching slide 16. Stability is a finding, not merely elapsed time</a:t>
            </a:r>
            <a:endParaRPr/>
          </a:p>
          <a:p xmlns:a="http://schemas.openxmlformats.org/drawingml/2006/main">
            <a:pPr marL="0" lvl="0" indent="0" algn="l">
              <a:spcBef>
                <a:spcPts val="0"/>
              </a:spcBef>
              <a:spcAft>
                <a:spcPts val="0"/>
              </a:spcAft>
              <a:buNone/>
            </a:pPr>
            <a:r>
              <a:rPr sz="1200"/>
              <a:t>Time 1:30. Clock 23:15-24:45.</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Speaker notes</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BAUS recommends waiting at least six months after treating a post-prostatectomy narrowing, with no recurrence before continence surgery. That is a real consensus recommendation, not a number we should invent or dismiss. However, it is not a randomised demonstration that six months is the unique safe interval.</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The AUA discussion describes interval cystoscopy at least four to six weeks after treatment of symptomatic bladder-neck contracture or anastomotic stenosis. That is a reassessment point, not a guarantee that every reconstructed or irradiated urethra is ready for a cuff. EAU's three-to-six-month advice after redo vesicourethral anastomosis belongs to that particular reconstructive setting.</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Staged treatment gives us an opportunity to observe recurrence and avoid instrumenting a newly implanted cuff. Synchronous treatment has been reported in selected expert series, but should not become the default for aggressive, recurrent disease.</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My decision would use the recurrence pattern, tissue quality, planned future access and the guideline context. A patient who has repeatedly restenosed after a short interval has not become low risk because the calendar reaches a convenient date.</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References: BAUS25 https://doi.org/10.1111/bju.16726; AUA24 https://www.auanet.org/documents/Guidelines/PDF/2024%20Guidelines/IPT%20Unabridged%20Final%206-18-24.pdf; EAUSTR26 https://uroweb.org/guidelines/urethral-strictures/chapter/disease-management-in-males; ICS16 https://www.ics.org/folder/standardisation/current-ics-standardisations/d/artificial-urinary-sphincter-report-of-the-2015-consensus-conference/download.</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Evidence status: Source-specific timing recommendations, largely consensus/observational. Their different intervals refer to different pathways and cannot be reduced to one universal rule.</a:t>
            </a:r>
            <a:endParaRPr/>
          </a:p>
          <a:p xmlns:a="http://schemas.openxmlformats.org/drawingml/2006/main">
            <a:pPr marL="0" lvl="0" indent="0" algn="l">
              <a:spcBef>
                <a:spcPts val="0"/>
              </a:spcBef>
              <a:spcAft>
                <a:spcPts val="0"/>
              </a:spcAft>
              <a:buNone/>
            </a:pPr>
            <a:r>
              <a:t/>
            </a:r>
            <a:endParaRPr sz="120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rPr sz="1200"/>
              <a:t>Teaching slide 17. Fictional case 3: radiation and recurrent VUAS</a:t>
            </a:r>
            <a:endParaRPr/>
          </a:p>
          <a:p xmlns:a="http://schemas.openxmlformats.org/drawingml/2006/main">
            <a:pPr marL="0" lvl="0" indent="0" algn="l">
              <a:spcBef>
                <a:spcPts val="0"/>
              </a:spcBef>
              <a:spcAft>
                <a:spcPts val="0"/>
              </a:spcAft>
              <a:buNone/>
            </a:pPr>
            <a:r>
              <a:rPr sz="1200"/>
              <a:t>Time 1:30. Clock 24:45-26:15.</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Speaker notes</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This fictional patient has had radical prostatectomy, salvage radiotherapy and repeated treatment of an anastomotic stenosis. He leaks severely when the outlet is open, but the narrowing returns. He understandably wants continence now.</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Would you put an AUS into that pathway? [Pause for six seconds.] My first answer is to defer the implant and obtain a specialist reconstructive plan. Current patency is not durable, and more endoscopic treatment is likely. We also need to understand the bladder, including compliance and the burden of radiation cystitis.</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Radiation is associated with worse continence and greater erosion or explantation risk in pooled observational AUS studies. Those estimates combine different follow-up periods and case mixes; they are not his personal probability of failure.</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Definitive reconstruction followed by demonstrated stability and later AUS may be reasonable. In a devastated outlet with unsafe or intolerable bladder function, a different drainage or diversion strategy may ultimately offer the better life. There is more than one defensible endpoint. Repeatedly restoring a narrow lumen is not necessarily progress if it prevents us agreeing a durable plan.</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References: RT22 https://doi.org/10.3389/fsurg.2022.825239; BAUS25 https://doi.org/10.1111/bju.16726; EAUSTR26 https://uroweb.org/guidelines/urethral-strictures/chapter/disease-management-in-males; AUA24 https://www.auanet.org/documents/Guidelines/PDF/2024%20Guidelines/IPT%20Unabridged%20Final%206-18-24.pdf.</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Evidence status: Fictional case. Radiation-risk direction is observationally supported; the preferred sequence and ultimate reconstructive endpoint require individual specialist judgement.</a:t>
            </a:r>
            <a:endParaRPr/>
          </a:p>
          <a:p xmlns:a="http://schemas.openxmlformats.org/drawingml/2006/main">
            <a:pPr marL="0" lvl="0" indent="0" algn="l">
              <a:spcBef>
                <a:spcPts val="0"/>
              </a:spcBef>
              <a:spcAft>
                <a:spcPts val="0"/>
              </a:spcAft>
              <a:buNone/>
            </a:pPr>
            <a:r>
              <a:t/>
            </a:r>
            <a:endParaRPr sz="1200"/>
          </a:p>
          <a:p xmlns:a="http://schemas.openxmlformats.org/drawingml/2006/main">
            <a:r>
              <a:t>
Evidence update — 5 October 2026:
RTTIME25 — Radiation and cuff-removal timing cohort, 2025. In 283 men, prior radiation was associated with cuff removal (HR 3.30, 95% CI 1.05-10.40). Exploratory modelling suggested a later-implantation trend after radiation, but this was not statistically significant. The wide interval and retrospective spline analysis do not validate a 635-day or 1.74-year waiting rule. Radiation risk, oncological timing, urethral stability and individual function must be considered separately. Source: https://doi.org/10.1007/s00345-025-05625-1 Access: Publisher abstract via Europe PMC.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rPr sz="1200"/>
              <a:t>Teaching slide 18. A reconstructed urethra changes the dissection</a:t>
            </a:r>
            <a:endParaRPr/>
          </a:p>
          <a:p xmlns:a="http://schemas.openxmlformats.org/drawingml/2006/main">
            <a:pPr marL="0" lvl="0" indent="0" algn="l">
              <a:spcBef>
                <a:spcPts val="0"/>
              </a:spcBef>
              <a:spcAft>
                <a:spcPts val="0"/>
              </a:spcAft>
              <a:buNone/>
            </a:pPr>
            <a:r>
              <a:rPr sz="1200"/>
              <a:t>Time 1:30. Clock 26:15-27:45.</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Speaker notes</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Previous urethroplasty is not a single exposure. Was the urethra transected? Was there a graft, a posterior reconstruction, a prior cuff erosion or a fistula? Where is the viable spongiosum now? Those details should change where and how we dissect.</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The operation must preserve what remains rather than reproduce the dissection of a virgin bulbar urethra. Avoid unnecessarily extending mobilisation through a repaired segment. A technically convenient cuff site may carry a poor tissue substrate. If a safe plane cannot be established, pause and reconsider the approach or stage the operation.</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A multicentre cohort published in the 2026 Journal of Urology issue reports different subsequent AUS outcomes after transecting and non-transecting urethroplasty. This adds evidence beyond the older guidance, but it remains observational: stricture severity, anatomy, selection and unequal follow-up confound the comparison. It supports a more detailed reconstructive history and careful counselling, not a retrospective claim that every transection was avoidable.</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The practical point is to plan the reconstruction and any future continence surgery as connected decisions. After previous erosion and explantation, healing, patency and realistic reimplantation expectations need to be demonstrated again.</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References: URETH26 https://pubmed.ncbi.nlm.nih.gov/41022035/; BAUS25 https://doi.org/10.1111/bju.16726; AUA24 https://www.auanet.org/documents/Guidelines/PDF/2024%20Guidelines/IPT%20Unabridged%20Final%206-18-24.pdf; ICS16 https://www.ics.org/folder/standardisation/current-ics-standardisations/d/artificial-urinary-sphincter-report-of-the-2015-consensus-conference/download.</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Evidence status: New observational primary-AUS-after-urethroplasty evidence, not randomised proof of technique superiority. Tissue-preserving operative advice is expert synthesis.</a:t>
            </a:r>
            <a:endParaRPr/>
          </a:p>
          <a:p xmlns:a="http://schemas.openxmlformats.org/drawingml/2006/main">
            <a:pPr marL="0" lvl="0" indent="0" algn="l">
              <a:spcBef>
                <a:spcPts val="0"/>
              </a:spcBef>
              <a:spcAft>
                <a:spcPts val="0"/>
              </a:spcAft>
              <a:buNone/>
            </a:pPr>
            <a:r>
              <a:t/>
            </a:r>
            <a:endParaRPr sz="1200"/>
          </a:p>
          <a:p xmlns:a="http://schemas.openxmlformats.org/drawingml/2006/main">
            <a:r>
              <a:t>
Evidence update — 5 October 2026:
URETHMETA26 — Prior urethroplasty: meta-analysis, 2026. Four studies included 533 men. Prior urethroplasty was associated with higher explantation risk (RR 2.05, 95% CI 1.08-3.89); its pooled erosion difference was not statistically significant. Within repair-technique comparisons, transecting versus non-transecting repair was associated with higher erosion (RR 2.34, 1.30-4.21) and explantation (RR 2.38, 1.59-3.57). These are separate comparisons. Pooled observational studies, some overlapping with Davis, do not make the association causal or independently validate one reconstructive strategy. Explain tissue quality and individual anatomy. Source: https://doi.org/10.1016/j.urology.2026.05.024 Access: Publisher abstract via Europe PMC.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rPr sz="1200"/>
              <a:t>Teaching slide 19. Transcorporal placement is an option with a price</a:t>
            </a:r>
            <a:endParaRPr/>
          </a:p>
          <a:p xmlns:a="http://schemas.openxmlformats.org/drawingml/2006/main">
            <a:pPr marL="0" lvl="0" indent="0" algn="l">
              <a:spcBef>
                <a:spcPts val="0"/>
              </a:spcBef>
              <a:spcAft>
                <a:spcPts val="0"/>
              </a:spcAft>
              <a:buNone/>
            </a:pPr>
            <a:r>
              <a:rPr sz="1200"/>
              <a:t>Time 1:15. Clock 27:45-29:00.</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Speaker notes</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Transcorporal placement can avoid a hazardous dorsal dissection and incorporate tunical tissue beneath part of the cuff. That is a plausible reconstructive purpose. It does not prove protection from erosion.</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The comparative retrospective evidence points in different directions. Some fragile-urethra series favour it; another high-risk series found more infection or erosion-related explantation in the transcorporal group. Surgeons tend to select it for the worst urethras, so confounding by indication is substantial in both directions.</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Discuss corporal bleeding, erectile consequences and implications for an existing or future penile prosthesis. Sizing must account for the tissue actually enclosed, using the relevant device protocol; this is not permission to apply an improvised correction factor.</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Tandem cuffs, wraps, relocation and capsular procedures also consume tissue or add complexity. Choose a manoeuvre because it addresses a demonstrated problem, with an explicit limitation. If the proposal is simply to squeeze a failing urethra harder, the diagnosis and the endpoint need another look.</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References: TC20 https://doi.org/10.5489/cuaj.6431; TC23 https://pubmed.ncbi.nlm.nih.gov/36749394/; BAUS25 https://doi.org/10.1111/bju.16726; AP23 https://doi.org/10.1111/iju.15083.</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Evidence status: Conflicting, selected observational comparisons. Transcorporal and other salvage techniques are specialist options, not routine best practice or proven universal erosion prevention.</a:t>
            </a:r>
            <a:endParaRPr/>
          </a:p>
          <a:p xmlns:a="http://schemas.openxmlformats.org/drawingml/2006/main">
            <a:pPr marL="0" lvl="0" indent="0" algn="l">
              <a:spcBef>
                <a:spcPts val="0"/>
              </a:spcBef>
              <a:spcAft>
                <a:spcPts val="0"/>
              </a:spcAft>
              <a:buNone/>
            </a:pPr>
            <a:r>
              <a:t/>
            </a:r>
            <a:endParaRPr sz="1200"/>
          </a:p>
          <a:p xmlns:a="http://schemas.openxmlformats.org/drawingml/2006/main">
            <a:r>
              <a:t>
Evidence update — 5 October 2026:
TCSYS25 — Transcorporal systematic review, online 2025. Twenty studies were included, eight comparative. The meta-analysis associated transcorporal placement with more revisions (OR 2.99, 95% CI 1.16-7.75), less erosion (OR 0.35, 0.15-0.81) and infection (OR 0.33, 0.12-0.95), with no significant explantation difference. Non-randomised series and heterogeneous risk selection; pooled estimates conflict with some individual cohorts. Search ended January 2024 despite online publication in November 2025. Present it as a specialist option with uncertain causal protection, not proof that every fragile urethra should receive it. Source: https://doi.org/10.1016/j.urology.2025.11.222 Access: Publisher abstract via Europe PMC.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rPr sz="1200"/>
              <a:t>Teaching slide 20. A fifteen-minute wash: which activity do we mean?</a:t>
            </a:r>
            <a:endParaRPr/>
          </a:p>
          <a:p xmlns:a="http://schemas.openxmlformats.org/drawingml/2006/main">
            <a:pPr marL="0" lvl="0" indent="0" algn="l">
              <a:spcBef>
                <a:spcPts val="0"/>
              </a:spcBef>
              <a:spcAft>
                <a:spcPts val="0"/>
              </a:spcAft>
              <a:buNone/>
            </a:pPr>
            <a:r>
              <a:rPr sz="1200"/>
              <a:t>Time 1:15. Clock 29:00-30:15.</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Speaker notes</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Is a fifteen-minute wash or scrub necessary before AUS implantation? No direct evidence found establishes a universal requirement.</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NICE advises soap washing the day before or day of surgery. That is different from operative skin preparation, surgical hand antisepsis, wound irrigation, external device dipping and internal device filling. Identify the activity before debating its duration.</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BAUS recommends a five-minute topical field scrub by Delphi consensus, explicitly acknowledging extrapolation from penile prosthesis and other implant surgery. It does not establish fifteen minutes as an AUS standard.</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For hands, use the selected product's surgical antisepsis instructions. For the patient's skin, use the appropriate product and its application, contact and complete drying requirements. Waiting fifteen minutes cannot compensate for missed skin, an unsuitable product, pooled alcohol or a contaminated field.</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Absence of evidence for this ritual does not make antisepsis dispensable. We need correct, reproducible preparation.</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References: BAUS25 https://doi.org/10.1111/bju.16726; NICE https://www.nice.org.uk/guidance/ng125/chapter/recommendations; WHO09 https://www.who.int/publications/i/item/9789241597906; PREP24 https://tau.amegroups.org/article/view/130351/html.</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Evidence status: No direct fixed-fifteen-minute AUS outcome trial was identified. BAUS's five-minute recommendation is consensus/extrapolation; manufacturer application times and hand-hygiene guidance address different activities.</a:t>
            </a:r>
            <a:endParaRPr/>
          </a:p>
          <a:p xmlns:a="http://schemas.openxmlformats.org/drawingml/2006/main">
            <a:pPr marL="0" lvl="0" indent="0" algn="l">
              <a:spcBef>
                <a:spcPts val="0"/>
              </a:spcBef>
              <a:spcAft>
                <a:spcPts val="0"/>
              </a:spcAft>
              <a:buNone/>
            </a:pPr>
            <a:r>
              <a:t/>
            </a:r>
            <a:endParaRPr sz="1200"/>
          </a:p>
          <a:p xmlns:a="http://schemas.openxmlformats.org/drawingml/2006/main">
            <a:r>
              <a:t>
Evidence update — 5 October 2026:
IRRIG26 — Gentamicin withdrawal: AMS 800 cohort, 2026. The before-after study included 173 uncoated AMS 800 procedures in 164 men: 59 gentamicin-containing and 114 gentamicin-free. Ninety-day SSI occurred in 1/59 (1.7%) and 2/114 (1.8%), respectively; the risk difference was +0.1 percentage points (95% CI -7.4 to +4.7). No significant difference was detected. Only three SSIs occurred. The interval allows clinically relevant benefit or harm, so this is not equivalence. Device immersion and wound irrigation changed together; saline immersion and Betadine-containing irrigation continued. Broad IV prophylaxis and ten-day oral antibiotics continued, with an oral-drug change in the later era. It cannot establish that no preparation is needed, that oral prophylaxis is unnecessary, or that the same result applies to coated AMS 800 or ContiClassic. Source: https://doi.org/10.3390/antibiotics15090894 Access: Full open article read.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rPr sz="1200"/>
              <a:t>Teaching slide 21. Skin preparation: what the studies can actually support</a:t>
            </a:r>
            <a:endParaRPr/>
          </a:p>
          <a:p xmlns:a="http://schemas.openxmlformats.org/drawingml/2006/main">
            <a:pPr marL="0" lvl="0" indent="0" algn="l">
              <a:spcBef>
                <a:spcPts val="0"/>
              </a:spcBef>
              <a:spcAft>
                <a:spcPts val="0"/>
              </a:spcAft>
              <a:buNone/>
            </a:pPr>
            <a:r>
              <a:rPr sz="1200"/>
              <a:t>Time 1:45. Clock 30:15-32:00.</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Speaker notes</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In a randomised study of one hundred patients having initial genitourinary prosthetic surgery, chlorhexidine-alcohol produced fewer positive post-preparation skin cultures than povidone-iodine. The reported proportions were eight versus thirty-two per cent. That is a microbiological endpoint in a mixed prosthesis population. It is not a demonstrated reduction in ContiClassic infection.</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A later retrospective AMS 800 study compared different povidone preparation protocols. It did not show an advantage for the intensified protocol, but era effects, reporting inconsistencies and limited follow-up reporting weaken the inference. It did not compare fifteen minutes against a shorter preparation.</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General SSI guidance supports an appropriate alcohol-based preparation where suitable, with alternatives for contraindications or anatomical requirements. The exact product matters around genital skin and mucosa. Check allergy, permitted application sites and the product information rather than exporting a study's formulation into every preparation field.</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Do not remove hair routinely. If required for exposure or adhesion, clipping on the day is the general NICE recommendation; avoid skin trauma. BAUS's permissive wording on razors does not make razors an evidence-based necessity.</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Before draping and diathermy, confirm drying and absence of pooling in skin folds or under the patient. Those are practical safety requirements, not optional additions to the stopwatch.</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References: YEUNG13 https://pubmed.ncbi.nlm.nih.gov/23164373/; PREP24 https://tau.amegroups.org/article/view/130351/html; NICE https://www.nice.org.uk/guidance/ng125/chapter/recommendations; CHLORA26 https://www.medicines.org.uk/emc/product/101238/smpc; BAUS25 https://doi.org/10.1111/bju.16726.</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Evidence status: Randomised surrogate evidence, limited direct AUS observational evidence, and extrapolated general SSI guidance. No universal antiseptic recipe is supported; each product's anatomical restrictions apply.</a:t>
            </a:r>
            <a:endParaRPr/>
          </a:p>
          <a:p xmlns:a="http://schemas.openxmlformats.org/drawingml/2006/main">
            <a:pPr marL="0" lvl="0" indent="0" algn="l">
              <a:spcBef>
                <a:spcPts val="0"/>
              </a:spcBef>
              <a:spcAft>
                <a:spcPts val="0"/>
              </a:spcAft>
              <a:buNone/>
            </a:pPr>
            <a:r>
              <a:t/>
            </a:r>
            <a:endParaRPr sz="120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rPr sz="1200"/>
              <a:t>Teaching slide 22. Urine and antibiotics: state the disagreement</a:t>
            </a:r>
            <a:endParaRPr/>
          </a:p>
          <a:p xmlns:a="http://schemas.openxmlformats.org/drawingml/2006/main">
            <a:pPr marL="0" lvl="0" indent="0" algn="l">
              <a:spcBef>
                <a:spcPts val="0"/>
              </a:spcBef>
              <a:spcAft>
                <a:spcPts val="0"/>
              </a:spcAft>
              <a:buNone/>
            </a:pPr>
            <a:r>
              <a:rPr sz="1200"/>
              <a:t>Time 1:30. Clock 32:00-33:30.</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Speaker notes</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Treat symptomatic urinary infection and reassess before elective implantation. Asymptomatic bacteriuria is different. BAUS asks for a preoperative urine sample and treatment of infection. IDSA specifically suggests against screening for or treating asymptomatic bacteriuria solely for AUS implantation, although that recommendation rests on very low-quality evidence. Procedures involving urinary mucosal trauma are a separate situation.</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Agree the urine pathway with local microbiology rather than equating every positive culture with symptomatic infection. Choose prophylaxis using the implant policy, previous isolates, allergies and renal function. Complete administration at the appropriate time before incision, and redose when the agent and procedure require it.</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Observational AUS evidence has not shown a convincing benefit from routine postoperative oral antibiotics. However, the retrieved ContiClassic IFU describes forty-eight hours of intravenous antibiotics and five days of oral antibiotics after discharge as general care. That conflicts with shorter-prophylaxis stewardship approaches.</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The response is to verify current regional labelling and agree a documented protocol with the implant service and microbiology. Do not silently ignore either source, and do not describe an extended regimen as universally proven to prevent infection.</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References: IDSA19 https://www.idsociety.org/practice-guideline/asymptomatic-bacteriuria/; BAUS25 https://doi.org/10.1111/bju.16726; AUAABX20 https://doi.org/10.1097/JU.0000000000000509; ABX18 https://doi.org/10.1016/j.urology.2017.07.064; CCIFU https://www.rigicon.com/files/e-labeling/ContiClassic-IFU.pdf.</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Evidence status: Guideline/IFU disagreement is explicit. Postoperative antibiotic evidence is observational and does not establish equivalence in every high-risk subgroup. This slide supplies no universal antibiotic prescription.</a:t>
            </a:r>
            <a:endParaRPr/>
          </a:p>
          <a:p xmlns:a="http://schemas.openxmlformats.org/drawingml/2006/main">
            <a:pPr marL="0" lvl="0" indent="0" algn="l">
              <a:spcBef>
                <a:spcPts val="0"/>
              </a:spcBef>
              <a:spcAft>
                <a:spcPts val="0"/>
              </a:spcAft>
              <a:buNone/>
            </a:pPr>
            <a:r>
              <a:t/>
            </a:r>
            <a:endParaRPr sz="1200"/>
          </a:p>
          <a:p xmlns:a="http://schemas.openxmlformats.org/drawingml/2006/main">
            <a:r>
              <a:t>
Evidence update — 5 October 2026:
AUAABX26 — AUA 2026 IP09-18: postoperative antibiotics. The 2026 meeting included an AUS postoperative-antibiotic report. Its title states no infection benefit. Programme/title verified; complete methods, results and denominators unavailable. No numerical result or change in practice is inferred. This is conference material, not an AUA guideline. Source: https://doi.org/10.1097/01.JU.0001191316.72449.22.18 Access: Official journal/programme record and publisher-deposited Crossref metadata only.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rPr sz="1200"/>
              <a:t>Teaching slide 23. Reduce contamination without turning tradition into proof</a:t>
            </a:r>
            <a:endParaRPr/>
          </a:p>
          <a:p xmlns:a="http://schemas.openxmlformats.org/drawingml/2006/main">
            <a:pPr marL="0" lvl="0" indent="0" algn="l">
              <a:spcBef>
                <a:spcPts val="0"/>
              </a:spcBef>
              <a:spcAft>
                <a:spcPts val="0"/>
              </a:spcAft>
              <a:buNone/>
            </a:pPr>
            <a:r>
              <a:rPr sz="1200"/>
              <a:t>Time 1:30. Clock 33:30-35:00.</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Speaker notes</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There are sensible ways to reduce contamination: prepare the equipment before opening the implant, establish a protected sterile handling area, minimise skin contact, and avoid unnecessary traffic and repeated hand-offs. My preference is fresh sterile gloves before handling the device and after any contamination concern. That is a practical control, not a claim that each glove change has independently been proven to reduce AUS infection.</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Minimal-touch AUS series are encouraging but compare different eras and unequal follow-up. We cannot attribute their results to one drape or one manoeuvre. Draping should maintain access and a stable clean field; adhesive products still require attention to skin and allergy.</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Separate wound irrigation from device dipping and internal filling. General NICE guidance does not support wound irrigation solely to prevent SSI. AUS consensus literature also acknowledges uncertainty about antibiotic irrigants. A hydrophilic coating's ability to absorb a solution does not establish that any chosen antibiotic mixture improves clinical outcomes.</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For ContiClassic, follow the verified device instructions and obtain the operative protocol for detailed preparation. Do not substitute a remembered AMS 800 preparation recipe or improvise an unverified antiseptic bath for an implant.</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References: TOUCH23 https://doi.org/10.5152/tud.2023.22136; NICE https://www.nice.org.uk/guidance/ng125/chapter/recommendations; AP23 https://doi.org/10.1111/iju.15083; CCIFU https://www.rigicon.com/files/e-labeling/ContiClassic-IFU.pdf.</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Evidence status: Contamination controls combine general guidance and expert practice. Bundle studies do not isolate component effects. Irrigant and dip superiority remain unresolved; compatibility is device-specific.</a:t>
            </a:r>
            <a:endParaRPr/>
          </a:p>
          <a:p xmlns:a="http://schemas.openxmlformats.org/drawingml/2006/main">
            <a:pPr marL="0" lvl="0" indent="0" algn="l">
              <a:spcBef>
                <a:spcPts val="0"/>
              </a:spcBef>
              <a:spcAft>
                <a:spcPts val="0"/>
              </a:spcAft>
              <a:buNone/>
            </a:pPr>
            <a:r>
              <a:t/>
            </a:r>
            <a:endParaRPr sz="1200"/>
          </a:p>
          <a:p xmlns:a="http://schemas.openxmlformats.org/drawingml/2006/main">
            <a:r>
              <a:t>
Evidence update — 5 October 2026:
IRRIG26 — Gentamicin withdrawal: AMS 800 cohort, 2026. The before-after study included 173 uncoated AMS 800 procedures in 164 men: 59 gentamicin-containing and 114 gentamicin-free. Ninety-day SSI occurred in 1/59 (1.7%) and 2/114 (1.8%), respectively; the risk difference was +0.1 percentage points (95% CI -7.4 to +4.7). No significant difference was detected. Only three SSIs occurred. The interval allows clinically relevant benefit or harm, so this is not equivalence. Device immersion and wound irrigation changed together; saline immersion and Betadine-containing irrigation continued. Broad IV prophylaxis and ten-day oral antibiotics continued, with an oral-drug change in the later era. It cannot establish that no preparation is needed, that oral prophylaxis is unnecessary, or that the same result applies to coated AMS 800 or ContiClassic. Source: https://doi.org/10.3390/antibiotics15090894 Access: Full open article read.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rPr sz="1200"/>
              <a:t>Teaching slide 24. The theatre checklist I would actually use</a:t>
            </a:r>
            <a:endParaRPr/>
          </a:p>
          <a:p xmlns:a="http://schemas.openxmlformats.org/drawingml/2006/main">
            <a:pPr marL="0" lvl="0" indent="0" algn="l">
              <a:spcBef>
                <a:spcPts val="0"/>
              </a:spcBef>
              <a:spcAft>
                <a:spcPts val="0"/>
              </a:spcAft>
              <a:buNone/>
            </a:pPr>
            <a:r>
              <a:rPr sz="1200"/>
              <a:t>Time 1:00. Clock 35:00-36:00.</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Speaker notes</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Before opening the implant, confirm the patient, intended operation, tissue concerns and stop conditions. Review urinary and skin infection concerns, prophylaxis delivery and the redosing plan. Confirm that the preparation is anatomically suitable and dry.</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Then confirm the exact device and compatible components, available cuff sizes, planned pressure range, current instructions and the person responsible for preparation. Agree the catheter and postoperative rescue plan.</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Finally, establish what happens if the urethra is injured or sterility is compromised. A checklist is most useful when it makes that response predictable.</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Audit completion of these steps. Do not use the duration of a wash as a proxy for the quality of the entire operation.</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References: NICE https://www.nice.org.uk/guidance/ng125/chapter/recommendations; BAUS25 https://doi.org/10.1111/bju.16726; CCIFU https://www.rigicon.com/files/e-labeling/ContiClassic-IFU.pdf; AUAABX20 https://doi.org/10.1097/JU.0000000000000509.</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Evidence status: Practical synthesis. Labels identify guidance-supported actions, local/product decisions, expert preferences and unresolved evidence; this is not a validated outcome score.</a:t>
            </a:r>
            <a:endParaRPr/>
          </a:p>
          <a:p xmlns:a="http://schemas.openxmlformats.org/drawingml/2006/main">
            <a:pPr marL="0" lvl="0" indent="0" algn="l">
              <a:spcBef>
                <a:spcPts val="0"/>
              </a:spcBef>
              <a:spcAft>
                <a:spcPts val="0"/>
              </a:spcAft>
              <a:buNone/>
            </a:pPr>
            <a:r>
              <a:t/>
            </a:r>
            <a:endParaRPr sz="1200"/>
          </a:p>
          <a:p xmlns:a="http://schemas.openxmlformats.org/drawingml/2006/main">
            <a:r>
              <a:t>
Evidence update — 5 October 2026:
IRRIG26 — Gentamicin withdrawal: AMS 800 cohort, 2026. The before-after study included 173 uncoated AMS 800 procedures in 164 men: 59 gentamicin-containing and 114 gentamicin-free. Ninety-day SSI occurred in 1/59 (1.7%) and 2/114 (1.8%), respectively; the risk difference was +0.1 percentage points (95% CI -7.4 to +4.7). No significant difference was detected. Only three SSIs occurred. The interval allows clinically relevant benefit or harm, so this is not equivalence. Device immersion and wound irrigation changed together; saline immersion and Betadine-containing irrigation continued. Broad IV prophylaxis and ten-day oral antibiotics continued, with an oral-drug change in the later era. It cannot establish that no preparation is needed, that oral prophylaxis is unnecessary, or that the same result applies to coated AMS 800 or ContiClassic. Source: https://doi.org/10.3390/antibiotics15090894 Access: Full open article read.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rPr sz="1200"/>
              <a:t>Teaching slide 25. Position and expose for the anatomy you have</a:t>
            </a:r>
            <a:endParaRPr/>
          </a:p>
          <a:p xmlns:a="http://schemas.openxmlformats.org/drawingml/2006/main">
            <a:pPr marL="0" lvl="0" indent="0" algn="l">
              <a:spcBef>
                <a:spcPts val="0"/>
              </a:spcBef>
              <a:spcAft>
                <a:spcPts val="0"/>
              </a:spcAft>
              <a:buNone/>
            </a:pPr>
            <a:r>
              <a:rPr sz="1200"/>
              <a:t>Time 1:15. Clock 36:00-37:15.</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Speaker notes</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Positioning should expose the bulbar urethra while protecting pressure points and respecting hip mobility. Check the patient before anaesthesia when restricted movement is likely to matter. Avoid accepting excessive flexion simply because it improves the first view.</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For a standard male bulbar implant, a single-cuff perineal approach has guideline support. Other approaches may be appropriate for selected anatomy and experienced operators, but convenience alone should not determine access to a compromised urethra.</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Plan where the balloon and pump will go at the same time. Previous pelvic surgery, inguinal mesh, abdominal scars and an existing penile prosthesis alter that plan. Have the relevant operative records available.</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If exposure is poor, improve the incision, retraction or positioning deliberately. Excessive traction to compensate for a small working space transfers force to the urethra. The purpose of exposure is to make the next decision visible, not merely to shorten the incision.</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References: AUA24 https://www.auanet.org/documents/Guidelines/PDF/2024%20Guidelines/IPT%20Unabridged%20Final%206-18-24.pdf; ICS16 https://www.ics.org/folder/standardisation/current-ics-standardisations/d/artificial-urinary-sphincter-report-of-the-2015-consensus-conference/download; AP23 https://doi.org/10.1111/iju.15083.</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Evidence status: Approach preference is guideline-supported; positioning and exposure details are surgical principles and expert implementation, not device-specific instructions.</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br/>
            <a:r>
              <a:rPr sz="1200"/>
              <a:t>Image source: https://uroops3d.com/lab/aus . Captured 30 September–1 October 2026 (UTC). © UroOps3D / UroRef / Nity G. The site describes this as a schematic ContiClassic model with clinical review pending. Images illustrate spatial relationships, not validated anatomy, tissue perfusion or operative instructions.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rPr sz="1200"/>
              <a:t>Teaching slide 26. Bulbar dissection: preserve the tissue you need to compress</a:t>
            </a:r>
            <a:endParaRPr/>
          </a:p>
          <a:p xmlns:a="http://schemas.openxmlformats.org/drawingml/2006/main">
            <a:pPr marL="0" lvl="0" indent="0" algn="l">
              <a:spcBef>
                <a:spcPts val="0"/>
              </a:spcBef>
              <a:spcAft>
                <a:spcPts val="0"/>
              </a:spcAft>
              <a:buNone/>
            </a:pPr>
            <a:r>
              <a:rPr sz="1200"/>
              <a:t>Time 1:30. Clock 37:15-38:45.</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Speaker notes</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The goal is a cuff around a viable urethral segment, not a completely skeletonised urethra. In a straightforward case, the proximal bulbar region often offers useful spongiosal tissue. Prior repair, erosion or scarring may change which segment is safest.</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The dorsal relationship to the corporal bodies is where a small error can become a full-thickness injury. Use controlled dissection with a clear view of the plane. Do not pass an instrument blindly behind the urethra and assume that resistance represents a harmless adhesion.</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Preserve spongiosum and vascular attachments, limit circumferential mobilisation to what the cuff requires, and control bleeding without indiscriminate thermal injury. In scarred tissue, repeated forceful spreading can be more damaging than a deliberate change of approach.</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If the plane disappears, stop. Improve the view, reassess the site or seek reconstructive help. Transcorporal placement may be an option in selected hands, but it should be a considered plan with consent and appropriate expertise.</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Tissue preservation has a clear biological rationale. The precise contribution of each manoeuvre to erosion prevention has not been separated in high-quality comparative trials.</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References: ICS16 https://www.ics.org/folder/standardisation/current-ics-standardisations/d/artificial-urinary-sphincter-report-of-the-2015-consensus-conference/download; AP23 https://doi.org/10.1111/iju.15083; CCIFU https://www.rigicon.com/files/e-labeling/ContiClassic-IFU.pdf; URETH26 https://pubmed.ncbi.nlm.nih.gov/41022035/.</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Evidence status: Consensus and surgical principles, with observational support for the importance of prior reconstruction. ContiClassic IFU cautions against placing the cuff where spongiosal support is inadequate.</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br/>
            <a:r>
              <a:rPr sz="1200"/>
              <a:t>Image source: https://uroops3d.com/lab/aus . Captured 30 September–1 October 2026 (UTC). © UroOps3D / UroRef / Nity G. The site describes this as a schematic ContiClassic model with clinical review pending. Images illustrate spatial relationships, not validated anatomy, tissue perfusion or operative instructions.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rPr sz="1200"/>
              <a:t>Teaching slide 27. Measurement: a tighter cuff is not a better measurement</a:t>
            </a:r>
            <a:endParaRPr/>
          </a:p>
          <a:p xmlns:a="http://schemas.openxmlformats.org/drawingml/2006/main">
            <a:pPr marL="0" lvl="0" indent="0" algn="l">
              <a:spcBef>
                <a:spcPts val="0"/>
              </a:spcBef>
              <a:spcAft>
                <a:spcPts val="0"/>
              </a:spcAft>
              <a:buNone/>
            </a:pPr>
            <a:r>
              <a:rPr sz="1200"/>
              <a:t>Time 1:45. Clock 38:45-40:30.</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Speaker notes</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Measurement fails when the tissue being measured is not the tissue that the cuff will ultimately enclose. Retraction can stretch the urethra. A tight measuring tape can compress it. Included fat, scar or muscle can enlarge the apparent circumference. Haematoma and tissue distortion create further uncertainty.</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Relax the traction, confirm the plane and use the manufacturer's sizing method. Recheck an implausible reading rather than selecting the familiar size from memory. In a reconstruction or transcorporal operation, the enclosed tissue is different; do not apply an unsupported numerical adjustment simply because it is traditional.</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Too small a cuff can create excessive compression, retention and tissue injury. Too large a cuff can leave poor coaptation and persistent leakage. Neither problem is reliably solved by choosing a stronger pressure-regulating balloon.</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Assess the final relationship and device function, with an appropriate integrity check when indicated. If the finding and measurement disagree, investigate the discrepancy. The early ContiClassic safety series included revisions attributed to sizing errors, which reinforces the practical importance of this step without telling us which sizing strategy is superior.</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More available sizes may help a surgeon choose a fit. Their availability alone is not evidence of better long-term continence or less erosion.</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References: ICS16 https://www.ics.org/folder/standardisation/current-ics-standardisations/d/artificial-urinary-sphincter-report-of-the-2015-consensus-conference/download; CCIFU https://www.rigicon.com/files/e-labeling/ContiClassic-IFU.pdf; CCSAFETY https://pubmed.ncbi.nlm.nih.gov/37543658/; AP23 https://doi.org/10.1111/iju.15083.</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Evidence status: Sizing principles are consensus/IFU-supported. No universal undersizing rule or comparative clinical benefit from finer cuff increments is asserted.</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br/>
            <a:r>
              <a:rPr sz="1200"/>
              <a:t>Image source: https://uroops3d.com/lab/aus . Captured 30 September–1 October 2026 (UTC). © UroOps3D / UroRef / Nity G. The site describes this as a schematic ContiClassic model with clinical review pending. Images illustrate spatial relationships, not validated anatomy, tissue perfusion or operative instructions.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rPr sz="1200"/>
              <a:t>Teaching slide 28. Urethral injury or contamination: change the endpoint</a:t>
            </a:r>
            <a:endParaRPr/>
          </a:p>
          <a:p xmlns:a="http://schemas.openxmlformats.org/drawingml/2006/main">
            <a:pPr marL="0" lvl="0" indent="0" algn="l">
              <a:spcBef>
                <a:spcPts val="0"/>
              </a:spcBef>
              <a:spcAft>
                <a:spcPts val="0"/>
              </a:spcAft>
              <a:buNone/>
            </a:pPr>
            <a:r>
              <a:rPr sz="1200"/>
              <a:t>Time 1:30. Clock 40:30-42:00.</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Speaker notes</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Suspect injury when the plane is wrong, the wall appears breached, fluid escapes or there has been difficult instrumentation. Inspection, an appropriate controlled leak test and cystoscopy can help, but a negative test does not make aggressive dissection harmless. No single test has proven superiority for preventing erosion.</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Recognised urethral injury should change the objective of the operation. Stop implantation, define the injury, repair when appropriate and establish suitable drainage. Explain the change to the patient afterwards, and plan reassessment of healing and patency before considering another implant. Consensus intervals are guides; the injury and reconstruction determine the actual pathway.</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For contamination, stop handling the device and identify what has been contaminated: a glove, instrument, component or the operative field. Replace contaminated disposable components and restore a clean setup as appropriate. Gross contamination or an uncertain tissue field may justify abandoning implantation and staging it.</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These are single-use implants. A dropped or contaminated component should not return to service after an improvised antiseptic soak. Finishing with no implant can be the correct technical outcome when the conditions for safe implantation have disappeared.</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References: BAUS25 https://doi.org/10.1111/bju.16726; AP23 https://doi.org/10.1111/iju.15083; ICS16 https://www.ics.org/folder/standardisation/current-ics-standardisations/d/artificial-urinary-sphincter-report-of-the-2015-consensus-conference/download; CCIFU https://www.rigicon.com/files/e-labeling/ContiClassic-IFU.pdf.</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Evidence status: Stopping after urethral injury is consensus guidance. Repair, drainage and reimplantation timing depend on the injury; contamination response combines aseptic principles with single-use manufacturer restrictions.</a:t>
            </a:r>
            <a:endParaRPr/>
          </a:p>
          <a:p xmlns:a="http://schemas.openxmlformats.org/drawingml/2006/main">
            <a:pPr marL="0" lvl="0" indent="0" algn="l">
              <a:spcBef>
                <a:spcPts val="0"/>
              </a:spcBef>
              <a:spcAft>
                <a:spcPts val="0"/>
              </a:spcAft>
              <a:buNone/>
            </a:pPr>
            <a:r>
              <a:t/>
            </a:r>
            <a:endParaRPr sz="120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rPr sz="1200"/>
              <a:t>Teaching slide 29. Balloon placement and pressure: two different decisions</a:t>
            </a:r>
            <a:endParaRPr/>
          </a:p>
          <a:p xmlns:a="http://schemas.openxmlformats.org/drawingml/2006/main">
            <a:pPr marL="0" lvl="0" indent="0" algn="l">
              <a:spcBef>
                <a:spcPts val="0"/>
              </a:spcBef>
              <a:spcAft>
                <a:spcPts val="0"/>
              </a:spcAft>
              <a:buNone/>
            </a:pPr>
            <a:r>
              <a:rPr sz="1200"/>
              <a:t>Time 1:30. Clock 42:00-43:30.</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Speaker notes</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A routine retropubic pocket can become hazardous after pelvic surgery, radiation, mesh repair or previous implants. Review that anatomy before entering the space. Do not overcome unexpected resistance with a stronger finger or instrument: bladder, bowel and vessels may be close to the intended route.</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An alternative ectopic or submuscular position may be appropriate in experienced hands, with attention to the device's permitted placement, secure coverage, access and tubing route. These approaches also have limitations, including malposition, palpability and herniation. A different pocket is not automatically a safer pocket unless it is created correctly.</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Pressure selection is a separate issue. ContiClassic labelling lists ranges including sixty to sixty-nine centimetres of water; AMS 800 consensus commonly discusses sixty-one to seventy. Those labels must not be treated as interchangeable operative instructions.</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The public ContiClassic IFU confirms sterile saline filling but directs detailed implantation to a separate Operating Room Protocol. Without that protocol I cannot verify a filling volume or a universal pressure-selection algorithm. Confirm both before surgery. Increasing pressure should never be a substitute for diagnosing a poor cuff fit or a failing urethra.</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References: CCIFU https://www.rigicon.com/files/e-labeling/ContiClassic-IFU.pdf; AP23 https://doi.org/10.1111/iju.15083; ICS16 https://www.ics.org/folder/standardisation/current-ics-standardisations/d/artificial-urinary-sphincter-report-of-the-2015-consensus-conference/download.</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Evidence status: Placement options derive largely from AMS 800 experience and require product-specific applicability checks. ContiClassic pressure labels and saline medium are verified; fill volumes and selection algorithms are not.</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br/>
            <a:r>
              <a:rPr sz="1200"/>
              <a:t>Image source: Rigicon ContiClassic IFU, CC-IFU REV.03, 12 October 2023, printed page 1 (PDF page 4). https://www.rigicon.com/files/e-labeling/ContiClassic-IFU.pdf . Manufacturer illustration, shown for component identification, without a comparative superiority claim.</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rPr sz="1200"/>
              <a:t>Teaching slide 30. The pump must work for the patient</a:t>
            </a:r>
            <a:endParaRPr/>
          </a:p>
          <a:p xmlns:a="http://schemas.openxmlformats.org/drawingml/2006/main">
            <a:pPr marL="0" lvl="0" indent="0" algn="l">
              <a:spcBef>
                <a:spcPts val="0"/>
              </a:spcBef>
              <a:spcAft>
                <a:spcPts val="0"/>
              </a:spcAft>
              <a:buNone/>
            </a:pPr>
            <a:r>
              <a:rPr sz="1200"/>
              <a:t>Time 1:15. Clock 43:30-44:45.</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Speaker notes</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The pump position is part of the functional result. The patient has already shown us where he can reach, which hand he uses and whether another scrotal device creates confusion. Use that information.</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A dependent, accessible position is generally useful, but the exact pocket must suit the patient and device. Too much dissection can encourage migration; too little space or excessive tension can cause pain, poor access or pressure on adjacent tissue. Keep the pump distinct from the testis and avoid thin, threatened skin.</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Before closure, consider how the pump will sit when the patient stands, and whether the tubing will pull it upwards. Check that orientation permits both normal cycling and access to the deactivation control.</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An easily palpable demonstration pump on a table is not evidence that an oedematous postoperative scrotum will be easy to use. Accessibility should be checked again at activation, with the patient performing the task.</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References: AP23 https://doi.org/10.1111/iju.15083; ICS16 https://www.ics.org/folder/standardisation/current-ics-standardisations/d/artificial-urinary-sphincter-report-of-the-2015-consensus-conference/download; CCIFU https://www.rigicon.com/files/e-labeling/ContiClassic-IFU.pdf.</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Evidence status: Consensus and expert technique, with device-specific orientation and operating controls to be taught from the actual product instructions.</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br/>
            <a:r>
              <a:rPr sz="1200"/>
              <a:t>Image source: https://uroops3d.com/lab/aus . Captured 30 September–1 October 2026 (UTC). © UroOps3D / UroRef / Nity G. The site describes this as a schematic ContiClassic model with clinical review pending. Images illustrate spatial relationships, not validated anatomy, tissue perfusion or operative instructions.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rPr sz="1200"/>
              <a:t>Teaching slide 31. Finish the system, then hand over the risk</a:t>
            </a:r>
            <a:endParaRPr/>
          </a:p>
          <a:p xmlns:a="http://schemas.openxmlformats.org/drawingml/2006/main">
            <a:pPr marL="0" lvl="0" indent="0" algn="l">
              <a:spcBef>
                <a:spcPts val="0"/>
              </a:spcBef>
              <a:spcAft>
                <a:spcPts val="0"/>
              </a:spcAft>
              <a:buNone/>
            </a:pPr>
            <a:r>
              <a:rPr sz="1200"/>
              <a:t>Time 1:15. Clock 44:45-46:00.</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Speaker notes</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Follow each tube between components. Avoid tension, excessive loops, kinks and entrapment during closure. Keep needles and instruments away from the components.</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Prepare and connect the system using its own operative protocol. Use compatible components, remove air as instructed and verify the connections. Cycle the device to check function, then confirm that the cuff is open and the device correctly deactivated. Pressing a button without establishing the cuff state is not enough.</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Choose an appropriate small, atraumatically placed catheter for the individual cuff and urethra, and plan early removal after an uncomplicated implant. Device instructions and an injury or reconstruction may change that plan; do not improvise a universal catheter size.</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The handover should record the model, cuff site and size, balloon specification and position, deactivated state, catheter plan and contact details. The next clinician must know there is an AUS before attempting drainage.</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References: CCIFU https://www.rigicon.com/files/e-labeling/ContiClassic-IFU.pdf; ICS16 https://www.ics.org/folder/standardisation/current-ics-standardisations/d/artificial-urinary-sphincter-report-of-the-2015-consensus-conference/download; AP23 https://doi.org/10.1111/iju.15083; CATH13 https://pubmed.ncbi.nlm.nih.gov/24074987/.</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Evidence status: General system checks plus manufacturer-directed steps. AMS 800 consensus describes brief postoperative catheterisation, usually overnight or within 24-48 hours after uncomplicated surgery; this is not a verified ContiClassic duration. ContiClassic connector preparation and fill/purge sequence remain subject to the unavailable OR protocol; the text is not a substitute for that protocol.</a:t>
            </a:r>
            <a:endParaRPr/>
          </a:p>
          <a:p xmlns:a="http://schemas.openxmlformats.org/drawingml/2006/main">
            <a:pPr marL="0" lvl="0" indent="0" algn="l">
              <a:spcBef>
                <a:spcPts val="0"/>
              </a:spcBef>
              <a:spcAft>
                <a:spcPts val="0"/>
              </a:spcAft>
              <a:buNone/>
            </a:pPr>
            <a:r>
              <a:t/>
            </a:r>
            <a:endParaRPr sz="1200"/>
          </a:p>
          <a:p xmlns:a="http://schemas.openxmlformats.org/drawingml/2006/main">
            <a:r>
              <a:t>
Evidence update — 5 October 2026:
INSTR26 — AUS instrumentation knowledge survey, 2026. A survey of 286 Turkish urologists identified training and confidence gaps in AUS deactivation and instrumentation. It reinforces the practical value of patient/device information and a clear urgent-contact route. A self-selected knowledge survey, not a catheter-safety trial. Its proposed diameter/duration answers cannot become universal rules for every cuff, tissue or device. Follow the actual system's instructions. Source: https://doi.org/10.1002/nau.70417 Access: Publisher abstract via Europe PMC.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rPr sz="1200"/>
              <a:t>Teaching slide 32. Four minutes, 46:00–50:00.</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Open https://uroops3d.com/lab/aus and use the scene controls. Public page and available view labels were inspected on 30 September 2026. Schematic ContiClassic model, clinical review pending. No claim of anatomical validation.</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00:00–00:20: Transition to anatomical relationships.</a:t>
            </a:r>
            <a:endParaRPr/>
          </a:p>
          <a:p xmlns:a="http://schemas.openxmlformats.org/drawingml/2006/main">
            <a:pPr marL="0" lvl="0" indent="0" algn="l">
              <a:spcBef>
                <a:spcPts val="0"/>
              </a:spcBef>
              <a:spcAft>
                <a:spcPts val="0"/>
              </a:spcAft>
              <a:buNone/>
            </a:pPr>
            <a:r>
              <a:rPr sz="1200"/>
              <a:t>00:20–01:05: Cuff site view. Discuss viable bulbar tissue and supporting spongiosum.</a:t>
            </a:r>
            <a:endParaRPr/>
          </a:p>
          <a:p xmlns:a="http://schemas.openxmlformats.org/drawingml/2006/main">
            <a:pPr marL="0" lvl="0" indent="0" algn="l">
              <a:spcBef>
                <a:spcPts val="0"/>
              </a:spcBef>
              <a:spcAft>
                <a:spcPts val="0"/>
              </a:spcAft>
              <a:buNone/>
            </a:pPr>
            <a:r>
              <a:rPr sz="1200"/>
              <a:t>01:05–01:45: Surgeon’s view. Discuss the dorsal plane and why scarred tissue changes dissection.</a:t>
            </a:r>
            <a:endParaRPr/>
          </a:p>
          <a:p xmlns:a="http://schemas.openxmlformats.org/drawingml/2006/main">
            <a:pPr marL="0" lvl="0" indent="0" algn="l">
              <a:spcBef>
                <a:spcPts val="0"/>
              </a:spcBef>
              <a:spcAft>
                <a:spcPts val="0"/>
              </a:spcAft>
              <a:buNone/>
            </a:pPr>
            <a:r>
              <a:rPr sz="1200"/>
              <a:t>01:45–02:20: The three spaces view. Discuss accessible pump position.</a:t>
            </a:r>
            <a:endParaRPr/>
          </a:p>
          <a:p xmlns:a="http://schemas.openxmlformats.org/drawingml/2006/main">
            <a:pPr marL="0" lvl="0" indent="0" algn="l">
              <a:spcBef>
                <a:spcPts val="0"/>
              </a:spcBef>
              <a:spcAft>
                <a:spcPts val="0"/>
              </a:spcAft>
              <a:buNone/>
            </a:pPr>
            <a:r>
              <a:rPr sz="1200"/>
              <a:t>02:20–03:10: Space of Retzius view. Discuss how previous surgery changes balloon access. Describe alternative pockets only verbally if absent.</a:t>
            </a:r>
            <a:endParaRPr/>
          </a:p>
          <a:p xmlns:a="http://schemas.openxmlformats.org/drawingml/2006/main">
            <a:pPr marL="0" lvl="0" indent="0" algn="l">
              <a:spcBef>
                <a:spcPts val="0"/>
              </a:spcBef>
              <a:spcAft>
                <a:spcPts val="0"/>
              </a:spcAft>
              <a:buNone/>
            </a:pPr>
            <a:r>
              <a:rPr sz="1200"/>
              <a:t>03:10–03:45: Final configuration view. Trace tubing without claiming the schematic proves tension or perfusion.</a:t>
            </a:r>
            <a:endParaRPr/>
          </a:p>
          <a:p xmlns:a="http://schemas.openxmlformats.org/drawingml/2006/main">
            <a:pPr marL="0" lvl="0" indent="0" algn="l">
              <a:spcBef>
                <a:spcPts val="0"/>
              </a:spcBef>
              <a:spcAft>
                <a:spcPts val="0"/>
              </a:spcAft>
              <a:buNone/>
            </a:pPr>
            <a:r>
              <a:rPr sz="1200"/>
              <a:t>03:45–04:00: Return to postoperative care.</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If loading fails, keep this slide displayed and use the original four-minute spoken fallback below. Do not spend the allocated session troubleshooting.</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 replaces the same four minutes if the live demonstration fails</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[Do not troubleshoot beyond the opening twenty-second interval. Keep this slide displayed. The following six timed segments replace the live narration; they are not additional content.]</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00:00-00:20: “The model is not loading, so let us walk through the same anatomy verbally. Picture the bulbar urethra in the perineum, the pump in the scrotum and the balloon beneath the abdominal wall. We will connect each position to one operative decision.”</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00:20-01:05: “Begin with the cuff. It surrounds the urethra and its supporting spongiosal tissue. Our task is to identify a viable segment and preserve that support while creating only the space the cuff needs. A thin, scarred or previously eroded segment does not become healthy because it accepts a measuring tape. The operative report from previous reconstruction is therefore part of the anatomical assessment. Before measuring, release traction and check that the tape encloses the tissue the cuff will actually surround.” [Pause briefly.]</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01:05-01:45: “Dorsally, the urethra lies closely related to the corporal bodies. In a normal plane, controlled dissection separates the structures. In a scarred plane, blind force may cross the urethral wall. The decision is to improve exposure, choose another strategy or stage the operation. Transcorporal placement may avoid a particular dangerous plane, but its comparative protection against erosion remains uncertain. It also changes the tissue within the cuff and the implications for future corporal surgery.”</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01:45-02:20: “Next, put the pump in the patient's hand, mentally. Can he find it, distinguish it from the testis and reach its controls? The position must work when sitting as well as standing. An oversized pocket permits migration, while tension and crowding cause discomfort. This is why pump access is agreed before anaesthesia. At activation, let him demonstrate the full operation rather than merely identify where the pump sits.”</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02:20-03:10: “Now consider the balloon. After pelvic surgery, the retropubic space may not behave like the textbook space. Adhesions, mesh, bowel, bladder and vessels change the route. An alternative submuscular pocket may be useful, but it must be deliberately and safely created. The choice of pocket and the choice of pressure are separate decisions. Neither a new pocket nor a higher pressure compensates for a poorly selected cuff site. Unexpected resistance during access should prompt reassessment, not force. Confirm the actual product's placement and preparation instructions before committing to the pocket.”</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03:10-04:00: “Trace the tubing between all three components. Avoid tension, sharp turns and entrapment under closure. Recheck connections, cycle the system and confirm an open cuff with correct deactivation. [Pause.] The same route helps us investigate a later failure: patient operation, cuff and urethra, tubing, then balloon and fluid system. Future instrumentation has to pass through the cuffed segment, so deactivation and appropriate instrument selection remain essential even when the hydraulics work normally. That is the anatomical logic I wanted the model to demonstrate. Let us return to postoperative care.”</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References: ICS16 https://www.ics.org/folder/standardisation/current-ics-standardisations/d/artificial-urinary-sphincter-report-of-the-2015-consensus-conference/download; AP23 https://doi.org/10.1111/iju.15083; CCIFU https://www.rigicon.com/files/e-labeling/ContiClassic-IFU.pdf. UroOps link and model-specific verification require presenter input.</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Evidence status: General anatomical teaching and expert synthesis. The public model is a teaching schematic awaiting clinical review. Exact device operation and placement permissions remain manufacturer-specific.</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Sources: ICS16 https://www.ics.org/folder/standardisation/current-ics-standardisations/d/artificial-urinary-sphincter-report-of-the-2015-consensus-conference/download; AP23 https://doi.org/10.1111/iju.15083; CCIFU https://www.rigicon.com/files/e-labeling/ContiClassic-IFU.pdf. Image © UroOps3D / UroRef / Nity G. https://uroops3d.com/lab/aus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rPr sz="1200"/>
              <a:t>Teaching slide 33. Early care: the device is only part of the handover</a:t>
            </a:r>
            <a:endParaRPr/>
          </a:p>
          <a:p xmlns:a="http://schemas.openxmlformats.org/drawingml/2006/main">
            <a:pPr marL="0" lvl="0" indent="0" algn="l">
              <a:spcBef>
                <a:spcPts val="0"/>
              </a:spcBef>
              <a:spcAft>
                <a:spcPts val="0"/>
              </a:spcAft>
              <a:buNone/>
            </a:pPr>
            <a:r>
              <a:rPr sz="1200"/>
              <a:t>Time 1:00. Clock 50:00-51:00.</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Speaker notes</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After uncomplicated implantation, remove the catheter early and check voiding. Persistent retention needs assessment of deactivation, oedema, cuff fit and obstruction, with safe drainage rather than repeated blind catheter attempts.</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Worsening pain, erythema, discharge, fever or voiding difficulty needs specialist review. Suspected erosion requires device-aware investigation; established infection or erosion generally needs explantation, not antibiotics alone.</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ContiClassic specifies four to six weeks deactivated, until pain and oedema settle. At activation, verify patient operation and emptying. Arrange subsequent functional review and access for problems.</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Give him the device card and clear instructions to alert clinicians before catheterisation or endoscopy. Safe future care depends on that information reaching the person holding the instrument.</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References: BAUS25 https://doi.org/10.1111/bju.16726; CCIFU https://www.rigicon.com/files/e-labeling/ContiClassic-IFU.pdf; AUA24 https://www.auanet.org/documents/Guidelines/PDF/2024%20Guidelines/IPT%20Unabridged%20Final%206-18-24.pdf; CATH13 https://pubmed.ncbi.nlm.nih.gov/24074987/.</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Evidence status: Guideline/IFU care with individualised drainage and follow-up. BAUS suggests reassessment three to four months after activation and further review at twelve months. Early red flags require assessment sooner than routine review intervals.</a:t>
            </a:r>
            <a:endParaRPr/>
          </a:p>
          <a:p xmlns:a="http://schemas.openxmlformats.org/drawingml/2006/main">
            <a:pPr marL="0" lvl="0" indent="0" algn="l">
              <a:spcBef>
                <a:spcPts val="0"/>
              </a:spcBef>
              <a:spcAft>
                <a:spcPts val="0"/>
              </a:spcAft>
              <a:buNone/>
            </a:pPr>
            <a:r>
              <a:t/>
            </a:r>
            <a:endParaRPr sz="1200"/>
          </a:p>
          <a:p xmlns:a="http://schemas.openxmlformats.org/drawingml/2006/main">
            <a:r>
              <a:t>
Evidence update — 5 October 2026:
BAUSDAY26 — BAUS 2026 P4-8: day-case AUS audit. An audit of 98 men reported 88% same-day discharge. It supports feasibility within an established service. Conference audit with short follow-up and selection; does not establish long-term equivalence or antibiotic policy. Source: https://journals.sagepub.com/doi/full/10.1177/20514158261451299 Access: Published BAUS abstract read in full.
DAYMETA26 — Day-case catheter-free AUS meta-analysis, 2026 issue. Six studies included 2,424 men; four (1,085) entered the meta-analysis. No statistically significant difference was detected in retention (RR 1.44, 95% CI 0.81-2.56) or 90-day emergency visits (RR 0.91, 0.59-1.42). Moderate-to-serious bias and wide intervals prevent equivalence claims. Same-day catheter-free discharge is a selected pathway, not a universal instruction. Online August 2025; March 2026 issue. Source: https://doi.org/10.1007/s11255-025-04711-y Access: Publisher abstract via Europe PMC.
DAYCASE26 — Day-case versus inpatient AUS: 177 men, 2026. A retrospective primary AMS 800 comparison included 126 ambulatory and 51 inpatient men. The evaluable 30-day composite was 14/124 (11.3%) versus 4/49 (8.2%), p=0.78. Inpatient selection depended on ASA score and social circumstances. Confounding and different enrolled/evaluable denominators matter. The abstract's early/severe complication percentages are not sufficiently clear for additional teaching statistics. A nonsignificant result is not proof of equal safety. Source: https://doi.org/10.1016/j.fjurol.2026.103135 Access: Publisher abstract via Europe PMC.
Day-case service evidence must be reconciled with the actual device-specific postoperative protocol, patient selection, verified voiding and a reliable urgent return route. It is not an instruction to shorten a required regional IFU regimen.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rPr sz="1200"/>
              <a:t>Teaching slide 34. Fictional case 4: leakage after three good years</a:t>
            </a:r>
            <a:endParaRPr/>
          </a:p>
          <a:p xmlns:a="http://schemas.openxmlformats.org/drawingml/2006/main">
            <a:pPr marL="0" lvl="0" indent="0" algn="l">
              <a:spcBef>
                <a:spcPts val="0"/>
              </a:spcBef>
              <a:spcAft>
                <a:spcPts val="0"/>
              </a:spcAft>
              <a:buNone/>
            </a:pPr>
            <a:r>
              <a:rPr sz="1200"/>
              <a:t>Time 1:30. Clock 51:00-52:30.</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Speaker notes</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Our fourth fictional patient had three useful years with his AUS and now leaks again. Would you book a smaller cuff? [Pause for five seconds.]</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Start by distinguishing persistent leakage since activation from true recurrence after a successful interval. Ask whether this is activity-related leakage, urgency, overflow or difficulty cycling. Observe his technique and check the device state. Review urine and residual, examine the components, and use appropriately deactivated cystoscopy to look for erosion and assess the urethra. Investigate fluid loss or mechanical problems and bladder dysfunction as indicated.</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Urethral atrophy is an explanation to establish, not a diagnosis made by the passage of time. Modern revision series attribute many failures to the pressure-regulating balloon or other mechanics, and the definition of atrophy often depends on how the revision was investigated. Capsular restriction and poor initial sizing can also complicate the label.</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The answer may be retraining, bladder treatment, component revision, a revised cuff strategy or explantation. In an older system, discuss whole-system replacement. Repeated failure or a compromised urethra warrants specialist review before another tissue-consuming procedure.</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References: ATROPHY20 https://doi.org/10.21037/tau.2019.07.18; BAUS25 https://doi.org/10.1111/bju.16726; AUA24 https://www.auanet.org/documents/Guidelines/PDF/2024%20Guidelines/IPT%20Unabridged%20Final%206-18-24.pdf; CCIFU https://www.rigicon.com/files/e-labeling/ContiClassic-IFU.pdf.</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Evidence status: Fictional case. Failure categories are guideline-supported; attribution of atrophy and relative revision strategies remain contested and mainly observational. No automatic downsizing or pressure escalation is endorsed.</a:t>
            </a:r>
            <a:endParaRPr/>
          </a:p>
          <a:p xmlns:a="http://schemas.openxmlformats.org/drawingml/2006/main">
            <a:pPr marL="0" lvl="0" indent="0" algn="l">
              <a:spcBef>
                <a:spcPts val="0"/>
              </a:spcBef>
              <a:spcAft>
                <a:spcPts val="0"/>
              </a:spcAft>
              <a:buNone/>
            </a:pPr>
            <a:r>
              <a:t/>
            </a:r>
            <a:endParaRPr sz="1200"/>
          </a:p>
          <a:p xmlns:a="http://schemas.openxmlformats.org/drawingml/2006/main">
            <a:r>
              <a:t>
Evidence update — 5 October 2026:
AUASAFER26 — AUA 2026 IP09-17: SAFER erosion management. SAFER compared in situ urethroplasty with conservative management at explantation for cuff erosion. Programme/title verified; complete methods, results and denominators unavailable. No numerical result or change in practice is inferred. This is conference material, not an AUA guideline. Source: https://doi.org/10.1097/01.JU.0001191316.72449.22.17 Access: Official journal/programme record and publisher-deposited Crossref metadata only.
PRBFAT26 — PRB material fatigue: 2026 issue. Mechanical testing compared 32 retrieved balloons with one new balloon; seven underwent additional testing. Age correlated with increased stiffness and reduced wall thickness; microcracks were seen in the four oldest specimens tested microscopically. Retrieved components are selected samples; laboratory ageing is mechanistic evidence, not a trial of balloon-only versus complete-system revision. Do not replace a balloon solely because three years have elapsed. Online December 2025; 2026 issue. Source: https://doi.org/10.1016/j.urology.2025.12.031 Access: Publisher abstract via Europe PMC.
EROSION26 — Immediate urethral repair at explantation, 2026. In a selected single-centre series of 16 men, one developed a stricture after repair at eroded-cuff explantation (6.3%); seven developed wound dehiscence requiring closure (43.8%). The low stricture rate therefore sits beside a substantial wound-treatment burden. No drainage-only comparator, small sample and median 14-month follow-up. This is not an interim SAFER comparative result and does not establish universal immediate repair. Partial and circumferential erosions require different reconstructive assessments. Source: https://doi.org/10.1007/s00345-026-06629-1 Access: Publisher abstract via Europe PMC.
SECOND26 — Second AUS survival: national French cohort, 2026. The national cohort included 1,619 second AUS implants: 1,165 replacements and 454 reimplantations after removal. Median follow-up was 53 months; reintervention-free survival was 68% at five years and 61% at ten years. Only 21% of men whose first device was removed received a subsequent implant. Administrative observational data distinguish replacement from reimplantation after removal. These results are not primary-implant survival, pad-free continence or a randomised choice of revision method. They strengthen consent about the uncertain path after erosion/explantation. Source: https://doi.org/10.1590/s1677-5538.ibju.2025.0374 Access: Full open article read.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rPr sz="1200"/>
              <a:t>Teaching slide 35. What we know, what we believe, what we cannot yet answer</a:t>
            </a:r>
            <a:endParaRPr/>
          </a:p>
          <a:p xmlns:a="http://schemas.openxmlformats.org/drawingml/2006/main">
            <a:pPr marL="0" lvl="0" indent="0" algn="l">
              <a:spcBef>
                <a:spcPts val="0"/>
              </a:spcBef>
              <a:spcAft>
                <a:spcPts val="0"/>
              </a:spcAft>
              <a:buNone/>
            </a:pPr>
            <a:r>
              <a:rPr sz="1200"/>
              <a:t>Time 0:45. Clock 52:30-53:15.</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Speaker notes</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AUS can deliver substantial benefit, with revision and erosion part of its lifetime burden. Tissue preservation, contamination control and planned instrumentation have strong rationale, although individual technical details often lack comparative evidence.</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We cannot name one best salvage operation for every fragile urethra, one optimal irrigant or a proven universal preparation duration. New device features need outcome evidence with comparable populations and definitions.</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Make that uncertainty visible in consent and operative planning.</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References: MASTER22 https://doi.org/10.3310/TBFZ0277; TC20 https://doi.org/10.5489/cuaj.6431; TC23 https://pubmed.ncbi.nlm.nih.gov/36749394/; PREP24 https://tau.amegroups.org/article/view/130351/html; CCSAFETY https://pubmed.ncbi.nlm.nih.gov/37543658/.</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Evidence status: Critical synthesis. The wording distinguishes demonstrated benefit, biologically plausible practice and unresolved comparative questions.</a:t>
            </a:r>
            <a:endParaRPr/>
          </a:p>
          <a:p xmlns:a="http://schemas.openxmlformats.org/drawingml/2006/main">
            <a:pPr marL="0" lvl="0" indent="0" algn="l">
              <a:spcBef>
                <a:spcPts val="0"/>
              </a:spcBef>
              <a:spcAft>
                <a:spcPts val="0"/>
              </a:spcAft>
              <a:buNone/>
            </a:pPr>
            <a:r>
              <a:t/>
            </a:r>
            <a:endParaRPr sz="1200"/>
          </a:p>
          <a:p xmlns:a="http://schemas.openxmlformats.org/drawingml/2006/main">
            <a:r>
              <a:t>
Evidence update — 5 October 2026:
DEVICE26 — Emerging AUS devices review, 2026. The contemporary review describes new hydraulic and electronic designs, while emphasising the lack of robust direct comparisons and long-term outcomes for many devices. It supports keeping engineering advantages separate from proven clinical superiority. A review combining clinical, regulatory, manufacturer and preclinical materials is context rather than a head-to-head trial. Early ContiClassic safety cannot be compared with AMS 800 continence as if the endpoints were interchangeable. Source: https://doi.org/10.1002/nau.70400 Access: Publisher abstract via Europe PMC.
UROACTIVE26 — Electronic AUS: first-in-human study, 2026. Six men received the electronic UroActive AUS; all activated successfully, with no explant or surgical revision during one year after activation. Nine device deficiencies involved the remote control. A very small single-arm feasibility study. Zero observed revisions is not zero risk or comparative superiority; it does not establish replacement of manual hydraulic devices in routine practice. Source: https://doi.org/10.1097/ju.0000000000004945 Access: Publisher abstract via Europe PMC.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rPr sz="1200"/>
              <a:t>Teaching slide 36. Five decisions before the implant is opened</a:t>
            </a:r>
            <a:endParaRPr/>
          </a:p>
          <a:p xmlns:a="http://schemas.openxmlformats.org/drawingml/2006/main">
            <a:pPr marL="0" lvl="0" indent="0" algn="l">
              <a:spcBef>
                <a:spcPts val="0"/>
              </a:spcBef>
              <a:spcAft>
                <a:spcPts val="0"/>
              </a:spcAft>
              <a:buNone/>
            </a:pPr>
            <a:r>
              <a:rPr sz="1200"/>
              <a:t>Time 0:45. Clock 53:15-54:00.</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Speaker notes</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The first five take-home messages belong before theatre. Establish the leakage mechanism and the improvement that matters. Watch the patient use a pump and assess access over time. Choose investigations to answer explicit questions, acknowledging the differences between guidelines.</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Keep detrusor overactivity, underactivity and poor compliance separate, because they lead to different decisions. Finally, establish a stable outlet and think through future instrumentation. A successful implant starts with a patient, bladder and urethra that can support the intended result.</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References: BAUS25 https://doi.org/10.1111/bju.16726; EAU26 https://uroweb.org/guidelines/management-of-non-neurogenic-male-luts/chapter/disease-management; AUA24 https://www.auanet.org/documents/Guidelines/PDF/2024%20Guidelines/IPT%20Unabridged%20Final%206-18-24.pdf; DU23 https://pubmed.ncbi.nlm.nih.gov/36906798/; ICS16 https://www.ics.org/folder/standardisation/current-ics-standardisations/d/artificial-urinary-sphincter-report-of-the-2015-consensus-conference/download.</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Evidence status: Practical synthesis of the preceding evidence; these five messages are not new numerical eligibility rules.</a:t>
            </a:r>
            <a:endParaRPr/>
          </a:p>
          <a:p xmlns:a="http://schemas.openxmlformats.org/drawingml/2006/main">
            <a:pPr marL="0" lvl="0" indent="0" algn="l">
              <a:spcBef>
                <a:spcPts val="0"/>
              </a:spcBef>
              <a:spcAft>
                <a:spcPts val="0"/>
              </a:spcAft>
              <a:buNone/>
            </a:pPr>
            <a:r>
              <a:t/>
            </a:r>
            <a:endParaRPr sz="120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rPr sz="1200"/>
              <a:t>Teaching slide 37. Five decisions that protect the result</a:t>
            </a:r>
            <a:endParaRPr/>
          </a:p>
          <a:p xmlns:a="http://schemas.openxmlformats.org/drawingml/2006/main">
            <a:pPr marL="0" lvl="0" indent="0" algn="l">
              <a:spcBef>
                <a:spcPts val="0"/>
              </a:spcBef>
              <a:spcAft>
                <a:spcPts val="0"/>
              </a:spcAft>
              <a:buNone/>
            </a:pPr>
            <a:r>
              <a:rPr sz="1200"/>
              <a:t>Time 1:00. Clock 54:00-55:00.</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Speaker notes</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Preparation must be correct for the product, anatomy and implant pathway. A fifteen-minute ritual is not a substitute. In theatre, preserve the tissue you need, measure what the cuff will actually enclose, and correct uncertainty before closing.</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Use the instructions for the device being implanted. Similar components do not make pressure ranges, preparation or operating sequences interchangeable. Recognised injury or unsafe contamination is a reason to change the plan.</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Confirm the cuff state, drainage and the patient's ability to use the device. Make future instrumentation precautions explicit.</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When leakage returns, diagnose it before selecting a smaller cuff or higher pressure. The goal is useful continence over time, with safe storage, emptying and an agreed plan for further treatment.</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References: CCIFU https://www.rigicon.com/files/e-labeling/ContiClassic-IFU.pdf; NICE https://www.nice.org.uk/guidance/ng125/chapter/recommendations; AP23 https://doi.org/10.1111/iju.15083; ATROPHY20 https://doi.org/10.21037/tau.2019.07.18; BAUS25 https://doi.org/10.1111/bju.16726.</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Evidence status: These complete the ten take-home messages. The underlying evidence and device limitations are specified on the relevant earlier slides.</a:t>
            </a:r>
            <a:endParaRPr/>
          </a:p>
          <a:p xmlns:a="http://schemas.openxmlformats.org/drawingml/2006/main">
            <a:pPr marL="0" lvl="0" indent="0" algn="l">
              <a:spcBef>
                <a:spcPts val="0"/>
              </a:spcBef>
              <a:spcAft>
                <a:spcPts val="0"/>
              </a:spcAft>
              <a:buNone/>
            </a:pPr>
            <a:r>
              <a:t/>
            </a:r>
            <a:endParaRPr sz="120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rPr sz="1200"/>
              <a:t>Teaching slide 38. Discussion: which finding would change your plan?</a:t>
            </a:r>
            <a:endParaRPr/>
          </a:p>
          <a:p xmlns:a="http://schemas.openxmlformats.org/drawingml/2006/main">
            <a:pPr marL="0" lvl="0" indent="0" algn="l">
              <a:spcBef>
                <a:spcPts val="0"/>
              </a:spcBef>
              <a:spcAft>
                <a:spcPts val="0"/>
              </a:spcAft>
              <a:buNone/>
            </a:pPr>
            <a:r>
              <a:rPr sz="1200"/>
              <a:t>Time 5:00. Clock 55:00-60:00.</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Speaker notes and moderation plan</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55:00-55:20: “I would like to use these final five minutes on decisions rather than preferences alone. Choose one of the cases, tell us what you would do, and identify the finding that would make you change your plan.”</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55:20-57:20: Invite a response on bladder dysfunction or urethral stability. Take one contrasting view and a brief reply. Ask, if needed: “Is that a guideline requirement, a device instruction, or your interpretation of the evidence?”</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57:20-59:40: Invite a second question on operative practice, preparation or failure. Use the balanced answers below if relevant. Keep individual contributions brief enough to allow disagreement and clarification.</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59:40-60:00: “Thank you. The useful differences are now clear: what the evidence supports, what the device requires and where our judgement remains decisive. Those distinctions should be visible in our consent, our operation notes and the outcomes we report.”</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References: Sources depend on the question; see the ten prepared answers and bibliography below.</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Evidence status: Moderated discussion. Audience contributions are opinion unless supported; do not convert a show of hands into consensus evidence.</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br/>
            <a:r>
              <a:rPr sz="1200"/>
              <a:t>Prepared expert questions and balanced answers, outside the timed talk:</a:t>
            </a:r>
            <a:br/>
            <a:r>
              <a:rPr sz="1200"/>
              <a:t> Ten challenging expert questions and balanced suggested answers</a:t>
            </a:r>
            <a:br/>
            <a:br/>
            <a:r>
              <a:rPr sz="1200"/>
              <a:t>These are preparation notes outside the sixty-minute running order. Use only the answer relevant to the live question.</a:t>
            </a:r>
            <a:br/>
            <a:br/>
            <a:r>
              <a:rPr sz="1200"/>
              <a:t>### 1. If BAUS recommends video-urodynamics, is selective testing unacceptable?</a:t>
            </a:r>
            <a:br/>
            <a:br/>
            <a:r>
              <a:rPr sz="1200"/>
              <a:t>BAUS and AUA take different positions; neither should be misquoted to remove that difference. BAUS favours VUDS in surgical candidates. AUA permits selective testing, while EAU has a weak pre-invasive-treatment recommendation alongside a selective narrative. A defensible pathway states which guidance it follows, confirms SUI and anatomy, and explains how storage safety and emptying were assessed. The case for UDS is stronger when those are uncertain. Its universal use has not been shown in an identified comparative trial to improve every AUS outcome. Selective testing therefore needs explicit clinical reasoning, not a claim that urodynamics is obsolete. [BAUS25]; [AUA24]; [EAU26]; [ICS16].</a:t>
            </a:r>
            <a:br/>
            <a:br/>
            <a:r>
              <a:rPr sz="1200"/>
              <a:t>### 2. What continence rate should we quote, and is ContiClassic as good as AMS 800?</a:t>
            </a:r>
            <a:br/>
            <a:br/>
            <a:r>
              <a:rPr sz="1200"/>
              <a:t>There is no defensible single rate for every patient. Specify pad-free continence, a defined allowance such as one safety pad, pad-weight improvement, patient satisfaction or freedom from revision. Quote a comparable population with radiation status and follow-up. AUSCO provides contemporary prospective AMS 800 outcomes, while historical cohorts inform durability. Neither offers a matched ContiClassic comparison. Its early report provides uncontrolled safety and survival information, without a verified standardised continence endpoint in the accessible abstract. It cannot establish equivalence or superiority. The outcome-context table below separates these endpoints and populations. [CCSAFETY]; [AUSCO26]; [LINDER15]; [MASTER22].</a:t>
            </a:r>
            <a:br/>
            <a:br/>
            <a:r>
              <a:rPr sz="1200"/>
              <a:t>### 3. Must detrusor overactivity be eliminated before any AUS?</a:t>
            </a:r>
            <a:br/>
            <a:br/>
            <a:r>
              <a:rPr sz="1200"/>
              <a:t>No single urodynamic observation should settle the general AUS decision. Relate DO to symptoms, pressures, functional capacity, treatment burden and the patient's goals. Selected clinical evidence supports implantation despite DO, but does not promise resolution of urgency or prove that DO has no association with later failure. Device instructions can be more restrictive: the reviewed ContiClassic IFU requires associated urge/overflow/instability to be controlled or resolved and contraindicates irresolvable instability. For that product, confirm and follow the current regional label. Do not use general AMS-era observational experience as an exemption from a specific contraindication. [DO24]; [DOFAIL23]; [CCIFU].</a:t>
            </a:r>
            <a:br/>
            <a:br/>
            <a:r>
              <a:rPr sz="1200"/>
              <a:t>### 4. What residual volume or contractility index is too poor for AUS?</a:t>
            </a:r>
            <a:br/>
            <a:br/>
            <a:r>
              <a:rPr sz="1200"/>
              <a:t>No universal cutoff is established for this decision. Repeated residuals, representative flow, pressure-flow quality, obstruction, straining and the proposed emptying strategy matter together. A study's BCI threshold is a research definition, not a validated post-prostatectomy implantation rule. Selected DU data are reassuring, but exclusions and incomplete subgroup reporting prevent a blanket safety claim. The question is whether this patient can empty safely after cycling and manage a credible rescue plan. If that is unresolved, investigate or optimise first. A man who may catheterise needs a separate assessment of competence, route and urethral risk. [DU23]; [CIC23]; [ICSUDS17].</a:t>
            </a:r>
            <a:br/>
            <a:br/>
            <a:r>
              <a:rPr sz="1200"/>
              <a: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rPr sz="1200"/>
              <a:t>Outcome definitions, populations and limitations follow the repository outcome-context table. Sources: AUSCO26 https://pmc.ncbi.nlm.nih.gov/articles/PMC12794701/</a:t>
            </a:r>
            <a:endParaRPr/>
          </a:p>
          <a:p xmlns:a="http://schemas.openxmlformats.org/drawingml/2006/main">
            <a:pPr marL="0" lvl="0" indent="0" algn="l">
              <a:spcBef>
                <a:spcPts val="0"/>
              </a:spcBef>
              <a:spcAft>
                <a:spcPts val="0"/>
              </a:spcAft>
              <a:buNone/>
            </a:pPr>
            <a:r>
              <a:rPr sz="1200"/>
              <a:t>LINDER15 https://pubmed.ncbi.nlm.nih.gov/26135815/</a:t>
            </a:r>
            <a:endParaRPr/>
          </a:p>
          <a:p xmlns:a="http://schemas.openxmlformats.org/drawingml/2006/main">
            <a:pPr marL="0" lvl="0" indent="0" algn="l">
              <a:spcBef>
                <a:spcPts val="0"/>
              </a:spcBef>
              <a:spcAft>
                <a:spcPts val="0"/>
              </a:spcAft>
              <a:buNone/>
            </a:pPr>
            <a:r>
              <a:rPr sz="1200"/>
              <a:t>CCSAFETY https://pubmed.ncbi.nlm.nih.gov/37543658/</a:t>
            </a:r>
            <a:endParaRPr/>
          </a:p>
          <a:p xmlns:a="http://schemas.openxmlformats.org/drawingml/2006/main">
            <a:r>
              <a:t>
The original ContiClassic safety abstract reports eight revisions, with sizing/fluid-loss causes. Device survival is not continence. Newer outcome interpretation:
REGRET26: Ninety-one men responded (87.5%), with median follow-up 82 months. Reoperation was the only independent predictor of regret in the reported model (+18 points on the Decisional Regret Scale). Continence benefit persisted but deteriorated over time. A retrospective single-centre survivor/respondent cohort without a nonsurgical comparator. Association does not prove reoperation causes all regret or predict an individual response. Counselling should include residual leakage, future surgery and psychological burden. Online December 2025; 2026 issue. https://doi.org/10.1016/j.euros.2025.12.006
SECOND26: The national cohort included 1,619 second AUS implants: 1,165 replacements and 454 reimplantations after removal. Median follow-up was 53 months; reintervention-free survival was 68% at five years and 61% at ten years. Only 21% of men whose first device was removed received a subsequent implant. Administrative observational data distinguish replacement from reimplantation after removal. These results are not primary-implant survival, pad-free continence or a randomised choice of revision method. They strengthen consent about the uncertain path after erosion/explantation. https://doi.org/10.1590/s1677-5538.ibju.2025.0374
REPORT26: A retrospective 227-implant series using systematic complication capture reported 47% early complications, predominantly minor, and 7.9% major complications requiring intervention. Five-year explantation-free survival was 73%. Selected techniques included distal double cuffs and transcorporal cuffs. These results are not a universal primary single-bulbar-cuff complication rate. Systematic reporting and endpoint definitions explain why superficially similar published percentages differ. https://doi.org/10.1007/s00345-026-06246-y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rPr sz="1200"/>
              <a:t>Current comparative and preparation evidence:</a:t>
            </a:r>
            <a:endParaRPr/>
          </a:p>
          <a:p xmlns:a="http://schemas.openxmlformats.org/drawingml/2006/main">
            <a:pPr marL="0" lvl="0" indent="0" algn="l">
              <a:spcBef>
                <a:spcPts val="0"/>
              </a:spcBef>
              <a:spcAft>
                <a:spcPts val="0"/>
              </a:spcAft>
              <a:buNone/>
            </a:pPr>
            <a:r>
              <a:rPr sz="1200"/>
              <a:t/>
            </a:r>
            <a:endParaRPr/>
          </a:p>
          <a:p xmlns:a="http://schemas.openxmlformats.org/drawingml/2006/main">
            <a:pPr marL="0" lvl="0" indent="0" algn="l">
              <a:spcBef>
                <a:spcPts val="0"/>
              </a:spcBef>
              <a:spcAft>
                <a:spcPts val="0"/>
              </a:spcAft>
              <a:buNone/>
            </a:pPr>
            <a:r>
              <a:rPr sz="1200"/>
              <a:t>MASTER26: This is extended follow-up of the same 380 randomised men, not a second independent trial. At 24 months, sling met the prespecified non-inferiority criterion on the strict self-reported continence endpoint: risk difference -0.006 (95% CI -0.092 to 0.080), or -0.6 percentage points (-9.2 to +8.0). Further surgery was reported in 20 men (11%) after sling and four (2%) after AUS. Secondary outcomes generally favoured AUS. The 15-percentage-point margin applies to the prespecified endpoint, not every outcome. Do not translate non-inferiority into identical effectiveness, zero-pad equivalence or an endorsement for irradiated/reconstructed revision cases. Abstract symptom-score means and adjusted difference are distinct estimates; do not subtract them and label it the adjusted effect. https://doi.org/10.1016/j.euf.2026.07.012</a:t>
            </a:r>
            <a:endParaRPr/>
          </a:p>
          <a:p xmlns:a="http://schemas.openxmlformats.org/drawingml/2006/main">
            <a:pPr marL="0" lvl="0" indent="0" algn="l">
              <a:spcBef>
                <a:spcPts val="0"/>
              </a:spcBef>
              <a:spcAft>
                <a:spcPts val="0"/>
              </a:spcAft>
              <a:buNone/>
            </a:pPr>
            <a:r>
              <a:rPr sz="1200"/>
              <a:t/>
            </a:r>
            <a:endParaRPr/>
          </a:p>
          <a:p xmlns:a="http://schemas.openxmlformats.org/drawingml/2006/main">
            <a:pPr marL="0" lvl="0" indent="0" algn="l">
              <a:spcBef>
                <a:spcPts val="0"/>
              </a:spcBef>
              <a:spcAft>
                <a:spcPts val="0"/>
              </a:spcAft>
              <a:buNone/>
            </a:pPr>
            <a:r>
              <a:rPr sz="1200"/>
              <a:t>IRRIG26: The before-after study included 173 uncoated AMS 800 procedures in 164 men: 59 gentamicin-containing and 114 gentamicin-free. Ninety-day SSI occurred in 1/59 (1.7%) and 2/114 (1.8%), respectively; the risk difference was +0.1 percentage points (95% CI -7.4 to +4.7). No significant difference was detected. Only three SSIs occurred. The interval allows clinically relevant benefit or harm, so this is not equivalence. Device immersion and wound irrigation changed together; saline immersion and Betadine-containing irrigation continued. Broad IV prophylaxis and ten-day oral antibiotics continued, with an oral-drug change in the later era. It cannot establish that no preparation is needed, that oral prophylaxis is unnecessary, or that the same result applies to coated AMS 800 or ContiClassic. https://doi.org/10.3390/antibiotics15090894</a:t>
            </a:r>
            <a:endParaRPr/>
          </a:p>
          <a:p xmlns:a="http://schemas.openxmlformats.org/drawingml/2006/main">
            <a:pPr marL="0" lvl="0" indent="0" algn="l">
              <a:spcBef>
                <a:spcPts val="0"/>
              </a:spcBef>
              <a:spcAft>
                <a:spcPts val="0"/>
              </a:spcAft>
              <a:buNone/>
            </a:pPr>
            <a:r>
              <a:rPr sz="1200"/>
              <a:t/>
            </a:r>
            <a:endParaRPr/>
          </a:p>
          <a:p xmlns:a="http://schemas.openxmlformats.org/drawingml/2006/main">
            <a:pPr marL="0" lvl="0" indent="0" algn="l">
              <a:spcBef>
                <a:spcPts val="0"/>
              </a:spcBef>
              <a:spcAft>
                <a:spcPts val="0"/>
              </a:spcAft>
              <a:buNone/>
            </a:pPr>
            <a:r>
              <a:rPr sz="1200"/>
              <a:t>Yeung 2013 is still a skin-culture surrogate trial, not an AUS infection/duration trial: https://pubmed.ncbi.nlm.nih.gov/23164373/</a:t>
            </a:r>
            <a:endParaRPr/>
          </a:p>
          <a:p xmlns:a="http://schemas.openxmlformats.org/drawingml/2006/main">
            <a:pPr marL="0" lvl="0" indent="0" algn="l">
              <a:spcBef>
                <a:spcPts val="0"/>
              </a:spcBef>
              <a:spcAft>
                <a:spcPts val="0"/>
              </a:spcAft>
              <a:buNone/>
            </a:pPr>
            <a:r>
              <a:rPr sz="1200"/>
              <a:t>Bourgi 2024 remains in the bibliography as an earlier sequential preparation study: https://tau.amegroups.org/article/view/130351/html</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rPr sz="1200"/>
              <a:t>Evidence gaps preserved from section 7 of the manuscript. No new clinical thresholds or device superiority claims are introduced.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rPr sz="1200"/>
              <a:t>Linked source dictionary, checked 5 October 2026:</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BAUS25 https://doi.org/10.1111/bju.16726</a:t>
            </a:r>
            <a:endParaRPr/>
          </a:p>
          <a:p xmlns:a="http://schemas.openxmlformats.org/drawingml/2006/main">
            <a:pPr marL="0" lvl="0" indent="0" algn="l">
              <a:spcBef>
                <a:spcPts val="0"/>
              </a:spcBef>
              <a:spcAft>
                <a:spcPts val="0"/>
              </a:spcAft>
              <a:buNone/>
            </a:pPr>
            <a:r>
              <a:t>EAU26 https://uroweb.org/guidelines/management-of-non-neurogenic-male-luts/chapter/disease-management</a:t>
            </a:r>
            <a:endParaRPr sz="1200"/>
          </a:p>
          <a:p xmlns:a="http://schemas.openxmlformats.org/drawingml/2006/main">
            <a:pPr marL="0" lvl="0" indent="0" algn="l">
              <a:spcBef>
                <a:spcPts val="0"/>
              </a:spcBef>
              <a:spcAft>
                <a:spcPts val="0"/>
              </a:spcAft>
              <a:buNone/>
            </a:pPr>
            <a:r>
              <a:rPr sz="1200"/>
              <a:t>AUA24 https://www.auanet.org/documents/Guidelines/PDF/2024%20Guidelines/IPT%20Unabridged%20Final%206-18-24.pdf</a:t>
            </a:r>
            <a:endParaRPr/>
          </a:p>
          <a:p xmlns:a="http://schemas.openxmlformats.org/drawingml/2006/main">
            <a:pPr marL="0" lvl="0" indent="0" algn="l">
              <a:spcBef>
                <a:spcPts val="0"/>
              </a:spcBef>
              <a:spcAft>
                <a:spcPts val="0"/>
              </a:spcAft>
              <a:buNone/>
            </a:pPr>
            <a:r>
              <a:t>EAUSTR26 https://uroweb.org/guidelines/urethral-strictures/chapter/disease-management-in-males</a:t>
            </a:r>
            <a:endParaRPr sz="1200"/>
          </a:p>
          <a:p xmlns:a="http://schemas.openxmlformats.org/drawingml/2006/main">
            <a:pPr marL="0" lvl="0" indent="0" algn="l">
              <a:spcBef>
                <a:spcPts val="0"/>
              </a:spcBef>
              <a:spcAft>
                <a:spcPts val="0"/>
              </a:spcAft>
              <a:buNone/>
            </a:pPr>
            <a:r>
              <a:rPr sz="1200"/>
              <a:t>ICS16 https://www.ics.org/folder/standardisation/current-ics-standardisations/d/artificial-urinary-sphincter-report-of-the-2015-consensus-conference/download</a:t>
            </a:r>
            <a:endParaRPr/>
          </a:p>
          <a:p xmlns:a="http://schemas.openxmlformats.org/drawingml/2006/main">
            <a:pPr marL="0" lvl="0" indent="0" algn="l">
              <a:spcBef>
                <a:spcPts val="0"/>
              </a:spcBef>
              <a:spcAft>
                <a:spcPts val="0"/>
              </a:spcAft>
              <a:buNone/>
            </a:pPr>
            <a:r>
              <a:t>AP23 https://doi.org/10.1111/iju.15083</a:t>
            </a:r>
            <a:endParaRPr sz="1200"/>
          </a:p>
          <a:p xmlns:a="http://schemas.openxmlformats.org/drawingml/2006/main">
            <a:pPr marL="0" lvl="0" indent="0" algn="l">
              <a:spcBef>
                <a:spcPts val="0"/>
              </a:spcBef>
              <a:spcAft>
                <a:spcPts val="0"/>
              </a:spcAft>
              <a:buNone/>
            </a:pPr>
            <a:r>
              <a:rPr sz="1200"/>
              <a:t>CCIFU https://www.rigicon.com/files/e-labeling/ContiClassic-IFU.pdf</a:t>
            </a:r>
            <a:endParaRPr/>
          </a:p>
          <a:p xmlns:a="http://schemas.openxmlformats.org/drawingml/2006/main">
            <a:pPr marL="0" lvl="0" indent="0" algn="l">
              <a:spcBef>
                <a:spcPts val="0"/>
              </a:spcBef>
              <a:spcAft>
                <a:spcPts val="0"/>
              </a:spcAft>
              <a:buNone/>
            </a:pPr>
            <a:r>
              <a:t>ICSUDS17 https://doi.org/10.1002/nau.23124</a:t>
            </a:r>
            <a:endParaRPr sz="1200"/>
          </a:p>
          <a:p xmlns:a="http://schemas.openxmlformats.org/drawingml/2006/main">
            <a:pPr marL="0" lvl="0" indent="0" algn="l">
              <a:spcBef>
                <a:spcPts val="0"/>
              </a:spcBef>
              <a:spcAft>
                <a:spcPts val="0"/>
              </a:spcAft>
              <a:buNone/>
            </a:pPr>
            <a:r>
              <a:rPr sz="1200"/>
              <a:t>AUAOAB24 https://doi.org/10.1097/JU.0000000000003985</a:t>
            </a:r>
            <a:endParaRPr/>
          </a:p>
          <a:p xmlns:a="http://schemas.openxmlformats.org/drawingml/2006/main">
            <a:pPr marL="0" lvl="0" indent="0" algn="l">
              <a:spcBef>
                <a:spcPts val="0"/>
              </a:spcBef>
              <a:spcAft>
                <a:spcPts val="0"/>
              </a:spcAft>
              <a:buNone/>
            </a:pPr>
            <a:r>
              <a:t>NICE https://www.nice.org.uk/guidance/ng125/chapter/recommendations</a:t>
            </a:r>
            <a:endParaRPr sz="1200"/>
          </a:p>
          <a:p xmlns:a="http://schemas.openxmlformats.org/drawingml/2006/main">
            <a:pPr marL="0" lvl="0" indent="0" algn="l">
              <a:spcBef>
                <a:spcPts val="0"/>
              </a:spcBef>
              <a:spcAft>
                <a:spcPts val="0"/>
              </a:spcAft>
              <a:buNone/>
            </a:pPr>
            <a:r>
              <a:rPr sz="1200"/>
              <a:t>WHO09 https://www.who.int/publications/i/item/9789241597906</a:t>
            </a:r>
            <a:endParaRPr/>
          </a:p>
          <a:p xmlns:a="http://schemas.openxmlformats.org/drawingml/2006/main">
            <a:pPr marL="0" lvl="0" indent="0" algn="l">
              <a:spcBef>
                <a:spcPts val="0"/>
              </a:spcBef>
              <a:spcAft>
                <a:spcPts val="0"/>
              </a:spcAft>
              <a:buNone/>
            </a:pPr>
            <a:r>
              <a:t>CHLORA26 https://www.medicines.org.uk/emc/product/101238/smpc</a:t>
            </a:r>
            <a:endParaRPr sz="1200"/>
          </a:p>
          <a:p xmlns:a="http://schemas.openxmlformats.org/drawingml/2006/main">
            <a:pPr marL="0" lvl="0" indent="0" algn="l">
              <a:spcBef>
                <a:spcPts val="0"/>
              </a:spcBef>
              <a:spcAft>
                <a:spcPts val="0"/>
              </a:spcAft>
              <a:buNone/>
            </a:pPr>
            <a:r>
              <a:rPr sz="1200"/>
              <a:t>IDSA19 https://www.idsociety.org/practice-guideline/asymptomatic-bacteriuria/</a:t>
            </a:r>
            <a:endParaRPr/>
          </a:p>
          <a:p xmlns:a="http://schemas.openxmlformats.org/drawingml/2006/main">
            <a:pPr marL="0" lvl="0" indent="0" algn="l">
              <a:spcBef>
                <a:spcPts val="0"/>
              </a:spcBef>
              <a:spcAft>
                <a:spcPts val="0"/>
              </a:spcAft>
              <a:buNone/>
            </a:pPr>
            <a:r>
              <a:t>AUAABX20 https://doi.org/10.1097/JU.0000000000000509</a:t>
            </a:r>
            <a:endParaRPr sz="1200"/>
          </a:p>
          <a:p xmlns:a="http://schemas.openxmlformats.org/drawingml/2006/main">
            <a:pPr marL="0" lvl="0" indent="0" algn="l">
              <a:spcBef>
                <a:spcPts val="0"/>
              </a:spcBef>
              <a:spcAft>
                <a:spcPts val="0"/>
              </a:spcAft>
              <a:buNone/>
            </a:pPr>
            <a:r>
              <a:rPr sz="1200"/>
              <a:t>CCSAFETY https://pubmed.ncbi.nlm.nih.gov/37543658/</a:t>
            </a:r>
            <a:endParaRPr/>
          </a:p>
          <a:p xmlns:a="http://schemas.openxmlformats.org/drawingml/2006/main">
            <a:pPr marL="0" lvl="0" indent="0" algn="l">
              <a:spcBef>
                <a:spcPts val="0"/>
              </a:spcBef>
              <a:spcAft>
                <a:spcPts val="0"/>
              </a:spcAft>
              <a:buNone/>
            </a:pPr>
            <a:r>
              <a:t>MASTER22 https://doi.org/10.3310/TBFZ0277</a:t>
            </a:r>
            <a:endParaRPr sz="1200"/>
          </a:p>
          <a:p xmlns:a="http://schemas.openxmlformats.org/drawingml/2006/main">
            <a:pPr marL="0" lvl="0" indent="0" algn="l">
              <a:spcBef>
                <a:spcPts val="0"/>
              </a:spcBef>
              <a:spcAft>
                <a:spcPts val="0"/>
              </a:spcAft>
              <a:buNone/>
            </a:pPr>
            <a:r>
              <a:rPr sz="1200"/>
              <a:t>UDS09 https://pubmed.ncbi.nlm.nih.gov/19371935/</a:t>
            </a:r>
            <a:endParaRPr/>
          </a:p>
          <a:p xmlns:a="http://schemas.openxmlformats.org/drawingml/2006/main">
            <a:pPr marL="0" lvl="0" indent="0" algn="l">
              <a:spcBef>
                <a:spcPts val="0"/>
              </a:spcBef>
              <a:spcAft>
                <a:spcPts val="0"/>
              </a:spcAft>
              <a:buNone/>
            </a:pPr>
            <a:r>
              <a:t>OAB11 https://pubmed.ncbi.nlm.nih.gov/21497853/</a:t>
            </a:r>
            <a:endParaRPr sz="1200"/>
          </a:p>
          <a:p xmlns:a="http://schemas.openxmlformats.org/drawingml/2006/main">
            <a:pPr marL="0" lvl="0" indent="0" algn="l">
              <a:spcBef>
                <a:spcPts val="0"/>
              </a:spcBef>
              <a:spcAft>
                <a:spcPts val="0"/>
              </a:spcAft>
              <a:buNone/>
            </a:pPr>
            <a:r>
              <a:rPr sz="1200"/>
              <a:t>DO24 https://doi.org/10.1002/bco2.442</a:t>
            </a:r>
            <a:endParaRPr/>
          </a:p>
          <a:p xmlns:a="http://schemas.openxmlformats.org/drawingml/2006/main">
            <a:pPr marL="0" lvl="0" indent="0" algn="l">
              <a:spcBef>
                <a:spcPts val="0"/>
              </a:spcBef>
              <a:spcAft>
                <a:spcPts val="0"/>
              </a:spcAft>
              <a:buNone/>
            </a:pPr>
            <a:r>
              <a:t>DOFAIL23 https://pubmed.ncbi.nlm.nih.gov/36921845/</a:t>
            </a:r>
            <a:endParaRPr sz="1200"/>
          </a:p>
          <a:p xmlns:a="http://schemas.openxmlformats.org/drawingml/2006/main">
            <a:pPr marL="0" lvl="0" indent="0" algn="l">
              <a:spcBef>
                <a:spcPts val="0"/>
              </a:spcBef>
              <a:spcAft>
                <a:spcPts val="0"/>
              </a:spcAft>
              <a:buNone/>
            </a:pPr>
            <a:r>
              <a:t>DU23 https://pubmed.ncbi.nlm.nih.gov/36906798/</a:t>
            </a:r>
            <a:endParaRPr sz="1200"/>
          </a:p>
          <a:p xmlns:a="http://schemas.openxmlformats.org/drawingml/2006/main">
            <a:pPr marL="0" lvl="0" indent="0" algn="l">
              <a:spcBef>
                <a:spcPts val="0"/>
              </a:spcBef>
              <a:spcAft>
                <a:spcPts val="0"/>
              </a:spcAft>
              <a:buNone/>
            </a:pPr>
            <a:r>
              <a:t>CIC23 https://pubmed.ncbi.nlm.nih.gov/36332702/</a:t>
            </a:r>
            <a:endParaRPr sz="1200"/>
          </a:p>
          <a:p xmlns:a="http://schemas.openxmlformats.org/drawingml/2006/main">
            <a:pPr marL="0" lvl="0" indent="0" algn="l">
              <a:spcBef>
                <a:spcPts val="0"/>
              </a:spcBef>
              <a:spcAft>
                <a:spcPts val="0"/>
              </a:spcAft>
              <a:buNone/>
            </a:pPr>
            <a:r>
              <a:rPr sz="1200"/>
              <a:t>CATH13 https://pubmed.ncbi.nlm.nih.gov/24074987/</a:t>
            </a:r>
            <a:endParaRPr/>
          </a:p>
          <a:p xmlns:a="http://schemas.openxmlformats.org/drawingml/2006/main">
            <a:pPr marL="0" lvl="0" indent="0" algn="l">
              <a:spcBef>
                <a:spcPts val="0"/>
              </a:spcBef>
              <a:spcAft>
                <a:spcPts val="0"/>
              </a:spcAft>
              <a:buNone/>
            </a:pPr>
            <a:r>
              <a:rPr sz="1200"/>
              <a:t>UDS14 https://pubmed.ncbi.nlm.nih.gov/25483765/</a:t>
            </a:r>
            <a:endParaRPr/>
          </a:p>
          <a:p xmlns:a="http://schemas.openxmlformats.org/drawingml/2006/main">
            <a:pPr marL="0" lvl="0" indent="0" algn="l">
              <a:spcBef>
                <a:spcPts val="0"/>
              </a:spcBef>
              <a:spcAft>
                <a:spcPts val="0"/>
              </a:spcAft>
              <a:buNone/>
            </a:pPr>
            <a:r>
              <a:rPr sz="1200"/>
              <a:t>RT22 https://doi.org/10.3389/fsurg.2022.825239</a:t>
            </a:r>
            <a:endParaRPr/>
          </a:p>
          <a:p xmlns:a="http://schemas.openxmlformats.org/drawingml/2006/main">
            <a:pPr marL="0" lvl="0" indent="0" algn="l">
              <a:spcBef>
                <a:spcPts val="0"/>
              </a:spcBef>
              <a:spcAft>
                <a:spcPts val="0"/>
              </a:spcAft>
              <a:buNone/>
            </a:pPr>
            <a:r>
              <a:rPr sz="1200"/>
              <a:t>URETH26 https://pubmed.ncbi.nlm.nih.gov/41022035/</a:t>
            </a:r>
            <a:endParaRPr/>
          </a:p>
          <a:p xmlns:a="http://schemas.openxmlformats.org/drawingml/2006/main">
            <a:pPr marL="0" lvl="0" indent="0" algn="l">
              <a:spcBef>
                <a:spcPts val="0"/>
              </a:spcBef>
              <a:spcAft>
                <a:spcPts val="0"/>
              </a:spcAft>
              <a:buNone/>
            </a:pPr>
            <a:r>
              <a:rPr sz="1200"/>
              <a:t>TC20 https://doi.org/10.5489/cuaj.6431</a:t>
            </a:r>
            <a:endParaRPr/>
          </a:p>
          <a:p xmlns:a="http://schemas.openxmlformats.org/drawingml/2006/main">
            <a:pPr marL="0" lvl="0" indent="0" algn="l">
              <a:spcBef>
                <a:spcPts val="0"/>
              </a:spcBef>
              <a:spcAft>
                <a:spcPts val="0"/>
              </a:spcAft>
              <a:buNone/>
            </a:pPr>
            <a:r>
              <a:rPr sz="1200"/>
              <a:t>TC23 https://pubmed.ncbi.nlm.nih.gov/36749394/</a:t>
            </a:r>
            <a:endParaRPr/>
          </a:p>
          <a:p xmlns:a="http://schemas.openxmlformats.org/drawingml/2006/main">
            <a:pPr marL="0" lvl="0" indent="0" algn="l">
              <a:spcBef>
                <a:spcPts val="0"/>
              </a:spcBef>
              <a:spcAft>
                <a:spcPts val="0"/>
              </a:spcAft>
              <a:buNone/>
            </a:pPr>
            <a:r>
              <a:rPr sz="1200"/>
              <a:t>ATROPHY20 https://doi.org/10.21037/tau.2019.07.18</a:t>
            </a:r>
            <a:endParaRPr/>
          </a:p>
          <a:p xmlns:a="http://schemas.openxmlformats.org/drawingml/2006/main">
            <a:pPr marL="0" lvl="0" indent="0" algn="l">
              <a:spcBef>
                <a:spcPts val="0"/>
              </a:spcBef>
              <a:spcAft>
                <a:spcPts val="0"/>
              </a:spcAft>
              <a:buNone/>
            </a:pPr>
            <a:r>
              <a:rPr sz="1200"/>
              <a:t>PREP24 https://tau.amegroups.org/article/view/130351/html</a:t>
            </a:r>
            <a:endParaRPr/>
          </a:p>
          <a:p xmlns:a="http://schemas.openxmlformats.org/drawingml/2006/main">
            <a:pPr marL="0" lvl="0" indent="0" algn="l">
              <a:spcBef>
                <a:spcPts val="0"/>
              </a:spcBef>
              <a:spcAft>
                <a:spcPts val="0"/>
              </a:spcAft>
              <a:buNone/>
            </a:pPr>
            <a:r>
              <a:rPr sz="1200"/>
              <a:t>YEUNG13 https://pubmed.ncbi.nlm.nih.gov/23164373/</a:t>
            </a:r>
            <a:endParaRPr/>
          </a:p>
          <a:p xmlns:a="http://schemas.openxmlformats.org/drawingml/2006/main">
            <a:pPr marL="0" lvl="0" indent="0" algn="l">
              <a:spcBef>
                <a:spcPts val="0"/>
              </a:spcBef>
              <a:spcAft>
                <a:spcPts val="0"/>
              </a:spcAft>
              <a:buNone/>
            </a:pPr>
            <a:r>
              <a:rPr sz="1200"/>
              <a:t>ABX18 https://doi.org/10.1016/j.urology.2017.07.064</a:t>
            </a:r>
            <a:endParaRPr/>
          </a:p>
          <a:p xmlns:a="http://schemas.openxmlformats.org/drawingml/2006/main">
            <a:pPr marL="0" lvl="0" indent="0" algn="l">
              <a:spcBef>
                <a:spcPts val="0"/>
              </a:spcBef>
              <a:spcAft>
                <a:spcPts val="0"/>
              </a:spcAft>
              <a:buNone/>
            </a:pPr>
            <a:r>
              <a:rPr sz="1200"/>
              <a:t>TOUCH23 https://doi.org/10.5152/tud.2023.22136</a:t>
            </a:r>
            <a:endParaRPr/>
          </a:p>
          <a:p xmlns:a="http://schemas.openxmlformats.org/drawingml/2006/main">
            <a:pPr marL="0" lvl="0" indent="0" algn="l">
              <a:spcBef>
                <a:spcPts val="0"/>
              </a:spcBef>
              <a:spcAft>
                <a:spcPts val="0"/>
              </a:spcAft>
              <a:buNone/>
            </a:pPr>
            <a:r>
              <a:rPr sz="1200"/>
              <a:t>LINDER15 https://pubmed.ncbi.nlm.nih.gov/26135815/</a:t>
            </a:r>
            <a:endParaRPr/>
          </a:p>
          <a:p xmlns:a="http://schemas.openxmlformats.org/drawingml/2006/main">
            <a:pPr marL="0" lvl="0" indent="0" algn="l">
              <a:spcBef>
                <a:spcPts val="0"/>
              </a:spcBef>
              <a:spcAft>
                <a:spcPts val="0"/>
              </a:spcAft>
              <a:buNone/>
            </a:pPr>
            <a:r>
              <a:rPr sz="1200"/>
              <a:t>AUSCO26 https://pmc.ncbi.nlm.nih.gov/articles/PMC12794701/</a:t>
            </a:r>
            <a:endParaRPr/>
          </a:p>
          <a:p xmlns:a="http://schemas.openxmlformats.org/drawingml/2006/main">
            <a:pPr marL="0" lvl="0" indent="0" algn="l">
              <a:spcBef>
                <a:spcPts val="0"/>
              </a:spcBef>
              <a:spcAft>
                <a:spcPts val="0"/>
              </a:spcAft>
              <a:buNone/>
            </a:pPr>
            <a:r>
              <a:rPr sz="1200"/>
              <a:t>AUASTATUS26 https://helpdesk.auanet.org/hc/en-us/articles/40948838469143-Guidelines</a:t>
            </a:r>
            <a:endParaRPr/>
          </a:p>
          <a:p xmlns:a="http://schemas.openxmlformats.org/drawingml/2006/main">
            <a:pPr marL="0" lvl="0" indent="0" algn="l">
              <a:spcBef>
                <a:spcPts val="0"/>
              </a:spcBef>
              <a:spcAft>
                <a:spcPts val="0"/>
              </a:spcAft>
              <a:buNone/>
            </a:pPr>
            <a:r>
              <a:rPr sz="1200"/>
              <a:t>BAUSDAY26 https://journals.sagepub.com/doi/full/10.1177/20514158261451299</a:t>
            </a:r>
            <a:endParaRPr/>
          </a:p>
          <a:p xmlns:a="http://schemas.openxmlformats.org/drawingml/2006/main">
            <a:pPr marL="0" lvl="0" indent="0" algn="l">
              <a:spcBef>
                <a:spcPts val="0"/>
              </a:spcBef>
              <a:spcAft>
                <a:spcPts val="0"/>
              </a:spcAft>
              <a:buNone/>
            </a:pPr>
            <a:r>
              <a:rPr sz="1200"/>
              <a:t>BAUSSCI26 https://journals.sagepub.com/doi/full/10.1177/20514158261451299</a:t>
            </a:r>
            <a:endParaRPr/>
          </a:p>
          <a:p xmlns:a="http://schemas.openxmlformats.org/drawingml/2006/main">
            <a:pPr marL="0" lvl="0" indent="0" algn="l">
              <a:spcBef>
                <a:spcPts val="0"/>
              </a:spcBef>
              <a:spcAft>
                <a:spcPts val="0"/>
              </a:spcAft>
              <a:buNone/>
            </a:pPr>
            <a:r>
              <a:rPr sz="1200"/>
              <a:t>AUAUDS26 https://doi.org/10.1097/01.JU.0001191316.72449.22.22</a:t>
            </a:r>
            <a:endParaRPr/>
          </a:p>
          <a:p xmlns:a="http://schemas.openxmlformats.org/drawingml/2006/main">
            <a:pPr marL="0" lvl="0" indent="0" algn="l">
              <a:spcBef>
                <a:spcPts val="0"/>
              </a:spcBef>
              <a:spcAft>
                <a:spcPts val="0"/>
              </a:spcAft>
              <a:buNone/>
            </a:pPr>
            <a:r>
              <a:rPr sz="1200"/>
              <a:t>AUAABX26 https://doi.org/10.1097/01.JU.0001191316.72449.22.18</a:t>
            </a:r>
            <a:endParaRPr/>
          </a:p>
          <a:p xmlns:a="http://schemas.openxmlformats.org/drawingml/2006/main">
            <a:pPr marL="0" lvl="0" indent="0" algn="l">
              <a:spcBef>
                <a:spcPts val="0"/>
              </a:spcBef>
              <a:spcAft>
                <a:spcPts val="0"/>
              </a:spcAft>
              <a:buNone/>
            </a:pPr>
            <a:r>
              <a:rPr sz="1200"/>
              <a:t>AUASAFER26 https://doi.org/10.1097/01.JU.0001191316.72449.22.17</a:t>
            </a:r>
            <a:endParaRPr/>
          </a:p>
          <a:p xmlns:a="http://schemas.openxmlformats.org/drawingml/2006/main">
            <a:pPr marL="0" lvl="0" indent="0" algn="l">
              <a:spcBef>
                <a:spcPts val="0"/>
              </a:spcBef>
              <a:spcAft>
                <a:spcPts val="0"/>
              </a:spcAft>
              <a:buNone/>
            </a:pPr>
            <a:r>
              <a:rPr sz="1200"/>
              <a:t>MASTER26 https://doi.org/10.1016/j.euf.2026.07.012</a:t>
            </a:r>
            <a:endParaRPr/>
          </a:p>
          <a:p xmlns:a="http://schemas.openxmlformats.org/drawingml/2006/main">
            <a:pPr marL="0" lvl="0" indent="0" algn="l">
              <a:spcBef>
                <a:spcPts val="0"/>
              </a:spcBef>
              <a:spcAft>
                <a:spcPts val="0"/>
              </a:spcAft>
              <a:buNone/>
            </a:pPr>
            <a:r>
              <a:rPr sz="1200"/>
              <a:t>URETHMETA26 https://doi.org/10.1016/j.urology.2026.05.024</a:t>
            </a:r>
            <a:endParaRPr/>
          </a:p>
          <a:p xmlns:a="http://schemas.openxmlformats.org/drawingml/2006/main">
            <a:pPr marL="0" lvl="0" indent="0" algn="l">
              <a:spcBef>
                <a:spcPts val="0"/>
              </a:spcBef>
              <a:spcAft>
                <a:spcPts val="0"/>
              </a:spcAft>
              <a:buNone/>
            </a:pPr>
            <a:r>
              <a:rPr sz="1200"/>
              <a:t>IRRIG26 https://doi.org/10.3390/antibiotics15090894</a:t>
            </a:r>
            <a:endParaRPr/>
          </a:p>
          <a:p xmlns:a="http://schemas.openxmlformats.org/drawingml/2006/main">
            <a:pPr marL="0" lvl="0" indent="0" algn="l">
              <a:spcBef>
                <a:spcPts val="0"/>
              </a:spcBef>
              <a:spcAft>
                <a:spcPts val="0"/>
              </a:spcAft>
              <a:buNone/>
            </a:pPr>
            <a:r>
              <a:rPr sz="1200"/>
              <a:t>DAYMETA26 https://doi.org/10.1007/s11255-025-04711-y</a:t>
            </a:r>
            <a:endParaRPr/>
          </a:p>
          <a:p xmlns:a="http://schemas.openxmlformats.org/drawingml/2006/main">
            <a:pPr marL="0" lvl="0" indent="0" algn="l">
              <a:spcBef>
                <a:spcPts val="0"/>
              </a:spcBef>
              <a:spcAft>
                <a:spcPts val="0"/>
              </a:spcAft>
              <a:buNone/>
            </a:pPr>
            <a:r>
              <a:rPr sz="1200"/>
              <a:t>DAYCASE26 https://doi.org/10.1016/j.fjurol.2026.103135</a:t>
            </a:r>
            <a:endParaRPr/>
          </a:p>
          <a:p xmlns:a="http://schemas.openxmlformats.org/drawingml/2006/main">
            <a:pPr marL="0" lvl="0" indent="0" algn="l">
              <a:spcBef>
                <a:spcPts val="0"/>
              </a:spcBef>
              <a:spcAft>
                <a:spcPts val="0"/>
              </a:spcAft>
              <a:buNone/>
            </a:pPr>
            <a:r>
              <a:rPr sz="1200"/>
              <a:t>FRAIL26 https://doi.org/10.1097/ju.0000000000005102</a:t>
            </a:r>
            <a:endParaRPr/>
          </a:p>
          <a:p xmlns:a="http://schemas.openxmlformats.org/drawingml/2006/main">
            <a:pPr marL="0" lvl="0" indent="0" algn="l">
              <a:spcBef>
                <a:spcPts val="0"/>
              </a:spcBef>
              <a:spcAft>
                <a:spcPts val="0"/>
              </a:spcAft>
              <a:buNone/>
            </a:pPr>
            <a:r>
              <a:rPr sz="1200"/>
              <a:t>PAD26 https://doi.org/10.1111/bju.70224</a:t>
            </a:r>
            <a:endParaRPr/>
          </a:p>
          <a:p xmlns:a="http://schemas.openxmlformats.org/drawingml/2006/main">
            <a:pPr marL="0" lvl="0" indent="0" algn="l">
              <a:spcBef>
                <a:spcPts val="0"/>
              </a:spcBef>
              <a:spcAft>
                <a:spcPts val="0"/>
              </a:spcAft>
              <a:buNone/>
            </a:pPr>
            <a:r>
              <a:rPr sz="1200"/>
              <a:t>PRBFAT26 https://doi.org/10.1016/j.urology.2025.12.031</a:t>
            </a:r>
            <a:endParaRPr/>
          </a:p>
          <a:p xmlns:a="http://schemas.openxmlformats.org/drawingml/2006/main">
            <a:pPr marL="0" lvl="0" indent="0" algn="l">
              <a:spcBef>
                <a:spcPts val="0"/>
              </a:spcBef>
              <a:spcAft>
                <a:spcPts val="0"/>
              </a:spcAft>
              <a:buNone/>
            </a:pPr>
            <a:r>
              <a:rPr sz="1200"/>
              <a:t>REGRET26 https://doi.org/10.1016/j.euros.2025.12.006</a:t>
            </a:r>
            <a:endParaRPr/>
          </a:p>
          <a:p xmlns:a="http://schemas.openxmlformats.org/drawingml/2006/main">
            <a:pPr marL="0" lvl="0" indent="0" algn="l">
              <a:spcBef>
                <a:spcPts val="0"/>
              </a:spcBef>
              <a:spcAft>
                <a:spcPts val="0"/>
              </a:spcAft>
              <a:buNone/>
            </a:pPr>
            <a:r>
              <a:rPr sz="1200"/>
              <a:t>INSTR26 https://doi.org/10.1002/nau.70417</a:t>
            </a:r>
            <a:endParaRPr/>
          </a:p>
          <a:p xmlns:a="http://schemas.openxmlformats.org/drawingml/2006/main">
            <a:pPr marL="0" lvl="0" indent="0" algn="l">
              <a:spcBef>
                <a:spcPts val="0"/>
              </a:spcBef>
              <a:spcAft>
                <a:spcPts val="0"/>
              </a:spcAft>
              <a:buNone/>
            </a:pPr>
            <a:r>
              <a:rPr sz="1200"/>
              <a:t>EROSION26 https://doi.org/10.1007/s00345-026-06629-1</a:t>
            </a:r>
            <a:endParaRPr/>
          </a:p>
          <a:p xmlns:a="http://schemas.openxmlformats.org/drawingml/2006/main">
            <a:pPr marL="0" lvl="0" indent="0" algn="l">
              <a:spcBef>
                <a:spcPts val="0"/>
              </a:spcBef>
              <a:spcAft>
                <a:spcPts val="0"/>
              </a:spcAft>
              <a:buNone/>
            </a:pPr>
            <a:r>
              <a:rPr sz="1200"/>
              <a:t>DEVICE26 https://doi.org/10.1002/nau.70400</a:t>
            </a:r>
            <a:endParaRPr/>
          </a:p>
          <a:p xmlns:a="http://schemas.openxmlformats.org/drawingml/2006/main">
            <a:pPr marL="0" lvl="0" indent="0" algn="l">
              <a:spcBef>
                <a:spcPts val="0"/>
              </a:spcBef>
              <a:spcAft>
                <a:spcPts val="0"/>
              </a:spcAft>
              <a:buNone/>
            </a:pPr>
            <a:r>
              <a:rPr sz="1200"/>
              <a:t>SECOND26 https://doi.org/10.1590/s1677-5538.ibju.2025.0374</a:t>
            </a:r>
            <a:endParaRPr/>
          </a:p>
          <a:p xmlns:a="http://schemas.openxmlformats.org/drawingml/2006/main">
            <a:pPr marL="0" lvl="0" indent="0" algn="l">
              <a:spcBef>
                <a:spcPts val="0"/>
              </a:spcBef>
              <a:spcAft>
                <a:spcPts val="0"/>
              </a:spcAft>
              <a:buNone/>
            </a:pPr>
            <a:r>
              <a:rPr sz="1200"/>
              <a:t>TCSYS25 https://doi.org/10.1016/j.urology.2025.11.222</a:t>
            </a:r>
            <a:endParaRPr/>
          </a:p>
          <a:p xmlns:a="http://schemas.openxmlformats.org/drawingml/2006/main">
            <a:pPr marL="0" lvl="0" indent="0" algn="l">
              <a:spcBef>
                <a:spcPts val="0"/>
              </a:spcBef>
              <a:spcAft>
                <a:spcPts val="0"/>
              </a:spcAft>
              <a:buNone/>
            </a:pPr>
            <a:r>
              <a:rPr sz="1200"/>
              <a:t>RTTIME25 https://doi.org/10.1007/s00345-025-05625-1</a:t>
            </a:r>
            <a:endParaRPr/>
          </a:p>
          <a:p xmlns:a="http://schemas.openxmlformats.org/drawingml/2006/main">
            <a:pPr marL="0" lvl="0" indent="0" algn="l">
              <a:spcBef>
                <a:spcPts val="0"/>
              </a:spcBef>
              <a:spcAft>
                <a:spcPts val="0"/>
              </a:spcAft>
              <a:buNone/>
            </a:pPr>
            <a:r>
              <a:rPr sz="1200"/>
              <a:t>UROACTIVE26 https://doi.org/10.1097/ju.0000000000004945</a:t>
            </a:r>
            <a:endParaRPr/>
          </a:p>
          <a:p xmlns:a="http://schemas.openxmlformats.org/drawingml/2006/main">
            <a:pPr marL="0" lvl="0" indent="0" algn="l">
              <a:spcBef>
                <a:spcPts val="0"/>
              </a:spcBef>
              <a:spcAft>
                <a:spcPts val="0"/>
              </a:spcAft>
              <a:buNone/>
            </a:pPr>
            <a:r>
              <a:rPr sz="1200"/>
              <a:t>REPORT26 https://doi.org/10.1007/s00345-026-06246-y</a:t>
            </a:r>
            <a:endParaRPr/>
          </a:p>
          <a:p xmlns:a="http://schemas.openxmlformats.org/drawingml/2006/main">
            <a:pPr marL="0" lvl="0" indent="0" algn="l">
              <a:spcBef>
                <a:spcPts val="0"/>
              </a:spcBef>
              <a:spcAft>
                <a:spcPts val="0"/>
              </a:spcAft>
              <a:buNone/>
            </a:pPr>
            <a:r>
              <a:rPr sz="1200"/>
              <a:t/>
            </a:r>
            <a:endParaRPr/>
          </a:p>
          <a:p xmlns:a="http://schemas.openxmlformats.org/drawingml/2006/main">
            <a:pPr marL="0" lvl="0" indent="0" algn="l">
              <a:spcBef>
                <a:spcPts val="0"/>
              </a:spcBef>
              <a:spcAft>
                <a:spcPts val="0"/>
              </a:spcAft>
              <a:buNone/>
            </a:pPr>
            <a:r>
              <a:rPr sz="1200"/>
              <a:t>2026 studies and access limits are detailed in the presenter guide and new reference slides. Older sources remain when they answer a different question.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rPr sz="1200"/>
              <a:t>Linked source dictionary, checked 5 October 2026:</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BAUS25 https://doi.org/10.1111/bju.16726</a:t>
            </a:r>
            <a:endParaRPr/>
          </a:p>
          <a:p xmlns:a="http://schemas.openxmlformats.org/drawingml/2006/main">
            <a:pPr marL="0" lvl="0" indent="0" algn="l">
              <a:spcBef>
                <a:spcPts val="0"/>
              </a:spcBef>
              <a:spcAft>
                <a:spcPts val="0"/>
              </a:spcAft>
              <a:buNone/>
            </a:pPr>
            <a:r>
              <a:t>EAU26 https://uroweb.org/guidelines/management-of-non-neurogenic-male-luts/chapter/disease-management</a:t>
            </a:r>
            <a:endParaRPr sz="1200"/>
          </a:p>
          <a:p xmlns:a="http://schemas.openxmlformats.org/drawingml/2006/main">
            <a:pPr marL="0" lvl="0" indent="0" algn="l">
              <a:spcBef>
                <a:spcPts val="0"/>
              </a:spcBef>
              <a:spcAft>
                <a:spcPts val="0"/>
              </a:spcAft>
              <a:buNone/>
            </a:pPr>
            <a:r>
              <a:rPr sz="1200"/>
              <a:t>AUA24 https://www.auanet.org/documents/Guidelines/PDF/2024%20Guidelines/IPT%20Unabridged%20Final%206-18-24.pdf</a:t>
            </a:r>
            <a:endParaRPr/>
          </a:p>
          <a:p xmlns:a="http://schemas.openxmlformats.org/drawingml/2006/main">
            <a:pPr marL="0" lvl="0" indent="0" algn="l">
              <a:spcBef>
                <a:spcPts val="0"/>
              </a:spcBef>
              <a:spcAft>
                <a:spcPts val="0"/>
              </a:spcAft>
              <a:buNone/>
            </a:pPr>
            <a:r>
              <a:t>EAUSTR26 https://uroweb.org/guidelines/urethral-strictures/chapter/disease-management-in-males</a:t>
            </a:r>
            <a:endParaRPr sz="1200"/>
          </a:p>
          <a:p xmlns:a="http://schemas.openxmlformats.org/drawingml/2006/main">
            <a:pPr marL="0" lvl="0" indent="0" algn="l">
              <a:spcBef>
                <a:spcPts val="0"/>
              </a:spcBef>
              <a:spcAft>
                <a:spcPts val="0"/>
              </a:spcAft>
              <a:buNone/>
            </a:pPr>
            <a:r>
              <a:rPr sz="1200"/>
              <a:t>ICS16 https://www.ics.org/folder/standardisation/current-ics-standardisations/d/artificial-urinary-sphincter-report-of-the-2015-consensus-conference/download</a:t>
            </a:r>
            <a:endParaRPr/>
          </a:p>
          <a:p xmlns:a="http://schemas.openxmlformats.org/drawingml/2006/main">
            <a:pPr marL="0" lvl="0" indent="0" algn="l">
              <a:spcBef>
                <a:spcPts val="0"/>
              </a:spcBef>
              <a:spcAft>
                <a:spcPts val="0"/>
              </a:spcAft>
              <a:buNone/>
            </a:pPr>
            <a:r>
              <a:t>AP23 https://doi.org/10.1111/iju.15083</a:t>
            </a:r>
            <a:endParaRPr sz="1200"/>
          </a:p>
          <a:p xmlns:a="http://schemas.openxmlformats.org/drawingml/2006/main">
            <a:pPr marL="0" lvl="0" indent="0" algn="l">
              <a:spcBef>
                <a:spcPts val="0"/>
              </a:spcBef>
              <a:spcAft>
                <a:spcPts val="0"/>
              </a:spcAft>
              <a:buNone/>
            </a:pPr>
            <a:r>
              <a:rPr sz="1200"/>
              <a:t>CCIFU https://www.rigicon.com/files/e-labeling/ContiClassic-IFU.pdf</a:t>
            </a:r>
            <a:endParaRPr/>
          </a:p>
          <a:p xmlns:a="http://schemas.openxmlformats.org/drawingml/2006/main">
            <a:pPr marL="0" lvl="0" indent="0" algn="l">
              <a:spcBef>
                <a:spcPts val="0"/>
              </a:spcBef>
              <a:spcAft>
                <a:spcPts val="0"/>
              </a:spcAft>
              <a:buNone/>
            </a:pPr>
            <a:r>
              <a:t>ICSUDS17 https://doi.org/10.1002/nau.23124</a:t>
            </a:r>
            <a:endParaRPr sz="1200"/>
          </a:p>
          <a:p xmlns:a="http://schemas.openxmlformats.org/drawingml/2006/main">
            <a:pPr marL="0" lvl="0" indent="0" algn="l">
              <a:spcBef>
                <a:spcPts val="0"/>
              </a:spcBef>
              <a:spcAft>
                <a:spcPts val="0"/>
              </a:spcAft>
              <a:buNone/>
            </a:pPr>
            <a:r>
              <a:rPr sz="1200"/>
              <a:t>AUAOAB24 https://doi.org/10.1097/JU.0000000000003985</a:t>
            </a:r>
            <a:endParaRPr/>
          </a:p>
          <a:p xmlns:a="http://schemas.openxmlformats.org/drawingml/2006/main">
            <a:pPr marL="0" lvl="0" indent="0" algn="l">
              <a:spcBef>
                <a:spcPts val="0"/>
              </a:spcBef>
              <a:spcAft>
                <a:spcPts val="0"/>
              </a:spcAft>
              <a:buNone/>
            </a:pPr>
            <a:r>
              <a:t>NICE https://www.nice.org.uk/guidance/ng125/chapter/recommendations</a:t>
            </a:r>
            <a:endParaRPr sz="1200"/>
          </a:p>
          <a:p xmlns:a="http://schemas.openxmlformats.org/drawingml/2006/main">
            <a:pPr marL="0" lvl="0" indent="0" algn="l">
              <a:spcBef>
                <a:spcPts val="0"/>
              </a:spcBef>
              <a:spcAft>
                <a:spcPts val="0"/>
              </a:spcAft>
              <a:buNone/>
            </a:pPr>
            <a:r>
              <a:rPr sz="1200"/>
              <a:t>WHO09 https://www.who.int/publications/i/item/9789241597906</a:t>
            </a:r>
            <a:endParaRPr/>
          </a:p>
          <a:p xmlns:a="http://schemas.openxmlformats.org/drawingml/2006/main">
            <a:pPr marL="0" lvl="0" indent="0" algn="l">
              <a:spcBef>
                <a:spcPts val="0"/>
              </a:spcBef>
              <a:spcAft>
                <a:spcPts val="0"/>
              </a:spcAft>
              <a:buNone/>
            </a:pPr>
            <a:r>
              <a:t>CHLORA26 https://www.medicines.org.uk/emc/product/101238/smpc</a:t>
            </a:r>
            <a:endParaRPr sz="1200"/>
          </a:p>
          <a:p xmlns:a="http://schemas.openxmlformats.org/drawingml/2006/main">
            <a:pPr marL="0" lvl="0" indent="0" algn="l">
              <a:spcBef>
                <a:spcPts val="0"/>
              </a:spcBef>
              <a:spcAft>
                <a:spcPts val="0"/>
              </a:spcAft>
              <a:buNone/>
            </a:pPr>
            <a:r>
              <a:rPr sz="1200"/>
              <a:t>IDSA19 https://www.idsociety.org/practice-guideline/asymptomatic-bacteriuria/</a:t>
            </a:r>
            <a:endParaRPr/>
          </a:p>
          <a:p xmlns:a="http://schemas.openxmlformats.org/drawingml/2006/main">
            <a:pPr marL="0" lvl="0" indent="0" algn="l">
              <a:spcBef>
                <a:spcPts val="0"/>
              </a:spcBef>
              <a:spcAft>
                <a:spcPts val="0"/>
              </a:spcAft>
              <a:buNone/>
            </a:pPr>
            <a:r>
              <a:t>AUAABX20 https://doi.org/10.1097/JU.0000000000000509</a:t>
            </a:r>
            <a:endParaRPr sz="1200"/>
          </a:p>
          <a:p xmlns:a="http://schemas.openxmlformats.org/drawingml/2006/main">
            <a:pPr marL="0" lvl="0" indent="0" algn="l">
              <a:spcBef>
                <a:spcPts val="0"/>
              </a:spcBef>
              <a:spcAft>
                <a:spcPts val="0"/>
              </a:spcAft>
              <a:buNone/>
            </a:pPr>
            <a:r>
              <a:rPr sz="1200"/>
              <a:t>CCSAFETY https://pubmed.ncbi.nlm.nih.gov/37543658/</a:t>
            </a:r>
            <a:endParaRPr/>
          </a:p>
          <a:p xmlns:a="http://schemas.openxmlformats.org/drawingml/2006/main">
            <a:pPr marL="0" lvl="0" indent="0" algn="l">
              <a:spcBef>
                <a:spcPts val="0"/>
              </a:spcBef>
              <a:spcAft>
                <a:spcPts val="0"/>
              </a:spcAft>
              <a:buNone/>
            </a:pPr>
            <a:r>
              <a:t>MASTER22 https://doi.org/10.3310/TBFZ0277</a:t>
            </a:r>
            <a:endParaRPr sz="1200"/>
          </a:p>
          <a:p xmlns:a="http://schemas.openxmlformats.org/drawingml/2006/main">
            <a:pPr marL="0" lvl="0" indent="0" algn="l">
              <a:spcBef>
                <a:spcPts val="0"/>
              </a:spcBef>
              <a:spcAft>
                <a:spcPts val="0"/>
              </a:spcAft>
              <a:buNone/>
            </a:pPr>
            <a:r>
              <a:rPr sz="1200"/>
              <a:t>UDS09 https://pubmed.ncbi.nlm.nih.gov/19371935/</a:t>
            </a:r>
            <a:endParaRPr/>
          </a:p>
          <a:p xmlns:a="http://schemas.openxmlformats.org/drawingml/2006/main">
            <a:pPr marL="0" lvl="0" indent="0" algn="l">
              <a:spcBef>
                <a:spcPts val="0"/>
              </a:spcBef>
              <a:spcAft>
                <a:spcPts val="0"/>
              </a:spcAft>
              <a:buNone/>
            </a:pPr>
            <a:r>
              <a:t>OAB11 https://pubmed.ncbi.nlm.nih.gov/21497853/</a:t>
            </a:r>
            <a:endParaRPr sz="1200"/>
          </a:p>
          <a:p xmlns:a="http://schemas.openxmlformats.org/drawingml/2006/main">
            <a:pPr marL="0" lvl="0" indent="0" algn="l">
              <a:spcBef>
                <a:spcPts val="0"/>
              </a:spcBef>
              <a:spcAft>
                <a:spcPts val="0"/>
              </a:spcAft>
              <a:buNone/>
            </a:pPr>
            <a:r>
              <a:rPr sz="1200"/>
              <a:t>DO24 https://doi.org/10.1002/bco2.442</a:t>
            </a:r>
            <a:endParaRPr/>
          </a:p>
          <a:p xmlns:a="http://schemas.openxmlformats.org/drawingml/2006/main">
            <a:pPr marL="0" lvl="0" indent="0" algn="l">
              <a:spcBef>
                <a:spcPts val="0"/>
              </a:spcBef>
              <a:spcAft>
                <a:spcPts val="0"/>
              </a:spcAft>
              <a:buNone/>
            </a:pPr>
            <a:r>
              <a:t>DOFAIL23 https://pubmed.ncbi.nlm.nih.gov/36921845/</a:t>
            </a:r>
            <a:endParaRPr sz="1200"/>
          </a:p>
          <a:p xmlns:a="http://schemas.openxmlformats.org/drawingml/2006/main">
            <a:pPr marL="0" lvl="0" indent="0" algn="l">
              <a:spcBef>
                <a:spcPts val="0"/>
              </a:spcBef>
              <a:spcAft>
                <a:spcPts val="0"/>
              </a:spcAft>
              <a:buNone/>
            </a:pPr>
            <a:r>
              <a:t>DU23 https://pubmed.ncbi.nlm.nih.gov/36906798/</a:t>
            </a:r>
            <a:endParaRPr sz="1200"/>
          </a:p>
          <a:p xmlns:a="http://schemas.openxmlformats.org/drawingml/2006/main">
            <a:pPr marL="0" lvl="0" indent="0" algn="l">
              <a:spcBef>
                <a:spcPts val="0"/>
              </a:spcBef>
              <a:spcAft>
                <a:spcPts val="0"/>
              </a:spcAft>
              <a:buNone/>
            </a:pPr>
            <a:r>
              <a:t>CIC23 https://pubmed.ncbi.nlm.nih.gov/36332702/</a:t>
            </a:r>
            <a:endParaRPr sz="1200"/>
          </a:p>
          <a:p xmlns:a="http://schemas.openxmlformats.org/drawingml/2006/main">
            <a:pPr marL="0" lvl="0" indent="0" algn="l">
              <a:spcBef>
                <a:spcPts val="0"/>
              </a:spcBef>
              <a:spcAft>
                <a:spcPts val="0"/>
              </a:spcAft>
              <a:buNone/>
            </a:pPr>
            <a:r>
              <a:rPr sz="1200"/>
              <a:t>CATH13 https://pubmed.ncbi.nlm.nih.gov/24074987/</a:t>
            </a:r>
            <a:endParaRPr/>
          </a:p>
          <a:p xmlns:a="http://schemas.openxmlformats.org/drawingml/2006/main">
            <a:pPr marL="0" lvl="0" indent="0" algn="l">
              <a:spcBef>
                <a:spcPts val="0"/>
              </a:spcBef>
              <a:spcAft>
                <a:spcPts val="0"/>
              </a:spcAft>
              <a:buNone/>
            </a:pPr>
            <a:r>
              <a:rPr sz="1200"/>
              <a:t>UDS14 https://pubmed.ncbi.nlm.nih.gov/25483765/</a:t>
            </a:r>
            <a:endParaRPr/>
          </a:p>
          <a:p xmlns:a="http://schemas.openxmlformats.org/drawingml/2006/main">
            <a:pPr marL="0" lvl="0" indent="0" algn="l">
              <a:spcBef>
                <a:spcPts val="0"/>
              </a:spcBef>
              <a:spcAft>
                <a:spcPts val="0"/>
              </a:spcAft>
              <a:buNone/>
            </a:pPr>
            <a:r>
              <a:rPr sz="1200"/>
              <a:t>RT22 https://doi.org/10.3389/fsurg.2022.825239</a:t>
            </a:r>
            <a:endParaRPr/>
          </a:p>
          <a:p xmlns:a="http://schemas.openxmlformats.org/drawingml/2006/main">
            <a:pPr marL="0" lvl="0" indent="0" algn="l">
              <a:spcBef>
                <a:spcPts val="0"/>
              </a:spcBef>
              <a:spcAft>
                <a:spcPts val="0"/>
              </a:spcAft>
              <a:buNone/>
            </a:pPr>
            <a:r>
              <a:rPr sz="1200"/>
              <a:t>URETH26 https://pubmed.ncbi.nlm.nih.gov/41022035/</a:t>
            </a:r>
            <a:endParaRPr/>
          </a:p>
          <a:p xmlns:a="http://schemas.openxmlformats.org/drawingml/2006/main">
            <a:pPr marL="0" lvl="0" indent="0" algn="l">
              <a:spcBef>
                <a:spcPts val="0"/>
              </a:spcBef>
              <a:spcAft>
                <a:spcPts val="0"/>
              </a:spcAft>
              <a:buNone/>
            </a:pPr>
            <a:r>
              <a:rPr sz="1200"/>
              <a:t>TC20 https://doi.org/10.5489/cuaj.6431</a:t>
            </a:r>
            <a:endParaRPr/>
          </a:p>
          <a:p xmlns:a="http://schemas.openxmlformats.org/drawingml/2006/main">
            <a:pPr marL="0" lvl="0" indent="0" algn="l">
              <a:spcBef>
                <a:spcPts val="0"/>
              </a:spcBef>
              <a:spcAft>
                <a:spcPts val="0"/>
              </a:spcAft>
              <a:buNone/>
            </a:pPr>
            <a:r>
              <a:rPr sz="1200"/>
              <a:t>TC23 https://pubmed.ncbi.nlm.nih.gov/36749394/</a:t>
            </a:r>
            <a:endParaRPr/>
          </a:p>
          <a:p xmlns:a="http://schemas.openxmlformats.org/drawingml/2006/main">
            <a:pPr marL="0" lvl="0" indent="0" algn="l">
              <a:spcBef>
                <a:spcPts val="0"/>
              </a:spcBef>
              <a:spcAft>
                <a:spcPts val="0"/>
              </a:spcAft>
              <a:buNone/>
            </a:pPr>
            <a:r>
              <a:rPr sz="1200"/>
              <a:t>ATROPHY20 https://doi.org/10.21037/tau.2019.07.18</a:t>
            </a:r>
            <a:endParaRPr/>
          </a:p>
          <a:p xmlns:a="http://schemas.openxmlformats.org/drawingml/2006/main">
            <a:pPr marL="0" lvl="0" indent="0" algn="l">
              <a:spcBef>
                <a:spcPts val="0"/>
              </a:spcBef>
              <a:spcAft>
                <a:spcPts val="0"/>
              </a:spcAft>
              <a:buNone/>
            </a:pPr>
            <a:r>
              <a:rPr sz="1200"/>
              <a:t>PREP24 https://tau.amegroups.org/article/view/130351/html</a:t>
            </a:r>
            <a:endParaRPr/>
          </a:p>
          <a:p xmlns:a="http://schemas.openxmlformats.org/drawingml/2006/main">
            <a:pPr marL="0" lvl="0" indent="0" algn="l">
              <a:spcBef>
                <a:spcPts val="0"/>
              </a:spcBef>
              <a:spcAft>
                <a:spcPts val="0"/>
              </a:spcAft>
              <a:buNone/>
            </a:pPr>
            <a:r>
              <a:rPr sz="1200"/>
              <a:t>YEUNG13 https://pubmed.ncbi.nlm.nih.gov/23164373/</a:t>
            </a:r>
            <a:endParaRPr/>
          </a:p>
          <a:p xmlns:a="http://schemas.openxmlformats.org/drawingml/2006/main">
            <a:pPr marL="0" lvl="0" indent="0" algn="l">
              <a:spcBef>
                <a:spcPts val="0"/>
              </a:spcBef>
              <a:spcAft>
                <a:spcPts val="0"/>
              </a:spcAft>
              <a:buNone/>
            </a:pPr>
            <a:r>
              <a:rPr sz="1200"/>
              <a:t>ABX18 https://doi.org/10.1016/j.urology.2017.07.064</a:t>
            </a:r>
            <a:endParaRPr/>
          </a:p>
          <a:p xmlns:a="http://schemas.openxmlformats.org/drawingml/2006/main">
            <a:pPr marL="0" lvl="0" indent="0" algn="l">
              <a:spcBef>
                <a:spcPts val="0"/>
              </a:spcBef>
              <a:spcAft>
                <a:spcPts val="0"/>
              </a:spcAft>
              <a:buNone/>
            </a:pPr>
            <a:r>
              <a:rPr sz="1200"/>
              <a:t>TOUCH23 https://doi.org/10.5152/tud.2023.22136</a:t>
            </a:r>
            <a:endParaRPr/>
          </a:p>
          <a:p xmlns:a="http://schemas.openxmlformats.org/drawingml/2006/main">
            <a:pPr marL="0" lvl="0" indent="0" algn="l">
              <a:spcBef>
                <a:spcPts val="0"/>
              </a:spcBef>
              <a:spcAft>
                <a:spcPts val="0"/>
              </a:spcAft>
              <a:buNone/>
            </a:pPr>
            <a:r>
              <a:rPr sz="1200"/>
              <a:t>LINDER15 https://pubmed.ncbi.nlm.nih.gov/26135815/</a:t>
            </a:r>
            <a:endParaRPr/>
          </a:p>
          <a:p xmlns:a="http://schemas.openxmlformats.org/drawingml/2006/main">
            <a:pPr marL="0" lvl="0" indent="0" algn="l">
              <a:spcBef>
                <a:spcPts val="0"/>
              </a:spcBef>
              <a:spcAft>
                <a:spcPts val="0"/>
              </a:spcAft>
              <a:buNone/>
            </a:pPr>
            <a:r>
              <a:rPr sz="1200"/>
              <a:t>AUSCO26 https://pmc.ncbi.nlm.nih.gov/articles/PMC12794701/</a:t>
            </a:r>
            <a:endParaRPr/>
          </a:p>
          <a:p xmlns:a="http://schemas.openxmlformats.org/drawingml/2006/main">
            <a:pPr marL="0" lvl="0" indent="0" algn="l">
              <a:spcBef>
                <a:spcPts val="0"/>
              </a:spcBef>
              <a:spcAft>
                <a:spcPts val="0"/>
              </a:spcAft>
              <a:buNone/>
            </a:pPr>
            <a:r>
              <a:rPr sz="1200"/>
              <a:t>AUASTATUS26 https://helpdesk.auanet.org/hc/en-us/articles/40948838469143-Guidelines</a:t>
            </a:r>
            <a:endParaRPr/>
          </a:p>
          <a:p xmlns:a="http://schemas.openxmlformats.org/drawingml/2006/main">
            <a:pPr marL="0" lvl="0" indent="0" algn="l">
              <a:spcBef>
                <a:spcPts val="0"/>
              </a:spcBef>
              <a:spcAft>
                <a:spcPts val="0"/>
              </a:spcAft>
              <a:buNone/>
            </a:pPr>
            <a:r>
              <a:rPr sz="1200"/>
              <a:t>BAUSDAY26 https://journals.sagepub.com/doi/full/10.1177/20514158261451299</a:t>
            </a:r>
            <a:endParaRPr/>
          </a:p>
          <a:p xmlns:a="http://schemas.openxmlformats.org/drawingml/2006/main">
            <a:pPr marL="0" lvl="0" indent="0" algn="l">
              <a:spcBef>
                <a:spcPts val="0"/>
              </a:spcBef>
              <a:spcAft>
                <a:spcPts val="0"/>
              </a:spcAft>
              <a:buNone/>
            </a:pPr>
            <a:r>
              <a:rPr sz="1200"/>
              <a:t>BAUSSCI26 https://journals.sagepub.com/doi/full/10.1177/20514158261451299</a:t>
            </a:r>
            <a:endParaRPr/>
          </a:p>
          <a:p xmlns:a="http://schemas.openxmlformats.org/drawingml/2006/main">
            <a:pPr marL="0" lvl="0" indent="0" algn="l">
              <a:spcBef>
                <a:spcPts val="0"/>
              </a:spcBef>
              <a:spcAft>
                <a:spcPts val="0"/>
              </a:spcAft>
              <a:buNone/>
            </a:pPr>
            <a:r>
              <a:rPr sz="1200"/>
              <a:t>AUAUDS26 https://doi.org/10.1097/01.JU.0001191316.72449.22.22</a:t>
            </a:r>
            <a:endParaRPr/>
          </a:p>
          <a:p xmlns:a="http://schemas.openxmlformats.org/drawingml/2006/main">
            <a:pPr marL="0" lvl="0" indent="0" algn="l">
              <a:spcBef>
                <a:spcPts val="0"/>
              </a:spcBef>
              <a:spcAft>
                <a:spcPts val="0"/>
              </a:spcAft>
              <a:buNone/>
            </a:pPr>
            <a:r>
              <a:rPr sz="1200"/>
              <a:t>AUAABX26 https://doi.org/10.1097/01.JU.0001191316.72449.22.18</a:t>
            </a:r>
            <a:endParaRPr/>
          </a:p>
          <a:p xmlns:a="http://schemas.openxmlformats.org/drawingml/2006/main">
            <a:pPr marL="0" lvl="0" indent="0" algn="l">
              <a:spcBef>
                <a:spcPts val="0"/>
              </a:spcBef>
              <a:spcAft>
                <a:spcPts val="0"/>
              </a:spcAft>
              <a:buNone/>
            </a:pPr>
            <a:r>
              <a:rPr sz="1200"/>
              <a:t>AUASAFER26 https://doi.org/10.1097/01.JU.0001191316.72449.22.17</a:t>
            </a:r>
            <a:endParaRPr/>
          </a:p>
          <a:p xmlns:a="http://schemas.openxmlformats.org/drawingml/2006/main">
            <a:pPr marL="0" lvl="0" indent="0" algn="l">
              <a:spcBef>
                <a:spcPts val="0"/>
              </a:spcBef>
              <a:spcAft>
                <a:spcPts val="0"/>
              </a:spcAft>
              <a:buNone/>
            </a:pPr>
            <a:r>
              <a:rPr sz="1200"/>
              <a:t>MASTER26 https://doi.org/10.1016/j.euf.2026.07.012</a:t>
            </a:r>
            <a:endParaRPr/>
          </a:p>
          <a:p xmlns:a="http://schemas.openxmlformats.org/drawingml/2006/main">
            <a:pPr marL="0" lvl="0" indent="0" algn="l">
              <a:spcBef>
                <a:spcPts val="0"/>
              </a:spcBef>
              <a:spcAft>
                <a:spcPts val="0"/>
              </a:spcAft>
              <a:buNone/>
            </a:pPr>
            <a:r>
              <a:rPr sz="1200"/>
              <a:t>URETHMETA26 https://doi.org/10.1016/j.urology.2026.05.024</a:t>
            </a:r>
            <a:endParaRPr/>
          </a:p>
          <a:p xmlns:a="http://schemas.openxmlformats.org/drawingml/2006/main">
            <a:pPr marL="0" lvl="0" indent="0" algn="l">
              <a:spcBef>
                <a:spcPts val="0"/>
              </a:spcBef>
              <a:spcAft>
                <a:spcPts val="0"/>
              </a:spcAft>
              <a:buNone/>
            </a:pPr>
            <a:r>
              <a:rPr sz="1200"/>
              <a:t>IRRIG26 https://doi.org/10.3390/antibiotics15090894</a:t>
            </a:r>
            <a:endParaRPr/>
          </a:p>
          <a:p xmlns:a="http://schemas.openxmlformats.org/drawingml/2006/main">
            <a:pPr marL="0" lvl="0" indent="0" algn="l">
              <a:spcBef>
                <a:spcPts val="0"/>
              </a:spcBef>
              <a:spcAft>
                <a:spcPts val="0"/>
              </a:spcAft>
              <a:buNone/>
            </a:pPr>
            <a:r>
              <a:rPr sz="1200"/>
              <a:t>DAYMETA26 https://doi.org/10.1007/s11255-025-04711-y</a:t>
            </a:r>
            <a:endParaRPr/>
          </a:p>
          <a:p xmlns:a="http://schemas.openxmlformats.org/drawingml/2006/main">
            <a:pPr marL="0" lvl="0" indent="0" algn="l">
              <a:spcBef>
                <a:spcPts val="0"/>
              </a:spcBef>
              <a:spcAft>
                <a:spcPts val="0"/>
              </a:spcAft>
              <a:buNone/>
            </a:pPr>
            <a:r>
              <a:rPr sz="1200"/>
              <a:t>DAYCASE26 https://doi.org/10.1016/j.fjurol.2026.103135</a:t>
            </a:r>
            <a:endParaRPr/>
          </a:p>
          <a:p xmlns:a="http://schemas.openxmlformats.org/drawingml/2006/main">
            <a:pPr marL="0" lvl="0" indent="0" algn="l">
              <a:spcBef>
                <a:spcPts val="0"/>
              </a:spcBef>
              <a:spcAft>
                <a:spcPts val="0"/>
              </a:spcAft>
              <a:buNone/>
            </a:pPr>
            <a:r>
              <a:rPr sz="1200"/>
              <a:t>FRAIL26 https://doi.org/10.1097/ju.0000000000005102</a:t>
            </a:r>
            <a:endParaRPr/>
          </a:p>
          <a:p xmlns:a="http://schemas.openxmlformats.org/drawingml/2006/main">
            <a:pPr marL="0" lvl="0" indent="0" algn="l">
              <a:spcBef>
                <a:spcPts val="0"/>
              </a:spcBef>
              <a:spcAft>
                <a:spcPts val="0"/>
              </a:spcAft>
              <a:buNone/>
            </a:pPr>
            <a:r>
              <a:rPr sz="1200"/>
              <a:t>PAD26 https://doi.org/10.1111/bju.70224</a:t>
            </a:r>
            <a:endParaRPr/>
          </a:p>
          <a:p xmlns:a="http://schemas.openxmlformats.org/drawingml/2006/main">
            <a:pPr marL="0" lvl="0" indent="0" algn="l">
              <a:spcBef>
                <a:spcPts val="0"/>
              </a:spcBef>
              <a:spcAft>
                <a:spcPts val="0"/>
              </a:spcAft>
              <a:buNone/>
            </a:pPr>
            <a:r>
              <a:rPr sz="1200"/>
              <a:t>PRBFAT26 https://doi.org/10.1016/j.urology.2025.12.031</a:t>
            </a:r>
            <a:endParaRPr/>
          </a:p>
          <a:p xmlns:a="http://schemas.openxmlformats.org/drawingml/2006/main">
            <a:pPr marL="0" lvl="0" indent="0" algn="l">
              <a:spcBef>
                <a:spcPts val="0"/>
              </a:spcBef>
              <a:spcAft>
                <a:spcPts val="0"/>
              </a:spcAft>
              <a:buNone/>
            </a:pPr>
            <a:r>
              <a:rPr sz="1200"/>
              <a:t>REGRET26 https://doi.org/10.1016/j.euros.2025.12.006</a:t>
            </a:r>
            <a:endParaRPr/>
          </a:p>
          <a:p xmlns:a="http://schemas.openxmlformats.org/drawingml/2006/main">
            <a:pPr marL="0" lvl="0" indent="0" algn="l">
              <a:spcBef>
                <a:spcPts val="0"/>
              </a:spcBef>
              <a:spcAft>
                <a:spcPts val="0"/>
              </a:spcAft>
              <a:buNone/>
            </a:pPr>
            <a:r>
              <a:rPr sz="1200"/>
              <a:t>INSTR26 https://doi.org/10.1002/nau.70417</a:t>
            </a:r>
            <a:endParaRPr/>
          </a:p>
          <a:p xmlns:a="http://schemas.openxmlformats.org/drawingml/2006/main">
            <a:pPr marL="0" lvl="0" indent="0" algn="l">
              <a:spcBef>
                <a:spcPts val="0"/>
              </a:spcBef>
              <a:spcAft>
                <a:spcPts val="0"/>
              </a:spcAft>
              <a:buNone/>
            </a:pPr>
            <a:r>
              <a:rPr sz="1200"/>
              <a:t>EROSION26 https://doi.org/10.1007/s00345-026-06629-1</a:t>
            </a:r>
            <a:endParaRPr/>
          </a:p>
          <a:p xmlns:a="http://schemas.openxmlformats.org/drawingml/2006/main">
            <a:pPr marL="0" lvl="0" indent="0" algn="l">
              <a:spcBef>
                <a:spcPts val="0"/>
              </a:spcBef>
              <a:spcAft>
                <a:spcPts val="0"/>
              </a:spcAft>
              <a:buNone/>
            </a:pPr>
            <a:r>
              <a:rPr sz="1200"/>
              <a:t>DEVICE26 https://doi.org/10.1002/nau.70400</a:t>
            </a:r>
            <a:endParaRPr/>
          </a:p>
          <a:p xmlns:a="http://schemas.openxmlformats.org/drawingml/2006/main">
            <a:pPr marL="0" lvl="0" indent="0" algn="l">
              <a:spcBef>
                <a:spcPts val="0"/>
              </a:spcBef>
              <a:spcAft>
                <a:spcPts val="0"/>
              </a:spcAft>
              <a:buNone/>
            </a:pPr>
            <a:r>
              <a:rPr sz="1200"/>
              <a:t>SECOND26 https://doi.org/10.1590/s1677-5538.ibju.2025.0374</a:t>
            </a:r>
            <a:endParaRPr/>
          </a:p>
          <a:p xmlns:a="http://schemas.openxmlformats.org/drawingml/2006/main">
            <a:pPr marL="0" lvl="0" indent="0" algn="l">
              <a:spcBef>
                <a:spcPts val="0"/>
              </a:spcBef>
              <a:spcAft>
                <a:spcPts val="0"/>
              </a:spcAft>
              <a:buNone/>
            </a:pPr>
            <a:r>
              <a:rPr sz="1200"/>
              <a:t>TCSYS25 https://doi.org/10.1016/j.urology.2025.11.222</a:t>
            </a:r>
            <a:endParaRPr/>
          </a:p>
          <a:p xmlns:a="http://schemas.openxmlformats.org/drawingml/2006/main">
            <a:pPr marL="0" lvl="0" indent="0" algn="l">
              <a:spcBef>
                <a:spcPts val="0"/>
              </a:spcBef>
              <a:spcAft>
                <a:spcPts val="0"/>
              </a:spcAft>
              <a:buNone/>
            </a:pPr>
            <a:r>
              <a:rPr sz="1200"/>
              <a:t>RTTIME25 https://doi.org/10.1007/s00345-025-05625-1</a:t>
            </a:r>
            <a:endParaRPr/>
          </a:p>
          <a:p xmlns:a="http://schemas.openxmlformats.org/drawingml/2006/main">
            <a:pPr marL="0" lvl="0" indent="0" algn="l">
              <a:spcBef>
                <a:spcPts val="0"/>
              </a:spcBef>
              <a:spcAft>
                <a:spcPts val="0"/>
              </a:spcAft>
              <a:buNone/>
            </a:pPr>
            <a:r>
              <a:rPr sz="1200"/>
              <a:t>UROACTIVE26 https://doi.org/10.1097/ju.0000000000004945</a:t>
            </a:r>
            <a:endParaRPr/>
          </a:p>
          <a:p xmlns:a="http://schemas.openxmlformats.org/drawingml/2006/main">
            <a:pPr marL="0" lvl="0" indent="0" algn="l">
              <a:spcBef>
                <a:spcPts val="0"/>
              </a:spcBef>
              <a:spcAft>
                <a:spcPts val="0"/>
              </a:spcAft>
              <a:buNone/>
            </a:pPr>
            <a:r>
              <a:rPr sz="1200"/>
              <a:t>REPORT26 https://doi.org/10.1007/s00345-026-06246-y</a:t>
            </a:r>
            <a:endParaRPr/>
          </a:p>
          <a:p xmlns:a="http://schemas.openxmlformats.org/drawingml/2006/main">
            <a:pPr marL="0" lvl="0" indent="0" algn="l">
              <a:spcBef>
                <a:spcPts val="0"/>
              </a:spcBef>
              <a:spcAft>
                <a:spcPts val="0"/>
              </a:spcAft>
              <a:buNone/>
            </a:pPr>
            <a:r>
              <a:rPr sz="1200"/>
              <a:t/>
            </a:r>
            <a:endParaRPr/>
          </a:p>
          <a:p xmlns:a="http://schemas.openxmlformats.org/drawingml/2006/main">
            <a:pPr marL="0" lvl="0" indent="0" algn="l">
              <a:spcBef>
                <a:spcPts val="0"/>
              </a:spcBef>
              <a:spcAft>
                <a:spcPts val="0"/>
              </a:spcAft>
              <a:buNone/>
            </a:pPr>
            <a:r>
              <a:rPr sz="1200"/>
              <a:t>2026 studies and access limits are detailed in the presenter guide and new reference slides. Older sources remain when they answer a different question.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rPr sz="1200"/>
              <a:t>Linked source dictionary, checked 5 October 2026:</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BAUS25 https://doi.org/10.1111/bju.16726</a:t>
            </a:r>
            <a:endParaRPr/>
          </a:p>
          <a:p xmlns:a="http://schemas.openxmlformats.org/drawingml/2006/main">
            <a:pPr marL="0" lvl="0" indent="0" algn="l">
              <a:spcBef>
                <a:spcPts val="0"/>
              </a:spcBef>
              <a:spcAft>
                <a:spcPts val="0"/>
              </a:spcAft>
              <a:buNone/>
            </a:pPr>
            <a:r>
              <a:t>EAU26 https://uroweb.org/guidelines/management-of-non-neurogenic-male-luts/chapter/disease-management</a:t>
            </a:r>
            <a:endParaRPr sz="1200"/>
          </a:p>
          <a:p xmlns:a="http://schemas.openxmlformats.org/drawingml/2006/main">
            <a:pPr marL="0" lvl="0" indent="0" algn="l">
              <a:spcBef>
                <a:spcPts val="0"/>
              </a:spcBef>
              <a:spcAft>
                <a:spcPts val="0"/>
              </a:spcAft>
              <a:buNone/>
            </a:pPr>
            <a:r>
              <a:rPr sz="1200"/>
              <a:t>AUA24 https://www.auanet.org/documents/Guidelines/PDF/2024%20Guidelines/IPT%20Unabridged%20Final%206-18-24.pdf</a:t>
            </a:r>
            <a:endParaRPr/>
          </a:p>
          <a:p xmlns:a="http://schemas.openxmlformats.org/drawingml/2006/main">
            <a:pPr marL="0" lvl="0" indent="0" algn="l">
              <a:spcBef>
                <a:spcPts val="0"/>
              </a:spcBef>
              <a:spcAft>
                <a:spcPts val="0"/>
              </a:spcAft>
              <a:buNone/>
            </a:pPr>
            <a:r>
              <a:t>EAUSTR26 https://uroweb.org/guidelines/urethral-strictures/chapter/disease-management-in-males</a:t>
            </a:r>
            <a:endParaRPr sz="1200"/>
          </a:p>
          <a:p xmlns:a="http://schemas.openxmlformats.org/drawingml/2006/main">
            <a:pPr marL="0" lvl="0" indent="0" algn="l">
              <a:spcBef>
                <a:spcPts val="0"/>
              </a:spcBef>
              <a:spcAft>
                <a:spcPts val="0"/>
              </a:spcAft>
              <a:buNone/>
            </a:pPr>
            <a:r>
              <a:rPr sz="1200"/>
              <a:t>ICS16 https://www.ics.org/folder/standardisation/current-ics-standardisations/d/artificial-urinary-sphincter-report-of-the-2015-consensus-conference/download</a:t>
            </a:r>
            <a:endParaRPr/>
          </a:p>
          <a:p xmlns:a="http://schemas.openxmlformats.org/drawingml/2006/main">
            <a:pPr marL="0" lvl="0" indent="0" algn="l">
              <a:spcBef>
                <a:spcPts val="0"/>
              </a:spcBef>
              <a:spcAft>
                <a:spcPts val="0"/>
              </a:spcAft>
              <a:buNone/>
            </a:pPr>
            <a:r>
              <a:t>AP23 https://doi.org/10.1111/iju.15083</a:t>
            </a:r>
            <a:endParaRPr sz="1200"/>
          </a:p>
          <a:p xmlns:a="http://schemas.openxmlformats.org/drawingml/2006/main">
            <a:pPr marL="0" lvl="0" indent="0" algn="l">
              <a:spcBef>
                <a:spcPts val="0"/>
              </a:spcBef>
              <a:spcAft>
                <a:spcPts val="0"/>
              </a:spcAft>
              <a:buNone/>
            </a:pPr>
            <a:r>
              <a:rPr sz="1200"/>
              <a:t>CCIFU https://www.rigicon.com/files/e-labeling/ContiClassic-IFU.pdf</a:t>
            </a:r>
            <a:endParaRPr/>
          </a:p>
          <a:p xmlns:a="http://schemas.openxmlformats.org/drawingml/2006/main">
            <a:pPr marL="0" lvl="0" indent="0" algn="l">
              <a:spcBef>
                <a:spcPts val="0"/>
              </a:spcBef>
              <a:spcAft>
                <a:spcPts val="0"/>
              </a:spcAft>
              <a:buNone/>
            </a:pPr>
            <a:r>
              <a:t>ICSUDS17 https://doi.org/10.1002/nau.23124</a:t>
            </a:r>
            <a:endParaRPr sz="1200"/>
          </a:p>
          <a:p xmlns:a="http://schemas.openxmlformats.org/drawingml/2006/main">
            <a:pPr marL="0" lvl="0" indent="0" algn="l">
              <a:spcBef>
                <a:spcPts val="0"/>
              </a:spcBef>
              <a:spcAft>
                <a:spcPts val="0"/>
              </a:spcAft>
              <a:buNone/>
            </a:pPr>
            <a:r>
              <a:rPr sz="1200"/>
              <a:t>AUAOAB24 https://doi.org/10.1097/JU.0000000000003985</a:t>
            </a:r>
            <a:endParaRPr/>
          </a:p>
          <a:p xmlns:a="http://schemas.openxmlformats.org/drawingml/2006/main">
            <a:pPr marL="0" lvl="0" indent="0" algn="l">
              <a:spcBef>
                <a:spcPts val="0"/>
              </a:spcBef>
              <a:spcAft>
                <a:spcPts val="0"/>
              </a:spcAft>
              <a:buNone/>
            </a:pPr>
            <a:r>
              <a:t>NICE https://www.nice.org.uk/guidance/ng125/chapter/recommendations</a:t>
            </a:r>
            <a:endParaRPr sz="1200"/>
          </a:p>
          <a:p xmlns:a="http://schemas.openxmlformats.org/drawingml/2006/main">
            <a:pPr marL="0" lvl="0" indent="0" algn="l">
              <a:spcBef>
                <a:spcPts val="0"/>
              </a:spcBef>
              <a:spcAft>
                <a:spcPts val="0"/>
              </a:spcAft>
              <a:buNone/>
            </a:pPr>
            <a:r>
              <a:rPr sz="1200"/>
              <a:t>WHO09 https://www.who.int/publications/i/item/9789241597906</a:t>
            </a:r>
            <a:endParaRPr/>
          </a:p>
          <a:p xmlns:a="http://schemas.openxmlformats.org/drawingml/2006/main">
            <a:pPr marL="0" lvl="0" indent="0" algn="l">
              <a:spcBef>
                <a:spcPts val="0"/>
              </a:spcBef>
              <a:spcAft>
                <a:spcPts val="0"/>
              </a:spcAft>
              <a:buNone/>
            </a:pPr>
            <a:r>
              <a:t>CHLORA26 https://www.medicines.org.uk/emc/product/101238/smpc</a:t>
            </a:r>
            <a:endParaRPr sz="1200"/>
          </a:p>
          <a:p xmlns:a="http://schemas.openxmlformats.org/drawingml/2006/main">
            <a:pPr marL="0" lvl="0" indent="0" algn="l">
              <a:spcBef>
                <a:spcPts val="0"/>
              </a:spcBef>
              <a:spcAft>
                <a:spcPts val="0"/>
              </a:spcAft>
              <a:buNone/>
            </a:pPr>
            <a:r>
              <a:rPr sz="1200"/>
              <a:t>IDSA19 https://www.idsociety.org/practice-guideline/asymptomatic-bacteriuria/</a:t>
            </a:r>
            <a:endParaRPr/>
          </a:p>
          <a:p xmlns:a="http://schemas.openxmlformats.org/drawingml/2006/main">
            <a:pPr marL="0" lvl="0" indent="0" algn="l">
              <a:spcBef>
                <a:spcPts val="0"/>
              </a:spcBef>
              <a:spcAft>
                <a:spcPts val="0"/>
              </a:spcAft>
              <a:buNone/>
            </a:pPr>
            <a:r>
              <a:t>AUAABX20 https://doi.org/10.1097/JU.0000000000000509</a:t>
            </a:r>
            <a:endParaRPr sz="1200"/>
          </a:p>
          <a:p xmlns:a="http://schemas.openxmlformats.org/drawingml/2006/main">
            <a:pPr marL="0" lvl="0" indent="0" algn="l">
              <a:spcBef>
                <a:spcPts val="0"/>
              </a:spcBef>
              <a:spcAft>
                <a:spcPts val="0"/>
              </a:spcAft>
              <a:buNone/>
            </a:pPr>
            <a:r>
              <a:rPr sz="1200"/>
              <a:t>CCSAFETY https://pubmed.ncbi.nlm.nih.gov/37543658/</a:t>
            </a:r>
            <a:endParaRPr/>
          </a:p>
          <a:p xmlns:a="http://schemas.openxmlformats.org/drawingml/2006/main">
            <a:pPr marL="0" lvl="0" indent="0" algn="l">
              <a:spcBef>
                <a:spcPts val="0"/>
              </a:spcBef>
              <a:spcAft>
                <a:spcPts val="0"/>
              </a:spcAft>
              <a:buNone/>
            </a:pPr>
            <a:r>
              <a:t>MASTER22 https://doi.org/10.3310/TBFZ0277</a:t>
            </a:r>
            <a:endParaRPr sz="1200"/>
          </a:p>
          <a:p xmlns:a="http://schemas.openxmlformats.org/drawingml/2006/main">
            <a:pPr marL="0" lvl="0" indent="0" algn="l">
              <a:spcBef>
                <a:spcPts val="0"/>
              </a:spcBef>
              <a:spcAft>
                <a:spcPts val="0"/>
              </a:spcAft>
              <a:buNone/>
            </a:pPr>
            <a:r>
              <a:rPr sz="1200"/>
              <a:t>UDS09 https://pubmed.ncbi.nlm.nih.gov/19371935/</a:t>
            </a:r>
            <a:endParaRPr/>
          </a:p>
          <a:p xmlns:a="http://schemas.openxmlformats.org/drawingml/2006/main">
            <a:pPr marL="0" lvl="0" indent="0" algn="l">
              <a:spcBef>
                <a:spcPts val="0"/>
              </a:spcBef>
              <a:spcAft>
                <a:spcPts val="0"/>
              </a:spcAft>
              <a:buNone/>
            </a:pPr>
            <a:r>
              <a:t>OAB11 https://pubmed.ncbi.nlm.nih.gov/21497853/</a:t>
            </a:r>
            <a:endParaRPr sz="1200"/>
          </a:p>
          <a:p xmlns:a="http://schemas.openxmlformats.org/drawingml/2006/main">
            <a:pPr marL="0" lvl="0" indent="0" algn="l">
              <a:spcBef>
                <a:spcPts val="0"/>
              </a:spcBef>
              <a:spcAft>
                <a:spcPts val="0"/>
              </a:spcAft>
              <a:buNone/>
            </a:pPr>
            <a:r>
              <a:rPr sz="1200"/>
              <a:t>DO24 https://doi.org/10.1002/bco2.442</a:t>
            </a:r>
            <a:endParaRPr/>
          </a:p>
          <a:p xmlns:a="http://schemas.openxmlformats.org/drawingml/2006/main">
            <a:pPr marL="0" lvl="0" indent="0" algn="l">
              <a:spcBef>
                <a:spcPts val="0"/>
              </a:spcBef>
              <a:spcAft>
                <a:spcPts val="0"/>
              </a:spcAft>
              <a:buNone/>
            </a:pPr>
            <a:r>
              <a:t>DOFAIL23 https://pubmed.ncbi.nlm.nih.gov/36921845/</a:t>
            </a:r>
            <a:endParaRPr sz="1200"/>
          </a:p>
          <a:p xmlns:a="http://schemas.openxmlformats.org/drawingml/2006/main">
            <a:pPr marL="0" lvl="0" indent="0" algn="l">
              <a:spcBef>
                <a:spcPts val="0"/>
              </a:spcBef>
              <a:spcAft>
                <a:spcPts val="0"/>
              </a:spcAft>
              <a:buNone/>
            </a:pPr>
            <a:r>
              <a:t>DU23 https://pubmed.ncbi.nlm.nih.gov/36906798/</a:t>
            </a:r>
            <a:endParaRPr sz="1200"/>
          </a:p>
          <a:p xmlns:a="http://schemas.openxmlformats.org/drawingml/2006/main">
            <a:pPr marL="0" lvl="0" indent="0" algn="l">
              <a:spcBef>
                <a:spcPts val="0"/>
              </a:spcBef>
              <a:spcAft>
                <a:spcPts val="0"/>
              </a:spcAft>
              <a:buNone/>
            </a:pPr>
            <a:r>
              <a:t>CIC23 https://pubmed.ncbi.nlm.nih.gov/36332702/</a:t>
            </a:r>
            <a:endParaRPr sz="1200"/>
          </a:p>
          <a:p xmlns:a="http://schemas.openxmlformats.org/drawingml/2006/main">
            <a:pPr marL="0" lvl="0" indent="0" algn="l">
              <a:spcBef>
                <a:spcPts val="0"/>
              </a:spcBef>
              <a:spcAft>
                <a:spcPts val="0"/>
              </a:spcAft>
              <a:buNone/>
            </a:pPr>
            <a:r>
              <a:rPr sz="1200"/>
              <a:t>CATH13 https://pubmed.ncbi.nlm.nih.gov/24074987/</a:t>
            </a:r>
            <a:endParaRPr/>
          </a:p>
          <a:p xmlns:a="http://schemas.openxmlformats.org/drawingml/2006/main">
            <a:pPr marL="0" lvl="0" indent="0" algn="l">
              <a:spcBef>
                <a:spcPts val="0"/>
              </a:spcBef>
              <a:spcAft>
                <a:spcPts val="0"/>
              </a:spcAft>
              <a:buNone/>
            </a:pPr>
            <a:r>
              <a:rPr sz="1200"/>
              <a:t>UDS14 https://pubmed.ncbi.nlm.nih.gov/25483765/</a:t>
            </a:r>
            <a:endParaRPr/>
          </a:p>
          <a:p xmlns:a="http://schemas.openxmlformats.org/drawingml/2006/main">
            <a:pPr marL="0" lvl="0" indent="0" algn="l">
              <a:spcBef>
                <a:spcPts val="0"/>
              </a:spcBef>
              <a:spcAft>
                <a:spcPts val="0"/>
              </a:spcAft>
              <a:buNone/>
            </a:pPr>
            <a:r>
              <a:rPr sz="1200"/>
              <a:t>RT22 https://doi.org/10.3389/fsurg.2022.825239</a:t>
            </a:r>
            <a:endParaRPr/>
          </a:p>
          <a:p xmlns:a="http://schemas.openxmlformats.org/drawingml/2006/main">
            <a:pPr marL="0" lvl="0" indent="0" algn="l">
              <a:spcBef>
                <a:spcPts val="0"/>
              </a:spcBef>
              <a:spcAft>
                <a:spcPts val="0"/>
              </a:spcAft>
              <a:buNone/>
            </a:pPr>
            <a:r>
              <a:rPr sz="1200"/>
              <a:t>URETH26 https://pubmed.ncbi.nlm.nih.gov/41022035/</a:t>
            </a:r>
            <a:endParaRPr/>
          </a:p>
          <a:p xmlns:a="http://schemas.openxmlformats.org/drawingml/2006/main">
            <a:pPr marL="0" lvl="0" indent="0" algn="l">
              <a:spcBef>
                <a:spcPts val="0"/>
              </a:spcBef>
              <a:spcAft>
                <a:spcPts val="0"/>
              </a:spcAft>
              <a:buNone/>
            </a:pPr>
            <a:r>
              <a:rPr sz="1200"/>
              <a:t>TC20 https://doi.org/10.5489/cuaj.6431</a:t>
            </a:r>
            <a:endParaRPr/>
          </a:p>
          <a:p xmlns:a="http://schemas.openxmlformats.org/drawingml/2006/main">
            <a:pPr marL="0" lvl="0" indent="0" algn="l">
              <a:spcBef>
                <a:spcPts val="0"/>
              </a:spcBef>
              <a:spcAft>
                <a:spcPts val="0"/>
              </a:spcAft>
              <a:buNone/>
            </a:pPr>
            <a:r>
              <a:rPr sz="1200"/>
              <a:t>TC23 https://pubmed.ncbi.nlm.nih.gov/36749394/</a:t>
            </a:r>
            <a:endParaRPr/>
          </a:p>
          <a:p xmlns:a="http://schemas.openxmlformats.org/drawingml/2006/main">
            <a:pPr marL="0" lvl="0" indent="0" algn="l">
              <a:spcBef>
                <a:spcPts val="0"/>
              </a:spcBef>
              <a:spcAft>
                <a:spcPts val="0"/>
              </a:spcAft>
              <a:buNone/>
            </a:pPr>
            <a:r>
              <a:rPr sz="1200"/>
              <a:t>ATROPHY20 https://doi.org/10.21037/tau.2019.07.18</a:t>
            </a:r>
            <a:endParaRPr/>
          </a:p>
          <a:p xmlns:a="http://schemas.openxmlformats.org/drawingml/2006/main">
            <a:pPr marL="0" lvl="0" indent="0" algn="l">
              <a:spcBef>
                <a:spcPts val="0"/>
              </a:spcBef>
              <a:spcAft>
                <a:spcPts val="0"/>
              </a:spcAft>
              <a:buNone/>
            </a:pPr>
            <a:r>
              <a:rPr sz="1200"/>
              <a:t>PREP24 https://tau.amegroups.org/article/view/130351/html</a:t>
            </a:r>
            <a:endParaRPr/>
          </a:p>
          <a:p xmlns:a="http://schemas.openxmlformats.org/drawingml/2006/main">
            <a:pPr marL="0" lvl="0" indent="0" algn="l">
              <a:spcBef>
                <a:spcPts val="0"/>
              </a:spcBef>
              <a:spcAft>
                <a:spcPts val="0"/>
              </a:spcAft>
              <a:buNone/>
            </a:pPr>
            <a:r>
              <a:rPr sz="1200"/>
              <a:t>YEUNG13 https://pubmed.ncbi.nlm.nih.gov/23164373/</a:t>
            </a:r>
            <a:endParaRPr/>
          </a:p>
          <a:p xmlns:a="http://schemas.openxmlformats.org/drawingml/2006/main">
            <a:pPr marL="0" lvl="0" indent="0" algn="l">
              <a:spcBef>
                <a:spcPts val="0"/>
              </a:spcBef>
              <a:spcAft>
                <a:spcPts val="0"/>
              </a:spcAft>
              <a:buNone/>
            </a:pPr>
            <a:r>
              <a:rPr sz="1200"/>
              <a:t>ABX18 https://doi.org/10.1016/j.urology.2017.07.064</a:t>
            </a:r>
            <a:endParaRPr/>
          </a:p>
          <a:p xmlns:a="http://schemas.openxmlformats.org/drawingml/2006/main">
            <a:pPr marL="0" lvl="0" indent="0" algn="l">
              <a:spcBef>
                <a:spcPts val="0"/>
              </a:spcBef>
              <a:spcAft>
                <a:spcPts val="0"/>
              </a:spcAft>
              <a:buNone/>
            </a:pPr>
            <a:r>
              <a:rPr sz="1200"/>
              <a:t>TOUCH23 https://doi.org/10.5152/tud.2023.22136</a:t>
            </a:r>
            <a:endParaRPr/>
          </a:p>
          <a:p xmlns:a="http://schemas.openxmlformats.org/drawingml/2006/main">
            <a:pPr marL="0" lvl="0" indent="0" algn="l">
              <a:spcBef>
                <a:spcPts val="0"/>
              </a:spcBef>
              <a:spcAft>
                <a:spcPts val="0"/>
              </a:spcAft>
              <a:buNone/>
            </a:pPr>
            <a:r>
              <a:rPr sz="1200"/>
              <a:t>LINDER15 https://pubmed.ncbi.nlm.nih.gov/26135815/</a:t>
            </a:r>
            <a:endParaRPr/>
          </a:p>
          <a:p xmlns:a="http://schemas.openxmlformats.org/drawingml/2006/main">
            <a:pPr marL="0" lvl="0" indent="0" algn="l">
              <a:spcBef>
                <a:spcPts val="0"/>
              </a:spcBef>
              <a:spcAft>
                <a:spcPts val="0"/>
              </a:spcAft>
              <a:buNone/>
            </a:pPr>
            <a:r>
              <a:rPr sz="1200"/>
              <a:t>AUSCO26 https://pmc.ncbi.nlm.nih.gov/articles/PMC12794701/</a:t>
            </a:r>
            <a:endParaRPr/>
          </a:p>
          <a:p xmlns:a="http://schemas.openxmlformats.org/drawingml/2006/main">
            <a:pPr marL="0" lvl="0" indent="0" algn="l">
              <a:spcBef>
                <a:spcPts val="0"/>
              </a:spcBef>
              <a:spcAft>
                <a:spcPts val="0"/>
              </a:spcAft>
              <a:buNone/>
            </a:pPr>
            <a:r>
              <a:rPr sz="1200"/>
              <a:t>AUASTATUS26 https://helpdesk.auanet.org/hc/en-us/articles/40948838469143-Guidelines</a:t>
            </a:r>
            <a:endParaRPr/>
          </a:p>
          <a:p xmlns:a="http://schemas.openxmlformats.org/drawingml/2006/main">
            <a:pPr marL="0" lvl="0" indent="0" algn="l">
              <a:spcBef>
                <a:spcPts val="0"/>
              </a:spcBef>
              <a:spcAft>
                <a:spcPts val="0"/>
              </a:spcAft>
              <a:buNone/>
            </a:pPr>
            <a:r>
              <a:rPr sz="1200"/>
              <a:t>BAUSDAY26 https://journals.sagepub.com/doi/full/10.1177/20514158261451299</a:t>
            </a:r>
            <a:endParaRPr/>
          </a:p>
          <a:p xmlns:a="http://schemas.openxmlformats.org/drawingml/2006/main">
            <a:pPr marL="0" lvl="0" indent="0" algn="l">
              <a:spcBef>
                <a:spcPts val="0"/>
              </a:spcBef>
              <a:spcAft>
                <a:spcPts val="0"/>
              </a:spcAft>
              <a:buNone/>
            </a:pPr>
            <a:r>
              <a:rPr sz="1200"/>
              <a:t>BAUSSCI26 https://journals.sagepub.com/doi/full/10.1177/20514158261451299</a:t>
            </a:r>
            <a:endParaRPr/>
          </a:p>
          <a:p xmlns:a="http://schemas.openxmlformats.org/drawingml/2006/main">
            <a:pPr marL="0" lvl="0" indent="0" algn="l">
              <a:spcBef>
                <a:spcPts val="0"/>
              </a:spcBef>
              <a:spcAft>
                <a:spcPts val="0"/>
              </a:spcAft>
              <a:buNone/>
            </a:pPr>
            <a:r>
              <a:rPr sz="1200"/>
              <a:t>AUAUDS26 https://doi.org/10.1097/01.JU.0001191316.72449.22.22</a:t>
            </a:r>
            <a:endParaRPr/>
          </a:p>
          <a:p xmlns:a="http://schemas.openxmlformats.org/drawingml/2006/main">
            <a:pPr marL="0" lvl="0" indent="0" algn="l">
              <a:spcBef>
                <a:spcPts val="0"/>
              </a:spcBef>
              <a:spcAft>
                <a:spcPts val="0"/>
              </a:spcAft>
              <a:buNone/>
            </a:pPr>
            <a:r>
              <a:rPr sz="1200"/>
              <a:t>AUAABX26 https://doi.org/10.1097/01.JU.0001191316.72449.22.18</a:t>
            </a:r>
            <a:endParaRPr/>
          </a:p>
          <a:p xmlns:a="http://schemas.openxmlformats.org/drawingml/2006/main">
            <a:pPr marL="0" lvl="0" indent="0" algn="l">
              <a:spcBef>
                <a:spcPts val="0"/>
              </a:spcBef>
              <a:spcAft>
                <a:spcPts val="0"/>
              </a:spcAft>
              <a:buNone/>
            </a:pPr>
            <a:r>
              <a:rPr sz="1200"/>
              <a:t>AUASAFER26 https://doi.org/10.1097/01.JU.0001191316.72449.22.17</a:t>
            </a:r>
            <a:endParaRPr/>
          </a:p>
          <a:p xmlns:a="http://schemas.openxmlformats.org/drawingml/2006/main">
            <a:pPr marL="0" lvl="0" indent="0" algn="l">
              <a:spcBef>
                <a:spcPts val="0"/>
              </a:spcBef>
              <a:spcAft>
                <a:spcPts val="0"/>
              </a:spcAft>
              <a:buNone/>
            </a:pPr>
            <a:r>
              <a:rPr sz="1200"/>
              <a:t>MASTER26 https://doi.org/10.1016/j.euf.2026.07.012</a:t>
            </a:r>
            <a:endParaRPr/>
          </a:p>
          <a:p xmlns:a="http://schemas.openxmlformats.org/drawingml/2006/main">
            <a:pPr marL="0" lvl="0" indent="0" algn="l">
              <a:spcBef>
                <a:spcPts val="0"/>
              </a:spcBef>
              <a:spcAft>
                <a:spcPts val="0"/>
              </a:spcAft>
              <a:buNone/>
            </a:pPr>
            <a:r>
              <a:rPr sz="1200"/>
              <a:t>URETHMETA26 https://doi.org/10.1016/j.urology.2026.05.024</a:t>
            </a:r>
            <a:endParaRPr/>
          </a:p>
          <a:p xmlns:a="http://schemas.openxmlformats.org/drawingml/2006/main">
            <a:pPr marL="0" lvl="0" indent="0" algn="l">
              <a:spcBef>
                <a:spcPts val="0"/>
              </a:spcBef>
              <a:spcAft>
                <a:spcPts val="0"/>
              </a:spcAft>
              <a:buNone/>
            </a:pPr>
            <a:r>
              <a:rPr sz="1200"/>
              <a:t>IRRIG26 https://doi.org/10.3390/antibiotics15090894</a:t>
            </a:r>
            <a:endParaRPr/>
          </a:p>
          <a:p xmlns:a="http://schemas.openxmlformats.org/drawingml/2006/main">
            <a:pPr marL="0" lvl="0" indent="0" algn="l">
              <a:spcBef>
                <a:spcPts val="0"/>
              </a:spcBef>
              <a:spcAft>
                <a:spcPts val="0"/>
              </a:spcAft>
              <a:buNone/>
            </a:pPr>
            <a:r>
              <a:rPr sz="1200"/>
              <a:t>DAYMETA26 https://doi.org/10.1007/s11255-025-04711-y</a:t>
            </a:r>
            <a:endParaRPr/>
          </a:p>
          <a:p xmlns:a="http://schemas.openxmlformats.org/drawingml/2006/main">
            <a:pPr marL="0" lvl="0" indent="0" algn="l">
              <a:spcBef>
                <a:spcPts val="0"/>
              </a:spcBef>
              <a:spcAft>
                <a:spcPts val="0"/>
              </a:spcAft>
              <a:buNone/>
            </a:pPr>
            <a:r>
              <a:rPr sz="1200"/>
              <a:t>DAYCASE26 https://doi.org/10.1016/j.fjurol.2026.103135</a:t>
            </a:r>
            <a:endParaRPr/>
          </a:p>
          <a:p xmlns:a="http://schemas.openxmlformats.org/drawingml/2006/main">
            <a:pPr marL="0" lvl="0" indent="0" algn="l">
              <a:spcBef>
                <a:spcPts val="0"/>
              </a:spcBef>
              <a:spcAft>
                <a:spcPts val="0"/>
              </a:spcAft>
              <a:buNone/>
            </a:pPr>
            <a:r>
              <a:rPr sz="1200"/>
              <a:t>FRAIL26 https://doi.org/10.1097/ju.0000000000005102</a:t>
            </a:r>
            <a:endParaRPr/>
          </a:p>
          <a:p xmlns:a="http://schemas.openxmlformats.org/drawingml/2006/main">
            <a:pPr marL="0" lvl="0" indent="0" algn="l">
              <a:spcBef>
                <a:spcPts val="0"/>
              </a:spcBef>
              <a:spcAft>
                <a:spcPts val="0"/>
              </a:spcAft>
              <a:buNone/>
            </a:pPr>
            <a:r>
              <a:rPr sz="1200"/>
              <a:t>PAD26 https://doi.org/10.1111/bju.70224</a:t>
            </a:r>
            <a:endParaRPr/>
          </a:p>
          <a:p xmlns:a="http://schemas.openxmlformats.org/drawingml/2006/main">
            <a:pPr marL="0" lvl="0" indent="0" algn="l">
              <a:spcBef>
                <a:spcPts val="0"/>
              </a:spcBef>
              <a:spcAft>
                <a:spcPts val="0"/>
              </a:spcAft>
              <a:buNone/>
            </a:pPr>
            <a:r>
              <a:rPr sz="1200"/>
              <a:t>PRBFAT26 https://doi.org/10.1016/j.urology.2025.12.031</a:t>
            </a:r>
            <a:endParaRPr/>
          </a:p>
          <a:p xmlns:a="http://schemas.openxmlformats.org/drawingml/2006/main">
            <a:pPr marL="0" lvl="0" indent="0" algn="l">
              <a:spcBef>
                <a:spcPts val="0"/>
              </a:spcBef>
              <a:spcAft>
                <a:spcPts val="0"/>
              </a:spcAft>
              <a:buNone/>
            </a:pPr>
            <a:r>
              <a:rPr sz="1200"/>
              <a:t>REGRET26 https://doi.org/10.1016/j.euros.2025.12.006</a:t>
            </a:r>
            <a:endParaRPr/>
          </a:p>
          <a:p xmlns:a="http://schemas.openxmlformats.org/drawingml/2006/main">
            <a:pPr marL="0" lvl="0" indent="0" algn="l">
              <a:spcBef>
                <a:spcPts val="0"/>
              </a:spcBef>
              <a:spcAft>
                <a:spcPts val="0"/>
              </a:spcAft>
              <a:buNone/>
            </a:pPr>
            <a:r>
              <a:rPr sz="1200"/>
              <a:t>INSTR26 https://doi.org/10.1002/nau.70417</a:t>
            </a:r>
            <a:endParaRPr/>
          </a:p>
          <a:p xmlns:a="http://schemas.openxmlformats.org/drawingml/2006/main">
            <a:pPr marL="0" lvl="0" indent="0" algn="l">
              <a:spcBef>
                <a:spcPts val="0"/>
              </a:spcBef>
              <a:spcAft>
                <a:spcPts val="0"/>
              </a:spcAft>
              <a:buNone/>
            </a:pPr>
            <a:r>
              <a:rPr sz="1200"/>
              <a:t>EROSION26 https://doi.org/10.1007/s00345-026-06629-1</a:t>
            </a:r>
            <a:endParaRPr/>
          </a:p>
          <a:p xmlns:a="http://schemas.openxmlformats.org/drawingml/2006/main">
            <a:pPr marL="0" lvl="0" indent="0" algn="l">
              <a:spcBef>
                <a:spcPts val="0"/>
              </a:spcBef>
              <a:spcAft>
                <a:spcPts val="0"/>
              </a:spcAft>
              <a:buNone/>
            </a:pPr>
            <a:r>
              <a:rPr sz="1200"/>
              <a:t>DEVICE26 https://doi.org/10.1002/nau.70400</a:t>
            </a:r>
            <a:endParaRPr/>
          </a:p>
          <a:p xmlns:a="http://schemas.openxmlformats.org/drawingml/2006/main">
            <a:pPr marL="0" lvl="0" indent="0" algn="l">
              <a:spcBef>
                <a:spcPts val="0"/>
              </a:spcBef>
              <a:spcAft>
                <a:spcPts val="0"/>
              </a:spcAft>
              <a:buNone/>
            </a:pPr>
            <a:r>
              <a:rPr sz="1200"/>
              <a:t>SECOND26 https://doi.org/10.1590/s1677-5538.ibju.2025.0374</a:t>
            </a:r>
            <a:endParaRPr/>
          </a:p>
          <a:p xmlns:a="http://schemas.openxmlformats.org/drawingml/2006/main">
            <a:pPr marL="0" lvl="0" indent="0" algn="l">
              <a:spcBef>
                <a:spcPts val="0"/>
              </a:spcBef>
              <a:spcAft>
                <a:spcPts val="0"/>
              </a:spcAft>
              <a:buNone/>
            </a:pPr>
            <a:r>
              <a:rPr sz="1200"/>
              <a:t>TCSYS25 https://doi.org/10.1016/j.urology.2025.11.222</a:t>
            </a:r>
            <a:endParaRPr/>
          </a:p>
          <a:p xmlns:a="http://schemas.openxmlformats.org/drawingml/2006/main">
            <a:pPr marL="0" lvl="0" indent="0" algn="l">
              <a:spcBef>
                <a:spcPts val="0"/>
              </a:spcBef>
              <a:spcAft>
                <a:spcPts val="0"/>
              </a:spcAft>
              <a:buNone/>
            </a:pPr>
            <a:r>
              <a:rPr sz="1200"/>
              <a:t>RTTIME25 https://doi.org/10.1007/s00345-025-05625-1</a:t>
            </a:r>
            <a:endParaRPr/>
          </a:p>
          <a:p xmlns:a="http://schemas.openxmlformats.org/drawingml/2006/main">
            <a:pPr marL="0" lvl="0" indent="0" algn="l">
              <a:spcBef>
                <a:spcPts val="0"/>
              </a:spcBef>
              <a:spcAft>
                <a:spcPts val="0"/>
              </a:spcAft>
              <a:buNone/>
            </a:pPr>
            <a:r>
              <a:rPr sz="1200"/>
              <a:t>UROACTIVE26 https://doi.org/10.1097/ju.0000000000004945</a:t>
            </a:r>
            <a:endParaRPr/>
          </a:p>
          <a:p xmlns:a="http://schemas.openxmlformats.org/drawingml/2006/main">
            <a:pPr marL="0" lvl="0" indent="0" algn="l">
              <a:spcBef>
                <a:spcPts val="0"/>
              </a:spcBef>
              <a:spcAft>
                <a:spcPts val="0"/>
              </a:spcAft>
              <a:buNone/>
            </a:pPr>
            <a:r>
              <a:rPr sz="1200"/>
              <a:t>REPORT26 https://doi.org/10.1007/s00345-026-06246-y</a:t>
            </a:r>
            <a:endParaRPr/>
          </a:p>
          <a:p xmlns:a="http://schemas.openxmlformats.org/drawingml/2006/main">
            <a:pPr marL="0" lvl="0" indent="0" algn="l">
              <a:spcBef>
                <a:spcPts val="0"/>
              </a:spcBef>
              <a:spcAft>
                <a:spcPts val="0"/>
              </a:spcAft>
              <a:buNone/>
            </a:pPr>
            <a:r>
              <a:rPr sz="1200"/>
              <a:t/>
            </a:r>
            <a:endParaRPr/>
          </a:p>
          <a:p xmlns:a="http://schemas.openxmlformats.org/drawingml/2006/main">
            <a:pPr marL="0" lvl="0" indent="0" algn="l">
              <a:spcBef>
                <a:spcPts val="0"/>
              </a:spcBef>
              <a:spcAft>
                <a:spcPts val="0"/>
              </a:spcAft>
              <a:buNone/>
            </a:pPr>
            <a:r>
              <a:rPr sz="1200"/>
              <a:t>2026 studies and access limits are detailed in the presenter guide and new reference slides. Older sources remain when they answer a different question.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rPr sz="1200"/>
              <a:t>Linked source dictionary, checked 5 October 2026:</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BAUS25 https://doi.org/10.1111/bju.16726</a:t>
            </a:r>
            <a:endParaRPr/>
          </a:p>
          <a:p xmlns:a="http://schemas.openxmlformats.org/drawingml/2006/main">
            <a:pPr marL="0" lvl="0" indent="0" algn="l">
              <a:spcBef>
                <a:spcPts val="0"/>
              </a:spcBef>
              <a:spcAft>
                <a:spcPts val="0"/>
              </a:spcAft>
              <a:buNone/>
            </a:pPr>
            <a:r>
              <a:t>EAU26 https://uroweb.org/guidelines/management-of-non-neurogenic-male-luts/chapter/disease-management</a:t>
            </a:r>
            <a:endParaRPr sz="1200"/>
          </a:p>
          <a:p xmlns:a="http://schemas.openxmlformats.org/drawingml/2006/main">
            <a:pPr marL="0" lvl="0" indent="0" algn="l">
              <a:spcBef>
                <a:spcPts val="0"/>
              </a:spcBef>
              <a:spcAft>
                <a:spcPts val="0"/>
              </a:spcAft>
              <a:buNone/>
            </a:pPr>
            <a:r>
              <a:rPr sz="1200"/>
              <a:t>AUA24 https://www.auanet.org/documents/Guidelines/PDF/2024%20Guidelines/IPT%20Unabridged%20Final%206-18-24.pdf</a:t>
            </a:r>
            <a:endParaRPr/>
          </a:p>
          <a:p xmlns:a="http://schemas.openxmlformats.org/drawingml/2006/main">
            <a:pPr marL="0" lvl="0" indent="0" algn="l">
              <a:spcBef>
                <a:spcPts val="0"/>
              </a:spcBef>
              <a:spcAft>
                <a:spcPts val="0"/>
              </a:spcAft>
              <a:buNone/>
            </a:pPr>
            <a:r>
              <a:t>EAUSTR26 https://uroweb.org/guidelines/urethral-strictures/chapter/disease-management-in-males</a:t>
            </a:r>
            <a:endParaRPr sz="1200"/>
          </a:p>
          <a:p xmlns:a="http://schemas.openxmlformats.org/drawingml/2006/main">
            <a:pPr marL="0" lvl="0" indent="0" algn="l">
              <a:spcBef>
                <a:spcPts val="0"/>
              </a:spcBef>
              <a:spcAft>
                <a:spcPts val="0"/>
              </a:spcAft>
              <a:buNone/>
            </a:pPr>
            <a:r>
              <a:rPr sz="1200"/>
              <a:t>ICS16 https://www.ics.org/folder/standardisation/current-ics-standardisations/d/artificial-urinary-sphincter-report-of-the-2015-consensus-conference/download</a:t>
            </a:r>
            <a:endParaRPr/>
          </a:p>
          <a:p xmlns:a="http://schemas.openxmlformats.org/drawingml/2006/main">
            <a:pPr marL="0" lvl="0" indent="0" algn="l">
              <a:spcBef>
                <a:spcPts val="0"/>
              </a:spcBef>
              <a:spcAft>
                <a:spcPts val="0"/>
              </a:spcAft>
              <a:buNone/>
            </a:pPr>
            <a:r>
              <a:t>AP23 https://doi.org/10.1111/iju.15083</a:t>
            </a:r>
            <a:endParaRPr sz="1200"/>
          </a:p>
          <a:p xmlns:a="http://schemas.openxmlformats.org/drawingml/2006/main">
            <a:pPr marL="0" lvl="0" indent="0" algn="l">
              <a:spcBef>
                <a:spcPts val="0"/>
              </a:spcBef>
              <a:spcAft>
                <a:spcPts val="0"/>
              </a:spcAft>
              <a:buNone/>
            </a:pPr>
            <a:r>
              <a:rPr sz="1200"/>
              <a:t>CCIFU https://www.rigicon.com/files/e-labeling/ContiClassic-IFU.pdf</a:t>
            </a:r>
            <a:endParaRPr/>
          </a:p>
          <a:p xmlns:a="http://schemas.openxmlformats.org/drawingml/2006/main">
            <a:pPr marL="0" lvl="0" indent="0" algn="l">
              <a:spcBef>
                <a:spcPts val="0"/>
              </a:spcBef>
              <a:spcAft>
                <a:spcPts val="0"/>
              </a:spcAft>
              <a:buNone/>
            </a:pPr>
            <a:r>
              <a:t>ICSUDS17 https://doi.org/10.1002/nau.23124</a:t>
            </a:r>
            <a:endParaRPr sz="1200"/>
          </a:p>
          <a:p xmlns:a="http://schemas.openxmlformats.org/drawingml/2006/main">
            <a:pPr marL="0" lvl="0" indent="0" algn="l">
              <a:spcBef>
                <a:spcPts val="0"/>
              </a:spcBef>
              <a:spcAft>
                <a:spcPts val="0"/>
              </a:spcAft>
              <a:buNone/>
            </a:pPr>
            <a:r>
              <a:rPr sz="1200"/>
              <a:t>AUAOAB24 https://doi.org/10.1097/JU.0000000000003985</a:t>
            </a:r>
            <a:endParaRPr/>
          </a:p>
          <a:p xmlns:a="http://schemas.openxmlformats.org/drawingml/2006/main">
            <a:pPr marL="0" lvl="0" indent="0" algn="l">
              <a:spcBef>
                <a:spcPts val="0"/>
              </a:spcBef>
              <a:spcAft>
                <a:spcPts val="0"/>
              </a:spcAft>
              <a:buNone/>
            </a:pPr>
            <a:r>
              <a:t>NICE https://www.nice.org.uk/guidance/ng125/chapter/recommendations</a:t>
            </a:r>
            <a:endParaRPr sz="1200"/>
          </a:p>
          <a:p xmlns:a="http://schemas.openxmlformats.org/drawingml/2006/main">
            <a:pPr marL="0" lvl="0" indent="0" algn="l">
              <a:spcBef>
                <a:spcPts val="0"/>
              </a:spcBef>
              <a:spcAft>
                <a:spcPts val="0"/>
              </a:spcAft>
              <a:buNone/>
            </a:pPr>
            <a:r>
              <a:rPr sz="1200"/>
              <a:t>WHO09 https://www.who.int/publications/i/item/9789241597906</a:t>
            </a:r>
            <a:endParaRPr/>
          </a:p>
          <a:p xmlns:a="http://schemas.openxmlformats.org/drawingml/2006/main">
            <a:pPr marL="0" lvl="0" indent="0" algn="l">
              <a:spcBef>
                <a:spcPts val="0"/>
              </a:spcBef>
              <a:spcAft>
                <a:spcPts val="0"/>
              </a:spcAft>
              <a:buNone/>
            </a:pPr>
            <a:r>
              <a:t>CHLORA26 https://www.medicines.org.uk/emc/product/101238/smpc</a:t>
            </a:r>
            <a:endParaRPr sz="1200"/>
          </a:p>
          <a:p xmlns:a="http://schemas.openxmlformats.org/drawingml/2006/main">
            <a:pPr marL="0" lvl="0" indent="0" algn="l">
              <a:spcBef>
                <a:spcPts val="0"/>
              </a:spcBef>
              <a:spcAft>
                <a:spcPts val="0"/>
              </a:spcAft>
              <a:buNone/>
            </a:pPr>
            <a:r>
              <a:rPr sz="1200"/>
              <a:t>IDSA19 https://www.idsociety.org/practice-guideline/asymptomatic-bacteriuria/</a:t>
            </a:r>
            <a:endParaRPr/>
          </a:p>
          <a:p xmlns:a="http://schemas.openxmlformats.org/drawingml/2006/main">
            <a:pPr marL="0" lvl="0" indent="0" algn="l">
              <a:spcBef>
                <a:spcPts val="0"/>
              </a:spcBef>
              <a:spcAft>
                <a:spcPts val="0"/>
              </a:spcAft>
              <a:buNone/>
            </a:pPr>
            <a:r>
              <a:t>AUAABX20 https://doi.org/10.1097/JU.0000000000000509</a:t>
            </a:r>
            <a:endParaRPr sz="1200"/>
          </a:p>
          <a:p xmlns:a="http://schemas.openxmlformats.org/drawingml/2006/main">
            <a:pPr marL="0" lvl="0" indent="0" algn="l">
              <a:spcBef>
                <a:spcPts val="0"/>
              </a:spcBef>
              <a:spcAft>
                <a:spcPts val="0"/>
              </a:spcAft>
              <a:buNone/>
            </a:pPr>
            <a:r>
              <a:rPr sz="1200"/>
              <a:t>CCSAFETY https://pubmed.ncbi.nlm.nih.gov/37543658/</a:t>
            </a:r>
            <a:endParaRPr/>
          </a:p>
          <a:p xmlns:a="http://schemas.openxmlformats.org/drawingml/2006/main">
            <a:pPr marL="0" lvl="0" indent="0" algn="l">
              <a:spcBef>
                <a:spcPts val="0"/>
              </a:spcBef>
              <a:spcAft>
                <a:spcPts val="0"/>
              </a:spcAft>
              <a:buNone/>
            </a:pPr>
            <a:r>
              <a:t>MASTER22 https://doi.org/10.3310/TBFZ0277</a:t>
            </a:r>
            <a:endParaRPr sz="1200"/>
          </a:p>
          <a:p xmlns:a="http://schemas.openxmlformats.org/drawingml/2006/main">
            <a:pPr marL="0" lvl="0" indent="0" algn="l">
              <a:spcBef>
                <a:spcPts val="0"/>
              </a:spcBef>
              <a:spcAft>
                <a:spcPts val="0"/>
              </a:spcAft>
              <a:buNone/>
            </a:pPr>
            <a:r>
              <a:rPr sz="1200"/>
              <a:t>UDS09 https://pubmed.ncbi.nlm.nih.gov/19371935/</a:t>
            </a:r>
            <a:endParaRPr/>
          </a:p>
          <a:p xmlns:a="http://schemas.openxmlformats.org/drawingml/2006/main">
            <a:pPr marL="0" lvl="0" indent="0" algn="l">
              <a:spcBef>
                <a:spcPts val="0"/>
              </a:spcBef>
              <a:spcAft>
                <a:spcPts val="0"/>
              </a:spcAft>
              <a:buNone/>
            </a:pPr>
            <a:r>
              <a:t>OAB11 https://pubmed.ncbi.nlm.nih.gov/21497853/</a:t>
            </a:r>
            <a:endParaRPr sz="1200"/>
          </a:p>
          <a:p xmlns:a="http://schemas.openxmlformats.org/drawingml/2006/main">
            <a:pPr marL="0" lvl="0" indent="0" algn="l">
              <a:spcBef>
                <a:spcPts val="0"/>
              </a:spcBef>
              <a:spcAft>
                <a:spcPts val="0"/>
              </a:spcAft>
              <a:buNone/>
            </a:pPr>
            <a:r>
              <a:rPr sz="1200"/>
              <a:t>DO24 https://doi.org/10.1002/bco2.442</a:t>
            </a:r>
            <a:endParaRPr/>
          </a:p>
          <a:p xmlns:a="http://schemas.openxmlformats.org/drawingml/2006/main">
            <a:pPr marL="0" lvl="0" indent="0" algn="l">
              <a:spcBef>
                <a:spcPts val="0"/>
              </a:spcBef>
              <a:spcAft>
                <a:spcPts val="0"/>
              </a:spcAft>
              <a:buNone/>
            </a:pPr>
            <a:r>
              <a:t>DOFAIL23 https://pubmed.ncbi.nlm.nih.gov/36921845/</a:t>
            </a:r>
            <a:endParaRPr sz="1200"/>
          </a:p>
          <a:p xmlns:a="http://schemas.openxmlformats.org/drawingml/2006/main">
            <a:pPr marL="0" lvl="0" indent="0" algn="l">
              <a:spcBef>
                <a:spcPts val="0"/>
              </a:spcBef>
              <a:spcAft>
                <a:spcPts val="0"/>
              </a:spcAft>
              <a:buNone/>
            </a:pPr>
            <a:r>
              <a:t>DU23 https://pubmed.ncbi.nlm.nih.gov/36906798/</a:t>
            </a:r>
            <a:endParaRPr sz="1200"/>
          </a:p>
          <a:p xmlns:a="http://schemas.openxmlformats.org/drawingml/2006/main">
            <a:pPr marL="0" lvl="0" indent="0" algn="l">
              <a:spcBef>
                <a:spcPts val="0"/>
              </a:spcBef>
              <a:spcAft>
                <a:spcPts val="0"/>
              </a:spcAft>
              <a:buNone/>
            </a:pPr>
            <a:r>
              <a:t>CIC23 https://pubmed.ncbi.nlm.nih.gov/36332702/</a:t>
            </a:r>
            <a:endParaRPr sz="1200"/>
          </a:p>
          <a:p xmlns:a="http://schemas.openxmlformats.org/drawingml/2006/main">
            <a:pPr marL="0" lvl="0" indent="0" algn="l">
              <a:spcBef>
                <a:spcPts val="0"/>
              </a:spcBef>
              <a:spcAft>
                <a:spcPts val="0"/>
              </a:spcAft>
              <a:buNone/>
            </a:pPr>
            <a:r>
              <a:rPr sz="1200"/>
              <a:t>CATH13 https://pubmed.ncbi.nlm.nih.gov/24074987/</a:t>
            </a:r>
            <a:endParaRPr/>
          </a:p>
          <a:p xmlns:a="http://schemas.openxmlformats.org/drawingml/2006/main">
            <a:pPr marL="0" lvl="0" indent="0" algn="l">
              <a:spcBef>
                <a:spcPts val="0"/>
              </a:spcBef>
              <a:spcAft>
                <a:spcPts val="0"/>
              </a:spcAft>
              <a:buNone/>
            </a:pPr>
            <a:r>
              <a:rPr sz="1200"/>
              <a:t>UDS14 https://pubmed.ncbi.nlm.nih.gov/25483765/</a:t>
            </a:r>
            <a:endParaRPr/>
          </a:p>
          <a:p xmlns:a="http://schemas.openxmlformats.org/drawingml/2006/main">
            <a:pPr marL="0" lvl="0" indent="0" algn="l">
              <a:spcBef>
                <a:spcPts val="0"/>
              </a:spcBef>
              <a:spcAft>
                <a:spcPts val="0"/>
              </a:spcAft>
              <a:buNone/>
            </a:pPr>
            <a:r>
              <a:rPr sz="1200"/>
              <a:t>RT22 https://doi.org/10.3389/fsurg.2022.825239</a:t>
            </a:r>
            <a:endParaRPr/>
          </a:p>
          <a:p xmlns:a="http://schemas.openxmlformats.org/drawingml/2006/main">
            <a:pPr marL="0" lvl="0" indent="0" algn="l">
              <a:spcBef>
                <a:spcPts val="0"/>
              </a:spcBef>
              <a:spcAft>
                <a:spcPts val="0"/>
              </a:spcAft>
              <a:buNone/>
            </a:pPr>
            <a:r>
              <a:rPr sz="1200"/>
              <a:t>URETH26 https://pubmed.ncbi.nlm.nih.gov/41022035/</a:t>
            </a:r>
            <a:endParaRPr/>
          </a:p>
          <a:p xmlns:a="http://schemas.openxmlformats.org/drawingml/2006/main">
            <a:pPr marL="0" lvl="0" indent="0" algn="l">
              <a:spcBef>
                <a:spcPts val="0"/>
              </a:spcBef>
              <a:spcAft>
                <a:spcPts val="0"/>
              </a:spcAft>
              <a:buNone/>
            </a:pPr>
            <a:r>
              <a:rPr sz="1200"/>
              <a:t>TC20 https://doi.org/10.5489/cuaj.6431</a:t>
            </a:r>
            <a:endParaRPr/>
          </a:p>
          <a:p xmlns:a="http://schemas.openxmlformats.org/drawingml/2006/main">
            <a:pPr marL="0" lvl="0" indent="0" algn="l">
              <a:spcBef>
                <a:spcPts val="0"/>
              </a:spcBef>
              <a:spcAft>
                <a:spcPts val="0"/>
              </a:spcAft>
              <a:buNone/>
            </a:pPr>
            <a:r>
              <a:rPr sz="1200"/>
              <a:t>TC23 https://pubmed.ncbi.nlm.nih.gov/36749394/</a:t>
            </a:r>
            <a:endParaRPr/>
          </a:p>
          <a:p xmlns:a="http://schemas.openxmlformats.org/drawingml/2006/main">
            <a:pPr marL="0" lvl="0" indent="0" algn="l">
              <a:spcBef>
                <a:spcPts val="0"/>
              </a:spcBef>
              <a:spcAft>
                <a:spcPts val="0"/>
              </a:spcAft>
              <a:buNone/>
            </a:pPr>
            <a:r>
              <a:rPr sz="1200"/>
              <a:t>ATROPHY20 https://doi.org/10.21037/tau.2019.07.18</a:t>
            </a:r>
            <a:endParaRPr/>
          </a:p>
          <a:p xmlns:a="http://schemas.openxmlformats.org/drawingml/2006/main">
            <a:pPr marL="0" lvl="0" indent="0" algn="l">
              <a:spcBef>
                <a:spcPts val="0"/>
              </a:spcBef>
              <a:spcAft>
                <a:spcPts val="0"/>
              </a:spcAft>
              <a:buNone/>
            </a:pPr>
            <a:r>
              <a:rPr sz="1200"/>
              <a:t>PREP24 https://tau.amegroups.org/article/view/130351/html</a:t>
            </a:r>
            <a:endParaRPr/>
          </a:p>
          <a:p xmlns:a="http://schemas.openxmlformats.org/drawingml/2006/main">
            <a:pPr marL="0" lvl="0" indent="0" algn="l">
              <a:spcBef>
                <a:spcPts val="0"/>
              </a:spcBef>
              <a:spcAft>
                <a:spcPts val="0"/>
              </a:spcAft>
              <a:buNone/>
            </a:pPr>
            <a:r>
              <a:rPr sz="1200"/>
              <a:t>YEUNG13 https://pubmed.ncbi.nlm.nih.gov/23164373/</a:t>
            </a:r>
            <a:endParaRPr/>
          </a:p>
          <a:p xmlns:a="http://schemas.openxmlformats.org/drawingml/2006/main">
            <a:pPr marL="0" lvl="0" indent="0" algn="l">
              <a:spcBef>
                <a:spcPts val="0"/>
              </a:spcBef>
              <a:spcAft>
                <a:spcPts val="0"/>
              </a:spcAft>
              <a:buNone/>
            </a:pPr>
            <a:r>
              <a:rPr sz="1200"/>
              <a:t>ABX18 https://doi.org/10.1016/j.urology.2017.07.064</a:t>
            </a:r>
            <a:endParaRPr/>
          </a:p>
          <a:p xmlns:a="http://schemas.openxmlformats.org/drawingml/2006/main">
            <a:pPr marL="0" lvl="0" indent="0" algn="l">
              <a:spcBef>
                <a:spcPts val="0"/>
              </a:spcBef>
              <a:spcAft>
                <a:spcPts val="0"/>
              </a:spcAft>
              <a:buNone/>
            </a:pPr>
            <a:r>
              <a:rPr sz="1200"/>
              <a:t>TOUCH23 https://doi.org/10.5152/tud.2023.22136</a:t>
            </a:r>
            <a:endParaRPr/>
          </a:p>
          <a:p xmlns:a="http://schemas.openxmlformats.org/drawingml/2006/main">
            <a:pPr marL="0" lvl="0" indent="0" algn="l">
              <a:spcBef>
                <a:spcPts val="0"/>
              </a:spcBef>
              <a:spcAft>
                <a:spcPts val="0"/>
              </a:spcAft>
              <a:buNone/>
            </a:pPr>
            <a:r>
              <a:rPr sz="1200"/>
              <a:t>LINDER15 https://pubmed.ncbi.nlm.nih.gov/26135815/</a:t>
            </a:r>
            <a:endParaRPr/>
          </a:p>
          <a:p xmlns:a="http://schemas.openxmlformats.org/drawingml/2006/main">
            <a:pPr marL="0" lvl="0" indent="0" algn="l">
              <a:spcBef>
                <a:spcPts val="0"/>
              </a:spcBef>
              <a:spcAft>
                <a:spcPts val="0"/>
              </a:spcAft>
              <a:buNone/>
            </a:pPr>
            <a:r>
              <a:rPr sz="1200"/>
              <a:t>AUSCO26 https://pmc.ncbi.nlm.nih.gov/articles/PMC12794701/</a:t>
            </a:r>
            <a:endParaRPr/>
          </a:p>
          <a:p xmlns:a="http://schemas.openxmlformats.org/drawingml/2006/main">
            <a:pPr marL="0" lvl="0" indent="0" algn="l">
              <a:spcBef>
                <a:spcPts val="0"/>
              </a:spcBef>
              <a:spcAft>
                <a:spcPts val="0"/>
              </a:spcAft>
              <a:buNone/>
            </a:pPr>
            <a:r>
              <a:rPr sz="1200"/>
              <a:t>AUASTATUS26 https://helpdesk.auanet.org/hc/en-us/articles/40948838469143-Guidelines</a:t>
            </a:r>
            <a:endParaRPr/>
          </a:p>
          <a:p xmlns:a="http://schemas.openxmlformats.org/drawingml/2006/main">
            <a:pPr marL="0" lvl="0" indent="0" algn="l">
              <a:spcBef>
                <a:spcPts val="0"/>
              </a:spcBef>
              <a:spcAft>
                <a:spcPts val="0"/>
              </a:spcAft>
              <a:buNone/>
            </a:pPr>
            <a:r>
              <a:rPr sz="1200"/>
              <a:t>BAUSDAY26 https://journals.sagepub.com/doi/full/10.1177/20514158261451299</a:t>
            </a:r>
            <a:endParaRPr/>
          </a:p>
          <a:p xmlns:a="http://schemas.openxmlformats.org/drawingml/2006/main">
            <a:pPr marL="0" lvl="0" indent="0" algn="l">
              <a:spcBef>
                <a:spcPts val="0"/>
              </a:spcBef>
              <a:spcAft>
                <a:spcPts val="0"/>
              </a:spcAft>
              <a:buNone/>
            </a:pPr>
            <a:r>
              <a:rPr sz="1200"/>
              <a:t>BAUSSCI26 https://journals.sagepub.com/doi/full/10.1177/20514158261451299</a:t>
            </a:r>
            <a:endParaRPr/>
          </a:p>
          <a:p xmlns:a="http://schemas.openxmlformats.org/drawingml/2006/main">
            <a:pPr marL="0" lvl="0" indent="0" algn="l">
              <a:spcBef>
                <a:spcPts val="0"/>
              </a:spcBef>
              <a:spcAft>
                <a:spcPts val="0"/>
              </a:spcAft>
              <a:buNone/>
            </a:pPr>
            <a:r>
              <a:rPr sz="1200"/>
              <a:t>AUAUDS26 https://doi.org/10.1097/01.JU.0001191316.72449.22.22</a:t>
            </a:r>
            <a:endParaRPr/>
          </a:p>
          <a:p xmlns:a="http://schemas.openxmlformats.org/drawingml/2006/main">
            <a:pPr marL="0" lvl="0" indent="0" algn="l">
              <a:spcBef>
                <a:spcPts val="0"/>
              </a:spcBef>
              <a:spcAft>
                <a:spcPts val="0"/>
              </a:spcAft>
              <a:buNone/>
            </a:pPr>
            <a:r>
              <a:rPr sz="1200"/>
              <a:t>AUAABX26 https://doi.org/10.1097/01.JU.0001191316.72449.22.18</a:t>
            </a:r>
            <a:endParaRPr/>
          </a:p>
          <a:p xmlns:a="http://schemas.openxmlformats.org/drawingml/2006/main">
            <a:pPr marL="0" lvl="0" indent="0" algn="l">
              <a:spcBef>
                <a:spcPts val="0"/>
              </a:spcBef>
              <a:spcAft>
                <a:spcPts val="0"/>
              </a:spcAft>
              <a:buNone/>
            </a:pPr>
            <a:r>
              <a:rPr sz="1200"/>
              <a:t>AUASAFER26 https://doi.org/10.1097/01.JU.0001191316.72449.22.17</a:t>
            </a:r>
            <a:endParaRPr/>
          </a:p>
          <a:p xmlns:a="http://schemas.openxmlformats.org/drawingml/2006/main">
            <a:pPr marL="0" lvl="0" indent="0" algn="l">
              <a:spcBef>
                <a:spcPts val="0"/>
              </a:spcBef>
              <a:spcAft>
                <a:spcPts val="0"/>
              </a:spcAft>
              <a:buNone/>
            </a:pPr>
            <a:r>
              <a:rPr sz="1200"/>
              <a:t>MASTER26 https://doi.org/10.1016/j.euf.2026.07.012</a:t>
            </a:r>
            <a:endParaRPr/>
          </a:p>
          <a:p xmlns:a="http://schemas.openxmlformats.org/drawingml/2006/main">
            <a:pPr marL="0" lvl="0" indent="0" algn="l">
              <a:spcBef>
                <a:spcPts val="0"/>
              </a:spcBef>
              <a:spcAft>
                <a:spcPts val="0"/>
              </a:spcAft>
              <a:buNone/>
            </a:pPr>
            <a:r>
              <a:rPr sz="1200"/>
              <a:t>URETHMETA26 https://doi.org/10.1016/j.urology.2026.05.024</a:t>
            </a:r>
            <a:endParaRPr/>
          </a:p>
          <a:p xmlns:a="http://schemas.openxmlformats.org/drawingml/2006/main">
            <a:pPr marL="0" lvl="0" indent="0" algn="l">
              <a:spcBef>
                <a:spcPts val="0"/>
              </a:spcBef>
              <a:spcAft>
                <a:spcPts val="0"/>
              </a:spcAft>
              <a:buNone/>
            </a:pPr>
            <a:r>
              <a:rPr sz="1200"/>
              <a:t>IRRIG26 https://doi.org/10.3390/antibiotics15090894</a:t>
            </a:r>
            <a:endParaRPr/>
          </a:p>
          <a:p xmlns:a="http://schemas.openxmlformats.org/drawingml/2006/main">
            <a:pPr marL="0" lvl="0" indent="0" algn="l">
              <a:spcBef>
                <a:spcPts val="0"/>
              </a:spcBef>
              <a:spcAft>
                <a:spcPts val="0"/>
              </a:spcAft>
              <a:buNone/>
            </a:pPr>
            <a:r>
              <a:rPr sz="1200"/>
              <a:t>DAYMETA26 https://doi.org/10.1007/s11255-025-04711-y</a:t>
            </a:r>
            <a:endParaRPr/>
          </a:p>
          <a:p xmlns:a="http://schemas.openxmlformats.org/drawingml/2006/main">
            <a:pPr marL="0" lvl="0" indent="0" algn="l">
              <a:spcBef>
                <a:spcPts val="0"/>
              </a:spcBef>
              <a:spcAft>
                <a:spcPts val="0"/>
              </a:spcAft>
              <a:buNone/>
            </a:pPr>
            <a:r>
              <a:rPr sz="1200"/>
              <a:t>DAYCASE26 https://doi.org/10.1016/j.fjurol.2026.103135</a:t>
            </a:r>
            <a:endParaRPr/>
          </a:p>
          <a:p xmlns:a="http://schemas.openxmlformats.org/drawingml/2006/main">
            <a:pPr marL="0" lvl="0" indent="0" algn="l">
              <a:spcBef>
                <a:spcPts val="0"/>
              </a:spcBef>
              <a:spcAft>
                <a:spcPts val="0"/>
              </a:spcAft>
              <a:buNone/>
            </a:pPr>
            <a:r>
              <a:rPr sz="1200"/>
              <a:t>FRAIL26 https://doi.org/10.1097/ju.0000000000005102</a:t>
            </a:r>
            <a:endParaRPr/>
          </a:p>
          <a:p xmlns:a="http://schemas.openxmlformats.org/drawingml/2006/main">
            <a:pPr marL="0" lvl="0" indent="0" algn="l">
              <a:spcBef>
                <a:spcPts val="0"/>
              </a:spcBef>
              <a:spcAft>
                <a:spcPts val="0"/>
              </a:spcAft>
              <a:buNone/>
            </a:pPr>
            <a:r>
              <a:rPr sz="1200"/>
              <a:t>PAD26 https://doi.org/10.1111/bju.70224</a:t>
            </a:r>
            <a:endParaRPr/>
          </a:p>
          <a:p xmlns:a="http://schemas.openxmlformats.org/drawingml/2006/main">
            <a:pPr marL="0" lvl="0" indent="0" algn="l">
              <a:spcBef>
                <a:spcPts val="0"/>
              </a:spcBef>
              <a:spcAft>
                <a:spcPts val="0"/>
              </a:spcAft>
              <a:buNone/>
            </a:pPr>
            <a:r>
              <a:rPr sz="1200"/>
              <a:t>PRBFAT26 https://doi.org/10.1016/j.urology.2025.12.031</a:t>
            </a:r>
            <a:endParaRPr/>
          </a:p>
          <a:p xmlns:a="http://schemas.openxmlformats.org/drawingml/2006/main">
            <a:pPr marL="0" lvl="0" indent="0" algn="l">
              <a:spcBef>
                <a:spcPts val="0"/>
              </a:spcBef>
              <a:spcAft>
                <a:spcPts val="0"/>
              </a:spcAft>
              <a:buNone/>
            </a:pPr>
            <a:r>
              <a:rPr sz="1200"/>
              <a:t>REGRET26 https://doi.org/10.1016/j.euros.2025.12.006</a:t>
            </a:r>
            <a:endParaRPr/>
          </a:p>
          <a:p xmlns:a="http://schemas.openxmlformats.org/drawingml/2006/main">
            <a:pPr marL="0" lvl="0" indent="0" algn="l">
              <a:spcBef>
                <a:spcPts val="0"/>
              </a:spcBef>
              <a:spcAft>
                <a:spcPts val="0"/>
              </a:spcAft>
              <a:buNone/>
            </a:pPr>
            <a:r>
              <a:rPr sz="1200"/>
              <a:t>INSTR26 https://doi.org/10.1002/nau.70417</a:t>
            </a:r>
            <a:endParaRPr/>
          </a:p>
          <a:p xmlns:a="http://schemas.openxmlformats.org/drawingml/2006/main">
            <a:pPr marL="0" lvl="0" indent="0" algn="l">
              <a:spcBef>
                <a:spcPts val="0"/>
              </a:spcBef>
              <a:spcAft>
                <a:spcPts val="0"/>
              </a:spcAft>
              <a:buNone/>
            </a:pPr>
            <a:r>
              <a:rPr sz="1200"/>
              <a:t>EROSION26 https://doi.org/10.1007/s00345-026-06629-1</a:t>
            </a:r>
            <a:endParaRPr/>
          </a:p>
          <a:p xmlns:a="http://schemas.openxmlformats.org/drawingml/2006/main">
            <a:pPr marL="0" lvl="0" indent="0" algn="l">
              <a:spcBef>
                <a:spcPts val="0"/>
              </a:spcBef>
              <a:spcAft>
                <a:spcPts val="0"/>
              </a:spcAft>
              <a:buNone/>
            </a:pPr>
            <a:r>
              <a:rPr sz="1200"/>
              <a:t>DEVICE26 https://doi.org/10.1002/nau.70400</a:t>
            </a:r>
            <a:endParaRPr/>
          </a:p>
          <a:p xmlns:a="http://schemas.openxmlformats.org/drawingml/2006/main">
            <a:pPr marL="0" lvl="0" indent="0" algn="l">
              <a:spcBef>
                <a:spcPts val="0"/>
              </a:spcBef>
              <a:spcAft>
                <a:spcPts val="0"/>
              </a:spcAft>
              <a:buNone/>
            </a:pPr>
            <a:r>
              <a:rPr sz="1200"/>
              <a:t>SECOND26 https://doi.org/10.1590/s1677-5538.ibju.2025.0374</a:t>
            </a:r>
            <a:endParaRPr/>
          </a:p>
          <a:p xmlns:a="http://schemas.openxmlformats.org/drawingml/2006/main">
            <a:pPr marL="0" lvl="0" indent="0" algn="l">
              <a:spcBef>
                <a:spcPts val="0"/>
              </a:spcBef>
              <a:spcAft>
                <a:spcPts val="0"/>
              </a:spcAft>
              <a:buNone/>
            </a:pPr>
            <a:r>
              <a:rPr sz="1200"/>
              <a:t>TCSYS25 https://doi.org/10.1016/j.urology.2025.11.222</a:t>
            </a:r>
            <a:endParaRPr/>
          </a:p>
          <a:p xmlns:a="http://schemas.openxmlformats.org/drawingml/2006/main">
            <a:pPr marL="0" lvl="0" indent="0" algn="l">
              <a:spcBef>
                <a:spcPts val="0"/>
              </a:spcBef>
              <a:spcAft>
                <a:spcPts val="0"/>
              </a:spcAft>
              <a:buNone/>
            </a:pPr>
            <a:r>
              <a:rPr sz="1200"/>
              <a:t>RTTIME25 https://doi.org/10.1007/s00345-025-05625-1</a:t>
            </a:r>
            <a:endParaRPr/>
          </a:p>
          <a:p xmlns:a="http://schemas.openxmlformats.org/drawingml/2006/main">
            <a:pPr marL="0" lvl="0" indent="0" algn="l">
              <a:spcBef>
                <a:spcPts val="0"/>
              </a:spcBef>
              <a:spcAft>
                <a:spcPts val="0"/>
              </a:spcAft>
              <a:buNone/>
            </a:pPr>
            <a:r>
              <a:rPr sz="1200"/>
              <a:t>UROACTIVE26 https://doi.org/10.1097/ju.0000000000004945</a:t>
            </a:r>
            <a:endParaRPr/>
          </a:p>
          <a:p xmlns:a="http://schemas.openxmlformats.org/drawingml/2006/main">
            <a:pPr marL="0" lvl="0" indent="0" algn="l">
              <a:spcBef>
                <a:spcPts val="0"/>
              </a:spcBef>
              <a:spcAft>
                <a:spcPts val="0"/>
              </a:spcAft>
              <a:buNone/>
            </a:pPr>
            <a:r>
              <a:rPr sz="1200"/>
              <a:t>REPORT26 https://doi.org/10.1007/s00345-026-06246-y</a:t>
            </a:r>
            <a:endParaRPr/>
          </a:p>
          <a:p xmlns:a="http://schemas.openxmlformats.org/drawingml/2006/main">
            <a:pPr marL="0" lvl="0" indent="0" algn="l">
              <a:spcBef>
                <a:spcPts val="0"/>
              </a:spcBef>
              <a:spcAft>
                <a:spcPts val="0"/>
              </a:spcAft>
              <a:buNone/>
            </a:pPr>
            <a:r>
              <a:rPr sz="1200"/>
              <a:t/>
            </a:r>
            <a:endParaRPr/>
          </a:p>
          <a:p xmlns:a="http://schemas.openxmlformats.org/drawingml/2006/main">
            <a:pPr marL="0" lvl="0" indent="0" algn="l">
              <a:spcBef>
                <a:spcPts val="0"/>
              </a:spcBef>
              <a:spcAft>
                <a:spcPts val="0"/>
              </a:spcAft>
              <a:buNone/>
            </a:pPr>
            <a:r>
              <a:rPr sz="1200"/>
              <a:t>2026 studies and access limits are detailed in the presenter guide and new reference slides. Older sources remain when they answer a different question.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rPr sz="1200"/>
              <a:t>Reference additions, outside the timed talk:</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AUASTATUS26 — AUA current guideline register, July 2026</a:t>
            </a:r>
            <a:endParaRPr/>
          </a:p>
          <a:p xmlns:a="http://schemas.openxmlformats.org/drawingml/2006/main">
            <a:pPr marL="0" lvl="0" indent="0" algn="l">
              <a:spcBef>
                <a:spcPts val="0"/>
              </a:spcBef>
              <a:spcAft>
                <a:spcPts val="0"/>
              </a:spcAft>
              <a:buNone/>
            </a:pPr>
            <a:r>
              <a:t>The AUA's July 2026 register still lists Incontinence after Prostate Treatment as amended in 2024. No 2026 amendment was identified. BAUS's relevant PPI-SUI consensus remains the 2025 publication.</a:t>
            </a:r>
            <a:endParaRPr sz="1200"/>
          </a:p>
          <a:p xmlns:a="http://schemas.openxmlformats.org/drawingml/2006/main">
            <a:pPr marL="0" lvl="0" indent="0" algn="l">
              <a:spcBef>
                <a:spcPts val="0"/>
              </a:spcBef>
              <a:spcAft>
                <a:spcPts val="0"/>
              </a:spcAft>
              <a:buNone/>
            </a:pPr>
            <a:r>
              <a:rPr sz="1200"/>
              <a:t>Meeting abstracts and the AUA 2026 educational Update Series are separate from a new guideline. Preserve the actual publication years.</a:t>
            </a:r>
            <a:endParaRPr/>
          </a:p>
          <a:p xmlns:a="http://schemas.openxmlformats.org/drawingml/2006/main">
            <a:pPr marL="0" lvl="0" indent="0" algn="l">
              <a:spcBef>
                <a:spcPts val="0"/>
              </a:spcBef>
              <a:spcAft>
                <a:spcPts val="0"/>
              </a:spcAft>
              <a:buNone/>
            </a:pPr>
            <a:r>
              <a:t>https://helpdesk.auanet.org/hc/en-us/articles/40948838469143-Guidelines</a:t>
            </a:r>
            <a:endParaRPr sz="1200"/>
          </a:p>
          <a:p xmlns:a="http://schemas.openxmlformats.org/drawingml/2006/main">
            <a:pPr marL="0" lvl="0" indent="0" algn="l">
              <a:spcBef>
                <a:spcPts val="0"/>
              </a:spcBef>
              <a:spcAft>
                <a:spcPts val="0"/>
              </a:spcAft>
              <a:buNone/>
            </a:pPr>
            <a:r>
              <a:rPr sz="1200"/>
              <a:t>Access: Official AUA page read in full</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BAUSDAY26 — BAUS 2026 P4-8: day-case AUS audit</a:t>
            </a:r>
            <a:endParaRPr/>
          </a:p>
          <a:p xmlns:a="http://schemas.openxmlformats.org/drawingml/2006/main">
            <a:pPr marL="0" lvl="0" indent="0" algn="l">
              <a:spcBef>
                <a:spcPts val="0"/>
              </a:spcBef>
              <a:spcAft>
                <a:spcPts val="0"/>
              </a:spcAft>
              <a:buNone/>
            </a:pPr>
            <a:r>
              <a:t>An audit of 98 men reported 88% same-day discharge. It supports feasibility within an established service.</a:t>
            </a:r>
            <a:endParaRPr sz="1200"/>
          </a:p>
          <a:p xmlns:a="http://schemas.openxmlformats.org/drawingml/2006/main">
            <a:pPr marL="0" lvl="0" indent="0" algn="l">
              <a:spcBef>
                <a:spcPts val="0"/>
              </a:spcBef>
              <a:spcAft>
                <a:spcPts val="0"/>
              </a:spcAft>
              <a:buNone/>
            </a:pPr>
            <a:r>
              <a:rPr sz="1200"/>
              <a:t>Conference audit with short follow-up and selection; does not establish long-term equivalence or antibiotic policy.</a:t>
            </a:r>
            <a:endParaRPr/>
          </a:p>
          <a:p xmlns:a="http://schemas.openxmlformats.org/drawingml/2006/main">
            <a:pPr marL="0" lvl="0" indent="0" algn="l">
              <a:spcBef>
                <a:spcPts val="0"/>
              </a:spcBef>
              <a:spcAft>
                <a:spcPts val="0"/>
              </a:spcAft>
              <a:buNone/>
            </a:pPr>
            <a:r>
              <a:t>https://journals.sagepub.com/doi/full/10.1177/20514158261451299</a:t>
            </a:r>
            <a:endParaRPr sz="1200"/>
          </a:p>
          <a:p xmlns:a="http://schemas.openxmlformats.org/drawingml/2006/main">
            <a:pPr marL="0" lvl="0" indent="0" algn="l">
              <a:spcBef>
                <a:spcPts val="0"/>
              </a:spcBef>
              <a:spcAft>
                <a:spcPts val="0"/>
              </a:spcAft>
              <a:buNone/>
            </a:pPr>
            <a:r>
              <a:rPr sz="1200"/>
              <a:t>Access: Published BAUS abstract read in full</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BAUSSCI26 — BAUS 2026 P12-7: bulbar AUS in SCI</a:t>
            </a:r>
            <a:endParaRPr/>
          </a:p>
          <a:p xmlns:a="http://schemas.openxmlformats.org/drawingml/2006/main">
            <a:pPr marL="0" lvl="0" indent="0" algn="l">
              <a:spcBef>
                <a:spcPts val="0"/>
              </a:spcBef>
              <a:spcAft>
                <a:spcPts val="0"/>
              </a:spcAft>
              <a:buNone/>
            </a:pPr>
            <a:r>
              <a:t>A small retrospective SCI series explored predominantly bulbar placement. It is a specialist discussion point.</a:t>
            </a:r>
            <a:endParaRPr sz="1200"/>
          </a:p>
          <a:p xmlns:a="http://schemas.openxmlformats.org/drawingml/2006/main">
            <a:pPr marL="0" lvl="0" indent="0" algn="l">
              <a:spcBef>
                <a:spcPts val="0"/>
              </a:spcBef>
              <a:spcAft>
                <a:spcPts val="0"/>
              </a:spcAft>
              <a:buNone/>
            </a:pPr>
            <a:r>
              <a:rPr sz="1200"/>
              <a:t>Small selected cohort; no direct bladder-neck comparator and no equivalence proof. Keep safe storage and an emptying plan central.</a:t>
            </a:r>
            <a:endParaRPr/>
          </a:p>
          <a:p xmlns:a="http://schemas.openxmlformats.org/drawingml/2006/main">
            <a:pPr marL="0" lvl="0" indent="0" algn="l">
              <a:spcBef>
                <a:spcPts val="0"/>
              </a:spcBef>
              <a:spcAft>
                <a:spcPts val="0"/>
              </a:spcAft>
              <a:buNone/>
            </a:pPr>
            <a:r>
              <a:t>https://journals.sagepub.com/doi/full/10.1177/20514158261451299</a:t>
            </a:r>
            <a:endParaRPr sz="1200"/>
          </a:p>
          <a:p xmlns:a="http://schemas.openxmlformats.org/drawingml/2006/main">
            <a:pPr marL="0" lvl="0" indent="0" algn="l">
              <a:spcBef>
                <a:spcPts val="0"/>
              </a:spcBef>
              <a:spcAft>
                <a:spcPts val="0"/>
              </a:spcAft>
              <a:buNone/>
            </a:pPr>
            <a:r>
              <a:rPr sz="1200"/>
              <a:t>Access: Published BAUS abstract read in full</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AUAUDS26 — AUA 2026 IP09-22: pre-AUS UDS and cystoscopy</a:t>
            </a:r>
            <a:endParaRPr/>
          </a:p>
          <a:p xmlns:a="http://schemas.openxmlformats.org/drawingml/2006/main">
            <a:pPr marL="0" lvl="0" indent="0" algn="l">
              <a:spcBef>
                <a:spcPts val="0"/>
              </a:spcBef>
              <a:spcAft>
                <a:spcPts val="0"/>
              </a:spcAft>
              <a:buNone/>
            </a:pPr>
            <a:r>
              <a:t>The 2026 male-incontinence session revisited the value of preoperative UDS and cystoscopy.</a:t>
            </a:r>
            <a:endParaRPr sz="1200"/>
          </a:p>
          <a:p xmlns:a="http://schemas.openxmlformats.org/drawingml/2006/main">
            <a:pPr marL="0" lvl="0" indent="0" algn="l">
              <a:spcBef>
                <a:spcPts val="0"/>
              </a:spcBef>
              <a:spcAft>
                <a:spcPts val="0"/>
              </a:spcAft>
              <a:buNone/>
            </a:pPr>
            <a:r>
              <a:t>Programme/title verified; complete methods, results and denominators unavailable. No numerical result or change in practice is inferred. This is conference material, not an AUA guideline.</a:t>
            </a:r>
            <a:endParaRPr sz="1200"/>
          </a:p>
          <a:p xmlns:a="http://schemas.openxmlformats.org/drawingml/2006/main">
            <a:pPr marL="0" lvl="0" indent="0" algn="l">
              <a:spcBef>
                <a:spcPts val="0"/>
              </a:spcBef>
              <a:spcAft>
                <a:spcPts val="0"/>
              </a:spcAft>
              <a:buNone/>
            </a:pPr>
            <a:r>
              <a:t>https://doi.org/10.1097/01.JU.0001191316.72449.22.22</a:t>
            </a:r>
            <a:endParaRPr sz="1200"/>
          </a:p>
          <a:p xmlns:a="http://schemas.openxmlformats.org/drawingml/2006/main">
            <a:pPr marL="0" lvl="0" indent="0" algn="l">
              <a:spcBef>
                <a:spcPts val="0"/>
              </a:spcBef>
              <a:spcAft>
                <a:spcPts val="0"/>
              </a:spcAft>
              <a:buNone/>
            </a:pPr>
            <a:r>
              <a:rPr sz="1200"/>
              <a:t>Access: Official journal/programme record and publisher-deposited Crossref metadata only</a:t>
            </a:r>
            <a:endParaRPr/>
          </a:p>
          <a:p xmlns:a="http://schemas.openxmlformats.org/drawingml/2006/main">
            <a:pPr marL="0" lvl="0" indent="0" algn="l">
              <a:spcBef>
                <a:spcPts val="0"/>
              </a:spcBef>
              <a:spcAft>
                <a:spcPts val="0"/>
              </a:spcAft>
              <a:buNone/>
            </a:pPr>
            <a:r>
              <a:rPr sz="1200"/>
              <a:t/>
            </a:r>
            <a:endParaRPr/>
          </a:p>
          <a:p xmlns:a="http://schemas.openxmlformats.org/drawingml/2006/main">
            <a:pPr marL="0" lvl="0" indent="0" algn="l">
              <a:spcBef>
                <a:spcPts val="0"/>
              </a:spcBef>
              <a:spcAft>
                <a:spcPts val="0"/>
              </a:spcAft>
              <a:buNone/>
            </a:pPr>
            <a:r>
              <a:rPr sz="1200"/>
              <a:t>AUAABX26 — AUA 2026 IP09-18: postoperative antibiotics</a:t>
            </a:r>
            <a:endParaRPr/>
          </a:p>
          <a:p xmlns:a="http://schemas.openxmlformats.org/drawingml/2006/main">
            <a:pPr marL="0" lvl="0" indent="0" algn="l">
              <a:spcBef>
                <a:spcPts val="0"/>
              </a:spcBef>
              <a:spcAft>
                <a:spcPts val="0"/>
              </a:spcAft>
              <a:buNone/>
            </a:pPr>
            <a:r>
              <a:rPr sz="1200"/>
              <a:t>The 2026 meeting included an AUS postoperative-antibiotic report. Its title states no infection benefit.</a:t>
            </a:r>
            <a:endParaRPr/>
          </a:p>
          <a:p xmlns:a="http://schemas.openxmlformats.org/drawingml/2006/main">
            <a:pPr marL="0" lvl="0" indent="0" algn="l">
              <a:spcBef>
                <a:spcPts val="0"/>
              </a:spcBef>
              <a:spcAft>
                <a:spcPts val="0"/>
              </a:spcAft>
              <a:buNone/>
            </a:pPr>
            <a:r>
              <a:rPr sz="1200"/>
              <a:t>Programme/title verified; complete methods, results and denominators unavailable. No numerical result or change in practice is inferred. This is conference material, not an AUA guideline.</a:t>
            </a:r>
            <a:endParaRPr/>
          </a:p>
          <a:p xmlns:a="http://schemas.openxmlformats.org/drawingml/2006/main">
            <a:pPr marL="0" lvl="0" indent="0" algn="l">
              <a:spcBef>
                <a:spcPts val="0"/>
              </a:spcBef>
              <a:spcAft>
                <a:spcPts val="0"/>
              </a:spcAft>
              <a:buNone/>
            </a:pPr>
            <a:r>
              <a:rPr sz="1200"/>
              <a:t>https://doi.org/10.1097/01.JU.0001191316.72449.22.18</a:t>
            </a:r>
            <a:endParaRPr/>
          </a:p>
          <a:p xmlns:a="http://schemas.openxmlformats.org/drawingml/2006/main">
            <a:pPr marL="0" lvl="0" indent="0" algn="l">
              <a:spcBef>
                <a:spcPts val="0"/>
              </a:spcBef>
              <a:spcAft>
                <a:spcPts val="0"/>
              </a:spcAft>
              <a:buNone/>
            </a:pPr>
            <a:r>
              <a:rPr sz="1200"/>
              <a:t>Access: Official journal/programme record and publisher-deposited Crossref metadata only</a:t>
            </a:r>
            <a:endParaRPr/>
          </a:p>
          <a:p xmlns:a="http://schemas.openxmlformats.org/drawingml/2006/main">
            <a:pPr marL="0" lvl="0" indent="0" algn="l">
              <a:spcBef>
                <a:spcPts val="0"/>
              </a:spcBef>
              <a:spcAft>
                <a:spcPts val="0"/>
              </a:spcAft>
              <a:buNone/>
            </a:pPr>
            <a:r>
              <a:rPr sz="1200"/>
              <a:t/>
            </a:r>
            <a:endParaRPr/>
          </a:p>
          <a:p xmlns:a="http://schemas.openxmlformats.org/drawingml/2006/main">
            <a:pPr marL="0" lvl="0" indent="0" algn="l">
              <a:spcBef>
                <a:spcPts val="0"/>
              </a:spcBef>
              <a:spcAft>
                <a:spcPts val="0"/>
              </a:spcAft>
              <a:buNone/>
            </a:pPr>
            <a:r>
              <a:rPr sz="1200"/>
              <a:t>AUASAFER26 — AUA 2026 IP09-17: SAFER erosion management</a:t>
            </a:r>
            <a:endParaRPr/>
          </a:p>
          <a:p xmlns:a="http://schemas.openxmlformats.org/drawingml/2006/main">
            <a:pPr marL="0" lvl="0" indent="0" algn="l">
              <a:spcBef>
                <a:spcPts val="0"/>
              </a:spcBef>
              <a:spcAft>
                <a:spcPts val="0"/>
              </a:spcAft>
              <a:buNone/>
            </a:pPr>
            <a:r>
              <a:rPr sz="1200"/>
              <a:t>SAFER compared in situ urethroplasty with conservative management at explantation for cuff erosion.</a:t>
            </a:r>
            <a:endParaRPr/>
          </a:p>
          <a:p xmlns:a="http://schemas.openxmlformats.org/drawingml/2006/main">
            <a:pPr marL="0" lvl="0" indent="0" algn="l">
              <a:spcBef>
                <a:spcPts val="0"/>
              </a:spcBef>
              <a:spcAft>
                <a:spcPts val="0"/>
              </a:spcAft>
              <a:buNone/>
            </a:pPr>
            <a:r>
              <a:rPr sz="1200"/>
              <a:t>Programme/title verified; complete methods, results and denominators unavailable. No numerical result or change in practice is inferred. This is conference material, not an AUA guideline.</a:t>
            </a:r>
            <a:endParaRPr/>
          </a:p>
          <a:p xmlns:a="http://schemas.openxmlformats.org/drawingml/2006/main">
            <a:pPr marL="0" lvl="0" indent="0" algn="l">
              <a:spcBef>
                <a:spcPts val="0"/>
              </a:spcBef>
              <a:spcAft>
                <a:spcPts val="0"/>
              </a:spcAft>
              <a:buNone/>
            </a:pPr>
            <a:r>
              <a:rPr sz="1200"/>
              <a:t>https://doi.org/10.1097/01.JU.0001191316.72449.22.17</a:t>
            </a:r>
            <a:endParaRPr/>
          </a:p>
          <a:p xmlns:a="http://schemas.openxmlformats.org/drawingml/2006/main">
            <a:pPr marL="0" lvl="0" indent="0" algn="l">
              <a:spcBef>
                <a:spcPts val="0"/>
              </a:spcBef>
              <a:spcAft>
                <a:spcPts val="0"/>
              </a:spcAft>
              <a:buNone/>
            </a:pPr>
            <a:r>
              <a:rPr sz="1200"/>
              <a:t>Access: Official journal/programme record and publisher-deposited Crossref metadata only</a:t>
            </a:r>
            <a:endParaRPr/>
          </a:p>
          <a:p xmlns:a="http://schemas.openxmlformats.org/drawingml/2006/main">
            <a:pPr marL="0" lvl="0" indent="0" algn="l">
              <a:spcBef>
                <a:spcPts val="0"/>
              </a:spcBef>
              <a:spcAft>
                <a:spcPts val="0"/>
              </a:spcAft>
              <a:buNone/>
            </a:pPr>
            <a:r>
              <a:rPr sz="1200"/>
              <a:t/>
            </a:r>
            <a:endParaRPr/>
          </a:p>
          <a:p xmlns:a="http://schemas.openxmlformats.org/drawingml/2006/main">
            <a:pPr marL="0" lvl="0" indent="0" algn="l">
              <a:spcBef>
                <a:spcPts val="0"/>
              </a:spcBef>
              <a:spcAft>
                <a:spcPts val="0"/>
              </a:spcAft>
              <a:buNone/>
            </a:pPr>
            <a:r>
              <a:rPr sz="1200"/>
              <a:t>MASTER26 — MASTER: 24-month RCT results, 2026</a:t>
            </a:r>
            <a:endParaRPr/>
          </a:p>
          <a:p xmlns:a="http://schemas.openxmlformats.org/drawingml/2006/main">
            <a:pPr marL="0" lvl="0" indent="0" algn="l">
              <a:spcBef>
                <a:spcPts val="0"/>
              </a:spcBef>
              <a:spcAft>
                <a:spcPts val="0"/>
              </a:spcAft>
              <a:buNone/>
            </a:pPr>
            <a:r>
              <a:rPr sz="1200"/>
              <a:t>This is extended follow-up of the same 380 randomised men, not a second independent trial. At 24 months, sling met the prespecified non-inferiority criterion on the strict self-reported continence endpoint: risk difference -0.006 (95% CI -0.092 to 0.080), or -0.6 percentage points (-9.2 to +8.0). Further surgery was reported in 20 men (11%) after sling and four (2%) after AUS. Secondary outcomes generally favoured AUS.</a:t>
            </a:r>
            <a:endParaRPr/>
          </a:p>
          <a:p xmlns:a="http://schemas.openxmlformats.org/drawingml/2006/main">
            <a:pPr marL="0" lvl="0" indent="0" algn="l">
              <a:spcBef>
                <a:spcPts val="0"/>
              </a:spcBef>
              <a:spcAft>
                <a:spcPts val="0"/>
              </a:spcAft>
              <a:buNone/>
            </a:pPr>
            <a:r>
              <a:rPr sz="1200"/>
              <a:t>The 15-percentage-point margin applies to the prespecified endpoint, not every outcome. Do not translate non-inferiority into identical effectiveness, zero-pad equivalence or an endorsement for irradiated/reconstructed revision cases. Abstract symptom-score means and adjusted difference are distinct estimates; do not subtract them and label it the adjusted effect.</a:t>
            </a:r>
            <a:endParaRPr/>
          </a:p>
          <a:p xmlns:a="http://schemas.openxmlformats.org/drawingml/2006/main">
            <a:pPr marL="0" lvl="0" indent="0" algn="l">
              <a:spcBef>
                <a:spcPts val="0"/>
              </a:spcBef>
              <a:spcAft>
                <a:spcPts val="0"/>
              </a:spcAft>
              <a:buNone/>
            </a:pPr>
            <a:r>
              <a:rPr sz="1200"/>
              <a:t>https://doi.org/10.1016/j.euf.2026.07.012</a:t>
            </a:r>
            <a:endParaRPr/>
          </a:p>
          <a:p xmlns:a="http://schemas.openxmlformats.org/drawingml/2006/main">
            <a:pPr marL="0" lvl="0" indent="0" algn="l">
              <a:spcBef>
                <a:spcPts val="0"/>
              </a:spcBef>
              <a:spcAft>
                <a:spcPts val="0"/>
              </a:spcAft>
              <a:buNone/>
            </a:pPr>
            <a:r>
              <a:rPr sz="1200"/>
              <a:t>Access: Publisher abstract via Europe PMC</a:t>
            </a:r>
            <a:endParaRPr/>
          </a:p>
          <a:p xmlns:a="http://schemas.openxmlformats.org/drawingml/2006/main">
            <a:pPr marL="0" lvl="0" indent="0" algn="l">
              <a:spcBef>
                <a:spcPts val="0"/>
              </a:spcBef>
              <a:spcAft>
                <a:spcPts val="0"/>
              </a:spcAft>
              <a:buNone/>
            </a:pPr>
            <a:r>
              <a:rPr sz="1200"/>
              <a:t/>
            </a:r>
            <a:endParaRPr/>
          </a:p>
          <a:p xmlns:a="http://schemas.openxmlformats.org/drawingml/2006/main">
            <a:pPr marL="0" lvl="0" indent="0" algn="l">
              <a:spcBef>
                <a:spcPts val="0"/>
              </a:spcBef>
              <a:spcAft>
                <a:spcPts val="0"/>
              </a:spcAft>
              <a:buNone/>
            </a:pPr>
            <a:r>
              <a:rPr sz="1200"/>
              <a:t>URETHMETA26 — Prior urethroplasty: meta-analysis, 2026</a:t>
            </a:r>
            <a:endParaRPr/>
          </a:p>
          <a:p xmlns:a="http://schemas.openxmlformats.org/drawingml/2006/main">
            <a:pPr marL="0" lvl="0" indent="0" algn="l">
              <a:spcBef>
                <a:spcPts val="0"/>
              </a:spcBef>
              <a:spcAft>
                <a:spcPts val="0"/>
              </a:spcAft>
              <a:buNone/>
            </a:pPr>
            <a:r>
              <a:rPr sz="1200"/>
              <a:t>Four studies included 533 men. Prior urethroplasty was associated with higher explantation risk (RR 2.05, 95% CI 1.08-3.89); its pooled erosion difference was not statistically significant. Within repair-technique comparisons, transecting versus non-transecting repair was associated with higher erosion (RR 2.34, 1.30-4.21) and explantation (RR 2.38, 1.59-3.57).</a:t>
            </a:r>
            <a:endParaRPr/>
          </a:p>
          <a:p xmlns:a="http://schemas.openxmlformats.org/drawingml/2006/main">
            <a:pPr marL="0" lvl="0" indent="0" algn="l">
              <a:spcBef>
                <a:spcPts val="0"/>
              </a:spcBef>
              <a:spcAft>
                <a:spcPts val="0"/>
              </a:spcAft>
              <a:buNone/>
            </a:pPr>
            <a:r>
              <a:rPr sz="1200"/>
              <a:t>These are separate comparisons. Pooled observational studies, some overlapping with Davis, do not make the association causal or independently validate one reconstructive strategy. Explain tissue quality and individual anatomy.</a:t>
            </a:r>
            <a:endParaRPr/>
          </a:p>
          <a:p xmlns:a="http://schemas.openxmlformats.org/drawingml/2006/main">
            <a:pPr marL="0" lvl="0" indent="0" algn="l">
              <a:spcBef>
                <a:spcPts val="0"/>
              </a:spcBef>
              <a:spcAft>
                <a:spcPts val="0"/>
              </a:spcAft>
              <a:buNone/>
            </a:pPr>
            <a:r>
              <a:rPr sz="1200"/>
              <a:t>https://doi.org/10.1016/j.urology.2026.05.024</a:t>
            </a:r>
            <a:endParaRPr/>
          </a:p>
          <a:p xmlns:a="http://schemas.openxmlformats.org/drawingml/2006/main">
            <a:pPr marL="0" lvl="0" indent="0" algn="l">
              <a:spcBef>
                <a:spcPts val="0"/>
              </a:spcBef>
              <a:spcAft>
                <a:spcPts val="0"/>
              </a:spcAft>
              <a:buNone/>
            </a:pPr>
            <a:r>
              <a:rPr sz="1200"/>
              <a:t>Access: Publisher abstract via Europe PMC</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rPr sz="1200"/>
              <a:t>Reference additions, outside the timed talk:</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IRRIG26 — Gentamicin withdrawal: AMS 800 cohort, 2026</a:t>
            </a:r>
            <a:endParaRPr/>
          </a:p>
          <a:p xmlns:a="http://schemas.openxmlformats.org/drawingml/2006/main">
            <a:pPr marL="0" lvl="0" indent="0" algn="l">
              <a:spcBef>
                <a:spcPts val="0"/>
              </a:spcBef>
              <a:spcAft>
                <a:spcPts val="0"/>
              </a:spcAft>
              <a:buNone/>
            </a:pPr>
            <a:r>
              <a:t>The before-after study included 173 uncoated AMS 800 procedures in 164 men: 59 gentamicin-containing and 114 gentamicin-free. Ninety-day SSI occurred in 1/59 (1.7%) and 2/114 (1.8%), respectively; the risk difference was +0.1 percentage points (95% CI -7.4 to +4.7). No significant difference was detected.</a:t>
            </a:r>
            <a:endParaRPr sz="1200"/>
          </a:p>
          <a:p xmlns:a="http://schemas.openxmlformats.org/drawingml/2006/main">
            <a:pPr marL="0" lvl="0" indent="0" algn="l">
              <a:spcBef>
                <a:spcPts val="0"/>
              </a:spcBef>
              <a:spcAft>
                <a:spcPts val="0"/>
              </a:spcAft>
              <a:buNone/>
            </a:pPr>
            <a:r>
              <a:rPr sz="1200"/>
              <a:t>Only three SSIs occurred. The interval allows clinically relevant benefit or harm, so this is not equivalence. Device immersion and wound irrigation changed together; saline immersion and Betadine-containing irrigation continued. Broad IV prophylaxis and ten-day oral antibiotics continued, with an oral-drug change in the later era. It cannot establish that no preparation is needed, that oral prophylaxis is unnecessary, or that the same result applies to coated AMS 800 or ContiClassic.</a:t>
            </a:r>
            <a:endParaRPr/>
          </a:p>
          <a:p xmlns:a="http://schemas.openxmlformats.org/drawingml/2006/main">
            <a:pPr marL="0" lvl="0" indent="0" algn="l">
              <a:spcBef>
                <a:spcPts val="0"/>
              </a:spcBef>
              <a:spcAft>
                <a:spcPts val="0"/>
              </a:spcAft>
              <a:buNone/>
            </a:pPr>
            <a:r>
              <a:t>https://doi.org/10.3390/antibiotics15090894</a:t>
            </a:r>
            <a:endParaRPr sz="1200"/>
          </a:p>
          <a:p xmlns:a="http://schemas.openxmlformats.org/drawingml/2006/main">
            <a:pPr marL="0" lvl="0" indent="0" algn="l">
              <a:spcBef>
                <a:spcPts val="0"/>
              </a:spcBef>
              <a:spcAft>
                <a:spcPts val="0"/>
              </a:spcAft>
              <a:buNone/>
            </a:pPr>
            <a:r>
              <a:rPr sz="1200"/>
              <a:t>Access: Full open article read</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DAYMETA26 — Day-case AUS meta-analysis: 2026 issue</a:t>
            </a:r>
            <a:endParaRPr/>
          </a:p>
          <a:p xmlns:a="http://schemas.openxmlformats.org/drawingml/2006/main">
            <a:pPr marL="0" lvl="0" indent="0" algn="l">
              <a:spcBef>
                <a:spcPts val="0"/>
              </a:spcBef>
              <a:spcAft>
                <a:spcPts val="0"/>
              </a:spcAft>
              <a:buNone/>
            </a:pPr>
            <a:r>
              <a:t>Six studies included 2,424 men; four (1,085) entered the meta-analysis. No statistically significant difference was detected in retention (RR 1.44, 95% CI 0.81-2.56) or 90-day emergency visits (RR 0.91, 0.59-1.42).</a:t>
            </a:r>
            <a:endParaRPr sz="1200"/>
          </a:p>
          <a:p xmlns:a="http://schemas.openxmlformats.org/drawingml/2006/main">
            <a:pPr marL="0" lvl="0" indent="0" algn="l">
              <a:spcBef>
                <a:spcPts val="0"/>
              </a:spcBef>
              <a:spcAft>
                <a:spcPts val="0"/>
              </a:spcAft>
              <a:buNone/>
            </a:pPr>
            <a:r>
              <a:rPr sz="1200"/>
              <a:t>Moderate-to-serious bias and wide intervals prevent equivalence claims. Same-day catheter-free discharge is a selected pathway, not a universal instruction. Online August 2025; March 2026 issue.</a:t>
            </a:r>
            <a:endParaRPr/>
          </a:p>
          <a:p xmlns:a="http://schemas.openxmlformats.org/drawingml/2006/main">
            <a:pPr marL="0" lvl="0" indent="0" algn="l">
              <a:spcBef>
                <a:spcPts val="0"/>
              </a:spcBef>
              <a:spcAft>
                <a:spcPts val="0"/>
              </a:spcAft>
              <a:buNone/>
            </a:pPr>
            <a:r>
              <a:t>https://doi.org/10.1007/s11255-025-04711-y</a:t>
            </a:r>
            <a:endParaRPr sz="1200"/>
          </a:p>
          <a:p xmlns:a="http://schemas.openxmlformats.org/drawingml/2006/main">
            <a:pPr marL="0" lvl="0" indent="0" algn="l">
              <a:spcBef>
                <a:spcPts val="0"/>
              </a:spcBef>
              <a:spcAft>
                <a:spcPts val="0"/>
              </a:spcAft>
              <a:buNone/>
            </a:pPr>
            <a:r>
              <a:rPr sz="1200"/>
              <a:t>Access: Publisher abstract via Europe PMC</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DAYCASE26 — Day-case versus inpatient AUS: 177 men, 2026</a:t>
            </a:r>
            <a:endParaRPr/>
          </a:p>
          <a:p xmlns:a="http://schemas.openxmlformats.org/drawingml/2006/main">
            <a:pPr marL="0" lvl="0" indent="0" algn="l">
              <a:spcBef>
                <a:spcPts val="0"/>
              </a:spcBef>
              <a:spcAft>
                <a:spcPts val="0"/>
              </a:spcAft>
              <a:buNone/>
            </a:pPr>
            <a:r>
              <a:t>A retrospective primary AMS 800 comparison included 126 ambulatory and 51 inpatient men. The evaluable 30-day composite was 14/124 (11.3%) versus 4/49 (8.2%), p=0.78.</a:t>
            </a:r>
            <a:endParaRPr sz="1200"/>
          </a:p>
          <a:p xmlns:a="http://schemas.openxmlformats.org/drawingml/2006/main">
            <a:pPr marL="0" lvl="0" indent="0" algn="l">
              <a:spcBef>
                <a:spcPts val="0"/>
              </a:spcBef>
              <a:spcAft>
                <a:spcPts val="0"/>
              </a:spcAft>
              <a:buNone/>
            </a:pPr>
            <a:r>
              <a:rPr sz="1200"/>
              <a:t>Inpatient selection depended on ASA score and social circumstances. Confounding and different enrolled/evaluable denominators matter. The abstract's early/severe complication percentages are not sufficiently clear for additional teaching statistics. A nonsignificant result is not proof of equal safety.</a:t>
            </a:r>
            <a:endParaRPr/>
          </a:p>
          <a:p xmlns:a="http://schemas.openxmlformats.org/drawingml/2006/main">
            <a:pPr marL="0" lvl="0" indent="0" algn="l">
              <a:spcBef>
                <a:spcPts val="0"/>
              </a:spcBef>
              <a:spcAft>
                <a:spcPts val="0"/>
              </a:spcAft>
              <a:buNone/>
            </a:pPr>
            <a:r>
              <a:t>https://doi.org/10.1016/j.fjurol.2026.103135</a:t>
            </a:r>
            <a:endParaRPr sz="1200"/>
          </a:p>
          <a:p xmlns:a="http://schemas.openxmlformats.org/drawingml/2006/main">
            <a:pPr marL="0" lvl="0" indent="0" algn="l">
              <a:spcBef>
                <a:spcPts val="0"/>
              </a:spcBef>
              <a:spcAft>
                <a:spcPts val="0"/>
              </a:spcAft>
              <a:buNone/>
            </a:pPr>
            <a:r>
              <a:rPr sz="1200"/>
              <a:t>Access: Publisher abstract via Europe PMC</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FRAIL26 — Frailty and SUI surgery: Medicare cohort, 2026</a:t>
            </a:r>
            <a:endParaRPr/>
          </a:p>
          <a:p xmlns:a="http://schemas.openxmlformats.org/drawingml/2006/main">
            <a:pPr marL="0" lvl="0" indent="0" algn="l">
              <a:spcBef>
                <a:spcPts val="0"/>
              </a:spcBef>
              <a:spcAft>
                <a:spcPts val="0"/>
              </a:spcAft>
              <a:buNone/>
            </a:pPr>
            <a:r>
              <a:t>In 7,252 men undergoing AUS or sling, claims-defined frailty was associated with 30-day complications independently of age and comorbidity. Relative to not frail, adjusted relative risks were 1.5 for prefrail and 2.5 for mildly-to-severely frail men. Revision/removal was also associated with frailty.</a:t>
            </a:r>
            <a:endParaRPr sz="1200"/>
          </a:p>
          <a:p xmlns:a="http://schemas.openxmlformats.org/drawingml/2006/main">
            <a:pPr marL="0" lvl="0" indent="0" algn="l">
              <a:spcBef>
                <a:spcPts val="0"/>
              </a:spcBef>
              <a:spcAft>
                <a:spcPts val="0"/>
              </a:spcAft>
              <a:buNone/>
            </a:pPr>
            <a:r>
              <a:t>Mixed AUS/sling procedures, historical Medicare data and a claims frailty index. These relative risks are not an individual AUS-specific absolute probability, and they do not validate a bedside pump score. Use a practical frailty assessment alongside observed dexterity and cognition.</a:t>
            </a:r>
            <a:endParaRPr sz="1200"/>
          </a:p>
          <a:p xmlns:a="http://schemas.openxmlformats.org/drawingml/2006/main">
            <a:pPr marL="0" lvl="0" indent="0" algn="l">
              <a:spcBef>
                <a:spcPts val="0"/>
              </a:spcBef>
              <a:spcAft>
                <a:spcPts val="0"/>
              </a:spcAft>
              <a:buNone/>
            </a:pPr>
            <a:r>
              <a:t>https://doi.org/10.1097/ju.0000000000005102</a:t>
            </a:r>
            <a:endParaRPr sz="1200"/>
          </a:p>
          <a:p xmlns:a="http://schemas.openxmlformats.org/drawingml/2006/main">
            <a:pPr marL="0" lvl="0" indent="0" algn="l">
              <a:spcBef>
                <a:spcPts val="0"/>
              </a:spcBef>
              <a:spcAft>
                <a:spcPts val="0"/>
              </a:spcAft>
              <a:buNone/>
            </a:pPr>
            <a:r>
              <a:rPr sz="1200"/>
              <a:t>Access: Publisher abstract via Europe PMC</a:t>
            </a:r>
            <a:endParaRPr/>
          </a:p>
          <a:p xmlns:a="http://schemas.openxmlformats.org/drawingml/2006/main">
            <a:pPr marL="0" lvl="0" indent="0" algn="l">
              <a:spcBef>
                <a:spcPts val="0"/>
              </a:spcBef>
              <a:spcAft>
                <a:spcPts val="0"/>
              </a:spcAft>
              <a:buNone/>
            </a:pPr>
            <a:r>
              <a:rPr sz="1200"/>
              <a:t/>
            </a:r>
            <a:endParaRPr/>
          </a:p>
          <a:p xmlns:a="http://schemas.openxmlformats.org/drawingml/2006/main">
            <a:pPr marL="0" lvl="0" indent="0" algn="l">
              <a:spcBef>
                <a:spcPts val="0"/>
              </a:spcBef>
              <a:spcAft>
                <a:spcPts val="0"/>
              </a:spcAft>
              <a:buNone/>
            </a:pPr>
            <a:r>
              <a:rPr sz="1200"/>
              <a:t>PAD26 — Pad count versus 24-hour weight: 2026</a:t>
            </a:r>
            <a:endParaRPr/>
          </a:p>
          <a:p xmlns:a="http://schemas.openxmlformats.org/drawingml/2006/main">
            <a:pPr marL="0" lvl="0" indent="0" algn="l">
              <a:spcBef>
                <a:spcPts val="0"/>
              </a:spcBef>
              <a:spcAft>
                <a:spcPts val="0"/>
              </a:spcAft>
              <a:buNone/>
            </a:pPr>
            <a:r>
              <a:rPr sz="1200"/>
              <a:t>A retrospective analysis of prospectively collected follow-up included 2,040 men and 8,787 paired measurements. Pad count tracked leakage well overall (Spearman rho 0.94), but two-to-four pads/day had considerable weight variability.</a:t>
            </a:r>
            <a:endParaRPr/>
          </a:p>
          <a:p xmlns:a="http://schemas.openxmlformats.org/drawingml/2006/main">
            <a:pPr marL="0" lvl="0" indent="0" algn="l">
              <a:spcBef>
                <a:spcPts val="0"/>
              </a:spcBef>
              <a:spcAft>
                <a:spcPts val="0"/>
              </a:spcAft>
              <a:buNone/>
            </a:pPr>
            <a:r>
              <a:rPr sz="1200"/>
              <a:t>Repeated observations are not independent additional patients; single-centre first-year post-RP follow-up is not a universal AUS selection rule. Pad weight is particularly helpful when the intermediate count, activity or pad type leaves severity uncertain.</a:t>
            </a:r>
            <a:endParaRPr/>
          </a:p>
          <a:p xmlns:a="http://schemas.openxmlformats.org/drawingml/2006/main">
            <a:pPr marL="0" lvl="0" indent="0" algn="l">
              <a:spcBef>
                <a:spcPts val="0"/>
              </a:spcBef>
              <a:spcAft>
                <a:spcPts val="0"/>
              </a:spcAft>
              <a:buNone/>
            </a:pPr>
            <a:r>
              <a:rPr sz="1200"/>
              <a:t>https://doi.org/10.1111/bju.70224</a:t>
            </a:r>
            <a:endParaRPr/>
          </a:p>
          <a:p xmlns:a="http://schemas.openxmlformats.org/drawingml/2006/main">
            <a:pPr marL="0" lvl="0" indent="0" algn="l">
              <a:spcBef>
                <a:spcPts val="0"/>
              </a:spcBef>
              <a:spcAft>
                <a:spcPts val="0"/>
              </a:spcAft>
              <a:buNone/>
            </a:pPr>
            <a:r>
              <a:rPr sz="1200"/>
              <a:t>Access: Publisher abstract via Europe PMC</a:t>
            </a:r>
            <a:endParaRPr/>
          </a:p>
          <a:p xmlns:a="http://schemas.openxmlformats.org/drawingml/2006/main">
            <a:pPr marL="0" lvl="0" indent="0" algn="l">
              <a:spcBef>
                <a:spcPts val="0"/>
              </a:spcBef>
              <a:spcAft>
                <a:spcPts val="0"/>
              </a:spcAft>
              <a:buNone/>
            </a:pPr>
            <a:r>
              <a:rPr sz="1200"/>
              <a:t/>
            </a:r>
            <a:endParaRPr/>
          </a:p>
          <a:p xmlns:a="http://schemas.openxmlformats.org/drawingml/2006/main">
            <a:pPr marL="0" lvl="0" indent="0" algn="l">
              <a:spcBef>
                <a:spcPts val="0"/>
              </a:spcBef>
              <a:spcAft>
                <a:spcPts val="0"/>
              </a:spcAft>
              <a:buNone/>
            </a:pPr>
            <a:r>
              <a:rPr sz="1200"/>
              <a:t>PRBFAT26 — PRB material fatigue: 2026 issue</a:t>
            </a:r>
            <a:endParaRPr/>
          </a:p>
          <a:p xmlns:a="http://schemas.openxmlformats.org/drawingml/2006/main">
            <a:pPr marL="0" lvl="0" indent="0" algn="l">
              <a:spcBef>
                <a:spcPts val="0"/>
              </a:spcBef>
              <a:spcAft>
                <a:spcPts val="0"/>
              </a:spcAft>
              <a:buNone/>
            </a:pPr>
            <a:r>
              <a:rPr sz="1200"/>
              <a:t>Mechanical testing compared 32 retrieved balloons with one new balloon; seven underwent additional testing. Age correlated with increased stiffness and reduced wall thickness; microcracks were seen in the four oldest specimens tested microscopically.</a:t>
            </a:r>
            <a:endParaRPr/>
          </a:p>
          <a:p xmlns:a="http://schemas.openxmlformats.org/drawingml/2006/main">
            <a:pPr marL="0" lvl="0" indent="0" algn="l">
              <a:spcBef>
                <a:spcPts val="0"/>
              </a:spcBef>
              <a:spcAft>
                <a:spcPts val="0"/>
              </a:spcAft>
              <a:buNone/>
            </a:pPr>
            <a:r>
              <a:rPr sz="1200"/>
              <a:t>Retrieved components are selected samples; laboratory ageing is mechanistic evidence, not a trial of balloon-only versus complete-system revision. Do not replace a balloon solely because three years have elapsed. Online December 2025; 2026 issue.</a:t>
            </a:r>
            <a:endParaRPr/>
          </a:p>
          <a:p xmlns:a="http://schemas.openxmlformats.org/drawingml/2006/main">
            <a:pPr marL="0" lvl="0" indent="0" algn="l">
              <a:spcBef>
                <a:spcPts val="0"/>
              </a:spcBef>
              <a:spcAft>
                <a:spcPts val="0"/>
              </a:spcAft>
              <a:buNone/>
            </a:pPr>
            <a:r>
              <a:rPr sz="1200"/>
              <a:t>https://doi.org/10.1016/j.urology.2025.12.031</a:t>
            </a:r>
            <a:endParaRPr/>
          </a:p>
          <a:p xmlns:a="http://schemas.openxmlformats.org/drawingml/2006/main">
            <a:pPr marL="0" lvl="0" indent="0" algn="l">
              <a:spcBef>
                <a:spcPts val="0"/>
              </a:spcBef>
              <a:spcAft>
                <a:spcPts val="0"/>
              </a:spcAft>
              <a:buNone/>
            </a:pPr>
            <a:r>
              <a:rPr sz="1200"/>
              <a:t>Access: Publisher abstract via Europe PMC</a:t>
            </a:r>
            <a:endParaRPr/>
          </a:p>
          <a:p xmlns:a="http://schemas.openxmlformats.org/drawingml/2006/main">
            <a:pPr marL="0" lvl="0" indent="0" algn="l">
              <a:spcBef>
                <a:spcPts val="0"/>
              </a:spcBef>
              <a:spcAft>
                <a:spcPts val="0"/>
              </a:spcAft>
              <a:buNone/>
            </a:pPr>
            <a:r>
              <a:rPr sz="1200"/>
              <a:t/>
            </a:r>
            <a:endParaRPr/>
          </a:p>
          <a:p xmlns:a="http://schemas.openxmlformats.org/drawingml/2006/main">
            <a:pPr marL="0" lvl="0" indent="0" algn="l">
              <a:spcBef>
                <a:spcPts val="0"/>
              </a:spcBef>
              <a:spcAft>
                <a:spcPts val="0"/>
              </a:spcAft>
              <a:buNone/>
            </a:pPr>
            <a:r>
              <a:rPr sz="1200"/>
              <a:t>REGRET26 — Long-term decisional regret after AUS, 2026 issue</a:t>
            </a:r>
            <a:endParaRPr/>
          </a:p>
          <a:p xmlns:a="http://schemas.openxmlformats.org/drawingml/2006/main">
            <a:pPr marL="0" lvl="0" indent="0" algn="l">
              <a:spcBef>
                <a:spcPts val="0"/>
              </a:spcBef>
              <a:spcAft>
                <a:spcPts val="0"/>
              </a:spcAft>
              <a:buNone/>
            </a:pPr>
            <a:r>
              <a:rPr sz="1200"/>
              <a:t>Ninety-one men responded (87.5%), with median follow-up 82 months. Reoperation was the only independent predictor of regret in the reported model (+18 points on the Decisional Regret Scale). Continence benefit persisted but deteriorated over time.</a:t>
            </a:r>
            <a:endParaRPr/>
          </a:p>
          <a:p xmlns:a="http://schemas.openxmlformats.org/drawingml/2006/main">
            <a:pPr marL="0" lvl="0" indent="0" algn="l">
              <a:spcBef>
                <a:spcPts val="0"/>
              </a:spcBef>
              <a:spcAft>
                <a:spcPts val="0"/>
              </a:spcAft>
              <a:buNone/>
            </a:pPr>
            <a:r>
              <a:rPr sz="1200"/>
              <a:t>A retrospective single-centre survivor/respondent cohort without a nonsurgical comparator. Association does not prove reoperation causes all regret or predict an individual response. Counselling should include residual leakage, future surgery and psychological burden. Online December 2025; 2026 issue.</a:t>
            </a:r>
            <a:endParaRPr/>
          </a:p>
          <a:p xmlns:a="http://schemas.openxmlformats.org/drawingml/2006/main">
            <a:pPr marL="0" lvl="0" indent="0" algn="l">
              <a:spcBef>
                <a:spcPts val="0"/>
              </a:spcBef>
              <a:spcAft>
                <a:spcPts val="0"/>
              </a:spcAft>
              <a:buNone/>
            </a:pPr>
            <a:r>
              <a:rPr sz="1200"/>
              <a:t>https://doi.org/10.1016/j.euros.2025.12.006</a:t>
            </a:r>
            <a:endParaRPr/>
          </a:p>
          <a:p xmlns:a="http://schemas.openxmlformats.org/drawingml/2006/main">
            <a:pPr marL="0" lvl="0" indent="0" algn="l">
              <a:spcBef>
                <a:spcPts val="0"/>
              </a:spcBef>
              <a:spcAft>
                <a:spcPts val="0"/>
              </a:spcAft>
              <a:buNone/>
            </a:pPr>
            <a:r>
              <a:rPr sz="1200"/>
              <a:t>Access: Full open article read</a:t>
            </a:r>
            <a:endParaRPr/>
          </a:p>
          <a:p xmlns:a="http://schemas.openxmlformats.org/drawingml/2006/main">
            <a:pPr marL="0" lvl="0" indent="0" algn="l">
              <a:spcBef>
                <a:spcPts val="0"/>
              </a:spcBef>
              <a:spcAft>
                <a:spcPts val="0"/>
              </a:spcAft>
              <a:buNone/>
            </a:pPr>
            <a:r>
              <a:rPr sz="1200"/>
              <a:t/>
            </a:r>
            <a:endParaRPr/>
          </a:p>
          <a:p xmlns:a="http://schemas.openxmlformats.org/drawingml/2006/main">
            <a:pPr marL="0" lvl="0" indent="0" algn="l">
              <a:spcBef>
                <a:spcPts val="0"/>
              </a:spcBef>
              <a:spcAft>
                <a:spcPts val="0"/>
              </a:spcAft>
              <a:buNone/>
            </a:pPr>
            <a:r>
              <a:rPr sz="1200"/>
              <a:t>INSTR26 — AUS instrumentation knowledge survey, 2026</a:t>
            </a:r>
            <a:endParaRPr/>
          </a:p>
          <a:p xmlns:a="http://schemas.openxmlformats.org/drawingml/2006/main">
            <a:pPr marL="0" lvl="0" indent="0" algn="l">
              <a:spcBef>
                <a:spcPts val="0"/>
              </a:spcBef>
              <a:spcAft>
                <a:spcPts val="0"/>
              </a:spcAft>
              <a:buNone/>
            </a:pPr>
            <a:r>
              <a:rPr sz="1200"/>
              <a:t>A survey of 286 Turkish urologists identified training and confidence gaps in AUS deactivation and instrumentation. It reinforces the practical value of patient/device information and a clear urgent-contact route.</a:t>
            </a:r>
            <a:endParaRPr/>
          </a:p>
          <a:p xmlns:a="http://schemas.openxmlformats.org/drawingml/2006/main">
            <a:pPr marL="0" lvl="0" indent="0" algn="l">
              <a:spcBef>
                <a:spcPts val="0"/>
              </a:spcBef>
              <a:spcAft>
                <a:spcPts val="0"/>
              </a:spcAft>
              <a:buNone/>
            </a:pPr>
            <a:r>
              <a:rPr sz="1200"/>
              <a:t>A self-selected knowledge survey, not a catheter-safety trial. Its proposed diameter/duration answers cannot become universal rules for every cuff, tissue or device. Follow the actual system's instructions.</a:t>
            </a:r>
            <a:endParaRPr/>
          </a:p>
          <a:p xmlns:a="http://schemas.openxmlformats.org/drawingml/2006/main">
            <a:pPr marL="0" lvl="0" indent="0" algn="l">
              <a:spcBef>
                <a:spcPts val="0"/>
              </a:spcBef>
              <a:spcAft>
                <a:spcPts val="0"/>
              </a:spcAft>
              <a:buNone/>
            </a:pPr>
            <a:r>
              <a:rPr sz="1200"/>
              <a:t>https://doi.org/10.1002/nau.70417</a:t>
            </a:r>
            <a:endParaRPr/>
          </a:p>
          <a:p xmlns:a="http://schemas.openxmlformats.org/drawingml/2006/main">
            <a:pPr marL="0" lvl="0" indent="0" algn="l">
              <a:spcBef>
                <a:spcPts val="0"/>
              </a:spcBef>
              <a:spcAft>
                <a:spcPts val="0"/>
              </a:spcAft>
              <a:buNone/>
            </a:pPr>
            <a:r>
              <a:rPr sz="1200"/>
              <a:t>Access: Publisher abstract via Europe PMC</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rPr sz="1200"/>
              <a:t>Reference additions, outside the timed talk:</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EROSION26 — Immediate urethral repair at explantation, 2026</a:t>
            </a:r>
            <a:endParaRPr/>
          </a:p>
          <a:p xmlns:a="http://schemas.openxmlformats.org/drawingml/2006/main">
            <a:pPr marL="0" lvl="0" indent="0" algn="l">
              <a:spcBef>
                <a:spcPts val="0"/>
              </a:spcBef>
              <a:spcAft>
                <a:spcPts val="0"/>
              </a:spcAft>
              <a:buNone/>
            </a:pPr>
            <a:r>
              <a:t>In a selected single-centre series of 16 men, one developed a stricture after repair at eroded-cuff explantation (6.3%); seven developed wound dehiscence requiring closure (43.8%). The low stricture rate therefore sits beside a substantial wound-treatment burden.</a:t>
            </a:r>
            <a:endParaRPr sz="1200"/>
          </a:p>
          <a:p xmlns:a="http://schemas.openxmlformats.org/drawingml/2006/main">
            <a:pPr marL="0" lvl="0" indent="0" algn="l">
              <a:spcBef>
                <a:spcPts val="0"/>
              </a:spcBef>
              <a:spcAft>
                <a:spcPts val="0"/>
              </a:spcAft>
              <a:buNone/>
            </a:pPr>
            <a:r>
              <a:rPr sz="1200"/>
              <a:t>No drainage-only comparator, small sample and median 14-month follow-up. This is not an interim SAFER comparative result and does not establish universal immediate repair. Partial and circumferential erosions require different reconstructive assessments.</a:t>
            </a:r>
            <a:endParaRPr/>
          </a:p>
          <a:p xmlns:a="http://schemas.openxmlformats.org/drawingml/2006/main">
            <a:pPr marL="0" lvl="0" indent="0" algn="l">
              <a:spcBef>
                <a:spcPts val="0"/>
              </a:spcBef>
              <a:spcAft>
                <a:spcPts val="0"/>
              </a:spcAft>
              <a:buNone/>
            </a:pPr>
            <a:r>
              <a:t>https://doi.org/10.1007/s00345-026-06629-1</a:t>
            </a:r>
            <a:endParaRPr sz="1200"/>
          </a:p>
          <a:p xmlns:a="http://schemas.openxmlformats.org/drawingml/2006/main">
            <a:pPr marL="0" lvl="0" indent="0" algn="l">
              <a:spcBef>
                <a:spcPts val="0"/>
              </a:spcBef>
              <a:spcAft>
                <a:spcPts val="0"/>
              </a:spcAft>
              <a:buNone/>
            </a:pPr>
            <a:r>
              <a:rPr sz="1200"/>
              <a:t>Access: Publisher abstract via Europe PMC</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DEVICE26 — Emerging AUS devices review, 2026</a:t>
            </a:r>
            <a:endParaRPr/>
          </a:p>
          <a:p xmlns:a="http://schemas.openxmlformats.org/drawingml/2006/main">
            <a:pPr marL="0" lvl="0" indent="0" algn="l">
              <a:spcBef>
                <a:spcPts val="0"/>
              </a:spcBef>
              <a:spcAft>
                <a:spcPts val="0"/>
              </a:spcAft>
              <a:buNone/>
            </a:pPr>
            <a:r>
              <a:t>The contemporary review describes new hydraulic and electronic designs, while emphasising the lack of robust direct comparisons and long-term outcomes for many devices. It supports keeping engineering advantages separate from proven clinical superiority.</a:t>
            </a:r>
            <a:endParaRPr sz="1200"/>
          </a:p>
          <a:p xmlns:a="http://schemas.openxmlformats.org/drawingml/2006/main">
            <a:pPr marL="0" lvl="0" indent="0" algn="l">
              <a:spcBef>
                <a:spcPts val="0"/>
              </a:spcBef>
              <a:spcAft>
                <a:spcPts val="0"/>
              </a:spcAft>
              <a:buNone/>
            </a:pPr>
            <a:r>
              <a:rPr sz="1200"/>
              <a:t>A review combining clinical, regulatory, manufacturer and preclinical materials is context rather than a head-to-head trial. Early ContiClassic safety cannot be compared with AMS 800 continence as if the endpoints were interchangeable.</a:t>
            </a:r>
            <a:endParaRPr/>
          </a:p>
          <a:p xmlns:a="http://schemas.openxmlformats.org/drawingml/2006/main">
            <a:pPr marL="0" lvl="0" indent="0" algn="l">
              <a:spcBef>
                <a:spcPts val="0"/>
              </a:spcBef>
              <a:spcAft>
                <a:spcPts val="0"/>
              </a:spcAft>
              <a:buNone/>
            </a:pPr>
            <a:r>
              <a:t>https://doi.org/10.1002/nau.70400</a:t>
            </a:r>
            <a:endParaRPr sz="1200"/>
          </a:p>
          <a:p xmlns:a="http://schemas.openxmlformats.org/drawingml/2006/main">
            <a:pPr marL="0" lvl="0" indent="0" algn="l">
              <a:spcBef>
                <a:spcPts val="0"/>
              </a:spcBef>
              <a:spcAft>
                <a:spcPts val="0"/>
              </a:spcAft>
              <a:buNone/>
            </a:pPr>
            <a:r>
              <a:rPr sz="1200"/>
              <a:t>Access: Publisher abstract via Europe PMC</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SECOND26 — Second AUS survival: national French cohort, 2026</a:t>
            </a:r>
            <a:endParaRPr/>
          </a:p>
          <a:p xmlns:a="http://schemas.openxmlformats.org/drawingml/2006/main">
            <a:pPr marL="0" lvl="0" indent="0" algn="l">
              <a:spcBef>
                <a:spcPts val="0"/>
              </a:spcBef>
              <a:spcAft>
                <a:spcPts val="0"/>
              </a:spcAft>
              <a:buNone/>
            </a:pPr>
            <a:r>
              <a:t>The national cohort included 1,619 second AUS implants: 1,165 replacements and 454 reimplantations after removal. Median follow-up was 53 months; reintervention-free survival was 68% at five years and 61% at ten years. Only 21% of men whose first device was removed received a subsequent implant.</a:t>
            </a:r>
            <a:endParaRPr sz="1200"/>
          </a:p>
          <a:p xmlns:a="http://schemas.openxmlformats.org/drawingml/2006/main">
            <a:pPr marL="0" lvl="0" indent="0" algn="l">
              <a:spcBef>
                <a:spcPts val="0"/>
              </a:spcBef>
              <a:spcAft>
                <a:spcPts val="0"/>
              </a:spcAft>
              <a:buNone/>
            </a:pPr>
            <a:r>
              <a:rPr sz="1200"/>
              <a:t>Administrative observational data distinguish replacement from reimplantation after removal. These results are not primary-implant survival, pad-free continence or a randomised choice of revision method. They strengthen consent about the uncertain path after erosion/explantation.</a:t>
            </a:r>
            <a:endParaRPr/>
          </a:p>
          <a:p xmlns:a="http://schemas.openxmlformats.org/drawingml/2006/main">
            <a:pPr marL="0" lvl="0" indent="0" algn="l">
              <a:spcBef>
                <a:spcPts val="0"/>
              </a:spcBef>
              <a:spcAft>
                <a:spcPts val="0"/>
              </a:spcAft>
              <a:buNone/>
            </a:pPr>
            <a:r>
              <a:t>https://doi.org/10.1590/s1677-5538.ibju.2025.0374</a:t>
            </a:r>
            <a:endParaRPr sz="1200"/>
          </a:p>
          <a:p xmlns:a="http://schemas.openxmlformats.org/drawingml/2006/main">
            <a:pPr marL="0" lvl="0" indent="0" algn="l">
              <a:spcBef>
                <a:spcPts val="0"/>
              </a:spcBef>
              <a:spcAft>
                <a:spcPts val="0"/>
              </a:spcAft>
              <a:buNone/>
            </a:pPr>
            <a:r>
              <a:rPr sz="1200"/>
              <a:t>Access: Full open article read</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TCSYS25 — Transcorporal systematic review, online 2025</a:t>
            </a:r>
            <a:endParaRPr/>
          </a:p>
          <a:p xmlns:a="http://schemas.openxmlformats.org/drawingml/2006/main">
            <a:pPr marL="0" lvl="0" indent="0" algn="l">
              <a:spcBef>
                <a:spcPts val="0"/>
              </a:spcBef>
              <a:spcAft>
                <a:spcPts val="0"/>
              </a:spcAft>
              <a:buNone/>
            </a:pPr>
            <a:r>
              <a:t>Twenty studies were included, eight comparative. The meta-analysis associated transcorporal placement with more revisions (OR 2.99, 95% CI 1.16-7.75), less erosion (OR 0.35, 0.15-0.81) and infection (OR 0.33, 0.12-0.95), with no significant explantation difference.</a:t>
            </a:r>
            <a:endParaRPr sz="1200"/>
          </a:p>
          <a:p xmlns:a="http://schemas.openxmlformats.org/drawingml/2006/main">
            <a:pPr marL="0" lvl="0" indent="0" algn="l">
              <a:spcBef>
                <a:spcPts val="0"/>
              </a:spcBef>
              <a:spcAft>
                <a:spcPts val="0"/>
              </a:spcAft>
              <a:buNone/>
            </a:pPr>
            <a:r>
              <a:t>Non-randomised series and heterogeneous risk selection; pooled estimates conflict with some individual cohorts. Search ended January 2024 despite online publication in November 2025. Present it as a specialist option with uncertain causal protection, not proof that every fragile urethra should receive it.</a:t>
            </a:r>
            <a:endParaRPr sz="1200"/>
          </a:p>
          <a:p xmlns:a="http://schemas.openxmlformats.org/drawingml/2006/main">
            <a:pPr marL="0" lvl="0" indent="0" algn="l">
              <a:spcBef>
                <a:spcPts val="0"/>
              </a:spcBef>
              <a:spcAft>
                <a:spcPts val="0"/>
              </a:spcAft>
              <a:buNone/>
            </a:pPr>
            <a:r>
              <a:t>https://doi.org/10.1016/j.urology.2025.11.222</a:t>
            </a:r>
            <a:endParaRPr sz="1200"/>
          </a:p>
          <a:p xmlns:a="http://schemas.openxmlformats.org/drawingml/2006/main">
            <a:pPr marL="0" lvl="0" indent="0" algn="l">
              <a:spcBef>
                <a:spcPts val="0"/>
              </a:spcBef>
              <a:spcAft>
                <a:spcPts val="0"/>
              </a:spcAft>
              <a:buNone/>
            </a:pPr>
            <a:r>
              <a:rPr sz="1200"/>
              <a:t>Access: Publisher abstract via Europe PMC</a:t>
            </a:r>
            <a:endParaRPr/>
          </a:p>
          <a:p xmlns:a="http://schemas.openxmlformats.org/drawingml/2006/main">
            <a:pPr marL="0" lvl="0" indent="0" algn="l">
              <a:spcBef>
                <a:spcPts val="0"/>
              </a:spcBef>
              <a:spcAft>
                <a:spcPts val="0"/>
              </a:spcAft>
              <a:buNone/>
            </a:pPr>
            <a:r>
              <a:rPr sz="1200"/>
              <a:t/>
            </a:r>
            <a:endParaRPr/>
          </a:p>
          <a:p xmlns:a="http://schemas.openxmlformats.org/drawingml/2006/main">
            <a:pPr marL="0" lvl="0" indent="0" algn="l">
              <a:spcBef>
                <a:spcPts val="0"/>
              </a:spcBef>
              <a:spcAft>
                <a:spcPts val="0"/>
              </a:spcAft>
              <a:buNone/>
            </a:pPr>
            <a:r>
              <a:rPr sz="1200"/>
              <a:t>RTTIME25 — Radiation and cuff-removal timing cohort, 2025</a:t>
            </a:r>
            <a:endParaRPr/>
          </a:p>
          <a:p xmlns:a="http://schemas.openxmlformats.org/drawingml/2006/main">
            <a:pPr marL="0" lvl="0" indent="0" algn="l">
              <a:spcBef>
                <a:spcPts val="0"/>
              </a:spcBef>
              <a:spcAft>
                <a:spcPts val="0"/>
              </a:spcAft>
              <a:buNone/>
            </a:pPr>
            <a:r>
              <a:rPr sz="1200"/>
              <a:t>In 283 men, prior radiation was associated with cuff removal (HR 3.30, 95% CI 1.05-10.40). Exploratory modelling suggested a later-implantation trend after radiation, but this was not statistically significant.</a:t>
            </a:r>
            <a:endParaRPr/>
          </a:p>
          <a:p xmlns:a="http://schemas.openxmlformats.org/drawingml/2006/main">
            <a:pPr marL="0" lvl="0" indent="0" algn="l">
              <a:spcBef>
                <a:spcPts val="0"/>
              </a:spcBef>
              <a:spcAft>
                <a:spcPts val="0"/>
              </a:spcAft>
              <a:buNone/>
            </a:pPr>
            <a:r>
              <a:rPr sz="1200"/>
              <a:t>The wide interval and retrospective spline analysis do not validate a 635-day or 1.74-year waiting rule. Radiation risk, oncological timing, urethral stability and individual function must be considered separately.</a:t>
            </a:r>
            <a:endParaRPr/>
          </a:p>
          <a:p xmlns:a="http://schemas.openxmlformats.org/drawingml/2006/main">
            <a:pPr marL="0" lvl="0" indent="0" algn="l">
              <a:spcBef>
                <a:spcPts val="0"/>
              </a:spcBef>
              <a:spcAft>
                <a:spcPts val="0"/>
              </a:spcAft>
              <a:buNone/>
            </a:pPr>
            <a:r>
              <a:rPr sz="1200"/>
              <a:t>https://doi.org/10.1007/s00345-025-05625-1</a:t>
            </a:r>
            <a:endParaRPr/>
          </a:p>
          <a:p xmlns:a="http://schemas.openxmlformats.org/drawingml/2006/main">
            <a:pPr marL="0" lvl="0" indent="0" algn="l">
              <a:spcBef>
                <a:spcPts val="0"/>
              </a:spcBef>
              <a:spcAft>
                <a:spcPts val="0"/>
              </a:spcAft>
              <a:buNone/>
            </a:pPr>
            <a:r>
              <a:rPr sz="1200"/>
              <a:t>Access: Publisher abstract via Europe PMC</a:t>
            </a:r>
            <a:endParaRPr/>
          </a:p>
          <a:p xmlns:a="http://schemas.openxmlformats.org/drawingml/2006/main">
            <a:pPr marL="0" lvl="0" indent="0" algn="l">
              <a:spcBef>
                <a:spcPts val="0"/>
              </a:spcBef>
              <a:spcAft>
                <a:spcPts val="0"/>
              </a:spcAft>
              <a:buNone/>
            </a:pPr>
            <a:r>
              <a:rPr sz="1200"/>
              <a:t/>
            </a:r>
            <a:endParaRPr/>
          </a:p>
          <a:p xmlns:a="http://schemas.openxmlformats.org/drawingml/2006/main">
            <a:pPr marL="0" lvl="0" indent="0" algn="l">
              <a:spcBef>
                <a:spcPts val="0"/>
              </a:spcBef>
              <a:spcAft>
                <a:spcPts val="0"/>
              </a:spcAft>
              <a:buNone/>
            </a:pPr>
            <a:r>
              <a:rPr sz="1200"/>
              <a:t>UROACTIVE26 — Electronic AUS: first-in-human study, 2026</a:t>
            </a:r>
            <a:endParaRPr/>
          </a:p>
          <a:p xmlns:a="http://schemas.openxmlformats.org/drawingml/2006/main">
            <a:pPr marL="0" lvl="0" indent="0" algn="l">
              <a:spcBef>
                <a:spcPts val="0"/>
              </a:spcBef>
              <a:spcAft>
                <a:spcPts val="0"/>
              </a:spcAft>
              <a:buNone/>
            </a:pPr>
            <a:r>
              <a:rPr sz="1200"/>
              <a:t>Six men received the electronic UroActive AUS; all activated successfully, with no explant or surgical revision during one year after activation. Nine device deficiencies involved the remote control.</a:t>
            </a:r>
            <a:endParaRPr/>
          </a:p>
          <a:p xmlns:a="http://schemas.openxmlformats.org/drawingml/2006/main">
            <a:pPr marL="0" lvl="0" indent="0" algn="l">
              <a:spcBef>
                <a:spcPts val="0"/>
              </a:spcBef>
              <a:spcAft>
                <a:spcPts val="0"/>
              </a:spcAft>
              <a:buNone/>
            </a:pPr>
            <a:r>
              <a:rPr sz="1200"/>
              <a:t>A very small single-arm feasibility study. Zero observed revisions is not zero risk or comparative superiority; it does not establish replacement of manual hydraulic devices in routine practice.</a:t>
            </a:r>
            <a:endParaRPr/>
          </a:p>
          <a:p xmlns:a="http://schemas.openxmlformats.org/drawingml/2006/main">
            <a:pPr marL="0" lvl="0" indent="0" algn="l">
              <a:spcBef>
                <a:spcPts val="0"/>
              </a:spcBef>
              <a:spcAft>
                <a:spcPts val="0"/>
              </a:spcAft>
              <a:buNone/>
            </a:pPr>
            <a:r>
              <a:rPr sz="1200"/>
              <a:t>https://doi.org/10.1097/ju.0000000000004945</a:t>
            </a:r>
            <a:endParaRPr/>
          </a:p>
          <a:p xmlns:a="http://schemas.openxmlformats.org/drawingml/2006/main">
            <a:pPr marL="0" lvl="0" indent="0" algn="l">
              <a:spcBef>
                <a:spcPts val="0"/>
              </a:spcBef>
              <a:spcAft>
                <a:spcPts val="0"/>
              </a:spcAft>
              <a:buNone/>
            </a:pPr>
            <a:r>
              <a:rPr sz="1200"/>
              <a:t>Access: Publisher abstract via Europe PMC</a:t>
            </a:r>
            <a:endParaRPr/>
          </a:p>
          <a:p xmlns:a="http://schemas.openxmlformats.org/drawingml/2006/main">
            <a:pPr marL="0" lvl="0" indent="0" algn="l">
              <a:spcBef>
                <a:spcPts val="0"/>
              </a:spcBef>
              <a:spcAft>
                <a:spcPts val="0"/>
              </a:spcAft>
              <a:buNone/>
            </a:pPr>
            <a:r>
              <a:rPr sz="1200"/>
              <a:t/>
            </a:r>
            <a:endParaRPr/>
          </a:p>
          <a:p xmlns:a="http://schemas.openxmlformats.org/drawingml/2006/main">
            <a:pPr marL="0" lvl="0" indent="0" algn="l">
              <a:spcBef>
                <a:spcPts val="0"/>
              </a:spcBef>
              <a:spcAft>
                <a:spcPts val="0"/>
              </a:spcAft>
              <a:buNone/>
            </a:pPr>
            <a:r>
              <a:rPr sz="1200"/>
              <a:t>REPORT26 — Standardised complication reporting: 2026</a:t>
            </a:r>
            <a:endParaRPr/>
          </a:p>
          <a:p xmlns:a="http://schemas.openxmlformats.org/drawingml/2006/main">
            <a:pPr marL="0" lvl="0" indent="0" algn="l">
              <a:spcBef>
                <a:spcPts val="0"/>
              </a:spcBef>
              <a:spcAft>
                <a:spcPts val="0"/>
              </a:spcAft>
              <a:buNone/>
            </a:pPr>
            <a:r>
              <a:rPr sz="1200"/>
              <a:t>A retrospective 227-implant series using systematic complication capture reported 47% early complications, predominantly minor, and 7.9% major complications requiring intervention. Five-year explantation-free survival was 73%.</a:t>
            </a:r>
            <a:endParaRPr/>
          </a:p>
          <a:p xmlns:a="http://schemas.openxmlformats.org/drawingml/2006/main">
            <a:pPr marL="0" lvl="0" indent="0" algn="l">
              <a:spcBef>
                <a:spcPts val="0"/>
              </a:spcBef>
              <a:spcAft>
                <a:spcPts val="0"/>
              </a:spcAft>
              <a:buNone/>
            </a:pPr>
            <a:r>
              <a:rPr sz="1200"/>
              <a:t>Selected techniques included distal double cuffs and transcorporal cuffs. These results are not a universal primary single-bulbar-cuff complication rate. Systematic reporting and endpoint definitions explain why superficially similar published percentages differ.</a:t>
            </a:r>
            <a:endParaRPr/>
          </a:p>
          <a:p xmlns:a="http://schemas.openxmlformats.org/drawingml/2006/main">
            <a:pPr marL="0" lvl="0" indent="0" algn="l">
              <a:spcBef>
                <a:spcPts val="0"/>
              </a:spcBef>
              <a:spcAft>
                <a:spcPts val="0"/>
              </a:spcAft>
              <a:buNone/>
            </a:pPr>
            <a:r>
              <a:rPr sz="1200"/>
              <a:t>https://doi.org/10.1007/s00345-026-06246-y</a:t>
            </a:r>
            <a:endParaRPr/>
          </a:p>
          <a:p xmlns:a="http://schemas.openxmlformats.org/drawingml/2006/main">
            <a:pPr marL="0" lvl="0" indent="0" algn="l">
              <a:spcBef>
                <a:spcPts val="0"/>
              </a:spcBef>
              <a:spcAft>
                <a:spcPts val="0"/>
              </a:spcAft>
              <a:buNone/>
            </a:pPr>
            <a:r>
              <a:rPr sz="1200"/>
              <a:t>Access: Full open article read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91b721b85934793" /></Relationships>
</file>

<file path=ppt/slideLayouts/slideLayout1.xml><?xml version="1.0" encoding="utf-8"?>
<p:sldLayout xmlns:p="http://schemas.openxmlformats.org/presentationml/2006/main" matchingName="Title Slide" type="title">
  <p:cSld name="TITL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5b90e2f0b85452e" /><Relationship Type="http://schemas.openxmlformats.org/officeDocument/2006/relationships/slideLayout" Target="/ppt/slideLayouts/slideLayout1.xml" Id="R73c5fe07109e4186" /></Relationships>
</file>

<file path=ppt/slideMasters/slideMaster1.xml><?xml version="1.0" encoding="utf-8"?>
<p:sldMaster xmlns:p="http://schemas.openxmlformats.org/presentationml/2006/main">
  <p:cSld>
    <p:bg>
      <p:bgPr>
        <a:solidFill xmlns:a="http://schemas.openxmlformats.org/drawingml/2006/main">
          <a:schemeClr val="lt1"/>
        </a:solidFill>
      </p:bgPr>
    </p:bg>
    <p:spTree>
      <p:nvGrpSpPr>
        <p:cNvPr id="1" name=""/>
        <p:cNvGrpSpPr/>
        <p:nvPr/>
      </p:nvGrpSpPr>
      <p:grpSpPr>
        <a:xfrm xmlns:a="http://schemas.openxmlformats.org/drawingml/2006/main"/>
      </p:grpSpPr>
    </p:spTree>
  </p:cSld>
  <p:clrMap bg1="lt1" tx1="dk1" bg2="dk2" tx2="lt2" accent1="accent1" accent2="accent2" accent3="accent3" accent4="accent4" accent5="accent5" accent6="accent6" hlink="hlink" folHlink="folHlink"/>
  <p:sldLayoutIdLst>
    <p:sldLayoutId xmlns:r="http://schemas.openxmlformats.org/officeDocument/2006/relationships" id="2147483649" r:id="R73c5fe07109e4186"/>
  </p:sldLayoutIdLst>
  <p:hf sldNum="0" hdr="0" ftr="0" dt="0"/>
  <p:txStyles>
    <p:title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titleStyle>
    <p:body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bodyStyle>
    <p:other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hatGP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7c4dc6a03c224014" /><Relationship Type="http://schemas.openxmlformats.org/officeDocument/2006/relationships/image" Target="/ppt/media/image.png" Id="Rdbb07247ab4d43db" /><Relationship Type="http://schemas.openxmlformats.org/officeDocument/2006/relationships/notesSlide" Target="/ppt/notesSlides/notesSlide1.xml" Id="R20c31e9dff564b5b"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641a474bd35b4bfe" /><Relationship Type="http://schemas.openxmlformats.org/officeDocument/2006/relationships/notesSlide" Target="/ppt/notesSlides/notesSlide2.xml" Id="R329440e5fd644440"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b33795e9d3084972" /><Relationship Type="http://schemas.openxmlformats.org/officeDocument/2006/relationships/notesSlide" Target="/ppt/notesSlides/notesSlide3.xml" Id="Rafb45bd47049457a"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de00f62d7d4541b6" /><Relationship Type="http://schemas.openxmlformats.org/officeDocument/2006/relationships/notesSlide" Target="/ppt/notesSlides/notesSlide4.xml" Id="Rac23d66faa5949c7"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57b245a9109e460e" /><Relationship Type="http://schemas.openxmlformats.org/officeDocument/2006/relationships/notesSlide" Target="/ppt/notesSlides/notesSlide5.xml" Id="Rd0eacb62a844456d"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77eaf0252c694c5e" /><Relationship Type="http://schemas.openxmlformats.org/officeDocument/2006/relationships/image" Target="/ppt/media/image2.png" Id="Rf28c826e5164477d" /><Relationship Type="http://schemas.openxmlformats.org/officeDocument/2006/relationships/notesSlide" Target="/ppt/notesSlides/notesSlide6.xml" Id="Re097de6189f743b6"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1773f6f6a23147b4" /><Relationship Type="http://schemas.openxmlformats.org/officeDocument/2006/relationships/notesSlide" Target="/ppt/notesSlides/notesSlide7.xml" Id="Rec69f1545b274ab7"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a8252ceae82d4282" /><Relationship Type="http://schemas.openxmlformats.org/officeDocument/2006/relationships/notesSlide" Target="/ppt/notesSlides/notesSlide8.xml" Id="R4e5f3a531eae4f02"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d3498f1beb42476e" /><Relationship Type="http://schemas.openxmlformats.org/officeDocument/2006/relationships/notesSlide" Target="/ppt/notesSlides/notesSlide9.xml" Id="R09c1604f970042db"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a9020b0abab7472d" /><Relationship Type="http://schemas.openxmlformats.org/officeDocument/2006/relationships/notesSlide" Target="/ppt/notesSlides/notesSlide10.xml" Id="Rd587e1011f934faa"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d5f2aa43ccb64d2b" /><Relationship Type="http://schemas.openxmlformats.org/officeDocument/2006/relationships/notesSlide" Target="/ppt/notesSlides/notesSlide11.xml" Id="Rf708a214043f4820"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85bc3362432547b2" /><Relationship Type="http://schemas.openxmlformats.org/officeDocument/2006/relationships/notesSlide" Target="/ppt/notesSlides/notesSlide12.xml" Id="R429cfd83ca584580"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d751ad339d4d41e4" /><Relationship Type="http://schemas.openxmlformats.org/officeDocument/2006/relationships/notesSlide" Target="/ppt/notesSlides/notesSlide13.xml" Id="R9e41d67bed984118"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99c4749af094417f" /><Relationship Type="http://schemas.openxmlformats.org/officeDocument/2006/relationships/notesSlide" Target="/ppt/notesSlides/notesSlide14.xml" Id="R75964a48ae4543fb"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6c846fd106ae4f74" /><Relationship Type="http://schemas.openxmlformats.org/officeDocument/2006/relationships/image" Target="/ppt/media/image3.png" Id="Rbc5c7b36ec3644a3" /><Relationship Type="http://schemas.openxmlformats.org/officeDocument/2006/relationships/image" Target="/ppt/media/image4.png" Id="Rc4a05305a97d4c66" /><Relationship Type="http://schemas.openxmlformats.org/officeDocument/2006/relationships/notesSlide" Target="/ppt/notesSlides/notesSlide15.xml" Id="R00e2b13cdfec4894"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e5aecd36e6004caa" /><Relationship Type="http://schemas.openxmlformats.org/officeDocument/2006/relationships/image" Target="/ppt/media/image5.png" Id="Rc20f5d5de3a24197" /><Relationship Type="http://schemas.openxmlformats.org/officeDocument/2006/relationships/notesSlide" Target="/ppt/notesSlides/notesSlide16.xml" Id="R3c48700238b343d9"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48e6a5196d2b4355" /><Relationship Type="http://schemas.openxmlformats.org/officeDocument/2006/relationships/notesSlide" Target="/ppt/notesSlides/notesSlide17.xml" Id="Rf69213feb8d140ad"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b88c0d56d8b14bef" /><Relationship Type="http://schemas.openxmlformats.org/officeDocument/2006/relationships/notesSlide" Target="/ppt/notesSlides/notesSlide18.xml" Id="R2f0584989c46437c"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3ba953b1ede44f3d" /><Relationship Type="http://schemas.openxmlformats.org/officeDocument/2006/relationships/notesSlide" Target="/ppt/notesSlides/notesSlide19.xml" Id="Rcda8e01f5ffb4539"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26e5cdbb4f874780" /><Relationship Type="http://schemas.openxmlformats.org/officeDocument/2006/relationships/notesSlide" Target="/ppt/notesSlides/notesSlide20.xml" Id="R901c818d00964eae"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841e95ef6f844d4c" /><Relationship Type="http://schemas.openxmlformats.org/officeDocument/2006/relationships/notesSlide" Target="/ppt/notesSlides/notesSlide21.xml" Id="R0a7dff830d354395"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a16309398af24204" /><Relationship Type="http://schemas.openxmlformats.org/officeDocument/2006/relationships/image" Target="/ppt/media/image6.png" Id="R50e9f644036a4677" /><Relationship Type="http://schemas.openxmlformats.org/officeDocument/2006/relationships/notesSlide" Target="/ppt/notesSlides/notesSlide22.xml" Id="Rb941ce4b2517413b"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ba3af1c07efd4c49" /><Relationship Type="http://schemas.openxmlformats.org/officeDocument/2006/relationships/notesSlide" Target="/ppt/notesSlides/notesSlide23.xml" Id="R904c4f64245444ab"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fde9e6c25b814d07" /><Relationship Type="http://schemas.openxmlformats.org/officeDocument/2006/relationships/notesSlide" Target="/ppt/notesSlides/notesSlide24.xml" Id="Ra0bc45bf9d2e4c01"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139ea02561d7409f" /><Relationship Type="http://schemas.openxmlformats.org/officeDocument/2006/relationships/notesSlide" Target="/ppt/notesSlides/notesSlide25.xml" Id="R11190c2cd86d49d1"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2f71779e52934c02" /><Relationship Type="http://schemas.openxmlformats.org/officeDocument/2006/relationships/image" Target="/ppt/media/image7.png" Id="R0a440d50116b444a" /><Relationship Type="http://schemas.openxmlformats.org/officeDocument/2006/relationships/notesSlide" Target="/ppt/notesSlides/notesSlide26.xml" Id="R3e589ee993e34c8a"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5c5df8c0cb0e4bc8" /><Relationship Type="http://schemas.openxmlformats.org/officeDocument/2006/relationships/image" Target="/ppt/media/image8.png" Id="R498b90db5ea14efe" /><Relationship Type="http://schemas.openxmlformats.org/officeDocument/2006/relationships/notesSlide" Target="/ppt/notesSlides/notesSlide27.xml" Id="R655f599a858f4466"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f99fe745ff564ec4" /><Relationship Type="http://schemas.openxmlformats.org/officeDocument/2006/relationships/image" Target="/ppt/media/image9.png" Id="Red82c222ed294b0a" /><Relationship Type="http://schemas.openxmlformats.org/officeDocument/2006/relationships/notesSlide" Target="/ppt/notesSlides/notesSlide28.xml" Id="R705e8fcb60bc41ec"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a3286e5407ec43f4" /><Relationship Type="http://schemas.openxmlformats.org/officeDocument/2006/relationships/notesSlide" Target="/ppt/notesSlides/notesSlide29.xml" Id="Rb0e1a2e9d0db4444"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88f907e3937b4abc" /><Relationship Type="http://schemas.openxmlformats.org/officeDocument/2006/relationships/image" Target="/ppt/media/image10.png" Id="Rc03584ee61754edb" /><Relationship Type="http://schemas.openxmlformats.org/officeDocument/2006/relationships/notesSlide" Target="/ppt/notesSlides/notesSlide30.xml" Id="R40770afcec214990"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b0627393b17a4005" /><Relationship Type="http://schemas.openxmlformats.org/officeDocument/2006/relationships/image" Target="/ppt/media/image11.png" Id="R05c28ba10b124a8f" /><Relationship Type="http://schemas.openxmlformats.org/officeDocument/2006/relationships/notesSlide" Target="/ppt/notesSlides/notesSlide31.xml" Id="R4ae06516032a4d39"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e6d32214d8d04cdf" /><Relationship Type="http://schemas.openxmlformats.org/officeDocument/2006/relationships/notesSlide" Target="/ppt/notesSlides/notesSlide32.xml" Id="R11ca601dc07b4481"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7e9e9ae00c6b466e" /><Relationship Type="http://schemas.openxmlformats.org/officeDocument/2006/relationships/image" Target="/ppt/media/image12.png" Id="R786c785947264588" /><Relationship Type="http://schemas.openxmlformats.org/officeDocument/2006/relationships/hyperlink" Target="https://uroops3d.com/lab/aus" TargetMode="External" Id="R7315f3b3515d4f64" /><Relationship Type="http://schemas.openxmlformats.org/officeDocument/2006/relationships/notesSlide" Target="/ppt/notesSlides/notesSlide33.xml" Id="R9651bca3524b452a"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a86430d9ff9640a0" /><Relationship Type="http://schemas.openxmlformats.org/officeDocument/2006/relationships/notesSlide" Target="/ppt/notesSlides/notesSlide34.xml" Id="R3e70fb76f87443a3"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43608bfed95c4df7" /><Relationship Type="http://schemas.openxmlformats.org/officeDocument/2006/relationships/notesSlide" Target="/ppt/notesSlides/notesSlide35.xml" Id="Rc818efb06825414d"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bfb62e24f01d4ba6" /><Relationship Type="http://schemas.openxmlformats.org/officeDocument/2006/relationships/notesSlide" Target="/ppt/notesSlides/notesSlide36.xml" Id="Rf16e4b53746045f5"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620bcd1db2d94cd4" /><Relationship Type="http://schemas.openxmlformats.org/officeDocument/2006/relationships/notesSlide" Target="/ppt/notesSlides/notesSlide37.xml" Id="Rc3e3a950859241d3"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099604eeec8241fc" /><Relationship Type="http://schemas.openxmlformats.org/officeDocument/2006/relationships/notesSlide" Target="/ppt/notesSlides/notesSlide38.xml" Id="Rc967094907444918"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181e81024c5d4587" /><Relationship Type="http://schemas.openxmlformats.org/officeDocument/2006/relationships/notesSlide" Target="/ppt/notesSlides/notesSlide39.xml" Id="Rd4698f7d43bf4624"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c1b2cc23bea84a6a" /><Relationship Type="http://schemas.openxmlformats.org/officeDocument/2006/relationships/notesSlide" Target="/ppt/notesSlides/notesSlide40.xml" Id="R83495a6c601a4b3e"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7bf453841f4a4255" /><Relationship Type="http://schemas.openxmlformats.org/officeDocument/2006/relationships/notesSlide" Target="/ppt/notesSlides/notesSlide41.xml" Id="Rc36c137189f84f01"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ad84f609d3884bdd" /><Relationship Type="http://schemas.openxmlformats.org/officeDocument/2006/relationships/notesSlide" Target="/ppt/notesSlides/notesSlide42.xml" Id="R3a1f422f39d94005"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64ae60ce50354ed4" /><Relationship Type="http://schemas.openxmlformats.org/officeDocument/2006/relationships/hyperlink" Target="https://doi.org/10.1111/bju.16726" TargetMode="External" Id="Rad96062852274a82" /><Relationship Type="http://schemas.openxmlformats.org/officeDocument/2006/relationships/hyperlink" Target="https://uroweb.org/guidelines/management-of-non-neurogenic-male-luts/chapter/disease-management" TargetMode="External" Id="Read07626e602445d" /><Relationship Type="http://schemas.openxmlformats.org/officeDocument/2006/relationships/hyperlink" Target="https://www.auanet.org/documents/Guidelines/PDF/2024 Guidelines/IPT Unabridged Final 6-18-24.pdf" TargetMode="External" Id="R60aeaaace05a4fa8" /><Relationship Type="http://schemas.openxmlformats.org/officeDocument/2006/relationships/hyperlink" Target="https://uroweb.org/guidelines/urethral-strictures/chapter/disease-management-in-males" TargetMode="External" Id="R93338d9c33e14a31" /><Relationship Type="http://schemas.openxmlformats.org/officeDocument/2006/relationships/hyperlink" Target="https://www.ics.org/folder/standardisation/current-ics-standardisations/d/artificial-urinary-sphincter-report-of-the-2015-consensus-conference/download" TargetMode="External" Id="Ra2d3d6b9f40541c0" /><Relationship Type="http://schemas.openxmlformats.org/officeDocument/2006/relationships/hyperlink" Target="https://doi.org/10.1111/iju.15083" TargetMode="External" Id="R82fe3b65a5d44a15" /><Relationship Type="http://schemas.openxmlformats.org/officeDocument/2006/relationships/hyperlink" Target="https://www.rigicon.com/files/e-labeling/ContiClassic-IFU.pdf" TargetMode="External" Id="R9d9e000020f244f2" /><Relationship Type="http://schemas.openxmlformats.org/officeDocument/2006/relationships/hyperlink" Target="https://doi.org/10.1002/nau.23124" TargetMode="External" Id="R6a7968e533ce44ae" /><Relationship Type="http://schemas.openxmlformats.org/officeDocument/2006/relationships/hyperlink" Target="https://doi.org/10.1097/JU.0000000000003985" TargetMode="External" Id="Rcf90e922458244c0" /><Relationship Type="http://schemas.openxmlformats.org/officeDocument/2006/relationships/notesSlide" Target="/ppt/notesSlides/notesSlide43.xml" Id="Rf803f9365d6a44ec"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f0e9e382d0df48cb" /><Relationship Type="http://schemas.openxmlformats.org/officeDocument/2006/relationships/hyperlink" Target="https://www.nice.org.uk/guidance/ng125/chapter/recommendations" TargetMode="External" Id="Rb8a43f838df64bb9" /><Relationship Type="http://schemas.openxmlformats.org/officeDocument/2006/relationships/hyperlink" Target="https://www.who.int/publications/i/item/9789241597906" TargetMode="External" Id="Rad1c66e972d94a08" /><Relationship Type="http://schemas.openxmlformats.org/officeDocument/2006/relationships/hyperlink" Target="https://www.medicines.org.uk/emc/product/101238/smpc" TargetMode="External" Id="Rf8b72e16e7454baa" /><Relationship Type="http://schemas.openxmlformats.org/officeDocument/2006/relationships/hyperlink" Target="https://www.idsociety.org/practice-guideline/asymptomatic-bacteriuria/" TargetMode="External" Id="R19e8bbeb9fea45ab" /><Relationship Type="http://schemas.openxmlformats.org/officeDocument/2006/relationships/hyperlink" Target="https://doi.org/10.1097/JU.0000000000000509" TargetMode="External" Id="R4d59e275f5294856" /><Relationship Type="http://schemas.openxmlformats.org/officeDocument/2006/relationships/hyperlink" Target="https://pubmed.ncbi.nlm.nih.gov/37543658/" TargetMode="External" Id="R0ef312843753474e" /><Relationship Type="http://schemas.openxmlformats.org/officeDocument/2006/relationships/hyperlink" Target="https://doi.org/10.3310/TBFZ0277" TargetMode="External" Id="R635fad21d39c47fd" /><Relationship Type="http://schemas.openxmlformats.org/officeDocument/2006/relationships/hyperlink" Target="https://pubmed.ncbi.nlm.nih.gov/19371935/" TargetMode="External" Id="R868dca45bd73476c" /><Relationship Type="http://schemas.openxmlformats.org/officeDocument/2006/relationships/hyperlink" Target="https://pubmed.ncbi.nlm.nih.gov/21497853/" TargetMode="External" Id="Rfb8d16a56af94498" /><Relationship Type="http://schemas.openxmlformats.org/officeDocument/2006/relationships/notesSlide" Target="/ppt/notesSlides/notesSlide44.xml" Id="Rdb8d2251ed68466b" /></Relationships>
</file>

<file path=ppt/slides/_rels/slide45.xml.rels>&#65279;<?xml version="1.0" encoding="utf-8"?><Relationships xmlns="http://schemas.openxmlformats.org/package/2006/relationships"><Relationship Type="http://schemas.openxmlformats.org/officeDocument/2006/relationships/slideLayout" Target="/ppt/slideLayouts/slideLayout1.xml" Id="R9cae5e44da224d92" /><Relationship Type="http://schemas.openxmlformats.org/officeDocument/2006/relationships/hyperlink" Target="https://doi.org/10.1002/bco2.442" TargetMode="External" Id="Rdc3cf29530c94219" /><Relationship Type="http://schemas.openxmlformats.org/officeDocument/2006/relationships/hyperlink" Target="https://pubmed.ncbi.nlm.nih.gov/36921845/" TargetMode="External" Id="Rfcb257e840f34a08" /><Relationship Type="http://schemas.openxmlformats.org/officeDocument/2006/relationships/hyperlink" Target="https://pubmed.ncbi.nlm.nih.gov/36906798/" TargetMode="External" Id="R260e96048fb24e4d" /><Relationship Type="http://schemas.openxmlformats.org/officeDocument/2006/relationships/hyperlink" Target="https://pubmed.ncbi.nlm.nih.gov/36332702/" TargetMode="External" Id="R08d10eb4deb34748" /><Relationship Type="http://schemas.openxmlformats.org/officeDocument/2006/relationships/hyperlink" Target="https://pubmed.ncbi.nlm.nih.gov/24074987/" TargetMode="External" Id="R38397ebc16264232" /><Relationship Type="http://schemas.openxmlformats.org/officeDocument/2006/relationships/hyperlink" Target="https://pubmed.ncbi.nlm.nih.gov/25483765/" TargetMode="External" Id="Rb8b526d3072a47d0" /><Relationship Type="http://schemas.openxmlformats.org/officeDocument/2006/relationships/hyperlink" Target="https://doi.org/10.3389/fsurg.2022.825239" TargetMode="External" Id="R80b9b53f318741ed" /><Relationship Type="http://schemas.openxmlformats.org/officeDocument/2006/relationships/hyperlink" Target="https://pubmed.ncbi.nlm.nih.gov/41022035/" TargetMode="External" Id="R36a70ee436774414" /><Relationship Type="http://schemas.openxmlformats.org/officeDocument/2006/relationships/hyperlink" Target="https://doi.org/10.5489/cuaj.6431" TargetMode="External" Id="R08295113c03a42a3" /><Relationship Type="http://schemas.openxmlformats.org/officeDocument/2006/relationships/notesSlide" Target="/ppt/notesSlides/notesSlide45.xml" Id="R5286a1b26f354d4d" /></Relationships>
</file>

<file path=ppt/slides/_rels/slide46.xml.rels>&#65279;<?xml version="1.0" encoding="utf-8"?><Relationships xmlns="http://schemas.openxmlformats.org/package/2006/relationships"><Relationship Type="http://schemas.openxmlformats.org/officeDocument/2006/relationships/slideLayout" Target="/ppt/slideLayouts/slideLayout1.xml" Id="R4433b76db89e4bcb" /><Relationship Type="http://schemas.openxmlformats.org/officeDocument/2006/relationships/hyperlink" Target="https://pubmed.ncbi.nlm.nih.gov/36749394/" TargetMode="External" Id="R26ed76f2d37e4007" /><Relationship Type="http://schemas.openxmlformats.org/officeDocument/2006/relationships/hyperlink" Target="https://doi.org/10.21037/tau.2019.07.18" TargetMode="External" Id="Rdca876b6986d4224" /><Relationship Type="http://schemas.openxmlformats.org/officeDocument/2006/relationships/hyperlink" Target="https://tau.amegroups.org/article/view/130351/html" TargetMode="External" Id="R8ab70dd81ebe46fa" /><Relationship Type="http://schemas.openxmlformats.org/officeDocument/2006/relationships/hyperlink" Target="https://pubmed.ncbi.nlm.nih.gov/23164373/" TargetMode="External" Id="R761a1c151ff44ec1" /><Relationship Type="http://schemas.openxmlformats.org/officeDocument/2006/relationships/hyperlink" Target="https://doi.org/10.1016/j.urology.2017.07.064" TargetMode="External" Id="Rd615dd7fbee74a51" /><Relationship Type="http://schemas.openxmlformats.org/officeDocument/2006/relationships/hyperlink" Target="https://doi.org/10.5152/tud.2023.22136" TargetMode="External" Id="R857be31b25e74636" /><Relationship Type="http://schemas.openxmlformats.org/officeDocument/2006/relationships/hyperlink" Target="https://pubmed.ncbi.nlm.nih.gov/26135815/" TargetMode="External" Id="Rf3746a89bebe4e3b" /><Relationship Type="http://schemas.openxmlformats.org/officeDocument/2006/relationships/hyperlink" Target="https://pmc.ncbi.nlm.nih.gov/articles/PMC12794701/" TargetMode="External" Id="R5748c9004dee42be" /><Relationship Type="http://schemas.openxmlformats.org/officeDocument/2006/relationships/notesSlide" Target="/ppt/notesSlides/notesSlide46.xml" Id="Re17ef01acfbb4d67" /></Relationships>
</file>

<file path=ppt/slides/_rels/slide47.xml.rels>&#65279;<?xml version="1.0" encoding="utf-8"?><Relationships xmlns="http://schemas.openxmlformats.org/package/2006/relationships"><Relationship Type="http://schemas.openxmlformats.org/officeDocument/2006/relationships/slideLayout" Target="/ppt/slideLayouts/slideLayout1.xml" Id="Rc8fe190a69eb47fb" /><Relationship Type="http://schemas.openxmlformats.org/officeDocument/2006/relationships/hyperlink" Target="https://helpdesk.auanet.org/hc/en-us/articles/40948838469143-Guidelines" TargetMode="External" Id="Rdfbd4d6c011f447c" /><Relationship Type="http://schemas.openxmlformats.org/officeDocument/2006/relationships/hyperlink" Target="https://journals.sagepub.com/doi/full/10.1177/20514158261451299" TargetMode="External" Id="R0311aebd328940ee" /><Relationship Type="http://schemas.openxmlformats.org/officeDocument/2006/relationships/hyperlink" Target="https://journals.sagepub.com/doi/full/10.1177/20514158261451299" TargetMode="External" Id="Rb7a05fb776774a65" /><Relationship Type="http://schemas.openxmlformats.org/officeDocument/2006/relationships/hyperlink" Target="https://doi.org/10.1097/01.JU.0001191316.72449.22.22" TargetMode="External" Id="R75ff4be8b4ea4140" /><Relationship Type="http://schemas.openxmlformats.org/officeDocument/2006/relationships/hyperlink" Target="https://doi.org/10.1097/01.JU.0001191316.72449.22.18" TargetMode="External" Id="R816568730f924130" /><Relationship Type="http://schemas.openxmlformats.org/officeDocument/2006/relationships/hyperlink" Target="https://doi.org/10.1097/01.JU.0001191316.72449.22.17" TargetMode="External" Id="Rac47faac222b42ba" /><Relationship Type="http://schemas.openxmlformats.org/officeDocument/2006/relationships/hyperlink" Target="https://doi.org/10.1016/j.euf.2026.07.012" TargetMode="External" Id="R4389e244afea4a66" /><Relationship Type="http://schemas.openxmlformats.org/officeDocument/2006/relationships/hyperlink" Target="https://doi.org/10.1016/j.urology.2026.05.024" TargetMode="External" Id="Rcdedef0c064540e4" /><Relationship Type="http://schemas.openxmlformats.org/officeDocument/2006/relationships/notesSlide" Target="/ppt/notesSlides/notesSlide47.xml" Id="R2a91c4bb57294347" /></Relationships>
</file>

<file path=ppt/slides/_rels/slide48.xml.rels>&#65279;<?xml version="1.0" encoding="utf-8"?><Relationships xmlns="http://schemas.openxmlformats.org/package/2006/relationships"><Relationship Type="http://schemas.openxmlformats.org/officeDocument/2006/relationships/slideLayout" Target="/ppt/slideLayouts/slideLayout1.xml" Id="R270e247dca4940d1" /><Relationship Type="http://schemas.openxmlformats.org/officeDocument/2006/relationships/hyperlink" Target="https://doi.org/10.3390/antibiotics15090894" TargetMode="External" Id="Rb7e8ec8814fc4258" /><Relationship Type="http://schemas.openxmlformats.org/officeDocument/2006/relationships/hyperlink" Target="https://doi.org/10.1007/s11255-025-04711-y" TargetMode="External" Id="R2bba7903f75341fb" /><Relationship Type="http://schemas.openxmlformats.org/officeDocument/2006/relationships/hyperlink" Target="https://doi.org/10.1016/j.fjurol.2026.103135" TargetMode="External" Id="R054f2552f682469b" /><Relationship Type="http://schemas.openxmlformats.org/officeDocument/2006/relationships/hyperlink" Target="https://doi.org/10.1097/ju.0000000000005102" TargetMode="External" Id="Rf545ed39d52c4fd9" /><Relationship Type="http://schemas.openxmlformats.org/officeDocument/2006/relationships/hyperlink" Target="https://doi.org/10.1111/bju.70224" TargetMode="External" Id="Rf162f4535d1449e8" /><Relationship Type="http://schemas.openxmlformats.org/officeDocument/2006/relationships/hyperlink" Target="https://doi.org/10.1016/j.urology.2025.12.031" TargetMode="External" Id="Rcfb16a3b6bcb4231" /><Relationship Type="http://schemas.openxmlformats.org/officeDocument/2006/relationships/hyperlink" Target="https://doi.org/10.1016/j.euros.2025.12.006" TargetMode="External" Id="Rc2d8a0a9523a4910" /><Relationship Type="http://schemas.openxmlformats.org/officeDocument/2006/relationships/hyperlink" Target="https://doi.org/10.1002/nau.70417" TargetMode="External" Id="R314b93abce9a41f1" /><Relationship Type="http://schemas.openxmlformats.org/officeDocument/2006/relationships/notesSlide" Target="/ppt/notesSlides/notesSlide48.xml" Id="Rc24feb7659a941ae" /></Relationships>
</file>

<file path=ppt/slides/_rels/slide49.xml.rels>&#65279;<?xml version="1.0" encoding="utf-8"?><Relationships xmlns="http://schemas.openxmlformats.org/package/2006/relationships"><Relationship Type="http://schemas.openxmlformats.org/officeDocument/2006/relationships/slideLayout" Target="/ppt/slideLayouts/slideLayout1.xml" Id="Rb3c8761f5d794142" /><Relationship Type="http://schemas.openxmlformats.org/officeDocument/2006/relationships/hyperlink" Target="https://doi.org/10.1007/s00345-026-06629-1" TargetMode="External" Id="Rcb160f8167c543a1" /><Relationship Type="http://schemas.openxmlformats.org/officeDocument/2006/relationships/hyperlink" Target="https://doi.org/10.1002/nau.70400" TargetMode="External" Id="R4c461daf406a44dd" /><Relationship Type="http://schemas.openxmlformats.org/officeDocument/2006/relationships/hyperlink" Target="https://doi.org/10.1590/s1677-5538.ibju.2025.0374" TargetMode="External" Id="R7c510c2b74274100" /><Relationship Type="http://schemas.openxmlformats.org/officeDocument/2006/relationships/hyperlink" Target="https://doi.org/10.1016/j.urology.2025.11.222" TargetMode="External" Id="Ra9b1c3ca1b814845" /><Relationship Type="http://schemas.openxmlformats.org/officeDocument/2006/relationships/hyperlink" Target="https://doi.org/10.1007/s00345-025-05625-1" TargetMode="External" Id="R8f45e874dc4f4067" /><Relationship Type="http://schemas.openxmlformats.org/officeDocument/2006/relationships/hyperlink" Target="https://doi.org/10.1097/ju.0000000000004945" TargetMode="External" Id="Rec62ab02731b44f1" /><Relationship Type="http://schemas.openxmlformats.org/officeDocument/2006/relationships/hyperlink" Target="https://doi.org/10.1007/s00345-026-06246-y" TargetMode="External" Id="Ra5d94814c3be4a0c" /><Relationship Type="http://schemas.openxmlformats.org/officeDocument/2006/relationships/notesSlide" Target="/ppt/notesSlides/notesSlide49.xml" Id="Rbd8e90aa12d847a7"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26" name="Google Shape;16;p3"/>
          <p:cNvPicPr>
            <a:picLocks xmlns:a="http://schemas.openxmlformats.org/drawingml/2006/main" noChangeAspect="1"/>
          </p:cNvPicPr>
          <p:nvPr/>
        </p:nvPicPr>
        <p:blipFill rotWithShape="1">
          <a:blip xmlns:r="http://schemas.openxmlformats.org/officeDocument/2006/relationships" xmlns:a="http://schemas.openxmlformats.org/drawingml/2006/main" r:embed="Rdbb07247ab4d43db">
            <a:alphaModFix/>
          </a:blip>
          <a:srcRect xmlns:a="http://schemas.openxmlformats.org/drawingml/2006/main" l="0" t="0" r="0" b="0"/>
          <a:stretch xmlns:a="http://schemas.openxmlformats.org/drawingml/2006/main"/>
        </p:blipFill>
        <p:spPr>
          <a:xfrm xmlns:a="http://schemas.openxmlformats.org/drawingml/2006/main">
            <a:off x="6000750" y="1365250"/>
            <a:ext cx="6191250" cy="4127500"/>
          </a:xfrm>
          <a:prstGeom xmlns:a="http://schemas.openxmlformats.org/drawingml/2006/main" prst="rect">
            <a:avLst/>
          </a:prstGeom>
          <a:ln xmlns:a="http://schemas.openxmlformats.org/drawingml/2006/main">
            <a:noFill/>
          </a:ln>
        </p:spPr>
      </p:pic>
      <p:sp>
        <p:nvSpPr>
          <p:cNvPr id="17" name="Google Shape;17;p3">
            <a:extLst xmlns:a="http://schemas.openxmlformats.org/drawingml/2006/main">
              <a:ext uri="{FF2B5EF4-FFF2-40B4-BE49-F238E27FC236}">
                <a16:creationId xmlns:a16="http://schemas.microsoft.com/office/drawing/2014/main" id="{88E77A58-1E86-4E07-8665-897E39A5B061}"/>
              </a:ext>
            </a:extLst>
          </p:cNvPr>
          <p:cNvSpPr>
            <a:spLocks xmlns:a="http://schemas.openxmlformats.org/drawingml/2006/main" noGrp="1"/>
          </p:cNvSpPr>
          <p:nvPr/>
        </p:nvSpPr>
        <p:spPr>
          <a:xfrm xmlns:a="http://schemas.openxmlformats.org/drawingml/2006/main">
            <a:off x="609600" y="1333500"/>
            <a:ext cx="5476875" cy="1762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4350" b="1">
                <a:solidFill>
                  <a:srgbClr val="183343"/>
                </a:solidFill>
                <a:latin typeface="Arial"/>
                <a:ea typeface="Arial"/>
                <a:cs typeface="Arial"/>
              </a:rPr>
              <a:t>Artificial urinary</a:t>
            </a:r>
            <a:endParaRPr/>
          </a:p>
          <a:p xmlns:a="http://schemas.openxmlformats.org/drawingml/2006/main">
            <a:pPr marL="0" marR="0" lvl="0" indent="0" algn="l">
              <a:spcBef>
                <a:spcPts val="0"/>
              </a:spcBef>
              <a:spcAft>
                <a:spcPts val="0"/>
              </a:spcAft>
              <a:buNone/>
            </a:pPr>
            <a:r>
              <a:rPr sz="4350" b="1">
                <a:solidFill>
                  <a:srgbClr val="183343"/>
                </a:solidFill>
                <a:latin typeface="Arial"/>
                <a:ea typeface="Arial"/>
                <a:cs typeface="Arial"/>
              </a:rPr>
              <a:t>sphincter surgery</a:t>
            </a:r>
            <a:endParaRPr/>
          </a:p>
        </p:txBody>
      </p:sp>
      <p:sp>
        <p:nvSpPr>
          <p:cNvPr id="18" name="Google Shape;18;p3">
            <a:extLst xmlns:a="http://schemas.openxmlformats.org/drawingml/2006/main">
              <a:ext uri="{FF2B5EF4-FFF2-40B4-BE49-F238E27FC236}">
                <a16:creationId xmlns:a16="http://schemas.microsoft.com/office/drawing/2014/main" id="{6926818C-D993-46DE-B6B5-F32622BB70B2}"/>
              </a:ext>
            </a:extLst>
          </p:cNvPr>
          <p:cNvSpPr>
            <a:spLocks xmlns:a="http://schemas.openxmlformats.org/drawingml/2006/main" noGrp="1"/>
          </p:cNvSpPr>
          <p:nvPr/>
        </p:nvSpPr>
        <p:spPr>
          <a:xfrm xmlns:a="http://schemas.openxmlformats.org/drawingml/2006/main">
            <a:off x="609600" y="3429000"/>
            <a:ext cx="5143500" cy="1104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325" b="0">
                <a:solidFill>
                  <a:srgbClr val="526773"/>
                </a:solidFill>
                <a:latin typeface="Arial"/>
                <a:ea typeface="Arial"/>
                <a:cs typeface="Arial"/>
              </a:rPr>
              <a:t>Patient selection, difficult bladders</a:t>
            </a:r>
            <a:endParaRPr/>
          </a:p>
          <a:p xmlns:a="http://schemas.openxmlformats.org/drawingml/2006/main">
            <a:pPr marL="0" marR="0" lvl="0" indent="0" algn="l">
              <a:spcBef>
                <a:spcPts val="0"/>
              </a:spcBef>
              <a:spcAft>
                <a:spcPts val="0"/>
              </a:spcAft>
              <a:buNone/>
            </a:pPr>
            <a:r>
              <a:rPr sz="2325" b="0">
                <a:solidFill>
                  <a:srgbClr val="526773"/>
                </a:solidFill>
                <a:latin typeface="Arial"/>
                <a:ea typeface="Arial"/>
                <a:cs typeface="Arial"/>
              </a:rPr>
              <a:t>and difficult urethras</a:t>
            </a:r>
            <a:endParaRPr/>
          </a:p>
        </p:txBody>
      </p:sp>
      <p:sp>
        <p:nvSpPr>
          <p:cNvPr id="19" name="Google Shape;19;p3">
            <a:extLst xmlns:a="http://schemas.openxmlformats.org/drawingml/2006/main">
              <a:ext uri="{FF2B5EF4-FFF2-40B4-BE49-F238E27FC236}">
                <a16:creationId xmlns:a16="http://schemas.microsoft.com/office/drawing/2014/main" id="{A4E85CBE-06EA-4FC2-BF7C-CAA2DCEA49B5}"/>
              </a:ext>
            </a:extLst>
          </p:cNvPr>
          <p:cNvSpPr>
            <a:spLocks xmlns:a="http://schemas.openxmlformats.org/drawingml/2006/main" noGrp="1"/>
          </p:cNvSpPr>
          <p:nvPr/>
        </p:nvSpPr>
        <p:spPr>
          <a:xfrm xmlns:a="http://schemas.openxmlformats.org/drawingml/2006/main">
            <a:off x="609600" y="495300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0" name="Google Shape;20;p3">
            <a:extLst xmlns:a="http://schemas.openxmlformats.org/drawingml/2006/main">
              <a:ext uri="{FF2B5EF4-FFF2-40B4-BE49-F238E27FC236}">
                <a16:creationId xmlns:a16="http://schemas.microsoft.com/office/drawing/2014/main" id="{38864E53-B17D-4E03-BB42-22CE15E604E6}"/>
              </a:ext>
            </a:extLst>
          </p:cNvPr>
          <p:cNvSpPr>
            <a:spLocks xmlns:a="http://schemas.openxmlformats.org/drawingml/2006/main" noGrp="1"/>
          </p:cNvSpPr>
          <p:nvPr/>
        </p:nvSpPr>
        <p:spPr>
          <a:xfrm xmlns:a="http://schemas.openxmlformats.org/drawingml/2006/main">
            <a:off x="609600" y="4552950"/>
            <a:ext cx="5095875"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75" b="0">
                <a:solidFill>
                  <a:srgbClr val="526773"/>
                </a:solidFill>
                <a:latin typeface="Arial"/>
                <a:ea typeface="Arial"/>
                <a:cs typeface="Arial"/>
              </a:rPr>
              <a:t>[Meeting and date]</a:t>
            </a:r>
            <a:endParaRPr/>
          </a:p>
        </p:txBody>
      </p:sp>
      <p:sp>
        <p:nvSpPr>
          <p:cNvPr id="21" name="Google Shape;21;p3">
            <a:extLst xmlns:a="http://schemas.openxmlformats.org/drawingml/2006/main">
              <a:ext uri="{FF2B5EF4-FFF2-40B4-BE49-F238E27FC236}">
                <a16:creationId xmlns:a16="http://schemas.microsoft.com/office/drawing/2014/main" id="{78C91B36-1C1F-4C6B-987B-E1B69A9CE8EC}"/>
              </a:ext>
            </a:extLst>
          </p:cNvPr>
          <p:cNvSpPr>
            <a:spLocks xmlns:a="http://schemas.openxmlformats.org/drawingml/2006/main" noGrp="1"/>
          </p:cNvSpPr>
          <p:nvPr/>
        </p:nvSpPr>
        <p:spPr>
          <a:xfrm xmlns:a="http://schemas.openxmlformats.org/drawingml/2006/main">
            <a:off x="609600" y="5162550"/>
            <a:ext cx="5095875" cy="304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75" b="1">
                <a:solidFill>
                  <a:srgbClr val="183343"/>
                </a:solidFill>
                <a:latin typeface="Arial"/>
                <a:ea typeface="Arial"/>
                <a:cs typeface="Arial"/>
              </a:rPr>
              <a:t>Mr Abu Yousif</a:t>
            </a:r>
            <a:endParaRPr/>
          </a:p>
        </p:txBody>
      </p:sp>
      <p:sp>
        <p:nvSpPr>
          <p:cNvPr id="22" name="Google Shape;22;p3">
            <a:extLst xmlns:a="http://schemas.openxmlformats.org/drawingml/2006/main">
              <a:ext uri="{FF2B5EF4-FFF2-40B4-BE49-F238E27FC236}">
                <a16:creationId xmlns:a16="http://schemas.microsoft.com/office/drawing/2014/main" id="{E8603EAD-2D67-48A0-AED3-FC7A1F301743}"/>
              </a:ext>
            </a:extLst>
          </p:cNvPr>
          <p:cNvSpPr>
            <a:spLocks xmlns:a="http://schemas.openxmlformats.org/drawingml/2006/main" noGrp="1"/>
          </p:cNvSpPr>
          <p:nvPr/>
        </p:nvSpPr>
        <p:spPr>
          <a:xfrm xmlns:a="http://schemas.openxmlformats.org/drawingml/2006/main">
            <a:off x="609600" y="5476875"/>
            <a:ext cx="5095875"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650" b="0">
                <a:solidFill>
                  <a:srgbClr val="526773"/>
                </a:solidFill>
                <a:latin typeface="Arial"/>
                <a:ea typeface="Arial"/>
                <a:cs typeface="Arial"/>
              </a:rPr>
              <a:t>Urology Consultant</a:t>
            </a:r>
            <a:endParaRPr/>
          </a:p>
        </p:txBody>
      </p:sp>
      <p:sp>
        <p:nvSpPr>
          <p:cNvPr id="23" name="Google Shape;23;p3">
            <a:extLst xmlns:a="http://schemas.openxmlformats.org/drawingml/2006/main">
              <a:ext uri="{FF2B5EF4-FFF2-40B4-BE49-F238E27FC236}">
                <a16:creationId xmlns:a16="http://schemas.microsoft.com/office/drawing/2014/main" id="{9FDBAF1A-D44B-4C16-8894-5B46E3850C7A}"/>
              </a:ext>
            </a:extLst>
          </p:cNvPr>
          <p:cNvSpPr>
            <a:spLocks xmlns:a="http://schemas.openxmlformats.org/drawingml/2006/main" noGrp="1"/>
          </p:cNvSpPr>
          <p:nvPr/>
        </p:nvSpPr>
        <p:spPr>
          <a:xfrm xmlns:a="http://schemas.openxmlformats.org/drawingml/2006/main">
            <a:off x="609600" y="5895975"/>
            <a:ext cx="5095875" cy="304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75" b="1">
                <a:solidFill>
                  <a:srgbClr val="183343"/>
                </a:solidFill>
                <a:latin typeface="Arial"/>
                <a:ea typeface="Arial"/>
                <a:cs typeface="Arial"/>
              </a:rPr>
              <a:t>Nity G</a:t>
            </a:r>
            <a:endParaRPr/>
          </a:p>
        </p:txBody>
      </p:sp>
      <p:sp>
        <p:nvSpPr>
          <p:cNvPr id="24" name="Google Shape;24;p3">
            <a:extLst xmlns:a="http://schemas.openxmlformats.org/drawingml/2006/main">
              <a:ext uri="{FF2B5EF4-FFF2-40B4-BE49-F238E27FC236}">
                <a16:creationId xmlns:a16="http://schemas.microsoft.com/office/drawing/2014/main" id="{0D9EE845-FB92-4D47-A706-4FFF97070DDB}"/>
              </a:ext>
            </a:extLst>
          </p:cNvPr>
          <p:cNvSpPr>
            <a:spLocks xmlns:a="http://schemas.openxmlformats.org/drawingml/2006/main" noGrp="1"/>
          </p:cNvSpPr>
          <p:nvPr/>
        </p:nvSpPr>
        <p:spPr>
          <a:xfrm xmlns:a="http://schemas.openxmlformats.org/drawingml/2006/main">
            <a:off x="609600" y="6210300"/>
            <a:ext cx="5095875"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650" b="0">
                <a:solidFill>
                  <a:srgbClr val="526773"/>
                </a:solidFill>
                <a:latin typeface="Arial"/>
                <a:ea typeface="Arial"/>
                <a:cs typeface="Arial"/>
              </a:rPr>
              <a:t>ST5 Urology Registrar</a:t>
            </a:r>
            <a:endParaRPr/>
          </a:p>
        </p:txBody>
      </p:sp>
    </p:spTree>
    <p:extLst>
      <p:ext uri="{BB962C8B-B14F-4D97-AF65-F5344CB8AC3E}">
        <p14:creationId xmlns:p14="http://schemas.microsoft.com/office/powerpoint/2010/main" val="1571545153"/>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Google Shape;30;p4">
            <a:extLst xmlns:a="http://schemas.openxmlformats.org/drawingml/2006/main">
              <a:ext uri="{FF2B5EF4-FFF2-40B4-BE49-F238E27FC236}">
                <a16:creationId xmlns:a16="http://schemas.microsoft.com/office/drawing/2014/main" id="{F15F03EC-9F1B-4C61-873D-23FE88AA3243}"/>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The decision before theatre</a:t>
            </a:r>
            <a:endParaRPr/>
          </a:p>
        </p:txBody>
      </p:sp>
      <p:sp>
        <p:nvSpPr>
          <p:cNvPr id="31" name="Google Shape;31;p4">
            <a:extLst xmlns:a="http://schemas.openxmlformats.org/drawingml/2006/main">
              <a:ext uri="{FF2B5EF4-FFF2-40B4-BE49-F238E27FC236}">
                <a16:creationId xmlns:a16="http://schemas.microsoft.com/office/drawing/2014/main" id="{2363F1F2-7722-4FA1-BA85-C4D22D9599D0}"/>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32" name="Google Shape;32;p4">
            <a:extLst xmlns:a="http://schemas.openxmlformats.org/drawingml/2006/main">
              <a:ext uri="{FF2B5EF4-FFF2-40B4-BE49-F238E27FC236}">
                <a16:creationId xmlns:a16="http://schemas.microsoft.com/office/drawing/2014/main" id="{71988591-0323-4C3A-B9AA-E1D4652FBDF9}"/>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125" b="0">
                <a:solidFill>
                  <a:srgbClr val="526773"/>
                </a:solidFill>
                <a:latin typeface="Arial"/>
                <a:ea typeface="Arial"/>
                <a:cs typeface="Arial"/>
              </a:rPr>
              <a:t>BAUS25 · AUA24 · ICS16</a:t>
            </a:r>
            <a:endParaRPr/>
          </a:p>
        </p:txBody>
      </p:sp>
      <p:sp>
        <p:nvSpPr>
          <p:cNvPr id="33" name="Google Shape;33;p4">
            <a:extLst xmlns:a="http://schemas.openxmlformats.org/drawingml/2006/main">
              <a:ext uri="{FF2B5EF4-FFF2-40B4-BE49-F238E27FC236}">
                <a16:creationId xmlns:a16="http://schemas.microsoft.com/office/drawing/2014/main" id="{01605D51-8685-41BC-ACAC-4B000A527727}"/>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01</a:t>
            </a:r>
            <a:endParaRPr/>
          </a:p>
        </p:txBody>
      </p:sp>
      <p:sp>
        <p:nvSpPr>
          <p:cNvPr id="34" name="Google Shape;34;p4">
            <a:extLst xmlns:a="http://schemas.openxmlformats.org/drawingml/2006/main">
              <a:ext uri="{FF2B5EF4-FFF2-40B4-BE49-F238E27FC236}">
                <a16:creationId xmlns:a16="http://schemas.microsoft.com/office/drawing/2014/main" id="{B4F13D2F-82A7-4FBA-A6A3-5CD2D37A7BA9}"/>
              </a:ext>
            </a:extLst>
          </p:cNvPr>
          <p:cNvSpPr>
            <a:spLocks xmlns:a="http://schemas.openxmlformats.org/drawingml/2006/main" noGrp="1"/>
          </p:cNvSpPr>
          <p:nvPr/>
        </p:nvSpPr>
        <p:spPr>
          <a:xfrm xmlns:a="http://schemas.openxmlformats.org/drawingml/2006/main">
            <a:off x="609600" y="1809750"/>
            <a:ext cx="10972800" cy="571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400" b="0">
                <a:solidFill>
                  <a:srgbClr val="526773"/>
                </a:solidFill>
                <a:latin typeface="Arial"/>
                <a:ea typeface="Arial"/>
                <a:cs typeface="Arial"/>
              </a:rPr>
              <a:t>Severe leakage is only the starting point</a:t>
            </a:r>
            <a:endParaRPr/>
          </a:p>
        </p:txBody>
      </p:sp>
      <p:sp>
        <p:nvSpPr>
          <p:cNvPr id="35" name="Google Shape;35;p4">
            <a:extLst xmlns:a="http://schemas.openxmlformats.org/drawingml/2006/main">
              <a:ext uri="{FF2B5EF4-FFF2-40B4-BE49-F238E27FC236}">
                <a16:creationId xmlns:a16="http://schemas.microsoft.com/office/drawing/2014/main" id="{DAEF8642-3DD7-45FF-BA04-AC8CC03C9D0C}"/>
              </a:ext>
            </a:extLst>
          </p:cNvPr>
          <p:cNvSpPr>
            <a:spLocks xmlns:a="http://schemas.openxmlformats.org/drawingml/2006/main" noGrp="1"/>
          </p:cNvSpPr>
          <p:nvPr/>
        </p:nvSpPr>
        <p:spPr>
          <a:xfrm xmlns:a="http://schemas.openxmlformats.org/drawingml/2006/main">
            <a:off x="609600" y="2667000"/>
            <a:ext cx="2095500" cy="4762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400" b="1">
                <a:solidFill>
                  <a:srgbClr val="147F83"/>
                </a:solidFill>
                <a:latin typeface="Arial"/>
                <a:ea typeface="Arial"/>
                <a:cs typeface="Arial"/>
              </a:rPr>
              <a:t>Implant</a:t>
            </a:r>
            <a:endParaRPr/>
          </a:p>
        </p:txBody>
      </p:sp>
      <p:sp>
        <p:nvSpPr>
          <p:cNvPr id="36" name="Google Shape;36;p4">
            <a:extLst xmlns:a="http://schemas.openxmlformats.org/drawingml/2006/main">
              <a:ext uri="{FF2B5EF4-FFF2-40B4-BE49-F238E27FC236}">
                <a16:creationId xmlns:a16="http://schemas.microsoft.com/office/drawing/2014/main" id="{5B38ED72-FC83-4016-884E-3220E958195B}"/>
              </a:ext>
            </a:extLst>
          </p:cNvPr>
          <p:cNvSpPr>
            <a:spLocks xmlns:a="http://schemas.openxmlformats.org/drawingml/2006/main" noGrp="1"/>
          </p:cNvSpPr>
          <p:nvPr/>
        </p:nvSpPr>
        <p:spPr>
          <a:xfrm xmlns:a="http://schemas.openxmlformats.org/drawingml/2006/main">
            <a:off x="3095625" y="2686050"/>
            <a:ext cx="8477250" cy="619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SUI, safe storage, reliable emptying and usable pump</a:t>
            </a:r>
            <a:endParaRPr/>
          </a:p>
        </p:txBody>
      </p:sp>
      <p:sp>
        <p:nvSpPr>
          <p:cNvPr id="37" name="Google Shape;37;p4">
            <a:extLst xmlns:a="http://schemas.openxmlformats.org/drawingml/2006/main">
              <a:ext uri="{FF2B5EF4-FFF2-40B4-BE49-F238E27FC236}">
                <a16:creationId xmlns:a16="http://schemas.microsoft.com/office/drawing/2014/main" id="{F74A4E1A-02A7-45A7-AE0D-B847066F71CB}"/>
              </a:ext>
            </a:extLst>
          </p:cNvPr>
          <p:cNvSpPr>
            <a:spLocks xmlns:a="http://schemas.openxmlformats.org/drawingml/2006/main" noGrp="1"/>
          </p:cNvSpPr>
          <p:nvPr/>
        </p:nvSpPr>
        <p:spPr>
          <a:xfrm xmlns:a="http://schemas.openxmlformats.org/drawingml/2006/main">
            <a:off x="609600" y="3400425"/>
            <a:ext cx="2095500" cy="4762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400" b="1">
                <a:solidFill>
                  <a:srgbClr val="997227"/>
                </a:solidFill>
                <a:latin typeface="Arial"/>
                <a:ea typeface="Arial"/>
                <a:cs typeface="Arial"/>
              </a:rPr>
              <a:t>Optimise</a:t>
            </a:r>
            <a:endParaRPr/>
          </a:p>
        </p:txBody>
      </p:sp>
      <p:sp>
        <p:nvSpPr>
          <p:cNvPr id="38" name="Google Shape;38;p4">
            <a:extLst xmlns:a="http://schemas.openxmlformats.org/drawingml/2006/main">
              <a:ext uri="{FF2B5EF4-FFF2-40B4-BE49-F238E27FC236}">
                <a16:creationId xmlns:a16="http://schemas.microsoft.com/office/drawing/2014/main" id="{78084311-194D-46ED-937F-41CAF4DCF662}"/>
              </a:ext>
            </a:extLst>
          </p:cNvPr>
          <p:cNvSpPr>
            <a:spLocks xmlns:a="http://schemas.openxmlformats.org/drawingml/2006/main" noGrp="1"/>
          </p:cNvSpPr>
          <p:nvPr/>
        </p:nvSpPr>
        <p:spPr>
          <a:xfrm xmlns:a="http://schemas.openxmlformats.org/drawingml/2006/main">
            <a:off x="3095625" y="3419475"/>
            <a:ext cx="8477250" cy="619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A treatable bladder or functional problem dominates</a:t>
            </a:r>
            <a:endParaRPr/>
          </a:p>
        </p:txBody>
      </p:sp>
      <p:sp>
        <p:nvSpPr>
          <p:cNvPr id="39" name="Google Shape;39;p4">
            <a:extLst xmlns:a="http://schemas.openxmlformats.org/drawingml/2006/main">
              <a:ext uri="{FF2B5EF4-FFF2-40B4-BE49-F238E27FC236}">
                <a16:creationId xmlns:a16="http://schemas.microsoft.com/office/drawing/2014/main" id="{14502EAA-6EB9-4599-BF41-3A1ABFD5EE4A}"/>
              </a:ext>
            </a:extLst>
          </p:cNvPr>
          <p:cNvSpPr>
            <a:spLocks xmlns:a="http://schemas.openxmlformats.org/drawingml/2006/main" noGrp="1"/>
          </p:cNvSpPr>
          <p:nvPr/>
        </p:nvSpPr>
        <p:spPr>
          <a:xfrm xmlns:a="http://schemas.openxmlformats.org/drawingml/2006/main">
            <a:off x="609600" y="4133850"/>
            <a:ext cx="2095500" cy="4762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400" b="1">
                <a:solidFill>
                  <a:srgbClr val="183343"/>
                </a:solidFill>
                <a:latin typeface="Arial"/>
                <a:ea typeface="Arial"/>
                <a:cs typeface="Arial"/>
              </a:rPr>
              <a:t>Investigate</a:t>
            </a:r>
            <a:endParaRPr/>
          </a:p>
        </p:txBody>
      </p:sp>
      <p:sp>
        <p:nvSpPr>
          <p:cNvPr id="40" name="Google Shape;40;p4">
            <a:extLst xmlns:a="http://schemas.openxmlformats.org/drawingml/2006/main">
              <a:ext uri="{FF2B5EF4-FFF2-40B4-BE49-F238E27FC236}">
                <a16:creationId xmlns:a16="http://schemas.microsoft.com/office/drawing/2014/main" id="{65DDC171-5395-4FEA-ACD7-2D4A93BC5994}"/>
              </a:ext>
            </a:extLst>
          </p:cNvPr>
          <p:cNvSpPr>
            <a:spLocks xmlns:a="http://schemas.openxmlformats.org/drawingml/2006/main" noGrp="1"/>
          </p:cNvSpPr>
          <p:nvPr/>
        </p:nvSpPr>
        <p:spPr>
          <a:xfrm xmlns:a="http://schemas.openxmlformats.org/drawingml/2006/main">
            <a:off x="3095625" y="4152900"/>
            <a:ext cx="8477250" cy="619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The mechanism, measurements or anatomy remain uncertain</a:t>
            </a:r>
            <a:endParaRPr/>
          </a:p>
        </p:txBody>
      </p:sp>
      <p:sp>
        <p:nvSpPr>
          <p:cNvPr id="41" name="Google Shape;41;p4">
            <a:extLst xmlns:a="http://schemas.openxmlformats.org/drawingml/2006/main">
              <a:ext uri="{FF2B5EF4-FFF2-40B4-BE49-F238E27FC236}">
                <a16:creationId xmlns:a16="http://schemas.microsoft.com/office/drawing/2014/main" id="{AB167CE7-C96E-4EBA-A601-91650CB5984A}"/>
              </a:ext>
            </a:extLst>
          </p:cNvPr>
          <p:cNvSpPr>
            <a:spLocks xmlns:a="http://schemas.openxmlformats.org/drawingml/2006/main" noGrp="1"/>
          </p:cNvSpPr>
          <p:nvPr/>
        </p:nvSpPr>
        <p:spPr>
          <a:xfrm xmlns:a="http://schemas.openxmlformats.org/drawingml/2006/main">
            <a:off x="609600" y="4867275"/>
            <a:ext cx="2095500" cy="4762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400" b="1">
                <a:solidFill>
                  <a:srgbClr val="A64135"/>
                </a:solidFill>
                <a:latin typeface="Arial"/>
                <a:ea typeface="Arial"/>
                <a:cs typeface="Arial"/>
              </a:rPr>
              <a:t>Reconsider</a:t>
            </a:r>
            <a:endParaRPr/>
          </a:p>
        </p:txBody>
      </p:sp>
      <p:sp>
        <p:nvSpPr>
          <p:cNvPr id="42" name="Google Shape;42;p4">
            <a:extLst xmlns:a="http://schemas.openxmlformats.org/drawingml/2006/main">
              <a:ext uri="{FF2B5EF4-FFF2-40B4-BE49-F238E27FC236}">
                <a16:creationId xmlns:a16="http://schemas.microsoft.com/office/drawing/2014/main" id="{78C26F52-0832-4AD3-89D3-DC9C7B94E3F1}"/>
              </a:ext>
            </a:extLst>
          </p:cNvPr>
          <p:cNvSpPr>
            <a:spLocks xmlns:a="http://schemas.openxmlformats.org/drawingml/2006/main" noGrp="1"/>
          </p:cNvSpPr>
          <p:nvPr/>
        </p:nvSpPr>
        <p:spPr>
          <a:xfrm xmlns:a="http://schemas.openxmlformats.org/drawingml/2006/main">
            <a:off x="3095625" y="4886325"/>
            <a:ext cx="8477250" cy="619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Safe function or independent device use is unlikely</a:t>
            </a:r>
            <a:endParaRPr/>
          </a:p>
        </p:txBody>
      </p:sp>
    </p:spTree>
    <p:extLst>
      <p:ext uri="{BB962C8B-B14F-4D97-AF65-F5344CB8AC3E}">
        <p14:creationId xmlns:p14="http://schemas.microsoft.com/office/powerpoint/2010/main" val="2111989407"/>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8" name="Google Shape;48;p5">
            <a:extLst xmlns:a="http://schemas.openxmlformats.org/drawingml/2006/main">
              <a:ext uri="{FF2B5EF4-FFF2-40B4-BE49-F238E27FC236}">
                <a16:creationId xmlns:a16="http://schemas.microsoft.com/office/drawing/2014/main" id="{3915633E-5BB2-4033-8193-6A83F8C79067}"/>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Evidence and device boundaries</a:t>
            </a:r>
            <a:endParaRPr/>
          </a:p>
        </p:txBody>
      </p:sp>
      <p:sp>
        <p:nvSpPr>
          <p:cNvPr id="49" name="Google Shape;49;p5">
            <a:extLst xmlns:a="http://schemas.openxmlformats.org/drawingml/2006/main">
              <a:ext uri="{FF2B5EF4-FFF2-40B4-BE49-F238E27FC236}">
                <a16:creationId xmlns:a16="http://schemas.microsoft.com/office/drawing/2014/main" id="{4CC04D64-E05D-4511-97EA-8117FD877187}"/>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0" name="Google Shape;50;p5">
            <a:extLst xmlns:a="http://schemas.openxmlformats.org/drawingml/2006/main">
              <a:ext uri="{FF2B5EF4-FFF2-40B4-BE49-F238E27FC236}">
                <a16:creationId xmlns:a16="http://schemas.microsoft.com/office/drawing/2014/main" id="{288FE6B1-E8BD-44BB-9967-5744F62DEF74}"/>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125" b="0">
                <a:solidFill>
                  <a:srgbClr val="526773"/>
                </a:solidFill>
                <a:latin typeface="Arial"/>
                <a:ea typeface="Arial"/>
                <a:cs typeface="Arial"/>
              </a:rPr>
              <a:t>BAUS25 · EAU26 · AUA24 · ICS16 · AP23 · CCIFU · AUASTATUS26 · DEVICE26</a:t>
            </a:r>
            <a:endParaRPr/>
          </a:p>
        </p:txBody>
      </p:sp>
      <p:sp>
        <p:nvSpPr>
          <p:cNvPr id="51" name="Google Shape;51;p5">
            <a:extLst xmlns:a="http://schemas.openxmlformats.org/drawingml/2006/main">
              <a:ext uri="{FF2B5EF4-FFF2-40B4-BE49-F238E27FC236}">
                <a16:creationId xmlns:a16="http://schemas.microsoft.com/office/drawing/2014/main" id="{085C0719-E7F7-4A14-8062-0D41742BEAD8}"/>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02</a:t>
            </a:r>
            <a:endParaRPr/>
          </a:p>
        </p:txBody>
      </p:sp>
      <p:graphicFrame>
        <p:nvGraphicFramePr>
          <p:cNvPr id="60" name="Google Shape;52;p5"/>
          <p:cNvGraphicFramePr/>
          <p:nvPr/>
        </p:nvGraphicFramePr>
        <p:xfrm>
          <a:off xmlns:a="http://schemas.openxmlformats.org/drawingml/2006/main" x="609600" y="1790700"/>
          <a:ext xmlns:a="http://schemas.openxmlformats.org/drawingml/2006/main" cx="3000000" cy="3000000"/>
        </p:xfrm>
        <a:graphic xmlns:a="http://schemas.openxmlformats.org/drawingml/2006/main">
          <a:graphicData uri="http://schemas.openxmlformats.org/drawingml/2006/table">
            <a:tbl>
              <a:tblPr>
                <a:tableStyleId>{0AF7EDE5-490F-44FA-BAEA-A03204E10917}</a:tableStyleId>
              </a:tblPr>
              <a:tblGrid>
                <a:gridCol w="3381375"/>
                <a:gridCol w="7591425"/>
              </a:tblGrid>
              <a:tr h="552450">
                <a:tc>
                  <a:txBody>
                    <a:bodyPr/>
                    <a:lstStyle/>
                    <a:p>
                      <a:pPr marL="0" marR="0" lvl="0" indent="0" algn="l">
                        <a:spcBef>
                          <a:spcPts val="0"/>
                        </a:spcBef>
                        <a:spcAft>
                          <a:spcPts val="0"/>
                        </a:spcAft>
                        <a:buClr>
                          <a:srgbClr val="FFFFFF"/>
                        </a:buClr>
                        <a:buSzPts val="1950"/>
                        <a:buFont typeface="Arial"/>
                        <a:buNone/>
                      </a:pPr>
                      <a:r>
                        <a:rPr sz="1950" b="1" u="none" cap="none">
                          <a:solidFill>
                            <a:srgbClr val="FFFFFF"/>
                          </a:solidFill>
                          <a:latin typeface="Arial"/>
                          <a:ea typeface="Arial"/>
                          <a:cs typeface="Arial"/>
                        </a:rPr>
                        <a:t>Source</a:t>
                      </a:r>
                      <a:endParaRPr/>
                    </a:p>
                  </a:txBody>
                  <a:tcPr marL="133350" marR="133350" marT="95250" marB="76200" anchor="ctr">
                    <a:solidFill>
                      <a:srgbClr val="183343"/>
                    </a:solidFill>
                  </a:tcPr>
                </a:tc>
                <a:tc>
                  <a:txBody>
                    <a:bodyPr/>
                    <a:lstStyle/>
                    <a:p>
                      <a:pPr marL="0" marR="0" lvl="0" indent="0" algn="l">
                        <a:spcBef>
                          <a:spcPts val="0"/>
                        </a:spcBef>
                        <a:spcAft>
                          <a:spcPts val="0"/>
                        </a:spcAft>
                        <a:buClr>
                          <a:srgbClr val="FFFFFF"/>
                        </a:buClr>
                        <a:buSzPts val="1950"/>
                        <a:buFont typeface="Arial"/>
                        <a:buNone/>
                      </a:pPr>
                      <a:r>
                        <a:rPr sz="1950" b="1">
                          <a:solidFill>
                            <a:srgbClr val="FFFFFF"/>
                          </a:solidFill>
                          <a:latin typeface="Arial"/>
                          <a:ea typeface="Arial"/>
                          <a:cs typeface="Arial"/>
                        </a:rPr>
                        <a:t>What it can tell us</a:t>
                      </a:r>
                      <a:endParaRPr/>
                    </a:p>
                  </a:txBody>
                  <a:tcPr marL="133350" marR="133350" marT="95250" marB="76200" anchor="ctr">
                    <a:solidFill>
                      <a:srgbClr val="183343"/>
                    </a:solidFill>
                  </a:tcPr>
                </a:tc>
              </a:tr>
              <a:tr h="671525">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Guidelines and consensus</a:t>
                      </a:r>
                      <a:endParaRPr/>
                    </a:p>
                  </a:txBody>
                  <a:tcPr marL="133350" marR="133350" marT="95250" marB="76200" anchor="ctr">
                    <a:solidFill>
                      <a:srgbClr val="EEF4F5"/>
                    </a:solidFill>
                  </a:tcPr>
                </a:tc>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A recommended clinical pathway</a:t>
                      </a:r>
                      <a:endParaRPr/>
                    </a:p>
                  </a:txBody>
                  <a:tcPr marL="133350" marR="133350" marT="95250" marB="76200" anchor="ctr">
                    <a:solidFill>
                      <a:srgbClr val="EEF4F5"/>
                    </a:solidFill>
                  </a:tcPr>
                </a:tc>
              </a:tr>
              <a:tr h="671525">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Clinical studies</a:t>
                      </a:r>
                      <a:endParaRPr/>
                    </a:p>
                  </a:txBody>
                  <a:tcPr marL="133350" marR="133350" marT="95250" marB="76200" anchor="ctr">
                    <a:solidFill>
                      <a:srgbClr val="FFFFFF"/>
                    </a:solidFill>
                  </a:tcPr>
                </a:tc>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Outcomes in a defined population</a:t>
                      </a:r>
                      <a:endParaRPr/>
                    </a:p>
                  </a:txBody>
                  <a:tcPr marL="133350" marR="133350" marT="95250" marB="76200" anchor="ctr">
                    <a:solidFill>
                      <a:srgbClr val="FFFFFF"/>
                    </a:solidFill>
                  </a:tcPr>
                </a:tc>
              </a:tr>
              <a:tr h="671525">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Manufacturer IFU</a:t>
                      </a:r>
                      <a:endParaRPr/>
                    </a:p>
                  </a:txBody>
                  <a:tcPr marL="133350" marR="133350" marT="95250" marB="76200" anchor="ctr">
                    <a:solidFill>
                      <a:srgbClr val="EEF4F5"/>
                    </a:solidFill>
                  </a:tcPr>
                </a:tc>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Permitted use and device precautions</a:t>
                      </a:r>
                      <a:endParaRPr/>
                    </a:p>
                  </a:txBody>
                  <a:tcPr marL="133350" marR="133350" marT="95250" marB="76200" anchor="ctr">
                    <a:solidFill>
                      <a:srgbClr val="EEF4F5"/>
                    </a:solidFill>
                  </a:tcPr>
                </a:tc>
              </a:tr>
              <a:tr h="671525">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Expert or local practice</a:t>
                      </a:r>
                      <a:endParaRPr/>
                    </a:p>
                  </a:txBody>
                  <a:tcPr marL="133350" marR="133350" marT="95250" marB="76200" anchor="ctr">
                    <a:solidFill>
                      <a:srgbClr val="FFFFFF"/>
                    </a:solidFill>
                  </a:tcPr>
                </a:tc>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A practical choice with stated uncertainty</a:t>
                      </a:r>
                      <a:endParaRPr/>
                    </a:p>
                  </a:txBody>
                  <a:tcPr marL="133350" marR="133350" marT="95250" marB="76200" anchor="ctr">
                    <a:solidFill>
                      <a:srgbClr val="FFFFFF"/>
                    </a:solidFill>
                  </a:tcPr>
                </a:tc>
              </a:tr>
            </a:tbl>
          </a:graphicData>
        </a:graphic>
      </p:graphicFrame>
      <p:sp>
        <p:nvSpPr>
          <p:cNvPr id="53" name="Google Shape;53;p5">
            <a:extLst xmlns:a="http://schemas.openxmlformats.org/drawingml/2006/main">
              <a:ext uri="{FF2B5EF4-FFF2-40B4-BE49-F238E27FC236}">
                <a16:creationId xmlns:a16="http://schemas.microsoft.com/office/drawing/2014/main" id="{9BE7754C-C007-4C6E-B057-CD6FB4F9C2F8}"/>
              </a:ext>
            </a:extLst>
          </p:cNvPr>
          <p:cNvSpPr>
            <a:spLocks xmlns:a="http://schemas.openxmlformats.org/drawingml/2006/main" noGrp="1"/>
          </p:cNvSpPr>
          <p:nvPr/>
        </p:nvSpPr>
        <p:spPr>
          <a:xfrm xmlns:a="http://schemas.openxmlformats.org/drawingml/2006/main">
            <a:off x="609600" y="5753100"/>
            <a:ext cx="10972800" cy="552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725" b="0">
                <a:solidFill>
                  <a:srgbClr val="526773"/>
                </a:solidFill>
                <a:latin typeface="Arial"/>
                <a:ea typeface="Arial"/>
                <a:cs typeface="Arial"/>
              </a:rPr>
              <a:t>BAUS 2025 · AUA amendment 2024 · EAU 2026. Meeting abstracts are separate evidence. Device results are not interchangeable.</a:t>
            </a:r>
            <a:endParaRPr/>
          </a:p>
        </p:txBody>
      </p:sp>
      <p:sp>
        <p:nvSpPr>
          <p:cNvPr id="54" name="Google Shape;54;p5">
            <a:extLst xmlns:a="http://schemas.openxmlformats.org/drawingml/2006/main">
              <a:ext uri="{FF2B5EF4-FFF2-40B4-BE49-F238E27FC236}">
                <a16:creationId xmlns:a16="http://schemas.microsoft.com/office/drawing/2014/main" id="{7AE069EF-74E3-4422-8448-9E6B32D2A776}"/>
              </a:ext>
            </a:extLst>
          </p:cNvPr>
          <p:cNvSpPr>
            <a:spLocks xmlns:a="http://schemas.openxmlformats.org/drawingml/2006/main" noGrp="1"/>
          </p:cNvSpPr>
          <p:nvPr/>
        </p:nvSpPr>
        <p:spPr>
          <a:xfrm xmlns:a="http://schemas.openxmlformats.org/drawingml/2006/main">
            <a:off x="609600" y="5314950"/>
            <a:ext cx="10972800" cy="304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725" b="0">
                <a:solidFill>
                  <a:srgbClr val="526773"/>
                </a:solidFill>
                <a:latin typeface="Arial"/>
                <a:ea typeface="Arial"/>
                <a:cs typeface="Arial"/>
              </a:rPr>
              <a:t>[Personal disclosures]</a:t>
            </a:r>
            <a:endParaRPr/>
          </a:p>
        </p:txBody>
      </p:sp>
    </p:spTree>
    <p:extLst>
      <p:ext uri="{BB962C8B-B14F-4D97-AF65-F5344CB8AC3E}">
        <p14:creationId xmlns:p14="http://schemas.microsoft.com/office/powerpoint/2010/main" val="612637705"/>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0" name="Google Shape;60;p6">
            <a:extLst xmlns:a="http://schemas.openxmlformats.org/drawingml/2006/main">
              <a:ext uri="{FF2B5EF4-FFF2-40B4-BE49-F238E27FC236}">
                <a16:creationId xmlns:a16="http://schemas.microsoft.com/office/drawing/2014/main" id="{D385D071-C348-442F-A3D2-E5FBB95104C3}"/>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Leakage mechanism and patient goals</a:t>
            </a:r>
            <a:endParaRPr/>
          </a:p>
        </p:txBody>
      </p:sp>
      <p:sp>
        <p:nvSpPr>
          <p:cNvPr id="61" name="Google Shape;61;p6">
            <a:extLst xmlns:a="http://schemas.openxmlformats.org/drawingml/2006/main">
              <a:ext uri="{FF2B5EF4-FFF2-40B4-BE49-F238E27FC236}">
                <a16:creationId xmlns:a16="http://schemas.microsoft.com/office/drawing/2014/main" id="{081FFDE1-0FA9-4D99-9364-4BE1D26F3A2B}"/>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 name="Google Shape;62;p6">
            <a:extLst xmlns:a="http://schemas.openxmlformats.org/drawingml/2006/main">
              <a:ext uri="{FF2B5EF4-FFF2-40B4-BE49-F238E27FC236}">
                <a16:creationId xmlns:a16="http://schemas.microsoft.com/office/drawing/2014/main" id="{9C7682FF-2FB6-49B5-A501-33A65316C07D}"/>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125" b="0">
                <a:solidFill>
                  <a:srgbClr val="526773"/>
                </a:solidFill>
                <a:latin typeface="Arial"/>
                <a:ea typeface="Arial"/>
                <a:cs typeface="Arial"/>
              </a:rPr>
              <a:t>BAUS25 · EAU26 · AUA24 · PAD26</a:t>
            </a:r>
            <a:endParaRPr/>
          </a:p>
        </p:txBody>
      </p:sp>
      <p:sp>
        <p:nvSpPr>
          <p:cNvPr id="63" name="Google Shape;63;p6">
            <a:extLst xmlns:a="http://schemas.openxmlformats.org/drawingml/2006/main">
              <a:ext uri="{FF2B5EF4-FFF2-40B4-BE49-F238E27FC236}">
                <a16:creationId xmlns:a16="http://schemas.microsoft.com/office/drawing/2014/main" id="{791A2188-CA12-44A7-9A96-2DE497DBABB3}"/>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03</a:t>
            </a:r>
            <a:endParaRPr/>
          </a:p>
        </p:txBody>
      </p:sp>
      <p:sp>
        <p:nvSpPr>
          <p:cNvPr id="64" name="Google Shape;64;p6">
            <a:extLst xmlns:a="http://schemas.openxmlformats.org/drawingml/2006/main">
              <a:ext uri="{FF2B5EF4-FFF2-40B4-BE49-F238E27FC236}">
                <a16:creationId xmlns:a16="http://schemas.microsoft.com/office/drawing/2014/main" id="{2CB30E2B-46E0-48E4-9D6D-49D7C2BCE2DA}"/>
              </a:ext>
            </a:extLst>
          </p:cNvPr>
          <p:cNvSpPr>
            <a:spLocks xmlns:a="http://schemas.openxmlformats.org/drawingml/2006/main" noGrp="1"/>
          </p:cNvSpPr>
          <p:nvPr/>
        </p:nvSpPr>
        <p:spPr>
          <a:xfrm xmlns:a="http://schemas.openxmlformats.org/drawingml/2006/main">
            <a:off x="609600" y="1809750"/>
            <a:ext cx="5143500" cy="4286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400" b="1">
                <a:solidFill>
                  <a:srgbClr val="147F83"/>
                </a:solidFill>
                <a:latin typeface="Arial"/>
                <a:ea typeface="Arial"/>
                <a:cs typeface="Arial"/>
              </a:rPr>
              <a:t>Characterise the leak</a:t>
            </a:r>
            <a:endParaRPr/>
          </a:p>
        </p:txBody>
      </p:sp>
      <p:sp>
        <p:nvSpPr>
          <p:cNvPr id="65" name="Google Shape;65;p6">
            <a:extLst xmlns:a="http://schemas.openxmlformats.org/drawingml/2006/main">
              <a:ext uri="{FF2B5EF4-FFF2-40B4-BE49-F238E27FC236}">
                <a16:creationId xmlns:a16="http://schemas.microsoft.com/office/drawing/2014/main" id="{684E73F5-A11C-4A6D-AA24-E7121705135E}"/>
              </a:ext>
            </a:extLst>
          </p:cNvPr>
          <p:cNvSpPr>
            <a:spLocks xmlns:a="http://schemas.openxmlformats.org/drawingml/2006/main" noGrp="1"/>
          </p:cNvSpPr>
          <p:nvPr/>
        </p:nvSpPr>
        <p:spPr>
          <a:xfrm xmlns:a="http://schemas.openxmlformats.org/drawingml/2006/main">
            <a:off x="609600" y="2400300"/>
            <a:ext cx="51435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Demonstrated stress leakage</a:t>
            </a:r>
            <a:endParaRPr/>
          </a:p>
        </p:txBody>
      </p:sp>
      <p:sp>
        <p:nvSpPr>
          <p:cNvPr id="66" name="Google Shape;66;p6">
            <a:extLst xmlns:a="http://schemas.openxmlformats.org/drawingml/2006/main">
              <a:ext uri="{FF2B5EF4-FFF2-40B4-BE49-F238E27FC236}">
                <a16:creationId xmlns:a16="http://schemas.microsoft.com/office/drawing/2014/main" id="{2F4E2D34-E26A-4621-8300-350D6A873CB9}"/>
              </a:ext>
            </a:extLst>
          </p:cNvPr>
          <p:cNvSpPr>
            <a:spLocks xmlns:a="http://schemas.openxmlformats.org/drawingml/2006/main" noGrp="1"/>
          </p:cNvSpPr>
          <p:nvPr/>
        </p:nvSpPr>
        <p:spPr>
          <a:xfrm xmlns:a="http://schemas.openxmlformats.org/drawingml/2006/main">
            <a:off x="609600" y="3352800"/>
            <a:ext cx="51435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Urgency, night-time symptoms and emptying</a:t>
            </a:r>
            <a:endParaRPr/>
          </a:p>
        </p:txBody>
      </p:sp>
      <p:sp>
        <p:nvSpPr>
          <p:cNvPr id="67" name="Google Shape;67;p6">
            <a:extLst xmlns:a="http://schemas.openxmlformats.org/drawingml/2006/main">
              <a:ext uri="{FF2B5EF4-FFF2-40B4-BE49-F238E27FC236}">
                <a16:creationId xmlns:a16="http://schemas.microsoft.com/office/drawing/2014/main" id="{05AA5EF8-2D94-46F2-828C-CE1B177378A6}"/>
              </a:ext>
            </a:extLst>
          </p:cNvPr>
          <p:cNvSpPr>
            <a:spLocks xmlns:a="http://schemas.openxmlformats.org/drawingml/2006/main" noGrp="1"/>
          </p:cNvSpPr>
          <p:nvPr/>
        </p:nvSpPr>
        <p:spPr>
          <a:xfrm xmlns:a="http://schemas.openxmlformats.org/drawingml/2006/main">
            <a:off x="609600" y="4305300"/>
            <a:ext cx="51435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Pad use, pad weight and activity</a:t>
            </a:r>
            <a:endParaRPr/>
          </a:p>
        </p:txBody>
      </p:sp>
      <p:sp>
        <p:nvSpPr>
          <p:cNvPr id="68" name="Google Shape;68;p6">
            <a:extLst xmlns:a="http://schemas.openxmlformats.org/drawingml/2006/main">
              <a:ext uri="{FF2B5EF4-FFF2-40B4-BE49-F238E27FC236}">
                <a16:creationId xmlns:a16="http://schemas.microsoft.com/office/drawing/2014/main" id="{7F8CA775-1442-4EDB-AC59-703BFF152108}"/>
              </a:ext>
            </a:extLst>
          </p:cNvPr>
          <p:cNvSpPr>
            <a:spLocks xmlns:a="http://schemas.openxmlformats.org/drawingml/2006/main" noGrp="1"/>
          </p:cNvSpPr>
          <p:nvPr/>
        </p:nvSpPr>
        <p:spPr>
          <a:xfrm xmlns:a="http://schemas.openxmlformats.org/drawingml/2006/main">
            <a:off x="6324600" y="1809750"/>
            <a:ext cx="5143500" cy="4286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400" b="1">
                <a:solidFill>
                  <a:srgbClr val="147F83"/>
                </a:solidFill>
                <a:latin typeface="Arial"/>
                <a:ea typeface="Arial"/>
                <a:cs typeface="Arial"/>
              </a:rPr>
              <a:t>Define useful improvement</a:t>
            </a:r>
            <a:endParaRPr/>
          </a:p>
        </p:txBody>
      </p:sp>
      <p:sp>
        <p:nvSpPr>
          <p:cNvPr id="69" name="Google Shape;69;p6">
            <a:extLst xmlns:a="http://schemas.openxmlformats.org/drawingml/2006/main">
              <a:ext uri="{FF2B5EF4-FFF2-40B4-BE49-F238E27FC236}">
                <a16:creationId xmlns:a16="http://schemas.microsoft.com/office/drawing/2014/main" id="{4E97DE74-35D2-43BC-84C9-7D6D6A63567A}"/>
              </a:ext>
            </a:extLst>
          </p:cNvPr>
          <p:cNvSpPr>
            <a:spLocks xmlns:a="http://schemas.openxmlformats.org/drawingml/2006/main" noGrp="1"/>
          </p:cNvSpPr>
          <p:nvPr/>
        </p:nvSpPr>
        <p:spPr>
          <a:xfrm xmlns:a="http://schemas.openxmlformats.org/drawingml/2006/main">
            <a:off x="6324600" y="2400300"/>
            <a:ext cx="51435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Recovery trajectory and prior treatment</a:t>
            </a:r>
            <a:endParaRPr/>
          </a:p>
        </p:txBody>
      </p:sp>
      <p:sp>
        <p:nvSpPr>
          <p:cNvPr id="70" name="Google Shape;70;p6">
            <a:extLst xmlns:a="http://schemas.openxmlformats.org/drawingml/2006/main">
              <a:ext uri="{FF2B5EF4-FFF2-40B4-BE49-F238E27FC236}">
                <a16:creationId xmlns:a16="http://schemas.microsoft.com/office/drawing/2014/main" id="{FDD54B14-50B1-47C4-9976-0B6255040ADC}"/>
              </a:ext>
            </a:extLst>
          </p:cNvPr>
          <p:cNvSpPr>
            <a:spLocks xmlns:a="http://schemas.openxmlformats.org/drawingml/2006/main" noGrp="1"/>
          </p:cNvSpPr>
          <p:nvPr/>
        </p:nvSpPr>
        <p:spPr>
          <a:xfrm xmlns:a="http://schemas.openxmlformats.org/drawingml/2006/main">
            <a:off x="6324600" y="3352800"/>
            <a:ext cx="51435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A validated symptom and quality-of-life measure</a:t>
            </a:r>
            <a:endParaRPr/>
          </a:p>
        </p:txBody>
      </p:sp>
      <p:sp>
        <p:nvSpPr>
          <p:cNvPr id="71" name="Google Shape;71;p6">
            <a:extLst xmlns:a="http://schemas.openxmlformats.org/drawingml/2006/main">
              <a:ext uri="{FF2B5EF4-FFF2-40B4-BE49-F238E27FC236}">
                <a16:creationId xmlns:a16="http://schemas.microsoft.com/office/drawing/2014/main" id="{E65BBE5F-05EC-49EE-A2C6-33CABC95DBCD}"/>
              </a:ext>
            </a:extLst>
          </p:cNvPr>
          <p:cNvSpPr>
            <a:spLocks xmlns:a="http://schemas.openxmlformats.org/drawingml/2006/main" noGrp="1"/>
          </p:cNvSpPr>
          <p:nvPr/>
        </p:nvSpPr>
        <p:spPr>
          <a:xfrm xmlns:a="http://schemas.openxmlformats.org/drawingml/2006/main">
            <a:off x="6324600" y="4305300"/>
            <a:ext cx="51435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The activity the patient wants back</a:t>
            </a:r>
            <a:endParaRPr/>
          </a:p>
        </p:txBody>
      </p:sp>
      <p:sp>
        <p:nvSpPr>
          <p:cNvPr id="72" name="Google Shape;72;p6">
            <a:extLst xmlns:a="http://schemas.openxmlformats.org/drawingml/2006/main">
              <a:ext uri="{FF2B5EF4-FFF2-40B4-BE49-F238E27FC236}">
                <a16:creationId xmlns:a16="http://schemas.microsoft.com/office/drawing/2014/main" id="{329E9E42-3C96-4A31-B777-222F60DE4AEA}"/>
              </a:ext>
            </a:extLst>
          </p:cNvPr>
          <p:cNvSpPr>
            <a:spLocks xmlns:a="http://schemas.openxmlformats.org/drawingml/2006/main" noGrp="1"/>
          </p:cNvSpPr>
          <p:nvPr/>
        </p:nvSpPr>
        <p:spPr>
          <a:xfrm xmlns:a="http://schemas.openxmlformats.org/drawingml/2006/main">
            <a:off x="609600" y="5753100"/>
            <a:ext cx="10972800" cy="552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725" b="0">
                <a:solidFill>
                  <a:srgbClr val="526773"/>
                </a:solidFill>
                <a:latin typeface="Arial"/>
                <a:ea typeface="Arial"/>
                <a:cs typeface="Arial"/>
              </a:rPr>
              <a:t>Pad count is useful; 2026 data show wide weight variability at 2–4 pads/day. Measure when severity is uncertain.</a:t>
            </a:r>
            <a:endParaRPr/>
          </a:p>
        </p:txBody>
      </p:sp>
    </p:spTree>
    <p:extLst>
      <p:ext uri="{BB962C8B-B14F-4D97-AF65-F5344CB8AC3E}">
        <p14:creationId xmlns:p14="http://schemas.microsoft.com/office/powerpoint/2010/main" val="31943600"/>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8" name="Google Shape;78;p7">
            <a:extLst xmlns:a="http://schemas.openxmlformats.org/drawingml/2006/main">
              <a:ext uri="{FF2B5EF4-FFF2-40B4-BE49-F238E27FC236}">
                <a16:creationId xmlns:a16="http://schemas.microsoft.com/office/drawing/2014/main" id="{CA238459-DAFD-4027-BC76-F33C3DBA7672}"/>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Timing after prostate treatment</a:t>
            </a:r>
            <a:endParaRPr/>
          </a:p>
        </p:txBody>
      </p:sp>
      <p:sp>
        <p:nvSpPr>
          <p:cNvPr id="79" name="Google Shape;79;p7">
            <a:extLst xmlns:a="http://schemas.openxmlformats.org/drawingml/2006/main">
              <a:ext uri="{FF2B5EF4-FFF2-40B4-BE49-F238E27FC236}">
                <a16:creationId xmlns:a16="http://schemas.microsoft.com/office/drawing/2014/main" id="{96453A4B-97B4-48DC-9F5B-269EAFF1AE9C}"/>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80" name="Google Shape;80;p7">
            <a:extLst xmlns:a="http://schemas.openxmlformats.org/drawingml/2006/main">
              <a:ext uri="{FF2B5EF4-FFF2-40B4-BE49-F238E27FC236}">
                <a16:creationId xmlns:a16="http://schemas.microsoft.com/office/drawing/2014/main" id="{AF445D60-89DC-4017-B53D-934EC09B831A}"/>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125" b="0">
                <a:solidFill>
                  <a:srgbClr val="526773"/>
                </a:solidFill>
                <a:latin typeface="Arial"/>
                <a:ea typeface="Arial"/>
                <a:cs typeface="Arial"/>
              </a:rPr>
              <a:t>AUA24 · BAUS25 · EAU26 · MASTER22 · MASTER26</a:t>
            </a:r>
            <a:endParaRPr/>
          </a:p>
        </p:txBody>
      </p:sp>
      <p:sp>
        <p:nvSpPr>
          <p:cNvPr id="81" name="Google Shape;81;p7">
            <a:extLst xmlns:a="http://schemas.openxmlformats.org/drawingml/2006/main">
              <a:ext uri="{FF2B5EF4-FFF2-40B4-BE49-F238E27FC236}">
                <a16:creationId xmlns:a16="http://schemas.microsoft.com/office/drawing/2014/main" id="{19D640A1-2027-492C-9291-A1BE1AAD6019}"/>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04</a:t>
            </a:r>
            <a:endParaRPr/>
          </a:p>
        </p:txBody>
      </p:sp>
      <p:graphicFrame>
        <p:nvGraphicFramePr>
          <p:cNvPr id="89" name="Google Shape;82;p7"/>
          <p:cNvGraphicFramePr/>
          <p:nvPr/>
        </p:nvGraphicFramePr>
        <p:xfrm>
          <a:off xmlns:a="http://schemas.openxmlformats.org/drawingml/2006/main" x="609600" y="1790700"/>
          <a:ext xmlns:a="http://schemas.openxmlformats.org/drawingml/2006/main" cx="3000000" cy="3000000"/>
        </p:xfrm>
        <a:graphic xmlns:a="http://schemas.openxmlformats.org/drawingml/2006/main">
          <a:graphicData uri="http://schemas.openxmlformats.org/drawingml/2006/table">
            <a:tbl>
              <a:tblPr>
                <a:tableStyleId>{0AF7EDE5-490F-44FA-BAEA-A03204E10917}</a:tableStyleId>
              </a:tblPr>
              <a:tblGrid>
                <a:gridCol w="2000250"/>
                <a:gridCol w="3714750"/>
                <a:gridCol w="5257800"/>
              </a:tblGrid>
              <a:tr h="552450">
                <a:tc>
                  <a:txBody>
                    <a:bodyPr/>
                    <a:lstStyle/>
                    <a:p>
                      <a:pPr marL="0" marR="0" lvl="0" indent="0" algn="l">
                        <a:spcBef>
                          <a:spcPts val="0"/>
                        </a:spcBef>
                        <a:spcAft>
                          <a:spcPts val="0"/>
                        </a:spcAft>
                        <a:buClr>
                          <a:srgbClr val="FFFFFF"/>
                        </a:buClr>
                        <a:buSzPts val="1950"/>
                        <a:buFont typeface="Arial"/>
                        <a:buNone/>
                      </a:pPr>
                      <a:r>
                        <a:rPr sz="1950" b="1">
                          <a:solidFill>
                            <a:srgbClr val="FFFFFF"/>
                          </a:solidFill>
                          <a:latin typeface="Arial"/>
                          <a:ea typeface="Arial"/>
                          <a:cs typeface="Arial"/>
                        </a:rPr>
                        <a:t>Guidance</a:t>
                      </a:r>
                      <a:endParaRPr/>
                    </a:p>
                  </a:txBody>
                  <a:tcPr marL="133350" marR="133350" marT="95250" marB="76200" anchor="ctr">
                    <a:solidFill>
                      <a:srgbClr val="183343"/>
                    </a:solidFill>
                  </a:tcPr>
                </a:tc>
                <a:tc>
                  <a:txBody>
                    <a:bodyPr/>
                    <a:lstStyle/>
                    <a:p>
                      <a:pPr marL="0" marR="0" lvl="0" indent="0" algn="l">
                        <a:spcBef>
                          <a:spcPts val="0"/>
                        </a:spcBef>
                        <a:spcAft>
                          <a:spcPts val="0"/>
                        </a:spcAft>
                        <a:buClr>
                          <a:srgbClr val="FFFFFF"/>
                        </a:buClr>
                        <a:buSzPts val="1950"/>
                        <a:buFont typeface="Arial"/>
                        <a:buNone/>
                      </a:pPr>
                      <a:r>
                        <a:rPr sz="1950" b="1">
                          <a:solidFill>
                            <a:srgbClr val="FFFFFF"/>
                          </a:solidFill>
                          <a:latin typeface="Arial"/>
                          <a:ea typeface="Arial"/>
                          <a:cs typeface="Arial"/>
                        </a:rPr>
                        <a:t>At six months</a:t>
                      </a:r>
                      <a:endParaRPr/>
                    </a:p>
                  </a:txBody>
                  <a:tcPr marL="133350" marR="133350" marT="95250" marB="76200" anchor="ctr">
                    <a:solidFill>
                      <a:srgbClr val="183343"/>
                    </a:solidFill>
                  </a:tcPr>
                </a:tc>
                <a:tc>
                  <a:txBody>
                    <a:bodyPr/>
                    <a:lstStyle/>
                    <a:p>
                      <a:pPr marL="0" marR="0" lvl="0" indent="0" algn="l">
                        <a:spcBef>
                          <a:spcPts val="0"/>
                        </a:spcBef>
                        <a:spcAft>
                          <a:spcPts val="0"/>
                        </a:spcAft>
                        <a:buClr>
                          <a:srgbClr val="FFFFFF"/>
                        </a:buClr>
                        <a:buSzPts val="1950"/>
                        <a:buFont typeface="Arial"/>
                        <a:buNone/>
                      </a:pPr>
                      <a:r>
                        <a:rPr sz="1950" b="1">
                          <a:solidFill>
                            <a:srgbClr val="FFFFFF"/>
                          </a:solidFill>
                          <a:latin typeface="Arial"/>
                          <a:ea typeface="Arial"/>
                          <a:cs typeface="Arial"/>
                        </a:rPr>
                        <a:t>At twelve months</a:t>
                      </a:r>
                      <a:endParaRPr/>
                    </a:p>
                  </a:txBody>
                  <a:tcPr marL="133350" marR="133350" marT="95250" marB="76200" anchor="ctr">
                    <a:solidFill>
                      <a:srgbClr val="183343"/>
                    </a:solidFill>
                  </a:tcPr>
                </a:tc>
              </a:tr>
              <a:tr h="1247775">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BAUS</a:t>
                      </a:r>
                      <a:endParaRPr/>
                    </a:p>
                  </a:txBody>
                  <a:tcPr marL="133350" marR="133350" marT="95250" marB="76200" anchor="ctr">
                    <a:solidFill>
                      <a:srgbClr val="EEF4F5"/>
                    </a:solidFill>
                  </a:tcPr>
                </a:tc>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At least six months’ recovery for severe SUI</a:t>
                      </a:r>
                      <a:endParaRPr/>
                    </a:p>
                  </a:txBody>
                  <a:tcPr marL="133350" marR="133350" marT="95250" marB="76200" anchor="ctr">
                    <a:solidFill>
                      <a:srgbClr val="EEF4F5"/>
                    </a:solidFill>
                  </a:tcPr>
                </a:tc>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At least twelve months for mild–moderate SUI</a:t>
                      </a:r>
                      <a:endParaRPr/>
                    </a:p>
                  </a:txBody>
                  <a:tcPr marL="133350" marR="133350" marT="95250" marB="76200" anchor="ctr">
                    <a:solidFill>
                      <a:srgbClr val="EEF4F5"/>
                    </a:solidFill>
                  </a:tcPr>
                </a:tc>
              </a:tr>
              <a:tr h="1247775">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AUA</a:t>
                      </a:r>
                      <a:endParaRPr/>
                    </a:p>
                  </a:txBody>
                  <a:tcPr marL="133350" marR="133350" marT="95250" marB="76200" anchor="ctr">
                    <a:solidFill>
                      <a:srgbClr val="FFFFFF"/>
                    </a:solidFill>
                  </a:tcPr>
                </a:tc>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Surgery may be offered for bothersome, non-improving SUI despite conservative care</a:t>
                      </a:r>
                      <a:endParaRPr/>
                    </a:p>
                  </a:txBody>
                  <a:tcPr marL="133350" marR="133350" marT="95250" marB="76200" anchor="ctr">
                    <a:solidFill>
                      <a:srgbClr val="FFFFFF"/>
                    </a:solidFill>
                  </a:tcPr>
                </a:tc>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Offer surgery for persisting bothersome SUI</a:t>
                      </a:r>
                      <a:endParaRPr/>
                    </a:p>
                  </a:txBody>
                  <a:tcPr marL="133350" marR="133350" marT="95250" marB="76200" anchor="ctr">
                    <a:solidFill>
                      <a:srgbClr val="FFFFFF"/>
                    </a:solidFill>
                  </a:tcPr>
                </a:tc>
              </a:tr>
            </a:tbl>
          </a:graphicData>
        </a:graphic>
      </p:graphicFrame>
      <p:sp>
        <p:nvSpPr>
          <p:cNvPr id="83" name="Google Shape;83;p7">
            <a:extLst xmlns:a="http://schemas.openxmlformats.org/drawingml/2006/main">
              <a:ext uri="{FF2B5EF4-FFF2-40B4-BE49-F238E27FC236}">
                <a16:creationId xmlns:a16="http://schemas.microsoft.com/office/drawing/2014/main" id="{FDD644E2-A32F-4DCC-8B9A-9CCDCACB6920}"/>
              </a:ext>
            </a:extLst>
          </p:cNvPr>
          <p:cNvSpPr>
            <a:spLocks xmlns:a="http://schemas.openxmlformats.org/drawingml/2006/main" noGrp="1"/>
          </p:cNvSpPr>
          <p:nvPr/>
        </p:nvSpPr>
        <p:spPr>
          <a:xfrm xmlns:a="http://schemas.openxmlformats.org/drawingml/2006/main">
            <a:off x="609600" y="5753100"/>
            <a:ext cx="10972800" cy="552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725" b="0">
                <a:solidFill>
                  <a:srgbClr val="526773"/>
                </a:solidFill>
                <a:latin typeface="Arial"/>
                <a:ea typeface="Arial"/>
                <a:cs typeface="Arial"/>
              </a:rPr>
              <a:t>MASTER 2026: sling remained non-inferior at 24 months; further surgery 11% after sling versus 2% after AUS. Selected population.</a:t>
            </a:r>
            <a:endParaRPr/>
          </a:p>
        </p:txBody>
      </p:sp>
    </p:spTree>
    <p:extLst>
      <p:ext uri="{BB962C8B-B14F-4D97-AF65-F5344CB8AC3E}">
        <p14:creationId xmlns:p14="http://schemas.microsoft.com/office/powerpoint/2010/main" val="159505753"/>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9" name="Google Shape;89;p8">
            <a:extLst xmlns:a="http://schemas.openxmlformats.org/drawingml/2006/main">
              <a:ext uri="{FF2B5EF4-FFF2-40B4-BE49-F238E27FC236}">
                <a16:creationId xmlns:a16="http://schemas.microsoft.com/office/drawing/2014/main" id="{64A9266A-3D67-4B9F-999E-B5AF759B37C0}"/>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Pump use over time</a:t>
            </a:r>
            <a:endParaRPr/>
          </a:p>
        </p:txBody>
      </p:sp>
      <p:sp>
        <p:nvSpPr>
          <p:cNvPr id="90" name="Google Shape;90;p8">
            <a:extLst xmlns:a="http://schemas.openxmlformats.org/drawingml/2006/main">
              <a:ext uri="{FF2B5EF4-FFF2-40B4-BE49-F238E27FC236}">
                <a16:creationId xmlns:a16="http://schemas.microsoft.com/office/drawing/2014/main" id="{5FF3BEBD-7718-423A-82D4-CDA97AD1A475}"/>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91" name="Google Shape;91;p8">
            <a:extLst xmlns:a="http://schemas.openxmlformats.org/drawingml/2006/main">
              <a:ext uri="{FF2B5EF4-FFF2-40B4-BE49-F238E27FC236}">
                <a16:creationId xmlns:a16="http://schemas.microsoft.com/office/drawing/2014/main" id="{D093D30F-3782-4F22-85F1-9E7383B38A1A}"/>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125" b="0">
                <a:solidFill>
                  <a:srgbClr val="526773"/>
                </a:solidFill>
                <a:latin typeface="Arial"/>
                <a:ea typeface="Arial"/>
                <a:cs typeface="Arial"/>
              </a:rPr>
              <a:t>AUA24 · ICS16 · CCIFU · FRAIL26</a:t>
            </a:r>
            <a:endParaRPr/>
          </a:p>
        </p:txBody>
      </p:sp>
      <p:sp>
        <p:nvSpPr>
          <p:cNvPr id="92" name="Google Shape;92;p8">
            <a:extLst xmlns:a="http://schemas.openxmlformats.org/drawingml/2006/main">
              <a:ext uri="{FF2B5EF4-FFF2-40B4-BE49-F238E27FC236}">
                <a16:creationId xmlns:a16="http://schemas.microsoft.com/office/drawing/2014/main" id="{54E52ED2-3D0A-4ADB-AC5E-36DA12882E67}"/>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05</a:t>
            </a:r>
            <a:endParaRPr/>
          </a:p>
        </p:txBody>
      </p:sp>
      <p:pic>
        <p:nvPicPr>
          <p:cNvPr id="105" name="Google Shape;93;p8"/>
          <p:cNvPicPr>
            <a:picLocks xmlns:a="http://schemas.openxmlformats.org/drawingml/2006/main" noChangeAspect="1"/>
          </p:cNvPicPr>
          <p:nvPr/>
        </p:nvPicPr>
        <p:blipFill rotWithShape="1">
          <a:blip xmlns:r="http://schemas.openxmlformats.org/officeDocument/2006/relationships" xmlns:a="http://schemas.openxmlformats.org/drawingml/2006/main" r:embed="Rf28c826e5164477d">
            <a:alphaModFix/>
          </a:blip>
          <a:srcRect xmlns:a="http://schemas.openxmlformats.org/drawingml/2006/main" l="0" t="0" r="0" b="0"/>
          <a:stretch xmlns:a="http://schemas.openxmlformats.org/drawingml/2006/main"/>
        </p:blipFill>
        <p:spPr>
          <a:xfrm xmlns:a="http://schemas.openxmlformats.org/drawingml/2006/main">
            <a:off x="609600" y="2179261"/>
            <a:ext cx="6477000" cy="2670928"/>
          </a:xfrm>
          <a:prstGeom xmlns:a="http://schemas.openxmlformats.org/drawingml/2006/main" prst="rect">
            <a:avLst/>
          </a:prstGeom>
          <a:ln xmlns:a="http://schemas.openxmlformats.org/drawingml/2006/main">
            <a:noFill/>
          </a:ln>
        </p:spPr>
      </p:pic>
      <p:sp>
        <p:nvSpPr>
          <p:cNvPr id="94" name="Google Shape;94;p8">
            <a:extLst xmlns:a="http://schemas.openxmlformats.org/drawingml/2006/main">
              <a:ext uri="{FF2B5EF4-FFF2-40B4-BE49-F238E27FC236}">
                <a16:creationId xmlns:a16="http://schemas.microsoft.com/office/drawing/2014/main" id="{D76FB345-CA67-4237-A779-988C7A97FC6F}"/>
              </a:ext>
            </a:extLst>
          </p:cNvPr>
          <p:cNvSpPr>
            <a:spLocks xmlns:a="http://schemas.openxmlformats.org/drawingml/2006/main" noGrp="1"/>
          </p:cNvSpPr>
          <p:nvPr/>
        </p:nvSpPr>
        <p:spPr>
          <a:xfrm xmlns:a="http://schemas.openxmlformats.org/drawingml/2006/main">
            <a:off x="7505700" y="1809750"/>
            <a:ext cx="40767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75" b="1">
                <a:solidFill>
                  <a:srgbClr val="147F83"/>
                </a:solidFill>
                <a:latin typeface="Arial"/>
                <a:ea typeface="Arial"/>
                <a:cs typeface="Arial"/>
              </a:rPr>
              <a:t>Pump assessment</a:t>
            </a:r>
            <a:endParaRPr/>
          </a:p>
        </p:txBody>
      </p:sp>
      <p:sp>
        <p:nvSpPr>
          <p:cNvPr id="95" name="Google Shape;95;p8">
            <a:extLst xmlns:a="http://schemas.openxmlformats.org/drawingml/2006/main">
              <a:ext uri="{FF2B5EF4-FFF2-40B4-BE49-F238E27FC236}">
                <a16:creationId xmlns:a16="http://schemas.microsoft.com/office/drawing/2014/main" id="{85005C1C-1297-411A-BAEA-FFD5F461C7C3}"/>
              </a:ext>
            </a:extLst>
          </p:cNvPr>
          <p:cNvSpPr>
            <a:spLocks xmlns:a="http://schemas.openxmlformats.org/drawingml/2006/main" noGrp="1"/>
          </p:cNvSpPr>
          <p:nvPr/>
        </p:nvSpPr>
        <p:spPr>
          <a:xfrm xmlns:a="http://schemas.openxmlformats.org/drawingml/2006/main">
            <a:off x="7505700" y="2419350"/>
            <a:ext cx="4076700" cy="647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025" b="0">
                <a:solidFill>
                  <a:srgbClr val="183343"/>
                </a:solidFill>
                <a:latin typeface="Arial"/>
                <a:ea typeface="Arial"/>
                <a:cs typeface="Arial"/>
              </a:rPr>
              <a:t>Watch the patient operate a demonstration pump</a:t>
            </a:r>
            <a:endParaRPr/>
          </a:p>
        </p:txBody>
      </p:sp>
      <p:sp>
        <p:nvSpPr>
          <p:cNvPr id="96" name="Google Shape;96;p8">
            <a:extLst xmlns:a="http://schemas.openxmlformats.org/drawingml/2006/main">
              <a:ext uri="{FF2B5EF4-FFF2-40B4-BE49-F238E27FC236}">
                <a16:creationId xmlns:a16="http://schemas.microsoft.com/office/drawing/2014/main" id="{0446F547-EA0C-461B-96A3-1F19C336F049}"/>
              </a:ext>
            </a:extLst>
          </p:cNvPr>
          <p:cNvSpPr>
            <a:spLocks xmlns:a="http://schemas.openxmlformats.org/drawingml/2006/main" noGrp="1"/>
          </p:cNvSpPr>
          <p:nvPr/>
        </p:nvSpPr>
        <p:spPr>
          <a:xfrm xmlns:a="http://schemas.openxmlformats.org/drawingml/2006/main">
            <a:off x="7505700" y="3181350"/>
            <a:ext cx="4076700" cy="647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025" b="0">
                <a:solidFill>
                  <a:srgbClr val="183343"/>
                </a:solidFill>
                <a:latin typeface="Arial"/>
                <a:ea typeface="Arial"/>
                <a:cs typeface="Arial"/>
              </a:rPr>
              <a:t>Check reach, strength and understanding</a:t>
            </a:r>
            <a:endParaRPr/>
          </a:p>
        </p:txBody>
      </p:sp>
      <p:sp>
        <p:nvSpPr>
          <p:cNvPr id="97" name="Google Shape;97;p8">
            <a:extLst xmlns:a="http://schemas.openxmlformats.org/drawingml/2006/main">
              <a:ext uri="{FF2B5EF4-FFF2-40B4-BE49-F238E27FC236}">
                <a16:creationId xmlns:a16="http://schemas.microsoft.com/office/drawing/2014/main" id="{EC678FF9-FF1D-4FEC-BC39-A230783B2683}"/>
              </a:ext>
            </a:extLst>
          </p:cNvPr>
          <p:cNvSpPr>
            <a:spLocks xmlns:a="http://schemas.openxmlformats.org/drawingml/2006/main" noGrp="1"/>
          </p:cNvSpPr>
          <p:nvPr/>
        </p:nvSpPr>
        <p:spPr>
          <a:xfrm xmlns:a="http://schemas.openxmlformats.org/drawingml/2006/main">
            <a:off x="7505700" y="3943350"/>
            <a:ext cx="4076700" cy="647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025" b="0">
                <a:solidFill>
                  <a:srgbClr val="183343"/>
                </a:solidFill>
                <a:latin typeface="Arial"/>
                <a:ea typeface="Arial"/>
                <a:cs typeface="Arial"/>
              </a:rPr>
              <a:t>Agree an accessible position before surgery</a:t>
            </a:r>
            <a:endParaRPr/>
          </a:p>
        </p:txBody>
      </p:sp>
      <p:sp>
        <p:nvSpPr>
          <p:cNvPr id="98" name="Google Shape;98;p8">
            <a:extLst xmlns:a="http://schemas.openxmlformats.org/drawingml/2006/main">
              <a:ext uri="{FF2B5EF4-FFF2-40B4-BE49-F238E27FC236}">
                <a16:creationId xmlns:a16="http://schemas.microsoft.com/office/drawing/2014/main" id="{6304FD04-B712-4DEF-AA2B-2E7153DE910D}"/>
              </a:ext>
            </a:extLst>
          </p:cNvPr>
          <p:cNvSpPr>
            <a:spLocks xmlns:a="http://schemas.openxmlformats.org/drawingml/2006/main" noGrp="1"/>
          </p:cNvSpPr>
          <p:nvPr/>
        </p:nvSpPr>
        <p:spPr>
          <a:xfrm xmlns:a="http://schemas.openxmlformats.org/drawingml/2006/main">
            <a:off x="7505700" y="4705350"/>
            <a:ext cx="4076700" cy="647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025" b="0">
                <a:solidFill>
                  <a:srgbClr val="183343"/>
                </a:solidFill>
                <a:latin typeface="Arial"/>
                <a:ea typeface="Arial"/>
                <a:cs typeface="Arial"/>
              </a:rPr>
              <a:t>Assess frailty as well as future pump use</a:t>
            </a:r>
            <a:endParaRPr/>
          </a:p>
        </p:txBody>
      </p:sp>
      <p:sp>
        <p:nvSpPr>
          <p:cNvPr id="99" name="Google Shape;99;p8">
            <a:extLst xmlns:a="http://schemas.openxmlformats.org/drawingml/2006/main">
              <a:ext uri="{FF2B5EF4-FFF2-40B4-BE49-F238E27FC236}">
                <a16:creationId xmlns:a16="http://schemas.microsoft.com/office/drawing/2014/main" id="{00618F8A-EC6A-43B3-9060-00B37D51E53B}"/>
              </a:ext>
            </a:extLst>
          </p:cNvPr>
          <p:cNvSpPr>
            <a:spLocks xmlns:a="http://schemas.openxmlformats.org/drawingml/2006/main" noGrp="1"/>
          </p:cNvSpPr>
          <p:nvPr/>
        </p:nvSpPr>
        <p:spPr>
          <a:xfrm xmlns:a="http://schemas.openxmlformats.org/drawingml/2006/main">
            <a:off x="609600" y="5353050"/>
            <a:ext cx="666750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350" b="0">
                <a:solidFill>
                  <a:srgbClr val="526773"/>
                </a:solidFill>
                <a:latin typeface="Arial"/>
                <a:ea typeface="Arial"/>
                <a:cs typeface="Arial"/>
              </a:rPr>
              <a:t>UroOps 3D teaching schematic. Clinical review pending.</a:t>
            </a:r>
            <a:endParaRPr/>
          </a:p>
        </p:txBody>
      </p:sp>
    </p:spTree>
    <p:extLst>
      <p:ext uri="{BB962C8B-B14F-4D97-AF65-F5344CB8AC3E}">
        <p14:creationId xmlns:p14="http://schemas.microsoft.com/office/powerpoint/2010/main" val="2012773118"/>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5" name="Google Shape;105;p9">
            <a:extLst xmlns:a="http://schemas.openxmlformats.org/drawingml/2006/main">
              <a:ext uri="{FF2B5EF4-FFF2-40B4-BE49-F238E27FC236}">
                <a16:creationId xmlns:a16="http://schemas.microsoft.com/office/drawing/2014/main" id="{8CE87C71-39F4-4926-AF4D-0E5A63098BEF}"/>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Flexible cystoscopy before implantation</a:t>
            </a:r>
            <a:endParaRPr/>
          </a:p>
        </p:txBody>
      </p:sp>
      <p:sp>
        <p:nvSpPr>
          <p:cNvPr id="106" name="Google Shape;106;p9">
            <a:extLst xmlns:a="http://schemas.openxmlformats.org/drawingml/2006/main">
              <a:ext uri="{FF2B5EF4-FFF2-40B4-BE49-F238E27FC236}">
                <a16:creationId xmlns:a16="http://schemas.microsoft.com/office/drawing/2014/main" id="{2072EC72-22E0-4604-9B98-2EA002F2A15F}"/>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07" name="Google Shape;107;p9">
            <a:extLst xmlns:a="http://schemas.openxmlformats.org/drawingml/2006/main">
              <a:ext uri="{FF2B5EF4-FFF2-40B4-BE49-F238E27FC236}">
                <a16:creationId xmlns:a16="http://schemas.microsoft.com/office/drawing/2014/main" id="{F3E613C6-5330-40BF-93EB-CD3FA9030EE2}"/>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125" b="0">
                <a:solidFill>
                  <a:srgbClr val="526773"/>
                </a:solidFill>
                <a:latin typeface="Arial"/>
                <a:ea typeface="Arial"/>
                <a:cs typeface="Arial"/>
              </a:rPr>
              <a:t>BAUS25 · AUA24 · EAU26 · EAUSTR26 · AUAUDS26</a:t>
            </a:r>
            <a:endParaRPr/>
          </a:p>
        </p:txBody>
      </p:sp>
      <p:sp>
        <p:nvSpPr>
          <p:cNvPr id="108" name="Google Shape;108;p9">
            <a:extLst xmlns:a="http://schemas.openxmlformats.org/drawingml/2006/main">
              <a:ext uri="{FF2B5EF4-FFF2-40B4-BE49-F238E27FC236}">
                <a16:creationId xmlns:a16="http://schemas.microsoft.com/office/drawing/2014/main" id="{05BD6E63-85F4-4835-826A-369D4A3A8CC7}"/>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06</a:t>
            </a:r>
            <a:endParaRPr/>
          </a:p>
        </p:txBody>
      </p:sp>
      <p:sp>
        <p:nvSpPr>
          <p:cNvPr id="109" name="Google Shape;109;p9">
            <a:extLst xmlns:a="http://schemas.openxmlformats.org/drawingml/2006/main">
              <a:ext uri="{FF2B5EF4-FFF2-40B4-BE49-F238E27FC236}">
                <a16:creationId xmlns:a16="http://schemas.microsoft.com/office/drawing/2014/main" id="{0759DDC6-DD6C-4633-8CC0-138D9C52DA7E}"/>
              </a:ext>
            </a:extLst>
          </p:cNvPr>
          <p:cNvSpPr>
            <a:spLocks xmlns:a="http://schemas.openxmlformats.org/drawingml/2006/main" noGrp="1"/>
          </p:cNvSpPr>
          <p:nvPr/>
        </p:nvSpPr>
        <p:spPr>
          <a:xfrm xmlns:a="http://schemas.openxmlformats.org/drawingml/2006/main">
            <a:off x="609600" y="1809750"/>
            <a:ext cx="5143500" cy="4286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400" b="1">
                <a:solidFill>
                  <a:srgbClr val="147F83"/>
                </a:solidFill>
                <a:latin typeface="Arial"/>
                <a:ea typeface="Arial"/>
                <a:cs typeface="Arial"/>
              </a:rPr>
              <a:t>Guidance</a:t>
            </a:r>
            <a:endParaRPr/>
          </a:p>
        </p:txBody>
      </p:sp>
      <p:sp>
        <p:nvSpPr>
          <p:cNvPr id="110" name="Google Shape;110;p9">
            <a:extLst xmlns:a="http://schemas.openxmlformats.org/drawingml/2006/main">
              <a:ext uri="{FF2B5EF4-FFF2-40B4-BE49-F238E27FC236}">
                <a16:creationId xmlns:a16="http://schemas.microsoft.com/office/drawing/2014/main" id="{38DB4EC7-E9A3-4001-9018-E8A3D4992071}"/>
              </a:ext>
            </a:extLst>
          </p:cNvPr>
          <p:cNvSpPr>
            <a:spLocks xmlns:a="http://schemas.openxmlformats.org/drawingml/2006/main" noGrp="1"/>
          </p:cNvSpPr>
          <p:nvPr/>
        </p:nvSpPr>
        <p:spPr>
          <a:xfrm xmlns:a="http://schemas.openxmlformats.org/drawingml/2006/main">
            <a:off x="609600" y="2400300"/>
            <a:ext cx="51435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AUA recommends cystourethroscopy before SUI surgery</a:t>
            </a:r>
            <a:endParaRPr/>
          </a:p>
        </p:txBody>
      </p:sp>
      <p:sp>
        <p:nvSpPr>
          <p:cNvPr id="111" name="Google Shape;111;p9">
            <a:extLst xmlns:a="http://schemas.openxmlformats.org/drawingml/2006/main">
              <a:ext uri="{FF2B5EF4-FFF2-40B4-BE49-F238E27FC236}">
                <a16:creationId xmlns:a16="http://schemas.microsoft.com/office/drawing/2014/main" id="{D9E9A419-6999-4DE4-B803-D0A5B7E4AF84}"/>
              </a:ext>
            </a:extLst>
          </p:cNvPr>
          <p:cNvSpPr>
            <a:spLocks xmlns:a="http://schemas.openxmlformats.org/drawingml/2006/main" noGrp="1"/>
          </p:cNvSpPr>
          <p:nvPr/>
        </p:nvSpPr>
        <p:spPr>
          <a:xfrm xmlns:a="http://schemas.openxmlformats.org/drawingml/2006/main">
            <a:off x="609600" y="3352800"/>
            <a:ext cx="51435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BAUS selects cystoscopy within its VUDS pathway</a:t>
            </a:r>
            <a:endParaRPr/>
          </a:p>
        </p:txBody>
      </p:sp>
      <p:sp>
        <p:nvSpPr>
          <p:cNvPr id="112" name="Google Shape;112;p9">
            <a:extLst xmlns:a="http://schemas.openxmlformats.org/drawingml/2006/main">
              <a:ext uri="{FF2B5EF4-FFF2-40B4-BE49-F238E27FC236}">
                <a16:creationId xmlns:a16="http://schemas.microsoft.com/office/drawing/2014/main" id="{E15E1DA1-AC1D-416A-96AA-5B0F23B26329}"/>
              </a:ext>
            </a:extLst>
          </p:cNvPr>
          <p:cNvSpPr>
            <a:spLocks xmlns:a="http://schemas.openxmlformats.org/drawingml/2006/main" noGrp="1"/>
          </p:cNvSpPr>
          <p:nvPr/>
        </p:nvSpPr>
        <p:spPr>
          <a:xfrm xmlns:a="http://schemas.openxmlformats.org/drawingml/2006/main">
            <a:off x="609600" y="4305300"/>
            <a:ext cx="51435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Advance inspection is a practical preference</a:t>
            </a:r>
            <a:endParaRPr/>
          </a:p>
        </p:txBody>
      </p:sp>
      <p:sp>
        <p:nvSpPr>
          <p:cNvPr id="113" name="Google Shape;113;p9">
            <a:extLst xmlns:a="http://schemas.openxmlformats.org/drawingml/2006/main">
              <a:ext uri="{FF2B5EF4-FFF2-40B4-BE49-F238E27FC236}">
                <a16:creationId xmlns:a16="http://schemas.microsoft.com/office/drawing/2014/main" id="{4A703553-997A-488B-92C2-6D73E3647062}"/>
              </a:ext>
            </a:extLst>
          </p:cNvPr>
          <p:cNvSpPr>
            <a:spLocks xmlns:a="http://schemas.openxmlformats.org/drawingml/2006/main" noGrp="1"/>
          </p:cNvSpPr>
          <p:nvPr/>
        </p:nvSpPr>
        <p:spPr>
          <a:xfrm xmlns:a="http://schemas.openxmlformats.org/drawingml/2006/main">
            <a:off x="6324600" y="1809750"/>
            <a:ext cx="5143500" cy="4286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400" b="1">
                <a:solidFill>
                  <a:srgbClr val="147F83"/>
                </a:solidFill>
                <a:latin typeface="Arial"/>
                <a:ea typeface="Arial"/>
                <a:cs typeface="Arial"/>
              </a:rPr>
              <a:t>Findings that change the plan</a:t>
            </a:r>
            <a:endParaRPr/>
          </a:p>
        </p:txBody>
      </p:sp>
      <p:sp>
        <p:nvSpPr>
          <p:cNvPr id="114" name="Google Shape;114;p9">
            <a:extLst xmlns:a="http://schemas.openxmlformats.org/drawingml/2006/main">
              <a:ext uri="{FF2B5EF4-FFF2-40B4-BE49-F238E27FC236}">
                <a16:creationId xmlns:a16="http://schemas.microsoft.com/office/drawing/2014/main" id="{AB0D22AB-9FDE-4D6B-B246-7E2E9E4ABBCE}"/>
              </a:ext>
            </a:extLst>
          </p:cNvPr>
          <p:cNvSpPr>
            <a:spLocks xmlns:a="http://schemas.openxmlformats.org/drawingml/2006/main" noGrp="1"/>
          </p:cNvSpPr>
          <p:nvPr/>
        </p:nvSpPr>
        <p:spPr>
          <a:xfrm xmlns:a="http://schemas.openxmlformats.org/drawingml/2006/main">
            <a:off x="6324600" y="2400300"/>
            <a:ext cx="51435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Stricture, BNC or VUAS</a:t>
            </a:r>
            <a:endParaRPr/>
          </a:p>
        </p:txBody>
      </p:sp>
      <p:sp>
        <p:nvSpPr>
          <p:cNvPr id="115" name="Google Shape;115;p9">
            <a:extLst xmlns:a="http://schemas.openxmlformats.org/drawingml/2006/main">
              <a:ext uri="{FF2B5EF4-FFF2-40B4-BE49-F238E27FC236}">
                <a16:creationId xmlns:a16="http://schemas.microsoft.com/office/drawing/2014/main" id="{17FDAAA8-9116-4E79-9F6A-23984B8B93F4}"/>
              </a:ext>
            </a:extLst>
          </p:cNvPr>
          <p:cNvSpPr>
            <a:spLocks xmlns:a="http://schemas.openxmlformats.org/drawingml/2006/main" noGrp="1"/>
          </p:cNvSpPr>
          <p:nvPr/>
        </p:nvSpPr>
        <p:spPr>
          <a:xfrm xmlns:a="http://schemas.openxmlformats.org/drawingml/2006/main">
            <a:off x="6324600" y="3352800"/>
            <a:ext cx="51435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Erosion, foreign material or stones</a:t>
            </a:r>
            <a:endParaRPr/>
          </a:p>
        </p:txBody>
      </p:sp>
      <p:sp>
        <p:nvSpPr>
          <p:cNvPr id="116" name="Google Shape;116;p9">
            <a:extLst xmlns:a="http://schemas.openxmlformats.org/drawingml/2006/main">
              <a:ext uri="{FF2B5EF4-FFF2-40B4-BE49-F238E27FC236}">
                <a16:creationId xmlns:a16="http://schemas.microsoft.com/office/drawing/2014/main" id="{96DA6DF4-B963-4DE1-9991-99565E4D2AED}"/>
              </a:ext>
            </a:extLst>
          </p:cNvPr>
          <p:cNvSpPr>
            <a:spLocks xmlns:a="http://schemas.openxmlformats.org/drawingml/2006/main" noGrp="1"/>
          </p:cNvSpPr>
          <p:nvPr/>
        </p:nvSpPr>
        <p:spPr>
          <a:xfrm xmlns:a="http://schemas.openxmlformats.org/drawingml/2006/main">
            <a:off x="6324600" y="4305300"/>
            <a:ext cx="51435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Tumour or likely repeated instrumentation</a:t>
            </a:r>
            <a:endParaRPr/>
          </a:p>
        </p:txBody>
      </p:sp>
      <p:sp>
        <p:nvSpPr>
          <p:cNvPr id="117" name="Google Shape;117;p9">
            <a:extLst xmlns:a="http://schemas.openxmlformats.org/drawingml/2006/main">
              <a:ext uri="{FF2B5EF4-FFF2-40B4-BE49-F238E27FC236}">
                <a16:creationId xmlns:a16="http://schemas.microsoft.com/office/drawing/2014/main" id="{FCEE26BD-E684-4D46-BF4E-CF8145EC1893}"/>
              </a:ext>
            </a:extLst>
          </p:cNvPr>
          <p:cNvSpPr>
            <a:spLocks xmlns:a="http://schemas.openxmlformats.org/drawingml/2006/main" noGrp="1"/>
          </p:cNvSpPr>
          <p:nvPr/>
        </p:nvSpPr>
        <p:spPr>
          <a:xfrm xmlns:a="http://schemas.openxmlformats.org/drawingml/2006/main">
            <a:off x="609600" y="5753100"/>
            <a:ext cx="10972800" cy="552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725" b="0">
                <a:solidFill>
                  <a:srgbClr val="526773"/>
                </a:solidFill>
                <a:latin typeface="Arial"/>
                <a:ea typeface="Arial"/>
                <a:cs typeface="Arial"/>
              </a:rPr>
              <a:t>AUA 2026 IP09-22 revisits testing; full results unverified. Existing cystoscopy guidance remains applicable.</a:t>
            </a:r>
            <a:endParaRPr/>
          </a:p>
        </p:txBody>
      </p:sp>
    </p:spTree>
    <p:extLst>
      <p:ext uri="{BB962C8B-B14F-4D97-AF65-F5344CB8AC3E}">
        <p14:creationId xmlns:p14="http://schemas.microsoft.com/office/powerpoint/2010/main" val="1343407708"/>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3" name="Google Shape;123;p10">
            <a:extLst xmlns:a="http://schemas.openxmlformats.org/drawingml/2006/main">
              <a:ext uri="{FF2B5EF4-FFF2-40B4-BE49-F238E27FC236}">
                <a16:creationId xmlns:a16="http://schemas.microsoft.com/office/drawing/2014/main" id="{3A43204B-DE77-4F7D-8FC5-850724FDA631}"/>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Urodynamics: BAUS, EAU and AUA</a:t>
            </a:r>
            <a:endParaRPr/>
          </a:p>
        </p:txBody>
      </p:sp>
      <p:sp>
        <p:nvSpPr>
          <p:cNvPr id="124" name="Google Shape;124;p10">
            <a:extLst xmlns:a="http://schemas.openxmlformats.org/drawingml/2006/main">
              <a:ext uri="{FF2B5EF4-FFF2-40B4-BE49-F238E27FC236}">
                <a16:creationId xmlns:a16="http://schemas.microsoft.com/office/drawing/2014/main" id="{0B7379A8-9F69-4F16-A82A-851F804E7FBC}"/>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25" name="Google Shape;125;p10">
            <a:extLst xmlns:a="http://schemas.openxmlformats.org/drawingml/2006/main">
              <a:ext uri="{FF2B5EF4-FFF2-40B4-BE49-F238E27FC236}">
                <a16:creationId xmlns:a16="http://schemas.microsoft.com/office/drawing/2014/main" id="{A2BB4D0C-ACCC-4FE8-BA50-6E2A990BC256}"/>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125" b="0">
                <a:solidFill>
                  <a:srgbClr val="526773"/>
                </a:solidFill>
                <a:latin typeface="Arial"/>
                <a:ea typeface="Arial"/>
                <a:cs typeface="Arial"/>
              </a:rPr>
              <a:t>BAUS25 · EAU26 · AUA24 · ICS16 · AUASTATUS26 · AUAUDS26</a:t>
            </a:r>
            <a:endParaRPr/>
          </a:p>
        </p:txBody>
      </p:sp>
      <p:sp>
        <p:nvSpPr>
          <p:cNvPr id="126" name="Google Shape;126;p10">
            <a:extLst xmlns:a="http://schemas.openxmlformats.org/drawingml/2006/main">
              <a:ext uri="{FF2B5EF4-FFF2-40B4-BE49-F238E27FC236}">
                <a16:creationId xmlns:a16="http://schemas.microsoft.com/office/drawing/2014/main" id="{B4F83B2D-3F35-4C50-8C2A-0E835A4EBC6D}"/>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07</a:t>
            </a:r>
            <a:endParaRPr/>
          </a:p>
        </p:txBody>
      </p:sp>
      <p:graphicFrame>
        <p:nvGraphicFramePr>
          <p:cNvPr id="134" name="Google Shape;127;p10"/>
          <p:cNvGraphicFramePr/>
          <p:nvPr/>
        </p:nvGraphicFramePr>
        <p:xfrm>
          <a:off xmlns:a="http://schemas.openxmlformats.org/drawingml/2006/main" x="609600" y="1790700"/>
          <a:ext xmlns:a="http://schemas.openxmlformats.org/drawingml/2006/main" cx="3000000" cy="3000000"/>
        </p:xfrm>
        <a:graphic xmlns:a="http://schemas.openxmlformats.org/drawingml/2006/main">
          <a:graphicData uri="http://schemas.openxmlformats.org/drawingml/2006/table">
            <a:tbl>
              <a:tblPr>
                <a:tableStyleId>{0AF7EDE5-490F-44FA-BAEA-A03204E10917}</a:tableStyleId>
              </a:tblPr>
              <a:tblGrid>
                <a:gridCol w="2000250"/>
                <a:gridCol w="3714750"/>
                <a:gridCol w="5257800"/>
              </a:tblGrid>
              <a:tr h="552450">
                <a:tc>
                  <a:txBody>
                    <a:bodyPr/>
                    <a:lstStyle/>
                    <a:p>
                      <a:pPr marL="0" marR="0" lvl="0" indent="0" algn="l">
                        <a:spcBef>
                          <a:spcPts val="0"/>
                        </a:spcBef>
                        <a:spcAft>
                          <a:spcPts val="0"/>
                        </a:spcAft>
                        <a:buClr>
                          <a:srgbClr val="FFFFFF"/>
                        </a:buClr>
                        <a:buSzPts val="1950"/>
                        <a:buFont typeface="Arial"/>
                        <a:buNone/>
                      </a:pPr>
                      <a:r>
                        <a:rPr sz="1950" b="1">
                          <a:solidFill>
                            <a:srgbClr val="FFFFFF"/>
                          </a:solidFill>
                          <a:latin typeface="Arial"/>
                          <a:ea typeface="Arial"/>
                          <a:cs typeface="Arial"/>
                        </a:rPr>
                        <a:t>Guideline</a:t>
                      </a:r>
                      <a:endParaRPr/>
                    </a:p>
                  </a:txBody>
                  <a:tcPr marL="133350" marR="133350" marT="95250" marB="76200" anchor="ctr">
                    <a:solidFill>
                      <a:srgbClr val="183343"/>
                    </a:solidFill>
                  </a:tcPr>
                </a:tc>
                <a:tc>
                  <a:txBody>
                    <a:bodyPr/>
                    <a:lstStyle/>
                    <a:p>
                      <a:pPr marL="0" marR="0" lvl="0" indent="0" algn="l">
                        <a:spcBef>
                          <a:spcPts val="0"/>
                        </a:spcBef>
                        <a:spcAft>
                          <a:spcPts val="0"/>
                        </a:spcAft>
                        <a:buClr>
                          <a:srgbClr val="FFFFFF"/>
                        </a:buClr>
                        <a:buSzPts val="1950"/>
                        <a:buFont typeface="Arial"/>
                        <a:buNone/>
                      </a:pPr>
                      <a:r>
                        <a:rPr sz="1950" b="1">
                          <a:solidFill>
                            <a:srgbClr val="FFFFFF"/>
                          </a:solidFill>
                          <a:latin typeface="Arial"/>
                          <a:ea typeface="Arial"/>
                          <a:cs typeface="Arial"/>
                        </a:rPr>
                        <a:t>Position</a:t>
                      </a:r>
                      <a:endParaRPr/>
                    </a:p>
                  </a:txBody>
                  <a:tcPr marL="133350" marR="133350" marT="95250" marB="76200" anchor="ctr">
                    <a:solidFill>
                      <a:srgbClr val="183343"/>
                    </a:solidFill>
                  </a:tcPr>
                </a:tc>
                <a:tc>
                  <a:txBody>
                    <a:bodyPr/>
                    <a:lstStyle/>
                    <a:p>
                      <a:pPr marL="0" marR="0" lvl="0" indent="0" algn="l">
                        <a:spcBef>
                          <a:spcPts val="0"/>
                        </a:spcBef>
                        <a:spcAft>
                          <a:spcPts val="0"/>
                        </a:spcAft>
                        <a:buClr>
                          <a:srgbClr val="FFFFFF"/>
                        </a:buClr>
                        <a:buSzPts val="1950"/>
                        <a:buFont typeface="Arial"/>
                        <a:buNone/>
                      </a:pPr>
                      <a:r>
                        <a:rPr sz="1950" b="1">
                          <a:solidFill>
                            <a:srgbClr val="FFFFFF"/>
                          </a:solidFill>
                          <a:latin typeface="Arial"/>
                          <a:ea typeface="Arial"/>
                          <a:cs typeface="Arial"/>
                        </a:rPr>
                        <a:t>Clinical implication</a:t>
                      </a:r>
                      <a:endParaRPr/>
                    </a:p>
                  </a:txBody>
                  <a:tcPr marL="133350" marR="133350" marT="95250" marB="76200" anchor="ctr">
                    <a:solidFill>
                      <a:srgbClr val="183343"/>
                    </a:solidFill>
                  </a:tcPr>
                </a:tc>
              </a:tr>
              <a:tr h="1028700">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BAUS</a:t>
                      </a:r>
                      <a:endParaRPr/>
                    </a:p>
                  </a:txBody>
                  <a:tcPr marL="133350" marR="133350" marT="95250" marB="76200" anchor="ctr">
                    <a:solidFill>
                      <a:srgbClr val="EEF4F5"/>
                    </a:solidFill>
                  </a:tcPr>
                </a:tc>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Video-urodynamics for surgical candidates</a:t>
                      </a:r>
                      <a:endParaRPr/>
                    </a:p>
                  </a:txBody>
                  <a:tcPr marL="133350" marR="133350" marT="95250" marB="76200" anchor="ctr">
                    <a:solidFill>
                      <a:srgbClr val="EEF4F5"/>
                    </a:solidFill>
                  </a:tcPr>
                </a:tc>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Follow the investigation pathway</a:t>
                      </a:r>
                      <a:endParaRPr/>
                    </a:p>
                  </a:txBody>
                  <a:tcPr marL="133350" marR="133350" marT="95250" marB="76200" anchor="ctr">
                    <a:solidFill>
                      <a:srgbClr val="EEF4F5"/>
                    </a:solidFill>
                  </a:tcPr>
                </a:tc>
              </a:tr>
              <a:tr h="1028700">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EAU</a:t>
                      </a:r>
                      <a:endParaRPr/>
                    </a:p>
                  </a:txBody>
                  <a:tcPr marL="133350" marR="133350" marT="95250" marB="76200" anchor="ctr">
                    <a:solidFill>
                      <a:srgbClr val="FFFFFF"/>
                    </a:solidFill>
                  </a:tcPr>
                </a:tc>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UDS before invasive treatment, weak recommendation</a:t>
                      </a:r>
                      <a:endParaRPr/>
                    </a:p>
                  </a:txBody>
                  <a:tcPr marL="133350" marR="133350" marT="95250" marB="76200" anchor="ctr">
                    <a:solidFill>
                      <a:srgbClr val="FFFFFF"/>
                    </a:solidFill>
                  </a:tcPr>
                </a:tc>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Interpret alongside the selective-testing narrative</a:t>
                      </a:r>
                      <a:endParaRPr/>
                    </a:p>
                  </a:txBody>
                  <a:tcPr marL="133350" marR="133350" marT="95250" marB="76200" anchor="ctr">
                    <a:solidFill>
                      <a:srgbClr val="FFFFFF"/>
                    </a:solidFill>
                  </a:tcPr>
                </a:tc>
              </a:tr>
              <a:tr h="1028700">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AUA</a:t>
                      </a:r>
                      <a:endParaRPr/>
                    </a:p>
                  </a:txBody>
                  <a:tcPr marL="133350" marR="133350" marT="95250" marB="76200" anchor="ctr">
                    <a:solidFill>
                      <a:srgbClr val="EEF4F5"/>
                    </a:solidFill>
                  </a:tcPr>
                </a:tc>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UDS when diagnosis or counselling benefits</a:t>
                      </a:r>
                      <a:endParaRPr/>
                    </a:p>
                  </a:txBody>
                  <a:tcPr marL="133350" marR="133350" marT="95250" marB="76200" anchor="ctr">
                    <a:solidFill>
                      <a:srgbClr val="EEF4F5"/>
                    </a:solidFill>
                  </a:tcPr>
                </a:tc>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State the uncertainty the test should resolve</a:t>
                      </a:r>
                      <a:endParaRPr/>
                    </a:p>
                  </a:txBody>
                  <a:tcPr marL="133350" marR="133350" marT="95250" marB="76200" anchor="ctr">
                    <a:solidFill>
                      <a:srgbClr val="EEF4F5"/>
                    </a:solidFill>
                  </a:tcPr>
                </a:tc>
              </a:tr>
            </a:tbl>
          </a:graphicData>
        </a:graphic>
      </p:graphicFrame>
      <p:sp>
        <p:nvSpPr>
          <p:cNvPr id="128" name="Google Shape;128;p10">
            <a:extLst xmlns:a="http://schemas.openxmlformats.org/drawingml/2006/main">
              <a:ext uri="{FF2B5EF4-FFF2-40B4-BE49-F238E27FC236}">
                <a16:creationId xmlns:a16="http://schemas.microsoft.com/office/drawing/2014/main" id="{A7202DC4-0B87-4C2B-8350-E93E1E94694F}"/>
              </a:ext>
            </a:extLst>
          </p:cNvPr>
          <p:cNvSpPr>
            <a:spLocks xmlns:a="http://schemas.openxmlformats.org/drawingml/2006/main" noGrp="1"/>
          </p:cNvSpPr>
          <p:nvPr/>
        </p:nvSpPr>
        <p:spPr>
          <a:xfrm xmlns:a="http://schemas.openxmlformats.org/drawingml/2006/main">
            <a:off x="609600" y="5753100"/>
            <a:ext cx="10972800" cy="552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725" b="0">
                <a:solidFill>
                  <a:srgbClr val="526773"/>
                </a:solidFill>
                <a:latin typeface="Arial"/>
                <a:ea typeface="Arial"/>
                <a:cs typeface="Arial"/>
              </a:rPr>
              <a:t>BAUS 2025, EAU 2026 and AUA 2024 differ. AUA 2026 IP09-22 is conference material; full results remain unverified.</a:t>
            </a:r>
            <a:endParaRPr/>
          </a:p>
        </p:txBody>
      </p:sp>
    </p:spTree>
    <p:extLst>
      <p:ext uri="{BB962C8B-B14F-4D97-AF65-F5344CB8AC3E}">
        <p14:creationId xmlns:p14="http://schemas.microsoft.com/office/powerpoint/2010/main" val="1251193306"/>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4" name="Google Shape;134;p11">
            <a:extLst xmlns:a="http://schemas.openxmlformats.org/drawingml/2006/main">
              <a:ext uri="{FF2B5EF4-FFF2-40B4-BE49-F238E27FC236}">
                <a16:creationId xmlns:a16="http://schemas.microsoft.com/office/drawing/2014/main" id="{181D1778-3C23-495F-9904-8EA063390B09}"/>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Interpreting an imperfect study</a:t>
            </a:r>
            <a:endParaRPr/>
          </a:p>
        </p:txBody>
      </p:sp>
      <p:sp>
        <p:nvSpPr>
          <p:cNvPr id="135" name="Google Shape;135;p11">
            <a:extLst xmlns:a="http://schemas.openxmlformats.org/drawingml/2006/main">
              <a:ext uri="{FF2B5EF4-FFF2-40B4-BE49-F238E27FC236}">
                <a16:creationId xmlns:a16="http://schemas.microsoft.com/office/drawing/2014/main" id="{5C5F4FEA-7CF7-4404-98BE-6E8E4408B049}"/>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36" name="Google Shape;136;p11">
            <a:extLst xmlns:a="http://schemas.openxmlformats.org/drawingml/2006/main">
              <a:ext uri="{FF2B5EF4-FFF2-40B4-BE49-F238E27FC236}">
                <a16:creationId xmlns:a16="http://schemas.microsoft.com/office/drawing/2014/main" id="{6F13FB40-9ED4-4308-87DF-A2E8839594A2}"/>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125" b="0">
                <a:solidFill>
                  <a:srgbClr val="526773"/>
                </a:solidFill>
                <a:latin typeface="Arial"/>
                <a:ea typeface="Arial"/>
                <a:cs typeface="Arial"/>
              </a:rPr>
              <a:t>BAUS25 · AUA24 · ICS16 · UDS14</a:t>
            </a:r>
            <a:endParaRPr/>
          </a:p>
        </p:txBody>
      </p:sp>
      <p:sp>
        <p:nvSpPr>
          <p:cNvPr id="137" name="Google Shape;137;p11">
            <a:extLst xmlns:a="http://schemas.openxmlformats.org/drawingml/2006/main">
              <a:ext uri="{FF2B5EF4-FFF2-40B4-BE49-F238E27FC236}">
                <a16:creationId xmlns:a16="http://schemas.microsoft.com/office/drawing/2014/main" id="{8BF52693-EB89-467F-9D0A-E91118BB70C2}"/>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08</a:t>
            </a:r>
            <a:endParaRPr/>
          </a:p>
        </p:txBody>
      </p:sp>
      <p:sp>
        <p:nvSpPr>
          <p:cNvPr id="138" name="Google Shape;138;p11">
            <a:extLst xmlns:a="http://schemas.openxmlformats.org/drawingml/2006/main">
              <a:ext uri="{FF2B5EF4-FFF2-40B4-BE49-F238E27FC236}">
                <a16:creationId xmlns:a16="http://schemas.microsoft.com/office/drawing/2014/main" id="{8CB68B61-1AC9-4956-B31F-6146C8AB9DA5}"/>
              </a:ext>
            </a:extLst>
          </p:cNvPr>
          <p:cNvSpPr>
            <a:spLocks xmlns:a="http://schemas.openxmlformats.org/drawingml/2006/main" noGrp="1"/>
          </p:cNvSpPr>
          <p:nvPr/>
        </p:nvSpPr>
        <p:spPr>
          <a:xfrm xmlns:a="http://schemas.openxmlformats.org/drawingml/2006/main">
            <a:off x="609600" y="1809750"/>
            <a:ext cx="666750" cy="5238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850" b="1">
                <a:solidFill>
                  <a:srgbClr val="147F83"/>
                </a:solidFill>
                <a:latin typeface="Arial"/>
                <a:ea typeface="Arial"/>
                <a:cs typeface="Arial"/>
              </a:rPr>
              <a:t>1</a:t>
            </a:r>
            <a:endParaRPr/>
          </a:p>
        </p:txBody>
      </p:sp>
      <p:sp>
        <p:nvSpPr>
          <p:cNvPr id="139" name="Google Shape;139;p11">
            <a:extLst xmlns:a="http://schemas.openxmlformats.org/drawingml/2006/main">
              <a:ext uri="{FF2B5EF4-FFF2-40B4-BE49-F238E27FC236}">
                <a16:creationId xmlns:a16="http://schemas.microsoft.com/office/drawing/2014/main" id="{6B381AB5-6FE5-4D6E-BBA4-C462143B73AD}"/>
              </a:ext>
            </a:extLst>
          </p:cNvPr>
          <p:cNvSpPr>
            <a:spLocks xmlns:a="http://schemas.openxmlformats.org/drawingml/2006/main" noGrp="1"/>
          </p:cNvSpPr>
          <p:nvPr/>
        </p:nvSpPr>
        <p:spPr>
          <a:xfrm xmlns:a="http://schemas.openxmlformats.org/drawingml/2006/main">
            <a:off x="1476375" y="1838325"/>
            <a:ext cx="10096500" cy="6381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250" b="0">
                <a:solidFill>
                  <a:srgbClr val="183343"/>
                </a:solidFill>
                <a:latin typeface="Arial"/>
                <a:ea typeface="Arial"/>
                <a:cs typeface="Arial"/>
              </a:rPr>
              <a:t>Dominant symptoms and demonstrated SUI</a:t>
            </a:r>
            <a:endParaRPr/>
          </a:p>
        </p:txBody>
      </p:sp>
      <p:sp>
        <p:nvSpPr>
          <p:cNvPr id="140" name="Google Shape;140;p11">
            <a:extLst xmlns:a="http://schemas.openxmlformats.org/drawingml/2006/main">
              <a:ext uri="{FF2B5EF4-FFF2-40B4-BE49-F238E27FC236}">
                <a16:creationId xmlns:a16="http://schemas.microsoft.com/office/drawing/2014/main" id="{7D9A87BA-95C8-4CC5-A429-196C775D9EB7}"/>
              </a:ext>
            </a:extLst>
          </p:cNvPr>
          <p:cNvSpPr>
            <a:spLocks xmlns:a="http://schemas.openxmlformats.org/drawingml/2006/main" noGrp="1"/>
          </p:cNvSpPr>
          <p:nvPr/>
        </p:nvSpPr>
        <p:spPr>
          <a:xfrm xmlns:a="http://schemas.openxmlformats.org/drawingml/2006/main">
            <a:off x="609600" y="2543175"/>
            <a:ext cx="666750" cy="5238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850" b="1">
                <a:solidFill>
                  <a:srgbClr val="147F83"/>
                </a:solidFill>
                <a:latin typeface="Arial"/>
                <a:ea typeface="Arial"/>
                <a:cs typeface="Arial"/>
              </a:rPr>
              <a:t>2</a:t>
            </a:r>
            <a:endParaRPr/>
          </a:p>
        </p:txBody>
      </p:sp>
      <p:sp>
        <p:nvSpPr>
          <p:cNvPr id="141" name="Google Shape;141;p11">
            <a:extLst xmlns:a="http://schemas.openxmlformats.org/drawingml/2006/main">
              <a:ext uri="{FF2B5EF4-FFF2-40B4-BE49-F238E27FC236}">
                <a16:creationId xmlns:a16="http://schemas.microsoft.com/office/drawing/2014/main" id="{7E11CD0C-D80A-40BA-88DC-9E243D8888C2}"/>
              </a:ext>
            </a:extLst>
          </p:cNvPr>
          <p:cNvSpPr>
            <a:spLocks xmlns:a="http://schemas.openxmlformats.org/drawingml/2006/main" noGrp="1"/>
          </p:cNvSpPr>
          <p:nvPr/>
        </p:nvSpPr>
        <p:spPr>
          <a:xfrm xmlns:a="http://schemas.openxmlformats.org/drawingml/2006/main">
            <a:off x="1476375" y="2571750"/>
            <a:ext cx="10096500" cy="6381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250" b="0">
                <a:solidFill>
                  <a:srgbClr val="183343"/>
                </a:solidFill>
                <a:latin typeface="Arial"/>
                <a:ea typeface="Arial"/>
                <a:cs typeface="Arial"/>
              </a:rPr>
              <a:t>Urine, bladder diary, free flow and repeated residual</a:t>
            </a:r>
            <a:endParaRPr/>
          </a:p>
        </p:txBody>
      </p:sp>
      <p:sp>
        <p:nvSpPr>
          <p:cNvPr id="142" name="Google Shape;142;p11">
            <a:extLst xmlns:a="http://schemas.openxmlformats.org/drawingml/2006/main">
              <a:ext uri="{FF2B5EF4-FFF2-40B4-BE49-F238E27FC236}">
                <a16:creationId xmlns:a16="http://schemas.microsoft.com/office/drawing/2014/main" id="{438AE1C9-AF1C-409A-95F1-40AF0B708655}"/>
              </a:ext>
            </a:extLst>
          </p:cNvPr>
          <p:cNvSpPr>
            <a:spLocks xmlns:a="http://schemas.openxmlformats.org/drawingml/2006/main" noGrp="1"/>
          </p:cNvSpPr>
          <p:nvPr/>
        </p:nvSpPr>
        <p:spPr>
          <a:xfrm xmlns:a="http://schemas.openxmlformats.org/drawingml/2006/main">
            <a:off x="609600" y="3276600"/>
            <a:ext cx="666750" cy="5238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850" b="1">
                <a:solidFill>
                  <a:srgbClr val="147F83"/>
                </a:solidFill>
                <a:latin typeface="Arial"/>
                <a:ea typeface="Arial"/>
                <a:cs typeface="Arial"/>
              </a:rPr>
              <a:t>3</a:t>
            </a:r>
            <a:endParaRPr/>
          </a:p>
        </p:txBody>
      </p:sp>
      <p:sp>
        <p:nvSpPr>
          <p:cNvPr id="143" name="Google Shape;143;p11">
            <a:extLst xmlns:a="http://schemas.openxmlformats.org/drawingml/2006/main">
              <a:ext uri="{FF2B5EF4-FFF2-40B4-BE49-F238E27FC236}">
                <a16:creationId xmlns:a16="http://schemas.microsoft.com/office/drawing/2014/main" id="{723F6BB2-E2D5-47BB-B22E-E9FFEE169A89}"/>
              </a:ext>
            </a:extLst>
          </p:cNvPr>
          <p:cNvSpPr>
            <a:spLocks xmlns:a="http://schemas.openxmlformats.org/drawingml/2006/main" noGrp="1"/>
          </p:cNvSpPr>
          <p:nvPr/>
        </p:nvSpPr>
        <p:spPr>
          <a:xfrm xmlns:a="http://schemas.openxmlformats.org/drawingml/2006/main">
            <a:off x="1476375" y="3305175"/>
            <a:ext cx="10096500" cy="6381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250" b="0">
                <a:solidFill>
                  <a:srgbClr val="183343"/>
                </a:solidFill>
                <a:latin typeface="Arial"/>
                <a:ea typeface="Arial"/>
                <a:cs typeface="Arial"/>
              </a:rPr>
              <a:t>Urethral anatomy and future access</a:t>
            </a:r>
            <a:endParaRPr/>
          </a:p>
        </p:txBody>
      </p:sp>
      <p:sp>
        <p:nvSpPr>
          <p:cNvPr id="144" name="Google Shape;144;p11">
            <a:extLst xmlns:a="http://schemas.openxmlformats.org/drawingml/2006/main">
              <a:ext uri="{FF2B5EF4-FFF2-40B4-BE49-F238E27FC236}">
                <a16:creationId xmlns:a16="http://schemas.microsoft.com/office/drawing/2014/main" id="{8C442936-A7B8-4A5D-8CEE-E3A451B2EE46}"/>
              </a:ext>
            </a:extLst>
          </p:cNvPr>
          <p:cNvSpPr>
            <a:spLocks xmlns:a="http://schemas.openxmlformats.org/drawingml/2006/main" noGrp="1"/>
          </p:cNvSpPr>
          <p:nvPr/>
        </p:nvSpPr>
        <p:spPr>
          <a:xfrm xmlns:a="http://schemas.openxmlformats.org/drawingml/2006/main">
            <a:off x="609600" y="4010025"/>
            <a:ext cx="666750" cy="5238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850" b="1">
                <a:solidFill>
                  <a:srgbClr val="147F83"/>
                </a:solidFill>
                <a:latin typeface="Arial"/>
                <a:ea typeface="Arial"/>
                <a:cs typeface="Arial"/>
              </a:rPr>
              <a:t>4</a:t>
            </a:r>
            <a:endParaRPr/>
          </a:p>
        </p:txBody>
      </p:sp>
      <p:sp>
        <p:nvSpPr>
          <p:cNvPr id="145" name="Google Shape;145;p11">
            <a:extLst xmlns:a="http://schemas.openxmlformats.org/drawingml/2006/main">
              <a:ext uri="{FF2B5EF4-FFF2-40B4-BE49-F238E27FC236}">
                <a16:creationId xmlns:a16="http://schemas.microsoft.com/office/drawing/2014/main" id="{AB311B40-7F1C-4F69-BE03-7118119C4B24}"/>
              </a:ext>
            </a:extLst>
          </p:cNvPr>
          <p:cNvSpPr>
            <a:spLocks xmlns:a="http://schemas.openxmlformats.org/drawingml/2006/main" noGrp="1"/>
          </p:cNvSpPr>
          <p:nvPr/>
        </p:nvSpPr>
        <p:spPr>
          <a:xfrm xmlns:a="http://schemas.openxmlformats.org/drawingml/2006/main">
            <a:off x="1476375" y="4038600"/>
            <a:ext cx="10096500" cy="6381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250" b="0">
                <a:solidFill>
                  <a:srgbClr val="183343"/>
                </a:solidFill>
                <a:latin typeface="Arial"/>
                <a:ea typeface="Arial"/>
                <a:cs typeface="Arial"/>
              </a:rPr>
              <a:t>The chosen guideline-based UDS strategy</a:t>
            </a:r>
            <a:endParaRPr/>
          </a:p>
        </p:txBody>
      </p:sp>
      <p:sp>
        <p:nvSpPr>
          <p:cNvPr id="146" name="Google Shape;146;p11">
            <a:extLst xmlns:a="http://schemas.openxmlformats.org/drawingml/2006/main">
              <a:ext uri="{FF2B5EF4-FFF2-40B4-BE49-F238E27FC236}">
                <a16:creationId xmlns:a16="http://schemas.microsoft.com/office/drawing/2014/main" id="{503D0B44-B1D8-45EC-9848-E06A14F4275A}"/>
              </a:ext>
            </a:extLst>
          </p:cNvPr>
          <p:cNvSpPr>
            <a:spLocks xmlns:a="http://schemas.openxmlformats.org/drawingml/2006/main" noGrp="1"/>
          </p:cNvSpPr>
          <p:nvPr/>
        </p:nvSpPr>
        <p:spPr>
          <a:xfrm xmlns:a="http://schemas.openxmlformats.org/drawingml/2006/main">
            <a:off x="609600" y="4743450"/>
            <a:ext cx="666750" cy="5238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850" b="1">
                <a:solidFill>
                  <a:srgbClr val="147F83"/>
                </a:solidFill>
                <a:latin typeface="Arial"/>
                <a:ea typeface="Arial"/>
                <a:cs typeface="Arial"/>
              </a:rPr>
              <a:t>5</a:t>
            </a:r>
            <a:endParaRPr/>
          </a:p>
        </p:txBody>
      </p:sp>
      <p:sp>
        <p:nvSpPr>
          <p:cNvPr id="147" name="Google Shape;147;p11">
            <a:extLst xmlns:a="http://schemas.openxmlformats.org/drawingml/2006/main">
              <a:ext uri="{FF2B5EF4-FFF2-40B4-BE49-F238E27FC236}">
                <a16:creationId xmlns:a16="http://schemas.microsoft.com/office/drawing/2014/main" id="{6E459AF7-036D-4630-AEE8-011761E6D96B}"/>
              </a:ext>
            </a:extLst>
          </p:cNvPr>
          <p:cNvSpPr>
            <a:spLocks xmlns:a="http://schemas.openxmlformats.org/drawingml/2006/main" noGrp="1"/>
          </p:cNvSpPr>
          <p:nvPr/>
        </p:nvSpPr>
        <p:spPr>
          <a:xfrm xmlns:a="http://schemas.openxmlformats.org/drawingml/2006/main">
            <a:off x="1476375" y="4772025"/>
            <a:ext cx="10096500" cy="6381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250" b="0">
                <a:solidFill>
                  <a:srgbClr val="183343"/>
                </a:solidFill>
                <a:latin typeface="Arial"/>
                <a:ea typeface="Arial"/>
                <a:cs typeface="Arial"/>
              </a:rPr>
              <a:t>Storage safety, emptying and outlet stability</a:t>
            </a:r>
            <a:endParaRPr/>
          </a:p>
        </p:txBody>
      </p:sp>
      <p:sp>
        <p:nvSpPr>
          <p:cNvPr id="148" name="Google Shape;148;p11">
            <a:extLst xmlns:a="http://schemas.openxmlformats.org/drawingml/2006/main">
              <a:ext uri="{FF2B5EF4-FFF2-40B4-BE49-F238E27FC236}">
                <a16:creationId xmlns:a16="http://schemas.microsoft.com/office/drawing/2014/main" id="{03900818-5549-4F37-8E2B-609BF45757A3}"/>
              </a:ext>
            </a:extLst>
          </p:cNvPr>
          <p:cNvSpPr>
            <a:spLocks xmlns:a="http://schemas.openxmlformats.org/drawingml/2006/main" noGrp="1"/>
          </p:cNvSpPr>
          <p:nvPr/>
        </p:nvSpPr>
        <p:spPr>
          <a:xfrm xmlns:a="http://schemas.openxmlformats.org/drawingml/2006/main">
            <a:off x="609600" y="5753100"/>
            <a:ext cx="10972800" cy="552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725" b="0">
                <a:solidFill>
                  <a:srgbClr val="526773"/>
                </a:solidFill>
                <a:latin typeface="Arial"/>
                <a:ea typeface="Arial"/>
                <a:cs typeface="Arial"/>
              </a:rPr>
              <a:t>Low capacity can reflect leakage. A weak laboratory contraction needs the real voiding history.</a:t>
            </a:r>
            <a:endParaRPr/>
          </a:p>
        </p:txBody>
      </p:sp>
    </p:spTree>
    <p:extLst>
      <p:ext uri="{BB962C8B-B14F-4D97-AF65-F5344CB8AC3E}">
        <p14:creationId xmlns:p14="http://schemas.microsoft.com/office/powerpoint/2010/main" val="1262164386"/>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4" name="Google Shape;154;p12">
            <a:extLst xmlns:a="http://schemas.openxmlformats.org/drawingml/2006/main">
              <a:ext uri="{FF2B5EF4-FFF2-40B4-BE49-F238E27FC236}">
                <a16:creationId xmlns:a16="http://schemas.microsoft.com/office/drawing/2014/main" id="{DF7277A5-8029-4CA4-8382-B974A21DB162}"/>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Consent: improvement and lifetime burden</a:t>
            </a:r>
            <a:endParaRPr/>
          </a:p>
        </p:txBody>
      </p:sp>
      <p:sp>
        <p:nvSpPr>
          <p:cNvPr id="155" name="Google Shape;155;p12">
            <a:extLst xmlns:a="http://schemas.openxmlformats.org/drawingml/2006/main">
              <a:ext uri="{FF2B5EF4-FFF2-40B4-BE49-F238E27FC236}">
                <a16:creationId xmlns:a16="http://schemas.microsoft.com/office/drawing/2014/main" id="{D3641FA0-F0FC-4F00-AB05-BA6FB29B88FD}"/>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56" name="Google Shape;156;p12">
            <a:extLst xmlns:a="http://schemas.openxmlformats.org/drawingml/2006/main">
              <a:ext uri="{FF2B5EF4-FFF2-40B4-BE49-F238E27FC236}">
                <a16:creationId xmlns:a16="http://schemas.microsoft.com/office/drawing/2014/main" id="{DF26C3C4-3CBA-42F7-9A91-C7AA7CF6F5B6}"/>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125" b="0">
                <a:solidFill>
                  <a:srgbClr val="526773"/>
                </a:solidFill>
                <a:latin typeface="Arial"/>
                <a:ea typeface="Arial"/>
                <a:cs typeface="Arial"/>
              </a:rPr>
              <a:t>AUSCO26 · CCSAFETY · AUA24 · RT22 · FRAIL26 · REGRET26 · DEVICE26 · REPORT26</a:t>
            </a:r>
            <a:endParaRPr/>
          </a:p>
        </p:txBody>
      </p:sp>
      <p:sp>
        <p:nvSpPr>
          <p:cNvPr id="157" name="Google Shape;157;p12">
            <a:extLst xmlns:a="http://schemas.openxmlformats.org/drawingml/2006/main">
              <a:ext uri="{FF2B5EF4-FFF2-40B4-BE49-F238E27FC236}">
                <a16:creationId xmlns:a16="http://schemas.microsoft.com/office/drawing/2014/main" id="{F56A80E7-ED75-43F7-8E64-3E5CF4471D62}"/>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09</a:t>
            </a:r>
            <a:endParaRPr/>
          </a:p>
        </p:txBody>
      </p:sp>
      <p:sp>
        <p:nvSpPr>
          <p:cNvPr id="158" name="Google Shape;158;p12">
            <a:extLst xmlns:a="http://schemas.openxmlformats.org/drawingml/2006/main">
              <a:ext uri="{FF2B5EF4-FFF2-40B4-BE49-F238E27FC236}">
                <a16:creationId xmlns:a16="http://schemas.microsoft.com/office/drawing/2014/main" id="{7B99EA1D-7C10-453B-897E-5A4C37A0E37A}"/>
              </a:ext>
            </a:extLst>
          </p:cNvPr>
          <p:cNvSpPr>
            <a:spLocks xmlns:a="http://schemas.openxmlformats.org/drawingml/2006/main" noGrp="1"/>
          </p:cNvSpPr>
          <p:nvPr/>
        </p:nvSpPr>
        <p:spPr>
          <a:xfrm xmlns:a="http://schemas.openxmlformats.org/drawingml/2006/main">
            <a:off x="609600" y="1828800"/>
            <a:ext cx="5048250" cy="4762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250" b="1">
                <a:solidFill>
                  <a:srgbClr val="147F83"/>
                </a:solidFill>
                <a:latin typeface="Arial"/>
                <a:ea typeface="Arial"/>
                <a:cs typeface="Arial"/>
              </a:rPr>
              <a:t>AMS 800: zero-pad use</a:t>
            </a:r>
            <a:endParaRPr/>
          </a:p>
        </p:txBody>
      </p:sp>
      <p:sp>
        <p:nvSpPr>
          <p:cNvPr id="159" name="Google Shape;159;p12">
            <a:extLst xmlns:a="http://schemas.openxmlformats.org/drawingml/2006/main">
              <a:ext uri="{FF2B5EF4-FFF2-40B4-BE49-F238E27FC236}">
                <a16:creationId xmlns:a16="http://schemas.microsoft.com/office/drawing/2014/main" id="{A0FD1291-E15F-4B97-874A-9BA0F539ED6E}"/>
              </a:ext>
            </a:extLst>
          </p:cNvPr>
          <p:cNvSpPr>
            <a:spLocks xmlns:a="http://schemas.openxmlformats.org/drawingml/2006/main" noGrp="1"/>
          </p:cNvSpPr>
          <p:nvPr/>
        </p:nvSpPr>
        <p:spPr>
          <a:xfrm xmlns:a="http://schemas.openxmlformats.org/drawingml/2006/main">
            <a:off x="609600" y="2352675"/>
            <a:ext cx="4762500" cy="11239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6600" b="1">
                <a:solidFill>
                  <a:srgbClr val="183343"/>
                </a:solidFill>
                <a:latin typeface="Arial"/>
                <a:ea typeface="Arial"/>
                <a:cs typeface="Arial"/>
              </a:rPr>
              <a:t>60%</a:t>
            </a:r>
            <a:endParaRPr/>
          </a:p>
        </p:txBody>
      </p:sp>
      <p:sp>
        <p:nvSpPr>
          <p:cNvPr id="160" name="Google Shape;160;p12">
            <a:extLst xmlns:a="http://schemas.openxmlformats.org/drawingml/2006/main">
              <a:ext uri="{FF2B5EF4-FFF2-40B4-BE49-F238E27FC236}">
                <a16:creationId xmlns:a16="http://schemas.microsoft.com/office/drawing/2014/main" id="{6CB6776E-70F7-4A2B-BCA7-5DE533FAA875}"/>
              </a:ext>
            </a:extLst>
          </p:cNvPr>
          <p:cNvSpPr>
            <a:spLocks xmlns:a="http://schemas.openxmlformats.org/drawingml/2006/main" noGrp="1"/>
          </p:cNvSpPr>
          <p:nvPr/>
        </p:nvSpPr>
        <p:spPr>
          <a:xfrm xmlns:a="http://schemas.openxmlformats.org/drawingml/2006/main">
            <a:off x="609600" y="3571875"/>
            <a:ext cx="5095875" cy="10953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75" b="0">
                <a:solidFill>
                  <a:srgbClr val="183343"/>
                </a:solidFill>
                <a:latin typeface="Arial"/>
                <a:ea typeface="Arial"/>
                <a:cs typeface="Arial"/>
              </a:rPr>
              <a:t>61/101 at 12 months after activation</a:t>
            </a:r>
            <a:endParaRPr/>
          </a:p>
          <a:p xmlns:a="http://schemas.openxmlformats.org/drawingml/2006/main">
            <a:pPr marL="0" marR="0" lvl="0" indent="0" algn="l">
              <a:spcBef>
                <a:spcPts val="0"/>
              </a:spcBef>
              <a:spcAft>
                <a:spcPts val="0"/>
              </a:spcAft>
              <a:buNone/>
            </a:pPr>
            <a:r>
              <a:rPr sz="2175" b="0">
                <a:solidFill>
                  <a:srgbClr val="183343"/>
                </a:solidFill>
                <a:latin typeface="Arial"/>
                <a:ea typeface="Arial"/>
                <a:cs typeface="Arial"/>
              </a:rPr>
              <a:t>AUSCO: 115 primary implants</a:t>
            </a:r>
            <a:endParaRPr/>
          </a:p>
        </p:txBody>
      </p:sp>
      <p:sp>
        <p:nvSpPr>
          <p:cNvPr id="161" name="Google Shape;161;p12">
            <a:extLst xmlns:a="http://schemas.openxmlformats.org/drawingml/2006/main">
              <a:ext uri="{FF2B5EF4-FFF2-40B4-BE49-F238E27FC236}">
                <a16:creationId xmlns:a16="http://schemas.microsoft.com/office/drawing/2014/main" id="{BBCCC218-B50C-444A-8BF3-5FD04E715843}"/>
              </a:ext>
            </a:extLst>
          </p:cNvPr>
          <p:cNvSpPr>
            <a:spLocks xmlns:a="http://schemas.openxmlformats.org/drawingml/2006/main" noGrp="1"/>
          </p:cNvSpPr>
          <p:nvPr/>
        </p:nvSpPr>
        <p:spPr>
          <a:xfrm xmlns:a="http://schemas.openxmlformats.org/drawingml/2006/main">
            <a:off x="609600" y="4848225"/>
            <a:ext cx="5095875" cy="7143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a:solidFill>
                  <a:srgbClr val="526773"/>
                </a:solidFill>
                <a:latin typeface="Arial"/>
                <a:ea typeface="Arial"/>
                <a:cs typeface="Arial"/>
              </a:rPr>
              <a:t>Single-arm, manufacturer-funded study.</a:t>
            </a:r>
            <a:endParaRPr/>
          </a:p>
          <a:p xmlns:a="http://schemas.openxmlformats.org/drawingml/2006/main">
            <a:pPr marL="0" marR="0" lvl="0" indent="0" algn="l">
              <a:spcBef>
                <a:spcPts val="0"/>
              </a:spcBef>
              <a:spcAft>
                <a:spcPts val="0"/>
              </a:spcAft>
              <a:buNone/>
            </a:pPr>
            <a:r>
              <a:rPr sz="1800" b="0">
                <a:solidFill>
                  <a:srgbClr val="526773"/>
                </a:solidFill>
                <a:latin typeface="Arial"/>
                <a:ea typeface="Arial"/>
                <a:cs typeface="Arial"/>
              </a:rPr>
              <a:t>Missing outcomes and one-year follow-up.</a:t>
            </a:r>
            <a:endParaRPr/>
          </a:p>
        </p:txBody>
      </p:sp>
      <p:sp>
        <p:nvSpPr>
          <p:cNvPr id="162" name="Google Shape;162;p12">
            <a:extLst xmlns:a="http://schemas.openxmlformats.org/drawingml/2006/main">
              <a:ext uri="{FF2B5EF4-FFF2-40B4-BE49-F238E27FC236}">
                <a16:creationId xmlns:a16="http://schemas.microsoft.com/office/drawing/2014/main" id="{DCCB63C8-24B8-4E97-9078-BE38D3161012}"/>
              </a:ext>
            </a:extLst>
          </p:cNvPr>
          <p:cNvSpPr>
            <a:spLocks xmlns:a="http://schemas.openxmlformats.org/drawingml/2006/main" noGrp="1"/>
          </p:cNvSpPr>
          <p:nvPr/>
        </p:nvSpPr>
        <p:spPr>
          <a:xfrm xmlns:a="http://schemas.openxmlformats.org/drawingml/2006/main">
            <a:off x="6667500" y="1828800"/>
            <a:ext cx="4905375" cy="4762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250" b="1">
                <a:solidFill>
                  <a:srgbClr val="147F83"/>
                </a:solidFill>
                <a:latin typeface="Arial"/>
                <a:ea typeface="Arial"/>
                <a:cs typeface="Arial"/>
              </a:rPr>
              <a:t>ContiClassic: device survival</a:t>
            </a:r>
            <a:endParaRPr/>
          </a:p>
        </p:txBody>
      </p:sp>
      <p:sp>
        <p:nvSpPr>
          <p:cNvPr id="163" name="Google Shape;163;p12">
            <a:extLst xmlns:a="http://schemas.openxmlformats.org/drawingml/2006/main">
              <a:ext uri="{FF2B5EF4-FFF2-40B4-BE49-F238E27FC236}">
                <a16:creationId xmlns:a16="http://schemas.microsoft.com/office/drawing/2014/main" id="{ABAD03AC-9CA3-4F5B-83A4-9E02666565F3}"/>
              </a:ext>
            </a:extLst>
          </p:cNvPr>
          <p:cNvSpPr>
            <a:spLocks xmlns:a="http://schemas.openxmlformats.org/drawingml/2006/main" noGrp="1"/>
          </p:cNvSpPr>
          <p:nvPr/>
        </p:nvSpPr>
        <p:spPr>
          <a:xfrm xmlns:a="http://schemas.openxmlformats.org/drawingml/2006/main">
            <a:off x="6667500" y="2352675"/>
            <a:ext cx="4905375" cy="11239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6600" b="1">
                <a:solidFill>
                  <a:srgbClr val="183343"/>
                </a:solidFill>
                <a:latin typeface="Arial"/>
                <a:ea typeface="Arial"/>
                <a:cs typeface="Arial"/>
              </a:rPr>
              <a:t>93.2%</a:t>
            </a:r>
            <a:endParaRPr/>
          </a:p>
        </p:txBody>
      </p:sp>
      <p:sp>
        <p:nvSpPr>
          <p:cNvPr id="164" name="Google Shape;164;p12">
            <a:extLst xmlns:a="http://schemas.openxmlformats.org/drawingml/2006/main">
              <a:ext uri="{FF2B5EF4-FFF2-40B4-BE49-F238E27FC236}">
                <a16:creationId xmlns:a16="http://schemas.microsoft.com/office/drawing/2014/main" id="{44AD7820-AECA-4623-B63F-44B4CFECCEAD}"/>
              </a:ext>
            </a:extLst>
          </p:cNvPr>
          <p:cNvSpPr>
            <a:spLocks xmlns:a="http://schemas.openxmlformats.org/drawingml/2006/main" noGrp="1"/>
          </p:cNvSpPr>
          <p:nvPr/>
        </p:nvSpPr>
        <p:spPr>
          <a:xfrm xmlns:a="http://schemas.openxmlformats.org/drawingml/2006/main">
            <a:off x="6667500" y="3571875"/>
            <a:ext cx="4905375" cy="10953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75" b="0">
                <a:solidFill>
                  <a:srgbClr val="183343"/>
                </a:solidFill>
                <a:latin typeface="Arial"/>
                <a:ea typeface="Arial"/>
                <a:cs typeface="Arial"/>
              </a:rPr>
              <a:t>12-month Kaplan–Meier estimate</a:t>
            </a:r>
            <a:endParaRPr/>
          </a:p>
          <a:p xmlns:a="http://schemas.openxmlformats.org/drawingml/2006/main">
            <a:pPr marL="0" marR="0" lvl="0" indent="0" algn="l">
              <a:spcBef>
                <a:spcPts val="0"/>
              </a:spcBef>
              <a:spcAft>
                <a:spcPts val="0"/>
              </a:spcAft>
              <a:buNone/>
            </a:pPr>
            <a:r>
              <a:rPr sz="2175" b="0">
                <a:solidFill>
                  <a:srgbClr val="183343"/>
                </a:solidFill>
                <a:latin typeface="Arial"/>
                <a:ea typeface="Arial"/>
                <a:cs typeface="Arial"/>
              </a:rPr>
              <a:t>First 116 recipients, mixed indications</a:t>
            </a:r>
            <a:endParaRPr/>
          </a:p>
        </p:txBody>
      </p:sp>
      <p:sp>
        <p:nvSpPr>
          <p:cNvPr id="165" name="Google Shape;165;p12">
            <a:extLst xmlns:a="http://schemas.openxmlformats.org/drawingml/2006/main">
              <a:ext uri="{FF2B5EF4-FFF2-40B4-BE49-F238E27FC236}">
                <a16:creationId xmlns:a16="http://schemas.microsoft.com/office/drawing/2014/main" id="{7ED0D103-3376-4EEA-9F30-E93085EB3724}"/>
              </a:ext>
            </a:extLst>
          </p:cNvPr>
          <p:cNvSpPr>
            <a:spLocks xmlns:a="http://schemas.openxmlformats.org/drawingml/2006/main" noGrp="1"/>
          </p:cNvSpPr>
          <p:nvPr/>
        </p:nvSpPr>
        <p:spPr>
          <a:xfrm xmlns:a="http://schemas.openxmlformats.org/drawingml/2006/main">
            <a:off x="6667500" y="4848225"/>
            <a:ext cx="4905375" cy="7143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a:solidFill>
                  <a:srgbClr val="526773"/>
                </a:solidFill>
                <a:latin typeface="Arial"/>
                <a:ea typeface="Arial"/>
                <a:cs typeface="Arial"/>
              </a:rPr>
              <a:t>Abstract-level, no comparator.</a:t>
            </a:r>
            <a:endParaRPr/>
          </a:p>
          <a:p xmlns:a="http://schemas.openxmlformats.org/drawingml/2006/main">
            <a:pPr marL="0" marR="0" lvl="0" indent="0" algn="l">
              <a:spcBef>
                <a:spcPts val="0"/>
              </a:spcBef>
              <a:spcAft>
                <a:spcPts val="0"/>
              </a:spcAft>
              <a:buNone/>
            </a:pPr>
            <a:r>
              <a:rPr sz="1800" b="0">
                <a:solidFill>
                  <a:srgbClr val="526773"/>
                </a:solidFill>
                <a:latin typeface="Arial"/>
                <a:ea typeface="Arial"/>
                <a:cs typeface="Arial"/>
              </a:rPr>
              <a:t>A standardised continence result is unverified.</a:t>
            </a:r>
            <a:endParaRPr/>
          </a:p>
        </p:txBody>
      </p:sp>
      <p:sp>
        <p:nvSpPr>
          <p:cNvPr id="166" name="Google Shape;166;p12">
            <a:extLst xmlns:a="http://schemas.openxmlformats.org/drawingml/2006/main">
              <a:ext uri="{FF2B5EF4-FFF2-40B4-BE49-F238E27FC236}">
                <a16:creationId xmlns:a16="http://schemas.microsoft.com/office/drawing/2014/main" id="{01279333-428D-49F1-A9DB-042EDDF259A5}"/>
              </a:ext>
            </a:extLst>
          </p:cNvPr>
          <p:cNvSpPr>
            <a:spLocks xmlns:a="http://schemas.openxmlformats.org/drawingml/2006/main" noGrp="1"/>
          </p:cNvSpPr>
          <p:nvPr/>
        </p:nvSpPr>
        <p:spPr>
          <a:xfrm xmlns:a="http://schemas.openxmlformats.org/drawingml/2006/main">
            <a:off x="609600" y="5753100"/>
            <a:ext cx="10972800" cy="552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725" b="0">
                <a:solidFill>
                  <a:srgbClr val="526773"/>
                </a:solidFill>
                <a:latin typeface="Arial"/>
                <a:ea typeface="Arial"/>
                <a:cs typeface="Arial"/>
              </a:rPr>
              <a:t>These endpoints do not compare devices. Long-term regret data reinforce counselling about leakage and future surgery.</a:t>
            </a:r>
            <a:endParaRPr/>
          </a:p>
        </p:txBody>
      </p:sp>
    </p:spTree>
    <p:extLst>
      <p:ext uri="{BB962C8B-B14F-4D97-AF65-F5344CB8AC3E}">
        <p14:creationId xmlns:p14="http://schemas.microsoft.com/office/powerpoint/2010/main" val="1344043426"/>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2" name="Google Shape;172;p13">
            <a:extLst xmlns:a="http://schemas.openxmlformats.org/drawingml/2006/main">
              <a:ext uri="{FF2B5EF4-FFF2-40B4-BE49-F238E27FC236}">
                <a16:creationId xmlns:a16="http://schemas.microsoft.com/office/drawing/2014/main" id="{258C504F-76AE-45DD-BDAC-A8E21752826F}"/>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Case 1: six pads and urgency</a:t>
            </a:r>
            <a:endParaRPr/>
          </a:p>
        </p:txBody>
      </p:sp>
      <p:sp>
        <p:nvSpPr>
          <p:cNvPr id="173" name="Google Shape;173;p13">
            <a:extLst xmlns:a="http://schemas.openxmlformats.org/drawingml/2006/main">
              <a:ext uri="{FF2B5EF4-FFF2-40B4-BE49-F238E27FC236}">
                <a16:creationId xmlns:a16="http://schemas.microsoft.com/office/drawing/2014/main" id="{819F7FB3-EFA2-4BD1-9D02-ACD8A07E44E9}"/>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4" name="Google Shape;174;p13">
            <a:extLst xmlns:a="http://schemas.openxmlformats.org/drawingml/2006/main">
              <a:ext uri="{FF2B5EF4-FFF2-40B4-BE49-F238E27FC236}">
                <a16:creationId xmlns:a16="http://schemas.microsoft.com/office/drawing/2014/main" id="{65928FF8-1EF2-4828-9377-94E00B9C3286}"/>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125" b="0">
                <a:solidFill>
                  <a:srgbClr val="526773"/>
                </a:solidFill>
                <a:latin typeface="Arial"/>
                <a:ea typeface="Arial"/>
                <a:cs typeface="Arial"/>
              </a:rPr>
              <a:t>DO24 · OAB11 · DOFAIL23 · CCIFU</a:t>
            </a:r>
            <a:endParaRPr/>
          </a:p>
        </p:txBody>
      </p:sp>
      <p:sp>
        <p:nvSpPr>
          <p:cNvPr id="175" name="Google Shape;175;p13">
            <a:extLst xmlns:a="http://schemas.openxmlformats.org/drawingml/2006/main">
              <a:ext uri="{FF2B5EF4-FFF2-40B4-BE49-F238E27FC236}">
                <a16:creationId xmlns:a16="http://schemas.microsoft.com/office/drawing/2014/main" id="{4D8C9539-E1C3-4A5C-B974-F6776DE17A41}"/>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10</a:t>
            </a:r>
            <a:endParaRPr/>
          </a:p>
        </p:txBody>
      </p:sp>
      <p:sp>
        <p:nvSpPr>
          <p:cNvPr id="176" name="Google Shape;176;p13">
            <a:extLst xmlns:a="http://schemas.openxmlformats.org/drawingml/2006/main">
              <a:ext uri="{FF2B5EF4-FFF2-40B4-BE49-F238E27FC236}">
                <a16:creationId xmlns:a16="http://schemas.microsoft.com/office/drawing/2014/main" id="{6D361A13-CBB4-4375-B4F9-35DFDA486B66}"/>
              </a:ext>
            </a:extLst>
          </p:cNvPr>
          <p:cNvSpPr>
            <a:spLocks xmlns:a="http://schemas.openxmlformats.org/drawingml/2006/main" noGrp="1"/>
          </p:cNvSpPr>
          <p:nvPr/>
        </p:nvSpPr>
        <p:spPr>
          <a:xfrm xmlns:a="http://schemas.openxmlformats.org/drawingml/2006/main">
            <a:off x="609600" y="1790700"/>
            <a:ext cx="6000750" cy="4286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75" b="1">
                <a:solidFill>
                  <a:srgbClr val="147F83"/>
                </a:solidFill>
                <a:latin typeface="Arial"/>
                <a:ea typeface="Arial"/>
                <a:cs typeface="Arial"/>
              </a:rPr>
              <a:t>Fictional clinical case 01</a:t>
            </a:r>
            <a:endParaRPr/>
          </a:p>
        </p:txBody>
      </p:sp>
      <p:sp>
        <p:nvSpPr>
          <p:cNvPr id="177" name="Google Shape;177;p13">
            <a:extLst xmlns:a="http://schemas.openxmlformats.org/drawingml/2006/main">
              <a:ext uri="{FF2B5EF4-FFF2-40B4-BE49-F238E27FC236}">
                <a16:creationId xmlns:a16="http://schemas.microsoft.com/office/drawing/2014/main" id="{333B6FEB-303E-4C4B-8760-F138D7403A66}"/>
              </a:ext>
            </a:extLst>
          </p:cNvPr>
          <p:cNvSpPr>
            <a:spLocks xmlns:a="http://schemas.openxmlformats.org/drawingml/2006/main" noGrp="1"/>
          </p:cNvSpPr>
          <p:nvPr/>
        </p:nvSpPr>
        <p:spPr>
          <a:xfrm xmlns:a="http://schemas.openxmlformats.org/drawingml/2006/main">
            <a:off x="609600" y="2400300"/>
            <a:ext cx="5810250" cy="6381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Demonstrated post-prostatectomy stress leakage</a:t>
            </a:r>
            <a:endParaRPr/>
          </a:p>
        </p:txBody>
      </p:sp>
      <p:sp>
        <p:nvSpPr>
          <p:cNvPr id="178" name="Google Shape;178;p13">
            <a:extLst xmlns:a="http://schemas.openxmlformats.org/drawingml/2006/main">
              <a:ext uri="{FF2B5EF4-FFF2-40B4-BE49-F238E27FC236}">
                <a16:creationId xmlns:a16="http://schemas.microsoft.com/office/drawing/2014/main" id="{F658E0C2-7D8F-4CA5-AF65-5BD0C0184590}"/>
              </a:ext>
            </a:extLst>
          </p:cNvPr>
          <p:cNvSpPr>
            <a:spLocks xmlns:a="http://schemas.openxmlformats.org/drawingml/2006/main" noGrp="1"/>
          </p:cNvSpPr>
          <p:nvPr/>
        </p:nvSpPr>
        <p:spPr>
          <a:xfrm xmlns:a="http://schemas.openxmlformats.org/drawingml/2006/main">
            <a:off x="609600" y="3152775"/>
            <a:ext cx="5810250" cy="6381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Urgency leakage and detrusor overactivity</a:t>
            </a:r>
            <a:endParaRPr/>
          </a:p>
        </p:txBody>
      </p:sp>
      <p:sp>
        <p:nvSpPr>
          <p:cNvPr id="179" name="Google Shape;179;p13">
            <a:extLst xmlns:a="http://schemas.openxmlformats.org/drawingml/2006/main">
              <a:ext uri="{FF2B5EF4-FFF2-40B4-BE49-F238E27FC236}">
                <a16:creationId xmlns:a16="http://schemas.microsoft.com/office/drawing/2014/main" id="{1C1F308C-E94A-4BB1-8C70-A492A9E44443}"/>
              </a:ext>
            </a:extLst>
          </p:cNvPr>
          <p:cNvSpPr>
            <a:spLocks xmlns:a="http://schemas.openxmlformats.org/drawingml/2006/main" noGrp="1"/>
          </p:cNvSpPr>
          <p:nvPr/>
        </p:nvSpPr>
        <p:spPr>
          <a:xfrm xmlns:a="http://schemas.openxmlformats.org/drawingml/2006/main">
            <a:off x="609600" y="3905250"/>
            <a:ext cx="5810250" cy="6381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Reassuring compliance and emptying</a:t>
            </a:r>
            <a:endParaRPr/>
          </a:p>
        </p:txBody>
      </p:sp>
      <p:sp>
        <p:nvSpPr>
          <p:cNvPr id="180" name="Google Shape;180;p13">
            <a:extLst xmlns:a="http://schemas.openxmlformats.org/drawingml/2006/main">
              <a:ext uri="{FF2B5EF4-FFF2-40B4-BE49-F238E27FC236}">
                <a16:creationId xmlns:a16="http://schemas.microsoft.com/office/drawing/2014/main" id="{969BFFB1-8033-465A-B61D-A5C40F25B1CF}"/>
              </a:ext>
            </a:extLst>
          </p:cNvPr>
          <p:cNvSpPr>
            <a:spLocks xmlns:a="http://schemas.openxmlformats.org/drawingml/2006/main" noGrp="1"/>
          </p:cNvSpPr>
          <p:nvPr/>
        </p:nvSpPr>
        <p:spPr>
          <a:xfrm xmlns:a="http://schemas.openxmlformats.org/drawingml/2006/main">
            <a:off x="609600" y="4657725"/>
            <a:ext cx="5810250" cy="6381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Goal: walk without soaking his clothes</a:t>
            </a:r>
            <a:endParaRPr/>
          </a:p>
        </p:txBody>
      </p:sp>
      <p:sp>
        <p:nvSpPr>
          <p:cNvPr id="181" name="Google Shape;181;p13">
            <a:extLst xmlns:a="http://schemas.openxmlformats.org/drawingml/2006/main">
              <a:ext uri="{FF2B5EF4-FFF2-40B4-BE49-F238E27FC236}">
                <a16:creationId xmlns:a16="http://schemas.microsoft.com/office/drawing/2014/main" id="{EE57E083-4DBA-4511-A2C7-3E0AE3387704}"/>
              </a:ext>
            </a:extLst>
          </p:cNvPr>
          <p:cNvSpPr>
            <a:spLocks xmlns:a="http://schemas.openxmlformats.org/drawingml/2006/main" noGrp="1"/>
          </p:cNvSpPr>
          <p:nvPr/>
        </p:nvSpPr>
        <p:spPr>
          <a:xfrm xmlns:a="http://schemas.openxmlformats.org/drawingml/2006/main">
            <a:off x="7239000" y="2095500"/>
            <a:ext cx="4343400" cy="20002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000" b="1">
                <a:solidFill>
                  <a:srgbClr val="183343"/>
                </a:solidFill>
                <a:latin typeface="Arial"/>
                <a:ea typeface="Arial"/>
                <a:cs typeface="Arial"/>
              </a:rPr>
              <a:t>Implant now or optimise first?</a:t>
            </a:r>
            <a:endParaRPr/>
          </a:p>
        </p:txBody>
      </p:sp>
      <p:sp>
        <p:nvSpPr>
          <p:cNvPr id="182" name="Google Shape;182;p13">
            <a:extLst xmlns:a="http://schemas.openxmlformats.org/drawingml/2006/main">
              <a:ext uri="{FF2B5EF4-FFF2-40B4-BE49-F238E27FC236}">
                <a16:creationId xmlns:a16="http://schemas.microsoft.com/office/drawing/2014/main" id="{8FECE03B-8F17-4D6D-8331-B279F6DCCF7C}"/>
              </a:ext>
            </a:extLst>
          </p:cNvPr>
          <p:cNvSpPr>
            <a:spLocks xmlns:a="http://schemas.openxmlformats.org/drawingml/2006/main" noGrp="1"/>
          </p:cNvSpPr>
          <p:nvPr/>
        </p:nvSpPr>
        <p:spPr>
          <a:xfrm xmlns:a="http://schemas.openxmlformats.org/drawingml/2006/main">
            <a:off x="7239000" y="4362450"/>
            <a:ext cx="7620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83" name="Google Shape;183;p13">
            <a:extLst xmlns:a="http://schemas.openxmlformats.org/drawingml/2006/main">
              <a:ext uri="{FF2B5EF4-FFF2-40B4-BE49-F238E27FC236}">
                <a16:creationId xmlns:a16="http://schemas.microsoft.com/office/drawing/2014/main" id="{A7C464A1-5704-498C-90E2-B61133403FDA}"/>
              </a:ext>
            </a:extLst>
          </p:cNvPr>
          <p:cNvSpPr>
            <a:spLocks xmlns:a="http://schemas.openxmlformats.org/drawingml/2006/main" noGrp="1"/>
          </p:cNvSpPr>
          <p:nvPr/>
        </p:nvSpPr>
        <p:spPr>
          <a:xfrm xmlns:a="http://schemas.openxmlformats.org/drawingml/2006/main">
            <a:off x="7239000" y="4610100"/>
            <a:ext cx="4343400" cy="8572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950" b="0">
                <a:solidFill>
                  <a:srgbClr val="147F83"/>
                </a:solidFill>
                <a:latin typeface="Arial"/>
                <a:ea typeface="Arial"/>
                <a:cs typeface="Arial"/>
              </a:rPr>
              <a:t>Implant / Optimise / Investigate / Reconsider</a:t>
            </a:r>
            <a:endParaRPr/>
          </a:p>
        </p:txBody>
      </p:sp>
      <p:sp>
        <p:nvSpPr>
          <p:cNvPr id="184" name="Google Shape;184;p13">
            <a:extLst xmlns:a="http://schemas.openxmlformats.org/drawingml/2006/main">
              <a:ext uri="{FF2B5EF4-FFF2-40B4-BE49-F238E27FC236}">
                <a16:creationId xmlns:a16="http://schemas.microsoft.com/office/drawing/2014/main" id="{E78D7708-F82E-4153-A57D-3708C3D4244E}"/>
              </a:ext>
            </a:extLst>
          </p:cNvPr>
          <p:cNvSpPr>
            <a:spLocks xmlns:a="http://schemas.openxmlformats.org/drawingml/2006/main" noGrp="1"/>
          </p:cNvSpPr>
          <p:nvPr/>
        </p:nvSpPr>
        <p:spPr>
          <a:xfrm xmlns:a="http://schemas.openxmlformats.org/drawingml/2006/main">
            <a:off x="609600" y="5753100"/>
            <a:ext cx="10972800" cy="552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725" b="0">
                <a:solidFill>
                  <a:srgbClr val="526773"/>
                </a:solidFill>
                <a:latin typeface="Arial"/>
                <a:ea typeface="Arial"/>
                <a:cs typeface="Arial"/>
              </a:rPr>
              <a:t>DO alone need not exclude general AUS surgery. ContiClassic labelling requires bladder conditions to be controlled or resolved.</a:t>
            </a:r>
            <a:endParaRPr/>
          </a:p>
        </p:txBody>
      </p:sp>
    </p:spTree>
    <p:extLst>
      <p:ext uri="{BB962C8B-B14F-4D97-AF65-F5344CB8AC3E}">
        <p14:creationId xmlns:p14="http://schemas.microsoft.com/office/powerpoint/2010/main" val="47092019"/>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0" name="Google Shape;190;p14">
            <a:extLst xmlns:a="http://schemas.openxmlformats.org/drawingml/2006/main">
              <a:ext uri="{FF2B5EF4-FFF2-40B4-BE49-F238E27FC236}">
                <a16:creationId xmlns:a16="http://schemas.microsoft.com/office/drawing/2014/main" id="{08ACE6D7-B599-4A2F-AF5D-94E3BE526745}"/>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Urgency treatment and emptying</a:t>
            </a:r>
            <a:endParaRPr/>
          </a:p>
        </p:txBody>
      </p:sp>
      <p:sp>
        <p:nvSpPr>
          <p:cNvPr id="191" name="Google Shape;191;p14">
            <a:extLst xmlns:a="http://schemas.openxmlformats.org/drawingml/2006/main">
              <a:ext uri="{FF2B5EF4-FFF2-40B4-BE49-F238E27FC236}">
                <a16:creationId xmlns:a16="http://schemas.microsoft.com/office/drawing/2014/main" id="{C8723018-4BE7-4C28-9490-C0C14CC88B9F}"/>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92" name="Google Shape;192;p14">
            <a:extLst xmlns:a="http://schemas.openxmlformats.org/drawingml/2006/main">
              <a:ext uri="{FF2B5EF4-FFF2-40B4-BE49-F238E27FC236}">
                <a16:creationId xmlns:a16="http://schemas.microsoft.com/office/drawing/2014/main" id="{F981D89F-F242-4BBF-B8E2-0F74F29F38A9}"/>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125" b="0">
                <a:solidFill>
                  <a:srgbClr val="526773"/>
                </a:solidFill>
                <a:latin typeface="Arial"/>
                <a:ea typeface="Arial"/>
                <a:cs typeface="Arial"/>
              </a:rPr>
              <a:t>BAUS25 · AUAOAB24 · OAB11 · CCIFU</a:t>
            </a:r>
            <a:endParaRPr/>
          </a:p>
        </p:txBody>
      </p:sp>
      <p:sp>
        <p:nvSpPr>
          <p:cNvPr id="193" name="Google Shape;193;p14">
            <a:extLst xmlns:a="http://schemas.openxmlformats.org/drawingml/2006/main">
              <a:ext uri="{FF2B5EF4-FFF2-40B4-BE49-F238E27FC236}">
                <a16:creationId xmlns:a16="http://schemas.microsoft.com/office/drawing/2014/main" id="{DBDDECE9-56AC-4A29-A6AB-79538673E684}"/>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11</a:t>
            </a:r>
            <a:endParaRPr/>
          </a:p>
        </p:txBody>
      </p:sp>
      <p:sp>
        <p:nvSpPr>
          <p:cNvPr id="194" name="Google Shape;194;p14">
            <a:extLst xmlns:a="http://schemas.openxmlformats.org/drawingml/2006/main">
              <a:ext uri="{FF2B5EF4-FFF2-40B4-BE49-F238E27FC236}">
                <a16:creationId xmlns:a16="http://schemas.microsoft.com/office/drawing/2014/main" id="{C9BD1169-CDCE-446A-A25B-2D90A9E05ACB}"/>
              </a:ext>
            </a:extLst>
          </p:cNvPr>
          <p:cNvSpPr>
            <a:spLocks xmlns:a="http://schemas.openxmlformats.org/drawingml/2006/main" noGrp="1"/>
          </p:cNvSpPr>
          <p:nvPr/>
        </p:nvSpPr>
        <p:spPr>
          <a:xfrm xmlns:a="http://schemas.openxmlformats.org/drawingml/2006/main">
            <a:off x="609600" y="1809750"/>
            <a:ext cx="666750" cy="5238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850" b="1">
                <a:solidFill>
                  <a:srgbClr val="147F83"/>
                </a:solidFill>
                <a:latin typeface="Arial"/>
                <a:ea typeface="Arial"/>
                <a:cs typeface="Arial"/>
              </a:rPr>
              <a:t>1</a:t>
            </a:r>
            <a:endParaRPr/>
          </a:p>
        </p:txBody>
      </p:sp>
      <p:sp>
        <p:nvSpPr>
          <p:cNvPr id="195" name="Google Shape;195;p14">
            <a:extLst xmlns:a="http://schemas.openxmlformats.org/drawingml/2006/main">
              <a:ext uri="{FF2B5EF4-FFF2-40B4-BE49-F238E27FC236}">
                <a16:creationId xmlns:a16="http://schemas.microsoft.com/office/drawing/2014/main" id="{0D8873C1-F9A1-46BE-812E-B68DE8435D87}"/>
              </a:ext>
            </a:extLst>
          </p:cNvPr>
          <p:cNvSpPr>
            <a:spLocks xmlns:a="http://schemas.openxmlformats.org/drawingml/2006/main" noGrp="1"/>
          </p:cNvSpPr>
          <p:nvPr/>
        </p:nvSpPr>
        <p:spPr>
          <a:xfrm xmlns:a="http://schemas.openxmlformats.org/drawingml/2006/main">
            <a:off x="1476375" y="1838325"/>
            <a:ext cx="10096500" cy="8001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250" b="0">
                <a:solidFill>
                  <a:srgbClr val="183343"/>
                </a:solidFill>
                <a:latin typeface="Arial"/>
                <a:ea typeface="Arial"/>
                <a:cs typeface="Arial"/>
              </a:rPr>
              <a:t>Address reversible contributors and symptom burden</a:t>
            </a:r>
            <a:endParaRPr/>
          </a:p>
        </p:txBody>
      </p:sp>
      <p:sp>
        <p:nvSpPr>
          <p:cNvPr id="196" name="Google Shape;196;p14">
            <a:extLst xmlns:a="http://schemas.openxmlformats.org/drawingml/2006/main">
              <a:ext uri="{FF2B5EF4-FFF2-40B4-BE49-F238E27FC236}">
                <a16:creationId xmlns:a16="http://schemas.microsoft.com/office/drawing/2014/main" id="{770790FB-DDF3-41F8-A2EF-F6D308ED2583}"/>
              </a:ext>
            </a:extLst>
          </p:cNvPr>
          <p:cNvSpPr>
            <a:spLocks xmlns:a="http://schemas.openxmlformats.org/drawingml/2006/main" noGrp="1"/>
          </p:cNvSpPr>
          <p:nvPr/>
        </p:nvSpPr>
        <p:spPr>
          <a:xfrm xmlns:a="http://schemas.openxmlformats.org/drawingml/2006/main">
            <a:off x="609600" y="2705100"/>
            <a:ext cx="666750" cy="5238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850" b="1">
                <a:solidFill>
                  <a:srgbClr val="147F83"/>
                </a:solidFill>
                <a:latin typeface="Arial"/>
                <a:ea typeface="Arial"/>
                <a:cs typeface="Arial"/>
              </a:rPr>
              <a:t>2</a:t>
            </a:r>
            <a:endParaRPr/>
          </a:p>
        </p:txBody>
      </p:sp>
      <p:sp>
        <p:nvSpPr>
          <p:cNvPr id="197" name="Google Shape;197;p14">
            <a:extLst xmlns:a="http://schemas.openxmlformats.org/drawingml/2006/main">
              <a:ext uri="{FF2B5EF4-FFF2-40B4-BE49-F238E27FC236}">
                <a16:creationId xmlns:a16="http://schemas.microsoft.com/office/drawing/2014/main" id="{B87986B4-951B-4F44-BB12-3C805AA6C1CF}"/>
              </a:ext>
            </a:extLst>
          </p:cNvPr>
          <p:cNvSpPr>
            <a:spLocks xmlns:a="http://schemas.openxmlformats.org/drawingml/2006/main" noGrp="1"/>
          </p:cNvSpPr>
          <p:nvPr/>
        </p:nvSpPr>
        <p:spPr>
          <a:xfrm xmlns:a="http://schemas.openxmlformats.org/drawingml/2006/main">
            <a:off x="1476375" y="2733675"/>
            <a:ext cx="10096500" cy="8001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250" b="0">
                <a:solidFill>
                  <a:srgbClr val="183343"/>
                </a:solidFill>
                <a:latin typeface="Arial"/>
                <a:ea typeface="Arial"/>
                <a:cs typeface="Arial"/>
              </a:rPr>
              <a:t>Choose medication with cognition and residual urine in mind</a:t>
            </a:r>
            <a:endParaRPr/>
          </a:p>
        </p:txBody>
      </p:sp>
      <p:sp>
        <p:nvSpPr>
          <p:cNvPr id="198" name="Google Shape;198;p14">
            <a:extLst xmlns:a="http://schemas.openxmlformats.org/drawingml/2006/main">
              <a:ext uri="{FF2B5EF4-FFF2-40B4-BE49-F238E27FC236}">
                <a16:creationId xmlns:a16="http://schemas.microsoft.com/office/drawing/2014/main" id="{136D4754-683E-48AB-9C44-C79D9A6D7989}"/>
              </a:ext>
            </a:extLst>
          </p:cNvPr>
          <p:cNvSpPr>
            <a:spLocks xmlns:a="http://schemas.openxmlformats.org/drawingml/2006/main" noGrp="1"/>
          </p:cNvSpPr>
          <p:nvPr/>
        </p:nvSpPr>
        <p:spPr>
          <a:xfrm xmlns:a="http://schemas.openxmlformats.org/drawingml/2006/main">
            <a:off x="609600" y="3600450"/>
            <a:ext cx="666750" cy="5238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850" b="1">
                <a:solidFill>
                  <a:srgbClr val="147F83"/>
                </a:solidFill>
                <a:latin typeface="Arial"/>
                <a:ea typeface="Arial"/>
                <a:cs typeface="Arial"/>
              </a:rPr>
              <a:t>3</a:t>
            </a:r>
            <a:endParaRPr/>
          </a:p>
        </p:txBody>
      </p:sp>
      <p:sp>
        <p:nvSpPr>
          <p:cNvPr id="199" name="Google Shape;199;p14">
            <a:extLst xmlns:a="http://schemas.openxmlformats.org/drawingml/2006/main">
              <a:ext uri="{FF2B5EF4-FFF2-40B4-BE49-F238E27FC236}">
                <a16:creationId xmlns:a16="http://schemas.microsoft.com/office/drawing/2014/main" id="{17F5FA35-4D56-4CF7-ACCE-A930B1E3D972}"/>
              </a:ext>
            </a:extLst>
          </p:cNvPr>
          <p:cNvSpPr>
            <a:spLocks xmlns:a="http://schemas.openxmlformats.org/drawingml/2006/main" noGrp="1"/>
          </p:cNvSpPr>
          <p:nvPr/>
        </p:nvSpPr>
        <p:spPr>
          <a:xfrm xmlns:a="http://schemas.openxmlformats.org/drawingml/2006/main">
            <a:off x="1476375" y="3629025"/>
            <a:ext cx="10096500" cy="8001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250" b="0">
                <a:solidFill>
                  <a:srgbClr val="183343"/>
                </a:solidFill>
                <a:latin typeface="Arial"/>
                <a:ea typeface="Arial"/>
                <a:cs typeface="Arial"/>
              </a:rPr>
              <a:t>Plan retention and repeated access before botulinum toxin</a:t>
            </a:r>
            <a:endParaRPr/>
          </a:p>
        </p:txBody>
      </p:sp>
      <p:sp>
        <p:nvSpPr>
          <p:cNvPr id="200" name="Google Shape;200;p14">
            <a:extLst xmlns:a="http://schemas.openxmlformats.org/drawingml/2006/main">
              <a:ext uri="{FF2B5EF4-FFF2-40B4-BE49-F238E27FC236}">
                <a16:creationId xmlns:a16="http://schemas.microsoft.com/office/drawing/2014/main" id="{323421FC-72FE-4C22-88C8-5FAADFCF0E6A}"/>
              </a:ext>
            </a:extLst>
          </p:cNvPr>
          <p:cNvSpPr>
            <a:spLocks xmlns:a="http://schemas.openxmlformats.org/drawingml/2006/main" noGrp="1"/>
          </p:cNvSpPr>
          <p:nvPr/>
        </p:nvSpPr>
        <p:spPr>
          <a:xfrm xmlns:a="http://schemas.openxmlformats.org/drawingml/2006/main">
            <a:off x="609600" y="4495800"/>
            <a:ext cx="666750" cy="5238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850" b="1">
                <a:solidFill>
                  <a:srgbClr val="147F83"/>
                </a:solidFill>
                <a:latin typeface="Arial"/>
                <a:ea typeface="Arial"/>
                <a:cs typeface="Arial"/>
              </a:rPr>
              <a:t>4</a:t>
            </a:r>
            <a:endParaRPr/>
          </a:p>
        </p:txBody>
      </p:sp>
      <p:sp>
        <p:nvSpPr>
          <p:cNvPr id="201" name="Google Shape;201;p14">
            <a:extLst xmlns:a="http://schemas.openxmlformats.org/drawingml/2006/main">
              <a:ext uri="{FF2B5EF4-FFF2-40B4-BE49-F238E27FC236}">
                <a16:creationId xmlns:a16="http://schemas.microsoft.com/office/drawing/2014/main" id="{6E8AFA8E-E4A3-48F2-97B2-A719346E119E}"/>
              </a:ext>
            </a:extLst>
          </p:cNvPr>
          <p:cNvSpPr>
            <a:spLocks xmlns:a="http://schemas.openxmlformats.org/drawingml/2006/main" noGrp="1"/>
          </p:cNvSpPr>
          <p:nvPr/>
        </p:nvSpPr>
        <p:spPr>
          <a:xfrm xmlns:a="http://schemas.openxmlformats.org/drawingml/2006/main">
            <a:off x="1476375" y="4524375"/>
            <a:ext cx="10096500" cy="8001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250" b="0">
                <a:solidFill>
                  <a:srgbClr val="183343"/>
                </a:solidFill>
                <a:latin typeface="Arial"/>
                <a:ea typeface="Arial"/>
                <a:cs typeface="Arial"/>
              </a:rPr>
              <a:t>Treat persistent urgency as a separate outcome after AUS</a:t>
            </a:r>
            <a:endParaRPr/>
          </a:p>
        </p:txBody>
      </p:sp>
      <p:sp>
        <p:nvSpPr>
          <p:cNvPr id="202" name="Google Shape;202;p14">
            <a:extLst xmlns:a="http://schemas.openxmlformats.org/drawingml/2006/main">
              <a:ext uri="{FF2B5EF4-FFF2-40B4-BE49-F238E27FC236}">
                <a16:creationId xmlns:a16="http://schemas.microsoft.com/office/drawing/2014/main" id="{7469C322-4F57-4CB9-9104-123AA9B521EA}"/>
              </a:ext>
            </a:extLst>
          </p:cNvPr>
          <p:cNvSpPr>
            <a:spLocks xmlns:a="http://schemas.openxmlformats.org/drawingml/2006/main" noGrp="1"/>
          </p:cNvSpPr>
          <p:nvPr/>
        </p:nvSpPr>
        <p:spPr>
          <a:xfrm xmlns:a="http://schemas.openxmlformats.org/drawingml/2006/main">
            <a:off x="609600" y="5753100"/>
            <a:ext cx="10972800" cy="552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725" b="0">
                <a:solidFill>
                  <a:srgbClr val="526773"/>
                </a:solidFill>
                <a:latin typeface="Arial"/>
                <a:ea typeface="Arial"/>
                <a:cs typeface="Arial"/>
              </a:rPr>
              <a:t>No universally superior treatment sequence around a cuff has been established.</a:t>
            </a:r>
            <a:endParaRPr/>
          </a:p>
        </p:txBody>
      </p:sp>
    </p:spTree>
    <p:extLst>
      <p:ext uri="{BB962C8B-B14F-4D97-AF65-F5344CB8AC3E}">
        <p14:creationId xmlns:p14="http://schemas.microsoft.com/office/powerpoint/2010/main" val="1149124652"/>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8" name="Google Shape;208;p15">
            <a:extLst xmlns:a="http://schemas.openxmlformats.org/drawingml/2006/main">
              <a:ext uri="{FF2B5EF4-FFF2-40B4-BE49-F238E27FC236}">
                <a16:creationId xmlns:a16="http://schemas.microsoft.com/office/drawing/2014/main" id="{7218007D-C38B-4468-9F79-A15AB27A8AFB}"/>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Case 2: weak contraction and residual urine</a:t>
            </a:r>
            <a:endParaRPr/>
          </a:p>
        </p:txBody>
      </p:sp>
      <p:sp>
        <p:nvSpPr>
          <p:cNvPr id="209" name="Google Shape;209;p15">
            <a:extLst xmlns:a="http://schemas.openxmlformats.org/drawingml/2006/main">
              <a:ext uri="{FF2B5EF4-FFF2-40B4-BE49-F238E27FC236}">
                <a16:creationId xmlns:a16="http://schemas.microsoft.com/office/drawing/2014/main" id="{FC5FD79F-EDF4-4B42-8848-ABD207F98F85}"/>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10" name="Google Shape;210;p15">
            <a:extLst xmlns:a="http://schemas.openxmlformats.org/drawingml/2006/main">
              <a:ext uri="{FF2B5EF4-FFF2-40B4-BE49-F238E27FC236}">
                <a16:creationId xmlns:a16="http://schemas.microsoft.com/office/drawing/2014/main" id="{F862F20F-5422-4220-88A1-8844660A700C}"/>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125" b="0">
                <a:solidFill>
                  <a:srgbClr val="526773"/>
                </a:solidFill>
                <a:latin typeface="Arial"/>
                <a:ea typeface="Arial"/>
                <a:cs typeface="Arial"/>
              </a:rPr>
              <a:t>DU23 · AUA24 · ICSUDS17 · CCIFU</a:t>
            </a:r>
            <a:endParaRPr/>
          </a:p>
        </p:txBody>
      </p:sp>
      <p:sp>
        <p:nvSpPr>
          <p:cNvPr id="211" name="Google Shape;211;p15">
            <a:extLst xmlns:a="http://schemas.openxmlformats.org/drawingml/2006/main">
              <a:ext uri="{FF2B5EF4-FFF2-40B4-BE49-F238E27FC236}">
                <a16:creationId xmlns:a16="http://schemas.microsoft.com/office/drawing/2014/main" id="{0254D6D0-FCC3-42C3-A945-DE513022835E}"/>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12</a:t>
            </a:r>
            <a:endParaRPr/>
          </a:p>
        </p:txBody>
      </p:sp>
      <p:sp>
        <p:nvSpPr>
          <p:cNvPr id="212" name="Google Shape;212;p15">
            <a:extLst xmlns:a="http://schemas.openxmlformats.org/drawingml/2006/main">
              <a:ext uri="{FF2B5EF4-FFF2-40B4-BE49-F238E27FC236}">
                <a16:creationId xmlns:a16="http://schemas.microsoft.com/office/drawing/2014/main" id="{2A0E7185-4E12-483C-B6CA-506B8EED2869}"/>
              </a:ext>
            </a:extLst>
          </p:cNvPr>
          <p:cNvSpPr>
            <a:spLocks xmlns:a="http://schemas.openxmlformats.org/drawingml/2006/main" noGrp="1"/>
          </p:cNvSpPr>
          <p:nvPr/>
        </p:nvSpPr>
        <p:spPr>
          <a:xfrm xmlns:a="http://schemas.openxmlformats.org/drawingml/2006/main">
            <a:off x="609600" y="1790700"/>
            <a:ext cx="6000750" cy="4286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75" b="1">
                <a:solidFill>
                  <a:srgbClr val="147F83"/>
                </a:solidFill>
                <a:latin typeface="Arial"/>
                <a:ea typeface="Arial"/>
                <a:cs typeface="Arial"/>
              </a:rPr>
              <a:t>Fictional clinical case 02</a:t>
            </a:r>
            <a:endParaRPr/>
          </a:p>
        </p:txBody>
      </p:sp>
      <p:sp>
        <p:nvSpPr>
          <p:cNvPr id="213" name="Google Shape;213;p15">
            <a:extLst xmlns:a="http://schemas.openxmlformats.org/drawingml/2006/main">
              <a:ext uri="{FF2B5EF4-FFF2-40B4-BE49-F238E27FC236}">
                <a16:creationId xmlns:a16="http://schemas.microsoft.com/office/drawing/2014/main" id="{952A1F6C-87D1-4E65-A3DD-2D192D1B9B97}"/>
              </a:ext>
            </a:extLst>
          </p:cNvPr>
          <p:cNvSpPr>
            <a:spLocks xmlns:a="http://schemas.openxmlformats.org/drawingml/2006/main" noGrp="1"/>
          </p:cNvSpPr>
          <p:nvPr/>
        </p:nvSpPr>
        <p:spPr>
          <a:xfrm xmlns:a="http://schemas.openxmlformats.org/drawingml/2006/main">
            <a:off x="609600" y="2400300"/>
            <a:ext cx="5810250" cy="6381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Stress leakage with slow voiding</a:t>
            </a:r>
            <a:endParaRPr/>
          </a:p>
        </p:txBody>
      </p:sp>
      <p:sp>
        <p:nvSpPr>
          <p:cNvPr id="214" name="Google Shape;214;p15">
            <a:extLst xmlns:a="http://schemas.openxmlformats.org/drawingml/2006/main">
              <a:ext uri="{FF2B5EF4-FFF2-40B4-BE49-F238E27FC236}">
                <a16:creationId xmlns:a16="http://schemas.microsoft.com/office/drawing/2014/main" id="{411E44AC-F8D3-462B-A28D-C657F5E39BF6}"/>
              </a:ext>
            </a:extLst>
          </p:cNvPr>
          <p:cNvSpPr>
            <a:spLocks xmlns:a="http://schemas.openxmlformats.org/drawingml/2006/main" noGrp="1"/>
          </p:cNvSpPr>
          <p:nvPr/>
        </p:nvSpPr>
        <p:spPr>
          <a:xfrm xmlns:a="http://schemas.openxmlformats.org/drawingml/2006/main">
            <a:off x="609600" y="3152775"/>
            <a:ext cx="5810250" cy="6381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Repeatedly raised residual urine</a:t>
            </a:r>
            <a:endParaRPr/>
          </a:p>
        </p:txBody>
      </p:sp>
      <p:sp>
        <p:nvSpPr>
          <p:cNvPr id="215" name="Google Shape;215;p15">
            <a:extLst xmlns:a="http://schemas.openxmlformats.org/drawingml/2006/main">
              <a:ext uri="{FF2B5EF4-FFF2-40B4-BE49-F238E27FC236}">
                <a16:creationId xmlns:a16="http://schemas.microsoft.com/office/drawing/2014/main" id="{4F7D95BF-618D-4619-A193-2A8CB09C4904}"/>
              </a:ext>
            </a:extLst>
          </p:cNvPr>
          <p:cNvSpPr>
            <a:spLocks xmlns:a="http://schemas.openxmlformats.org/drawingml/2006/main" noGrp="1"/>
          </p:cNvSpPr>
          <p:nvPr/>
        </p:nvSpPr>
        <p:spPr>
          <a:xfrm xmlns:a="http://schemas.openxmlformats.org/drawingml/2006/main">
            <a:off x="609600" y="3905250"/>
            <a:ext cx="5810250" cy="6381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Weak contraction and abdominal straining</a:t>
            </a:r>
            <a:endParaRPr/>
          </a:p>
        </p:txBody>
      </p:sp>
      <p:sp>
        <p:nvSpPr>
          <p:cNvPr id="216" name="Google Shape;216;p15">
            <a:extLst xmlns:a="http://schemas.openxmlformats.org/drawingml/2006/main">
              <a:ext uri="{FF2B5EF4-FFF2-40B4-BE49-F238E27FC236}">
                <a16:creationId xmlns:a16="http://schemas.microsoft.com/office/drawing/2014/main" id="{8D4BC738-0DBB-4802-B0D9-EC759790A4FF}"/>
              </a:ext>
            </a:extLst>
          </p:cNvPr>
          <p:cNvSpPr>
            <a:spLocks xmlns:a="http://schemas.openxmlformats.org/drawingml/2006/main" noGrp="1"/>
          </p:cNvSpPr>
          <p:nvPr/>
        </p:nvSpPr>
        <p:spPr>
          <a:xfrm xmlns:a="http://schemas.openxmlformats.org/drawingml/2006/main">
            <a:off x="609600" y="4657725"/>
            <a:ext cx="5810250" cy="6381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Obstruction and test inhibition remain possible</a:t>
            </a:r>
            <a:endParaRPr/>
          </a:p>
        </p:txBody>
      </p:sp>
      <p:sp>
        <p:nvSpPr>
          <p:cNvPr id="217" name="Google Shape;217;p15">
            <a:extLst xmlns:a="http://schemas.openxmlformats.org/drawingml/2006/main">
              <a:ext uri="{FF2B5EF4-FFF2-40B4-BE49-F238E27FC236}">
                <a16:creationId xmlns:a16="http://schemas.microsoft.com/office/drawing/2014/main" id="{E81D374E-C7FB-4007-ABA2-A6EEC657C40B}"/>
              </a:ext>
            </a:extLst>
          </p:cNvPr>
          <p:cNvSpPr>
            <a:spLocks xmlns:a="http://schemas.openxmlformats.org/drawingml/2006/main" noGrp="1"/>
          </p:cNvSpPr>
          <p:nvPr/>
        </p:nvSpPr>
        <p:spPr>
          <a:xfrm xmlns:a="http://schemas.openxmlformats.org/drawingml/2006/main">
            <a:off x="7239000" y="2095500"/>
            <a:ext cx="4343400" cy="20002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000" b="1">
                <a:solidFill>
                  <a:srgbClr val="183343"/>
                </a:solidFill>
                <a:latin typeface="Arial"/>
                <a:ea typeface="Arial"/>
                <a:cs typeface="Arial"/>
              </a:rPr>
              <a:t>Would a reliable emptying plan change your answer?</a:t>
            </a:r>
            <a:endParaRPr/>
          </a:p>
        </p:txBody>
      </p:sp>
      <p:sp>
        <p:nvSpPr>
          <p:cNvPr id="218" name="Google Shape;218;p15">
            <a:extLst xmlns:a="http://schemas.openxmlformats.org/drawingml/2006/main">
              <a:ext uri="{FF2B5EF4-FFF2-40B4-BE49-F238E27FC236}">
                <a16:creationId xmlns:a16="http://schemas.microsoft.com/office/drawing/2014/main" id="{203211AB-9F5B-4D89-B53B-9430DB368D79}"/>
              </a:ext>
            </a:extLst>
          </p:cNvPr>
          <p:cNvSpPr>
            <a:spLocks xmlns:a="http://schemas.openxmlformats.org/drawingml/2006/main" noGrp="1"/>
          </p:cNvSpPr>
          <p:nvPr/>
        </p:nvSpPr>
        <p:spPr>
          <a:xfrm xmlns:a="http://schemas.openxmlformats.org/drawingml/2006/main">
            <a:off x="7239000" y="4362450"/>
            <a:ext cx="7620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19" name="Google Shape;219;p15">
            <a:extLst xmlns:a="http://schemas.openxmlformats.org/drawingml/2006/main">
              <a:ext uri="{FF2B5EF4-FFF2-40B4-BE49-F238E27FC236}">
                <a16:creationId xmlns:a16="http://schemas.microsoft.com/office/drawing/2014/main" id="{A8C724D2-8681-4A3A-8E5B-E27FF4ECECB5}"/>
              </a:ext>
            </a:extLst>
          </p:cNvPr>
          <p:cNvSpPr>
            <a:spLocks xmlns:a="http://schemas.openxmlformats.org/drawingml/2006/main" noGrp="1"/>
          </p:cNvSpPr>
          <p:nvPr/>
        </p:nvSpPr>
        <p:spPr>
          <a:xfrm xmlns:a="http://schemas.openxmlformats.org/drawingml/2006/main">
            <a:off x="7239000" y="4610100"/>
            <a:ext cx="4343400" cy="8572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950" b="0">
                <a:solidFill>
                  <a:srgbClr val="147F83"/>
                </a:solidFill>
                <a:latin typeface="Arial"/>
                <a:ea typeface="Arial"/>
                <a:cs typeface="Arial"/>
              </a:rPr>
              <a:t>Implant / Investigate / Reconsider</a:t>
            </a:r>
            <a:endParaRPr/>
          </a:p>
        </p:txBody>
      </p:sp>
      <p:sp>
        <p:nvSpPr>
          <p:cNvPr id="220" name="Google Shape;220;p15">
            <a:extLst xmlns:a="http://schemas.openxmlformats.org/drawingml/2006/main">
              <a:ext uri="{FF2B5EF4-FFF2-40B4-BE49-F238E27FC236}">
                <a16:creationId xmlns:a16="http://schemas.microsoft.com/office/drawing/2014/main" id="{6FDBEC0D-96B0-4C8E-A95D-32D47B4FD06D}"/>
              </a:ext>
            </a:extLst>
          </p:cNvPr>
          <p:cNvSpPr>
            <a:spLocks xmlns:a="http://schemas.openxmlformats.org/drawingml/2006/main" noGrp="1"/>
          </p:cNvSpPr>
          <p:nvPr/>
        </p:nvSpPr>
        <p:spPr>
          <a:xfrm xmlns:a="http://schemas.openxmlformats.org/drawingml/2006/main">
            <a:off x="609600" y="5753100"/>
            <a:ext cx="10972800" cy="552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725" b="0">
                <a:solidFill>
                  <a:srgbClr val="526773"/>
                </a:solidFill>
                <a:latin typeface="Arial"/>
                <a:ea typeface="Arial"/>
                <a:cs typeface="Arial"/>
              </a:rPr>
              <a:t>Selected DU cohorts do not establish safety in unresolved retention. There is no universal residual cutoff.</a:t>
            </a:r>
            <a:endParaRPr/>
          </a:p>
        </p:txBody>
      </p:sp>
    </p:spTree>
    <p:extLst>
      <p:ext uri="{BB962C8B-B14F-4D97-AF65-F5344CB8AC3E}">
        <p14:creationId xmlns:p14="http://schemas.microsoft.com/office/powerpoint/2010/main" val="574411464"/>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6" name="Google Shape;226;p16">
            <a:extLst xmlns:a="http://schemas.openxmlformats.org/drawingml/2006/main">
              <a:ext uri="{FF2B5EF4-FFF2-40B4-BE49-F238E27FC236}">
                <a16:creationId xmlns:a16="http://schemas.microsoft.com/office/drawing/2014/main" id="{7026DCA4-D385-4A16-8D8F-6EBB44562681}"/>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Catheterisation with a cuff in place</a:t>
            </a:r>
            <a:endParaRPr/>
          </a:p>
        </p:txBody>
      </p:sp>
      <p:sp>
        <p:nvSpPr>
          <p:cNvPr id="227" name="Google Shape;227;p16">
            <a:extLst xmlns:a="http://schemas.openxmlformats.org/drawingml/2006/main">
              <a:ext uri="{FF2B5EF4-FFF2-40B4-BE49-F238E27FC236}">
                <a16:creationId xmlns:a16="http://schemas.microsoft.com/office/drawing/2014/main" id="{113625D4-D2C6-47E9-B89D-F3BF895BF2D4}"/>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28" name="Google Shape;228;p16">
            <a:extLst xmlns:a="http://schemas.openxmlformats.org/drawingml/2006/main">
              <a:ext uri="{FF2B5EF4-FFF2-40B4-BE49-F238E27FC236}">
                <a16:creationId xmlns:a16="http://schemas.microsoft.com/office/drawing/2014/main" id="{17F3B771-149E-4534-9444-A0E267059B43}"/>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125" b="0">
                <a:solidFill>
                  <a:srgbClr val="526773"/>
                </a:solidFill>
                <a:latin typeface="Arial"/>
                <a:ea typeface="Arial"/>
                <a:cs typeface="Arial"/>
              </a:rPr>
              <a:t>CIC23 · CATH13 · CCIFU · ICS16 · BAUSSCI26 · INSTR26</a:t>
            </a:r>
            <a:endParaRPr/>
          </a:p>
        </p:txBody>
      </p:sp>
      <p:sp>
        <p:nvSpPr>
          <p:cNvPr id="229" name="Google Shape;229;p16">
            <a:extLst xmlns:a="http://schemas.openxmlformats.org/drawingml/2006/main">
              <a:ext uri="{FF2B5EF4-FFF2-40B4-BE49-F238E27FC236}">
                <a16:creationId xmlns:a16="http://schemas.microsoft.com/office/drawing/2014/main" id="{55F6759D-3276-40FF-B1C1-F8D5230170CA}"/>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13</a:t>
            </a:r>
            <a:endParaRPr/>
          </a:p>
        </p:txBody>
      </p:sp>
      <p:sp>
        <p:nvSpPr>
          <p:cNvPr id="230" name="Google Shape;230;p16">
            <a:extLst xmlns:a="http://schemas.openxmlformats.org/drawingml/2006/main">
              <a:ext uri="{FF2B5EF4-FFF2-40B4-BE49-F238E27FC236}">
                <a16:creationId xmlns:a16="http://schemas.microsoft.com/office/drawing/2014/main" id="{56DE93EA-E5A2-4F0F-8DD4-32AB589C69C7}"/>
              </a:ext>
            </a:extLst>
          </p:cNvPr>
          <p:cNvSpPr>
            <a:spLocks xmlns:a="http://schemas.openxmlformats.org/drawingml/2006/main" noGrp="1"/>
          </p:cNvSpPr>
          <p:nvPr/>
        </p:nvSpPr>
        <p:spPr>
          <a:xfrm xmlns:a="http://schemas.openxmlformats.org/drawingml/2006/main">
            <a:off x="609600" y="1771650"/>
            <a:ext cx="10972800" cy="12858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150" b="1">
                <a:solidFill>
                  <a:srgbClr val="147F83"/>
                </a:solidFill>
                <a:latin typeface="Arial"/>
                <a:ea typeface="Arial"/>
                <a:cs typeface="Arial"/>
              </a:rPr>
              <a:t>Cuff fully deflated.</a:t>
            </a:r>
            <a:endParaRPr/>
          </a:p>
          <a:p xmlns:a="http://schemas.openxmlformats.org/drawingml/2006/main">
            <a:pPr marL="0" marR="0" lvl="0" indent="0" algn="l">
              <a:spcBef>
                <a:spcPts val="0"/>
              </a:spcBef>
              <a:spcAft>
                <a:spcPts val="0"/>
              </a:spcAft>
              <a:buNone/>
            </a:pPr>
            <a:r>
              <a:rPr sz="3150" b="1">
                <a:solidFill>
                  <a:srgbClr val="147F83"/>
                </a:solidFill>
                <a:latin typeface="Arial"/>
                <a:ea typeface="Arial"/>
                <a:cs typeface="Arial"/>
              </a:rPr>
              <a:t>Device deactivated.</a:t>
            </a:r>
            <a:endParaRPr/>
          </a:p>
        </p:txBody>
      </p:sp>
      <p:sp>
        <p:nvSpPr>
          <p:cNvPr id="231" name="Google Shape;231;p16">
            <a:extLst xmlns:a="http://schemas.openxmlformats.org/drawingml/2006/main">
              <a:ext uri="{FF2B5EF4-FFF2-40B4-BE49-F238E27FC236}">
                <a16:creationId xmlns:a16="http://schemas.microsoft.com/office/drawing/2014/main" id="{B9FF9661-2400-43A3-A720-C94784A53073}"/>
              </a:ext>
            </a:extLst>
          </p:cNvPr>
          <p:cNvSpPr>
            <a:spLocks xmlns:a="http://schemas.openxmlformats.org/drawingml/2006/main" noGrp="1"/>
          </p:cNvSpPr>
          <p:nvPr/>
        </p:nvSpPr>
        <p:spPr>
          <a:xfrm xmlns:a="http://schemas.openxmlformats.org/drawingml/2006/main">
            <a:off x="609600" y="3390900"/>
            <a:ext cx="10972800" cy="619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75" b="0">
                <a:solidFill>
                  <a:srgbClr val="183343"/>
                </a:solidFill>
                <a:latin typeface="Arial"/>
                <a:ea typeface="Arial"/>
                <a:cs typeface="Arial"/>
              </a:rPr>
              <a:t>Establish the reason and likely frequency of catheterisation</a:t>
            </a:r>
            <a:endParaRPr/>
          </a:p>
        </p:txBody>
      </p:sp>
      <p:sp>
        <p:nvSpPr>
          <p:cNvPr id="232" name="Google Shape;232;p16">
            <a:extLst xmlns:a="http://schemas.openxmlformats.org/drawingml/2006/main">
              <a:ext uri="{FF2B5EF4-FFF2-40B4-BE49-F238E27FC236}">
                <a16:creationId xmlns:a16="http://schemas.microsoft.com/office/drawing/2014/main" id="{57150E63-BBDF-45C3-B44C-DD4F60101267}"/>
              </a:ext>
            </a:extLst>
          </p:cNvPr>
          <p:cNvSpPr>
            <a:spLocks xmlns:a="http://schemas.openxmlformats.org/drawingml/2006/main" noGrp="1"/>
          </p:cNvSpPr>
          <p:nvPr/>
        </p:nvSpPr>
        <p:spPr>
          <a:xfrm xmlns:a="http://schemas.openxmlformats.org/drawingml/2006/main">
            <a:off x="609600" y="4124325"/>
            <a:ext cx="10972800" cy="619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75" b="0">
                <a:solidFill>
                  <a:srgbClr val="183343"/>
                </a:solidFill>
                <a:latin typeface="Arial"/>
                <a:ea typeface="Arial"/>
                <a:cs typeface="Arial"/>
              </a:rPr>
              <a:t>Test competence and agree the drainage route before implantation</a:t>
            </a:r>
            <a:endParaRPr/>
          </a:p>
        </p:txBody>
      </p:sp>
      <p:sp>
        <p:nvSpPr>
          <p:cNvPr id="233" name="Google Shape;233;p16">
            <a:extLst xmlns:a="http://schemas.openxmlformats.org/drawingml/2006/main">
              <a:ext uri="{FF2B5EF4-FFF2-40B4-BE49-F238E27FC236}">
                <a16:creationId xmlns:a16="http://schemas.microsoft.com/office/drawing/2014/main" id="{DB421B89-7EE4-4771-90D5-A4D68C540A22}"/>
              </a:ext>
            </a:extLst>
          </p:cNvPr>
          <p:cNvSpPr>
            <a:spLocks xmlns:a="http://schemas.openxmlformats.org/drawingml/2006/main" noGrp="1"/>
          </p:cNvSpPr>
          <p:nvPr/>
        </p:nvSpPr>
        <p:spPr>
          <a:xfrm xmlns:a="http://schemas.openxmlformats.org/drawingml/2006/main">
            <a:off x="609600" y="4857750"/>
            <a:ext cx="10972800" cy="619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75" b="0">
                <a:solidFill>
                  <a:srgbClr val="183343"/>
                </a:solidFill>
                <a:latin typeface="Arial"/>
                <a:ea typeface="Arial"/>
                <a:cs typeface="Arial"/>
              </a:rPr>
              <a:t>Plan repeated or prolonged access with specialist input</a:t>
            </a:r>
            <a:endParaRPr/>
          </a:p>
        </p:txBody>
      </p:sp>
      <p:sp>
        <p:nvSpPr>
          <p:cNvPr id="234" name="Google Shape;234;p16">
            <a:extLst xmlns:a="http://schemas.openxmlformats.org/drawingml/2006/main">
              <a:ext uri="{FF2B5EF4-FFF2-40B4-BE49-F238E27FC236}">
                <a16:creationId xmlns:a16="http://schemas.microsoft.com/office/drawing/2014/main" id="{D9FEDE8B-FDD0-44DB-8E42-077AC91AB6ED}"/>
              </a:ext>
            </a:extLst>
          </p:cNvPr>
          <p:cNvSpPr>
            <a:spLocks xmlns:a="http://schemas.openxmlformats.org/drawingml/2006/main" noGrp="1"/>
          </p:cNvSpPr>
          <p:nvPr/>
        </p:nvSpPr>
        <p:spPr>
          <a:xfrm xmlns:a="http://schemas.openxmlformats.org/drawingml/2006/main">
            <a:off x="609600" y="5753100"/>
            <a:ext cx="10972800" cy="552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725" b="0">
                <a:solidFill>
                  <a:srgbClr val="526773"/>
                </a:solidFill>
                <a:latin typeface="Arial"/>
                <a:ea typeface="Arial"/>
                <a:cs typeface="Arial"/>
              </a:rPr>
              <a:t>2026 survey highlights deactivation training gaps. Follow the actual device instructions; no universal French-size rule applies.</a:t>
            </a:r>
            <a:endParaRPr/>
          </a:p>
        </p:txBody>
      </p:sp>
    </p:spTree>
    <p:extLst>
      <p:ext uri="{BB962C8B-B14F-4D97-AF65-F5344CB8AC3E}">
        <p14:creationId xmlns:p14="http://schemas.microsoft.com/office/powerpoint/2010/main" val="984377785"/>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0" name="Google Shape;240;p17">
            <a:extLst xmlns:a="http://schemas.openxmlformats.org/drawingml/2006/main">
              <a:ext uri="{FF2B5EF4-FFF2-40B4-BE49-F238E27FC236}">
                <a16:creationId xmlns:a16="http://schemas.microsoft.com/office/drawing/2014/main" id="{DCD1D5CB-5248-4964-8616-CAB017A0FA8D}"/>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Detrusor overactivity and poor compliance</a:t>
            </a:r>
            <a:endParaRPr/>
          </a:p>
        </p:txBody>
      </p:sp>
      <p:sp>
        <p:nvSpPr>
          <p:cNvPr id="241" name="Google Shape;241;p17">
            <a:extLst xmlns:a="http://schemas.openxmlformats.org/drawingml/2006/main">
              <a:ext uri="{FF2B5EF4-FFF2-40B4-BE49-F238E27FC236}">
                <a16:creationId xmlns:a16="http://schemas.microsoft.com/office/drawing/2014/main" id="{8BC25A8F-9394-4433-B407-8BA9F8BEDED8}"/>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42" name="Google Shape;242;p17">
            <a:extLst xmlns:a="http://schemas.openxmlformats.org/drawingml/2006/main">
              <a:ext uri="{FF2B5EF4-FFF2-40B4-BE49-F238E27FC236}">
                <a16:creationId xmlns:a16="http://schemas.microsoft.com/office/drawing/2014/main" id="{7263CE1B-EF0F-44E7-AD3E-5A8B774E21B0}"/>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125" b="0">
                <a:solidFill>
                  <a:srgbClr val="526773"/>
                </a:solidFill>
                <a:latin typeface="Arial"/>
                <a:ea typeface="Arial"/>
                <a:cs typeface="Arial"/>
              </a:rPr>
              <a:t>UDS09 · ICS16 · BAUS25 · CCIFU · BAUSSCI26</a:t>
            </a:r>
            <a:endParaRPr/>
          </a:p>
        </p:txBody>
      </p:sp>
      <p:sp>
        <p:nvSpPr>
          <p:cNvPr id="243" name="Google Shape;243;p17">
            <a:extLst xmlns:a="http://schemas.openxmlformats.org/drawingml/2006/main">
              <a:ext uri="{FF2B5EF4-FFF2-40B4-BE49-F238E27FC236}">
                <a16:creationId xmlns:a16="http://schemas.microsoft.com/office/drawing/2014/main" id="{84792035-D190-4655-8CEC-0BEF2B0C3298}"/>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14</a:t>
            </a:r>
            <a:endParaRPr/>
          </a:p>
        </p:txBody>
      </p:sp>
      <p:sp>
        <p:nvSpPr>
          <p:cNvPr id="244" name="Google Shape;244;p17">
            <a:extLst xmlns:a="http://schemas.openxmlformats.org/drawingml/2006/main">
              <a:ext uri="{FF2B5EF4-FFF2-40B4-BE49-F238E27FC236}">
                <a16:creationId xmlns:a16="http://schemas.microsoft.com/office/drawing/2014/main" id="{891B128F-6E6A-4467-9672-8E33BB722D6D}"/>
              </a:ext>
            </a:extLst>
          </p:cNvPr>
          <p:cNvSpPr>
            <a:spLocks xmlns:a="http://schemas.openxmlformats.org/drawingml/2006/main" noGrp="1"/>
          </p:cNvSpPr>
          <p:nvPr/>
        </p:nvSpPr>
        <p:spPr>
          <a:xfrm xmlns:a="http://schemas.openxmlformats.org/drawingml/2006/main">
            <a:off x="609600" y="1762125"/>
            <a:ext cx="5238750" cy="49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250" b="1">
                <a:solidFill>
                  <a:srgbClr val="147F83"/>
                </a:solidFill>
                <a:latin typeface="Arial"/>
                <a:ea typeface="Arial"/>
                <a:cs typeface="Arial"/>
              </a:rPr>
              <a:t>DO: transient contraction</a:t>
            </a:r>
            <a:endParaRPr/>
          </a:p>
        </p:txBody>
      </p:sp>
      <p:sp>
        <p:nvSpPr>
          <p:cNvPr id="245" name="Google Shape;245;p17">
            <a:extLst xmlns:a="http://schemas.openxmlformats.org/drawingml/2006/main">
              <a:ext uri="{FF2B5EF4-FFF2-40B4-BE49-F238E27FC236}">
                <a16:creationId xmlns:a16="http://schemas.microsoft.com/office/drawing/2014/main" id="{156EF54F-4FB1-4F4F-9F16-56ECC930830A}"/>
              </a:ext>
            </a:extLst>
          </p:cNvPr>
          <p:cNvSpPr>
            <a:spLocks xmlns:a="http://schemas.openxmlformats.org/drawingml/2006/main" noGrp="1"/>
          </p:cNvSpPr>
          <p:nvPr/>
        </p:nvSpPr>
        <p:spPr>
          <a:xfrm xmlns:a="http://schemas.openxmlformats.org/drawingml/2006/main">
            <a:off x="609600" y="2305050"/>
            <a:ext cx="525780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425" b="0">
                <a:solidFill>
                  <a:srgbClr val="526773"/>
                </a:solidFill>
                <a:latin typeface="Arial"/>
                <a:ea typeface="Arial"/>
                <a:cs typeface="Arial"/>
              </a:rPr>
              <a:t>Pressure ↑ (arbitrary units)</a:t>
            </a:r>
            <a:endParaRPr/>
          </a:p>
        </p:txBody>
      </p:sp>
      <p:sp>
        <p:nvSpPr>
          <p:cNvPr id="246" name="Google Shape;246;p17">
            <a:extLst xmlns:a="http://schemas.openxmlformats.org/drawingml/2006/main">
              <a:ext uri="{FF2B5EF4-FFF2-40B4-BE49-F238E27FC236}">
                <a16:creationId xmlns:a16="http://schemas.microsoft.com/office/drawing/2014/main" id="{E206C122-69AB-4832-B1C1-B4EBB75AE6FF}"/>
              </a:ext>
            </a:extLst>
          </p:cNvPr>
          <p:cNvSpPr>
            <a:spLocks xmlns:a="http://schemas.openxmlformats.org/drawingml/2006/main" noGrp="1"/>
          </p:cNvSpPr>
          <p:nvPr/>
        </p:nvSpPr>
        <p:spPr>
          <a:xfrm xmlns:a="http://schemas.openxmlformats.org/drawingml/2006/main">
            <a:off x="609600" y="4781550"/>
            <a:ext cx="525780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425" b="0">
                <a:solidFill>
                  <a:srgbClr val="526773"/>
                </a:solidFill>
                <a:latin typeface="Arial"/>
                <a:ea typeface="Arial"/>
                <a:cs typeface="Arial"/>
              </a:rPr>
              <a:t>Increasing filling volume → (arbitrary units)</a:t>
            </a:r>
            <a:endParaRPr/>
          </a:p>
        </p:txBody>
      </p:sp>
      <p:pic>
        <p:nvPicPr>
          <p:cNvPr id="264" name="Google Shape;247;p17"/>
          <p:cNvPicPr>
            <a:picLocks xmlns:a="http://schemas.openxmlformats.org/drawingml/2006/main" noChangeAspect="1"/>
          </p:cNvPicPr>
          <p:nvPr/>
        </p:nvPicPr>
        <p:blipFill rotWithShape="1">
          <a:blip xmlns:r="http://schemas.openxmlformats.org/officeDocument/2006/relationships" xmlns:a="http://schemas.openxmlformats.org/drawingml/2006/main" r:embed="Rbc5c7b36ec3644a3">
            <a:alphaModFix/>
          </a:blip>
          <a:srcRect xmlns:a="http://schemas.openxmlformats.org/drawingml/2006/main" l="0" t="0" r="0" b="0"/>
          <a:stretch xmlns:a="http://schemas.openxmlformats.org/drawingml/2006/main"/>
        </p:blipFill>
        <p:spPr>
          <a:xfrm xmlns:a="http://schemas.openxmlformats.org/drawingml/2006/main">
            <a:off x="609600" y="2628900"/>
            <a:ext cx="5257800" cy="2143125"/>
          </a:xfrm>
          <a:prstGeom xmlns:a="http://schemas.openxmlformats.org/drawingml/2006/main" prst="rect">
            <a:avLst/>
          </a:prstGeom>
          <a:ln xmlns:a="http://schemas.openxmlformats.org/drawingml/2006/main">
            <a:noFill/>
          </a:ln>
        </p:spPr>
      </p:pic>
      <p:sp>
        <p:nvSpPr>
          <p:cNvPr id="248" name="Google Shape;248;p17">
            <a:extLst xmlns:a="http://schemas.openxmlformats.org/drawingml/2006/main">
              <a:ext uri="{FF2B5EF4-FFF2-40B4-BE49-F238E27FC236}">
                <a16:creationId xmlns:a16="http://schemas.microsoft.com/office/drawing/2014/main" id="{2607B2AC-18A6-45FC-80EA-86B78F8D6DC2}"/>
              </a:ext>
            </a:extLst>
          </p:cNvPr>
          <p:cNvSpPr>
            <a:spLocks xmlns:a="http://schemas.openxmlformats.org/drawingml/2006/main" noGrp="1"/>
          </p:cNvSpPr>
          <p:nvPr/>
        </p:nvSpPr>
        <p:spPr>
          <a:xfrm xmlns:a="http://schemas.openxmlformats.org/drawingml/2006/main">
            <a:off x="6324600" y="1762125"/>
            <a:ext cx="5238750" cy="49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250" b="1">
                <a:solidFill>
                  <a:srgbClr val="147F83"/>
                </a:solidFill>
                <a:latin typeface="Arial"/>
                <a:ea typeface="Arial"/>
                <a:cs typeface="Arial"/>
              </a:rPr>
              <a:t>Poor compliance: sustained rise</a:t>
            </a:r>
            <a:endParaRPr/>
          </a:p>
        </p:txBody>
      </p:sp>
      <p:sp>
        <p:nvSpPr>
          <p:cNvPr id="249" name="Google Shape;249;p17">
            <a:extLst xmlns:a="http://schemas.openxmlformats.org/drawingml/2006/main">
              <a:ext uri="{FF2B5EF4-FFF2-40B4-BE49-F238E27FC236}">
                <a16:creationId xmlns:a16="http://schemas.microsoft.com/office/drawing/2014/main" id="{7239BF99-B50A-49D2-A063-624292D685EF}"/>
              </a:ext>
            </a:extLst>
          </p:cNvPr>
          <p:cNvSpPr>
            <a:spLocks xmlns:a="http://schemas.openxmlformats.org/drawingml/2006/main" noGrp="1"/>
          </p:cNvSpPr>
          <p:nvPr/>
        </p:nvSpPr>
        <p:spPr>
          <a:xfrm xmlns:a="http://schemas.openxmlformats.org/drawingml/2006/main">
            <a:off x="6324600" y="2305050"/>
            <a:ext cx="525780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425" b="0">
                <a:solidFill>
                  <a:srgbClr val="526773"/>
                </a:solidFill>
                <a:latin typeface="Arial"/>
                <a:ea typeface="Arial"/>
                <a:cs typeface="Arial"/>
              </a:rPr>
              <a:t>Pressure ↑ (arbitrary units)</a:t>
            </a:r>
            <a:endParaRPr/>
          </a:p>
        </p:txBody>
      </p:sp>
      <p:sp>
        <p:nvSpPr>
          <p:cNvPr id="250" name="Google Shape;250;p17">
            <a:extLst xmlns:a="http://schemas.openxmlformats.org/drawingml/2006/main">
              <a:ext uri="{FF2B5EF4-FFF2-40B4-BE49-F238E27FC236}">
                <a16:creationId xmlns:a16="http://schemas.microsoft.com/office/drawing/2014/main" id="{85AD761A-0895-4138-A9CA-FD6FBFB6FAAC}"/>
              </a:ext>
            </a:extLst>
          </p:cNvPr>
          <p:cNvSpPr>
            <a:spLocks xmlns:a="http://schemas.openxmlformats.org/drawingml/2006/main" noGrp="1"/>
          </p:cNvSpPr>
          <p:nvPr/>
        </p:nvSpPr>
        <p:spPr>
          <a:xfrm xmlns:a="http://schemas.openxmlformats.org/drawingml/2006/main">
            <a:off x="6324600" y="4781550"/>
            <a:ext cx="525780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425" b="0">
                <a:solidFill>
                  <a:srgbClr val="526773"/>
                </a:solidFill>
                <a:latin typeface="Arial"/>
                <a:ea typeface="Arial"/>
                <a:cs typeface="Arial"/>
              </a:rPr>
              <a:t>Increasing filling volume → (arbitrary units)</a:t>
            </a:r>
            <a:endParaRPr/>
          </a:p>
        </p:txBody>
      </p:sp>
      <p:pic>
        <p:nvPicPr>
          <p:cNvPr id="268" name="Google Shape;251;p17"/>
          <p:cNvPicPr>
            <a:picLocks xmlns:a="http://schemas.openxmlformats.org/drawingml/2006/main" noChangeAspect="1"/>
          </p:cNvPicPr>
          <p:nvPr/>
        </p:nvPicPr>
        <p:blipFill rotWithShape="1">
          <a:blip xmlns:r="http://schemas.openxmlformats.org/officeDocument/2006/relationships" xmlns:a="http://schemas.openxmlformats.org/drawingml/2006/main" r:embed="Rc4a05305a97d4c66">
            <a:alphaModFix/>
          </a:blip>
          <a:srcRect xmlns:a="http://schemas.openxmlformats.org/drawingml/2006/main" l="0" t="0" r="0" b="0"/>
          <a:stretch xmlns:a="http://schemas.openxmlformats.org/drawingml/2006/main"/>
        </p:blipFill>
        <p:spPr>
          <a:xfrm xmlns:a="http://schemas.openxmlformats.org/drawingml/2006/main">
            <a:off x="6324600" y="2628900"/>
            <a:ext cx="5257800" cy="2143125"/>
          </a:xfrm>
          <a:prstGeom xmlns:a="http://schemas.openxmlformats.org/drawingml/2006/main" prst="rect">
            <a:avLst/>
          </a:prstGeom>
          <a:ln xmlns:a="http://schemas.openxmlformats.org/drawingml/2006/main">
            <a:noFill/>
          </a:ln>
        </p:spPr>
      </p:pic>
      <p:sp>
        <p:nvSpPr>
          <p:cNvPr id="252" name="Google Shape;252;p17">
            <a:extLst xmlns:a="http://schemas.openxmlformats.org/drawingml/2006/main">
              <a:ext uri="{FF2B5EF4-FFF2-40B4-BE49-F238E27FC236}">
                <a16:creationId xmlns:a16="http://schemas.microsoft.com/office/drawing/2014/main" id="{CD54D08C-260B-4FF0-B249-7BEE9375C2ED}"/>
              </a:ext>
            </a:extLst>
          </p:cNvPr>
          <p:cNvSpPr>
            <a:spLocks xmlns:a="http://schemas.openxmlformats.org/drawingml/2006/main" noGrp="1"/>
          </p:cNvSpPr>
          <p:nvPr/>
        </p:nvSpPr>
        <p:spPr>
          <a:xfrm xmlns:a="http://schemas.openxmlformats.org/drawingml/2006/main">
            <a:off x="609600" y="5067300"/>
            <a:ext cx="5238750" cy="4762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Involuntary filling contraction</a:t>
            </a:r>
            <a:endParaRPr/>
          </a:p>
        </p:txBody>
      </p:sp>
      <p:sp>
        <p:nvSpPr>
          <p:cNvPr id="253" name="Google Shape;253;p17">
            <a:extLst xmlns:a="http://schemas.openxmlformats.org/drawingml/2006/main">
              <a:ext uri="{FF2B5EF4-FFF2-40B4-BE49-F238E27FC236}">
                <a16:creationId xmlns:a16="http://schemas.microsoft.com/office/drawing/2014/main" id="{806DDDC6-1D89-45F7-94F4-84372E0277DE}"/>
              </a:ext>
            </a:extLst>
          </p:cNvPr>
          <p:cNvSpPr>
            <a:spLocks xmlns:a="http://schemas.openxmlformats.org/drawingml/2006/main" noGrp="1"/>
          </p:cNvSpPr>
          <p:nvPr/>
        </p:nvSpPr>
        <p:spPr>
          <a:xfrm xmlns:a="http://schemas.openxmlformats.org/drawingml/2006/main">
            <a:off x="6324600" y="5067300"/>
            <a:ext cx="5238750" cy="4762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A separate storage-safety problem</a:t>
            </a:r>
            <a:endParaRPr/>
          </a:p>
        </p:txBody>
      </p:sp>
      <p:sp>
        <p:nvSpPr>
          <p:cNvPr id="254" name="Google Shape;254;p17">
            <a:extLst xmlns:a="http://schemas.openxmlformats.org/drawingml/2006/main">
              <a:ext uri="{FF2B5EF4-FFF2-40B4-BE49-F238E27FC236}">
                <a16:creationId xmlns:a16="http://schemas.microsoft.com/office/drawing/2014/main" id="{1832A190-6BD5-48E0-80DD-6BC66486B76C}"/>
              </a:ext>
            </a:extLst>
          </p:cNvPr>
          <p:cNvSpPr>
            <a:spLocks xmlns:a="http://schemas.openxmlformats.org/drawingml/2006/main" noGrp="1"/>
          </p:cNvSpPr>
          <p:nvPr/>
        </p:nvSpPr>
        <p:spPr>
          <a:xfrm xmlns:a="http://schemas.openxmlformats.org/drawingml/2006/main">
            <a:off x="609600" y="5753100"/>
            <a:ext cx="10972800" cy="552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725" b="0">
                <a:solidFill>
                  <a:srgbClr val="526773"/>
                </a:solidFill>
                <a:latin typeface="Arial"/>
                <a:ea typeface="Arial"/>
                <a:cs typeface="Arial"/>
              </a:rPr>
              <a:t>Schematic traces only, with arbitrary units. Confirm trace quality and assess renal function or upper tracts when indicated.</a:t>
            </a:r>
            <a:endParaRPr/>
          </a:p>
        </p:txBody>
      </p:sp>
    </p:spTree>
    <p:extLst>
      <p:ext uri="{BB962C8B-B14F-4D97-AF65-F5344CB8AC3E}">
        <p14:creationId xmlns:p14="http://schemas.microsoft.com/office/powerpoint/2010/main" val="736517990"/>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0" name="Google Shape;260;p18">
            <a:extLst xmlns:a="http://schemas.openxmlformats.org/drawingml/2006/main">
              <a:ext uri="{FF2B5EF4-FFF2-40B4-BE49-F238E27FC236}">
                <a16:creationId xmlns:a16="http://schemas.microsoft.com/office/drawing/2014/main" id="{E636AECB-1CC7-45A4-9D46-2D0380E1B4A4}"/>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Three different sites of narrowing</a:t>
            </a:r>
            <a:endParaRPr/>
          </a:p>
        </p:txBody>
      </p:sp>
      <p:sp>
        <p:nvSpPr>
          <p:cNvPr id="261" name="Google Shape;261;p18">
            <a:extLst xmlns:a="http://schemas.openxmlformats.org/drawingml/2006/main">
              <a:ext uri="{FF2B5EF4-FFF2-40B4-BE49-F238E27FC236}">
                <a16:creationId xmlns:a16="http://schemas.microsoft.com/office/drawing/2014/main" id="{915BC68A-6B7C-4006-BF70-CB1D73F96C5B}"/>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62" name="Google Shape;262;p18">
            <a:extLst xmlns:a="http://schemas.openxmlformats.org/drawingml/2006/main">
              <a:ext uri="{FF2B5EF4-FFF2-40B4-BE49-F238E27FC236}">
                <a16:creationId xmlns:a16="http://schemas.microsoft.com/office/drawing/2014/main" id="{F94F67A1-AA0D-4F52-8918-34BEBA5714D9}"/>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125" b="0">
                <a:solidFill>
                  <a:srgbClr val="526773"/>
                </a:solidFill>
                <a:latin typeface="Arial"/>
                <a:ea typeface="Arial"/>
                <a:cs typeface="Arial"/>
              </a:rPr>
              <a:t>EAUSTR26 · BAUS25 · AUA24</a:t>
            </a:r>
            <a:endParaRPr/>
          </a:p>
        </p:txBody>
      </p:sp>
      <p:sp>
        <p:nvSpPr>
          <p:cNvPr id="263" name="Google Shape;263;p18">
            <a:extLst xmlns:a="http://schemas.openxmlformats.org/drawingml/2006/main">
              <a:ext uri="{FF2B5EF4-FFF2-40B4-BE49-F238E27FC236}">
                <a16:creationId xmlns:a16="http://schemas.microsoft.com/office/drawing/2014/main" id="{91A159CB-9D78-44BA-9B8E-649ADF4E0A24}"/>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15</a:t>
            </a:r>
            <a:endParaRPr/>
          </a:p>
        </p:txBody>
      </p:sp>
      <p:pic>
        <p:nvPicPr>
          <p:cNvPr id="276" name="Google Shape;264;p18"/>
          <p:cNvPicPr>
            <a:picLocks xmlns:a="http://schemas.openxmlformats.org/drawingml/2006/main" noChangeAspect="1"/>
          </p:cNvPicPr>
          <p:nvPr/>
        </p:nvPicPr>
        <p:blipFill rotWithShape="1">
          <a:blip xmlns:r="http://schemas.openxmlformats.org/officeDocument/2006/relationships" xmlns:a="http://schemas.openxmlformats.org/drawingml/2006/main" r:embed="Rc20f5d5de3a24197">
            <a:alphaModFix/>
          </a:blip>
          <a:srcRect xmlns:a="http://schemas.openxmlformats.org/drawingml/2006/main" l="0" t="0" r="0" b="0"/>
          <a:stretch xmlns:a="http://schemas.openxmlformats.org/drawingml/2006/main"/>
        </p:blipFill>
        <p:spPr>
          <a:xfrm xmlns:a="http://schemas.openxmlformats.org/drawingml/2006/main">
            <a:off x="609600" y="2179261"/>
            <a:ext cx="6477000" cy="2670928"/>
          </a:xfrm>
          <a:prstGeom xmlns:a="http://schemas.openxmlformats.org/drawingml/2006/main" prst="rect">
            <a:avLst/>
          </a:prstGeom>
          <a:ln xmlns:a="http://schemas.openxmlformats.org/drawingml/2006/main">
            <a:noFill/>
          </a:ln>
        </p:spPr>
      </p:pic>
      <p:sp>
        <p:nvSpPr>
          <p:cNvPr id="265" name="Google Shape;265;p18">
            <a:extLst xmlns:a="http://schemas.openxmlformats.org/drawingml/2006/main">
              <a:ext uri="{FF2B5EF4-FFF2-40B4-BE49-F238E27FC236}">
                <a16:creationId xmlns:a16="http://schemas.microsoft.com/office/drawing/2014/main" id="{6AA44037-80E1-4A57-A707-4DBFCDD03D8E}"/>
              </a:ext>
            </a:extLst>
          </p:cNvPr>
          <p:cNvSpPr>
            <a:spLocks xmlns:a="http://schemas.openxmlformats.org/drawingml/2006/main" noGrp="1"/>
          </p:cNvSpPr>
          <p:nvPr/>
        </p:nvSpPr>
        <p:spPr>
          <a:xfrm xmlns:a="http://schemas.openxmlformats.org/drawingml/2006/main">
            <a:off x="7505700" y="1809750"/>
            <a:ext cx="40767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75" b="1">
                <a:solidFill>
                  <a:srgbClr val="147F83"/>
                </a:solidFill>
                <a:latin typeface="Arial"/>
                <a:ea typeface="Arial"/>
                <a:cs typeface="Arial"/>
              </a:rPr>
              <a:t>Anatomical distinctions</a:t>
            </a:r>
            <a:endParaRPr/>
          </a:p>
        </p:txBody>
      </p:sp>
      <p:sp>
        <p:nvSpPr>
          <p:cNvPr id="266" name="Google Shape;266;p18">
            <a:extLst xmlns:a="http://schemas.openxmlformats.org/drawingml/2006/main">
              <a:ext uri="{FF2B5EF4-FFF2-40B4-BE49-F238E27FC236}">
                <a16:creationId xmlns:a16="http://schemas.microsoft.com/office/drawing/2014/main" id="{7D8630DA-BE4E-4940-B2EC-5CF63A790957}"/>
              </a:ext>
            </a:extLst>
          </p:cNvPr>
          <p:cNvSpPr>
            <a:spLocks xmlns:a="http://schemas.openxmlformats.org/drawingml/2006/main" noGrp="1"/>
          </p:cNvSpPr>
          <p:nvPr/>
        </p:nvSpPr>
        <p:spPr>
          <a:xfrm xmlns:a="http://schemas.openxmlformats.org/drawingml/2006/main">
            <a:off x="7505700" y="2419350"/>
            <a:ext cx="4076700" cy="876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025" b="0">
                <a:solidFill>
                  <a:srgbClr val="183343"/>
                </a:solidFill>
                <a:latin typeface="Arial"/>
                <a:ea typeface="Arial"/>
                <a:cs typeface="Arial"/>
              </a:rPr>
              <a:t>Anterior stricture: urethra and spongiosum</a:t>
            </a:r>
            <a:endParaRPr/>
          </a:p>
        </p:txBody>
      </p:sp>
      <p:sp>
        <p:nvSpPr>
          <p:cNvPr id="267" name="Google Shape;267;p18">
            <a:extLst xmlns:a="http://schemas.openxmlformats.org/drawingml/2006/main">
              <a:ext uri="{FF2B5EF4-FFF2-40B4-BE49-F238E27FC236}">
                <a16:creationId xmlns:a16="http://schemas.microsoft.com/office/drawing/2014/main" id="{70F6146D-00F4-43E3-94FC-EADCB36FB277}"/>
              </a:ext>
            </a:extLst>
          </p:cNvPr>
          <p:cNvSpPr>
            <a:spLocks xmlns:a="http://schemas.openxmlformats.org/drawingml/2006/main" noGrp="1"/>
          </p:cNvSpPr>
          <p:nvPr/>
        </p:nvSpPr>
        <p:spPr>
          <a:xfrm xmlns:a="http://schemas.openxmlformats.org/drawingml/2006/main">
            <a:off x="7505700" y="3409950"/>
            <a:ext cx="4076700" cy="876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025" b="0">
                <a:solidFill>
                  <a:srgbClr val="183343"/>
                </a:solidFill>
                <a:latin typeface="Arial"/>
                <a:ea typeface="Arial"/>
                <a:cs typeface="Arial"/>
              </a:rPr>
              <a:t>Bladder-neck contracture: prostate partly present</a:t>
            </a:r>
            <a:endParaRPr/>
          </a:p>
        </p:txBody>
      </p:sp>
      <p:sp>
        <p:nvSpPr>
          <p:cNvPr id="268" name="Google Shape;268;p18">
            <a:extLst xmlns:a="http://schemas.openxmlformats.org/drawingml/2006/main">
              <a:ext uri="{FF2B5EF4-FFF2-40B4-BE49-F238E27FC236}">
                <a16:creationId xmlns:a16="http://schemas.microsoft.com/office/drawing/2014/main" id="{28B9B4C6-5350-44FD-A6A8-259810340470}"/>
              </a:ext>
            </a:extLst>
          </p:cNvPr>
          <p:cNvSpPr>
            <a:spLocks xmlns:a="http://schemas.openxmlformats.org/drawingml/2006/main" noGrp="1"/>
          </p:cNvSpPr>
          <p:nvPr/>
        </p:nvSpPr>
        <p:spPr>
          <a:xfrm xmlns:a="http://schemas.openxmlformats.org/drawingml/2006/main">
            <a:off x="7505700" y="4400550"/>
            <a:ext cx="4076700" cy="876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025" b="0">
                <a:solidFill>
                  <a:srgbClr val="183343"/>
                </a:solidFill>
                <a:latin typeface="Arial"/>
                <a:ea typeface="Arial"/>
                <a:cs typeface="Arial"/>
              </a:rPr>
              <a:t>VUAS: anastomosis after radical prostatectomy</a:t>
            </a:r>
            <a:endParaRPr/>
          </a:p>
        </p:txBody>
      </p:sp>
      <p:sp>
        <p:nvSpPr>
          <p:cNvPr id="269" name="Google Shape;269;p18">
            <a:extLst xmlns:a="http://schemas.openxmlformats.org/drawingml/2006/main">
              <a:ext uri="{FF2B5EF4-FFF2-40B4-BE49-F238E27FC236}">
                <a16:creationId xmlns:a16="http://schemas.microsoft.com/office/drawing/2014/main" id="{7DF28601-4A3B-4BF2-987A-FDCDD5925D00}"/>
              </a:ext>
            </a:extLst>
          </p:cNvPr>
          <p:cNvSpPr>
            <a:spLocks xmlns:a="http://schemas.openxmlformats.org/drawingml/2006/main" noGrp="1"/>
          </p:cNvSpPr>
          <p:nvPr/>
        </p:nvSpPr>
        <p:spPr>
          <a:xfrm xmlns:a="http://schemas.openxmlformats.org/drawingml/2006/main">
            <a:off x="609600" y="5353050"/>
            <a:ext cx="666750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350" b="0">
                <a:solidFill>
                  <a:srgbClr val="526773"/>
                </a:solidFill>
                <a:latin typeface="Arial"/>
                <a:ea typeface="Arial"/>
                <a:cs typeface="Arial"/>
              </a:rPr>
              <a:t>UroOps 3D teaching schematic. Clinical review pending.</a:t>
            </a:r>
            <a:endParaRPr/>
          </a:p>
        </p:txBody>
      </p:sp>
      <p:sp>
        <p:nvSpPr>
          <p:cNvPr id="270" name="Google Shape;270;p18">
            <a:extLst xmlns:a="http://schemas.openxmlformats.org/drawingml/2006/main">
              <a:ext uri="{FF2B5EF4-FFF2-40B4-BE49-F238E27FC236}">
                <a16:creationId xmlns:a16="http://schemas.microsoft.com/office/drawing/2014/main" id="{78419809-6CD6-47BF-8240-97F6998FAAA6}"/>
              </a:ext>
            </a:extLst>
          </p:cNvPr>
          <p:cNvSpPr>
            <a:spLocks xmlns:a="http://schemas.openxmlformats.org/drawingml/2006/main" noGrp="1"/>
          </p:cNvSpPr>
          <p:nvPr/>
        </p:nvSpPr>
        <p:spPr>
          <a:xfrm xmlns:a="http://schemas.openxmlformats.org/drawingml/2006/main">
            <a:off x="609600" y="5753100"/>
            <a:ext cx="10972800" cy="552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725" b="0">
                <a:solidFill>
                  <a:srgbClr val="526773"/>
                </a:solidFill>
                <a:latin typeface="Arial"/>
                <a:ea typeface="Arial"/>
                <a:cs typeface="Arial"/>
              </a:rPr>
              <a:t>Symptoms, flow, residual and anatomy must support a stable outlet.</a:t>
            </a:r>
            <a:endParaRPr/>
          </a:p>
        </p:txBody>
      </p:sp>
    </p:spTree>
    <p:extLst>
      <p:ext uri="{BB962C8B-B14F-4D97-AF65-F5344CB8AC3E}">
        <p14:creationId xmlns:p14="http://schemas.microsoft.com/office/powerpoint/2010/main" val="785985052"/>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76" name="Google Shape;276;p19">
            <a:extLst xmlns:a="http://schemas.openxmlformats.org/drawingml/2006/main">
              <a:ext uri="{FF2B5EF4-FFF2-40B4-BE49-F238E27FC236}">
                <a16:creationId xmlns:a16="http://schemas.microsoft.com/office/drawing/2014/main" id="{B2A78744-29E5-4BC7-ADDE-24CD175F7326}"/>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Reassessment and urethral stability</a:t>
            </a:r>
            <a:endParaRPr/>
          </a:p>
        </p:txBody>
      </p:sp>
      <p:sp>
        <p:nvSpPr>
          <p:cNvPr id="277" name="Google Shape;277;p19">
            <a:extLst xmlns:a="http://schemas.openxmlformats.org/drawingml/2006/main">
              <a:ext uri="{FF2B5EF4-FFF2-40B4-BE49-F238E27FC236}">
                <a16:creationId xmlns:a16="http://schemas.microsoft.com/office/drawing/2014/main" id="{AD5BEE9C-1F29-42C5-953E-B32428F02BAD}"/>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78" name="Google Shape;278;p19">
            <a:extLst xmlns:a="http://schemas.openxmlformats.org/drawingml/2006/main">
              <a:ext uri="{FF2B5EF4-FFF2-40B4-BE49-F238E27FC236}">
                <a16:creationId xmlns:a16="http://schemas.microsoft.com/office/drawing/2014/main" id="{0477A48C-2042-4831-831D-F0F01FD48DEE}"/>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125" b="0">
                <a:solidFill>
                  <a:srgbClr val="526773"/>
                </a:solidFill>
                <a:latin typeface="Arial"/>
                <a:ea typeface="Arial"/>
                <a:cs typeface="Arial"/>
              </a:rPr>
              <a:t>BAUS25 · AUA24 · EAUSTR26 · ICS16</a:t>
            </a:r>
            <a:endParaRPr/>
          </a:p>
        </p:txBody>
      </p:sp>
      <p:sp>
        <p:nvSpPr>
          <p:cNvPr id="279" name="Google Shape;279;p19">
            <a:extLst xmlns:a="http://schemas.openxmlformats.org/drawingml/2006/main">
              <a:ext uri="{FF2B5EF4-FFF2-40B4-BE49-F238E27FC236}">
                <a16:creationId xmlns:a16="http://schemas.microsoft.com/office/drawing/2014/main" id="{0CFAB0CF-C4CB-4459-8C76-0F62454B7E1B}"/>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16</a:t>
            </a:r>
            <a:endParaRPr/>
          </a:p>
        </p:txBody>
      </p:sp>
      <p:graphicFrame>
        <p:nvGraphicFramePr>
          <p:cNvPr id="287" name="Google Shape;280;p19"/>
          <p:cNvGraphicFramePr/>
          <p:nvPr/>
        </p:nvGraphicFramePr>
        <p:xfrm>
          <a:off xmlns:a="http://schemas.openxmlformats.org/drawingml/2006/main" x="609600" y="1790700"/>
          <a:ext xmlns:a="http://schemas.openxmlformats.org/drawingml/2006/main" cx="3000000" cy="3000000"/>
        </p:xfrm>
        <a:graphic xmlns:a="http://schemas.openxmlformats.org/drawingml/2006/main">
          <a:graphicData uri="http://schemas.openxmlformats.org/drawingml/2006/table">
            <a:tbl>
              <a:tblPr>
                <a:tableStyleId>{0AF7EDE5-490F-44FA-BAEA-A03204E10917}</a:tableStyleId>
              </a:tblPr>
              <a:tblGrid>
                <a:gridCol w="2000250"/>
                <a:gridCol w="3714750"/>
                <a:gridCol w="5257800"/>
              </a:tblGrid>
              <a:tr h="552450">
                <a:tc>
                  <a:txBody>
                    <a:bodyPr/>
                    <a:lstStyle/>
                    <a:p>
                      <a:pPr marL="0" marR="0" lvl="0" indent="0" algn="l">
                        <a:spcBef>
                          <a:spcPts val="0"/>
                        </a:spcBef>
                        <a:spcAft>
                          <a:spcPts val="0"/>
                        </a:spcAft>
                        <a:buClr>
                          <a:srgbClr val="FFFFFF"/>
                        </a:buClr>
                        <a:buSzPts val="1950"/>
                        <a:buFont typeface="Arial"/>
                        <a:buNone/>
                      </a:pPr>
                      <a:r>
                        <a:rPr sz="1950" b="1">
                          <a:solidFill>
                            <a:srgbClr val="FFFFFF"/>
                          </a:solidFill>
                          <a:latin typeface="Arial"/>
                          <a:ea typeface="Arial"/>
                          <a:cs typeface="Arial"/>
                        </a:rPr>
                        <a:t>Guideline</a:t>
                      </a:r>
                      <a:endParaRPr/>
                    </a:p>
                  </a:txBody>
                  <a:tcPr marL="133350" marR="133350" marT="95250" marB="76200" anchor="ctr">
                    <a:solidFill>
                      <a:srgbClr val="183343"/>
                    </a:solidFill>
                  </a:tcPr>
                </a:tc>
                <a:tc>
                  <a:txBody>
                    <a:bodyPr/>
                    <a:lstStyle/>
                    <a:p>
                      <a:pPr marL="0" marR="0" lvl="0" indent="0" algn="l">
                        <a:spcBef>
                          <a:spcPts val="0"/>
                        </a:spcBef>
                        <a:spcAft>
                          <a:spcPts val="0"/>
                        </a:spcAft>
                        <a:buClr>
                          <a:srgbClr val="FFFFFF"/>
                        </a:buClr>
                        <a:buSzPts val="1950"/>
                        <a:buFont typeface="Arial"/>
                        <a:buNone/>
                      </a:pPr>
                      <a:r>
                        <a:rPr sz="1950" b="1">
                          <a:solidFill>
                            <a:srgbClr val="FFFFFF"/>
                          </a:solidFill>
                          <a:latin typeface="Arial"/>
                          <a:ea typeface="Arial"/>
                          <a:cs typeface="Arial"/>
                        </a:rPr>
                        <a:t>Interval</a:t>
                      </a:r>
                      <a:endParaRPr/>
                    </a:p>
                  </a:txBody>
                  <a:tcPr marL="133350" marR="133350" marT="95250" marB="76200" anchor="ctr">
                    <a:solidFill>
                      <a:srgbClr val="183343"/>
                    </a:solidFill>
                  </a:tcPr>
                </a:tc>
                <a:tc>
                  <a:txBody>
                    <a:bodyPr/>
                    <a:lstStyle/>
                    <a:p>
                      <a:pPr marL="0" marR="0" lvl="0" indent="0" algn="l">
                        <a:spcBef>
                          <a:spcPts val="0"/>
                        </a:spcBef>
                        <a:spcAft>
                          <a:spcPts val="0"/>
                        </a:spcAft>
                        <a:buClr>
                          <a:srgbClr val="FFFFFF"/>
                        </a:buClr>
                        <a:buSzPts val="1950"/>
                        <a:buFont typeface="Arial"/>
                        <a:buNone/>
                      </a:pPr>
                      <a:r>
                        <a:rPr sz="1950" b="1">
                          <a:solidFill>
                            <a:srgbClr val="FFFFFF"/>
                          </a:solidFill>
                          <a:latin typeface="Arial"/>
                          <a:ea typeface="Arial"/>
                          <a:cs typeface="Arial"/>
                        </a:rPr>
                        <a:t>The relevant pathway</a:t>
                      </a:r>
                      <a:endParaRPr/>
                    </a:p>
                  </a:txBody>
                  <a:tcPr marL="133350" marR="133350" marT="95250" marB="76200" anchor="ctr">
                    <a:solidFill>
                      <a:srgbClr val="183343"/>
                    </a:solidFill>
                  </a:tcPr>
                </a:tc>
              </a:tr>
              <a:tr h="1028700">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AUA</a:t>
                      </a:r>
                      <a:endParaRPr/>
                    </a:p>
                  </a:txBody>
                  <a:tcPr marL="133350" marR="133350" marT="95250" marB="76200" anchor="ctr">
                    <a:solidFill>
                      <a:srgbClr val="EEF4F5"/>
                    </a:solidFill>
                  </a:tcPr>
                </a:tc>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At least 4–6 weeks</a:t>
                      </a:r>
                      <a:endParaRPr/>
                    </a:p>
                  </a:txBody>
                  <a:tcPr marL="133350" marR="133350" marT="95250" marB="76200" anchor="ctr">
                    <a:solidFill>
                      <a:srgbClr val="EEF4F5"/>
                    </a:solidFill>
                  </a:tcPr>
                </a:tc>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Interval cystoscopy after symptomatic BNC/VUAS treatment</a:t>
                      </a:r>
                      <a:endParaRPr/>
                    </a:p>
                  </a:txBody>
                  <a:tcPr marL="133350" marR="133350" marT="95250" marB="76200" anchor="ctr">
                    <a:solidFill>
                      <a:srgbClr val="EEF4F5"/>
                    </a:solidFill>
                  </a:tcPr>
                </a:tc>
              </a:tr>
              <a:tr h="1028700">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EAU</a:t>
                      </a:r>
                      <a:endParaRPr/>
                    </a:p>
                  </a:txBody>
                  <a:tcPr marL="133350" marR="133350" marT="95250" marB="76200" anchor="ctr">
                    <a:solidFill>
                      <a:srgbClr val="FFFFFF"/>
                    </a:solidFill>
                  </a:tcPr>
                </a:tc>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3–6 months</a:t>
                      </a:r>
                      <a:endParaRPr/>
                    </a:p>
                  </a:txBody>
                  <a:tcPr marL="133350" marR="133350" marT="95250" marB="76200" anchor="ctr">
                    <a:solidFill>
                      <a:srgbClr val="FFFFFF"/>
                    </a:solidFill>
                  </a:tcPr>
                </a:tc>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Advice after redo vesicourethral anastomosis</a:t>
                      </a:r>
                      <a:endParaRPr/>
                    </a:p>
                  </a:txBody>
                  <a:tcPr marL="133350" marR="133350" marT="95250" marB="76200" anchor="ctr">
                    <a:solidFill>
                      <a:srgbClr val="FFFFFF"/>
                    </a:solidFill>
                  </a:tcPr>
                </a:tc>
              </a:tr>
              <a:tr h="1028700">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BAUS</a:t>
                      </a:r>
                      <a:endParaRPr/>
                    </a:p>
                  </a:txBody>
                  <a:tcPr marL="133350" marR="133350" marT="95250" marB="76200" anchor="ctr">
                    <a:solidFill>
                      <a:srgbClr val="EEF4F5"/>
                    </a:solidFill>
                  </a:tcPr>
                </a:tc>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At least six months without recurrence</a:t>
                      </a:r>
                      <a:endParaRPr/>
                    </a:p>
                  </a:txBody>
                  <a:tcPr marL="133350" marR="133350" marT="95250" marB="76200" anchor="ctr">
                    <a:solidFill>
                      <a:srgbClr val="EEF4F5"/>
                    </a:solidFill>
                  </a:tcPr>
                </a:tc>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After treatment of post-prostatectomy narrowing</a:t>
                      </a:r>
                      <a:endParaRPr/>
                    </a:p>
                  </a:txBody>
                  <a:tcPr marL="133350" marR="133350" marT="95250" marB="76200" anchor="ctr">
                    <a:solidFill>
                      <a:srgbClr val="EEF4F5"/>
                    </a:solidFill>
                  </a:tcPr>
                </a:tc>
              </a:tr>
            </a:tbl>
          </a:graphicData>
        </a:graphic>
      </p:graphicFrame>
      <p:sp>
        <p:nvSpPr>
          <p:cNvPr id="281" name="Google Shape;281;p19">
            <a:extLst xmlns:a="http://schemas.openxmlformats.org/drawingml/2006/main">
              <a:ext uri="{FF2B5EF4-FFF2-40B4-BE49-F238E27FC236}">
                <a16:creationId xmlns:a16="http://schemas.microsoft.com/office/drawing/2014/main" id="{434D19ED-BD71-425B-8D2B-263F84A2944E}"/>
              </a:ext>
            </a:extLst>
          </p:cNvPr>
          <p:cNvSpPr>
            <a:spLocks xmlns:a="http://schemas.openxmlformats.org/drawingml/2006/main" noGrp="1"/>
          </p:cNvSpPr>
          <p:nvPr/>
        </p:nvSpPr>
        <p:spPr>
          <a:xfrm xmlns:a="http://schemas.openxmlformats.org/drawingml/2006/main">
            <a:off x="609600" y="5753100"/>
            <a:ext cx="10972800" cy="552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725" b="0">
                <a:solidFill>
                  <a:srgbClr val="526773"/>
                </a:solidFill>
                <a:latin typeface="Arial"/>
                <a:ea typeface="Arial"/>
                <a:cs typeface="Arial"/>
              </a:rPr>
              <a:t>These intervals describe different pathways. Recurrence pattern, tissue quality and future access remain decisive.</a:t>
            </a:r>
            <a:endParaRPr/>
          </a:p>
        </p:txBody>
      </p:sp>
    </p:spTree>
    <p:extLst>
      <p:ext uri="{BB962C8B-B14F-4D97-AF65-F5344CB8AC3E}">
        <p14:creationId xmlns:p14="http://schemas.microsoft.com/office/powerpoint/2010/main" val="1966975470"/>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87" name="Google Shape;287;p20">
            <a:extLst xmlns:a="http://schemas.openxmlformats.org/drawingml/2006/main">
              <a:ext uri="{FF2B5EF4-FFF2-40B4-BE49-F238E27FC236}">
                <a16:creationId xmlns:a16="http://schemas.microsoft.com/office/drawing/2014/main" id="{2CD4AE12-E0A2-44FB-8B2C-5576F104D4EE}"/>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Case 3: radiation and recurrent VUAS</a:t>
            </a:r>
            <a:endParaRPr/>
          </a:p>
        </p:txBody>
      </p:sp>
      <p:sp>
        <p:nvSpPr>
          <p:cNvPr id="288" name="Google Shape;288;p20">
            <a:extLst xmlns:a="http://schemas.openxmlformats.org/drawingml/2006/main">
              <a:ext uri="{FF2B5EF4-FFF2-40B4-BE49-F238E27FC236}">
                <a16:creationId xmlns:a16="http://schemas.microsoft.com/office/drawing/2014/main" id="{AFD2C636-2AC9-4909-B4D9-506C4877EEF5}"/>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89" name="Google Shape;289;p20">
            <a:extLst xmlns:a="http://schemas.openxmlformats.org/drawingml/2006/main">
              <a:ext uri="{FF2B5EF4-FFF2-40B4-BE49-F238E27FC236}">
                <a16:creationId xmlns:a16="http://schemas.microsoft.com/office/drawing/2014/main" id="{1E3C164E-293E-4665-BF65-04FE6AF3D8AF}"/>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125" b="0">
                <a:solidFill>
                  <a:srgbClr val="526773"/>
                </a:solidFill>
                <a:latin typeface="Arial"/>
                <a:ea typeface="Arial"/>
                <a:cs typeface="Arial"/>
              </a:rPr>
              <a:t>RT22 · BAUS25 · EAUSTR26 · AUA24 · RTTIME25</a:t>
            </a:r>
            <a:endParaRPr/>
          </a:p>
        </p:txBody>
      </p:sp>
      <p:sp>
        <p:nvSpPr>
          <p:cNvPr id="290" name="Google Shape;290;p20">
            <a:extLst xmlns:a="http://schemas.openxmlformats.org/drawingml/2006/main">
              <a:ext uri="{FF2B5EF4-FFF2-40B4-BE49-F238E27FC236}">
                <a16:creationId xmlns:a16="http://schemas.microsoft.com/office/drawing/2014/main" id="{FF77FBDD-9E32-4289-97B5-3A606D225EFC}"/>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17</a:t>
            </a:r>
            <a:endParaRPr/>
          </a:p>
        </p:txBody>
      </p:sp>
      <p:sp>
        <p:nvSpPr>
          <p:cNvPr id="291" name="Google Shape;291;p20">
            <a:extLst xmlns:a="http://schemas.openxmlformats.org/drawingml/2006/main">
              <a:ext uri="{FF2B5EF4-FFF2-40B4-BE49-F238E27FC236}">
                <a16:creationId xmlns:a16="http://schemas.microsoft.com/office/drawing/2014/main" id="{FF51D1E4-445B-44A9-90B5-85416D45BFFE}"/>
              </a:ext>
            </a:extLst>
          </p:cNvPr>
          <p:cNvSpPr>
            <a:spLocks xmlns:a="http://schemas.openxmlformats.org/drawingml/2006/main" noGrp="1"/>
          </p:cNvSpPr>
          <p:nvPr/>
        </p:nvSpPr>
        <p:spPr>
          <a:xfrm xmlns:a="http://schemas.openxmlformats.org/drawingml/2006/main">
            <a:off x="609600" y="1790700"/>
            <a:ext cx="6000750" cy="4286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75" b="1">
                <a:solidFill>
                  <a:srgbClr val="147F83"/>
                </a:solidFill>
                <a:latin typeface="Arial"/>
                <a:ea typeface="Arial"/>
                <a:cs typeface="Arial"/>
              </a:rPr>
              <a:t>Fictional clinical case 03</a:t>
            </a:r>
            <a:endParaRPr/>
          </a:p>
        </p:txBody>
      </p:sp>
      <p:sp>
        <p:nvSpPr>
          <p:cNvPr id="292" name="Google Shape;292;p20">
            <a:extLst xmlns:a="http://schemas.openxmlformats.org/drawingml/2006/main">
              <a:ext uri="{FF2B5EF4-FFF2-40B4-BE49-F238E27FC236}">
                <a16:creationId xmlns:a16="http://schemas.microsoft.com/office/drawing/2014/main" id="{9BEEDE15-B08A-47D8-B053-E0689F8E70D3}"/>
              </a:ext>
            </a:extLst>
          </p:cNvPr>
          <p:cNvSpPr>
            <a:spLocks xmlns:a="http://schemas.openxmlformats.org/drawingml/2006/main" noGrp="1"/>
          </p:cNvSpPr>
          <p:nvPr/>
        </p:nvSpPr>
        <p:spPr>
          <a:xfrm xmlns:a="http://schemas.openxmlformats.org/drawingml/2006/main">
            <a:off x="609600" y="2400300"/>
            <a:ext cx="5810250" cy="6381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Radical prostatectomy and salvage radiotherapy</a:t>
            </a:r>
            <a:endParaRPr/>
          </a:p>
        </p:txBody>
      </p:sp>
      <p:sp>
        <p:nvSpPr>
          <p:cNvPr id="293" name="Google Shape;293;p20">
            <a:extLst xmlns:a="http://schemas.openxmlformats.org/drawingml/2006/main">
              <a:ext uri="{FF2B5EF4-FFF2-40B4-BE49-F238E27FC236}">
                <a16:creationId xmlns:a16="http://schemas.microsoft.com/office/drawing/2014/main" id="{DECEB65C-758F-403B-BD1D-3ADCC080089B}"/>
              </a:ext>
            </a:extLst>
          </p:cNvPr>
          <p:cNvSpPr>
            <a:spLocks xmlns:a="http://schemas.openxmlformats.org/drawingml/2006/main" noGrp="1"/>
          </p:cNvSpPr>
          <p:nvPr/>
        </p:nvSpPr>
        <p:spPr>
          <a:xfrm xmlns:a="http://schemas.openxmlformats.org/drawingml/2006/main">
            <a:off x="609600" y="3152775"/>
            <a:ext cx="5810250" cy="6381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Severe SUI between endoscopic treatments</a:t>
            </a:r>
            <a:endParaRPr/>
          </a:p>
        </p:txBody>
      </p:sp>
      <p:sp>
        <p:nvSpPr>
          <p:cNvPr id="294" name="Google Shape;294;p20">
            <a:extLst xmlns:a="http://schemas.openxmlformats.org/drawingml/2006/main">
              <a:ext uri="{FF2B5EF4-FFF2-40B4-BE49-F238E27FC236}">
                <a16:creationId xmlns:a16="http://schemas.microsoft.com/office/drawing/2014/main" id="{9DD75C81-C8E9-481E-8865-09D9EDC9C696}"/>
              </a:ext>
            </a:extLst>
          </p:cNvPr>
          <p:cNvSpPr>
            <a:spLocks xmlns:a="http://schemas.openxmlformats.org/drawingml/2006/main" noGrp="1"/>
          </p:cNvSpPr>
          <p:nvPr/>
        </p:nvSpPr>
        <p:spPr>
          <a:xfrm xmlns:a="http://schemas.openxmlformats.org/drawingml/2006/main">
            <a:off x="609600" y="3905250"/>
            <a:ext cx="5810250" cy="6381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Recurrent vesicourethral anastomotic stenosis</a:t>
            </a:r>
            <a:endParaRPr/>
          </a:p>
        </p:txBody>
      </p:sp>
      <p:sp>
        <p:nvSpPr>
          <p:cNvPr id="295" name="Google Shape;295;p20">
            <a:extLst xmlns:a="http://schemas.openxmlformats.org/drawingml/2006/main">
              <a:ext uri="{FF2B5EF4-FFF2-40B4-BE49-F238E27FC236}">
                <a16:creationId xmlns:a16="http://schemas.microsoft.com/office/drawing/2014/main" id="{22DA99C1-B169-43AB-918D-16608537C933}"/>
              </a:ext>
            </a:extLst>
          </p:cNvPr>
          <p:cNvSpPr>
            <a:spLocks xmlns:a="http://schemas.openxmlformats.org/drawingml/2006/main" noGrp="1"/>
          </p:cNvSpPr>
          <p:nvPr/>
        </p:nvSpPr>
        <p:spPr>
          <a:xfrm xmlns:a="http://schemas.openxmlformats.org/drawingml/2006/main">
            <a:off x="609600" y="4657725"/>
            <a:ext cx="5810250" cy="6381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Patency still depends on further intervention</a:t>
            </a:r>
            <a:endParaRPr/>
          </a:p>
        </p:txBody>
      </p:sp>
      <p:sp>
        <p:nvSpPr>
          <p:cNvPr id="296" name="Google Shape;296;p20">
            <a:extLst xmlns:a="http://schemas.openxmlformats.org/drawingml/2006/main">
              <a:ext uri="{FF2B5EF4-FFF2-40B4-BE49-F238E27FC236}">
                <a16:creationId xmlns:a16="http://schemas.microsoft.com/office/drawing/2014/main" id="{ACD07CC0-1697-4F9D-9AAA-F8C937EFDB2A}"/>
              </a:ext>
            </a:extLst>
          </p:cNvPr>
          <p:cNvSpPr>
            <a:spLocks xmlns:a="http://schemas.openxmlformats.org/drawingml/2006/main" noGrp="1"/>
          </p:cNvSpPr>
          <p:nvPr/>
        </p:nvSpPr>
        <p:spPr>
          <a:xfrm xmlns:a="http://schemas.openxmlformats.org/drawingml/2006/main">
            <a:off x="7239000" y="2095500"/>
            <a:ext cx="4343400" cy="20002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000" b="1">
                <a:solidFill>
                  <a:srgbClr val="183343"/>
                </a:solidFill>
                <a:latin typeface="Arial"/>
                <a:ea typeface="Arial"/>
                <a:cs typeface="Arial"/>
              </a:rPr>
              <a:t>Implant, stage reconstruction or reconsider the endpoint?</a:t>
            </a:r>
            <a:endParaRPr/>
          </a:p>
        </p:txBody>
      </p:sp>
      <p:sp>
        <p:nvSpPr>
          <p:cNvPr id="297" name="Google Shape;297;p20">
            <a:extLst xmlns:a="http://schemas.openxmlformats.org/drawingml/2006/main">
              <a:ext uri="{FF2B5EF4-FFF2-40B4-BE49-F238E27FC236}">
                <a16:creationId xmlns:a16="http://schemas.microsoft.com/office/drawing/2014/main" id="{96EE48DE-5065-4FCD-BAB8-10F92AA48484}"/>
              </a:ext>
            </a:extLst>
          </p:cNvPr>
          <p:cNvSpPr>
            <a:spLocks xmlns:a="http://schemas.openxmlformats.org/drawingml/2006/main" noGrp="1"/>
          </p:cNvSpPr>
          <p:nvPr/>
        </p:nvSpPr>
        <p:spPr>
          <a:xfrm xmlns:a="http://schemas.openxmlformats.org/drawingml/2006/main">
            <a:off x="7239000" y="4362450"/>
            <a:ext cx="7620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98" name="Google Shape;298;p20">
            <a:extLst xmlns:a="http://schemas.openxmlformats.org/drawingml/2006/main">
              <a:ext uri="{FF2B5EF4-FFF2-40B4-BE49-F238E27FC236}">
                <a16:creationId xmlns:a16="http://schemas.microsoft.com/office/drawing/2014/main" id="{62FB2FFB-1F2F-48FB-AD8E-5408C7DB7A32}"/>
              </a:ext>
            </a:extLst>
          </p:cNvPr>
          <p:cNvSpPr>
            <a:spLocks xmlns:a="http://schemas.openxmlformats.org/drawingml/2006/main" noGrp="1"/>
          </p:cNvSpPr>
          <p:nvPr/>
        </p:nvSpPr>
        <p:spPr>
          <a:xfrm xmlns:a="http://schemas.openxmlformats.org/drawingml/2006/main">
            <a:off x="7239000" y="4610100"/>
            <a:ext cx="4343400" cy="8572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950" b="0">
                <a:solidFill>
                  <a:srgbClr val="147F83"/>
                </a:solidFill>
                <a:latin typeface="Arial"/>
                <a:ea typeface="Arial"/>
                <a:cs typeface="Arial"/>
              </a:rPr>
              <a:t>Implant / Stage / Reconsider</a:t>
            </a:r>
            <a:endParaRPr/>
          </a:p>
        </p:txBody>
      </p:sp>
      <p:sp>
        <p:nvSpPr>
          <p:cNvPr id="299" name="Google Shape;299;p20">
            <a:extLst xmlns:a="http://schemas.openxmlformats.org/drawingml/2006/main">
              <a:ext uri="{FF2B5EF4-FFF2-40B4-BE49-F238E27FC236}">
                <a16:creationId xmlns:a16="http://schemas.microsoft.com/office/drawing/2014/main" id="{FFE89DB9-4755-4B1B-AE21-F8D129D88154}"/>
              </a:ext>
            </a:extLst>
          </p:cNvPr>
          <p:cNvSpPr>
            <a:spLocks xmlns:a="http://schemas.openxmlformats.org/drawingml/2006/main" noGrp="1"/>
          </p:cNvSpPr>
          <p:nvPr/>
        </p:nvSpPr>
        <p:spPr>
          <a:xfrm xmlns:a="http://schemas.openxmlformats.org/drawingml/2006/main">
            <a:off x="609600" y="5753100"/>
            <a:ext cx="10972800" cy="552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725" b="0">
                <a:solidFill>
                  <a:srgbClr val="526773"/>
                </a:solidFill>
                <a:latin typeface="Arial"/>
                <a:ea typeface="Arial"/>
                <a:cs typeface="Arial"/>
              </a:rPr>
              <a:t>Radiation increases risk. A 2025 timing study does not establish a fixed waiting rule; stable patency and reconstruction come first.</a:t>
            </a:r>
            <a:endParaRPr/>
          </a:p>
        </p:txBody>
      </p:sp>
    </p:spTree>
    <p:extLst>
      <p:ext uri="{BB962C8B-B14F-4D97-AF65-F5344CB8AC3E}">
        <p14:creationId xmlns:p14="http://schemas.microsoft.com/office/powerpoint/2010/main" val="1782411618"/>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5" name="Google Shape;305;p21">
            <a:extLst xmlns:a="http://schemas.openxmlformats.org/drawingml/2006/main">
              <a:ext uri="{FF2B5EF4-FFF2-40B4-BE49-F238E27FC236}">
                <a16:creationId xmlns:a16="http://schemas.microsoft.com/office/drawing/2014/main" id="{014AD541-02C7-438B-96EF-C4A8092AB345}"/>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AUS after urethral reconstruction</a:t>
            </a:r>
            <a:endParaRPr/>
          </a:p>
        </p:txBody>
      </p:sp>
      <p:sp>
        <p:nvSpPr>
          <p:cNvPr id="306" name="Google Shape;306;p21">
            <a:extLst xmlns:a="http://schemas.openxmlformats.org/drawingml/2006/main">
              <a:ext uri="{FF2B5EF4-FFF2-40B4-BE49-F238E27FC236}">
                <a16:creationId xmlns:a16="http://schemas.microsoft.com/office/drawing/2014/main" id="{90BBAD48-9325-4B52-99AF-1EFBBF7EA2C3}"/>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307" name="Google Shape;307;p21">
            <a:extLst xmlns:a="http://schemas.openxmlformats.org/drawingml/2006/main">
              <a:ext uri="{FF2B5EF4-FFF2-40B4-BE49-F238E27FC236}">
                <a16:creationId xmlns:a16="http://schemas.microsoft.com/office/drawing/2014/main" id="{4E632F13-E8F9-4EBF-A7E7-939F282223A8}"/>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125" b="0">
                <a:solidFill>
                  <a:srgbClr val="526773"/>
                </a:solidFill>
                <a:latin typeface="Arial"/>
                <a:ea typeface="Arial"/>
                <a:cs typeface="Arial"/>
              </a:rPr>
              <a:t>URETH26 · BAUS25 · AUA24 · ICS16 · URETHMETA26</a:t>
            </a:r>
            <a:endParaRPr/>
          </a:p>
        </p:txBody>
      </p:sp>
      <p:sp>
        <p:nvSpPr>
          <p:cNvPr id="308" name="Google Shape;308;p21">
            <a:extLst xmlns:a="http://schemas.openxmlformats.org/drawingml/2006/main">
              <a:ext uri="{FF2B5EF4-FFF2-40B4-BE49-F238E27FC236}">
                <a16:creationId xmlns:a16="http://schemas.microsoft.com/office/drawing/2014/main" id="{6FF35770-88E8-479B-8E8B-E4E6690C11FB}"/>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18</a:t>
            </a:r>
            <a:endParaRPr/>
          </a:p>
        </p:txBody>
      </p:sp>
      <p:sp>
        <p:nvSpPr>
          <p:cNvPr id="309" name="Google Shape;309;p21">
            <a:extLst xmlns:a="http://schemas.openxmlformats.org/drawingml/2006/main">
              <a:ext uri="{FF2B5EF4-FFF2-40B4-BE49-F238E27FC236}">
                <a16:creationId xmlns:a16="http://schemas.microsoft.com/office/drawing/2014/main" id="{C2EBCE4D-D7DF-4926-894D-8133C24CD352}"/>
              </a:ext>
            </a:extLst>
          </p:cNvPr>
          <p:cNvSpPr>
            <a:spLocks xmlns:a="http://schemas.openxmlformats.org/drawingml/2006/main" noGrp="1"/>
          </p:cNvSpPr>
          <p:nvPr/>
        </p:nvSpPr>
        <p:spPr>
          <a:xfrm xmlns:a="http://schemas.openxmlformats.org/drawingml/2006/main">
            <a:off x="609600" y="1809750"/>
            <a:ext cx="5143500" cy="4286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400" b="1">
                <a:solidFill>
                  <a:srgbClr val="147F83"/>
                </a:solidFill>
                <a:latin typeface="Arial"/>
                <a:ea typeface="Arial"/>
                <a:cs typeface="Arial"/>
              </a:rPr>
              <a:t>The reconstruction history</a:t>
            </a:r>
            <a:endParaRPr/>
          </a:p>
        </p:txBody>
      </p:sp>
      <p:sp>
        <p:nvSpPr>
          <p:cNvPr id="310" name="Google Shape;310;p21">
            <a:extLst xmlns:a="http://schemas.openxmlformats.org/drawingml/2006/main">
              <a:ext uri="{FF2B5EF4-FFF2-40B4-BE49-F238E27FC236}">
                <a16:creationId xmlns:a16="http://schemas.microsoft.com/office/drawing/2014/main" id="{01CD481B-E319-4666-B291-75F5A4D3FB02}"/>
              </a:ext>
            </a:extLst>
          </p:cNvPr>
          <p:cNvSpPr>
            <a:spLocks xmlns:a="http://schemas.openxmlformats.org/drawingml/2006/main" noGrp="1"/>
          </p:cNvSpPr>
          <p:nvPr/>
        </p:nvSpPr>
        <p:spPr>
          <a:xfrm xmlns:a="http://schemas.openxmlformats.org/drawingml/2006/main">
            <a:off x="609600" y="2400300"/>
            <a:ext cx="51435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Repair site and operative report</a:t>
            </a:r>
            <a:endParaRPr/>
          </a:p>
        </p:txBody>
      </p:sp>
      <p:sp>
        <p:nvSpPr>
          <p:cNvPr id="311" name="Google Shape;311;p21">
            <a:extLst xmlns:a="http://schemas.openxmlformats.org/drawingml/2006/main">
              <a:ext uri="{FF2B5EF4-FFF2-40B4-BE49-F238E27FC236}">
                <a16:creationId xmlns:a16="http://schemas.microsoft.com/office/drawing/2014/main" id="{666455F5-1284-4307-B629-5B06A6E00664}"/>
              </a:ext>
            </a:extLst>
          </p:cNvPr>
          <p:cNvSpPr>
            <a:spLocks xmlns:a="http://schemas.openxmlformats.org/drawingml/2006/main" noGrp="1"/>
          </p:cNvSpPr>
          <p:nvPr/>
        </p:nvSpPr>
        <p:spPr>
          <a:xfrm xmlns:a="http://schemas.openxmlformats.org/drawingml/2006/main">
            <a:off x="609600" y="3352800"/>
            <a:ext cx="51435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Transecting or non-transecting repair</a:t>
            </a:r>
            <a:endParaRPr/>
          </a:p>
        </p:txBody>
      </p:sp>
      <p:sp>
        <p:nvSpPr>
          <p:cNvPr id="312" name="Google Shape;312;p21">
            <a:extLst xmlns:a="http://schemas.openxmlformats.org/drawingml/2006/main">
              <a:ext uri="{FF2B5EF4-FFF2-40B4-BE49-F238E27FC236}">
                <a16:creationId xmlns:a16="http://schemas.microsoft.com/office/drawing/2014/main" id="{8B2302BC-058A-405F-ABD7-349257E29F66}"/>
              </a:ext>
            </a:extLst>
          </p:cNvPr>
          <p:cNvSpPr>
            <a:spLocks xmlns:a="http://schemas.openxmlformats.org/drawingml/2006/main" noGrp="1"/>
          </p:cNvSpPr>
          <p:nvPr/>
        </p:nvSpPr>
        <p:spPr>
          <a:xfrm xmlns:a="http://schemas.openxmlformats.org/drawingml/2006/main">
            <a:off x="609600" y="4305300"/>
            <a:ext cx="51435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Prior erosion, graft or posterior reconstruction</a:t>
            </a:r>
            <a:endParaRPr/>
          </a:p>
        </p:txBody>
      </p:sp>
      <p:sp>
        <p:nvSpPr>
          <p:cNvPr id="313" name="Google Shape;313;p21">
            <a:extLst xmlns:a="http://schemas.openxmlformats.org/drawingml/2006/main">
              <a:ext uri="{FF2B5EF4-FFF2-40B4-BE49-F238E27FC236}">
                <a16:creationId xmlns:a16="http://schemas.microsoft.com/office/drawing/2014/main" id="{D11397EF-A5DE-4485-A082-DD5D508C0759}"/>
              </a:ext>
            </a:extLst>
          </p:cNvPr>
          <p:cNvSpPr>
            <a:spLocks xmlns:a="http://schemas.openxmlformats.org/drawingml/2006/main" noGrp="1"/>
          </p:cNvSpPr>
          <p:nvPr/>
        </p:nvSpPr>
        <p:spPr>
          <a:xfrm xmlns:a="http://schemas.openxmlformats.org/drawingml/2006/main">
            <a:off x="6324600" y="1809750"/>
            <a:ext cx="5143500" cy="4286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400" b="1">
                <a:solidFill>
                  <a:srgbClr val="147F83"/>
                </a:solidFill>
                <a:latin typeface="Arial"/>
                <a:ea typeface="Arial"/>
                <a:cs typeface="Arial"/>
              </a:rPr>
              <a:t>The next operation</a:t>
            </a:r>
            <a:endParaRPr/>
          </a:p>
        </p:txBody>
      </p:sp>
      <p:sp>
        <p:nvSpPr>
          <p:cNvPr id="314" name="Google Shape;314;p21">
            <a:extLst xmlns:a="http://schemas.openxmlformats.org/drawingml/2006/main">
              <a:ext uri="{FF2B5EF4-FFF2-40B4-BE49-F238E27FC236}">
                <a16:creationId xmlns:a16="http://schemas.microsoft.com/office/drawing/2014/main" id="{EF34E333-09B4-410D-B9D1-FF5E682897EB}"/>
              </a:ext>
            </a:extLst>
          </p:cNvPr>
          <p:cNvSpPr>
            <a:spLocks xmlns:a="http://schemas.openxmlformats.org/drawingml/2006/main" noGrp="1"/>
          </p:cNvSpPr>
          <p:nvPr/>
        </p:nvSpPr>
        <p:spPr>
          <a:xfrm xmlns:a="http://schemas.openxmlformats.org/drawingml/2006/main">
            <a:off x="6324600" y="2400300"/>
            <a:ext cx="51435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Preserve remaining tissue and attachments</a:t>
            </a:r>
            <a:endParaRPr/>
          </a:p>
        </p:txBody>
      </p:sp>
      <p:sp>
        <p:nvSpPr>
          <p:cNvPr id="315" name="Google Shape;315;p21">
            <a:extLst xmlns:a="http://schemas.openxmlformats.org/drawingml/2006/main">
              <a:ext uri="{FF2B5EF4-FFF2-40B4-BE49-F238E27FC236}">
                <a16:creationId xmlns:a16="http://schemas.microsoft.com/office/drawing/2014/main" id="{443167C1-EFE9-4265-AEE7-0FEF737CD37A}"/>
              </a:ext>
            </a:extLst>
          </p:cNvPr>
          <p:cNvSpPr>
            <a:spLocks xmlns:a="http://schemas.openxmlformats.org/drawingml/2006/main" noGrp="1"/>
          </p:cNvSpPr>
          <p:nvPr/>
        </p:nvSpPr>
        <p:spPr>
          <a:xfrm xmlns:a="http://schemas.openxmlformats.org/drawingml/2006/main">
            <a:off x="6324600" y="3352800"/>
            <a:ext cx="51435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Select viable cuff-bearing tissue</a:t>
            </a:r>
            <a:endParaRPr/>
          </a:p>
        </p:txBody>
      </p:sp>
      <p:sp>
        <p:nvSpPr>
          <p:cNvPr id="316" name="Google Shape;316;p21">
            <a:extLst xmlns:a="http://schemas.openxmlformats.org/drawingml/2006/main">
              <a:ext uri="{FF2B5EF4-FFF2-40B4-BE49-F238E27FC236}">
                <a16:creationId xmlns:a16="http://schemas.microsoft.com/office/drawing/2014/main" id="{A7ECEF45-EFEA-4068-9F6E-8C5296C7D28A}"/>
              </a:ext>
            </a:extLst>
          </p:cNvPr>
          <p:cNvSpPr>
            <a:spLocks xmlns:a="http://schemas.openxmlformats.org/drawingml/2006/main" noGrp="1"/>
          </p:cNvSpPr>
          <p:nvPr/>
        </p:nvSpPr>
        <p:spPr>
          <a:xfrm xmlns:a="http://schemas.openxmlformats.org/drawingml/2006/main">
            <a:off x="6324600" y="4305300"/>
            <a:ext cx="51435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Reassess unsafe planes or stage the procedure</a:t>
            </a:r>
            <a:endParaRPr/>
          </a:p>
        </p:txBody>
      </p:sp>
      <p:sp>
        <p:nvSpPr>
          <p:cNvPr id="317" name="Google Shape;317;p21">
            <a:extLst xmlns:a="http://schemas.openxmlformats.org/drawingml/2006/main">
              <a:ext uri="{FF2B5EF4-FFF2-40B4-BE49-F238E27FC236}">
                <a16:creationId xmlns:a16="http://schemas.microsoft.com/office/drawing/2014/main" id="{1501C04B-A7EB-4637-B278-79E005092606}"/>
              </a:ext>
            </a:extLst>
          </p:cNvPr>
          <p:cNvSpPr>
            <a:spLocks xmlns:a="http://schemas.openxmlformats.org/drawingml/2006/main" noGrp="1"/>
          </p:cNvSpPr>
          <p:nvPr/>
        </p:nvSpPr>
        <p:spPr>
          <a:xfrm xmlns:a="http://schemas.openxmlformats.org/drawingml/2006/main">
            <a:off x="609600" y="5753100"/>
            <a:ext cx="10972800" cy="552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725" b="0">
                <a:solidFill>
                  <a:srgbClr val="526773"/>
                </a:solidFill>
                <a:latin typeface="Arial"/>
                <a:ea typeface="Arial"/>
                <a:cs typeface="Arial"/>
              </a:rPr>
              <a:t>2026 meta-analysis: prior urethroplasty is associated with more explantation; transecting repairs carry higher erosion risk. Observational.</a:t>
            </a:r>
            <a:endParaRPr/>
          </a:p>
        </p:txBody>
      </p:sp>
    </p:spTree>
    <p:extLst>
      <p:ext uri="{BB962C8B-B14F-4D97-AF65-F5344CB8AC3E}">
        <p14:creationId xmlns:p14="http://schemas.microsoft.com/office/powerpoint/2010/main" val="1213859502"/>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23" name="Google Shape;323;p22">
            <a:extLst xmlns:a="http://schemas.openxmlformats.org/drawingml/2006/main">
              <a:ext uri="{FF2B5EF4-FFF2-40B4-BE49-F238E27FC236}">
                <a16:creationId xmlns:a16="http://schemas.microsoft.com/office/drawing/2014/main" id="{D08F3D32-977D-4118-A469-BD293103C87C}"/>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Transcorporal placement: role and costs</a:t>
            </a:r>
            <a:endParaRPr/>
          </a:p>
        </p:txBody>
      </p:sp>
      <p:sp>
        <p:nvSpPr>
          <p:cNvPr id="324" name="Google Shape;324;p22">
            <a:extLst xmlns:a="http://schemas.openxmlformats.org/drawingml/2006/main">
              <a:ext uri="{FF2B5EF4-FFF2-40B4-BE49-F238E27FC236}">
                <a16:creationId xmlns:a16="http://schemas.microsoft.com/office/drawing/2014/main" id="{CA63D8FB-1756-439A-99AB-E08EAECEA764}"/>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325" name="Google Shape;325;p22">
            <a:extLst xmlns:a="http://schemas.openxmlformats.org/drawingml/2006/main">
              <a:ext uri="{FF2B5EF4-FFF2-40B4-BE49-F238E27FC236}">
                <a16:creationId xmlns:a16="http://schemas.microsoft.com/office/drawing/2014/main" id="{3CD7E48A-7795-4F58-AADE-1DB502881656}"/>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125" b="0">
                <a:solidFill>
                  <a:srgbClr val="526773"/>
                </a:solidFill>
                <a:latin typeface="Arial"/>
                <a:ea typeface="Arial"/>
                <a:cs typeface="Arial"/>
              </a:rPr>
              <a:t>TC20 · TC23 · BAUS25 · AP23 · TCSYS25</a:t>
            </a:r>
            <a:endParaRPr/>
          </a:p>
        </p:txBody>
      </p:sp>
      <p:sp>
        <p:nvSpPr>
          <p:cNvPr id="326" name="Google Shape;326;p22">
            <a:extLst xmlns:a="http://schemas.openxmlformats.org/drawingml/2006/main">
              <a:ext uri="{FF2B5EF4-FFF2-40B4-BE49-F238E27FC236}">
                <a16:creationId xmlns:a16="http://schemas.microsoft.com/office/drawing/2014/main" id="{A7AF313C-5910-428A-AE96-21F629A5555E}"/>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19</a:t>
            </a:r>
            <a:endParaRPr/>
          </a:p>
        </p:txBody>
      </p:sp>
      <p:sp>
        <p:nvSpPr>
          <p:cNvPr id="327" name="Google Shape;327;p22">
            <a:extLst xmlns:a="http://schemas.openxmlformats.org/drawingml/2006/main">
              <a:ext uri="{FF2B5EF4-FFF2-40B4-BE49-F238E27FC236}">
                <a16:creationId xmlns:a16="http://schemas.microsoft.com/office/drawing/2014/main" id="{002ABC5B-F51C-4742-BCF4-5B1678F2F8E8}"/>
              </a:ext>
            </a:extLst>
          </p:cNvPr>
          <p:cNvSpPr>
            <a:spLocks xmlns:a="http://schemas.openxmlformats.org/drawingml/2006/main" noGrp="1"/>
          </p:cNvSpPr>
          <p:nvPr/>
        </p:nvSpPr>
        <p:spPr>
          <a:xfrm xmlns:a="http://schemas.openxmlformats.org/drawingml/2006/main">
            <a:off x="609600" y="1809750"/>
            <a:ext cx="5143500" cy="4286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400" b="1">
                <a:solidFill>
                  <a:srgbClr val="147F83"/>
                </a:solidFill>
                <a:latin typeface="Arial"/>
                <a:ea typeface="Arial"/>
                <a:cs typeface="Arial"/>
              </a:rPr>
              <a:t>Selected role</a:t>
            </a:r>
            <a:endParaRPr/>
          </a:p>
        </p:txBody>
      </p:sp>
      <p:sp>
        <p:nvSpPr>
          <p:cNvPr id="328" name="Google Shape;328;p22">
            <a:extLst xmlns:a="http://schemas.openxmlformats.org/drawingml/2006/main">
              <a:ext uri="{FF2B5EF4-FFF2-40B4-BE49-F238E27FC236}">
                <a16:creationId xmlns:a16="http://schemas.microsoft.com/office/drawing/2014/main" id="{A5A2185F-7D3F-4967-B69D-3026913EC581}"/>
              </a:ext>
            </a:extLst>
          </p:cNvPr>
          <p:cNvSpPr>
            <a:spLocks xmlns:a="http://schemas.openxmlformats.org/drawingml/2006/main" noGrp="1"/>
          </p:cNvSpPr>
          <p:nvPr/>
        </p:nvSpPr>
        <p:spPr>
          <a:xfrm xmlns:a="http://schemas.openxmlformats.org/drawingml/2006/main">
            <a:off x="609600" y="2400300"/>
            <a:ext cx="51435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A hazardous dorsal dissection plane</a:t>
            </a:r>
            <a:endParaRPr/>
          </a:p>
        </p:txBody>
      </p:sp>
      <p:sp>
        <p:nvSpPr>
          <p:cNvPr id="329" name="Google Shape;329;p22">
            <a:extLst xmlns:a="http://schemas.openxmlformats.org/drawingml/2006/main">
              <a:ext uri="{FF2B5EF4-FFF2-40B4-BE49-F238E27FC236}">
                <a16:creationId xmlns:a16="http://schemas.microsoft.com/office/drawing/2014/main" id="{470156F6-8BED-4991-B231-32B140D6CFD8}"/>
              </a:ext>
            </a:extLst>
          </p:cNvPr>
          <p:cNvSpPr>
            <a:spLocks xmlns:a="http://schemas.openxmlformats.org/drawingml/2006/main" noGrp="1"/>
          </p:cNvSpPr>
          <p:nvPr/>
        </p:nvSpPr>
        <p:spPr>
          <a:xfrm xmlns:a="http://schemas.openxmlformats.org/drawingml/2006/main">
            <a:off x="609600" y="3352800"/>
            <a:ext cx="51435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A manoeuvre addressing a defined dissection problem</a:t>
            </a:r>
            <a:endParaRPr/>
          </a:p>
        </p:txBody>
      </p:sp>
      <p:sp>
        <p:nvSpPr>
          <p:cNvPr id="330" name="Google Shape;330;p22">
            <a:extLst xmlns:a="http://schemas.openxmlformats.org/drawingml/2006/main">
              <a:ext uri="{FF2B5EF4-FFF2-40B4-BE49-F238E27FC236}">
                <a16:creationId xmlns:a16="http://schemas.microsoft.com/office/drawing/2014/main" id="{B963028D-58D3-4E87-B616-DA237C1E3A3C}"/>
              </a:ext>
            </a:extLst>
          </p:cNvPr>
          <p:cNvSpPr>
            <a:spLocks xmlns:a="http://schemas.openxmlformats.org/drawingml/2006/main" noGrp="1"/>
          </p:cNvSpPr>
          <p:nvPr/>
        </p:nvSpPr>
        <p:spPr>
          <a:xfrm xmlns:a="http://schemas.openxmlformats.org/drawingml/2006/main">
            <a:off x="609600" y="4305300"/>
            <a:ext cx="51435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Comparative erosion protection remains uncertain</a:t>
            </a:r>
            <a:endParaRPr/>
          </a:p>
        </p:txBody>
      </p:sp>
      <p:sp>
        <p:nvSpPr>
          <p:cNvPr id="331" name="Google Shape;331;p22">
            <a:extLst xmlns:a="http://schemas.openxmlformats.org/drawingml/2006/main">
              <a:ext uri="{FF2B5EF4-FFF2-40B4-BE49-F238E27FC236}">
                <a16:creationId xmlns:a16="http://schemas.microsoft.com/office/drawing/2014/main" id="{94745CDD-41C9-420A-9A44-8CDD242522A7}"/>
              </a:ext>
            </a:extLst>
          </p:cNvPr>
          <p:cNvSpPr>
            <a:spLocks xmlns:a="http://schemas.openxmlformats.org/drawingml/2006/main" noGrp="1"/>
          </p:cNvSpPr>
          <p:nvPr/>
        </p:nvSpPr>
        <p:spPr>
          <a:xfrm xmlns:a="http://schemas.openxmlformats.org/drawingml/2006/main">
            <a:off x="6324600" y="1809750"/>
            <a:ext cx="5143500" cy="4286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400" b="1">
                <a:solidFill>
                  <a:srgbClr val="147F83"/>
                </a:solidFill>
                <a:latin typeface="Arial"/>
                <a:ea typeface="Arial"/>
                <a:cs typeface="Arial"/>
              </a:rPr>
              <a:t>Costs and limitations</a:t>
            </a:r>
            <a:endParaRPr/>
          </a:p>
        </p:txBody>
      </p:sp>
      <p:sp>
        <p:nvSpPr>
          <p:cNvPr id="332" name="Google Shape;332;p22">
            <a:extLst xmlns:a="http://schemas.openxmlformats.org/drawingml/2006/main">
              <a:ext uri="{FF2B5EF4-FFF2-40B4-BE49-F238E27FC236}">
                <a16:creationId xmlns:a16="http://schemas.microsoft.com/office/drawing/2014/main" id="{D73618E7-8C0D-4DBE-BF3E-C95E0A71C8B8}"/>
              </a:ext>
            </a:extLst>
          </p:cNvPr>
          <p:cNvSpPr>
            <a:spLocks xmlns:a="http://schemas.openxmlformats.org/drawingml/2006/main" noGrp="1"/>
          </p:cNvSpPr>
          <p:nvPr/>
        </p:nvSpPr>
        <p:spPr>
          <a:xfrm xmlns:a="http://schemas.openxmlformats.org/drawingml/2006/main">
            <a:off x="6324600" y="2400300"/>
            <a:ext cx="51435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Corporal injury and bleeding</a:t>
            </a:r>
            <a:endParaRPr/>
          </a:p>
        </p:txBody>
      </p:sp>
      <p:sp>
        <p:nvSpPr>
          <p:cNvPr id="333" name="Google Shape;333;p22">
            <a:extLst xmlns:a="http://schemas.openxmlformats.org/drawingml/2006/main">
              <a:ext uri="{FF2B5EF4-FFF2-40B4-BE49-F238E27FC236}">
                <a16:creationId xmlns:a16="http://schemas.microsoft.com/office/drawing/2014/main" id="{1F2DA001-92EF-4AFE-B4AE-B2CBDFBCC548}"/>
              </a:ext>
            </a:extLst>
          </p:cNvPr>
          <p:cNvSpPr>
            <a:spLocks xmlns:a="http://schemas.openxmlformats.org/drawingml/2006/main" noGrp="1"/>
          </p:cNvSpPr>
          <p:nvPr/>
        </p:nvSpPr>
        <p:spPr>
          <a:xfrm xmlns:a="http://schemas.openxmlformats.org/drawingml/2006/main">
            <a:off x="6324600" y="3352800"/>
            <a:ext cx="51435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Sexual consequences and future prosthesis surgery</a:t>
            </a:r>
            <a:endParaRPr/>
          </a:p>
        </p:txBody>
      </p:sp>
      <p:sp>
        <p:nvSpPr>
          <p:cNvPr id="334" name="Google Shape;334;p22">
            <a:extLst xmlns:a="http://schemas.openxmlformats.org/drawingml/2006/main">
              <a:ext uri="{FF2B5EF4-FFF2-40B4-BE49-F238E27FC236}">
                <a16:creationId xmlns:a16="http://schemas.microsoft.com/office/drawing/2014/main" id="{EE816DDB-57CD-4E55-93C7-86881035B586}"/>
              </a:ext>
            </a:extLst>
          </p:cNvPr>
          <p:cNvSpPr>
            <a:spLocks xmlns:a="http://schemas.openxmlformats.org/drawingml/2006/main" noGrp="1"/>
          </p:cNvSpPr>
          <p:nvPr/>
        </p:nvSpPr>
        <p:spPr>
          <a:xfrm xmlns:a="http://schemas.openxmlformats.org/drawingml/2006/main">
            <a:off x="6324600" y="4305300"/>
            <a:ext cx="51435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Confounding by indication in comparative series</a:t>
            </a:r>
            <a:endParaRPr/>
          </a:p>
        </p:txBody>
      </p:sp>
      <p:sp>
        <p:nvSpPr>
          <p:cNvPr id="335" name="Google Shape;335;p22">
            <a:extLst xmlns:a="http://schemas.openxmlformats.org/drawingml/2006/main">
              <a:ext uri="{FF2B5EF4-FFF2-40B4-BE49-F238E27FC236}">
                <a16:creationId xmlns:a16="http://schemas.microsoft.com/office/drawing/2014/main" id="{B6107ADD-AEAF-4B8C-AE51-3604BD83D857}"/>
              </a:ext>
            </a:extLst>
          </p:cNvPr>
          <p:cNvSpPr>
            <a:spLocks xmlns:a="http://schemas.openxmlformats.org/drawingml/2006/main" noGrp="1"/>
          </p:cNvSpPr>
          <p:nvPr/>
        </p:nvSpPr>
        <p:spPr>
          <a:xfrm xmlns:a="http://schemas.openxmlformats.org/drawingml/2006/main">
            <a:off x="609600" y="5753100"/>
            <a:ext cx="10972800" cy="552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725" b="0">
                <a:solidFill>
                  <a:srgbClr val="526773"/>
                </a:solidFill>
                <a:latin typeface="Arial"/>
                <a:ea typeface="Arial"/>
                <a:cs typeface="Arial"/>
              </a:rPr>
              <a:t>Latest systematic review suggests less erosion but more revision. Non-randomised data do not prove causal protection.</a:t>
            </a:r>
            <a:endParaRPr/>
          </a:p>
        </p:txBody>
      </p:sp>
    </p:spTree>
    <p:extLst>
      <p:ext uri="{BB962C8B-B14F-4D97-AF65-F5344CB8AC3E}">
        <p14:creationId xmlns:p14="http://schemas.microsoft.com/office/powerpoint/2010/main" val="1235744726"/>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41" name="Google Shape;341;p23">
            <a:extLst xmlns:a="http://schemas.openxmlformats.org/drawingml/2006/main">
              <a:ext uri="{FF2B5EF4-FFF2-40B4-BE49-F238E27FC236}">
                <a16:creationId xmlns:a16="http://schemas.microsoft.com/office/drawing/2014/main" id="{44D99F71-8BA8-438A-982C-95A1CB516427}"/>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The fifteen-minute wash question</a:t>
            </a:r>
            <a:endParaRPr/>
          </a:p>
        </p:txBody>
      </p:sp>
      <p:sp>
        <p:nvSpPr>
          <p:cNvPr id="342" name="Google Shape;342;p23">
            <a:extLst xmlns:a="http://schemas.openxmlformats.org/drawingml/2006/main">
              <a:ext uri="{FF2B5EF4-FFF2-40B4-BE49-F238E27FC236}">
                <a16:creationId xmlns:a16="http://schemas.microsoft.com/office/drawing/2014/main" id="{C9728E5F-B1A0-431E-BF7E-4A435A3AA8CF}"/>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343" name="Google Shape;343;p23">
            <a:extLst xmlns:a="http://schemas.openxmlformats.org/drawingml/2006/main">
              <a:ext uri="{FF2B5EF4-FFF2-40B4-BE49-F238E27FC236}">
                <a16:creationId xmlns:a16="http://schemas.microsoft.com/office/drawing/2014/main" id="{B61AAB3D-B859-4DF3-A0DA-B8D0B3ECC67B}"/>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125" b="0">
                <a:solidFill>
                  <a:srgbClr val="526773"/>
                </a:solidFill>
                <a:latin typeface="Arial"/>
                <a:ea typeface="Arial"/>
                <a:cs typeface="Arial"/>
              </a:rPr>
              <a:t>BAUS25 · NICE · WHO09 · PREP24 · IRRIG26</a:t>
            </a:r>
            <a:endParaRPr/>
          </a:p>
        </p:txBody>
      </p:sp>
      <p:sp>
        <p:nvSpPr>
          <p:cNvPr id="344" name="Google Shape;344;p23">
            <a:extLst xmlns:a="http://schemas.openxmlformats.org/drawingml/2006/main">
              <a:ext uri="{FF2B5EF4-FFF2-40B4-BE49-F238E27FC236}">
                <a16:creationId xmlns:a16="http://schemas.microsoft.com/office/drawing/2014/main" id="{E00C6506-9A24-4931-9C25-BA2CBC7FD7E1}"/>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20</a:t>
            </a:r>
            <a:endParaRPr/>
          </a:p>
        </p:txBody>
      </p:sp>
      <p:sp>
        <p:nvSpPr>
          <p:cNvPr id="345" name="Google Shape;345;p23">
            <a:extLst xmlns:a="http://schemas.openxmlformats.org/drawingml/2006/main">
              <a:ext uri="{FF2B5EF4-FFF2-40B4-BE49-F238E27FC236}">
                <a16:creationId xmlns:a16="http://schemas.microsoft.com/office/drawing/2014/main" id="{B5C02B39-9B6A-4D6B-A168-A64125971EA1}"/>
              </a:ext>
            </a:extLst>
          </p:cNvPr>
          <p:cNvSpPr>
            <a:spLocks xmlns:a="http://schemas.openxmlformats.org/drawingml/2006/main" noGrp="1"/>
          </p:cNvSpPr>
          <p:nvPr/>
        </p:nvSpPr>
        <p:spPr>
          <a:xfrm xmlns:a="http://schemas.openxmlformats.org/drawingml/2006/main">
            <a:off x="609600" y="1733550"/>
            <a:ext cx="10972800" cy="11144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925" b="1">
                <a:solidFill>
                  <a:srgbClr val="183343"/>
                </a:solidFill>
                <a:latin typeface="Arial"/>
                <a:ea typeface="Arial"/>
                <a:cs typeface="Arial"/>
              </a:rPr>
              <a:t>No direct AUS outcome evidence establishes a fixed 15-minute preparation</a:t>
            </a:r>
            <a:endParaRPr/>
          </a:p>
        </p:txBody>
      </p:sp>
      <p:sp>
        <p:nvSpPr>
          <p:cNvPr id="346" name="Google Shape;346;p23">
            <a:extLst xmlns:a="http://schemas.openxmlformats.org/drawingml/2006/main">
              <a:ext uri="{FF2B5EF4-FFF2-40B4-BE49-F238E27FC236}">
                <a16:creationId xmlns:a16="http://schemas.microsoft.com/office/drawing/2014/main" id="{CA9C5BEF-603A-4390-A710-3B8AD4B60017}"/>
              </a:ext>
            </a:extLst>
          </p:cNvPr>
          <p:cNvSpPr>
            <a:spLocks xmlns:a="http://schemas.openxmlformats.org/drawingml/2006/main" noGrp="1"/>
          </p:cNvSpPr>
          <p:nvPr/>
        </p:nvSpPr>
        <p:spPr>
          <a:xfrm xmlns:a="http://schemas.openxmlformats.org/drawingml/2006/main">
            <a:off x="609600" y="3190875"/>
            <a:ext cx="4048125" cy="5238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025" b="1">
                <a:solidFill>
                  <a:srgbClr val="147F83"/>
                </a:solidFill>
                <a:latin typeface="Arial"/>
                <a:ea typeface="Arial"/>
                <a:cs typeface="Arial"/>
              </a:rPr>
              <a:t>Patient washing</a:t>
            </a:r>
            <a:endParaRPr/>
          </a:p>
        </p:txBody>
      </p:sp>
      <p:sp>
        <p:nvSpPr>
          <p:cNvPr id="347" name="Google Shape;347;p23">
            <a:extLst xmlns:a="http://schemas.openxmlformats.org/drawingml/2006/main">
              <a:ext uri="{FF2B5EF4-FFF2-40B4-BE49-F238E27FC236}">
                <a16:creationId xmlns:a16="http://schemas.microsoft.com/office/drawing/2014/main" id="{054C90B5-E1FF-4E82-9182-658FFB2D37A3}"/>
              </a:ext>
            </a:extLst>
          </p:cNvPr>
          <p:cNvSpPr>
            <a:spLocks xmlns:a="http://schemas.openxmlformats.org/drawingml/2006/main" noGrp="1"/>
          </p:cNvSpPr>
          <p:nvPr/>
        </p:nvSpPr>
        <p:spPr>
          <a:xfrm xmlns:a="http://schemas.openxmlformats.org/drawingml/2006/main">
            <a:off x="4953000" y="3190875"/>
            <a:ext cx="6619875" cy="5238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950" b="0">
                <a:solidFill>
                  <a:srgbClr val="183343"/>
                </a:solidFill>
                <a:latin typeface="Arial"/>
                <a:ea typeface="Arial"/>
                <a:cs typeface="Arial"/>
              </a:rPr>
              <a:t>Preoperative hygiene</a:t>
            </a:r>
            <a:endParaRPr/>
          </a:p>
        </p:txBody>
      </p:sp>
      <p:sp>
        <p:nvSpPr>
          <p:cNvPr id="348" name="Google Shape;348;p23">
            <a:extLst xmlns:a="http://schemas.openxmlformats.org/drawingml/2006/main">
              <a:ext uri="{FF2B5EF4-FFF2-40B4-BE49-F238E27FC236}">
                <a16:creationId xmlns:a16="http://schemas.microsoft.com/office/drawing/2014/main" id="{4136CBF3-5FC7-4C5E-88EC-530DD8577C06}"/>
              </a:ext>
            </a:extLst>
          </p:cNvPr>
          <p:cNvSpPr>
            <a:spLocks xmlns:a="http://schemas.openxmlformats.org/drawingml/2006/main" noGrp="1"/>
          </p:cNvSpPr>
          <p:nvPr/>
        </p:nvSpPr>
        <p:spPr>
          <a:xfrm xmlns:a="http://schemas.openxmlformats.org/drawingml/2006/main">
            <a:off x="609600" y="3771900"/>
            <a:ext cx="4048125" cy="5238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025" b="1">
                <a:solidFill>
                  <a:srgbClr val="147F83"/>
                </a:solidFill>
                <a:latin typeface="Arial"/>
                <a:ea typeface="Arial"/>
                <a:cs typeface="Arial"/>
              </a:rPr>
              <a:t>Skin preparation</a:t>
            </a:r>
            <a:endParaRPr/>
          </a:p>
        </p:txBody>
      </p:sp>
      <p:sp>
        <p:nvSpPr>
          <p:cNvPr id="349" name="Google Shape;349;p23">
            <a:extLst xmlns:a="http://schemas.openxmlformats.org/drawingml/2006/main">
              <a:ext uri="{FF2B5EF4-FFF2-40B4-BE49-F238E27FC236}">
                <a16:creationId xmlns:a16="http://schemas.microsoft.com/office/drawing/2014/main" id="{A9C676E3-4005-4013-93A3-D5BB01BFB7E7}"/>
              </a:ext>
            </a:extLst>
          </p:cNvPr>
          <p:cNvSpPr>
            <a:spLocks xmlns:a="http://schemas.openxmlformats.org/drawingml/2006/main" noGrp="1"/>
          </p:cNvSpPr>
          <p:nvPr/>
        </p:nvSpPr>
        <p:spPr>
          <a:xfrm xmlns:a="http://schemas.openxmlformats.org/drawingml/2006/main">
            <a:off x="4953000" y="3771900"/>
            <a:ext cx="6619875" cy="5238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950" b="0">
                <a:solidFill>
                  <a:srgbClr val="183343"/>
                </a:solidFill>
                <a:latin typeface="Arial"/>
                <a:ea typeface="Arial"/>
                <a:cs typeface="Arial"/>
              </a:rPr>
              <a:t>Correct product, site, contact and drying</a:t>
            </a:r>
            <a:endParaRPr/>
          </a:p>
        </p:txBody>
      </p:sp>
      <p:sp>
        <p:nvSpPr>
          <p:cNvPr id="350" name="Google Shape;350;p23">
            <a:extLst xmlns:a="http://schemas.openxmlformats.org/drawingml/2006/main">
              <a:ext uri="{FF2B5EF4-FFF2-40B4-BE49-F238E27FC236}">
                <a16:creationId xmlns:a16="http://schemas.microsoft.com/office/drawing/2014/main" id="{823FE434-F1E3-482E-80EF-31BEAE2CD1A5}"/>
              </a:ext>
            </a:extLst>
          </p:cNvPr>
          <p:cNvSpPr>
            <a:spLocks xmlns:a="http://schemas.openxmlformats.org/drawingml/2006/main" noGrp="1"/>
          </p:cNvSpPr>
          <p:nvPr/>
        </p:nvSpPr>
        <p:spPr>
          <a:xfrm xmlns:a="http://schemas.openxmlformats.org/drawingml/2006/main">
            <a:off x="609600" y="4352925"/>
            <a:ext cx="4048125" cy="5238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025" b="1">
                <a:solidFill>
                  <a:srgbClr val="147F83"/>
                </a:solidFill>
                <a:latin typeface="Arial"/>
                <a:ea typeface="Arial"/>
                <a:cs typeface="Arial"/>
              </a:rPr>
              <a:t>Hand antisepsis</a:t>
            </a:r>
            <a:endParaRPr/>
          </a:p>
        </p:txBody>
      </p:sp>
      <p:sp>
        <p:nvSpPr>
          <p:cNvPr id="351" name="Google Shape;351;p23">
            <a:extLst xmlns:a="http://schemas.openxmlformats.org/drawingml/2006/main">
              <a:ext uri="{FF2B5EF4-FFF2-40B4-BE49-F238E27FC236}">
                <a16:creationId xmlns:a16="http://schemas.microsoft.com/office/drawing/2014/main" id="{8F1A909E-823A-4534-9DAE-4667654C1F65}"/>
              </a:ext>
            </a:extLst>
          </p:cNvPr>
          <p:cNvSpPr>
            <a:spLocks xmlns:a="http://schemas.openxmlformats.org/drawingml/2006/main" noGrp="1"/>
          </p:cNvSpPr>
          <p:nvPr/>
        </p:nvSpPr>
        <p:spPr>
          <a:xfrm xmlns:a="http://schemas.openxmlformats.org/drawingml/2006/main">
            <a:off x="4953000" y="4352925"/>
            <a:ext cx="6619875" cy="5238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950" b="0">
                <a:solidFill>
                  <a:srgbClr val="183343"/>
                </a:solidFill>
                <a:latin typeface="Arial"/>
                <a:ea typeface="Arial"/>
                <a:cs typeface="Arial"/>
              </a:rPr>
              <a:t>The team’s hands and forearms</a:t>
            </a:r>
            <a:endParaRPr/>
          </a:p>
        </p:txBody>
      </p:sp>
      <p:sp>
        <p:nvSpPr>
          <p:cNvPr id="352" name="Google Shape;352;p23">
            <a:extLst xmlns:a="http://schemas.openxmlformats.org/drawingml/2006/main">
              <a:ext uri="{FF2B5EF4-FFF2-40B4-BE49-F238E27FC236}">
                <a16:creationId xmlns:a16="http://schemas.microsoft.com/office/drawing/2014/main" id="{7DB6E671-648B-4FD0-89F3-7797D5712B75}"/>
              </a:ext>
            </a:extLst>
          </p:cNvPr>
          <p:cNvSpPr>
            <a:spLocks xmlns:a="http://schemas.openxmlformats.org/drawingml/2006/main" noGrp="1"/>
          </p:cNvSpPr>
          <p:nvPr/>
        </p:nvSpPr>
        <p:spPr>
          <a:xfrm xmlns:a="http://schemas.openxmlformats.org/drawingml/2006/main">
            <a:off x="609600" y="4933950"/>
            <a:ext cx="4048125" cy="5238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025" b="1">
                <a:solidFill>
                  <a:srgbClr val="147F83"/>
                </a:solidFill>
                <a:latin typeface="Arial"/>
                <a:ea typeface="Arial"/>
                <a:cs typeface="Arial"/>
              </a:rPr>
              <a:t>Irrigation and device preparation</a:t>
            </a:r>
            <a:endParaRPr/>
          </a:p>
        </p:txBody>
      </p:sp>
      <p:sp>
        <p:nvSpPr>
          <p:cNvPr id="353" name="Google Shape;353;p23">
            <a:extLst xmlns:a="http://schemas.openxmlformats.org/drawingml/2006/main">
              <a:ext uri="{FF2B5EF4-FFF2-40B4-BE49-F238E27FC236}">
                <a16:creationId xmlns:a16="http://schemas.microsoft.com/office/drawing/2014/main" id="{40C65AA8-6BF3-47A9-BADB-E87A19E526FC}"/>
              </a:ext>
            </a:extLst>
          </p:cNvPr>
          <p:cNvSpPr>
            <a:spLocks xmlns:a="http://schemas.openxmlformats.org/drawingml/2006/main" noGrp="1"/>
          </p:cNvSpPr>
          <p:nvPr/>
        </p:nvSpPr>
        <p:spPr>
          <a:xfrm xmlns:a="http://schemas.openxmlformats.org/drawingml/2006/main">
            <a:off x="4953000" y="4933950"/>
            <a:ext cx="6619875" cy="5238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950" b="0">
                <a:solidFill>
                  <a:srgbClr val="183343"/>
                </a:solidFill>
                <a:latin typeface="Arial"/>
                <a:ea typeface="Arial"/>
                <a:cs typeface="Arial"/>
              </a:rPr>
              <a:t>Separate interventions and compatibility rules</a:t>
            </a:r>
            <a:endParaRPr/>
          </a:p>
        </p:txBody>
      </p:sp>
      <p:sp>
        <p:nvSpPr>
          <p:cNvPr id="354" name="Google Shape;354;p23">
            <a:extLst xmlns:a="http://schemas.openxmlformats.org/drawingml/2006/main">
              <a:ext uri="{FF2B5EF4-FFF2-40B4-BE49-F238E27FC236}">
                <a16:creationId xmlns:a16="http://schemas.microsoft.com/office/drawing/2014/main" id="{969E2BFC-A1E2-421A-9495-B8AE0046B9BC}"/>
              </a:ext>
            </a:extLst>
          </p:cNvPr>
          <p:cNvSpPr>
            <a:spLocks xmlns:a="http://schemas.openxmlformats.org/drawingml/2006/main" noGrp="1"/>
          </p:cNvSpPr>
          <p:nvPr/>
        </p:nvSpPr>
        <p:spPr>
          <a:xfrm xmlns:a="http://schemas.openxmlformats.org/drawingml/2006/main">
            <a:off x="609600" y="5753100"/>
            <a:ext cx="10972800" cy="552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725" b="0">
                <a:solidFill>
                  <a:srgbClr val="526773"/>
                </a:solidFill>
                <a:latin typeface="Arial"/>
                <a:ea typeface="Arial"/>
                <a:cs typeface="Arial"/>
              </a:rPr>
              <a:t>BAUS’s five-minute topical field scrub is consensus with extrapolation. Product timings address different activities.</a:t>
            </a:r>
            <a:endParaRPr/>
          </a:p>
        </p:txBody>
      </p:sp>
    </p:spTree>
    <p:extLst>
      <p:ext uri="{BB962C8B-B14F-4D97-AF65-F5344CB8AC3E}">
        <p14:creationId xmlns:p14="http://schemas.microsoft.com/office/powerpoint/2010/main" val="1126328965"/>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60" name="Google Shape;360;p24">
            <a:extLst xmlns:a="http://schemas.openxmlformats.org/drawingml/2006/main">
              <a:ext uri="{FF2B5EF4-FFF2-40B4-BE49-F238E27FC236}">
                <a16:creationId xmlns:a16="http://schemas.microsoft.com/office/drawing/2014/main" id="{B3AFB32E-0FD4-4A07-9FDD-8AECFE8F3981}"/>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Skin culture reduction and clinical infection</a:t>
            </a:r>
            <a:endParaRPr/>
          </a:p>
        </p:txBody>
      </p:sp>
      <p:sp>
        <p:nvSpPr>
          <p:cNvPr id="361" name="Google Shape;361;p24">
            <a:extLst xmlns:a="http://schemas.openxmlformats.org/drawingml/2006/main">
              <a:ext uri="{FF2B5EF4-FFF2-40B4-BE49-F238E27FC236}">
                <a16:creationId xmlns:a16="http://schemas.microsoft.com/office/drawing/2014/main" id="{86103C88-28BF-46AE-A3D0-AFC5FC17DAD0}"/>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362" name="Google Shape;362;p24">
            <a:extLst xmlns:a="http://schemas.openxmlformats.org/drawingml/2006/main">
              <a:ext uri="{FF2B5EF4-FFF2-40B4-BE49-F238E27FC236}">
                <a16:creationId xmlns:a16="http://schemas.microsoft.com/office/drawing/2014/main" id="{5AB5CC4D-FF97-470F-86B6-EB62900D7DC9}"/>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125" b="0">
                <a:solidFill>
                  <a:srgbClr val="526773"/>
                </a:solidFill>
                <a:latin typeface="Arial"/>
                <a:ea typeface="Arial"/>
                <a:cs typeface="Arial"/>
              </a:rPr>
              <a:t>YEUNG13 · PREP24 · NICE · CHLORA26 · BAUS25</a:t>
            </a:r>
            <a:endParaRPr/>
          </a:p>
        </p:txBody>
      </p:sp>
      <p:sp>
        <p:nvSpPr>
          <p:cNvPr id="363" name="Google Shape;363;p24">
            <a:extLst xmlns:a="http://schemas.openxmlformats.org/drawingml/2006/main">
              <a:ext uri="{FF2B5EF4-FFF2-40B4-BE49-F238E27FC236}">
                <a16:creationId xmlns:a16="http://schemas.microsoft.com/office/drawing/2014/main" id="{FD432617-492C-43D0-A74C-344F31AC4EC8}"/>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21</a:t>
            </a:r>
            <a:endParaRPr/>
          </a:p>
        </p:txBody>
      </p:sp>
      <p:pic>
        <p:nvPicPr>
          <p:cNvPr id="374" name="Google Shape;364;p24"/>
          <p:cNvPicPr>
            <a:picLocks xmlns:a="http://schemas.openxmlformats.org/drawingml/2006/main" noChangeAspect="1"/>
          </p:cNvPicPr>
          <p:nvPr/>
        </p:nvPicPr>
        <p:blipFill rotWithShape="1">
          <a:blip xmlns:r="http://schemas.openxmlformats.org/officeDocument/2006/relationships" xmlns:a="http://schemas.openxmlformats.org/drawingml/2006/main" r:embed="R50e9f644036a4677">
            <a:alphaModFix/>
          </a:blip>
          <a:srcRect xmlns:a="http://schemas.openxmlformats.org/drawingml/2006/main" l="0" t="0" r="0" b="0"/>
          <a:stretch xmlns:a="http://schemas.openxmlformats.org/drawingml/2006/main"/>
        </p:blipFill>
        <p:spPr>
          <a:xfrm xmlns:a="http://schemas.openxmlformats.org/drawingml/2006/main">
            <a:off x="609600" y="1857375"/>
            <a:ext cx="6715125" cy="3429000"/>
          </a:xfrm>
          <a:prstGeom xmlns:a="http://schemas.openxmlformats.org/drawingml/2006/main" prst="rect">
            <a:avLst/>
          </a:prstGeom>
          <a:ln xmlns:a="http://schemas.openxmlformats.org/drawingml/2006/main">
            <a:noFill/>
          </a:ln>
        </p:spPr>
      </p:pic>
      <p:sp>
        <p:nvSpPr>
          <p:cNvPr id="365" name="Google Shape;365;p24">
            <a:extLst xmlns:a="http://schemas.openxmlformats.org/drawingml/2006/main">
              <a:ext uri="{FF2B5EF4-FFF2-40B4-BE49-F238E27FC236}">
                <a16:creationId xmlns:a16="http://schemas.microsoft.com/office/drawing/2014/main" id="{59B67BCA-7E26-491C-A205-71870D4E2FE7}"/>
              </a:ext>
            </a:extLst>
          </p:cNvPr>
          <p:cNvSpPr>
            <a:spLocks xmlns:a="http://schemas.openxmlformats.org/drawingml/2006/main" noGrp="1"/>
          </p:cNvSpPr>
          <p:nvPr/>
        </p:nvSpPr>
        <p:spPr>
          <a:xfrm xmlns:a="http://schemas.openxmlformats.org/drawingml/2006/main">
            <a:off x="7848600" y="2019300"/>
            <a:ext cx="3733800" cy="9048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700" b="1">
                <a:solidFill>
                  <a:srgbClr val="183343"/>
                </a:solidFill>
                <a:latin typeface="Arial"/>
                <a:ea typeface="Arial"/>
                <a:cs typeface="Arial"/>
              </a:rPr>
              <a:t>A microbiological endpoint</a:t>
            </a:r>
            <a:endParaRPr/>
          </a:p>
        </p:txBody>
      </p:sp>
      <p:sp>
        <p:nvSpPr>
          <p:cNvPr id="366" name="Google Shape;366;p24">
            <a:extLst xmlns:a="http://schemas.openxmlformats.org/drawingml/2006/main">
              <a:ext uri="{FF2B5EF4-FFF2-40B4-BE49-F238E27FC236}">
                <a16:creationId xmlns:a16="http://schemas.microsoft.com/office/drawing/2014/main" id="{3B3AB40F-EAA2-4CB7-B7EB-DECAA1621268}"/>
              </a:ext>
            </a:extLst>
          </p:cNvPr>
          <p:cNvSpPr>
            <a:spLocks xmlns:a="http://schemas.openxmlformats.org/drawingml/2006/main" noGrp="1"/>
          </p:cNvSpPr>
          <p:nvPr/>
        </p:nvSpPr>
        <p:spPr>
          <a:xfrm xmlns:a="http://schemas.openxmlformats.org/drawingml/2006/main">
            <a:off x="7848600" y="3324225"/>
            <a:ext cx="3733800" cy="1047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250" b="0">
                <a:solidFill>
                  <a:srgbClr val="526773"/>
                </a:solidFill>
                <a:latin typeface="Arial"/>
                <a:ea typeface="Arial"/>
                <a:cs typeface="Arial"/>
              </a:rPr>
              <a:t>Direct AUS infection evidence remains limited</a:t>
            </a:r>
            <a:endParaRPr/>
          </a:p>
        </p:txBody>
      </p:sp>
      <p:sp>
        <p:nvSpPr>
          <p:cNvPr id="367" name="Google Shape;367;p24">
            <a:extLst xmlns:a="http://schemas.openxmlformats.org/drawingml/2006/main">
              <a:ext uri="{FF2B5EF4-FFF2-40B4-BE49-F238E27FC236}">
                <a16:creationId xmlns:a16="http://schemas.microsoft.com/office/drawing/2014/main" id="{5032DF48-80B6-4AE1-91AD-FBDAC71E60EF}"/>
              </a:ext>
            </a:extLst>
          </p:cNvPr>
          <p:cNvSpPr>
            <a:spLocks xmlns:a="http://schemas.openxmlformats.org/drawingml/2006/main" noGrp="1"/>
          </p:cNvSpPr>
          <p:nvPr/>
        </p:nvSpPr>
        <p:spPr>
          <a:xfrm xmlns:a="http://schemas.openxmlformats.org/drawingml/2006/main">
            <a:off x="7848600" y="4600575"/>
            <a:ext cx="3733800" cy="9239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75" b="0">
                <a:solidFill>
                  <a:srgbClr val="147F83"/>
                </a:solidFill>
                <a:latin typeface="Arial"/>
                <a:ea typeface="Arial"/>
                <a:cs typeface="Arial"/>
              </a:rPr>
              <a:t>Correct product, anatomy and complete drying still matter</a:t>
            </a:r>
            <a:endParaRPr/>
          </a:p>
        </p:txBody>
      </p:sp>
      <p:sp>
        <p:nvSpPr>
          <p:cNvPr id="368" name="Google Shape;368;p24">
            <a:extLst xmlns:a="http://schemas.openxmlformats.org/drawingml/2006/main">
              <a:ext uri="{FF2B5EF4-FFF2-40B4-BE49-F238E27FC236}">
                <a16:creationId xmlns:a16="http://schemas.microsoft.com/office/drawing/2014/main" id="{457EB507-BBBF-47B6-A1FD-6D820F8158D6}"/>
              </a:ext>
            </a:extLst>
          </p:cNvPr>
          <p:cNvSpPr>
            <a:spLocks xmlns:a="http://schemas.openxmlformats.org/drawingml/2006/main" noGrp="1"/>
          </p:cNvSpPr>
          <p:nvPr/>
        </p:nvSpPr>
        <p:spPr>
          <a:xfrm xmlns:a="http://schemas.openxmlformats.org/drawingml/2006/main">
            <a:off x="609600" y="5753100"/>
            <a:ext cx="10972800" cy="552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725" b="0">
                <a:solidFill>
                  <a:srgbClr val="526773"/>
                </a:solidFill>
                <a:latin typeface="Arial"/>
                <a:ea typeface="Arial"/>
                <a:cs typeface="Arial"/>
              </a:rPr>
              <a:t>Yeung 2013: 100 initial GU prosthetic procedures, 50 per arm. Immediate skin cultures, not AUS infection or a duration trial.</a:t>
            </a:r>
            <a:endParaRPr/>
          </a:p>
        </p:txBody>
      </p:sp>
    </p:spTree>
    <p:extLst>
      <p:ext uri="{BB962C8B-B14F-4D97-AF65-F5344CB8AC3E}">
        <p14:creationId xmlns:p14="http://schemas.microsoft.com/office/powerpoint/2010/main" val="806281076"/>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74" name="Google Shape;374;p25">
            <a:extLst xmlns:a="http://schemas.openxmlformats.org/drawingml/2006/main">
              <a:ext uri="{FF2B5EF4-FFF2-40B4-BE49-F238E27FC236}">
                <a16:creationId xmlns:a16="http://schemas.microsoft.com/office/drawing/2014/main" id="{4910449E-B556-49F7-B6B4-34B4AABDBC64}"/>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Urine and antibiotic disagreements</a:t>
            </a:r>
            <a:endParaRPr/>
          </a:p>
        </p:txBody>
      </p:sp>
      <p:sp>
        <p:nvSpPr>
          <p:cNvPr id="375" name="Google Shape;375;p25">
            <a:extLst xmlns:a="http://schemas.openxmlformats.org/drawingml/2006/main">
              <a:ext uri="{FF2B5EF4-FFF2-40B4-BE49-F238E27FC236}">
                <a16:creationId xmlns:a16="http://schemas.microsoft.com/office/drawing/2014/main" id="{5B1705AE-C087-4C2B-8966-E5724F644CDC}"/>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376" name="Google Shape;376;p25">
            <a:extLst xmlns:a="http://schemas.openxmlformats.org/drawingml/2006/main">
              <a:ext uri="{FF2B5EF4-FFF2-40B4-BE49-F238E27FC236}">
                <a16:creationId xmlns:a16="http://schemas.microsoft.com/office/drawing/2014/main" id="{B327AE02-9CB6-4FA4-ACA3-4276152DF396}"/>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125" b="0">
                <a:solidFill>
                  <a:srgbClr val="526773"/>
                </a:solidFill>
                <a:latin typeface="Arial"/>
                <a:ea typeface="Arial"/>
                <a:cs typeface="Arial"/>
              </a:rPr>
              <a:t>IDSA19 · BAUS25 · AUAABX20 · ABX18 · CCIFU · AUAABX26</a:t>
            </a:r>
            <a:endParaRPr/>
          </a:p>
        </p:txBody>
      </p:sp>
      <p:sp>
        <p:nvSpPr>
          <p:cNvPr id="377" name="Google Shape;377;p25">
            <a:extLst xmlns:a="http://schemas.openxmlformats.org/drawingml/2006/main">
              <a:ext uri="{FF2B5EF4-FFF2-40B4-BE49-F238E27FC236}">
                <a16:creationId xmlns:a16="http://schemas.microsoft.com/office/drawing/2014/main" id="{D976B4B2-D575-4EAE-AB87-A161794AB5AF}"/>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22</a:t>
            </a:r>
            <a:endParaRPr/>
          </a:p>
        </p:txBody>
      </p:sp>
      <p:graphicFrame>
        <p:nvGraphicFramePr>
          <p:cNvPr id="385" name="Google Shape;378;p25"/>
          <p:cNvGraphicFramePr/>
          <p:nvPr/>
        </p:nvGraphicFramePr>
        <p:xfrm>
          <a:off xmlns:a="http://schemas.openxmlformats.org/drawingml/2006/main" x="609600" y="1790700"/>
          <a:ext xmlns:a="http://schemas.openxmlformats.org/drawingml/2006/main" cx="3000000" cy="3000000"/>
        </p:xfrm>
        <a:graphic xmlns:a="http://schemas.openxmlformats.org/drawingml/2006/main">
          <a:graphicData uri="http://schemas.openxmlformats.org/drawingml/2006/table">
            <a:tbl>
              <a:tblPr>
                <a:tableStyleId>{0AF7EDE5-490F-44FA-BAEA-A03204E10917}</a:tableStyleId>
              </a:tblPr>
              <a:tblGrid>
                <a:gridCol w="3381375"/>
                <a:gridCol w="7591425"/>
              </a:tblGrid>
              <a:tr h="552450">
                <a:tc>
                  <a:txBody>
                    <a:bodyPr/>
                    <a:lstStyle/>
                    <a:p>
                      <a:pPr marL="0" marR="0" lvl="0" indent="0" algn="l">
                        <a:spcBef>
                          <a:spcPts val="0"/>
                        </a:spcBef>
                        <a:spcAft>
                          <a:spcPts val="0"/>
                        </a:spcAft>
                        <a:buClr>
                          <a:srgbClr val="FFFFFF"/>
                        </a:buClr>
                        <a:buSzPts val="1800"/>
                        <a:buFont typeface="Arial"/>
                        <a:buNone/>
                      </a:pPr>
                      <a:r>
                        <a:rPr sz="1800" b="1">
                          <a:solidFill>
                            <a:srgbClr val="FFFFFF"/>
                          </a:solidFill>
                          <a:latin typeface="Arial"/>
                          <a:ea typeface="Arial"/>
                          <a:cs typeface="Arial"/>
                        </a:rPr>
                        <a:t>Question</a:t>
                      </a:r>
                      <a:endParaRPr/>
                    </a:p>
                  </a:txBody>
                  <a:tcPr marL="133350" marR="133350" marT="95250" marB="76200" anchor="ctr">
                    <a:solidFill>
                      <a:srgbClr val="183343"/>
                    </a:solidFill>
                  </a:tcPr>
                </a:tc>
                <a:tc>
                  <a:txBody>
                    <a:bodyPr/>
                    <a:lstStyle/>
                    <a:p>
                      <a:pPr marL="0" marR="0" lvl="0" indent="0" algn="l">
                        <a:spcBef>
                          <a:spcPts val="0"/>
                        </a:spcBef>
                        <a:spcAft>
                          <a:spcPts val="0"/>
                        </a:spcAft>
                        <a:buClr>
                          <a:srgbClr val="FFFFFF"/>
                        </a:buClr>
                        <a:buSzPts val="1800"/>
                        <a:buFont typeface="Arial"/>
                        <a:buNone/>
                      </a:pPr>
                      <a:r>
                        <a:rPr sz="1800" b="1">
                          <a:solidFill>
                            <a:srgbClr val="FFFFFF"/>
                          </a:solidFill>
                          <a:latin typeface="Arial"/>
                          <a:ea typeface="Arial"/>
                          <a:cs typeface="Arial"/>
                        </a:rPr>
                        <a:t>Evidence or instruction</a:t>
                      </a:r>
                      <a:endParaRPr/>
                    </a:p>
                  </a:txBody>
                  <a:tcPr marL="133350" marR="133350" marT="95250" marB="76200" anchor="ctr">
                    <a:solidFill>
                      <a:srgbClr val="183343"/>
                    </a:solidFill>
                  </a:tcPr>
                </a:tc>
              </a:tr>
              <a:tr h="833450">
                <a:tc>
                  <a:txBody>
                    <a:bodyPr/>
                    <a:lstStyle/>
                    <a:p>
                      <a:pPr marL="0" marR="0" lvl="0" indent="0" algn="l">
                        <a:spcBef>
                          <a:spcPts val="0"/>
                        </a:spcBef>
                        <a:spcAft>
                          <a:spcPts val="0"/>
                        </a:spcAft>
                        <a:buClr>
                          <a:srgbClr val="183343"/>
                        </a:buClr>
                        <a:buSzPts val="1800"/>
                        <a:buFont typeface="Arial"/>
                        <a:buNone/>
                      </a:pPr>
                      <a:r>
                        <a:rPr sz="1800" b="0">
                          <a:solidFill>
                            <a:srgbClr val="183343"/>
                          </a:solidFill>
                          <a:latin typeface="Arial"/>
                          <a:ea typeface="Arial"/>
                          <a:cs typeface="Arial"/>
                        </a:rPr>
                        <a:t>Symptomatic infection</a:t>
                      </a:r>
                      <a:endParaRPr/>
                    </a:p>
                  </a:txBody>
                  <a:tcPr marL="133350" marR="133350" marT="95250" marB="76200" anchor="ctr">
                    <a:solidFill>
                      <a:srgbClr val="EEF4F5"/>
                    </a:solidFill>
                  </a:tcPr>
                </a:tc>
                <a:tc>
                  <a:txBody>
                    <a:bodyPr/>
                    <a:lstStyle/>
                    <a:p>
                      <a:pPr marL="0" marR="0" lvl="0" indent="0" algn="l">
                        <a:spcBef>
                          <a:spcPts val="0"/>
                        </a:spcBef>
                        <a:spcAft>
                          <a:spcPts val="0"/>
                        </a:spcAft>
                        <a:buClr>
                          <a:srgbClr val="183343"/>
                        </a:buClr>
                        <a:buSzPts val="1800"/>
                        <a:buFont typeface="Arial"/>
                        <a:buNone/>
                      </a:pPr>
                      <a:r>
                        <a:rPr sz="1800" b="0">
                          <a:solidFill>
                            <a:srgbClr val="183343"/>
                          </a:solidFill>
                          <a:latin typeface="Arial"/>
                          <a:ea typeface="Arial"/>
                          <a:cs typeface="Arial"/>
                        </a:rPr>
                        <a:t>Treat and reassess before implantation</a:t>
                      </a:r>
                      <a:endParaRPr/>
                    </a:p>
                  </a:txBody>
                  <a:tcPr marL="133350" marR="133350" marT="95250" marB="76200" anchor="ctr">
                    <a:solidFill>
                      <a:srgbClr val="EEF4F5"/>
                    </a:solidFill>
                  </a:tcPr>
                </a:tc>
              </a:tr>
              <a:tr h="833450">
                <a:tc>
                  <a:txBody>
                    <a:bodyPr/>
                    <a:lstStyle/>
                    <a:p>
                      <a:pPr marL="0" marR="0" lvl="0" indent="0" algn="l">
                        <a:spcBef>
                          <a:spcPts val="0"/>
                        </a:spcBef>
                        <a:spcAft>
                          <a:spcPts val="0"/>
                        </a:spcAft>
                        <a:buClr>
                          <a:srgbClr val="183343"/>
                        </a:buClr>
                        <a:buSzPts val="1800"/>
                        <a:buFont typeface="Arial"/>
                        <a:buNone/>
                      </a:pPr>
                      <a:r>
                        <a:rPr sz="1800" b="0">
                          <a:solidFill>
                            <a:srgbClr val="183343"/>
                          </a:solidFill>
                          <a:latin typeface="Arial"/>
                          <a:ea typeface="Arial"/>
                          <a:cs typeface="Arial"/>
                        </a:rPr>
                        <a:t>Asymptomatic bacteriuria</a:t>
                      </a:r>
                      <a:endParaRPr/>
                    </a:p>
                  </a:txBody>
                  <a:tcPr marL="133350" marR="133350" marT="95250" marB="76200" anchor="ctr">
                    <a:solidFill>
                      <a:srgbClr val="FFFFFF"/>
                    </a:solidFill>
                  </a:tcPr>
                </a:tc>
                <a:tc>
                  <a:txBody>
                    <a:bodyPr/>
                    <a:lstStyle/>
                    <a:p>
                      <a:pPr marL="0" marR="0" lvl="0" indent="0" algn="l">
                        <a:spcBef>
                          <a:spcPts val="0"/>
                        </a:spcBef>
                        <a:spcAft>
                          <a:spcPts val="0"/>
                        </a:spcAft>
                        <a:buClr>
                          <a:srgbClr val="183343"/>
                        </a:buClr>
                        <a:buSzPts val="1800"/>
                        <a:buFont typeface="Arial"/>
                        <a:buNone/>
                      </a:pPr>
                      <a:r>
                        <a:rPr sz="1800" b="0">
                          <a:solidFill>
                            <a:srgbClr val="183343"/>
                          </a:solidFill>
                          <a:latin typeface="Arial"/>
                          <a:ea typeface="Arial"/>
                          <a:cs typeface="Arial"/>
                        </a:rPr>
                        <a:t>BAUS urine pathway and IDSA’s AUS-specific position differ</a:t>
                      </a:r>
                      <a:endParaRPr/>
                    </a:p>
                  </a:txBody>
                  <a:tcPr marL="133350" marR="133350" marT="95250" marB="76200" anchor="ctr">
                    <a:solidFill>
                      <a:srgbClr val="FFFFFF"/>
                    </a:solidFill>
                  </a:tcPr>
                </a:tc>
              </a:tr>
              <a:tr h="833450">
                <a:tc>
                  <a:txBody>
                    <a:bodyPr/>
                    <a:lstStyle/>
                    <a:p>
                      <a:pPr marL="0" marR="0" lvl="0" indent="0" algn="l">
                        <a:spcBef>
                          <a:spcPts val="0"/>
                        </a:spcBef>
                        <a:spcAft>
                          <a:spcPts val="0"/>
                        </a:spcAft>
                        <a:buClr>
                          <a:srgbClr val="183343"/>
                        </a:buClr>
                        <a:buSzPts val="1800"/>
                        <a:buFont typeface="Arial"/>
                        <a:buNone/>
                      </a:pPr>
                      <a:r>
                        <a:rPr sz="1800" b="0">
                          <a:solidFill>
                            <a:srgbClr val="183343"/>
                          </a:solidFill>
                          <a:latin typeface="Arial"/>
                          <a:ea typeface="Arial"/>
                          <a:cs typeface="Arial"/>
                        </a:rPr>
                        <a:t>Prophylaxis</a:t>
                      </a:r>
                      <a:endParaRPr/>
                    </a:p>
                  </a:txBody>
                  <a:tcPr marL="133350" marR="133350" marT="95250" marB="76200" anchor="ctr">
                    <a:solidFill>
                      <a:srgbClr val="EEF4F5"/>
                    </a:solidFill>
                  </a:tcPr>
                </a:tc>
                <a:tc>
                  <a:txBody>
                    <a:bodyPr/>
                    <a:lstStyle/>
                    <a:p>
                      <a:pPr marL="0" marR="0" lvl="0" indent="0" algn="l">
                        <a:spcBef>
                          <a:spcPts val="0"/>
                        </a:spcBef>
                        <a:spcAft>
                          <a:spcPts val="0"/>
                        </a:spcAft>
                        <a:buClr>
                          <a:srgbClr val="183343"/>
                        </a:buClr>
                        <a:buSzPts val="1800"/>
                        <a:buFont typeface="Arial"/>
                        <a:buNone/>
                      </a:pPr>
                      <a:r>
                        <a:rPr sz="1800" b="0">
                          <a:solidFill>
                            <a:srgbClr val="183343"/>
                          </a:solidFill>
                          <a:latin typeface="Arial"/>
                          <a:ea typeface="Arial"/>
                          <a:cs typeface="Arial"/>
                        </a:rPr>
                        <a:t>Complete before incision and plan appropriate redosing</a:t>
                      </a:r>
                      <a:endParaRPr/>
                    </a:p>
                  </a:txBody>
                  <a:tcPr marL="133350" marR="133350" marT="95250" marB="76200" anchor="ctr">
                    <a:solidFill>
                      <a:srgbClr val="EEF4F5"/>
                    </a:solidFill>
                  </a:tcPr>
                </a:tc>
              </a:tr>
              <a:tr h="833450">
                <a:tc>
                  <a:txBody>
                    <a:bodyPr/>
                    <a:lstStyle/>
                    <a:p>
                      <a:pPr marL="0" marR="0" lvl="0" indent="0" algn="l">
                        <a:spcBef>
                          <a:spcPts val="0"/>
                        </a:spcBef>
                        <a:spcAft>
                          <a:spcPts val="0"/>
                        </a:spcAft>
                        <a:buClr>
                          <a:srgbClr val="183343"/>
                        </a:buClr>
                        <a:buSzPts val="1800"/>
                        <a:buFont typeface="Arial"/>
                        <a:buNone/>
                      </a:pPr>
                      <a:r>
                        <a:rPr sz="1800" b="0">
                          <a:solidFill>
                            <a:srgbClr val="183343"/>
                          </a:solidFill>
                          <a:latin typeface="Arial"/>
                          <a:ea typeface="Arial"/>
                          <a:cs typeface="Arial"/>
                        </a:rPr>
                        <a:t>Postoperative antibiotics</a:t>
                      </a:r>
                      <a:endParaRPr/>
                    </a:p>
                  </a:txBody>
                  <a:tcPr marL="133350" marR="133350" marT="95250" marB="76200" anchor="ctr">
                    <a:solidFill>
                      <a:srgbClr val="FFFFFF"/>
                    </a:solidFill>
                  </a:tcPr>
                </a:tc>
                <a:tc>
                  <a:txBody>
                    <a:bodyPr/>
                    <a:lstStyle/>
                    <a:p>
                      <a:pPr marL="0" marR="0" lvl="0" indent="0" algn="l">
                        <a:spcBef>
                          <a:spcPts val="0"/>
                        </a:spcBef>
                        <a:spcAft>
                          <a:spcPts val="0"/>
                        </a:spcAft>
                        <a:buClr>
                          <a:srgbClr val="183343"/>
                        </a:buClr>
                        <a:buSzPts val="1800"/>
                        <a:buFont typeface="Arial"/>
                        <a:buNone/>
                      </a:pPr>
                      <a:r>
                        <a:rPr sz="1800" b="0">
                          <a:solidFill>
                            <a:srgbClr val="183343"/>
                          </a:solidFill>
                          <a:latin typeface="Arial"/>
                          <a:ea typeface="Arial"/>
                          <a:cs typeface="Arial"/>
                        </a:rPr>
                        <a:t>Older observational data show no clear benefit; retrieved ContiClassic IFU differs.</a:t>
                      </a:r>
                      <a:endParaRPr/>
                    </a:p>
                  </a:txBody>
                  <a:tcPr marL="133350" marR="133350" marT="95250" marB="76200" anchor="ctr">
                    <a:solidFill>
                      <a:srgbClr val="FFFFFF"/>
                    </a:solidFill>
                  </a:tcPr>
                </a:tc>
              </a:tr>
            </a:tbl>
          </a:graphicData>
        </a:graphic>
      </p:graphicFrame>
      <p:sp>
        <p:nvSpPr>
          <p:cNvPr id="379" name="Google Shape;379;p25">
            <a:extLst xmlns:a="http://schemas.openxmlformats.org/drawingml/2006/main">
              <a:ext uri="{FF2B5EF4-FFF2-40B4-BE49-F238E27FC236}">
                <a16:creationId xmlns:a16="http://schemas.microsoft.com/office/drawing/2014/main" id="{C8907D32-F2D8-4793-842C-C820ED75882F}"/>
              </a:ext>
            </a:extLst>
          </p:cNvPr>
          <p:cNvSpPr>
            <a:spLocks xmlns:a="http://schemas.openxmlformats.org/drawingml/2006/main" noGrp="1"/>
          </p:cNvSpPr>
          <p:nvPr/>
        </p:nvSpPr>
        <p:spPr>
          <a:xfrm xmlns:a="http://schemas.openxmlformats.org/drawingml/2006/main">
            <a:off x="609600" y="5753100"/>
            <a:ext cx="10972800" cy="552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725" b="0">
                <a:solidFill>
                  <a:srgbClr val="526773"/>
                </a:solidFill>
                <a:latin typeface="Arial"/>
                <a:ea typeface="Arial"/>
                <a:cs typeface="Arial"/>
              </a:rPr>
              <a:t>AUA 2026 IP09-18 addresses postoperative antibiotics; full results unverified. Reconcile regional IFU and local microbiology policy.</a:t>
            </a:r>
            <a:endParaRPr/>
          </a:p>
        </p:txBody>
      </p:sp>
    </p:spTree>
    <p:extLst>
      <p:ext uri="{BB962C8B-B14F-4D97-AF65-F5344CB8AC3E}">
        <p14:creationId xmlns:p14="http://schemas.microsoft.com/office/powerpoint/2010/main" val="1578627417"/>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85" name="Google Shape;385;p26">
            <a:extLst xmlns:a="http://schemas.openxmlformats.org/drawingml/2006/main">
              <a:ext uri="{FF2B5EF4-FFF2-40B4-BE49-F238E27FC236}">
                <a16:creationId xmlns:a16="http://schemas.microsoft.com/office/drawing/2014/main" id="{CC9084AF-6E65-4FE5-994F-2673872D836C}"/>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Contamination control during implantation</a:t>
            </a:r>
            <a:endParaRPr/>
          </a:p>
        </p:txBody>
      </p:sp>
      <p:sp>
        <p:nvSpPr>
          <p:cNvPr id="386" name="Google Shape;386;p26">
            <a:extLst xmlns:a="http://schemas.openxmlformats.org/drawingml/2006/main">
              <a:ext uri="{FF2B5EF4-FFF2-40B4-BE49-F238E27FC236}">
                <a16:creationId xmlns:a16="http://schemas.microsoft.com/office/drawing/2014/main" id="{BB73F1A4-B4F2-432F-ADB8-5017278F6737}"/>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387" name="Google Shape;387;p26">
            <a:extLst xmlns:a="http://schemas.openxmlformats.org/drawingml/2006/main">
              <a:ext uri="{FF2B5EF4-FFF2-40B4-BE49-F238E27FC236}">
                <a16:creationId xmlns:a16="http://schemas.microsoft.com/office/drawing/2014/main" id="{DC93FE13-3775-45C7-A640-A5BE43A9EC94}"/>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125" b="0">
                <a:solidFill>
                  <a:srgbClr val="526773"/>
                </a:solidFill>
                <a:latin typeface="Arial"/>
                <a:ea typeface="Arial"/>
                <a:cs typeface="Arial"/>
              </a:rPr>
              <a:t>TOUCH23 · NICE · AP23 · CCIFU · IRRIG26</a:t>
            </a:r>
            <a:endParaRPr/>
          </a:p>
        </p:txBody>
      </p:sp>
      <p:sp>
        <p:nvSpPr>
          <p:cNvPr id="388" name="Google Shape;388;p26">
            <a:extLst xmlns:a="http://schemas.openxmlformats.org/drawingml/2006/main">
              <a:ext uri="{FF2B5EF4-FFF2-40B4-BE49-F238E27FC236}">
                <a16:creationId xmlns:a16="http://schemas.microsoft.com/office/drawing/2014/main" id="{BE421F52-3A65-4F0A-8ACF-D5A112CA6B27}"/>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23</a:t>
            </a:r>
            <a:endParaRPr/>
          </a:p>
        </p:txBody>
      </p:sp>
      <p:sp>
        <p:nvSpPr>
          <p:cNvPr id="389" name="Google Shape;389;p26">
            <a:extLst xmlns:a="http://schemas.openxmlformats.org/drawingml/2006/main">
              <a:ext uri="{FF2B5EF4-FFF2-40B4-BE49-F238E27FC236}">
                <a16:creationId xmlns:a16="http://schemas.microsoft.com/office/drawing/2014/main" id="{4DAFA7B4-B6D6-418E-AC61-1A6DA692A9D6}"/>
              </a:ext>
            </a:extLst>
          </p:cNvPr>
          <p:cNvSpPr>
            <a:spLocks xmlns:a="http://schemas.openxmlformats.org/drawingml/2006/main" noGrp="1"/>
          </p:cNvSpPr>
          <p:nvPr/>
        </p:nvSpPr>
        <p:spPr>
          <a:xfrm xmlns:a="http://schemas.openxmlformats.org/drawingml/2006/main">
            <a:off x="609600" y="1809750"/>
            <a:ext cx="666750" cy="5238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850" b="1">
                <a:solidFill>
                  <a:srgbClr val="147F83"/>
                </a:solidFill>
                <a:latin typeface="Arial"/>
                <a:ea typeface="Arial"/>
                <a:cs typeface="Arial"/>
              </a:rPr>
              <a:t>1</a:t>
            </a:r>
            <a:endParaRPr/>
          </a:p>
        </p:txBody>
      </p:sp>
      <p:sp>
        <p:nvSpPr>
          <p:cNvPr id="390" name="Google Shape;390;p26">
            <a:extLst xmlns:a="http://schemas.openxmlformats.org/drawingml/2006/main">
              <a:ext uri="{FF2B5EF4-FFF2-40B4-BE49-F238E27FC236}">
                <a16:creationId xmlns:a16="http://schemas.microsoft.com/office/drawing/2014/main" id="{9A576C3D-B5EF-45EF-9E7F-F4B23E4C63E6}"/>
              </a:ext>
            </a:extLst>
          </p:cNvPr>
          <p:cNvSpPr>
            <a:spLocks xmlns:a="http://schemas.openxmlformats.org/drawingml/2006/main" noGrp="1"/>
          </p:cNvSpPr>
          <p:nvPr/>
        </p:nvSpPr>
        <p:spPr>
          <a:xfrm xmlns:a="http://schemas.openxmlformats.org/drawingml/2006/main">
            <a:off x="1476375" y="1838325"/>
            <a:ext cx="10096500" cy="8001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250" b="0">
                <a:solidFill>
                  <a:srgbClr val="183343"/>
                </a:solidFill>
                <a:latin typeface="Arial"/>
                <a:ea typeface="Arial"/>
                <a:cs typeface="Arial"/>
              </a:rPr>
              <a:t>Protect the implant until the field is ready</a:t>
            </a:r>
            <a:endParaRPr/>
          </a:p>
        </p:txBody>
      </p:sp>
      <p:sp>
        <p:nvSpPr>
          <p:cNvPr id="391" name="Google Shape;391;p26">
            <a:extLst xmlns:a="http://schemas.openxmlformats.org/drawingml/2006/main">
              <a:ext uri="{FF2B5EF4-FFF2-40B4-BE49-F238E27FC236}">
                <a16:creationId xmlns:a16="http://schemas.microsoft.com/office/drawing/2014/main" id="{1EB2FBAB-3697-4060-9B42-5F9F5CD9F4BF}"/>
              </a:ext>
            </a:extLst>
          </p:cNvPr>
          <p:cNvSpPr>
            <a:spLocks xmlns:a="http://schemas.openxmlformats.org/drawingml/2006/main" noGrp="1"/>
          </p:cNvSpPr>
          <p:nvPr/>
        </p:nvSpPr>
        <p:spPr>
          <a:xfrm xmlns:a="http://schemas.openxmlformats.org/drawingml/2006/main">
            <a:off x="609600" y="2705100"/>
            <a:ext cx="666750" cy="5238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850" b="1">
                <a:solidFill>
                  <a:srgbClr val="147F83"/>
                </a:solidFill>
                <a:latin typeface="Arial"/>
                <a:ea typeface="Arial"/>
                <a:cs typeface="Arial"/>
              </a:rPr>
              <a:t>2</a:t>
            </a:r>
            <a:endParaRPr/>
          </a:p>
        </p:txBody>
      </p:sp>
      <p:sp>
        <p:nvSpPr>
          <p:cNvPr id="392" name="Google Shape;392;p26">
            <a:extLst xmlns:a="http://schemas.openxmlformats.org/drawingml/2006/main">
              <a:ext uri="{FF2B5EF4-FFF2-40B4-BE49-F238E27FC236}">
                <a16:creationId xmlns:a16="http://schemas.microsoft.com/office/drawing/2014/main" id="{03008294-1916-48B0-B735-C6B53D2CA294}"/>
              </a:ext>
            </a:extLst>
          </p:cNvPr>
          <p:cNvSpPr>
            <a:spLocks xmlns:a="http://schemas.openxmlformats.org/drawingml/2006/main" noGrp="1"/>
          </p:cNvSpPr>
          <p:nvPr/>
        </p:nvSpPr>
        <p:spPr>
          <a:xfrm xmlns:a="http://schemas.openxmlformats.org/drawingml/2006/main">
            <a:off x="1476375" y="2733675"/>
            <a:ext cx="10096500" cy="8001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250" b="0">
                <a:solidFill>
                  <a:srgbClr val="183343"/>
                </a:solidFill>
                <a:latin typeface="Arial"/>
                <a:ea typeface="Arial"/>
                <a:cs typeface="Arial"/>
              </a:rPr>
              <a:t>Limit skin contact and unnecessary handling</a:t>
            </a:r>
            <a:endParaRPr/>
          </a:p>
        </p:txBody>
      </p:sp>
      <p:sp>
        <p:nvSpPr>
          <p:cNvPr id="393" name="Google Shape;393;p26">
            <a:extLst xmlns:a="http://schemas.openxmlformats.org/drawingml/2006/main">
              <a:ext uri="{FF2B5EF4-FFF2-40B4-BE49-F238E27FC236}">
                <a16:creationId xmlns:a16="http://schemas.microsoft.com/office/drawing/2014/main" id="{5AB1094B-E2D8-4C36-98C3-CFEBA5165D35}"/>
              </a:ext>
            </a:extLst>
          </p:cNvPr>
          <p:cNvSpPr>
            <a:spLocks xmlns:a="http://schemas.openxmlformats.org/drawingml/2006/main" noGrp="1"/>
          </p:cNvSpPr>
          <p:nvPr/>
        </p:nvSpPr>
        <p:spPr>
          <a:xfrm xmlns:a="http://schemas.openxmlformats.org/drawingml/2006/main">
            <a:off x="609600" y="3600450"/>
            <a:ext cx="666750" cy="5238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850" b="1">
                <a:solidFill>
                  <a:srgbClr val="147F83"/>
                </a:solidFill>
                <a:latin typeface="Arial"/>
                <a:ea typeface="Arial"/>
                <a:cs typeface="Arial"/>
              </a:rPr>
              <a:t>3</a:t>
            </a:r>
            <a:endParaRPr/>
          </a:p>
        </p:txBody>
      </p:sp>
      <p:sp>
        <p:nvSpPr>
          <p:cNvPr id="394" name="Google Shape;394;p26">
            <a:extLst xmlns:a="http://schemas.openxmlformats.org/drawingml/2006/main">
              <a:ext uri="{FF2B5EF4-FFF2-40B4-BE49-F238E27FC236}">
                <a16:creationId xmlns:a16="http://schemas.microsoft.com/office/drawing/2014/main" id="{5F51B04D-3F35-40C8-8F69-60BCCC894E34}"/>
              </a:ext>
            </a:extLst>
          </p:cNvPr>
          <p:cNvSpPr>
            <a:spLocks xmlns:a="http://schemas.openxmlformats.org/drawingml/2006/main" noGrp="1"/>
          </p:cNvSpPr>
          <p:nvPr/>
        </p:nvSpPr>
        <p:spPr>
          <a:xfrm xmlns:a="http://schemas.openxmlformats.org/drawingml/2006/main">
            <a:off x="1476375" y="3629025"/>
            <a:ext cx="10096500" cy="8001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250" b="0">
                <a:solidFill>
                  <a:srgbClr val="183343"/>
                </a:solidFill>
                <a:latin typeface="Arial"/>
                <a:ea typeface="Arial"/>
                <a:cs typeface="Arial"/>
              </a:rPr>
              <a:t>Use fresh sterile gloves and a clean handling pause</a:t>
            </a:r>
            <a:endParaRPr/>
          </a:p>
        </p:txBody>
      </p:sp>
      <p:sp>
        <p:nvSpPr>
          <p:cNvPr id="395" name="Google Shape;395;p26">
            <a:extLst xmlns:a="http://schemas.openxmlformats.org/drawingml/2006/main">
              <a:ext uri="{FF2B5EF4-FFF2-40B4-BE49-F238E27FC236}">
                <a16:creationId xmlns:a16="http://schemas.microsoft.com/office/drawing/2014/main" id="{5F0A5239-878D-49EC-B0C8-49725619D9AC}"/>
              </a:ext>
            </a:extLst>
          </p:cNvPr>
          <p:cNvSpPr>
            <a:spLocks xmlns:a="http://schemas.openxmlformats.org/drawingml/2006/main" noGrp="1"/>
          </p:cNvSpPr>
          <p:nvPr/>
        </p:nvSpPr>
        <p:spPr>
          <a:xfrm xmlns:a="http://schemas.openxmlformats.org/drawingml/2006/main">
            <a:off x="609600" y="4495800"/>
            <a:ext cx="666750" cy="5238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850" b="1">
                <a:solidFill>
                  <a:srgbClr val="147F83"/>
                </a:solidFill>
                <a:latin typeface="Arial"/>
                <a:ea typeface="Arial"/>
                <a:cs typeface="Arial"/>
              </a:rPr>
              <a:t>4</a:t>
            </a:r>
            <a:endParaRPr/>
          </a:p>
        </p:txBody>
      </p:sp>
      <p:sp>
        <p:nvSpPr>
          <p:cNvPr id="396" name="Google Shape;396;p26">
            <a:extLst xmlns:a="http://schemas.openxmlformats.org/drawingml/2006/main">
              <a:ext uri="{FF2B5EF4-FFF2-40B4-BE49-F238E27FC236}">
                <a16:creationId xmlns:a16="http://schemas.microsoft.com/office/drawing/2014/main" id="{9E7D3A50-EFBB-41C8-B285-CF5952AD19D1}"/>
              </a:ext>
            </a:extLst>
          </p:cNvPr>
          <p:cNvSpPr>
            <a:spLocks xmlns:a="http://schemas.openxmlformats.org/drawingml/2006/main" noGrp="1"/>
          </p:cNvSpPr>
          <p:nvPr/>
        </p:nvSpPr>
        <p:spPr>
          <a:xfrm xmlns:a="http://schemas.openxmlformats.org/drawingml/2006/main">
            <a:off x="1476375" y="4524375"/>
            <a:ext cx="10096500" cy="8001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250" b="0">
                <a:solidFill>
                  <a:srgbClr val="183343"/>
                </a:solidFill>
                <a:latin typeface="Arial"/>
                <a:ea typeface="Arial"/>
                <a:cs typeface="Arial"/>
              </a:rPr>
              <a:t>Separate irrigation, device dipping and internal filling</a:t>
            </a:r>
            <a:endParaRPr/>
          </a:p>
        </p:txBody>
      </p:sp>
      <p:sp>
        <p:nvSpPr>
          <p:cNvPr id="397" name="Google Shape;397;p26">
            <a:extLst xmlns:a="http://schemas.openxmlformats.org/drawingml/2006/main">
              <a:ext uri="{FF2B5EF4-FFF2-40B4-BE49-F238E27FC236}">
                <a16:creationId xmlns:a16="http://schemas.microsoft.com/office/drawing/2014/main" id="{1CF769A4-55D7-49A4-B634-D4C451BCEB8A}"/>
              </a:ext>
            </a:extLst>
          </p:cNvPr>
          <p:cNvSpPr>
            <a:spLocks xmlns:a="http://schemas.openxmlformats.org/drawingml/2006/main" noGrp="1"/>
          </p:cNvSpPr>
          <p:nvPr/>
        </p:nvSpPr>
        <p:spPr>
          <a:xfrm xmlns:a="http://schemas.openxmlformats.org/drawingml/2006/main">
            <a:off x="609600" y="5753100"/>
            <a:ext cx="10972800" cy="552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725" b="0">
                <a:solidFill>
                  <a:srgbClr val="526773"/>
                </a:solidFill>
                <a:latin typeface="Arial"/>
                <a:ea typeface="Arial"/>
                <a:cs typeface="Arial"/>
              </a:rPr>
              <a:t>2026 uncoated AMS 800 cohort: 90-day SSI 1/59 with gentamicin versus 2/114 without. Wide uncertainty; no equivalence proof.</a:t>
            </a:r>
            <a:endParaRPr/>
          </a:p>
        </p:txBody>
      </p:sp>
    </p:spTree>
    <p:extLst>
      <p:ext uri="{BB962C8B-B14F-4D97-AF65-F5344CB8AC3E}">
        <p14:creationId xmlns:p14="http://schemas.microsoft.com/office/powerpoint/2010/main" val="1316212800"/>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03" name="Google Shape;403;p27">
            <a:extLst xmlns:a="http://schemas.openxmlformats.org/drawingml/2006/main">
              <a:ext uri="{FF2B5EF4-FFF2-40B4-BE49-F238E27FC236}">
                <a16:creationId xmlns:a16="http://schemas.microsoft.com/office/drawing/2014/main" id="{8CA1F6C5-3B34-4093-A784-4E503948139E}"/>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The pre-implant theatre checklist</a:t>
            </a:r>
            <a:endParaRPr/>
          </a:p>
        </p:txBody>
      </p:sp>
      <p:sp>
        <p:nvSpPr>
          <p:cNvPr id="404" name="Google Shape;404;p27">
            <a:extLst xmlns:a="http://schemas.openxmlformats.org/drawingml/2006/main">
              <a:ext uri="{FF2B5EF4-FFF2-40B4-BE49-F238E27FC236}">
                <a16:creationId xmlns:a16="http://schemas.microsoft.com/office/drawing/2014/main" id="{C06F19E9-57C7-48ED-8EED-0788E71AF7E1}"/>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405" name="Google Shape;405;p27">
            <a:extLst xmlns:a="http://schemas.openxmlformats.org/drawingml/2006/main">
              <a:ext uri="{FF2B5EF4-FFF2-40B4-BE49-F238E27FC236}">
                <a16:creationId xmlns:a16="http://schemas.microsoft.com/office/drawing/2014/main" id="{4A5B670A-61F9-451C-8EB6-EF989BB10C1B}"/>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125" b="0">
                <a:solidFill>
                  <a:srgbClr val="526773"/>
                </a:solidFill>
                <a:latin typeface="Arial"/>
                <a:ea typeface="Arial"/>
                <a:cs typeface="Arial"/>
              </a:rPr>
              <a:t>NICE · BAUS25 · CCIFU · AUAABX20 · IRRIG26</a:t>
            </a:r>
            <a:endParaRPr/>
          </a:p>
        </p:txBody>
      </p:sp>
      <p:sp>
        <p:nvSpPr>
          <p:cNvPr id="406" name="Google Shape;406;p27">
            <a:extLst xmlns:a="http://schemas.openxmlformats.org/drawingml/2006/main">
              <a:ext uri="{FF2B5EF4-FFF2-40B4-BE49-F238E27FC236}">
                <a16:creationId xmlns:a16="http://schemas.microsoft.com/office/drawing/2014/main" id="{E1392E98-ABFA-43C3-A346-9D9D8D57DE47}"/>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24</a:t>
            </a:r>
            <a:endParaRPr/>
          </a:p>
        </p:txBody>
      </p:sp>
      <p:graphicFrame>
        <p:nvGraphicFramePr>
          <p:cNvPr id="412" name="Google Shape;407;p27"/>
          <p:cNvGraphicFramePr/>
          <p:nvPr/>
        </p:nvGraphicFramePr>
        <p:xfrm>
          <a:off xmlns:a="http://schemas.openxmlformats.org/drawingml/2006/main" x="609600" y="1790700"/>
          <a:ext xmlns:a="http://schemas.openxmlformats.org/drawingml/2006/main" cx="3000000" cy="3000000"/>
        </p:xfrm>
        <a:graphic xmlns:a="http://schemas.openxmlformats.org/drawingml/2006/main">
          <a:graphicData uri="http://schemas.openxmlformats.org/drawingml/2006/table">
            <a:tbl>
              <a:tblPr>
                <a:tableStyleId>{0AF7EDE5-490F-44FA-BAEA-A03204E10917}</a:tableStyleId>
              </a:tblPr>
              <a:tblGrid>
                <a:gridCol w="7429500"/>
                <a:gridCol w="3543300"/>
              </a:tblGrid>
              <a:tr h="552450">
                <a:tc>
                  <a:txBody>
                    <a:bodyPr/>
                    <a:lstStyle/>
                    <a:p>
                      <a:pPr marL="0" marR="0" lvl="0" indent="0" algn="l">
                        <a:spcBef>
                          <a:spcPts val="0"/>
                        </a:spcBef>
                        <a:spcAft>
                          <a:spcPts val="0"/>
                        </a:spcAft>
                        <a:buClr>
                          <a:srgbClr val="FFFFFF"/>
                        </a:buClr>
                        <a:buSzPts val="1950"/>
                        <a:buFont typeface="Arial"/>
                        <a:buNone/>
                      </a:pPr>
                      <a:r>
                        <a:rPr sz="1950" b="1">
                          <a:solidFill>
                            <a:srgbClr val="FFFFFF"/>
                          </a:solidFill>
                          <a:latin typeface="Arial"/>
                          <a:ea typeface="Arial"/>
                          <a:cs typeface="Arial"/>
                        </a:rPr>
                        <a:t>Check</a:t>
                      </a:r>
                      <a:endParaRPr/>
                    </a:p>
                  </a:txBody>
                  <a:tcPr marL="133350" marR="133350" marT="95250" marB="76200" anchor="ctr">
                    <a:solidFill>
                      <a:srgbClr val="183343"/>
                    </a:solidFill>
                  </a:tcPr>
                </a:tc>
                <a:tc>
                  <a:txBody>
                    <a:bodyPr/>
                    <a:lstStyle/>
                    <a:p>
                      <a:pPr marL="0" marR="0" lvl="0" indent="0" algn="l">
                        <a:spcBef>
                          <a:spcPts val="0"/>
                        </a:spcBef>
                        <a:spcAft>
                          <a:spcPts val="0"/>
                        </a:spcAft>
                        <a:buClr>
                          <a:srgbClr val="FFFFFF"/>
                        </a:buClr>
                        <a:buSzPts val="1950"/>
                        <a:buFont typeface="Arial"/>
                        <a:buNone/>
                      </a:pPr>
                      <a:r>
                        <a:rPr sz="1950" b="1">
                          <a:solidFill>
                            <a:srgbClr val="FFFFFF"/>
                          </a:solidFill>
                          <a:latin typeface="Arial"/>
                          <a:ea typeface="Arial"/>
                          <a:cs typeface="Arial"/>
                        </a:rPr>
                        <a:t>Basis</a:t>
                      </a:r>
                      <a:endParaRPr/>
                    </a:p>
                  </a:txBody>
                  <a:tcPr marL="133350" marR="133350" marT="95250" marB="76200" anchor="ctr">
                    <a:solidFill>
                      <a:srgbClr val="183343"/>
                    </a:solidFill>
                  </a:tcPr>
                </a:tc>
              </a:tr>
              <a:tr h="670550">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Indication, infection review, prophylaxis and asepsis</a:t>
                      </a:r>
                      <a:endParaRPr/>
                    </a:p>
                  </a:txBody>
                  <a:tcPr marL="133350" marR="133350" marT="95250" marB="76200" anchor="ctr">
                    <a:solidFill>
                      <a:srgbClr val="EEF4F5"/>
                    </a:solidFill>
                  </a:tcPr>
                </a:tc>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Guidance-supported</a:t>
                      </a:r>
                      <a:endParaRPr/>
                    </a:p>
                  </a:txBody>
                  <a:tcPr marL="133350" marR="133350" marT="95250" marB="76200" anchor="ctr">
                    <a:solidFill>
                      <a:srgbClr val="EEF4F5"/>
                    </a:solidFill>
                  </a:tcPr>
                </a:tc>
              </a:tr>
              <a:tr h="670550">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Antiseptic, drying, antibiotic choice and redosing</a:t>
                      </a:r>
                      <a:endParaRPr/>
                    </a:p>
                  </a:txBody>
                  <a:tcPr marL="133350" marR="133350" marT="95250" marB="76200" anchor="ctr">
                    <a:solidFill>
                      <a:srgbClr val="FFFFFF"/>
                    </a:solidFill>
                  </a:tcPr>
                </a:tc>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Product and local policy</a:t>
                      </a:r>
                      <a:endParaRPr/>
                    </a:p>
                  </a:txBody>
                  <a:tcPr marL="133350" marR="133350" marT="95250" marB="76200" anchor="ctr">
                    <a:solidFill>
                      <a:srgbClr val="FFFFFF"/>
                    </a:solidFill>
                  </a:tcPr>
                </a:tc>
              </a:tr>
              <a:tr h="670550">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Model, sizes, pressure, preparation and drainage</a:t>
                      </a:r>
                      <a:endParaRPr/>
                    </a:p>
                  </a:txBody>
                  <a:tcPr marL="133350" marR="133350" marT="95250" marB="76200" anchor="ctr">
                    <a:solidFill>
                      <a:srgbClr val="EEF4F5"/>
                    </a:solidFill>
                  </a:tcPr>
                </a:tc>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Current device instructions and local plan</a:t>
                      </a:r>
                      <a:endParaRPr/>
                    </a:p>
                  </a:txBody>
                  <a:tcPr marL="133350" marR="133350" marT="95250" marB="76200" anchor="ctr">
                    <a:solidFill>
                      <a:srgbClr val="EEF4F5"/>
                    </a:solidFill>
                  </a:tcPr>
                </a:tc>
              </a:tr>
              <a:tr h="670550">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Clean handling pause and contamination response</a:t>
                      </a:r>
                      <a:endParaRPr/>
                    </a:p>
                  </a:txBody>
                  <a:tcPr marL="133350" marR="133350" marT="95250" marB="76200" anchor="ctr">
                    <a:solidFill>
                      <a:srgbClr val="FFFFFF"/>
                    </a:solidFill>
                  </a:tcPr>
                </a:tc>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Expert implementation</a:t>
                      </a:r>
                      <a:endParaRPr/>
                    </a:p>
                  </a:txBody>
                  <a:tcPr marL="133350" marR="133350" marT="95250" marB="76200" anchor="ctr">
                    <a:solidFill>
                      <a:srgbClr val="FFFFFF"/>
                    </a:solidFill>
                  </a:tcPr>
                </a:tc>
              </a:tr>
              <a:tr h="670550">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Fixed 15 minutes, best irrigant, prolonged prophylaxis</a:t>
                      </a:r>
                      <a:endParaRPr/>
                    </a:p>
                  </a:txBody>
                  <a:tcPr marL="133350" marR="133350" marT="95250" marB="76200" anchor="ctr">
                    <a:solidFill>
                      <a:srgbClr val="EEF4F5"/>
                    </a:solidFill>
                  </a:tcPr>
                </a:tc>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Unresolved evidence</a:t>
                      </a:r>
                      <a:endParaRPr/>
                    </a:p>
                  </a:txBody>
                  <a:tcPr marL="133350" marR="133350" marT="95250" marB="76200" anchor="ctr">
                    <a:solidFill>
                      <a:srgbClr val="EEF4F5"/>
                    </a:solidFill>
                  </a:tcPr>
                </a:tc>
              </a:tr>
            </a:tbl>
          </a:graphicData>
        </a:graphic>
      </p:graphicFrame>
    </p:spTree>
    <p:extLst>
      <p:ext uri="{BB962C8B-B14F-4D97-AF65-F5344CB8AC3E}">
        <p14:creationId xmlns:p14="http://schemas.microsoft.com/office/powerpoint/2010/main" val="1318054333"/>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13" name="Google Shape;413;p28">
            <a:extLst xmlns:a="http://schemas.openxmlformats.org/drawingml/2006/main">
              <a:ext uri="{FF2B5EF4-FFF2-40B4-BE49-F238E27FC236}">
                <a16:creationId xmlns:a16="http://schemas.microsoft.com/office/drawing/2014/main" id="{D6E5CF7E-0175-44F1-A6DB-973DFFA3CBA0}"/>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Positioning and exposure</a:t>
            </a:r>
            <a:endParaRPr/>
          </a:p>
        </p:txBody>
      </p:sp>
      <p:sp>
        <p:nvSpPr>
          <p:cNvPr id="414" name="Google Shape;414;p28">
            <a:extLst xmlns:a="http://schemas.openxmlformats.org/drawingml/2006/main">
              <a:ext uri="{FF2B5EF4-FFF2-40B4-BE49-F238E27FC236}">
                <a16:creationId xmlns:a16="http://schemas.microsoft.com/office/drawing/2014/main" id="{33CF9AF7-3C69-473A-B1C5-03D6BEC367B2}"/>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415" name="Google Shape;415;p28">
            <a:extLst xmlns:a="http://schemas.openxmlformats.org/drawingml/2006/main">
              <a:ext uri="{FF2B5EF4-FFF2-40B4-BE49-F238E27FC236}">
                <a16:creationId xmlns:a16="http://schemas.microsoft.com/office/drawing/2014/main" id="{8B64224A-11D9-4903-9645-3D1D2D380457}"/>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125" b="0">
                <a:solidFill>
                  <a:srgbClr val="526773"/>
                </a:solidFill>
                <a:latin typeface="Arial"/>
                <a:ea typeface="Arial"/>
                <a:cs typeface="Arial"/>
              </a:rPr>
              <a:t>AUA24 · ICS16 · AP23</a:t>
            </a:r>
            <a:endParaRPr/>
          </a:p>
        </p:txBody>
      </p:sp>
      <p:sp>
        <p:nvSpPr>
          <p:cNvPr id="416" name="Google Shape;416;p28">
            <a:extLst xmlns:a="http://schemas.openxmlformats.org/drawingml/2006/main">
              <a:ext uri="{FF2B5EF4-FFF2-40B4-BE49-F238E27FC236}">
                <a16:creationId xmlns:a16="http://schemas.microsoft.com/office/drawing/2014/main" id="{D8E3A421-75BB-4647-A36C-F2991F35EE97}"/>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25</a:t>
            </a:r>
            <a:endParaRPr/>
          </a:p>
        </p:txBody>
      </p:sp>
      <p:pic>
        <p:nvPicPr>
          <p:cNvPr id="429" name="Google Shape;417;p28"/>
          <p:cNvPicPr>
            <a:picLocks xmlns:a="http://schemas.openxmlformats.org/drawingml/2006/main" noChangeAspect="1"/>
          </p:cNvPicPr>
          <p:nvPr/>
        </p:nvPicPr>
        <p:blipFill rotWithShape="1">
          <a:blip xmlns:r="http://schemas.openxmlformats.org/officeDocument/2006/relationships" xmlns:a="http://schemas.openxmlformats.org/drawingml/2006/main" r:embed="R0a440d50116b444a">
            <a:alphaModFix/>
          </a:blip>
          <a:srcRect xmlns:a="http://schemas.openxmlformats.org/drawingml/2006/main" l="0" t="0" r="0" b="0"/>
          <a:stretch xmlns:a="http://schemas.openxmlformats.org/drawingml/2006/main"/>
        </p:blipFill>
        <p:spPr>
          <a:xfrm xmlns:a="http://schemas.openxmlformats.org/drawingml/2006/main">
            <a:off x="609600" y="2179261"/>
            <a:ext cx="6477000" cy="2670928"/>
          </a:xfrm>
          <a:prstGeom xmlns:a="http://schemas.openxmlformats.org/drawingml/2006/main" prst="rect">
            <a:avLst/>
          </a:prstGeom>
          <a:ln xmlns:a="http://schemas.openxmlformats.org/drawingml/2006/main">
            <a:noFill/>
          </a:ln>
        </p:spPr>
      </p:pic>
      <p:sp>
        <p:nvSpPr>
          <p:cNvPr id="418" name="Google Shape;418;p28">
            <a:extLst xmlns:a="http://schemas.openxmlformats.org/drawingml/2006/main">
              <a:ext uri="{FF2B5EF4-FFF2-40B4-BE49-F238E27FC236}">
                <a16:creationId xmlns:a16="http://schemas.microsoft.com/office/drawing/2014/main" id="{164DA13C-40AB-4A7A-9126-5779D876D5D8}"/>
              </a:ext>
            </a:extLst>
          </p:cNvPr>
          <p:cNvSpPr>
            <a:spLocks xmlns:a="http://schemas.openxmlformats.org/drawingml/2006/main" noGrp="1"/>
          </p:cNvSpPr>
          <p:nvPr/>
        </p:nvSpPr>
        <p:spPr>
          <a:xfrm xmlns:a="http://schemas.openxmlformats.org/drawingml/2006/main">
            <a:off x="7505700" y="1809750"/>
            <a:ext cx="40767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75" b="1">
                <a:solidFill>
                  <a:srgbClr val="147F83"/>
                </a:solidFill>
                <a:latin typeface="Arial"/>
                <a:ea typeface="Arial"/>
                <a:cs typeface="Arial"/>
              </a:rPr>
              <a:t>The access plan</a:t>
            </a:r>
            <a:endParaRPr/>
          </a:p>
        </p:txBody>
      </p:sp>
      <p:sp>
        <p:nvSpPr>
          <p:cNvPr id="419" name="Google Shape;419;p28">
            <a:extLst xmlns:a="http://schemas.openxmlformats.org/drawingml/2006/main">
              <a:ext uri="{FF2B5EF4-FFF2-40B4-BE49-F238E27FC236}">
                <a16:creationId xmlns:a16="http://schemas.microsoft.com/office/drawing/2014/main" id="{0206539C-FD97-40AB-B83A-959AB089E573}"/>
              </a:ext>
            </a:extLst>
          </p:cNvPr>
          <p:cNvSpPr>
            <a:spLocks xmlns:a="http://schemas.openxmlformats.org/drawingml/2006/main" noGrp="1"/>
          </p:cNvSpPr>
          <p:nvPr/>
        </p:nvSpPr>
        <p:spPr>
          <a:xfrm xmlns:a="http://schemas.openxmlformats.org/drawingml/2006/main">
            <a:off x="7505700" y="2419350"/>
            <a:ext cx="4076700" cy="647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025" b="0">
                <a:solidFill>
                  <a:srgbClr val="183343"/>
                </a:solidFill>
                <a:latin typeface="Arial"/>
                <a:ea typeface="Arial"/>
                <a:cs typeface="Arial"/>
              </a:rPr>
              <a:t>Respect hip mobility and protect pressure points</a:t>
            </a:r>
            <a:endParaRPr/>
          </a:p>
        </p:txBody>
      </p:sp>
      <p:sp>
        <p:nvSpPr>
          <p:cNvPr id="420" name="Google Shape;420;p28">
            <a:extLst xmlns:a="http://schemas.openxmlformats.org/drawingml/2006/main">
              <a:ext uri="{FF2B5EF4-FFF2-40B4-BE49-F238E27FC236}">
                <a16:creationId xmlns:a16="http://schemas.microsoft.com/office/drawing/2014/main" id="{70741B21-B5A6-40D8-B085-41B34F34644E}"/>
              </a:ext>
            </a:extLst>
          </p:cNvPr>
          <p:cNvSpPr>
            <a:spLocks xmlns:a="http://schemas.openxmlformats.org/drawingml/2006/main" noGrp="1"/>
          </p:cNvSpPr>
          <p:nvPr/>
        </p:nvSpPr>
        <p:spPr>
          <a:xfrm xmlns:a="http://schemas.openxmlformats.org/drawingml/2006/main">
            <a:off x="7505700" y="3181350"/>
            <a:ext cx="4076700" cy="647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025" b="0">
                <a:solidFill>
                  <a:srgbClr val="183343"/>
                </a:solidFill>
                <a:latin typeface="Arial"/>
                <a:ea typeface="Arial"/>
                <a:cs typeface="Arial"/>
              </a:rPr>
              <a:t>Plan perineal, abdominal and pump access together</a:t>
            </a:r>
            <a:endParaRPr/>
          </a:p>
        </p:txBody>
      </p:sp>
      <p:sp>
        <p:nvSpPr>
          <p:cNvPr id="421" name="Google Shape;421;p28">
            <a:extLst xmlns:a="http://schemas.openxmlformats.org/drawingml/2006/main">
              <a:ext uri="{FF2B5EF4-FFF2-40B4-BE49-F238E27FC236}">
                <a16:creationId xmlns:a16="http://schemas.microsoft.com/office/drawing/2014/main" id="{02DE75CF-BA08-49F9-BEE3-1FEAE854BAAA}"/>
              </a:ext>
            </a:extLst>
          </p:cNvPr>
          <p:cNvSpPr>
            <a:spLocks xmlns:a="http://schemas.openxmlformats.org/drawingml/2006/main" noGrp="1"/>
          </p:cNvSpPr>
          <p:nvPr/>
        </p:nvSpPr>
        <p:spPr>
          <a:xfrm xmlns:a="http://schemas.openxmlformats.org/drawingml/2006/main">
            <a:off x="7505700" y="3943350"/>
            <a:ext cx="4076700" cy="647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025" b="0">
                <a:solidFill>
                  <a:srgbClr val="183343"/>
                </a:solidFill>
                <a:latin typeface="Arial"/>
                <a:ea typeface="Arial"/>
                <a:cs typeface="Arial"/>
              </a:rPr>
              <a:t>Review scars, mesh, previous devices and repairs</a:t>
            </a:r>
            <a:endParaRPr/>
          </a:p>
        </p:txBody>
      </p:sp>
      <p:sp>
        <p:nvSpPr>
          <p:cNvPr id="422" name="Google Shape;422;p28">
            <a:extLst xmlns:a="http://schemas.openxmlformats.org/drawingml/2006/main">
              <a:ext uri="{FF2B5EF4-FFF2-40B4-BE49-F238E27FC236}">
                <a16:creationId xmlns:a16="http://schemas.microsoft.com/office/drawing/2014/main" id="{8EB4ABD0-C7E9-40FD-A15D-E5030BF9E850}"/>
              </a:ext>
            </a:extLst>
          </p:cNvPr>
          <p:cNvSpPr>
            <a:spLocks xmlns:a="http://schemas.openxmlformats.org/drawingml/2006/main" noGrp="1"/>
          </p:cNvSpPr>
          <p:nvPr/>
        </p:nvSpPr>
        <p:spPr>
          <a:xfrm xmlns:a="http://schemas.openxmlformats.org/drawingml/2006/main">
            <a:off x="7505700" y="4705350"/>
            <a:ext cx="4076700" cy="647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025" b="0">
                <a:solidFill>
                  <a:srgbClr val="183343"/>
                </a:solidFill>
                <a:latin typeface="Arial"/>
                <a:ea typeface="Arial"/>
                <a:cs typeface="Arial"/>
              </a:rPr>
              <a:t>Improve limited exposure before further dissection</a:t>
            </a:r>
            <a:endParaRPr/>
          </a:p>
        </p:txBody>
      </p:sp>
      <p:sp>
        <p:nvSpPr>
          <p:cNvPr id="423" name="Google Shape;423;p28">
            <a:extLst xmlns:a="http://schemas.openxmlformats.org/drawingml/2006/main">
              <a:ext uri="{FF2B5EF4-FFF2-40B4-BE49-F238E27FC236}">
                <a16:creationId xmlns:a16="http://schemas.microsoft.com/office/drawing/2014/main" id="{17CA8218-A5B8-4CDD-8507-21E46A3885B7}"/>
              </a:ext>
            </a:extLst>
          </p:cNvPr>
          <p:cNvSpPr>
            <a:spLocks xmlns:a="http://schemas.openxmlformats.org/drawingml/2006/main" noGrp="1"/>
          </p:cNvSpPr>
          <p:nvPr/>
        </p:nvSpPr>
        <p:spPr>
          <a:xfrm xmlns:a="http://schemas.openxmlformats.org/drawingml/2006/main">
            <a:off x="609600" y="5353050"/>
            <a:ext cx="666750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350" b="0">
                <a:solidFill>
                  <a:srgbClr val="526773"/>
                </a:solidFill>
                <a:latin typeface="Arial"/>
                <a:ea typeface="Arial"/>
                <a:cs typeface="Arial"/>
              </a:rPr>
              <a:t>UroOps 3D teaching schematic. Clinical review pending.</a:t>
            </a:r>
            <a:endParaRPr/>
          </a:p>
        </p:txBody>
      </p:sp>
    </p:spTree>
    <p:extLst>
      <p:ext uri="{BB962C8B-B14F-4D97-AF65-F5344CB8AC3E}">
        <p14:creationId xmlns:p14="http://schemas.microsoft.com/office/powerpoint/2010/main" val="1039919481"/>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29" name="Google Shape;429;p29">
            <a:extLst xmlns:a="http://schemas.openxmlformats.org/drawingml/2006/main">
              <a:ext uri="{FF2B5EF4-FFF2-40B4-BE49-F238E27FC236}">
                <a16:creationId xmlns:a16="http://schemas.microsoft.com/office/drawing/2014/main" id="{38FE3B8E-2D84-4AEB-AA7A-0B16C2592163}"/>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Bulbar dissection and tissue preservation</a:t>
            </a:r>
            <a:endParaRPr/>
          </a:p>
        </p:txBody>
      </p:sp>
      <p:sp>
        <p:nvSpPr>
          <p:cNvPr id="430" name="Google Shape;430;p29">
            <a:extLst xmlns:a="http://schemas.openxmlformats.org/drawingml/2006/main">
              <a:ext uri="{FF2B5EF4-FFF2-40B4-BE49-F238E27FC236}">
                <a16:creationId xmlns:a16="http://schemas.microsoft.com/office/drawing/2014/main" id="{C5A9169D-BBB9-47CE-8D69-EC6B1F97D3FD}"/>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431" name="Google Shape;431;p29">
            <a:extLst xmlns:a="http://schemas.openxmlformats.org/drawingml/2006/main">
              <a:ext uri="{FF2B5EF4-FFF2-40B4-BE49-F238E27FC236}">
                <a16:creationId xmlns:a16="http://schemas.microsoft.com/office/drawing/2014/main" id="{B2D622FC-5834-4B2C-A157-F86045CB9C92}"/>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125" b="0">
                <a:solidFill>
                  <a:srgbClr val="526773"/>
                </a:solidFill>
                <a:latin typeface="Arial"/>
                <a:ea typeface="Arial"/>
                <a:cs typeface="Arial"/>
              </a:rPr>
              <a:t>ICS16 · AP23 · CCIFU · URETH26</a:t>
            </a:r>
            <a:endParaRPr/>
          </a:p>
        </p:txBody>
      </p:sp>
      <p:sp>
        <p:nvSpPr>
          <p:cNvPr id="432" name="Google Shape;432;p29">
            <a:extLst xmlns:a="http://schemas.openxmlformats.org/drawingml/2006/main">
              <a:ext uri="{FF2B5EF4-FFF2-40B4-BE49-F238E27FC236}">
                <a16:creationId xmlns:a16="http://schemas.microsoft.com/office/drawing/2014/main" id="{60C0D270-5EC3-437B-8DA5-4CFE6FA0EFF0}"/>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26</a:t>
            </a:r>
            <a:endParaRPr/>
          </a:p>
        </p:txBody>
      </p:sp>
      <p:pic>
        <p:nvPicPr>
          <p:cNvPr id="445" name="Google Shape;433;p29"/>
          <p:cNvPicPr>
            <a:picLocks xmlns:a="http://schemas.openxmlformats.org/drawingml/2006/main" noChangeAspect="1"/>
          </p:cNvPicPr>
          <p:nvPr/>
        </p:nvPicPr>
        <p:blipFill rotWithShape="1">
          <a:blip xmlns:r="http://schemas.openxmlformats.org/officeDocument/2006/relationships" xmlns:a="http://schemas.openxmlformats.org/drawingml/2006/main" r:embed="R498b90db5ea14efe">
            <a:alphaModFix/>
          </a:blip>
          <a:srcRect xmlns:a="http://schemas.openxmlformats.org/drawingml/2006/main" l="0" t="0" r="0" b="0"/>
          <a:stretch xmlns:a="http://schemas.openxmlformats.org/drawingml/2006/main"/>
        </p:blipFill>
        <p:spPr>
          <a:xfrm xmlns:a="http://schemas.openxmlformats.org/drawingml/2006/main">
            <a:off x="609600" y="2179261"/>
            <a:ext cx="6477000" cy="2670928"/>
          </a:xfrm>
          <a:prstGeom xmlns:a="http://schemas.openxmlformats.org/drawingml/2006/main" prst="rect">
            <a:avLst/>
          </a:prstGeom>
          <a:ln xmlns:a="http://schemas.openxmlformats.org/drawingml/2006/main">
            <a:noFill/>
          </a:ln>
        </p:spPr>
      </p:pic>
      <p:sp>
        <p:nvSpPr>
          <p:cNvPr id="434" name="Google Shape;434;p29">
            <a:extLst xmlns:a="http://schemas.openxmlformats.org/drawingml/2006/main">
              <a:ext uri="{FF2B5EF4-FFF2-40B4-BE49-F238E27FC236}">
                <a16:creationId xmlns:a16="http://schemas.microsoft.com/office/drawing/2014/main" id="{996335CC-5417-47BF-9535-373CC8FCFC14}"/>
              </a:ext>
            </a:extLst>
          </p:cNvPr>
          <p:cNvSpPr>
            <a:spLocks xmlns:a="http://schemas.openxmlformats.org/drawingml/2006/main" noGrp="1"/>
          </p:cNvSpPr>
          <p:nvPr/>
        </p:nvSpPr>
        <p:spPr>
          <a:xfrm xmlns:a="http://schemas.openxmlformats.org/drawingml/2006/main">
            <a:off x="7505700" y="1809750"/>
            <a:ext cx="40767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75" b="1">
                <a:solidFill>
                  <a:srgbClr val="147F83"/>
                </a:solidFill>
                <a:latin typeface="Arial"/>
                <a:ea typeface="Arial"/>
                <a:cs typeface="Arial"/>
              </a:rPr>
              <a:t>The cuff-bearing segment</a:t>
            </a:r>
            <a:endParaRPr/>
          </a:p>
        </p:txBody>
      </p:sp>
      <p:sp>
        <p:nvSpPr>
          <p:cNvPr id="435" name="Google Shape;435;p29">
            <a:extLst xmlns:a="http://schemas.openxmlformats.org/drawingml/2006/main">
              <a:ext uri="{FF2B5EF4-FFF2-40B4-BE49-F238E27FC236}">
                <a16:creationId xmlns:a16="http://schemas.microsoft.com/office/drawing/2014/main" id="{6D0D3D38-DB26-46E6-B298-30C9938D570C}"/>
              </a:ext>
            </a:extLst>
          </p:cNvPr>
          <p:cNvSpPr>
            <a:spLocks xmlns:a="http://schemas.openxmlformats.org/drawingml/2006/main" noGrp="1"/>
          </p:cNvSpPr>
          <p:nvPr/>
        </p:nvSpPr>
        <p:spPr>
          <a:xfrm xmlns:a="http://schemas.openxmlformats.org/drawingml/2006/main">
            <a:off x="7505700" y="2419350"/>
            <a:ext cx="4076700" cy="647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025" b="0">
                <a:solidFill>
                  <a:srgbClr val="183343"/>
                </a:solidFill>
                <a:latin typeface="Arial"/>
                <a:ea typeface="Arial"/>
                <a:cs typeface="Arial"/>
              </a:rPr>
              <a:t>Viable tissue with adequate spongiosal support</a:t>
            </a:r>
            <a:endParaRPr/>
          </a:p>
        </p:txBody>
      </p:sp>
      <p:sp>
        <p:nvSpPr>
          <p:cNvPr id="436" name="Google Shape;436;p29">
            <a:extLst xmlns:a="http://schemas.openxmlformats.org/drawingml/2006/main">
              <a:ext uri="{FF2B5EF4-FFF2-40B4-BE49-F238E27FC236}">
                <a16:creationId xmlns:a16="http://schemas.microsoft.com/office/drawing/2014/main" id="{6FD545B7-434B-4F5D-A155-682B1139DCCB}"/>
              </a:ext>
            </a:extLst>
          </p:cNvPr>
          <p:cNvSpPr>
            <a:spLocks xmlns:a="http://schemas.openxmlformats.org/drawingml/2006/main" noGrp="1"/>
          </p:cNvSpPr>
          <p:nvPr/>
        </p:nvSpPr>
        <p:spPr>
          <a:xfrm xmlns:a="http://schemas.openxmlformats.org/drawingml/2006/main">
            <a:off x="7505700" y="3181350"/>
            <a:ext cx="4076700" cy="647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025" b="0">
                <a:solidFill>
                  <a:srgbClr val="183343"/>
                </a:solidFill>
                <a:latin typeface="Arial"/>
                <a:ea typeface="Arial"/>
                <a:cs typeface="Arial"/>
              </a:rPr>
              <a:t>Dorsal dissection under direct control</a:t>
            </a:r>
            <a:endParaRPr/>
          </a:p>
        </p:txBody>
      </p:sp>
      <p:sp>
        <p:nvSpPr>
          <p:cNvPr id="437" name="Google Shape;437;p29">
            <a:extLst xmlns:a="http://schemas.openxmlformats.org/drawingml/2006/main">
              <a:ext uri="{FF2B5EF4-FFF2-40B4-BE49-F238E27FC236}">
                <a16:creationId xmlns:a16="http://schemas.microsoft.com/office/drawing/2014/main" id="{4C20508B-D3C1-478C-A24A-ED8BBD7D9CBC}"/>
              </a:ext>
            </a:extLst>
          </p:cNvPr>
          <p:cNvSpPr>
            <a:spLocks xmlns:a="http://schemas.openxmlformats.org/drawingml/2006/main" noGrp="1"/>
          </p:cNvSpPr>
          <p:nvPr/>
        </p:nvSpPr>
        <p:spPr>
          <a:xfrm xmlns:a="http://schemas.openxmlformats.org/drawingml/2006/main">
            <a:off x="7505700" y="3943350"/>
            <a:ext cx="4076700" cy="647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025" b="0">
                <a:solidFill>
                  <a:srgbClr val="183343"/>
                </a:solidFill>
                <a:latin typeface="Arial"/>
                <a:ea typeface="Arial"/>
                <a:cs typeface="Arial"/>
              </a:rPr>
              <a:t>Mobilisation limited to the required length</a:t>
            </a:r>
            <a:endParaRPr/>
          </a:p>
        </p:txBody>
      </p:sp>
      <p:sp>
        <p:nvSpPr>
          <p:cNvPr id="438" name="Google Shape;438;p29">
            <a:extLst xmlns:a="http://schemas.openxmlformats.org/drawingml/2006/main">
              <a:ext uri="{FF2B5EF4-FFF2-40B4-BE49-F238E27FC236}">
                <a16:creationId xmlns:a16="http://schemas.microsoft.com/office/drawing/2014/main" id="{254D98E3-AA75-4272-9F73-7094019D5CDC}"/>
              </a:ext>
            </a:extLst>
          </p:cNvPr>
          <p:cNvSpPr>
            <a:spLocks xmlns:a="http://schemas.openxmlformats.org/drawingml/2006/main" noGrp="1"/>
          </p:cNvSpPr>
          <p:nvPr/>
        </p:nvSpPr>
        <p:spPr>
          <a:xfrm xmlns:a="http://schemas.openxmlformats.org/drawingml/2006/main">
            <a:off x="7505700" y="4705350"/>
            <a:ext cx="4076700" cy="647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025" b="0">
                <a:solidFill>
                  <a:srgbClr val="183343"/>
                </a:solidFill>
                <a:latin typeface="Arial"/>
                <a:ea typeface="Arial"/>
                <a:cs typeface="Arial"/>
              </a:rPr>
              <a:t>Uncertain plane or integrity prompts reassessment</a:t>
            </a:r>
            <a:endParaRPr/>
          </a:p>
        </p:txBody>
      </p:sp>
      <p:sp>
        <p:nvSpPr>
          <p:cNvPr id="439" name="Google Shape;439;p29">
            <a:extLst xmlns:a="http://schemas.openxmlformats.org/drawingml/2006/main">
              <a:ext uri="{FF2B5EF4-FFF2-40B4-BE49-F238E27FC236}">
                <a16:creationId xmlns:a16="http://schemas.microsoft.com/office/drawing/2014/main" id="{45E2AE94-FC64-45CF-B486-54A4BFE869F0}"/>
              </a:ext>
            </a:extLst>
          </p:cNvPr>
          <p:cNvSpPr>
            <a:spLocks xmlns:a="http://schemas.openxmlformats.org/drawingml/2006/main" noGrp="1"/>
          </p:cNvSpPr>
          <p:nvPr/>
        </p:nvSpPr>
        <p:spPr>
          <a:xfrm xmlns:a="http://schemas.openxmlformats.org/drawingml/2006/main">
            <a:off x="609600" y="5353050"/>
            <a:ext cx="666750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350" b="0">
                <a:solidFill>
                  <a:srgbClr val="526773"/>
                </a:solidFill>
                <a:latin typeface="Arial"/>
                <a:ea typeface="Arial"/>
                <a:cs typeface="Arial"/>
              </a:rPr>
              <a:t>UroOps 3D teaching schematic. Clinical review pending.</a:t>
            </a:r>
            <a:endParaRPr/>
          </a:p>
        </p:txBody>
      </p:sp>
    </p:spTree>
    <p:extLst>
      <p:ext uri="{BB962C8B-B14F-4D97-AF65-F5344CB8AC3E}">
        <p14:creationId xmlns:p14="http://schemas.microsoft.com/office/powerpoint/2010/main" val="1021479070"/>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45" name="Google Shape;445;p30">
            <a:extLst xmlns:a="http://schemas.openxmlformats.org/drawingml/2006/main">
              <a:ext uri="{FF2B5EF4-FFF2-40B4-BE49-F238E27FC236}">
                <a16:creationId xmlns:a16="http://schemas.microsoft.com/office/drawing/2014/main" id="{75607064-1407-43CC-9C6A-1E5441DF3F20}"/>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Cuff measurement and fit</a:t>
            </a:r>
            <a:endParaRPr/>
          </a:p>
        </p:txBody>
      </p:sp>
      <p:sp>
        <p:nvSpPr>
          <p:cNvPr id="446" name="Google Shape;446;p30">
            <a:extLst xmlns:a="http://schemas.openxmlformats.org/drawingml/2006/main">
              <a:ext uri="{FF2B5EF4-FFF2-40B4-BE49-F238E27FC236}">
                <a16:creationId xmlns:a16="http://schemas.microsoft.com/office/drawing/2014/main" id="{B2AFE15C-370E-4C7A-A99F-17D33C21BE88}"/>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447" name="Google Shape;447;p30">
            <a:extLst xmlns:a="http://schemas.openxmlformats.org/drawingml/2006/main">
              <a:ext uri="{FF2B5EF4-FFF2-40B4-BE49-F238E27FC236}">
                <a16:creationId xmlns:a16="http://schemas.microsoft.com/office/drawing/2014/main" id="{EB39C91C-9019-4D0D-A70B-2CEFB7C4450B}"/>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125" b="0">
                <a:solidFill>
                  <a:srgbClr val="526773"/>
                </a:solidFill>
                <a:latin typeface="Arial"/>
                <a:ea typeface="Arial"/>
                <a:cs typeface="Arial"/>
              </a:rPr>
              <a:t>ICS16 · CCIFU · CCSAFETY · AP23</a:t>
            </a:r>
            <a:endParaRPr/>
          </a:p>
        </p:txBody>
      </p:sp>
      <p:sp>
        <p:nvSpPr>
          <p:cNvPr id="448" name="Google Shape;448;p30">
            <a:extLst xmlns:a="http://schemas.openxmlformats.org/drawingml/2006/main">
              <a:ext uri="{FF2B5EF4-FFF2-40B4-BE49-F238E27FC236}">
                <a16:creationId xmlns:a16="http://schemas.microsoft.com/office/drawing/2014/main" id="{072EDBC4-39E1-4C86-8BFC-BC899E80894A}"/>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27</a:t>
            </a:r>
            <a:endParaRPr/>
          </a:p>
        </p:txBody>
      </p:sp>
      <p:pic>
        <p:nvPicPr>
          <p:cNvPr id="461" name="Google Shape;449;p30"/>
          <p:cNvPicPr>
            <a:picLocks xmlns:a="http://schemas.openxmlformats.org/drawingml/2006/main" noChangeAspect="1"/>
          </p:cNvPicPr>
          <p:nvPr/>
        </p:nvPicPr>
        <p:blipFill rotWithShape="1">
          <a:blip xmlns:r="http://schemas.openxmlformats.org/officeDocument/2006/relationships" xmlns:a="http://schemas.openxmlformats.org/drawingml/2006/main" r:embed="Red82c222ed294b0a">
            <a:alphaModFix/>
          </a:blip>
          <a:srcRect xmlns:a="http://schemas.openxmlformats.org/drawingml/2006/main" l="0" t="0" r="0" b="0"/>
          <a:stretch xmlns:a="http://schemas.openxmlformats.org/drawingml/2006/main"/>
        </p:blipFill>
        <p:spPr>
          <a:xfrm xmlns:a="http://schemas.openxmlformats.org/drawingml/2006/main">
            <a:off x="817033" y="1809750"/>
            <a:ext cx="6062133" cy="3409950"/>
          </a:xfrm>
          <a:prstGeom xmlns:a="http://schemas.openxmlformats.org/drawingml/2006/main" prst="rect">
            <a:avLst/>
          </a:prstGeom>
          <a:ln xmlns:a="http://schemas.openxmlformats.org/drawingml/2006/main">
            <a:noFill/>
          </a:ln>
        </p:spPr>
      </p:pic>
      <p:sp>
        <p:nvSpPr>
          <p:cNvPr id="450" name="Google Shape;450;p30">
            <a:extLst xmlns:a="http://schemas.openxmlformats.org/drawingml/2006/main">
              <a:ext uri="{FF2B5EF4-FFF2-40B4-BE49-F238E27FC236}">
                <a16:creationId xmlns:a16="http://schemas.microsoft.com/office/drawing/2014/main" id="{EA703599-7DE4-40FD-B6F7-041B410DC871}"/>
              </a:ext>
            </a:extLst>
          </p:cNvPr>
          <p:cNvSpPr>
            <a:spLocks xmlns:a="http://schemas.openxmlformats.org/drawingml/2006/main" noGrp="1"/>
          </p:cNvSpPr>
          <p:nvPr/>
        </p:nvSpPr>
        <p:spPr>
          <a:xfrm xmlns:a="http://schemas.openxmlformats.org/drawingml/2006/main">
            <a:off x="7505700" y="1809750"/>
            <a:ext cx="40767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75" b="1">
                <a:solidFill>
                  <a:srgbClr val="147F83"/>
                </a:solidFill>
                <a:latin typeface="Arial"/>
                <a:ea typeface="Arial"/>
                <a:cs typeface="Arial"/>
              </a:rPr>
              <a:t>Sizing errors</a:t>
            </a:r>
            <a:endParaRPr/>
          </a:p>
        </p:txBody>
      </p:sp>
      <p:sp>
        <p:nvSpPr>
          <p:cNvPr id="451" name="Google Shape;451;p30">
            <a:extLst xmlns:a="http://schemas.openxmlformats.org/drawingml/2006/main">
              <a:ext uri="{FF2B5EF4-FFF2-40B4-BE49-F238E27FC236}">
                <a16:creationId xmlns:a16="http://schemas.microsoft.com/office/drawing/2014/main" id="{24844A3A-12DC-420A-84BC-E160A1707E60}"/>
              </a:ext>
            </a:extLst>
          </p:cNvPr>
          <p:cNvSpPr>
            <a:spLocks xmlns:a="http://schemas.openxmlformats.org/drawingml/2006/main" noGrp="1"/>
          </p:cNvSpPr>
          <p:nvPr/>
        </p:nvSpPr>
        <p:spPr>
          <a:xfrm xmlns:a="http://schemas.openxmlformats.org/drawingml/2006/main">
            <a:off x="7505700" y="2419350"/>
            <a:ext cx="4076700" cy="647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025" b="0">
                <a:solidFill>
                  <a:srgbClr val="183343"/>
                </a:solidFill>
                <a:latin typeface="Arial"/>
                <a:ea typeface="Arial"/>
                <a:cs typeface="Arial"/>
              </a:rPr>
              <a:t>Release traction and artificial compression</a:t>
            </a:r>
            <a:endParaRPr/>
          </a:p>
        </p:txBody>
      </p:sp>
      <p:sp>
        <p:nvSpPr>
          <p:cNvPr id="452" name="Google Shape;452;p30">
            <a:extLst xmlns:a="http://schemas.openxmlformats.org/drawingml/2006/main">
              <a:ext uri="{FF2B5EF4-FFF2-40B4-BE49-F238E27FC236}">
                <a16:creationId xmlns:a16="http://schemas.microsoft.com/office/drawing/2014/main" id="{114E1406-887A-49CC-A8C5-1AF7D3712B55}"/>
              </a:ext>
            </a:extLst>
          </p:cNvPr>
          <p:cNvSpPr>
            <a:spLocks xmlns:a="http://schemas.openxmlformats.org/drawingml/2006/main" noGrp="1"/>
          </p:cNvSpPr>
          <p:nvPr/>
        </p:nvSpPr>
        <p:spPr>
          <a:xfrm xmlns:a="http://schemas.openxmlformats.org/drawingml/2006/main">
            <a:off x="7505700" y="3181350"/>
            <a:ext cx="4076700" cy="647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025" b="0">
                <a:solidFill>
                  <a:srgbClr val="183343"/>
                </a:solidFill>
                <a:latin typeface="Arial"/>
                <a:ea typeface="Arial"/>
                <a:cs typeface="Arial"/>
              </a:rPr>
              <a:t>Confirm which tissue the cuff will enclose</a:t>
            </a:r>
            <a:endParaRPr/>
          </a:p>
        </p:txBody>
      </p:sp>
      <p:sp>
        <p:nvSpPr>
          <p:cNvPr id="453" name="Google Shape;453;p30">
            <a:extLst xmlns:a="http://schemas.openxmlformats.org/drawingml/2006/main">
              <a:ext uri="{FF2B5EF4-FFF2-40B4-BE49-F238E27FC236}">
                <a16:creationId xmlns:a16="http://schemas.microsoft.com/office/drawing/2014/main" id="{0EBCE52F-7F16-453C-8708-8A0458A33DB1}"/>
              </a:ext>
            </a:extLst>
          </p:cNvPr>
          <p:cNvSpPr>
            <a:spLocks xmlns:a="http://schemas.openxmlformats.org/drawingml/2006/main" noGrp="1"/>
          </p:cNvSpPr>
          <p:nvPr/>
        </p:nvSpPr>
        <p:spPr>
          <a:xfrm xmlns:a="http://schemas.openxmlformats.org/drawingml/2006/main">
            <a:off x="7505700" y="3943350"/>
            <a:ext cx="4076700" cy="647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025" b="0">
                <a:solidFill>
                  <a:srgbClr val="183343"/>
                </a:solidFill>
                <a:latin typeface="Arial"/>
                <a:ea typeface="Arial"/>
                <a:cs typeface="Arial"/>
              </a:rPr>
              <a:t>Use the exact system’s supplied sizing method</a:t>
            </a:r>
            <a:endParaRPr/>
          </a:p>
        </p:txBody>
      </p:sp>
      <p:sp>
        <p:nvSpPr>
          <p:cNvPr id="454" name="Google Shape;454;p30">
            <a:extLst xmlns:a="http://schemas.openxmlformats.org/drawingml/2006/main">
              <a:ext uri="{FF2B5EF4-FFF2-40B4-BE49-F238E27FC236}">
                <a16:creationId xmlns:a16="http://schemas.microsoft.com/office/drawing/2014/main" id="{D4FC9842-ACFA-4875-9121-FE6D8CFE9AB8}"/>
              </a:ext>
            </a:extLst>
          </p:cNvPr>
          <p:cNvSpPr>
            <a:spLocks xmlns:a="http://schemas.openxmlformats.org/drawingml/2006/main" noGrp="1"/>
          </p:cNvSpPr>
          <p:nvPr/>
        </p:nvSpPr>
        <p:spPr>
          <a:xfrm xmlns:a="http://schemas.openxmlformats.org/drawingml/2006/main">
            <a:off x="7505700" y="4705350"/>
            <a:ext cx="4076700" cy="647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025" b="0">
                <a:solidFill>
                  <a:srgbClr val="183343"/>
                </a:solidFill>
                <a:latin typeface="Arial"/>
                <a:ea typeface="Arial"/>
                <a:cs typeface="Arial"/>
              </a:rPr>
              <a:t>Recheck poor fit rather than increasing pressure</a:t>
            </a:r>
            <a:endParaRPr/>
          </a:p>
        </p:txBody>
      </p:sp>
      <p:sp>
        <p:nvSpPr>
          <p:cNvPr id="455" name="Google Shape;455;p30">
            <a:extLst xmlns:a="http://schemas.openxmlformats.org/drawingml/2006/main">
              <a:ext uri="{FF2B5EF4-FFF2-40B4-BE49-F238E27FC236}">
                <a16:creationId xmlns:a16="http://schemas.microsoft.com/office/drawing/2014/main" id="{E8303E68-A56E-4D44-9644-0E8D9014CB39}"/>
              </a:ext>
            </a:extLst>
          </p:cNvPr>
          <p:cNvSpPr>
            <a:spLocks xmlns:a="http://schemas.openxmlformats.org/drawingml/2006/main" noGrp="1"/>
          </p:cNvSpPr>
          <p:nvPr/>
        </p:nvSpPr>
        <p:spPr>
          <a:xfrm xmlns:a="http://schemas.openxmlformats.org/drawingml/2006/main">
            <a:off x="609600" y="5353050"/>
            <a:ext cx="666750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350" b="0">
                <a:solidFill>
                  <a:srgbClr val="526773"/>
                </a:solidFill>
                <a:latin typeface="Arial"/>
                <a:ea typeface="Arial"/>
                <a:cs typeface="Arial"/>
              </a:rPr>
              <a:t>UroOps 3D teaching schematic. Clinical review pending.</a:t>
            </a:r>
            <a:endParaRPr/>
          </a:p>
        </p:txBody>
      </p:sp>
    </p:spTree>
    <p:extLst>
      <p:ext uri="{BB962C8B-B14F-4D97-AF65-F5344CB8AC3E}">
        <p14:creationId xmlns:p14="http://schemas.microsoft.com/office/powerpoint/2010/main" val="1836476632"/>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61" name="Google Shape;461;p31">
            <a:extLst xmlns:a="http://schemas.openxmlformats.org/drawingml/2006/main">
              <a:ext uri="{FF2B5EF4-FFF2-40B4-BE49-F238E27FC236}">
                <a16:creationId xmlns:a16="http://schemas.microsoft.com/office/drawing/2014/main" id="{2B172A03-9773-4664-B814-05EFC798E0D3}"/>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Urethral injury or contamination</a:t>
            </a:r>
            <a:endParaRPr/>
          </a:p>
        </p:txBody>
      </p:sp>
      <p:sp>
        <p:nvSpPr>
          <p:cNvPr id="462" name="Google Shape;462;p31">
            <a:extLst xmlns:a="http://schemas.openxmlformats.org/drawingml/2006/main">
              <a:ext uri="{FF2B5EF4-FFF2-40B4-BE49-F238E27FC236}">
                <a16:creationId xmlns:a16="http://schemas.microsoft.com/office/drawing/2014/main" id="{AF2D210E-80DA-4FCB-8E23-531EB98A7587}"/>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463" name="Google Shape;463;p31">
            <a:extLst xmlns:a="http://schemas.openxmlformats.org/drawingml/2006/main">
              <a:ext uri="{FF2B5EF4-FFF2-40B4-BE49-F238E27FC236}">
                <a16:creationId xmlns:a16="http://schemas.microsoft.com/office/drawing/2014/main" id="{2B33D3F0-5AA2-42CE-A712-1FDD1AEFFF98}"/>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125" b="0">
                <a:solidFill>
                  <a:srgbClr val="526773"/>
                </a:solidFill>
                <a:latin typeface="Arial"/>
                <a:ea typeface="Arial"/>
                <a:cs typeface="Arial"/>
              </a:rPr>
              <a:t>BAUS25 · AP23 · ICS16 · CCIFU</a:t>
            </a:r>
            <a:endParaRPr/>
          </a:p>
        </p:txBody>
      </p:sp>
      <p:sp>
        <p:nvSpPr>
          <p:cNvPr id="464" name="Google Shape;464;p31">
            <a:extLst xmlns:a="http://schemas.openxmlformats.org/drawingml/2006/main">
              <a:ext uri="{FF2B5EF4-FFF2-40B4-BE49-F238E27FC236}">
                <a16:creationId xmlns:a16="http://schemas.microsoft.com/office/drawing/2014/main" id="{57916E43-341F-4466-AA20-768307322861}"/>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28</a:t>
            </a:r>
            <a:endParaRPr/>
          </a:p>
        </p:txBody>
      </p:sp>
      <p:sp>
        <p:nvSpPr>
          <p:cNvPr id="465" name="Google Shape;465;p31">
            <a:extLst xmlns:a="http://schemas.openxmlformats.org/drawingml/2006/main">
              <a:ext uri="{FF2B5EF4-FFF2-40B4-BE49-F238E27FC236}">
                <a16:creationId xmlns:a16="http://schemas.microsoft.com/office/drawing/2014/main" id="{1B47BB45-D5FB-4716-9593-0E7E43946137}"/>
              </a:ext>
            </a:extLst>
          </p:cNvPr>
          <p:cNvSpPr>
            <a:spLocks xmlns:a="http://schemas.openxmlformats.org/drawingml/2006/main" noGrp="1"/>
          </p:cNvSpPr>
          <p:nvPr/>
        </p:nvSpPr>
        <p:spPr>
          <a:xfrm xmlns:a="http://schemas.openxmlformats.org/drawingml/2006/main">
            <a:off x="609600" y="1771650"/>
            <a:ext cx="10972800" cy="12858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150" b="1">
                <a:solidFill>
                  <a:srgbClr val="A64135"/>
                </a:solidFill>
                <a:latin typeface="Arial"/>
                <a:ea typeface="Arial"/>
                <a:cs typeface="Arial"/>
              </a:rPr>
              <a:t>The endpoint can change</a:t>
            </a:r>
            <a:endParaRPr/>
          </a:p>
          <a:p xmlns:a="http://schemas.openxmlformats.org/drawingml/2006/main">
            <a:pPr marL="0" marR="0" lvl="0" indent="0" algn="l">
              <a:spcBef>
                <a:spcPts val="0"/>
              </a:spcBef>
              <a:spcAft>
                <a:spcPts val="0"/>
              </a:spcAft>
              <a:buNone/>
            </a:pPr>
            <a:r>
              <a:rPr sz="3150" b="1">
                <a:solidFill>
                  <a:srgbClr val="A64135"/>
                </a:solidFill>
                <a:latin typeface="Arial"/>
                <a:ea typeface="Arial"/>
                <a:cs typeface="Arial"/>
              </a:rPr>
              <a:t>to repair and safe drainage</a:t>
            </a:r>
            <a:endParaRPr/>
          </a:p>
        </p:txBody>
      </p:sp>
      <p:sp>
        <p:nvSpPr>
          <p:cNvPr id="466" name="Google Shape;466;p31">
            <a:extLst xmlns:a="http://schemas.openxmlformats.org/drawingml/2006/main">
              <a:ext uri="{FF2B5EF4-FFF2-40B4-BE49-F238E27FC236}">
                <a16:creationId xmlns:a16="http://schemas.microsoft.com/office/drawing/2014/main" id="{DFB48EF6-C83C-4A14-8194-A73DE9322C73}"/>
              </a:ext>
            </a:extLst>
          </p:cNvPr>
          <p:cNvSpPr>
            <a:spLocks xmlns:a="http://schemas.openxmlformats.org/drawingml/2006/main" noGrp="1"/>
          </p:cNvSpPr>
          <p:nvPr/>
        </p:nvSpPr>
        <p:spPr>
          <a:xfrm xmlns:a="http://schemas.openxmlformats.org/drawingml/2006/main">
            <a:off x="609600" y="3390900"/>
            <a:ext cx="10972800" cy="619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75" b="0">
                <a:solidFill>
                  <a:srgbClr val="183343"/>
                </a:solidFill>
                <a:latin typeface="Arial"/>
                <a:ea typeface="Arial"/>
                <a:cs typeface="Arial"/>
              </a:rPr>
              <a:t>Confirm uncertain integrity with controlled testing or endoscopy</a:t>
            </a:r>
            <a:endParaRPr/>
          </a:p>
        </p:txBody>
      </p:sp>
      <p:sp>
        <p:nvSpPr>
          <p:cNvPr id="467" name="Google Shape;467;p31">
            <a:extLst xmlns:a="http://schemas.openxmlformats.org/drawingml/2006/main">
              <a:ext uri="{FF2B5EF4-FFF2-40B4-BE49-F238E27FC236}">
                <a16:creationId xmlns:a16="http://schemas.microsoft.com/office/drawing/2014/main" id="{F395A026-CF83-4790-9275-611A7E1068AD}"/>
              </a:ext>
            </a:extLst>
          </p:cNvPr>
          <p:cNvSpPr>
            <a:spLocks xmlns:a="http://schemas.openxmlformats.org/drawingml/2006/main" noGrp="1"/>
          </p:cNvSpPr>
          <p:nvPr/>
        </p:nvSpPr>
        <p:spPr>
          <a:xfrm xmlns:a="http://schemas.openxmlformats.org/drawingml/2006/main">
            <a:off x="609600" y="4124325"/>
            <a:ext cx="10972800" cy="619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75" b="0">
                <a:solidFill>
                  <a:srgbClr val="183343"/>
                </a:solidFill>
                <a:latin typeface="Arial"/>
                <a:ea typeface="Arial"/>
                <a:cs typeface="Arial"/>
              </a:rPr>
              <a:t>Recognised urethral injury prompts stopping implantation</a:t>
            </a:r>
            <a:endParaRPr/>
          </a:p>
        </p:txBody>
      </p:sp>
      <p:sp>
        <p:nvSpPr>
          <p:cNvPr id="468" name="Google Shape;468;p31">
            <a:extLst xmlns:a="http://schemas.openxmlformats.org/drawingml/2006/main">
              <a:ext uri="{FF2B5EF4-FFF2-40B4-BE49-F238E27FC236}">
                <a16:creationId xmlns:a16="http://schemas.microsoft.com/office/drawing/2014/main" id="{23B1B9C9-E842-432B-8ED9-CE18AC5817E1}"/>
              </a:ext>
            </a:extLst>
          </p:cNvPr>
          <p:cNvSpPr>
            <a:spLocks xmlns:a="http://schemas.openxmlformats.org/drawingml/2006/main" noGrp="1"/>
          </p:cNvSpPr>
          <p:nvPr/>
        </p:nvSpPr>
        <p:spPr>
          <a:xfrm xmlns:a="http://schemas.openxmlformats.org/drawingml/2006/main">
            <a:off x="609600" y="4857750"/>
            <a:ext cx="10972800" cy="619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75" b="0">
                <a:solidFill>
                  <a:srgbClr val="183343"/>
                </a:solidFill>
                <a:latin typeface="Arial"/>
                <a:ea typeface="Arial"/>
                <a:cs typeface="Arial"/>
              </a:rPr>
              <a:t>Replace contaminated disposables and restore the clean setup</a:t>
            </a:r>
            <a:endParaRPr/>
          </a:p>
        </p:txBody>
      </p:sp>
      <p:sp>
        <p:nvSpPr>
          <p:cNvPr id="469" name="Google Shape;469;p31">
            <a:extLst xmlns:a="http://schemas.openxmlformats.org/drawingml/2006/main">
              <a:ext uri="{FF2B5EF4-FFF2-40B4-BE49-F238E27FC236}">
                <a16:creationId xmlns:a16="http://schemas.microsoft.com/office/drawing/2014/main" id="{B373F84C-4ED2-400C-96C9-097218CD58AB}"/>
              </a:ext>
            </a:extLst>
          </p:cNvPr>
          <p:cNvSpPr>
            <a:spLocks xmlns:a="http://schemas.openxmlformats.org/drawingml/2006/main" noGrp="1"/>
          </p:cNvSpPr>
          <p:nvPr/>
        </p:nvSpPr>
        <p:spPr>
          <a:xfrm xmlns:a="http://schemas.openxmlformats.org/drawingml/2006/main">
            <a:off x="609600" y="5753100"/>
            <a:ext cx="10972800" cy="552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725" b="0">
                <a:solidFill>
                  <a:srgbClr val="526773"/>
                </a:solidFill>
                <a:latin typeface="Arial"/>
                <a:ea typeface="Arial"/>
                <a:cs typeface="Arial"/>
              </a:rPr>
              <a:t>An improvised antiseptic soak cannot rescue a contaminated single-use implant.</a:t>
            </a:r>
            <a:endParaRPr/>
          </a:p>
        </p:txBody>
      </p:sp>
    </p:spTree>
    <p:extLst>
      <p:ext uri="{BB962C8B-B14F-4D97-AF65-F5344CB8AC3E}">
        <p14:creationId xmlns:p14="http://schemas.microsoft.com/office/powerpoint/2010/main" val="1742321771"/>
      </p:ext>
    </p:extLst>
  </p:cSld>
</p:sld>
</file>

<file path=ppt/slides/slide30.xml><?xml version="1.0" encoding="utf-8"?>
<p:sld xmlns:p="http://schemas.openxmlformats.org/presentationml/2006/main">
  <p:cSld>
    <p:bg>
      <p:bgPr>
        <a:solidFill xmlns:a="http://schemas.openxmlformats.org/drawingml/2006/main">
          <a:srgbClr val="15272F"/>
        </a:solidFill>
      </p:bgPr>
    </p:bg>
    <p:spTree>
      <p:nvGrpSpPr>
        <p:cNvPr id="1" name=""/>
        <p:cNvGrpSpPr/>
        <p:nvPr/>
      </p:nvGrpSpPr>
      <p:grpSpPr>
        <a:xfrm xmlns:a="http://schemas.openxmlformats.org/drawingml/2006/main"/>
      </p:grpSpPr>
      <p:sp>
        <p:nvSpPr>
          <p:cNvPr id="475" name="Google Shape;475;p32">
            <a:extLst xmlns:a="http://schemas.openxmlformats.org/drawingml/2006/main">
              <a:ext uri="{FF2B5EF4-FFF2-40B4-BE49-F238E27FC236}">
                <a16:creationId xmlns:a16="http://schemas.microsoft.com/office/drawing/2014/main" id="{E0A891B1-71E5-4347-9ECD-94D726B11541}"/>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FFFFFF"/>
                </a:solidFill>
                <a:latin typeface="Arial"/>
                <a:ea typeface="Arial"/>
                <a:cs typeface="Arial"/>
              </a:rPr>
              <a:t>Balloon pocket and pressure selection</a:t>
            </a:r>
            <a:endParaRPr/>
          </a:p>
        </p:txBody>
      </p:sp>
      <p:sp>
        <p:nvSpPr>
          <p:cNvPr id="476" name="Google Shape;476;p32">
            <a:extLst xmlns:a="http://schemas.openxmlformats.org/drawingml/2006/main">
              <a:ext uri="{FF2B5EF4-FFF2-40B4-BE49-F238E27FC236}">
                <a16:creationId xmlns:a16="http://schemas.microsoft.com/office/drawing/2014/main" id="{9F1BEDA4-D2F7-40AD-B188-EB2DAA8E3A1E}"/>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477" name="Google Shape;477;p32">
            <a:extLst xmlns:a="http://schemas.openxmlformats.org/drawingml/2006/main">
              <a:ext uri="{FF2B5EF4-FFF2-40B4-BE49-F238E27FC236}">
                <a16:creationId xmlns:a16="http://schemas.microsoft.com/office/drawing/2014/main" id="{8E95ECB9-E0F3-408A-995B-477C10B8110A}"/>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125" b="0">
                <a:solidFill>
                  <a:srgbClr val="B5C6CB"/>
                </a:solidFill>
                <a:latin typeface="Arial"/>
                <a:ea typeface="Arial"/>
                <a:cs typeface="Arial"/>
              </a:rPr>
              <a:t>CCIFU · AP23 · ICS16</a:t>
            </a:r>
            <a:endParaRPr/>
          </a:p>
        </p:txBody>
      </p:sp>
      <p:sp>
        <p:nvSpPr>
          <p:cNvPr id="478" name="Google Shape;478;p32">
            <a:extLst xmlns:a="http://schemas.openxmlformats.org/drawingml/2006/main">
              <a:ext uri="{FF2B5EF4-FFF2-40B4-BE49-F238E27FC236}">
                <a16:creationId xmlns:a16="http://schemas.microsoft.com/office/drawing/2014/main" id="{878B2FDB-D90E-49CC-A51C-32FB82847570}"/>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B5C6CB"/>
                </a:solidFill>
                <a:latin typeface="Arial"/>
                <a:ea typeface="Arial"/>
                <a:cs typeface="Arial"/>
              </a:rPr>
              <a:t>29</a:t>
            </a:r>
            <a:endParaRPr/>
          </a:p>
        </p:txBody>
      </p:sp>
      <p:pic>
        <p:nvPicPr>
          <p:cNvPr id="491" name="Google Shape;479;p32"/>
          <p:cNvPicPr>
            <a:picLocks xmlns:a="http://schemas.openxmlformats.org/drawingml/2006/main" noChangeAspect="1"/>
          </p:cNvPicPr>
          <p:nvPr/>
        </p:nvPicPr>
        <p:blipFill rotWithShape="1">
          <a:blip xmlns:r="http://schemas.openxmlformats.org/officeDocument/2006/relationships" xmlns:a="http://schemas.openxmlformats.org/drawingml/2006/main" r:embed="Rc03584ee61754edb">
            <a:alphaModFix/>
          </a:blip>
          <a:srcRect xmlns:a="http://schemas.openxmlformats.org/drawingml/2006/main" l="0" t="0" r="0" b="0"/>
          <a:stretch xmlns:a="http://schemas.openxmlformats.org/drawingml/2006/main"/>
        </p:blipFill>
        <p:spPr>
          <a:xfrm xmlns:a="http://schemas.openxmlformats.org/drawingml/2006/main">
            <a:off x="1504950" y="1619250"/>
            <a:ext cx="4019550" cy="4019550"/>
          </a:xfrm>
          <a:prstGeom xmlns:a="http://schemas.openxmlformats.org/drawingml/2006/main" prst="rect">
            <a:avLst/>
          </a:prstGeom>
          <a:ln xmlns:a="http://schemas.openxmlformats.org/drawingml/2006/main">
            <a:noFill/>
          </a:ln>
        </p:spPr>
      </p:pic>
      <p:sp>
        <p:nvSpPr>
          <p:cNvPr id="480" name="Google Shape;480;p32">
            <a:extLst xmlns:a="http://schemas.openxmlformats.org/drawingml/2006/main">
              <a:ext uri="{FF2B5EF4-FFF2-40B4-BE49-F238E27FC236}">
                <a16:creationId xmlns:a16="http://schemas.microsoft.com/office/drawing/2014/main" id="{262C754A-8FAE-4B62-A1BA-4ED9754B2AE5}"/>
              </a:ext>
            </a:extLst>
          </p:cNvPr>
          <p:cNvSpPr>
            <a:spLocks xmlns:a="http://schemas.openxmlformats.org/drawingml/2006/main" noGrp="1"/>
          </p:cNvSpPr>
          <p:nvPr/>
        </p:nvSpPr>
        <p:spPr>
          <a:xfrm xmlns:a="http://schemas.openxmlformats.org/drawingml/2006/main">
            <a:off x="6915150" y="1885950"/>
            <a:ext cx="4667250" cy="4381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75" b="1">
                <a:solidFill>
                  <a:srgbClr val="80CDD0"/>
                </a:solidFill>
                <a:latin typeface="Arial"/>
                <a:ea typeface="Arial"/>
                <a:cs typeface="Arial"/>
              </a:rPr>
              <a:t>ContiClassic label</a:t>
            </a:r>
            <a:endParaRPr/>
          </a:p>
        </p:txBody>
      </p:sp>
      <p:sp>
        <p:nvSpPr>
          <p:cNvPr id="481" name="Google Shape;481;p32">
            <a:extLst xmlns:a="http://schemas.openxmlformats.org/drawingml/2006/main">
              <a:ext uri="{FF2B5EF4-FFF2-40B4-BE49-F238E27FC236}">
                <a16:creationId xmlns:a16="http://schemas.microsoft.com/office/drawing/2014/main" id="{2DC743D2-DD9E-4E29-B855-0674935E5D6E}"/>
              </a:ext>
            </a:extLst>
          </p:cNvPr>
          <p:cNvSpPr>
            <a:spLocks xmlns:a="http://schemas.openxmlformats.org/drawingml/2006/main" noGrp="1"/>
          </p:cNvSpPr>
          <p:nvPr/>
        </p:nvSpPr>
        <p:spPr>
          <a:xfrm xmlns:a="http://schemas.openxmlformats.org/drawingml/2006/main">
            <a:off x="6915150" y="2400300"/>
            <a:ext cx="4667250" cy="619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000" b="1">
                <a:solidFill>
                  <a:srgbClr val="FFFFFF"/>
                </a:solidFill>
                <a:latin typeface="Arial"/>
                <a:ea typeface="Arial"/>
                <a:cs typeface="Arial"/>
              </a:rPr>
              <a:t>60–69 cmH₂O</a:t>
            </a:r>
            <a:endParaRPr/>
          </a:p>
        </p:txBody>
      </p:sp>
      <p:sp>
        <p:nvSpPr>
          <p:cNvPr id="482" name="Google Shape;482;p32">
            <a:extLst xmlns:a="http://schemas.openxmlformats.org/drawingml/2006/main">
              <a:ext uri="{FF2B5EF4-FFF2-40B4-BE49-F238E27FC236}">
                <a16:creationId xmlns:a16="http://schemas.microsoft.com/office/drawing/2014/main" id="{FAE54296-6269-43B1-B001-058FB10841A9}"/>
              </a:ext>
            </a:extLst>
          </p:cNvPr>
          <p:cNvSpPr>
            <a:spLocks xmlns:a="http://schemas.openxmlformats.org/drawingml/2006/main" noGrp="1"/>
          </p:cNvSpPr>
          <p:nvPr/>
        </p:nvSpPr>
        <p:spPr>
          <a:xfrm xmlns:a="http://schemas.openxmlformats.org/drawingml/2006/main">
            <a:off x="6915150" y="3248025"/>
            <a:ext cx="4667250" cy="4381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75" b="1">
                <a:solidFill>
                  <a:srgbClr val="80CDD0"/>
                </a:solidFill>
                <a:latin typeface="Arial"/>
                <a:ea typeface="Arial"/>
                <a:cs typeface="Arial"/>
              </a:rPr>
              <a:t>AMS 800 consensus</a:t>
            </a:r>
            <a:endParaRPr/>
          </a:p>
        </p:txBody>
      </p:sp>
      <p:sp>
        <p:nvSpPr>
          <p:cNvPr id="483" name="Google Shape;483;p32">
            <a:extLst xmlns:a="http://schemas.openxmlformats.org/drawingml/2006/main">
              <a:ext uri="{FF2B5EF4-FFF2-40B4-BE49-F238E27FC236}">
                <a16:creationId xmlns:a16="http://schemas.microsoft.com/office/drawing/2014/main" id="{D8C57348-499D-4043-9B94-A3C03555CF80}"/>
              </a:ext>
            </a:extLst>
          </p:cNvPr>
          <p:cNvSpPr>
            <a:spLocks xmlns:a="http://schemas.openxmlformats.org/drawingml/2006/main" noGrp="1"/>
          </p:cNvSpPr>
          <p:nvPr/>
        </p:nvSpPr>
        <p:spPr>
          <a:xfrm xmlns:a="http://schemas.openxmlformats.org/drawingml/2006/main">
            <a:off x="6915150" y="3762375"/>
            <a:ext cx="4667250" cy="1000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850" b="1">
                <a:solidFill>
                  <a:srgbClr val="FFFFFF"/>
                </a:solidFill>
                <a:latin typeface="Arial"/>
                <a:ea typeface="Arial"/>
                <a:cs typeface="Arial"/>
              </a:rPr>
              <a:t>Commonly 61–70 cmH₂O</a:t>
            </a:r>
            <a:endParaRPr/>
          </a:p>
        </p:txBody>
      </p:sp>
      <p:sp>
        <p:nvSpPr>
          <p:cNvPr id="484" name="Google Shape;484;p32">
            <a:extLst xmlns:a="http://schemas.openxmlformats.org/drawingml/2006/main">
              <a:ext uri="{FF2B5EF4-FFF2-40B4-BE49-F238E27FC236}">
                <a16:creationId xmlns:a16="http://schemas.microsoft.com/office/drawing/2014/main" id="{E06D3F20-D343-42CD-87DE-4FE9033C9E3B}"/>
              </a:ext>
            </a:extLst>
          </p:cNvPr>
          <p:cNvSpPr>
            <a:spLocks xmlns:a="http://schemas.openxmlformats.org/drawingml/2006/main" noGrp="1"/>
          </p:cNvSpPr>
          <p:nvPr/>
        </p:nvSpPr>
        <p:spPr>
          <a:xfrm xmlns:a="http://schemas.openxmlformats.org/drawingml/2006/main">
            <a:off x="6915150" y="4943475"/>
            <a:ext cx="4667250" cy="571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75" b="0">
                <a:solidFill>
                  <a:srgbClr val="CFDBDE"/>
                </a:solidFill>
                <a:latin typeface="Arial"/>
                <a:ea typeface="Arial"/>
                <a:cs typeface="Arial"/>
              </a:rPr>
              <a:t>These ranges are device-specific</a:t>
            </a:r>
            <a:endParaRPr/>
          </a:p>
        </p:txBody>
      </p:sp>
      <p:sp>
        <p:nvSpPr>
          <p:cNvPr id="485" name="Google Shape;485;p32">
            <a:extLst xmlns:a="http://schemas.openxmlformats.org/drawingml/2006/main">
              <a:ext uri="{FF2B5EF4-FFF2-40B4-BE49-F238E27FC236}">
                <a16:creationId xmlns:a16="http://schemas.microsoft.com/office/drawing/2014/main" id="{D8FA7C24-6512-470F-9073-4428B4D3BA83}"/>
              </a:ext>
            </a:extLst>
          </p:cNvPr>
          <p:cNvSpPr>
            <a:spLocks xmlns:a="http://schemas.openxmlformats.org/drawingml/2006/main" noGrp="1"/>
          </p:cNvSpPr>
          <p:nvPr/>
        </p:nvSpPr>
        <p:spPr>
          <a:xfrm xmlns:a="http://schemas.openxmlformats.org/drawingml/2006/main">
            <a:off x="609600" y="5753100"/>
            <a:ext cx="10972800" cy="552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725" b="0">
                <a:solidFill>
                  <a:srgbClr val="CFDBDE"/>
                </a:solidFill>
                <a:latin typeface="Arial"/>
                <a:ea typeface="Arial"/>
                <a:cs typeface="Arial"/>
              </a:rPr>
              <a:t>A safe pocket and the correct pressure component are separate decisions. Fill volumes and selection rules require the current OR protocol.</a:t>
            </a:r>
            <a:endParaRPr/>
          </a:p>
        </p:txBody>
      </p:sp>
    </p:spTree>
    <p:extLst>
      <p:ext uri="{BB962C8B-B14F-4D97-AF65-F5344CB8AC3E}">
        <p14:creationId xmlns:p14="http://schemas.microsoft.com/office/powerpoint/2010/main" val="408167717"/>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91" name="Google Shape;491;p33">
            <a:extLst xmlns:a="http://schemas.openxmlformats.org/drawingml/2006/main">
              <a:ext uri="{FF2B5EF4-FFF2-40B4-BE49-F238E27FC236}">
                <a16:creationId xmlns:a16="http://schemas.microsoft.com/office/drawing/2014/main" id="{6B67FF5F-FA61-45CE-ACEE-168FB31B93BD}"/>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Pump position and patient access</a:t>
            </a:r>
            <a:endParaRPr/>
          </a:p>
        </p:txBody>
      </p:sp>
      <p:sp>
        <p:nvSpPr>
          <p:cNvPr id="492" name="Google Shape;492;p33">
            <a:extLst xmlns:a="http://schemas.openxmlformats.org/drawingml/2006/main">
              <a:ext uri="{FF2B5EF4-FFF2-40B4-BE49-F238E27FC236}">
                <a16:creationId xmlns:a16="http://schemas.microsoft.com/office/drawing/2014/main" id="{1CD99FBB-C5C1-4021-8134-4893BA337B27}"/>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493" name="Google Shape;493;p33">
            <a:extLst xmlns:a="http://schemas.openxmlformats.org/drawingml/2006/main">
              <a:ext uri="{FF2B5EF4-FFF2-40B4-BE49-F238E27FC236}">
                <a16:creationId xmlns:a16="http://schemas.microsoft.com/office/drawing/2014/main" id="{B0FF34FF-D329-42C8-AA37-A336EAC22F78}"/>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125" b="0">
                <a:solidFill>
                  <a:srgbClr val="526773"/>
                </a:solidFill>
                <a:latin typeface="Arial"/>
                <a:ea typeface="Arial"/>
                <a:cs typeface="Arial"/>
              </a:rPr>
              <a:t>AP23 · ICS16 · CCIFU</a:t>
            </a:r>
            <a:endParaRPr/>
          </a:p>
        </p:txBody>
      </p:sp>
      <p:sp>
        <p:nvSpPr>
          <p:cNvPr id="494" name="Google Shape;494;p33">
            <a:extLst xmlns:a="http://schemas.openxmlformats.org/drawingml/2006/main">
              <a:ext uri="{FF2B5EF4-FFF2-40B4-BE49-F238E27FC236}">
                <a16:creationId xmlns:a16="http://schemas.microsoft.com/office/drawing/2014/main" id="{561473FB-6A52-454E-9E9A-082C62EF8D00}"/>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30</a:t>
            </a:r>
            <a:endParaRPr/>
          </a:p>
        </p:txBody>
      </p:sp>
      <p:pic>
        <p:nvPicPr>
          <p:cNvPr id="507" name="Google Shape;495;p33"/>
          <p:cNvPicPr>
            <a:picLocks xmlns:a="http://schemas.openxmlformats.org/drawingml/2006/main" noChangeAspect="1"/>
          </p:cNvPicPr>
          <p:nvPr/>
        </p:nvPicPr>
        <p:blipFill rotWithShape="1">
          <a:blip xmlns:r="http://schemas.openxmlformats.org/officeDocument/2006/relationships" xmlns:a="http://schemas.openxmlformats.org/drawingml/2006/main" r:embed="R05c28ba10b124a8f">
            <a:alphaModFix/>
          </a:blip>
          <a:srcRect xmlns:a="http://schemas.openxmlformats.org/drawingml/2006/main" l="0" t="0" r="0" b="0"/>
          <a:stretch xmlns:a="http://schemas.openxmlformats.org/drawingml/2006/main"/>
        </p:blipFill>
        <p:spPr>
          <a:xfrm xmlns:a="http://schemas.openxmlformats.org/drawingml/2006/main">
            <a:off x="609600" y="2179261"/>
            <a:ext cx="6477000" cy="2670928"/>
          </a:xfrm>
          <a:prstGeom xmlns:a="http://schemas.openxmlformats.org/drawingml/2006/main" prst="rect">
            <a:avLst/>
          </a:prstGeom>
          <a:ln xmlns:a="http://schemas.openxmlformats.org/drawingml/2006/main">
            <a:noFill/>
          </a:ln>
        </p:spPr>
      </p:pic>
      <p:sp>
        <p:nvSpPr>
          <p:cNvPr id="496" name="Google Shape;496;p33">
            <a:extLst xmlns:a="http://schemas.openxmlformats.org/drawingml/2006/main">
              <a:ext uri="{FF2B5EF4-FFF2-40B4-BE49-F238E27FC236}">
                <a16:creationId xmlns:a16="http://schemas.microsoft.com/office/drawing/2014/main" id="{31B86D52-890E-419B-8D79-EA816410AED6}"/>
              </a:ext>
            </a:extLst>
          </p:cNvPr>
          <p:cNvSpPr>
            <a:spLocks xmlns:a="http://schemas.openxmlformats.org/drawingml/2006/main" noGrp="1"/>
          </p:cNvSpPr>
          <p:nvPr/>
        </p:nvSpPr>
        <p:spPr>
          <a:xfrm xmlns:a="http://schemas.openxmlformats.org/drawingml/2006/main">
            <a:off x="7505700" y="1809750"/>
            <a:ext cx="40767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75" b="1">
                <a:solidFill>
                  <a:srgbClr val="147F83"/>
                </a:solidFill>
                <a:latin typeface="Arial"/>
                <a:ea typeface="Arial"/>
                <a:cs typeface="Arial"/>
              </a:rPr>
              <a:t>A functional position</a:t>
            </a:r>
            <a:endParaRPr/>
          </a:p>
        </p:txBody>
      </p:sp>
      <p:sp>
        <p:nvSpPr>
          <p:cNvPr id="497" name="Google Shape;497;p33">
            <a:extLst xmlns:a="http://schemas.openxmlformats.org/drawingml/2006/main">
              <a:ext uri="{FF2B5EF4-FFF2-40B4-BE49-F238E27FC236}">
                <a16:creationId xmlns:a16="http://schemas.microsoft.com/office/drawing/2014/main" id="{A694AF3E-AD0E-4F15-9E6D-87A877579F6D}"/>
              </a:ext>
            </a:extLst>
          </p:cNvPr>
          <p:cNvSpPr>
            <a:spLocks xmlns:a="http://schemas.openxmlformats.org/drawingml/2006/main" noGrp="1"/>
          </p:cNvSpPr>
          <p:nvPr/>
        </p:nvSpPr>
        <p:spPr>
          <a:xfrm xmlns:a="http://schemas.openxmlformats.org/drawingml/2006/main">
            <a:off x="7505700" y="2419350"/>
            <a:ext cx="4076700" cy="647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025" b="0">
                <a:solidFill>
                  <a:srgbClr val="183343"/>
                </a:solidFill>
                <a:latin typeface="Arial"/>
                <a:ea typeface="Arial"/>
                <a:cs typeface="Arial"/>
              </a:rPr>
              <a:t>Use the accessible side agreed in clinic</a:t>
            </a:r>
            <a:endParaRPr/>
          </a:p>
        </p:txBody>
      </p:sp>
      <p:sp>
        <p:nvSpPr>
          <p:cNvPr id="498" name="Google Shape;498;p33">
            <a:extLst xmlns:a="http://schemas.openxmlformats.org/drawingml/2006/main">
              <a:ext uri="{FF2B5EF4-FFF2-40B4-BE49-F238E27FC236}">
                <a16:creationId xmlns:a16="http://schemas.microsoft.com/office/drawing/2014/main" id="{C6020ACA-967F-4C29-8F6F-C38672E40D14}"/>
              </a:ext>
            </a:extLst>
          </p:cNvPr>
          <p:cNvSpPr>
            <a:spLocks xmlns:a="http://schemas.openxmlformats.org/drawingml/2006/main" noGrp="1"/>
          </p:cNvSpPr>
          <p:nvPr/>
        </p:nvSpPr>
        <p:spPr>
          <a:xfrm xmlns:a="http://schemas.openxmlformats.org/drawingml/2006/main">
            <a:off x="7505700" y="3181350"/>
            <a:ext cx="4076700" cy="647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025" b="0">
                <a:solidFill>
                  <a:srgbClr val="183343"/>
                </a:solidFill>
                <a:latin typeface="Arial"/>
                <a:ea typeface="Arial"/>
                <a:cs typeface="Arial"/>
              </a:rPr>
              <a:t>Avoid crowding, skin tension and testicular compression</a:t>
            </a:r>
            <a:endParaRPr/>
          </a:p>
        </p:txBody>
      </p:sp>
      <p:sp>
        <p:nvSpPr>
          <p:cNvPr id="499" name="Google Shape;499;p33">
            <a:extLst xmlns:a="http://schemas.openxmlformats.org/drawingml/2006/main">
              <a:ext uri="{FF2B5EF4-FFF2-40B4-BE49-F238E27FC236}">
                <a16:creationId xmlns:a16="http://schemas.microsoft.com/office/drawing/2014/main" id="{E9304B1E-B0E1-4818-A46D-285B107E6556}"/>
              </a:ext>
            </a:extLst>
          </p:cNvPr>
          <p:cNvSpPr>
            <a:spLocks xmlns:a="http://schemas.openxmlformats.org/drawingml/2006/main" noGrp="1"/>
          </p:cNvSpPr>
          <p:nvPr/>
        </p:nvSpPr>
        <p:spPr>
          <a:xfrm xmlns:a="http://schemas.openxmlformats.org/drawingml/2006/main">
            <a:off x="7505700" y="3943350"/>
            <a:ext cx="4076700" cy="647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025" b="0">
                <a:solidFill>
                  <a:srgbClr val="183343"/>
                </a:solidFill>
                <a:latin typeface="Arial"/>
                <a:ea typeface="Arial"/>
                <a:cs typeface="Arial"/>
              </a:rPr>
              <a:t>Check orientation and tubing traction before closure</a:t>
            </a:r>
            <a:endParaRPr/>
          </a:p>
        </p:txBody>
      </p:sp>
      <p:sp>
        <p:nvSpPr>
          <p:cNvPr id="500" name="Google Shape;500;p33">
            <a:extLst xmlns:a="http://schemas.openxmlformats.org/drawingml/2006/main">
              <a:ext uri="{FF2B5EF4-FFF2-40B4-BE49-F238E27FC236}">
                <a16:creationId xmlns:a16="http://schemas.microsoft.com/office/drawing/2014/main" id="{995A6545-7999-40BB-A920-D103419F7FA9}"/>
              </a:ext>
            </a:extLst>
          </p:cNvPr>
          <p:cNvSpPr>
            <a:spLocks xmlns:a="http://schemas.openxmlformats.org/drawingml/2006/main" noGrp="1"/>
          </p:cNvSpPr>
          <p:nvPr/>
        </p:nvSpPr>
        <p:spPr>
          <a:xfrm xmlns:a="http://schemas.openxmlformats.org/drawingml/2006/main">
            <a:off x="7505700" y="4705350"/>
            <a:ext cx="4076700" cy="647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025" b="0">
                <a:solidFill>
                  <a:srgbClr val="183343"/>
                </a:solidFill>
                <a:latin typeface="Arial"/>
                <a:ea typeface="Arial"/>
                <a:cs typeface="Arial"/>
              </a:rPr>
              <a:t>Recheck access with the patient at activation</a:t>
            </a:r>
            <a:endParaRPr/>
          </a:p>
        </p:txBody>
      </p:sp>
      <p:sp>
        <p:nvSpPr>
          <p:cNvPr id="501" name="Google Shape;501;p33">
            <a:extLst xmlns:a="http://schemas.openxmlformats.org/drawingml/2006/main">
              <a:ext uri="{FF2B5EF4-FFF2-40B4-BE49-F238E27FC236}">
                <a16:creationId xmlns:a16="http://schemas.microsoft.com/office/drawing/2014/main" id="{8E95DFD3-08EE-4E9F-8352-F236105FA6C7}"/>
              </a:ext>
            </a:extLst>
          </p:cNvPr>
          <p:cNvSpPr>
            <a:spLocks xmlns:a="http://schemas.openxmlformats.org/drawingml/2006/main" noGrp="1"/>
          </p:cNvSpPr>
          <p:nvPr/>
        </p:nvSpPr>
        <p:spPr>
          <a:xfrm xmlns:a="http://schemas.openxmlformats.org/drawingml/2006/main">
            <a:off x="609600" y="5353050"/>
            <a:ext cx="666750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350" b="0">
                <a:solidFill>
                  <a:srgbClr val="526773"/>
                </a:solidFill>
                <a:latin typeface="Arial"/>
                <a:ea typeface="Arial"/>
                <a:cs typeface="Arial"/>
              </a:rPr>
              <a:t>UroOps 3D teaching schematic. Clinical review pending.</a:t>
            </a:r>
            <a:endParaRPr/>
          </a:p>
        </p:txBody>
      </p:sp>
    </p:spTree>
    <p:extLst>
      <p:ext uri="{BB962C8B-B14F-4D97-AF65-F5344CB8AC3E}">
        <p14:creationId xmlns:p14="http://schemas.microsoft.com/office/powerpoint/2010/main" val="1322263650"/>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07" name="Google Shape;507;p34">
            <a:extLst xmlns:a="http://schemas.openxmlformats.org/drawingml/2006/main">
              <a:ext uri="{FF2B5EF4-FFF2-40B4-BE49-F238E27FC236}">
                <a16:creationId xmlns:a16="http://schemas.microsoft.com/office/drawing/2014/main" id="{431D45EA-4E8A-4C32-8FAC-E518775C99B9}"/>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System checks and handover</a:t>
            </a:r>
            <a:endParaRPr/>
          </a:p>
        </p:txBody>
      </p:sp>
      <p:sp>
        <p:nvSpPr>
          <p:cNvPr id="508" name="Google Shape;508;p34">
            <a:extLst xmlns:a="http://schemas.openxmlformats.org/drawingml/2006/main">
              <a:ext uri="{FF2B5EF4-FFF2-40B4-BE49-F238E27FC236}">
                <a16:creationId xmlns:a16="http://schemas.microsoft.com/office/drawing/2014/main" id="{0A8815B7-D713-443A-BBCE-0FC8718709A3}"/>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09" name="Google Shape;509;p34">
            <a:extLst xmlns:a="http://schemas.openxmlformats.org/drawingml/2006/main">
              <a:ext uri="{FF2B5EF4-FFF2-40B4-BE49-F238E27FC236}">
                <a16:creationId xmlns:a16="http://schemas.microsoft.com/office/drawing/2014/main" id="{436C4B8E-9801-4510-87BE-9DE11E8B080E}"/>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125" b="0">
                <a:solidFill>
                  <a:srgbClr val="526773"/>
                </a:solidFill>
                <a:latin typeface="Arial"/>
                <a:ea typeface="Arial"/>
                <a:cs typeface="Arial"/>
              </a:rPr>
              <a:t>CCIFU · ICS16 · AP23 · CATH13 · INSTR26</a:t>
            </a:r>
            <a:endParaRPr/>
          </a:p>
        </p:txBody>
      </p:sp>
      <p:sp>
        <p:nvSpPr>
          <p:cNvPr id="510" name="Google Shape;510;p34">
            <a:extLst xmlns:a="http://schemas.openxmlformats.org/drawingml/2006/main">
              <a:ext uri="{FF2B5EF4-FFF2-40B4-BE49-F238E27FC236}">
                <a16:creationId xmlns:a16="http://schemas.microsoft.com/office/drawing/2014/main" id="{162F2852-0D75-4A8F-85AB-04C06522220D}"/>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31</a:t>
            </a:r>
            <a:endParaRPr/>
          </a:p>
        </p:txBody>
      </p:sp>
      <p:sp>
        <p:nvSpPr>
          <p:cNvPr id="511" name="Google Shape;511;p34">
            <a:extLst xmlns:a="http://schemas.openxmlformats.org/drawingml/2006/main">
              <a:ext uri="{FF2B5EF4-FFF2-40B4-BE49-F238E27FC236}">
                <a16:creationId xmlns:a16="http://schemas.microsoft.com/office/drawing/2014/main" id="{90C5019B-A939-4812-BBD4-584B30882920}"/>
              </a:ext>
            </a:extLst>
          </p:cNvPr>
          <p:cNvSpPr>
            <a:spLocks xmlns:a="http://schemas.openxmlformats.org/drawingml/2006/main" noGrp="1"/>
          </p:cNvSpPr>
          <p:nvPr/>
        </p:nvSpPr>
        <p:spPr>
          <a:xfrm xmlns:a="http://schemas.openxmlformats.org/drawingml/2006/main">
            <a:off x="609600" y="1809750"/>
            <a:ext cx="666750" cy="5238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850" b="1">
                <a:solidFill>
                  <a:srgbClr val="147F83"/>
                </a:solidFill>
                <a:latin typeface="Arial"/>
                <a:ea typeface="Arial"/>
                <a:cs typeface="Arial"/>
              </a:rPr>
              <a:t>1</a:t>
            </a:r>
            <a:endParaRPr/>
          </a:p>
        </p:txBody>
      </p:sp>
      <p:sp>
        <p:nvSpPr>
          <p:cNvPr id="512" name="Google Shape;512;p34">
            <a:extLst xmlns:a="http://schemas.openxmlformats.org/drawingml/2006/main">
              <a:ext uri="{FF2B5EF4-FFF2-40B4-BE49-F238E27FC236}">
                <a16:creationId xmlns:a16="http://schemas.microsoft.com/office/drawing/2014/main" id="{E7146B80-0301-4C7D-9823-0D30461C98CD}"/>
              </a:ext>
            </a:extLst>
          </p:cNvPr>
          <p:cNvSpPr>
            <a:spLocks xmlns:a="http://schemas.openxmlformats.org/drawingml/2006/main" noGrp="1"/>
          </p:cNvSpPr>
          <p:nvPr/>
        </p:nvSpPr>
        <p:spPr>
          <a:xfrm xmlns:a="http://schemas.openxmlformats.org/drawingml/2006/main">
            <a:off x="1476375" y="1838325"/>
            <a:ext cx="10096500" cy="8001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250" b="0">
                <a:solidFill>
                  <a:srgbClr val="183343"/>
                </a:solidFill>
                <a:latin typeface="Arial"/>
                <a:ea typeface="Arial"/>
                <a:cs typeface="Arial"/>
              </a:rPr>
              <a:t>Trace tubing for tension, bends and entrapment</a:t>
            </a:r>
            <a:endParaRPr/>
          </a:p>
        </p:txBody>
      </p:sp>
      <p:sp>
        <p:nvSpPr>
          <p:cNvPr id="513" name="Google Shape;513;p34">
            <a:extLst xmlns:a="http://schemas.openxmlformats.org/drawingml/2006/main">
              <a:ext uri="{FF2B5EF4-FFF2-40B4-BE49-F238E27FC236}">
                <a16:creationId xmlns:a16="http://schemas.microsoft.com/office/drawing/2014/main" id="{ACDE22F6-7488-4004-9CFF-ED036195A8A4}"/>
              </a:ext>
            </a:extLst>
          </p:cNvPr>
          <p:cNvSpPr>
            <a:spLocks xmlns:a="http://schemas.openxmlformats.org/drawingml/2006/main" noGrp="1"/>
          </p:cNvSpPr>
          <p:nvPr/>
        </p:nvSpPr>
        <p:spPr>
          <a:xfrm xmlns:a="http://schemas.openxmlformats.org/drawingml/2006/main">
            <a:off x="609600" y="2705100"/>
            <a:ext cx="666750" cy="5238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850" b="1">
                <a:solidFill>
                  <a:srgbClr val="147F83"/>
                </a:solidFill>
                <a:latin typeface="Arial"/>
                <a:ea typeface="Arial"/>
                <a:cs typeface="Arial"/>
              </a:rPr>
              <a:t>2</a:t>
            </a:r>
            <a:endParaRPr/>
          </a:p>
        </p:txBody>
      </p:sp>
      <p:sp>
        <p:nvSpPr>
          <p:cNvPr id="514" name="Google Shape;514;p34">
            <a:extLst xmlns:a="http://schemas.openxmlformats.org/drawingml/2006/main">
              <a:ext uri="{FF2B5EF4-FFF2-40B4-BE49-F238E27FC236}">
                <a16:creationId xmlns:a16="http://schemas.microsoft.com/office/drawing/2014/main" id="{576EEE1B-C1EE-4489-BF92-AEA718F34078}"/>
              </a:ext>
            </a:extLst>
          </p:cNvPr>
          <p:cNvSpPr>
            <a:spLocks xmlns:a="http://schemas.openxmlformats.org/drawingml/2006/main" noGrp="1"/>
          </p:cNvSpPr>
          <p:nvPr/>
        </p:nvSpPr>
        <p:spPr>
          <a:xfrm xmlns:a="http://schemas.openxmlformats.org/drawingml/2006/main">
            <a:off x="1476375" y="2733675"/>
            <a:ext cx="10096500" cy="8001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250" b="0">
                <a:solidFill>
                  <a:srgbClr val="183343"/>
                </a:solidFill>
                <a:latin typeface="Arial"/>
                <a:ea typeface="Arial"/>
                <a:cs typeface="Arial"/>
              </a:rPr>
              <a:t>Confirm compatible connections and device function</a:t>
            </a:r>
            <a:endParaRPr/>
          </a:p>
        </p:txBody>
      </p:sp>
      <p:sp>
        <p:nvSpPr>
          <p:cNvPr id="515" name="Google Shape;515;p34">
            <a:extLst xmlns:a="http://schemas.openxmlformats.org/drawingml/2006/main">
              <a:ext uri="{FF2B5EF4-FFF2-40B4-BE49-F238E27FC236}">
                <a16:creationId xmlns:a16="http://schemas.microsoft.com/office/drawing/2014/main" id="{2C238A41-FA52-459C-805C-B4B5276B2F9A}"/>
              </a:ext>
            </a:extLst>
          </p:cNvPr>
          <p:cNvSpPr>
            <a:spLocks xmlns:a="http://schemas.openxmlformats.org/drawingml/2006/main" noGrp="1"/>
          </p:cNvSpPr>
          <p:nvPr/>
        </p:nvSpPr>
        <p:spPr>
          <a:xfrm xmlns:a="http://schemas.openxmlformats.org/drawingml/2006/main">
            <a:off x="609600" y="3600450"/>
            <a:ext cx="666750" cy="5238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850" b="1">
                <a:solidFill>
                  <a:srgbClr val="147F83"/>
                </a:solidFill>
                <a:latin typeface="Arial"/>
                <a:ea typeface="Arial"/>
                <a:cs typeface="Arial"/>
              </a:rPr>
              <a:t>3</a:t>
            </a:r>
            <a:endParaRPr/>
          </a:p>
        </p:txBody>
      </p:sp>
      <p:sp>
        <p:nvSpPr>
          <p:cNvPr id="516" name="Google Shape;516;p34">
            <a:extLst xmlns:a="http://schemas.openxmlformats.org/drawingml/2006/main">
              <a:ext uri="{FF2B5EF4-FFF2-40B4-BE49-F238E27FC236}">
                <a16:creationId xmlns:a16="http://schemas.microsoft.com/office/drawing/2014/main" id="{07C780CA-AE16-4D16-82EA-57ED0D9DADCB}"/>
              </a:ext>
            </a:extLst>
          </p:cNvPr>
          <p:cNvSpPr>
            <a:spLocks xmlns:a="http://schemas.openxmlformats.org/drawingml/2006/main" noGrp="1"/>
          </p:cNvSpPr>
          <p:nvPr/>
        </p:nvSpPr>
        <p:spPr>
          <a:xfrm xmlns:a="http://schemas.openxmlformats.org/drawingml/2006/main">
            <a:off x="1476375" y="3629025"/>
            <a:ext cx="10096500" cy="8001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250" b="0">
                <a:solidFill>
                  <a:srgbClr val="183343"/>
                </a:solidFill>
                <a:latin typeface="Arial"/>
                <a:ea typeface="Arial"/>
                <a:cs typeface="Arial"/>
              </a:rPr>
              <a:t>Confirm an open cuff and correct deactivation</a:t>
            </a:r>
            <a:endParaRPr/>
          </a:p>
        </p:txBody>
      </p:sp>
      <p:sp>
        <p:nvSpPr>
          <p:cNvPr id="517" name="Google Shape;517;p34">
            <a:extLst xmlns:a="http://schemas.openxmlformats.org/drawingml/2006/main">
              <a:ext uri="{FF2B5EF4-FFF2-40B4-BE49-F238E27FC236}">
                <a16:creationId xmlns:a16="http://schemas.microsoft.com/office/drawing/2014/main" id="{38BF2C16-4125-4D9B-BEB0-84B8BDB66586}"/>
              </a:ext>
            </a:extLst>
          </p:cNvPr>
          <p:cNvSpPr>
            <a:spLocks xmlns:a="http://schemas.openxmlformats.org/drawingml/2006/main" noGrp="1"/>
          </p:cNvSpPr>
          <p:nvPr/>
        </p:nvSpPr>
        <p:spPr>
          <a:xfrm xmlns:a="http://schemas.openxmlformats.org/drawingml/2006/main">
            <a:off x="609600" y="4495800"/>
            <a:ext cx="666750" cy="5238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850" b="1">
                <a:solidFill>
                  <a:srgbClr val="147F83"/>
                </a:solidFill>
                <a:latin typeface="Arial"/>
                <a:ea typeface="Arial"/>
                <a:cs typeface="Arial"/>
              </a:rPr>
              <a:t>4</a:t>
            </a:r>
            <a:endParaRPr/>
          </a:p>
        </p:txBody>
      </p:sp>
      <p:sp>
        <p:nvSpPr>
          <p:cNvPr id="518" name="Google Shape;518;p34">
            <a:extLst xmlns:a="http://schemas.openxmlformats.org/drawingml/2006/main">
              <a:ext uri="{FF2B5EF4-FFF2-40B4-BE49-F238E27FC236}">
                <a16:creationId xmlns:a16="http://schemas.microsoft.com/office/drawing/2014/main" id="{B19CFD59-EAA2-4C83-9041-AE43863CCCEA}"/>
              </a:ext>
            </a:extLst>
          </p:cNvPr>
          <p:cNvSpPr>
            <a:spLocks xmlns:a="http://schemas.openxmlformats.org/drawingml/2006/main" noGrp="1"/>
          </p:cNvSpPr>
          <p:nvPr/>
        </p:nvSpPr>
        <p:spPr>
          <a:xfrm xmlns:a="http://schemas.openxmlformats.org/drawingml/2006/main">
            <a:off x="1476375" y="4524375"/>
            <a:ext cx="10096500" cy="8001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250" b="0">
                <a:solidFill>
                  <a:srgbClr val="183343"/>
                </a:solidFill>
                <a:latin typeface="Arial"/>
                <a:ea typeface="Arial"/>
                <a:cs typeface="Arial"/>
              </a:rPr>
              <a:t>Record device details, drainage and the urgent contact route</a:t>
            </a:r>
            <a:endParaRPr/>
          </a:p>
        </p:txBody>
      </p:sp>
      <p:sp>
        <p:nvSpPr>
          <p:cNvPr id="519" name="Google Shape;519;p34">
            <a:extLst xmlns:a="http://schemas.openxmlformats.org/drawingml/2006/main">
              <a:ext uri="{FF2B5EF4-FFF2-40B4-BE49-F238E27FC236}">
                <a16:creationId xmlns:a16="http://schemas.microsoft.com/office/drawing/2014/main" id="{1419B639-D953-4C24-81BD-9A5A23717EA0}"/>
              </a:ext>
            </a:extLst>
          </p:cNvPr>
          <p:cNvSpPr>
            <a:spLocks xmlns:a="http://schemas.openxmlformats.org/drawingml/2006/main" noGrp="1"/>
          </p:cNvSpPr>
          <p:nvPr/>
        </p:nvSpPr>
        <p:spPr>
          <a:xfrm xmlns:a="http://schemas.openxmlformats.org/drawingml/2006/main">
            <a:off x="609600" y="5753100"/>
            <a:ext cx="10972800" cy="552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725" b="0">
                <a:solidFill>
                  <a:srgbClr val="526773"/>
                </a:solidFill>
                <a:latin typeface="Arial"/>
                <a:ea typeface="Arial"/>
                <a:cs typeface="Arial"/>
              </a:rPr>
              <a:t>Deactivation and urgent-contact instructions matter: a 2026 survey identifies training gaps. Filling follows the actual product protocol.</a:t>
            </a:r>
            <a:endParaRPr/>
          </a:p>
        </p:txBody>
      </p:sp>
    </p:spTree>
    <p:extLst>
      <p:ext uri="{BB962C8B-B14F-4D97-AF65-F5344CB8AC3E}">
        <p14:creationId xmlns:p14="http://schemas.microsoft.com/office/powerpoint/2010/main" val="1547328788"/>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25" name="Google Shape;525;p35">
            <a:extLst xmlns:a="http://schemas.openxmlformats.org/drawingml/2006/main">
              <a:ext uri="{FF2B5EF4-FFF2-40B4-BE49-F238E27FC236}">
                <a16:creationId xmlns:a16="http://schemas.microsoft.com/office/drawing/2014/main" id="{5DECA613-0971-4232-89B7-A2003F07B7E0}"/>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UroOps 3D: anatomy and component routes</a:t>
            </a:r>
            <a:endParaRPr/>
          </a:p>
        </p:txBody>
      </p:sp>
      <p:sp>
        <p:nvSpPr>
          <p:cNvPr id="526" name="Google Shape;526;p35">
            <a:extLst xmlns:a="http://schemas.openxmlformats.org/drawingml/2006/main">
              <a:ext uri="{FF2B5EF4-FFF2-40B4-BE49-F238E27FC236}">
                <a16:creationId xmlns:a16="http://schemas.microsoft.com/office/drawing/2014/main" id="{21987C6A-DD57-4151-A6F4-DAF96050D790}"/>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27" name="Google Shape;527;p35">
            <a:extLst xmlns:a="http://schemas.openxmlformats.org/drawingml/2006/main">
              <a:ext uri="{FF2B5EF4-FFF2-40B4-BE49-F238E27FC236}">
                <a16:creationId xmlns:a16="http://schemas.microsoft.com/office/drawing/2014/main" id="{BBCF6C30-F905-4337-8D35-4EE813813DFA}"/>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125" b="0">
                <a:solidFill>
                  <a:srgbClr val="526773"/>
                </a:solidFill>
                <a:latin typeface="Arial"/>
                <a:ea typeface="Arial"/>
                <a:cs typeface="Arial"/>
              </a:rPr>
              <a:t>ICS16 · AP23 · CCIFU</a:t>
            </a:r>
            <a:endParaRPr/>
          </a:p>
        </p:txBody>
      </p:sp>
      <p:sp>
        <p:nvSpPr>
          <p:cNvPr id="528" name="Google Shape;528;p35">
            <a:extLst xmlns:a="http://schemas.openxmlformats.org/drawingml/2006/main">
              <a:ext uri="{FF2B5EF4-FFF2-40B4-BE49-F238E27FC236}">
                <a16:creationId xmlns:a16="http://schemas.microsoft.com/office/drawing/2014/main" id="{E7A7217B-EE73-411D-B534-CC24D6AC2ED4}"/>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32</a:t>
            </a:r>
            <a:endParaRPr/>
          </a:p>
        </p:txBody>
      </p:sp>
      <p:pic>
        <p:nvPicPr>
          <p:cNvPr id="538" name="Google Shape;529;p35"/>
          <p:cNvPicPr>
            <a:picLocks xmlns:a="http://schemas.openxmlformats.org/drawingml/2006/main" noChangeAspect="1"/>
          </p:cNvPicPr>
          <p:nvPr/>
        </p:nvPicPr>
        <p:blipFill rotWithShape="1">
          <a:blip xmlns:r="http://schemas.openxmlformats.org/officeDocument/2006/relationships" xmlns:a="http://schemas.openxmlformats.org/drawingml/2006/main" r:embed="R786c785947264588">
            <a:alphaModFix/>
          </a:blip>
          <a:srcRect xmlns:a="http://schemas.openxmlformats.org/drawingml/2006/main" l="0" t="0" r="0" b="0"/>
          <a:stretch xmlns:a="http://schemas.openxmlformats.org/drawingml/2006/main"/>
        </p:blipFill>
        <p:spPr>
          <a:xfrm xmlns:a="http://schemas.openxmlformats.org/drawingml/2006/main">
            <a:off x="609600" y="1799538"/>
            <a:ext cx="7810500" cy="3220825"/>
          </a:xfrm>
          <a:prstGeom xmlns:a="http://schemas.openxmlformats.org/drawingml/2006/main" prst="rect">
            <a:avLst/>
          </a:prstGeom>
          <a:ln xmlns:a="http://schemas.openxmlformats.org/drawingml/2006/main">
            <a:noFill/>
          </a:ln>
        </p:spPr>
      </p:pic>
      <p:sp>
        <p:nvSpPr>
          <p:cNvPr id="530" name="Google Shape;530;p35">
            <a:extLst xmlns:a="http://schemas.openxmlformats.org/drawingml/2006/main">
              <a:ext uri="{FF2B5EF4-FFF2-40B4-BE49-F238E27FC236}">
                <a16:creationId xmlns:a16="http://schemas.microsoft.com/office/drawing/2014/main" id="{A7312E36-3F82-4A10-B07B-B685E639C117}"/>
              </a:ext>
            </a:extLst>
          </p:cNvPr>
          <p:cNvSpPr>
            <a:spLocks xmlns:a="http://schemas.openxmlformats.org/drawingml/2006/main" noGrp="1"/>
          </p:cNvSpPr>
          <p:nvPr/>
        </p:nvSpPr>
        <p:spPr>
          <a:xfrm xmlns:a="http://schemas.openxmlformats.org/drawingml/2006/main">
            <a:off x="8858250" y="2000250"/>
            <a:ext cx="2724150" cy="26193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325" b="0">
                <a:solidFill>
                  <a:srgbClr val="183343"/>
                </a:solidFill>
                <a:latin typeface="Arial"/>
                <a:ea typeface="Arial"/>
                <a:cs typeface="Arial"/>
              </a:rPr>
              <a:t>Cuff and dorsal plane</a:t>
            </a:r>
            <a:endParaRPr/>
          </a:p>
          <a:p xmlns:a="http://schemas.openxmlformats.org/drawingml/2006/main">
            <a:pPr marL="0" marR="0" lvl="0" indent="0" algn="l">
              <a:spcBef>
                <a:spcPts val="0"/>
              </a:spcBef>
              <a:spcAft>
                <a:spcPts val="0"/>
              </a:spcAft>
              <a:buNone/>
            </a:pPr>
            <a:r>
              <a:rPr sz="2325" b="0">
                <a:solidFill>
                  <a:srgbClr val="183343"/>
                </a:solidFill>
                <a:latin typeface="Arial"/>
                <a:ea typeface="Arial"/>
                <a:cs typeface="Arial"/>
              </a:rPr>
              <a:t>Pump access</a:t>
            </a:r>
            <a:endParaRPr/>
          </a:p>
          <a:p xmlns:a="http://schemas.openxmlformats.org/drawingml/2006/main">
            <a:pPr marL="0" marR="0" lvl="0" indent="0" algn="l">
              <a:spcBef>
                <a:spcPts val="0"/>
              </a:spcBef>
              <a:spcAft>
                <a:spcPts val="0"/>
              </a:spcAft>
              <a:buNone/>
            </a:pPr>
            <a:r>
              <a:rPr sz="2325" b="0">
                <a:solidFill>
                  <a:srgbClr val="183343"/>
                </a:solidFill>
                <a:latin typeface="Arial"/>
                <a:ea typeface="Arial"/>
                <a:cs typeface="Arial"/>
              </a:rPr>
              <a:t>Balloon pocket</a:t>
            </a:r>
            <a:endParaRPr/>
          </a:p>
          <a:p xmlns:a="http://schemas.openxmlformats.org/drawingml/2006/main">
            <a:pPr marL="0" marR="0" lvl="0" indent="0" algn="l">
              <a:spcBef>
                <a:spcPts val="0"/>
              </a:spcBef>
              <a:spcAft>
                <a:spcPts val="0"/>
              </a:spcAft>
              <a:buNone/>
            </a:pPr>
            <a:r>
              <a:rPr sz="2325" b="0">
                <a:solidFill>
                  <a:srgbClr val="183343"/>
                </a:solidFill>
                <a:latin typeface="Arial"/>
                <a:ea typeface="Arial"/>
                <a:cs typeface="Arial"/>
              </a:rPr>
              <a:t>Tubing route</a:t>
            </a:r>
            <a:endParaRPr/>
          </a:p>
        </p:txBody>
      </p:sp>
      <p:sp>
        <p:nvSpPr>
          <p:cNvPr id="531" name="Google Shape;531;p35">
            <a:extLst xmlns:a="http://schemas.openxmlformats.org/drawingml/2006/main">
              <a:ext uri="{FF2B5EF4-FFF2-40B4-BE49-F238E27FC236}">
                <a16:creationId xmlns:a16="http://schemas.microsoft.com/office/drawing/2014/main" id="{97A793DB-0C93-448F-B249-B13728DBF1C1}"/>
              </a:ext>
            </a:extLst>
          </p:cNvPr>
          <p:cNvSpPr>
            <a:spLocks xmlns:a="http://schemas.openxmlformats.org/drawingml/2006/main" noGrp="1"/>
          </p:cNvSpPr>
          <p:nvPr/>
        </p:nvSpPr>
        <p:spPr>
          <a:xfrm xmlns:a="http://schemas.openxmlformats.org/drawingml/2006/main">
            <a:off x="609600" y="5248275"/>
            <a:ext cx="10477500" cy="4286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250" b="1" u="sng">
                <a:solidFill>
                  <a:schemeClr val="hlink"/>
                </a:solidFill>
                <a:latin typeface="Arial"/>
                <a:ea typeface="Arial"/>
                <a:cs typeface="Arial"/>
                <a:hlinkClick xmlns:r="http://schemas.openxmlformats.org/officeDocument/2006/relationships" r:id="R7315f3b3515d4f64"/>
              </a:rPr>
              <a:t>uroops3d.com/lab/aus</a:t>
            </a:r>
            <a:endParaRPr/>
          </a:p>
        </p:txBody>
      </p:sp>
      <p:sp>
        <p:nvSpPr>
          <p:cNvPr id="532" name="Google Shape;532;p35">
            <a:extLst xmlns:a="http://schemas.openxmlformats.org/drawingml/2006/main">
              <a:ext uri="{FF2B5EF4-FFF2-40B4-BE49-F238E27FC236}">
                <a16:creationId xmlns:a16="http://schemas.microsoft.com/office/drawing/2014/main" id="{111514B0-E630-42FA-BBD4-D71EAB3CEC3F}"/>
              </a:ext>
            </a:extLst>
          </p:cNvPr>
          <p:cNvSpPr>
            <a:spLocks xmlns:a="http://schemas.openxmlformats.org/drawingml/2006/main" noGrp="1"/>
          </p:cNvSpPr>
          <p:nvPr/>
        </p:nvSpPr>
        <p:spPr>
          <a:xfrm xmlns:a="http://schemas.openxmlformats.org/drawingml/2006/main">
            <a:off x="609600" y="5753100"/>
            <a:ext cx="10972800" cy="552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725" b="0">
                <a:solidFill>
                  <a:srgbClr val="526773"/>
                </a:solidFill>
                <a:latin typeface="Arial"/>
                <a:ea typeface="Arial"/>
                <a:cs typeface="Arial"/>
              </a:rPr>
              <a:t>Teaching schematic, clinical review pending. The model illustrates relationships and does not replace device instructions.</a:t>
            </a:r>
            <a:endParaRPr/>
          </a:p>
        </p:txBody>
      </p:sp>
    </p:spTree>
    <p:extLst>
      <p:ext uri="{BB962C8B-B14F-4D97-AF65-F5344CB8AC3E}">
        <p14:creationId xmlns:p14="http://schemas.microsoft.com/office/powerpoint/2010/main" val="53178147"/>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38" name="Google Shape;538;p36">
            <a:extLst xmlns:a="http://schemas.openxmlformats.org/drawingml/2006/main">
              <a:ext uri="{FF2B5EF4-FFF2-40B4-BE49-F238E27FC236}">
                <a16:creationId xmlns:a16="http://schemas.microsoft.com/office/drawing/2014/main" id="{D22DB115-7666-431C-B72D-981CBAD575BD}"/>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Aftercare, activation and urgent review</a:t>
            </a:r>
            <a:endParaRPr/>
          </a:p>
        </p:txBody>
      </p:sp>
      <p:sp>
        <p:nvSpPr>
          <p:cNvPr id="539" name="Google Shape;539;p36">
            <a:extLst xmlns:a="http://schemas.openxmlformats.org/drawingml/2006/main">
              <a:ext uri="{FF2B5EF4-FFF2-40B4-BE49-F238E27FC236}">
                <a16:creationId xmlns:a16="http://schemas.microsoft.com/office/drawing/2014/main" id="{9D573610-04C7-453C-90EE-F7B872F26A3B}"/>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40" name="Google Shape;540;p36">
            <a:extLst xmlns:a="http://schemas.openxmlformats.org/drawingml/2006/main">
              <a:ext uri="{FF2B5EF4-FFF2-40B4-BE49-F238E27FC236}">
                <a16:creationId xmlns:a16="http://schemas.microsoft.com/office/drawing/2014/main" id="{1DB66B22-F7BC-4E1C-80AA-FD6E938C55BC}"/>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125" b="0">
                <a:solidFill>
                  <a:srgbClr val="526773"/>
                </a:solidFill>
                <a:latin typeface="Arial"/>
                <a:ea typeface="Arial"/>
                <a:cs typeface="Arial"/>
              </a:rPr>
              <a:t>BAUS25 · CCIFU · AUA24 · CATH13 · BAUSDAY26 · DAYMETA26 · DAYCASE26</a:t>
            </a:r>
            <a:endParaRPr/>
          </a:p>
        </p:txBody>
      </p:sp>
      <p:sp>
        <p:nvSpPr>
          <p:cNvPr id="541" name="Google Shape;541;p36">
            <a:extLst xmlns:a="http://schemas.openxmlformats.org/drawingml/2006/main">
              <a:ext uri="{FF2B5EF4-FFF2-40B4-BE49-F238E27FC236}">
                <a16:creationId xmlns:a16="http://schemas.microsoft.com/office/drawing/2014/main" id="{6A939C1E-ED35-476E-8D84-E8094CA8C03B}"/>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33</a:t>
            </a:r>
            <a:endParaRPr/>
          </a:p>
        </p:txBody>
      </p:sp>
      <p:sp>
        <p:nvSpPr>
          <p:cNvPr id="542" name="Google Shape;542;p36">
            <a:extLst xmlns:a="http://schemas.openxmlformats.org/drawingml/2006/main">
              <a:ext uri="{FF2B5EF4-FFF2-40B4-BE49-F238E27FC236}">
                <a16:creationId xmlns:a16="http://schemas.microsoft.com/office/drawing/2014/main" id="{1537EA37-292F-48B9-A98B-7E78CF8796F8}"/>
              </a:ext>
            </a:extLst>
          </p:cNvPr>
          <p:cNvSpPr>
            <a:spLocks xmlns:a="http://schemas.openxmlformats.org/drawingml/2006/main" noGrp="1"/>
          </p:cNvSpPr>
          <p:nvPr/>
        </p:nvSpPr>
        <p:spPr>
          <a:xfrm xmlns:a="http://schemas.openxmlformats.org/drawingml/2006/main">
            <a:off x="609600" y="1809750"/>
            <a:ext cx="5143500" cy="4286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400" b="1">
                <a:solidFill>
                  <a:srgbClr val="147F83"/>
                </a:solidFill>
                <a:latin typeface="Arial"/>
                <a:ea typeface="Arial"/>
                <a:cs typeface="Arial"/>
              </a:rPr>
              <a:t>Planned care</a:t>
            </a:r>
            <a:endParaRPr/>
          </a:p>
        </p:txBody>
      </p:sp>
      <p:sp>
        <p:nvSpPr>
          <p:cNvPr id="543" name="Google Shape;543;p36">
            <a:extLst xmlns:a="http://schemas.openxmlformats.org/drawingml/2006/main">
              <a:ext uri="{FF2B5EF4-FFF2-40B4-BE49-F238E27FC236}">
                <a16:creationId xmlns:a16="http://schemas.microsoft.com/office/drawing/2014/main" id="{F5D3AEB5-F334-4B5E-BEC4-9D061913416B}"/>
              </a:ext>
            </a:extLst>
          </p:cNvPr>
          <p:cNvSpPr>
            <a:spLocks xmlns:a="http://schemas.openxmlformats.org/drawingml/2006/main" noGrp="1"/>
          </p:cNvSpPr>
          <p:nvPr/>
        </p:nvSpPr>
        <p:spPr>
          <a:xfrm xmlns:a="http://schemas.openxmlformats.org/drawingml/2006/main">
            <a:off x="609600" y="2400300"/>
            <a:ext cx="51435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Selected day-case care with verified emptying</a:t>
            </a:r>
            <a:endParaRPr/>
          </a:p>
        </p:txBody>
      </p:sp>
      <p:sp>
        <p:nvSpPr>
          <p:cNvPr id="544" name="Google Shape;544;p36">
            <a:extLst xmlns:a="http://schemas.openxmlformats.org/drawingml/2006/main">
              <a:ext uri="{FF2B5EF4-FFF2-40B4-BE49-F238E27FC236}">
                <a16:creationId xmlns:a16="http://schemas.microsoft.com/office/drawing/2014/main" id="{D80498ED-6AE2-4E6B-9C15-2DD9E0C169CF}"/>
              </a:ext>
            </a:extLst>
          </p:cNvPr>
          <p:cNvSpPr>
            <a:spLocks xmlns:a="http://schemas.openxmlformats.org/drawingml/2006/main" noGrp="1"/>
          </p:cNvSpPr>
          <p:nvPr/>
        </p:nvSpPr>
        <p:spPr>
          <a:xfrm xmlns:a="http://schemas.openxmlformats.org/drawingml/2006/main">
            <a:off x="609600" y="3352800"/>
            <a:ext cx="51435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ContiClassic: 4–6 weeks deactivated until pain and oedema settle</a:t>
            </a:r>
            <a:endParaRPr/>
          </a:p>
        </p:txBody>
      </p:sp>
      <p:sp>
        <p:nvSpPr>
          <p:cNvPr id="545" name="Google Shape;545;p36">
            <a:extLst xmlns:a="http://schemas.openxmlformats.org/drawingml/2006/main">
              <a:ext uri="{FF2B5EF4-FFF2-40B4-BE49-F238E27FC236}">
                <a16:creationId xmlns:a16="http://schemas.microsoft.com/office/drawing/2014/main" id="{E323973E-E8BD-4A2A-82E8-4AD4B42E8D47}"/>
              </a:ext>
            </a:extLst>
          </p:cNvPr>
          <p:cNvSpPr>
            <a:spLocks xmlns:a="http://schemas.openxmlformats.org/drawingml/2006/main" noGrp="1"/>
          </p:cNvSpPr>
          <p:nvPr/>
        </p:nvSpPr>
        <p:spPr>
          <a:xfrm xmlns:a="http://schemas.openxmlformats.org/drawingml/2006/main">
            <a:off x="609600" y="4305300"/>
            <a:ext cx="51435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Activation includes patient demonstration and device information</a:t>
            </a:r>
            <a:endParaRPr/>
          </a:p>
        </p:txBody>
      </p:sp>
      <p:sp>
        <p:nvSpPr>
          <p:cNvPr id="546" name="Google Shape;546;p36">
            <a:extLst xmlns:a="http://schemas.openxmlformats.org/drawingml/2006/main">
              <a:ext uri="{FF2B5EF4-FFF2-40B4-BE49-F238E27FC236}">
                <a16:creationId xmlns:a16="http://schemas.microsoft.com/office/drawing/2014/main" id="{BCC63C6B-3A36-4E5F-A6F2-86D34F3492F6}"/>
              </a:ext>
            </a:extLst>
          </p:cNvPr>
          <p:cNvSpPr>
            <a:spLocks xmlns:a="http://schemas.openxmlformats.org/drawingml/2006/main" noGrp="1"/>
          </p:cNvSpPr>
          <p:nvPr/>
        </p:nvSpPr>
        <p:spPr>
          <a:xfrm xmlns:a="http://schemas.openxmlformats.org/drawingml/2006/main">
            <a:off x="6324600" y="1809750"/>
            <a:ext cx="5143500" cy="4286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400" b="1">
                <a:solidFill>
                  <a:srgbClr val="147F83"/>
                </a:solidFill>
                <a:latin typeface="Arial"/>
                <a:ea typeface="Arial"/>
                <a:cs typeface="Arial"/>
              </a:rPr>
              <a:t>Earlier assessment</a:t>
            </a:r>
            <a:endParaRPr/>
          </a:p>
        </p:txBody>
      </p:sp>
      <p:sp>
        <p:nvSpPr>
          <p:cNvPr id="547" name="Google Shape;547;p36">
            <a:extLst xmlns:a="http://schemas.openxmlformats.org/drawingml/2006/main">
              <a:ext uri="{FF2B5EF4-FFF2-40B4-BE49-F238E27FC236}">
                <a16:creationId xmlns:a16="http://schemas.microsoft.com/office/drawing/2014/main" id="{C6B8983A-36AB-4260-9630-A73ACD90CE10}"/>
              </a:ext>
            </a:extLst>
          </p:cNvPr>
          <p:cNvSpPr>
            <a:spLocks xmlns:a="http://schemas.openxmlformats.org/drawingml/2006/main" noGrp="1"/>
          </p:cNvSpPr>
          <p:nvPr/>
        </p:nvSpPr>
        <p:spPr>
          <a:xfrm xmlns:a="http://schemas.openxmlformats.org/drawingml/2006/main">
            <a:off x="6324600" y="2400300"/>
            <a:ext cx="51435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Retention or difficult voiding</a:t>
            </a:r>
            <a:endParaRPr/>
          </a:p>
        </p:txBody>
      </p:sp>
      <p:sp>
        <p:nvSpPr>
          <p:cNvPr id="548" name="Google Shape;548;p36">
            <a:extLst xmlns:a="http://schemas.openxmlformats.org/drawingml/2006/main">
              <a:ext uri="{FF2B5EF4-FFF2-40B4-BE49-F238E27FC236}">
                <a16:creationId xmlns:a16="http://schemas.microsoft.com/office/drawing/2014/main" id="{B1C3E143-2CEB-477F-B0C7-2B6F8D008873}"/>
              </a:ext>
            </a:extLst>
          </p:cNvPr>
          <p:cNvSpPr>
            <a:spLocks xmlns:a="http://schemas.openxmlformats.org/drawingml/2006/main" noGrp="1"/>
          </p:cNvSpPr>
          <p:nvPr/>
        </p:nvSpPr>
        <p:spPr>
          <a:xfrm xmlns:a="http://schemas.openxmlformats.org/drawingml/2006/main">
            <a:off x="6324600" y="3352800"/>
            <a:ext cx="51435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Worsening pain, erythema, discharge or fever</a:t>
            </a:r>
            <a:endParaRPr/>
          </a:p>
        </p:txBody>
      </p:sp>
      <p:sp>
        <p:nvSpPr>
          <p:cNvPr id="549" name="Google Shape;549;p36">
            <a:extLst xmlns:a="http://schemas.openxmlformats.org/drawingml/2006/main">
              <a:ext uri="{FF2B5EF4-FFF2-40B4-BE49-F238E27FC236}">
                <a16:creationId xmlns:a16="http://schemas.microsoft.com/office/drawing/2014/main" id="{F242EA04-4889-42BC-801F-0E0575B70F29}"/>
              </a:ext>
            </a:extLst>
          </p:cNvPr>
          <p:cNvSpPr>
            <a:spLocks xmlns:a="http://schemas.openxmlformats.org/drawingml/2006/main" noGrp="1"/>
          </p:cNvSpPr>
          <p:nvPr/>
        </p:nvSpPr>
        <p:spPr>
          <a:xfrm xmlns:a="http://schemas.openxmlformats.org/drawingml/2006/main">
            <a:off x="6324600" y="4305300"/>
            <a:ext cx="51435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Suspected infection or erosion needs specialist review</a:t>
            </a:r>
            <a:endParaRPr/>
          </a:p>
        </p:txBody>
      </p:sp>
      <p:sp>
        <p:nvSpPr>
          <p:cNvPr id="550" name="Google Shape;550;p36">
            <a:extLst xmlns:a="http://schemas.openxmlformats.org/drawingml/2006/main">
              <a:ext uri="{FF2B5EF4-FFF2-40B4-BE49-F238E27FC236}">
                <a16:creationId xmlns:a16="http://schemas.microsoft.com/office/drawing/2014/main" id="{E6A9C52A-4B15-443D-B8AA-B9F27972607C}"/>
              </a:ext>
            </a:extLst>
          </p:cNvPr>
          <p:cNvSpPr>
            <a:spLocks xmlns:a="http://schemas.openxmlformats.org/drawingml/2006/main" noGrp="1"/>
          </p:cNvSpPr>
          <p:nvPr/>
        </p:nvSpPr>
        <p:spPr>
          <a:xfrm xmlns:a="http://schemas.openxmlformats.org/drawingml/2006/main">
            <a:off x="609600" y="5753100"/>
            <a:ext cx="10972800" cy="552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725" b="0">
                <a:solidFill>
                  <a:srgbClr val="526773"/>
                </a:solidFill>
                <a:latin typeface="Arial"/>
                <a:ea typeface="Arial"/>
                <a:cs typeface="Arial"/>
              </a:rPr>
              <a:t>BAUS 2026 day-case audit and comparative studies support selected pathways. Confirm emptying, support and rapid access to review.</a:t>
            </a:r>
            <a:endParaRPr/>
          </a:p>
        </p:txBody>
      </p:sp>
    </p:spTree>
    <p:extLst>
      <p:ext uri="{BB962C8B-B14F-4D97-AF65-F5344CB8AC3E}">
        <p14:creationId xmlns:p14="http://schemas.microsoft.com/office/powerpoint/2010/main" val="1071642561"/>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56" name="Google Shape;556;p37">
            <a:extLst xmlns:a="http://schemas.openxmlformats.org/drawingml/2006/main">
              <a:ext uri="{FF2B5EF4-FFF2-40B4-BE49-F238E27FC236}">
                <a16:creationId xmlns:a16="http://schemas.microsoft.com/office/drawing/2014/main" id="{378A39A4-E615-496C-A645-18461FB70907}"/>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Case 4: leakage after three good years</a:t>
            </a:r>
            <a:endParaRPr/>
          </a:p>
        </p:txBody>
      </p:sp>
      <p:sp>
        <p:nvSpPr>
          <p:cNvPr id="557" name="Google Shape;557;p37">
            <a:extLst xmlns:a="http://schemas.openxmlformats.org/drawingml/2006/main">
              <a:ext uri="{FF2B5EF4-FFF2-40B4-BE49-F238E27FC236}">
                <a16:creationId xmlns:a16="http://schemas.microsoft.com/office/drawing/2014/main" id="{18C28A41-E705-4E91-B5F1-8E8284476A2F}"/>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58" name="Google Shape;558;p37">
            <a:extLst xmlns:a="http://schemas.openxmlformats.org/drawingml/2006/main">
              <a:ext uri="{FF2B5EF4-FFF2-40B4-BE49-F238E27FC236}">
                <a16:creationId xmlns:a16="http://schemas.microsoft.com/office/drawing/2014/main" id="{C007D179-BBD5-44CE-A89D-70AAF48D2782}"/>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125" b="0">
                <a:solidFill>
                  <a:srgbClr val="526773"/>
                </a:solidFill>
                <a:latin typeface="Arial"/>
                <a:ea typeface="Arial"/>
                <a:cs typeface="Arial"/>
              </a:rPr>
              <a:t>ATROPHY20 · BAUS25 · AUA24 · CCIFU · AUASAFER26 · PRBFAT26 · EROSION26 · SECOND26</a:t>
            </a:r>
            <a:endParaRPr/>
          </a:p>
        </p:txBody>
      </p:sp>
      <p:sp>
        <p:nvSpPr>
          <p:cNvPr id="559" name="Google Shape;559;p37">
            <a:extLst xmlns:a="http://schemas.openxmlformats.org/drawingml/2006/main">
              <a:ext uri="{FF2B5EF4-FFF2-40B4-BE49-F238E27FC236}">
                <a16:creationId xmlns:a16="http://schemas.microsoft.com/office/drawing/2014/main" id="{E9310532-C500-4E6F-A896-F459C53D2217}"/>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34</a:t>
            </a:r>
            <a:endParaRPr/>
          </a:p>
        </p:txBody>
      </p:sp>
      <p:sp>
        <p:nvSpPr>
          <p:cNvPr id="560" name="Google Shape;560;p37">
            <a:extLst xmlns:a="http://schemas.openxmlformats.org/drawingml/2006/main">
              <a:ext uri="{FF2B5EF4-FFF2-40B4-BE49-F238E27FC236}">
                <a16:creationId xmlns:a16="http://schemas.microsoft.com/office/drawing/2014/main" id="{7563E750-4575-4AF9-B4B9-52BFD4CF86FF}"/>
              </a:ext>
            </a:extLst>
          </p:cNvPr>
          <p:cNvSpPr>
            <a:spLocks xmlns:a="http://schemas.openxmlformats.org/drawingml/2006/main" noGrp="1"/>
          </p:cNvSpPr>
          <p:nvPr/>
        </p:nvSpPr>
        <p:spPr>
          <a:xfrm xmlns:a="http://schemas.openxmlformats.org/drawingml/2006/main">
            <a:off x="609600" y="1790700"/>
            <a:ext cx="6000750" cy="4286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75" b="1">
                <a:solidFill>
                  <a:srgbClr val="147F83"/>
                </a:solidFill>
                <a:latin typeface="Arial"/>
                <a:ea typeface="Arial"/>
                <a:cs typeface="Arial"/>
              </a:rPr>
              <a:t>Fictional clinical case 04</a:t>
            </a:r>
            <a:endParaRPr/>
          </a:p>
        </p:txBody>
      </p:sp>
      <p:sp>
        <p:nvSpPr>
          <p:cNvPr id="561" name="Google Shape;561;p37">
            <a:extLst xmlns:a="http://schemas.openxmlformats.org/drawingml/2006/main">
              <a:ext uri="{FF2B5EF4-FFF2-40B4-BE49-F238E27FC236}">
                <a16:creationId xmlns:a16="http://schemas.microsoft.com/office/drawing/2014/main" id="{1C2324BC-7DC9-4B32-B683-F656B4AF9A04}"/>
              </a:ext>
            </a:extLst>
          </p:cNvPr>
          <p:cNvSpPr>
            <a:spLocks xmlns:a="http://schemas.openxmlformats.org/drawingml/2006/main" noGrp="1"/>
          </p:cNvSpPr>
          <p:nvPr/>
        </p:nvSpPr>
        <p:spPr>
          <a:xfrm xmlns:a="http://schemas.openxmlformats.org/drawingml/2006/main">
            <a:off x="609600" y="2400300"/>
            <a:ext cx="5810250" cy="6381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An initially useful AUS result</a:t>
            </a:r>
            <a:endParaRPr/>
          </a:p>
        </p:txBody>
      </p:sp>
      <p:sp>
        <p:nvSpPr>
          <p:cNvPr id="562" name="Google Shape;562;p37">
            <a:extLst xmlns:a="http://schemas.openxmlformats.org/drawingml/2006/main">
              <a:ext uri="{FF2B5EF4-FFF2-40B4-BE49-F238E27FC236}">
                <a16:creationId xmlns:a16="http://schemas.microsoft.com/office/drawing/2014/main" id="{ED244C82-C708-4790-A706-8BA8B8B6CD1C}"/>
              </a:ext>
            </a:extLst>
          </p:cNvPr>
          <p:cNvSpPr>
            <a:spLocks xmlns:a="http://schemas.openxmlformats.org/drawingml/2006/main" noGrp="1"/>
          </p:cNvSpPr>
          <p:nvPr/>
        </p:nvSpPr>
        <p:spPr>
          <a:xfrm xmlns:a="http://schemas.openxmlformats.org/drawingml/2006/main">
            <a:off x="609600" y="3152775"/>
            <a:ext cx="5810250" cy="6381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Recurrent leakage after three years</a:t>
            </a:r>
            <a:endParaRPr/>
          </a:p>
        </p:txBody>
      </p:sp>
      <p:sp>
        <p:nvSpPr>
          <p:cNvPr id="563" name="Google Shape;563;p37">
            <a:extLst xmlns:a="http://schemas.openxmlformats.org/drawingml/2006/main">
              <a:ext uri="{FF2B5EF4-FFF2-40B4-BE49-F238E27FC236}">
                <a16:creationId xmlns:a16="http://schemas.microsoft.com/office/drawing/2014/main" id="{1C07D31A-67D8-4C31-8AD2-C9F8449F8E68}"/>
              </a:ext>
            </a:extLst>
          </p:cNvPr>
          <p:cNvSpPr>
            <a:spLocks xmlns:a="http://schemas.openxmlformats.org/drawingml/2006/main" noGrp="1"/>
          </p:cNvSpPr>
          <p:nvPr/>
        </p:nvSpPr>
        <p:spPr>
          <a:xfrm xmlns:a="http://schemas.openxmlformats.org/drawingml/2006/main">
            <a:off x="609600" y="3905250"/>
            <a:ext cx="5810250" cy="6381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Leakage mechanism and pump use still need assessment</a:t>
            </a:r>
            <a:endParaRPr/>
          </a:p>
        </p:txBody>
      </p:sp>
      <p:sp>
        <p:nvSpPr>
          <p:cNvPr id="564" name="Google Shape;564;p37">
            <a:extLst xmlns:a="http://schemas.openxmlformats.org/drawingml/2006/main">
              <a:ext uri="{FF2B5EF4-FFF2-40B4-BE49-F238E27FC236}">
                <a16:creationId xmlns:a16="http://schemas.microsoft.com/office/drawing/2014/main" id="{1C44AA3A-FFBF-4B32-AB79-490AAECFAAE7}"/>
              </a:ext>
            </a:extLst>
          </p:cNvPr>
          <p:cNvSpPr>
            <a:spLocks xmlns:a="http://schemas.openxmlformats.org/drawingml/2006/main" noGrp="1"/>
          </p:cNvSpPr>
          <p:nvPr/>
        </p:nvSpPr>
        <p:spPr>
          <a:xfrm xmlns:a="http://schemas.openxmlformats.org/drawingml/2006/main">
            <a:off x="609600" y="4657725"/>
            <a:ext cx="5810250" cy="6381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Erosion, mechanics and bladder dysfunction remain possible</a:t>
            </a:r>
            <a:endParaRPr/>
          </a:p>
        </p:txBody>
      </p:sp>
      <p:sp>
        <p:nvSpPr>
          <p:cNvPr id="565" name="Google Shape;565;p37">
            <a:extLst xmlns:a="http://schemas.openxmlformats.org/drawingml/2006/main">
              <a:ext uri="{FF2B5EF4-FFF2-40B4-BE49-F238E27FC236}">
                <a16:creationId xmlns:a16="http://schemas.microsoft.com/office/drawing/2014/main" id="{DC857C3F-A584-4EE2-9223-E3025C615F98}"/>
              </a:ext>
            </a:extLst>
          </p:cNvPr>
          <p:cNvSpPr>
            <a:spLocks xmlns:a="http://schemas.openxmlformats.org/drawingml/2006/main" noGrp="1"/>
          </p:cNvSpPr>
          <p:nvPr/>
        </p:nvSpPr>
        <p:spPr>
          <a:xfrm xmlns:a="http://schemas.openxmlformats.org/drawingml/2006/main">
            <a:off x="7239000" y="2095500"/>
            <a:ext cx="4343400" cy="20002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000" b="1">
                <a:solidFill>
                  <a:srgbClr val="183343"/>
                </a:solidFill>
                <a:latin typeface="Arial"/>
                <a:ea typeface="Arial"/>
                <a:cs typeface="Arial"/>
              </a:rPr>
              <a:t>What would you investigate before choosing revision?</a:t>
            </a:r>
            <a:endParaRPr/>
          </a:p>
        </p:txBody>
      </p:sp>
      <p:sp>
        <p:nvSpPr>
          <p:cNvPr id="566" name="Google Shape;566;p37">
            <a:extLst xmlns:a="http://schemas.openxmlformats.org/drawingml/2006/main">
              <a:ext uri="{FF2B5EF4-FFF2-40B4-BE49-F238E27FC236}">
                <a16:creationId xmlns:a16="http://schemas.microsoft.com/office/drawing/2014/main" id="{44CF5868-5700-4F24-BF2F-9550936CD9A4}"/>
              </a:ext>
            </a:extLst>
          </p:cNvPr>
          <p:cNvSpPr>
            <a:spLocks xmlns:a="http://schemas.openxmlformats.org/drawingml/2006/main" noGrp="1"/>
          </p:cNvSpPr>
          <p:nvPr/>
        </p:nvSpPr>
        <p:spPr>
          <a:xfrm xmlns:a="http://schemas.openxmlformats.org/drawingml/2006/main">
            <a:off x="7239000" y="4362450"/>
            <a:ext cx="7620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67" name="Google Shape;567;p37">
            <a:extLst xmlns:a="http://schemas.openxmlformats.org/drawingml/2006/main">
              <a:ext uri="{FF2B5EF4-FFF2-40B4-BE49-F238E27FC236}">
                <a16:creationId xmlns:a16="http://schemas.microsoft.com/office/drawing/2014/main" id="{59AB71D3-C449-4016-AEF6-A5F5E5D76077}"/>
              </a:ext>
            </a:extLst>
          </p:cNvPr>
          <p:cNvSpPr>
            <a:spLocks xmlns:a="http://schemas.openxmlformats.org/drawingml/2006/main" noGrp="1"/>
          </p:cNvSpPr>
          <p:nvPr/>
        </p:nvSpPr>
        <p:spPr>
          <a:xfrm xmlns:a="http://schemas.openxmlformats.org/drawingml/2006/main">
            <a:off x="7239000" y="4610100"/>
            <a:ext cx="4343400" cy="8572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950" b="0">
                <a:solidFill>
                  <a:srgbClr val="147F83"/>
                </a:solidFill>
                <a:latin typeface="Arial"/>
                <a:ea typeface="Arial"/>
                <a:cs typeface="Arial"/>
              </a:rPr>
              <a:t>Use / Urethra / Mechanics / Bladder</a:t>
            </a:r>
            <a:endParaRPr/>
          </a:p>
        </p:txBody>
      </p:sp>
      <p:sp>
        <p:nvSpPr>
          <p:cNvPr id="568" name="Google Shape;568;p37">
            <a:extLst xmlns:a="http://schemas.openxmlformats.org/drawingml/2006/main">
              <a:ext uri="{FF2B5EF4-FFF2-40B4-BE49-F238E27FC236}">
                <a16:creationId xmlns:a16="http://schemas.microsoft.com/office/drawing/2014/main" id="{11C9DCB4-1FD0-443D-A889-539B2033C4FD}"/>
              </a:ext>
            </a:extLst>
          </p:cNvPr>
          <p:cNvSpPr>
            <a:spLocks xmlns:a="http://schemas.openxmlformats.org/drawingml/2006/main" noGrp="1"/>
          </p:cNvSpPr>
          <p:nvPr/>
        </p:nvSpPr>
        <p:spPr>
          <a:xfrm xmlns:a="http://schemas.openxmlformats.org/drawingml/2006/main">
            <a:off x="609600" y="5753100"/>
            <a:ext cx="10972800" cy="552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725" b="0">
                <a:solidFill>
                  <a:srgbClr val="526773"/>
                </a:solidFill>
                <a:latin typeface="Arial"/>
                <a:ea typeface="Arial"/>
                <a:cs typeface="Arial"/>
              </a:rPr>
              <a:t>2026 PRB fatigue study adds a mechanical explanation. Diagnose the cause; do not automatically downsize or replace the balloon.</a:t>
            </a:r>
            <a:endParaRPr/>
          </a:p>
        </p:txBody>
      </p:sp>
    </p:spTree>
    <p:extLst>
      <p:ext uri="{BB962C8B-B14F-4D97-AF65-F5344CB8AC3E}">
        <p14:creationId xmlns:p14="http://schemas.microsoft.com/office/powerpoint/2010/main" val="1526286539"/>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74" name="Google Shape;574;p38">
            <a:extLst xmlns:a="http://schemas.openxmlformats.org/drawingml/2006/main">
              <a:ext uri="{FF2B5EF4-FFF2-40B4-BE49-F238E27FC236}">
                <a16:creationId xmlns:a16="http://schemas.microsoft.com/office/drawing/2014/main" id="{AC52B555-BDE2-4A62-883E-4AECBF1D62E9}"/>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Established benefit and unresolved questions</a:t>
            </a:r>
            <a:endParaRPr/>
          </a:p>
        </p:txBody>
      </p:sp>
      <p:sp>
        <p:nvSpPr>
          <p:cNvPr id="575" name="Google Shape;575;p38">
            <a:extLst xmlns:a="http://schemas.openxmlformats.org/drawingml/2006/main">
              <a:ext uri="{FF2B5EF4-FFF2-40B4-BE49-F238E27FC236}">
                <a16:creationId xmlns:a16="http://schemas.microsoft.com/office/drawing/2014/main" id="{361D11DE-E088-4D36-96D8-7A11B7263048}"/>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76" name="Google Shape;576;p38">
            <a:extLst xmlns:a="http://schemas.openxmlformats.org/drawingml/2006/main">
              <a:ext uri="{FF2B5EF4-FFF2-40B4-BE49-F238E27FC236}">
                <a16:creationId xmlns:a16="http://schemas.microsoft.com/office/drawing/2014/main" id="{EAA58D5D-E738-4632-9808-7409559BE35C}"/>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125" b="0">
                <a:solidFill>
                  <a:srgbClr val="526773"/>
                </a:solidFill>
                <a:latin typeface="Arial"/>
                <a:ea typeface="Arial"/>
                <a:cs typeface="Arial"/>
              </a:rPr>
              <a:t>MASTER22 · TC20 · TC23 · PREP24 · CCSAFETY · DEVICE26 · UROACTIVE26</a:t>
            </a:r>
            <a:endParaRPr/>
          </a:p>
        </p:txBody>
      </p:sp>
      <p:sp>
        <p:nvSpPr>
          <p:cNvPr id="577" name="Google Shape;577;p38">
            <a:extLst xmlns:a="http://schemas.openxmlformats.org/drawingml/2006/main">
              <a:ext uri="{FF2B5EF4-FFF2-40B4-BE49-F238E27FC236}">
                <a16:creationId xmlns:a16="http://schemas.microsoft.com/office/drawing/2014/main" id="{F3C95CF2-86FA-4157-B8AA-323B333BC230}"/>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35</a:t>
            </a:r>
            <a:endParaRPr/>
          </a:p>
        </p:txBody>
      </p:sp>
      <p:sp>
        <p:nvSpPr>
          <p:cNvPr id="578" name="Google Shape;578;p38">
            <a:extLst xmlns:a="http://schemas.openxmlformats.org/drawingml/2006/main">
              <a:ext uri="{FF2B5EF4-FFF2-40B4-BE49-F238E27FC236}">
                <a16:creationId xmlns:a16="http://schemas.microsoft.com/office/drawing/2014/main" id="{ED98A012-DFBF-46CF-9725-AE3208F83DC8}"/>
              </a:ext>
            </a:extLst>
          </p:cNvPr>
          <p:cNvSpPr>
            <a:spLocks xmlns:a="http://schemas.openxmlformats.org/drawingml/2006/main" noGrp="1"/>
          </p:cNvSpPr>
          <p:nvPr/>
        </p:nvSpPr>
        <p:spPr>
          <a:xfrm xmlns:a="http://schemas.openxmlformats.org/drawingml/2006/main">
            <a:off x="609600" y="1809750"/>
            <a:ext cx="5143500" cy="4286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400" b="1">
                <a:solidFill>
                  <a:srgbClr val="147F83"/>
                </a:solidFill>
                <a:latin typeface="Arial"/>
                <a:ea typeface="Arial"/>
                <a:cs typeface="Arial"/>
              </a:rPr>
              <a:t>Supported or plausible</a:t>
            </a:r>
            <a:endParaRPr/>
          </a:p>
        </p:txBody>
      </p:sp>
      <p:sp>
        <p:nvSpPr>
          <p:cNvPr id="579" name="Google Shape;579;p38">
            <a:extLst xmlns:a="http://schemas.openxmlformats.org/drawingml/2006/main">
              <a:ext uri="{FF2B5EF4-FFF2-40B4-BE49-F238E27FC236}">
                <a16:creationId xmlns:a16="http://schemas.microsoft.com/office/drawing/2014/main" id="{E6873410-1463-4026-8B17-A2EB5A2E128D}"/>
              </a:ext>
            </a:extLst>
          </p:cNvPr>
          <p:cNvSpPr>
            <a:spLocks xmlns:a="http://schemas.openxmlformats.org/drawingml/2006/main" noGrp="1"/>
          </p:cNvSpPr>
          <p:nvPr/>
        </p:nvSpPr>
        <p:spPr>
          <a:xfrm xmlns:a="http://schemas.openxmlformats.org/drawingml/2006/main">
            <a:off x="609600" y="2400300"/>
            <a:ext cx="51435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Selected patients gain substantial continence benefit</a:t>
            </a:r>
            <a:endParaRPr/>
          </a:p>
        </p:txBody>
      </p:sp>
      <p:sp>
        <p:nvSpPr>
          <p:cNvPr id="580" name="Google Shape;580;p38">
            <a:extLst xmlns:a="http://schemas.openxmlformats.org/drawingml/2006/main">
              <a:ext uri="{FF2B5EF4-FFF2-40B4-BE49-F238E27FC236}">
                <a16:creationId xmlns:a16="http://schemas.microsoft.com/office/drawing/2014/main" id="{BF0C5DCF-D7DA-4F0A-8484-5F328D0E2E2A}"/>
              </a:ext>
            </a:extLst>
          </p:cNvPr>
          <p:cNvSpPr>
            <a:spLocks xmlns:a="http://schemas.openxmlformats.org/drawingml/2006/main" noGrp="1"/>
          </p:cNvSpPr>
          <p:nvPr/>
        </p:nvSpPr>
        <p:spPr>
          <a:xfrm xmlns:a="http://schemas.openxmlformats.org/drawingml/2006/main">
            <a:off x="609600" y="3352800"/>
            <a:ext cx="51435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Tissue preservation and contamination control have strong rationale</a:t>
            </a:r>
            <a:endParaRPr/>
          </a:p>
        </p:txBody>
      </p:sp>
      <p:sp>
        <p:nvSpPr>
          <p:cNvPr id="581" name="Google Shape;581;p38">
            <a:extLst xmlns:a="http://schemas.openxmlformats.org/drawingml/2006/main">
              <a:ext uri="{FF2B5EF4-FFF2-40B4-BE49-F238E27FC236}">
                <a16:creationId xmlns:a16="http://schemas.microsoft.com/office/drawing/2014/main" id="{41FB36F8-45C2-48B9-A08E-527D7B7F7465}"/>
              </a:ext>
            </a:extLst>
          </p:cNvPr>
          <p:cNvSpPr>
            <a:spLocks xmlns:a="http://schemas.openxmlformats.org/drawingml/2006/main" noGrp="1"/>
          </p:cNvSpPr>
          <p:nvPr/>
        </p:nvSpPr>
        <p:spPr>
          <a:xfrm xmlns:a="http://schemas.openxmlformats.org/drawingml/2006/main">
            <a:off x="609600" y="4305300"/>
            <a:ext cx="51435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Future access belongs in the operative plan</a:t>
            </a:r>
            <a:endParaRPr/>
          </a:p>
        </p:txBody>
      </p:sp>
      <p:sp>
        <p:nvSpPr>
          <p:cNvPr id="582" name="Google Shape;582;p38">
            <a:extLst xmlns:a="http://schemas.openxmlformats.org/drawingml/2006/main">
              <a:ext uri="{FF2B5EF4-FFF2-40B4-BE49-F238E27FC236}">
                <a16:creationId xmlns:a16="http://schemas.microsoft.com/office/drawing/2014/main" id="{DD2C247B-2C8F-463D-8D9B-454F3ADAB4E8}"/>
              </a:ext>
            </a:extLst>
          </p:cNvPr>
          <p:cNvSpPr>
            <a:spLocks xmlns:a="http://schemas.openxmlformats.org/drawingml/2006/main" noGrp="1"/>
          </p:cNvSpPr>
          <p:nvPr/>
        </p:nvSpPr>
        <p:spPr>
          <a:xfrm xmlns:a="http://schemas.openxmlformats.org/drawingml/2006/main">
            <a:off x="6324600" y="1809750"/>
            <a:ext cx="5143500" cy="4286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400" b="1">
                <a:solidFill>
                  <a:srgbClr val="147F83"/>
                </a:solidFill>
                <a:latin typeface="Arial"/>
                <a:ea typeface="Arial"/>
                <a:cs typeface="Arial"/>
              </a:rPr>
              <a:t>Still uncertain</a:t>
            </a:r>
            <a:endParaRPr/>
          </a:p>
        </p:txBody>
      </p:sp>
      <p:sp>
        <p:nvSpPr>
          <p:cNvPr id="583" name="Google Shape;583;p38">
            <a:extLst xmlns:a="http://schemas.openxmlformats.org/drawingml/2006/main">
              <a:ext uri="{FF2B5EF4-FFF2-40B4-BE49-F238E27FC236}">
                <a16:creationId xmlns:a16="http://schemas.microsoft.com/office/drawing/2014/main" id="{BD5898BE-1EBF-4BFC-8897-8976636D900A}"/>
              </a:ext>
            </a:extLst>
          </p:cNvPr>
          <p:cNvSpPr>
            <a:spLocks xmlns:a="http://schemas.openxmlformats.org/drawingml/2006/main" noGrp="1"/>
          </p:cNvSpPr>
          <p:nvPr/>
        </p:nvSpPr>
        <p:spPr>
          <a:xfrm xmlns:a="http://schemas.openxmlformats.org/drawingml/2006/main">
            <a:off x="6324600" y="2400300"/>
            <a:ext cx="51435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The best salvage strategy for a fragile urethra</a:t>
            </a:r>
            <a:endParaRPr/>
          </a:p>
        </p:txBody>
      </p:sp>
      <p:sp>
        <p:nvSpPr>
          <p:cNvPr id="584" name="Google Shape;584;p38">
            <a:extLst xmlns:a="http://schemas.openxmlformats.org/drawingml/2006/main">
              <a:ext uri="{FF2B5EF4-FFF2-40B4-BE49-F238E27FC236}">
                <a16:creationId xmlns:a16="http://schemas.microsoft.com/office/drawing/2014/main" id="{8E6F838C-38CB-488B-B8BC-7845A36EFE96}"/>
              </a:ext>
            </a:extLst>
          </p:cNvPr>
          <p:cNvSpPr>
            <a:spLocks xmlns:a="http://schemas.openxmlformats.org/drawingml/2006/main" noGrp="1"/>
          </p:cNvSpPr>
          <p:nvPr/>
        </p:nvSpPr>
        <p:spPr>
          <a:xfrm xmlns:a="http://schemas.openxmlformats.org/drawingml/2006/main">
            <a:off x="6324600" y="3352800"/>
            <a:ext cx="51435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Optimal irrigants and preparation duration</a:t>
            </a:r>
            <a:endParaRPr/>
          </a:p>
        </p:txBody>
      </p:sp>
      <p:sp>
        <p:nvSpPr>
          <p:cNvPr id="585" name="Google Shape;585;p38">
            <a:extLst xmlns:a="http://schemas.openxmlformats.org/drawingml/2006/main">
              <a:ext uri="{FF2B5EF4-FFF2-40B4-BE49-F238E27FC236}">
                <a16:creationId xmlns:a16="http://schemas.microsoft.com/office/drawing/2014/main" id="{8CE02E43-3905-49B6-A89B-4A63C6C25EEF}"/>
              </a:ext>
            </a:extLst>
          </p:cNvPr>
          <p:cNvSpPr>
            <a:spLocks xmlns:a="http://schemas.openxmlformats.org/drawingml/2006/main" noGrp="1"/>
          </p:cNvSpPr>
          <p:nvPr/>
        </p:nvSpPr>
        <p:spPr>
          <a:xfrm xmlns:a="http://schemas.openxmlformats.org/drawingml/2006/main">
            <a:off x="6324600" y="4305300"/>
            <a:ext cx="51435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Comparable long-term ContiClassic outcomes</a:t>
            </a:r>
            <a:endParaRPr/>
          </a:p>
        </p:txBody>
      </p:sp>
      <p:sp>
        <p:nvSpPr>
          <p:cNvPr id="586" name="Google Shape;586;p38">
            <a:extLst xmlns:a="http://schemas.openxmlformats.org/drawingml/2006/main">
              <a:ext uri="{FF2B5EF4-FFF2-40B4-BE49-F238E27FC236}">
                <a16:creationId xmlns:a16="http://schemas.microsoft.com/office/drawing/2014/main" id="{868BE2AE-2CB4-4987-B93F-B2CFA31FDD07}"/>
              </a:ext>
            </a:extLst>
          </p:cNvPr>
          <p:cNvSpPr>
            <a:spLocks xmlns:a="http://schemas.openxmlformats.org/drawingml/2006/main" noGrp="1"/>
          </p:cNvSpPr>
          <p:nvPr/>
        </p:nvSpPr>
        <p:spPr>
          <a:xfrm xmlns:a="http://schemas.openxmlformats.org/drawingml/2006/main">
            <a:off x="609600" y="5753100"/>
            <a:ext cx="10972800" cy="552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725" b="0">
                <a:solidFill>
                  <a:srgbClr val="526773"/>
                </a:solidFill>
                <a:latin typeface="Arial"/>
                <a:ea typeface="Arial"/>
                <a:cs typeface="Arial"/>
              </a:rPr>
              <a:t>2026 reviews and early electronic-AUS data add options, while comparative and long-term evidence remains limited.</a:t>
            </a:r>
            <a:endParaRPr/>
          </a:p>
        </p:txBody>
      </p:sp>
    </p:spTree>
    <p:extLst>
      <p:ext uri="{BB962C8B-B14F-4D97-AF65-F5344CB8AC3E}">
        <p14:creationId xmlns:p14="http://schemas.microsoft.com/office/powerpoint/2010/main" val="810050218"/>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92" name="Google Shape;592;p39">
            <a:extLst xmlns:a="http://schemas.openxmlformats.org/drawingml/2006/main">
              <a:ext uri="{FF2B5EF4-FFF2-40B4-BE49-F238E27FC236}">
                <a16:creationId xmlns:a16="http://schemas.microsoft.com/office/drawing/2014/main" id="{5193E0C6-9A67-4C36-AA95-E376D3BE502A}"/>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Five decisions before implantation</a:t>
            </a:r>
            <a:endParaRPr/>
          </a:p>
        </p:txBody>
      </p:sp>
      <p:sp>
        <p:nvSpPr>
          <p:cNvPr id="593" name="Google Shape;593;p39">
            <a:extLst xmlns:a="http://schemas.openxmlformats.org/drawingml/2006/main">
              <a:ext uri="{FF2B5EF4-FFF2-40B4-BE49-F238E27FC236}">
                <a16:creationId xmlns:a16="http://schemas.microsoft.com/office/drawing/2014/main" id="{954FFEDA-9F23-4BB3-A283-E60C69E393F1}"/>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4" name="Google Shape;594;p39">
            <a:extLst xmlns:a="http://schemas.openxmlformats.org/drawingml/2006/main">
              <a:ext uri="{FF2B5EF4-FFF2-40B4-BE49-F238E27FC236}">
                <a16:creationId xmlns:a16="http://schemas.microsoft.com/office/drawing/2014/main" id="{290F9422-7F5E-4F67-B9F8-7AEE588918DA}"/>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125" b="0">
                <a:solidFill>
                  <a:srgbClr val="526773"/>
                </a:solidFill>
                <a:latin typeface="Arial"/>
                <a:ea typeface="Arial"/>
                <a:cs typeface="Arial"/>
              </a:rPr>
              <a:t>BAUS25 · EAU26 · AUA24 · DU23 · ICS16</a:t>
            </a:r>
            <a:endParaRPr/>
          </a:p>
        </p:txBody>
      </p:sp>
      <p:sp>
        <p:nvSpPr>
          <p:cNvPr id="595" name="Google Shape;595;p39">
            <a:extLst xmlns:a="http://schemas.openxmlformats.org/drawingml/2006/main">
              <a:ext uri="{FF2B5EF4-FFF2-40B4-BE49-F238E27FC236}">
                <a16:creationId xmlns:a16="http://schemas.microsoft.com/office/drawing/2014/main" id="{457EE3A2-D893-439A-A564-3B6BA0F967C4}"/>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36</a:t>
            </a:r>
            <a:endParaRPr/>
          </a:p>
        </p:txBody>
      </p:sp>
      <p:sp>
        <p:nvSpPr>
          <p:cNvPr id="596" name="Google Shape;596;p39">
            <a:extLst xmlns:a="http://schemas.openxmlformats.org/drawingml/2006/main">
              <a:ext uri="{FF2B5EF4-FFF2-40B4-BE49-F238E27FC236}">
                <a16:creationId xmlns:a16="http://schemas.microsoft.com/office/drawing/2014/main" id="{A51EF33B-22D4-4027-A43A-87ADF50666DA}"/>
              </a:ext>
            </a:extLst>
          </p:cNvPr>
          <p:cNvSpPr>
            <a:spLocks xmlns:a="http://schemas.openxmlformats.org/drawingml/2006/main" noGrp="1"/>
          </p:cNvSpPr>
          <p:nvPr/>
        </p:nvSpPr>
        <p:spPr>
          <a:xfrm xmlns:a="http://schemas.openxmlformats.org/drawingml/2006/main">
            <a:off x="609600" y="1809750"/>
            <a:ext cx="666750" cy="5238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850" b="1">
                <a:solidFill>
                  <a:srgbClr val="147F83"/>
                </a:solidFill>
                <a:latin typeface="Arial"/>
                <a:ea typeface="Arial"/>
                <a:cs typeface="Arial"/>
              </a:rPr>
              <a:t>1</a:t>
            </a:r>
            <a:endParaRPr/>
          </a:p>
        </p:txBody>
      </p:sp>
      <p:sp>
        <p:nvSpPr>
          <p:cNvPr id="597" name="Google Shape;597;p39">
            <a:extLst xmlns:a="http://schemas.openxmlformats.org/drawingml/2006/main">
              <a:ext uri="{FF2B5EF4-FFF2-40B4-BE49-F238E27FC236}">
                <a16:creationId xmlns:a16="http://schemas.microsoft.com/office/drawing/2014/main" id="{6F8E44EA-AA5E-49D1-A2DD-CAA3C70320DB}"/>
              </a:ext>
            </a:extLst>
          </p:cNvPr>
          <p:cNvSpPr>
            <a:spLocks xmlns:a="http://schemas.openxmlformats.org/drawingml/2006/main" noGrp="1"/>
          </p:cNvSpPr>
          <p:nvPr/>
        </p:nvSpPr>
        <p:spPr>
          <a:xfrm xmlns:a="http://schemas.openxmlformats.org/drawingml/2006/main">
            <a:off x="1476375" y="1838325"/>
            <a:ext cx="10096500" cy="6381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250" b="0">
                <a:solidFill>
                  <a:srgbClr val="183343"/>
                </a:solidFill>
                <a:latin typeface="Arial"/>
                <a:ea typeface="Arial"/>
                <a:cs typeface="Arial"/>
              </a:rPr>
              <a:t>Demonstrated SUI and a meaningful patient goal</a:t>
            </a:r>
            <a:endParaRPr/>
          </a:p>
        </p:txBody>
      </p:sp>
      <p:sp>
        <p:nvSpPr>
          <p:cNvPr id="598" name="Google Shape;598;p39">
            <a:extLst xmlns:a="http://schemas.openxmlformats.org/drawingml/2006/main">
              <a:ext uri="{FF2B5EF4-FFF2-40B4-BE49-F238E27FC236}">
                <a16:creationId xmlns:a16="http://schemas.microsoft.com/office/drawing/2014/main" id="{DB77A2EE-28E0-4C50-9164-7395DEA1470D}"/>
              </a:ext>
            </a:extLst>
          </p:cNvPr>
          <p:cNvSpPr>
            <a:spLocks xmlns:a="http://schemas.openxmlformats.org/drawingml/2006/main" noGrp="1"/>
          </p:cNvSpPr>
          <p:nvPr/>
        </p:nvSpPr>
        <p:spPr>
          <a:xfrm xmlns:a="http://schemas.openxmlformats.org/drawingml/2006/main">
            <a:off x="609600" y="2543175"/>
            <a:ext cx="666750" cy="5238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850" b="1">
                <a:solidFill>
                  <a:srgbClr val="147F83"/>
                </a:solidFill>
                <a:latin typeface="Arial"/>
                <a:ea typeface="Arial"/>
                <a:cs typeface="Arial"/>
              </a:rPr>
              <a:t>2</a:t>
            </a:r>
            <a:endParaRPr/>
          </a:p>
        </p:txBody>
      </p:sp>
      <p:sp>
        <p:nvSpPr>
          <p:cNvPr id="599" name="Google Shape;599;p39">
            <a:extLst xmlns:a="http://schemas.openxmlformats.org/drawingml/2006/main">
              <a:ext uri="{FF2B5EF4-FFF2-40B4-BE49-F238E27FC236}">
                <a16:creationId xmlns:a16="http://schemas.microsoft.com/office/drawing/2014/main" id="{38D39A36-1174-4F5B-91D8-00AF4BAAEAD7}"/>
              </a:ext>
            </a:extLst>
          </p:cNvPr>
          <p:cNvSpPr>
            <a:spLocks xmlns:a="http://schemas.openxmlformats.org/drawingml/2006/main" noGrp="1"/>
          </p:cNvSpPr>
          <p:nvPr/>
        </p:nvSpPr>
        <p:spPr>
          <a:xfrm xmlns:a="http://schemas.openxmlformats.org/drawingml/2006/main">
            <a:off x="1476375" y="2571750"/>
            <a:ext cx="10096500" cy="6381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250" b="0">
                <a:solidFill>
                  <a:srgbClr val="183343"/>
                </a:solidFill>
                <a:latin typeface="Arial"/>
                <a:ea typeface="Arial"/>
                <a:cs typeface="Arial"/>
              </a:rPr>
              <a:t>Pump use, access and future capability</a:t>
            </a:r>
            <a:endParaRPr/>
          </a:p>
        </p:txBody>
      </p:sp>
      <p:sp>
        <p:nvSpPr>
          <p:cNvPr id="600" name="Google Shape;600;p39">
            <a:extLst xmlns:a="http://schemas.openxmlformats.org/drawingml/2006/main">
              <a:ext uri="{FF2B5EF4-FFF2-40B4-BE49-F238E27FC236}">
                <a16:creationId xmlns:a16="http://schemas.microsoft.com/office/drawing/2014/main" id="{9317F75E-129D-4BD8-908E-57B52ECE2FDB}"/>
              </a:ext>
            </a:extLst>
          </p:cNvPr>
          <p:cNvSpPr>
            <a:spLocks xmlns:a="http://schemas.openxmlformats.org/drawingml/2006/main" noGrp="1"/>
          </p:cNvSpPr>
          <p:nvPr/>
        </p:nvSpPr>
        <p:spPr>
          <a:xfrm xmlns:a="http://schemas.openxmlformats.org/drawingml/2006/main">
            <a:off x="609600" y="3276600"/>
            <a:ext cx="666750" cy="5238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850" b="1">
                <a:solidFill>
                  <a:srgbClr val="147F83"/>
                </a:solidFill>
                <a:latin typeface="Arial"/>
                <a:ea typeface="Arial"/>
                <a:cs typeface="Arial"/>
              </a:rPr>
              <a:t>3</a:t>
            </a:r>
            <a:endParaRPr/>
          </a:p>
        </p:txBody>
      </p:sp>
      <p:sp>
        <p:nvSpPr>
          <p:cNvPr id="601" name="Google Shape;601;p39">
            <a:extLst xmlns:a="http://schemas.openxmlformats.org/drawingml/2006/main">
              <a:ext uri="{FF2B5EF4-FFF2-40B4-BE49-F238E27FC236}">
                <a16:creationId xmlns:a16="http://schemas.microsoft.com/office/drawing/2014/main" id="{7C16ED95-0DD9-46CF-898B-2BD90B5FFF7B}"/>
              </a:ext>
            </a:extLst>
          </p:cNvPr>
          <p:cNvSpPr>
            <a:spLocks xmlns:a="http://schemas.openxmlformats.org/drawingml/2006/main" noGrp="1"/>
          </p:cNvSpPr>
          <p:nvPr/>
        </p:nvSpPr>
        <p:spPr>
          <a:xfrm xmlns:a="http://schemas.openxmlformats.org/drawingml/2006/main">
            <a:off x="1476375" y="3305175"/>
            <a:ext cx="10096500" cy="6381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250" b="0">
                <a:solidFill>
                  <a:srgbClr val="183343"/>
                </a:solidFill>
                <a:latin typeface="Arial"/>
                <a:ea typeface="Arial"/>
                <a:cs typeface="Arial"/>
              </a:rPr>
              <a:t>Investigations resolving anatomy, storage and emptying</a:t>
            </a:r>
            <a:endParaRPr/>
          </a:p>
        </p:txBody>
      </p:sp>
      <p:sp>
        <p:nvSpPr>
          <p:cNvPr id="602" name="Google Shape;602;p39">
            <a:extLst xmlns:a="http://schemas.openxmlformats.org/drawingml/2006/main">
              <a:ext uri="{FF2B5EF4-FFF2-40B4-BE49-F238E27FC236}">
                <a16:creationId xmlns:a16="http://schemas.microsoft.com/office/drawing/2014/main" id="{D5017E76-4100-4A30-A6C9-16006BA7AB65}"/>
              </a:ext>
            </a:extLst>
          </p:cNvPr>
          <p:cNvSpPr>
            <a:spLocks xmlns:a="http://schemas.openxmlformats.org/drawingml/2006/main" noGrp="1"/>
          </p:cNvSpPr>
          <p:nvPr/>
        </p:nvSpPr>
        <p:spPr>
          <a:xfrm xmlns:a="http://schemas.openxmlformats.org/drawingml/2006/main">
            <a:off x="609600" y="4010025"/>
            <a:ext cx="666750" cy="5238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850" b="1">
                <a:solidFill>
                  <a:srgbClr val="147F83"/>
                </a:solidFill>
                <a:latin typeface="Arial"/>
                <a:ea typeface="Arial"/>
                <a:cs typeface="Arial"/>
              </a:rPr>
              <a:t>4</a:t>
            </a:r>
            <a:endParaRPr/>
          </a:p>
        </p:txBody>
      </p:sp>
      <p:sp>
        <p:nvSpPr>
          <p:cNvPr id="603" name="Google Shape;603;p39">
            <a:extLst xmlns:a="http://schemas.openxmlformats.org/drawingml/2006/main">
              <a:ext uri="{FF2B5EF4-FFF2-40B4-BE49-F238E27FC236}">
                <a16:creationId xmlns:a16="http://schemas.microsoft.com/office/drawing/2014/main" id="{F54ED636-8069-4118-BBC1-E3E32629E185}"/>
              </a:ext>
            </a:extLst>
          </p:cNvPr>
          <p:cNvSpPr>
            <a:spLocks xmlns:a="http://schemas.openxmlformats.org/drawingml/2006/main" noGrp="1"/>
          </p:cNvSpPr>
          <p:nvPr/>
        </p:nvSpPr>
        <p:spPr>
          <a:xfrm xmlns:a="http://schemas.openxmlformats.org/drawingml/2006/main">
            <a:off x="1476375" y="4038600"/>
            <a:ext cx="10096500" cy="6381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250" b="0">
                <a:solidFill>
                  <a:srgbClr val="183343"/>
                </a:solidFill>
                <a:latin typeface="Arial"/>
                <a:ea typeface="Arial"/>
                <a:cs typeface="Arial"/>
              </a:rPr>
              <a:t>Separate DO, DU and poor compliance</a:t>
            </a:r>
            <a:endParaRPr/>
          </a:p>
        </p:txBody>
      </p:sp>
      <p:sp>
        <p:nvSpPr>
          <p:cNvPr id="604" name="Google Shape;604;p39">
            <a:extLst xmlns:a="http://schemas.openxmlformats.org/drawingml/2006/main">
              <a:ext uri="{FF2B5EF4-FFF2-40B4-BE49-F238E27FC236}">
                <a16:creationId xmlns:a16="http://schemas.microsoft.com/office/drawing/2014/main" id="{998B0C6C-0F30-44E8-9EE1-E2DB22C42B79}"/>
              </a:ext>
            </a:extLst>
          </p:cNvPr>
          <p:cNvSpPr>
            <a:spLocks xmlns:a="http://schemas.openxmlformats.org/drawingml/2006/main" noGrp="1"/>
          </p:cNvSpPr>
          <p:nvPr/>
        </p:nvSpPr>
        <p:spPr>
          <a:xfrm xmlns:a="http://schemas.openxmlformats.org/drawingml/2006/main">
            <a:off x="609600" y="4743450"/>
            <a:ext cx="666750" cy="5238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850" b="1">
                <a:solidFill>
                  <a:srgbClr val="147F83"/>
                </a:solidFill>
                <a:latin typeface="Arial"/>
                <a:ea typeface="Arial"/>
                <a:cs typeface="Arial"/>
              </a:rPr>
              <a:t>5</a:t>
            </a:r>
            <a:endParaRPr/>
          </a:p>
        </p:txBody>
      </p:sp>
      <p:sp>
        <p:nvSpPr>
          <p:cNvPr id="605" name="Google Shape;605;p39">
            <a:extLst xmlns:a="http://schemas.openxmlformats.org/drawingml/2006/main">
              <a:ext uri="{FF2B5EF4-FFF2-40B4-BE49-F238E27FC236}">
                <a16:creationId xmlns:a16="http://schemas.microsoft.com/office/drawing/2014/main" id="{7098944A-6953-4280-BA81-32AE8FCF8D06}"/>
              </a:ext>
            </a:extLst>
          </p:cNvPr>
          <p:cNvSpPr>
            <a:spLocks xmlns:a="http://schemas.openxmlformats.org/drawingml/2006/main" noGrp="1"/>
          </p:cNvSpPr>
          <p:nvPr/>
        </p:nvSpPr>
        <p:spPr>
          <a:xfrm xmlns:a="http://schemas.openxmlformats.org/drawingml/2006/main">
            <a:off x="1476375" y="4772025"/>
            <a:ext cx="10096500" cy="6381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250" b="0">
                <a:solidFill>
                  <a:srgbClr val="183343"/>
                </a:solidFill>
                <a:latin typeface="Arial"/>
                <a:ea typeface="Arial"/>
                <a:cs typeface="Arial"/>
              </a:rPr>
              <a:t>A stable urethra and future access plan</a:t>
            </a:r>
            <a:endParaRPr/>
          </a:p>
        </p:txBody>
      </p:sp>
    </p:spTree>
    <p:extLst>
      <p:ext uri="{BB962C8B-B14F-4D97-AF65-F5344CB8AC3E}">
        <p14:creationId xmlns:p14="http://schemas.microsoft.com/office/powerpoint/2010/main" val="784383624"/>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11" name="Google Shape;611;p40">
            <a:extLst xmlns:a="http://schemas.openxmlformats.org/drawingml/2006/main">
              <a:ext uri="{FF2B5EF4-FFF2-40B4-BE49-F238E27FC236}">
                <a16:creationId xmlns:a16="http://schemas.microsoft.com/office/drawing/2014/main" id="{27A8BD2B-A093-4CCB-93BA-863556796BCB}"/>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Five decisions protecting the result</a:t>
            </a:r>
            <a:endParaRPr/>
          </a:p>
        </p:txBody>
      </p:sp>
      <p:sp>
        <p:nvSpPr>
          <p:cNvPr id="612" name="Google Shape;612;p40">
            <a:extLst xmlns:a="http://schemas.openxmlformats.org/drawingml/2006/main">
              <a:ext uri="{FF2B5EF4-FFF2-40B4-BE49-F238E27FC236}">
                <a16:creationId xmlns:a16="http://schemas.microsoft.com/office/drawing/2014/main" id="{315672C6-FA79-4A95-8970-6F1CB3C7A8FF}"/>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3" name="Google Shape;613;p40">
            <a:extLst xmlns:a="http://schemas.openxmlformats.org/drawingml/2006/main">
              <a:ext uri="{FF2B5EF4-FFF2-40B4-BE49-F238E27FC236}">
                <a16:creationId xmlns:a16="http://schemas.microsoft.com/office/drawing/2014/main" id="{77F301FF-9EEA-478F-8E66-69535B6003D3}"/>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125" b="0">
                <a:solidFill>
                  <a:srgbClr val="526773"/>
                </a:solidFill>
                <a:latin typeface="Arial"/>
                <a:ea typeface="Arial"/>
                <a:cs typeface="Arial"/>
              </a:rPr>
              <a:t>CCIFU · NICE · AP23 · ATROPHY20 · BAUS25</a:t>
            </a:r>
            <a:endParaRPr/>
          </a:p>
        </p:txBody>
      </p:sp>
      <p:sp>
        <p:nvSpPr>
          <p:cNvPr id="614" name="Google Shape;614;p40">
            <a:extLst xmlns:a="http://schemas.openxmlformats.org/drawingml/2006/main">
              <a:ext uri="{FF2B5EF4-FFF2-40B4-BE49-F238E27FC236}">
                <a16:creationId xmlns:a16="http://schemas.microsoft.com/office/drawing/2014/main" id="{3E6C59AD-207D-47D6-B954-2AADD77037AC}"/>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37</a:t>
            </a:r>
            <a:endParaRPr/>
          </a:p>
        </p:txBody>
      </p:sp>
      <p:sp>
        <p:nvSpPr>
          <p:cNvPr id="615" name="Google Shape;615;p40">
            <a:extLst xmlns:a="http://schemas.openxmlformats.org/drawingml/2006/main">
              <a:ext uri="{FF2B5EF4-FFF2-40B4-BE49-F238E27FC236}">
                <a16:creationId xmlns:a16="http://schemas.microsoft.com/office/drawing/2014/main" id="{E6BE052A-8DFA-41BE-ACF4-6EFCED214C6F}"/>
              </a:ext>
            </a:extLst>
          </p:cNvPr>
          <p:cNvSpPr>
            <a:spLocks xmlns:a="http://schemas.openxmlformats.org/drawingml/2006/main" noGrp="1"/>
          </p:cNvSpPr>
          <p:nvPr/>
        </p:nvSpPr>
        <p:spPr>
          <a:xfrm xmlns:a="http://schemas.openxmlformats.org/drawingml/2006/main">
            <a:off x="609600" y="1809750"/>
            <a:ext cx="666750" cy="5238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850" b="1">
                <a:solidFill>
                  <a:srgbClr val="147F83"/>
                </a:solidFill>
                <a:latin typeface="Arial"/>
                <a:ea typeface="Arial"/>
                <a:cs typeface="Arial"/>
              </a:rPr>
              <a:t>6</a:t>
            </a:r>
            <a:endParaRPr/>
          </a:p>
        </p:txBody>
      </p:sp>
      <p:sp>
        <p:nvSpPr>
          <p:cNvPr id="616" name="Google Shape;616;p40">
            <a:extLst xmlns:a="http://schemas.openxmlformats.org/drawingml/2006/main">
              <a:ext uri="{FF2B5EF4-FFF2-40B4-BE49-F238E27FC236}">
                <a16:creationId xmlns:a16="http://schemas.microsoft.com/office/drawing/2014/main" id="{D8A55BE1-3DE8-4D0E-B961-76AC7314E1A9}"/>
              </a:ext>
            </a:extLst>
          </p:cNvPr>
          <p:cNvSpPr>
            <a:spLocks xmlns:a="http://schemas.openxmlformats.org/drawingml/2006/main" noGrp="1"/>
          </p:cNvSpPr>
          <p:nvPr/>
        </p:nvSpPr>
        <p:spPr>
          <a:xfrm xmlns:a="http://schemas.openxmlformats.org/drawingml/2006/main">
            <a:off x="1476375" y="1838325"/>
            <a:ext cx="10096500" cy="6381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250" b="0">
                <a:solidFill>
                  <a:srgbClr val="183343"/>
                </a:solidFill>
                <a:latin typeface="Arial"/>
                <a:ea typeface="Arial"/>
                <a:cs typeface="Arial"/>
              </a:rPr>
              <a:t>Correct antisepsis and appropriate prophylaxis</a:t>
            </a:r>
            <a:endParaRPr/>
          </a:p>
        </p:txBody>
      </p:sp>
      <p:sp>
        <p:nvSpPr>
          <p:cNvPr id="617" name="Google Shape;617;p40">
            <a:extLst xmlns:a="http://schemas.openxmlformats.org/drawingml/2006/main">
              <a:ext uri="{FF2B5EF4-FFF2-40B4-BE49-F238E27FC236}">
                <a16:creationId xmlns:a16="http://schemas.microsoft.com/office/drawing/2014/main" id="{348C1ACC-1801-4821-AA42-30532812940F}"/>
              </a:ext>
            </a:extLst>
          </p:cNvPr>
          <p:cNvSpPr>
            <a:spLocks xmlns:a="http://schemas.openxmlformats.org/drawingml/2006/main" noGrp="1"/>
          </p:cNvSpPr>
          <p:nvPr/>
        </p:nvSpPr>
        <p:spPr>
          <a:xfrm xmlns:a="http://schemas.openxmlformats.org/drawingml/2006/main">
            <a:off x="609600" y="2543175"/>
            <a:ext cx="666750" cy="5238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850" b="1">
                <a:solidFill>
                  <a:srgbClr val="147F83"/>
                </a:solidFill>
                <a:latin typeface="Arial"/>
                <a:ea typeface="Arial"/>
                <a:cs typeface="Arial"/>
              </a:rPr>
              <a:t>7</a:t>
            </a:r>
            <a:endParaRPr/>
          </a:p>
        </p:txBody>
      </p:sp>
      <p:sp>
        <p:nvSpPr>
          <p:cNvPr id="618" name="Google Shape;618;p40">
            <a:extLst xmlns:a="http://schemas.openxmlformats.org/drawingml/2006/main">
              <a:ext uri="{FF2B5EF4-FFF2-40B4-BE49-F238E27FC236}">
                <a16:creationId xmlns:a16="http://schemas.microsoft.com/office/drawing/2014/main" id="{3913BD08-EC4E-45A3-BB67-33E6CDF09ACF}"/>
              </a:ext>
            </a:extLst>
          </p:cNvPr>
          <p:cNvSpPr>
            <a:spLocks xmlns:a="http://schemas.openxmlformats.org/drawingml/2006/main" noGrp="1"/>
          </p:cNvSpPr>
          <p:nvPr/>
        </p:nvSpPr>
        <p:spPr>
          <a:xfrm xmlns:a="http://schemas.openxmlformats.org/drawingml/2006/main">
            <a:off x="1476375" y="2571750"/>
            <a:ext cx="10096500" cy="6381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250" b="0">
                <a:solidFill>
                  <a:srgbClr val="183343"/>
                </a:solidFill>
                <a:latin typeface="Arial"/>
                <a:ea typeface="Arial"/>
                <a:cs typeface="Arial"/>
              </a:rPr>
              <a:t>Preserved tissue and undistorted measurement</a:t>
            </a:r>
            <a:endParaRPr/>
          </a:p>
        </p:txBody>
      </p:sp>
      <p:sp>
        <p:nvSpPr>
          <p:cNvPr id="619" name="Google Shape;619;p40">
            <a:extLst xmlns:a="http://schemas.openxmlformats.org/drawingml/2006/main">
              <a:ext uri="{FF2B5EF4-FFF2-40B4-BE49-F238E27FC236}">
                <a16:creationId xmlns:a16="http://schemas.microsoft.com/office/drawing/2014/main" id="{A2CC4E9D-CFEB-4E9F-82F5-6E8E828B6C1E}"/>
              </a:ext>
            </a:extLst>
          </p:cNvPr>
          <p:cNvSpPr>
            <a:spLocks xmlns:a="http://schemas.openxmlformats.org/drawingml/2006/main" noGrp="1"/>
          </p:cNvSpPr>
          <p:nvPr/>
        </p:nvSpPr>
        <p:spPr>
          <a:xfrm xmlns:a="http://schemas.openxmlformats.org/drawingml/2006/main">
            <a:off x="609600" y="3276600"/>
            <a:ext cx="666750" cy="5238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850" b="1">
                <a:solidFill>
                  <a:srgbClr val="147F83"/>
                </a:solidFill>
                <a:latin typeface="Arial"/>
                <a:ea typeface="Arial"/>
                <a:cs typeface="Arial"/>
              </a:rPr>
              <a:t>8</a:t>
            </a:r>
            <a:endParaRPr/>
          </a:p>
        </p:txBody>
      </p:sp>
      <p:sp>
        <p:nvSpPr>
          <p:cNvPr id="620" name="Google Shape;620;p40">
            <a:extLst xmlns:a="http://schemas.openxmlformats.org/drawingml/2006/main">
              <a:ext uri="{FF2B5EF4-FFF2-40B4-BE49-F238E27FC236}">
                <a16:creationId xmlns:a16="http://schemas.microsoft.com/office/drawing/2014/main" id="{1C6A8FEC-D9D9-4A21-9676-F889B6BECB9E}"/>
              </a:ext>
            </a:extLst>
          </p:cNvPr>
          <p:cNvSpPr>
            <a:spLocks xmlns:a="http://schemas.openxmlformats.org/drawingml/2006/main" noGrp="1"/>
          </p:cNvSpPr>
          <p:nvPr/>
        </p:nvSpPr>
        <p:spPr>
          <a:xfrm xmlns:a="http://schemas.openxmlformats.org/drawingml/2006/main">
            <a:off x="1476375" y="3305175"/>
            <a:ext cx="10096500" cy="6381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250" b="0">
                <a:solidFill>
                  <a:srgbClr val="183343"/>
                </a:solidFill>
                <a:latin typeface="Arial"/>
                <a:ea typeface="Arial"/>
                <a:cs typeface="Arial"/>
              </a:rPr>
              <a:t>Actual device protocol and explicit stop conditions</a:t>
            </a:r>
            <a:endParaRPr/>
          </a:p>
        </p:txBody>
      </p:sp>
      <p:sp>
        <p:nvSpPr>
          <p:cNvPr id="621" name="Google Shape;621;p40">
            <a:extLst xmlns:a="http://schemas.openxmlformats.org/drawingml/2006/main">
              <a:ext uri="{FF2B5EF4-FFF2-40B4-BE49-F238E27FC236}">
                <a16:creationId xmlns:a16="http://schemas.microsoft.com/office/drawing/2014/main" id="{06A907F8-093E-460C-A911-0DDD4149EC40}"/>
              </a:ext>
            </a:extLst>
          </p:cNvPr>
          <p:cNvSpPr>
            <a:spLocks xmlns:a="http://schemas.openxmlformats.org/drawingml/2006/main" noGrp="1"/>
          </p:cNvSpPr>
          <p:nvPr/>
        </p:nvSpPr>
        <p:spPr>
          <a:xfrm xmlns:a="http://schemas.openxmlformats.org/drawingml/2006/main">
            <a:off x="609600" y="4010025"/>
            <a:ext cx="666750" cy="5238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850" b="1">
                <a:solidFill>
                  <a:srgbClr val="147F83"/>
                </a:solidFill>
                <a:latin typeface="Arial"/>
                <a:ea typeface="Arial"/>
                <a:cs typeface="Arial"/>
              </a:rPr>
              <a:t>9</a:t>
            </a:r>
            <a:endParaRPr/>
          </a:p>
        </p:txBody>
      </p:sp>
      <p:sp>
        <p:nvSpPr>
          <p:cNvPr id="622" name="Google Shape;622;p40">
            <a:extLst xmlns:a="http://schemas.openxmlformats.org/drawingml/2006/main">
              <a:ext uri="{FF2B5EF4-FFF2-40B4-BE49-F238E27FC236}">
                <a16:creationId xmlns:a16="http://schemas.microsoft.com/office/drawing/2014/main" id="{177A511F-C085-4EE0-AE43-8A90661491C4}"/>
              </a:ext>
            </a:extLst>
          </p:cNvPr>
          <p:cNvSpPr>
            <a:spLocks xmlns:a="http://schemas.openxmlformats.org/drawingml/2006/main" noGrp="1"/>
          </p:cNvSpPr>
          <p:nvPr/>
        </p:nvSpPr>
        <p:spPr>
          <a:xfrm xmlns:a="http://schemas.openxmlformats.org/drawingml/2006/main">
            <a:off x="1476375" y="4038600"/>
            <a:ext cx="10096500" cy="6381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250" b="0">
                <a:solidFill>
                  <a:srgbClr val="183343"/>
                </a:solidFill>
                <a:latin typeface="Arial"/>
                <a:ea typeface="Arial"/>
                <a:cs typeface="Arial"/>
              </a:rPr>
              <a:t>Verified deactivation, drainage and patient teaching</a:t>
            </a:r>
            <a:endParaRPr/>
          </a:p>
        </p:txBody>
      </p:sp>
      <p:sp>
        <p:nvSpPr>
          <p:cNvPr id="623" name="Google Shape;623;p40">
            <a:extLst xmlns:a="http://schemas.openxmlformats.org/drawingml/2006/main">
              <a:ext uri="{FF2B5EF4-FFF2-40B4-BE49-F238E27FC236}">
                <a16:creationId xmlns:a16="http://schemas.microsoft.com/office/drawing/2014/main" id="{2D39082D-24C9-416E-A419-06C554A8FD3F}"/>
              </a:ext>
            </a:extLst>
          </p:cNvPr>
          <p:cNvSpPr>
            <a:spLocks xmlns:a="http://schemas.openxmlformats.org/drawingml/2006/main" noGrp="1"/>
          </p:cNvSpPr>
          <p:nvPr/>
        </p:nvSpPr>
        <p:spPr>
          <a:xfrm xmlns:a="http://schemas.openxmlformats.org/drawingml/2006/main">
            <a:off x="609600" y="4743450"/>
            <a:ext cx="666750" cy="5238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850" b="1">
                <a:solidFill>
                  <a:srgbClr val="147F83"/>
                </a:solidFill>
                <a:latin typeface="Arial"/>
                <a:ea typeface="Arial"/>
                <a:cs typeface="Arial"/>
              </a:rPr>
              <a:t>10</a:t>
            </a:r>
            <a:endParaRPr/>
          </a:p>
        </p:txBody>
      </p:sp>
      <p:sp>
        <p:nvSpPr>
          <p:cNvPr id="624" name="Google Shape;624;p40">
            <a:extLst xmlns:a="http://schemas.openxmlformats.org/drawingml/2006/main">
              <a:ext uri="{FF2B5EF4-FFF2-40B4-BE49-F238E27FC236}">
                <a16:creationId xmlns:a16="http://schemas.microsoft.com/office/drawing/2014/main" id="{6FDF34DB-A81D-4016-9965-598D57910538}"/>
              </a:ext>
            </a:extLst>
          </p:cNvPr>
          <p:cNvSpPr>
            <a:spLocks xmlns:a="http://schemas.openxmlformats.org/drawingml/2006/main" noGrp="1"/>
          </p:cNvSpPr>
          <p:nvPr/>
        </p:nvSpPr>
        <p:spPr>
          <a:xfrm xmlns:a="http://schemas.openxmlformats.org/drawingml/2006/main">
            <a:off x="1476375" y="4772025"/>
            <a:ext cx="10096500" cy="6381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250" b="0">
                <a:solidFill>
                  <a:srgbClr val="183343"/>
                </a:solidFill>
                <a:latin typeface="Arial"/>
                <a:ea typeface="Arial"/>
                <a:cs typeface="Arial"/>
              </a:rPr>
              <a:t>A diagnosis before choosing revision</a:t>
            </a:r>
            <a:endParaRPr/>
          </a:p>
        </p:txBody>
      </p:sp>
    </p:spTree>
    <p:extLst>
      <p:ext uri="{BB962C8B-B14F-4D97-AF65-F5344CB8AC3E}">
        <p14:creationId xmlns:p14="http://schemas.microsoft.com/office/powerpoint/2010/main" val="806891868"/>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30" name="Google Shape;630;p41">
            <a:extLst xmlns:a="http://schemas.openxmlformats.org/drawingml/2006/main">
              <a:ext uri="{FF2B5EF4-FFF2-40B4-BE49-F238E27FC236}">
                <a16:creationId xmlns:a16="http://schemas.microsoft.com/office/drawing/2014/main" id="{43FAFA5D-B800-4F9E-8FDB-921112CC09E2}"/>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Discussion</a:t>
            </a:r>
            <a:endParaRPr/>
          </a:p>
        </p:txBody>
      </p:sp>
      <p:sp>
        <p:nvSpPr>
          <p:cNvPr id="631" name="Google Shape;631;p41">
            <a:extLst xmlns:a="http://schemas.openxmlformats.org/drawingml/2006/main">
              <a:ext uri="{FF2B5EF4-FFF2-40B4-BE49-F238E27FC236}">
                <a16:creationId xmlns:a16="http://schemas.microsoft.com/office/drawing/2014/main" id="{B8140A1E-A4AB-419A-A6A9-6EB1CDF817BB}"/>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32" name="Google Shape;632;p41">
            <a:extLst xmlns:a="http://schemas.openxmlformats.org/drawingml/2006/main">
              <a:ext uri="{FF2B5EF4-FFF2-40B4-BE49-F238E27FC236}">
                <a16:creationId xmlns:a16="http://schemas.microsoft.com/office/drawing/2014/main" id="{7F126BA9-2C01-490E-969F-38ACBA6BF549}"/>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125" b="0">
                <a:solidFill>
                  <a:srgbClr val="526773"/>
                </a:solidFill>
                <a:latin typeface="Arial"/>
                <a:ea typeface="Arial"/>
                <a:cs typeface="Arial"/>
              </a:rPr>
              <a:t>Discussion</a:t>
            </a:r>
            <a:endParaRPr/>
          </a:p>
        </p:txBody>
      </p:sp>
      <p:sp>
        <p:nvSpPr>
          <p:cNvPr id="633" name="Google Shape;633;p41">
            <a:extLst xmlns:a="http://schemas.openxmlformats.org/drawingml/2006/main">
              <a:ext uri="{FF2B5EF4-FFF2-40B4-BE49-F238E27FC236}">
                <a16:creationId xmlns:a16="http://schemas.microsoft.com/office/drawing/2014/main" id="{9DB870C4-DA14-48CE-A5D9-20D289011B9A}"/>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38</a:t>
            </a:r>
            <a:endParaRPr/>
          </a:p>
        </p:txBody>
      </p:sp>
      <p:sp>
        <p:nvSpPr>
          <p:cNvPr id="634" name="Google Shape;634;p41">
            <a:extLst xmlns:a="http://schemas.openxmlformats.org/drawingml/2006/main">
              <a:ext uri="{FF2B5EF4-FFF2-40B4-BE49-F238E27FC236}">
                <a16:creationId xmlns:a16="http://schemas.microsoft.com/office/drawing/2014/main" id="{75B6C77E-3965-4E91-A030-7D5BAEABD698}"/>
              </a:ext>
            </a:extLst>
          </p:cNvPr>
          <p:cNvSpPr>
            <a:spLocks xmlns:a="http://schemas.openxmlformats.org/drawingml/2006/main" noGrp="1"/>
          </p:cNvSpPr>
          <p:nvPr/>
        </p:nvSpPr>
        <p:spPr>
          <a:xfrm xmlns:a="http://schemas.openxmlformats.org/drawingml/2006/main">
            <a:off x="609600" y="2057400"/>
            <a:ext cx="10668000" cy="1028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700" b="0">
                <a:solidFill>
                  <a:srgbClr val="183343"/>
                </a:solidFill>
                <a:latin typeface="Arial"/>
                <a:ea typeface="Arial"/>
                <a:cs typeface="Arial"/>
              </a:rPr>
              <a:t>Which bladder finding makes you defer an implant?</a:t>
            </a:r>
            <a:endParaRPr/>
          </a:p>
        </p:txBody>
      </p:sp>
      <p:sp>
        <p:nvSpPr>
          <p:cNvPr id="635" name="Google Shape;635;p41">
            <a:extLst xmlns:a="http://schemas.openxmlformats.org/drawingml/2006/main">
              <a:ext uri="{FF2B5EF4-FFF2-40B4-BE49-F238E27FC236}">
                <a16:creationId xmlns:a16="http://schemas.microsoft.com/office/drawing/2014/main" id="{2F29F443-5B24-45A7-B70E-42B9F7B9B6F3}"/>
              </a:ext>
            </a:extLst>
          </p:cNvPr>
          <p:cNvSpPr>
            <a:spLocks xmlns:a="http://schemas.openxmlformats.org/drawingml/2006/main" noGrp="1"/>
          </p:cNvSpPr>
          <p:nvPr/>
        </p:nvSpPr>
        <p:spPr>
          <a:xfrm xmlns:a="http://schemas.openxmlformats.org/drawingml/2006/main">
            <a:off x="609600" y="3200400"/>
            <a:ext cx="10668000" cy="1028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700" b="0">
                <a:solidFill>
                  <a:srgbClr val="183343"/>
                </a:solidFill>
                <a:latin typeface="Arial"/>
                <a:ea typeface="Arial"/>
                <a:cs typeface="Arial"/>
              </a:rPr>
              <a:t>What establishes urethral stability in your practice?</a:t>
            </a:r>
            <a:endParaRPr/>
          </a:p>
        </p:txBody>
      </p:sp>
      <p:sp>
        <p:nvSpPr>
          <p:cNvPr id="636" name="Google Shape;636;p41">
            <a:extLst xmlns:a="http://schemas.openxmlformats.org/drawingml/2006/main">
              <a:ext uri="{FF2B5EF4-FFF2-40B4-BE49-F238E27FC236}">
                <a16:creationId xmlns:a16="http://schemas.microsoft.com/office/drawing/2014/main" id="{F24A21E1-2DBF-4297-83DF-7B760FF04F4C}"/>
              </a:ext>
            </a:extLst>
          </p:cNvPr>
          <p:cNvSpPr>
            <a:spLocks xmlns:a="http://schemas.openxmlformats.org/drawingml/2006/main" noGrp="1"/>
          </p:cNvSpPr>
          <p:nvPr/>
        </p:nvSpPr>
        <p:spPr>
          <a:xfrm xmlns:a="http://schemas.openxmlformats.org/drawingml/2006/main">
            <a:off x="609600" y="4343400"/>
            <a:ext cx="10668000" cy="1028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700" b="0">
                <a:solidFill>
                  <a:srgbClr val="183343"/>
                </a:solidFill>
                <a:latin typeface="Arial"/>
                <a:ea typeface="Arial"/>
                <a:cs typeface="Arial"/>
              </a:rPr>
              <a:t>Which preparation or salvage practice needs a trial?</a:t>
            </a:r>
            <a:endParaRPr/>
          </a:p>
        </p:txBody>
      </p:sp>
      <p:sp>
        <p:nvSpPr>
          <p:cNvPr id="637" name="Google Shape;637;p41">
            <a:extLst xmlns:a="http://schemas.openxmlformats.org/drawingml/2006/main">
              <a:ext uri="{FF2B5EF4-FFF2-40B4-BE49-F238E27FC236}">
                <a16:creationId xmlns:a16="http://schemas.microsoft.com/office/drawing/2014/main" id="{5F0B6E18-12A0-4E61-ADC7-7FA4D4D83689}"/>
              </a:ext>
            </a:extLst>
          </p:cNvPr>
          <p:cNvSpPr>
            <a:spLocks xmlns:a="http://schemas.openxmlformats.org/drawingml/2006/main" noGrp="1"/>
          </p:cNvSpPr>
          <p:nvPr/>
        </p:nvSpPr>
        <p:spPr>
          <a:xfrm xmlns:a="http://schemas.openxmlformats.org/drawingml/2006/main">
            <a:off x="609600" y="1752600"/>
            <a:ext cx="10972800" cy="304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75" b="0">
                <a:solidFill>
                  <a:srgbClr val="147F83"/>
                </a:solidFill>
                <a:latin typeface="Arial"/>
                <a:ea typeface="Arial"/>
                <a:cs typeface="Arial"/>
              </a:rPr>
              <a:t>Five minutes</a:t>
            </a:r>
            <a:endParaRPr/>
          </a:p>
        </p:txBody>
      </p:sp>
      <p:sp>
        <p:nvSpPr>
          <p:cNvPr id="638" name="Google Shape;638;p41">
            <a:extLst xmlns:a="http://schemas.openxmlformats.org/drawingml/2006/main">
              <a:ext uri="{FF2B5EF4-FFF2-40B4-BE49-F238E27FC236}">
                <a16:creationId xmlns:a16="http://schemas.microsoft.com/office/drawing/2014/main" id="{AAE22CF6-A501-4F30-AFB1-0BC247282364}"/>
              </a:ext>
            </a:extLst>
          </p:cNvPr>
          <p:cNvSpPr>
            <a:spLocks xmlns:a="http://schemas.openxmlformats.org/drawingml/2006/main" noGrp="1"/>
          </p:cNvSpPr>
          <p:nvPr/>
        </p:nvSpPr>
        <p:spPr>
          <a:xfrm xmlns:a="http://schemas.openxmlformats.org/drawingml/2006/main">
            <a:off x="609600" y="5753100"/>
            <a:ext cx="10972800" cy="552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725" b="0">
                <a:solidFill>
                  <a:srgbClr val="526773"/>
                </a:solidFill>
                <a:latin typeface="Arial"/>
                <a:ea typeface="Arial"/>
                <a:cs typeface="Arial"/>
              </a:rPr>
              <a:t>Which finding would change your plan?</a:t>
            </a:r>
            <a:endParaRPr/>
          </a:p>
        </p:txBody>
      </p:sp>
    </p:spTree>
    <p:extLst>
      <p:ext uri="{BB962C8B-B14F-4D97-AF65-F5344CB8AC3E}">
        <p14:creationId xmlns:p14="http://schemas.microsoft.com/office/powerpoint/2010/main" val="611182709"/>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44" name="Google Shape;644;p42">
            <a:extLst xmlns:a="http://schemas.openxmlformats.org/drawingml/2006/main">
              <a:ext uri="{FF2B5EF4-FFF2-40B4-BE49-F238E27FC236}">
                <a16:creationId xmlns:a16="http://schemas.microsoft.com/office/drawing/2014/main" id="{E6562790-9C05-480E-BA25-4E13405CB97F}"/>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Outcome evidence: device and endpoint</a:t>
            </a:r>
            <a:endParaRPr/>
          </a:p>
        </p:txBody>
      </p:sp>
      <p:sp>
        <p:nvSpPr>
          <p:cNvPr id="645" name="Google Shape;645;p42">
            <a:extLst xmlns:a="http://schemas.openxmlformats.org/drawingml/2006/main">
              <a:ext uri="{FF2B5EF4-FFF2-40B4-BE49-F238E27FC236}">
                <a16:creationId xmlns:a16="http://schemas.microsoft.com/office/drawing/2014/main" id="{F086F284-DFC4-4225-A2FE-ED8A1B3B104E}"/>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46" name="Google Shape;646;p42">
            <a:extLst xmlns:a="http://schemas.openxmlformats.org/drawingml/2006/main">
              <a:ext uri="{FF2B5EF4-FFF2-40B4-BE49-F238E27FC236}">
                <a16:creationId xmlns:a16="http://schemas.microsoft.com/office/drawing/2014/main" id="{0BBF19F2-3DC5-49E0-865C-D029D7FE8C4E}"/>
              </a:ext>
            </a:extLst>
          </p:cNvPr>
          <p:cNvSpPr>
            <a:spLocks xmlns:a="http://schemas.openxmlformats.org/drawingml/2006/main" noGrp="1"/>
          </p:cNvSpPr>
          <p:nvPr/>
        </p:nvSpPr>
        <p:spPr>
          <a:xfrm xmlns:a="http://schemas.openxmlformats.org/drawingml/2006/main">
            <a:off x="609600" y="6419850"/>
            <a:ext cx="109728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Backup: outside the timed talk</a:t>
            </a:r>
            <a:endParaRPr/>
          </a:p>
        </p:txBody>
      </p:sp>
      <p:graphicFrame>
        <p:nvGraphicFramePr>
          <p:cNvPr id="651" name="Google Shape;647;p42"/>
          <p:cNvGraphicFramePr/>
          <p:nvPr/>
        </p:nvGraphicFramePr>
        <p:xfrm>
          <a:off xmlns:a="http://schemas.openxmlformats.org/drawingml/2006/main" x="609600" y="1790700"/>
          <a:ext xmlns:a="http://schemas.openxmlformats.org/drawingml/2006/main" cx="3000000" cy="3000000"/>
        </p:xfrm>
        <a:graphic xmlns:a="http://schemas.openxmlformats.org/drawingml/2006/main">
          <a:graphicData uri="http://schemas.openxmlformats.org/drawingml/2006/table">
            <a:tbl>
              <a:tblPr>
                <a:tableStyleId>{0AF7EDE5-490F-44FA-BAEA-A03204E10917}</a:tableStyleId>
              </a:tblPr>
              <a:tblGrid>
                <a:gridCol w="3524250"/>
                <a:gridCol w="3714750"/>
                <a:gridCol w="3733800"/>
              </a:tblGrid>
              <a:tr h="552450">
                <a:tc>
                  <a:txBody>
                    <a:bodyPr/>
                    <a:lstStyle/>
                    <a:p>
                      <a:pPr marL="0" marR="0" lvl="0" indent="0" algn="l">
                        <a:spcBef>
                          <a:spcPts val="0"/>
                        </a:spcBef>
                        <a:spcAft>
                          <a:spcPts val="0"/>
                        </a:spcAft>
                        <a:buClr>
                          <a:srgbClr val="FFFFFF"/>
                        </a:buClr>
                        <a:buSzPts val="1725"/>
                        <a:buFont typeface="Arial"/>
                        <a:buNone/>
                      </a:pPr>
                      <a:r>
                        <a:rPr sz="1725" b="1">
                          <a:solidFill>
                            <a:srgbClr val="FFFFFF"/>
                          </a:solidFill>
                          <a:latin typeface="Arial"/>
                          <a:ea typeface="Arial"/>
                          <a:cs typeface="Arial"/>
                        </a:rPr>
                        <a:t>Study and population</a:t>
                      </a:r>
                      <a:endParaRPr/>
                    </a:p>
                  </a:txBody>
                  <a:tcPr marL="133350" marR="133350" marT="95250" marB="76200" anchor="ctr">
                    <a:solidFill>
                      <a:srgbClr val="183343"/>
                    </a:solidFill>
                  </a:tcPr>
                </a:tc>
                <a:tc>
                  <a:txBody>
                    <a:bodyPr/>
                    <a:lstStyle/>
                    <a:p>
                      <a:pPr marL="0" marR="0" lvl="0" indent="0" algn="l">
                        <a:spcBef>
                          <a:spcPts val="0"/>
                        </a:spcBef>
                        <a:spcAft>
                          <a:spcPts val="0"/>
                        </a:spcAft>
                        <a:buClr>
                          <a:srgbClr val="FFFFFF"/>
                        </a:buClr>
                        <a:buSzPts val="1725"/>
                        <a:buFont typeface="Arial"/>
                        <a:buNone/>
                      </a:pPr>
                      <a:r>
                        <a:rPr sz="1725" b="1">
                          <a:solidFill>
                            <a:srgbClr val="FFFFFF"/>
                          </a:solidFill>
                          <a:latin typeface="Arial"/>
                          <a:ea typeface="Arial"/>
                          <a:cs typeface="Arial"/>
                        </a:rPr>
                        <a:t>Endpoint and result</a:t>
                      </a:r>
                      <a:endParaRPr/>
                    </a:p>
                  </a:txBody>
                  <a:tcPr marL="133350" marR="133350" marT="95250" marB="76200" anchor="ctr">
                    <a:solidFill>
                      <a:srgbClr val="183343"/>
                    </a:solidFill>
                  </a:tcPr>
                </a:tc>
                <a:tc>
                  <a:txBody>
                    <a:bodyPr/>
                    <a:lstStyle/>
                    <a:p>
                      <a:pPr marL="0" marR="0" lvl="0" indent="0" algn="l">
                        <a:spcBef>
                          <a:spcPts val="0"/>
                        </a:spcBef>
                        <a:spcAft>
                          <a:spcPts val="0"/>
                        </a:spcAft>
                        <a:buClr>
                          <a:srgbClr val="FFFFFF"/>
                        </a:buClr>
                        <a:buSzPts val="1725"/>
                        <a:buFont typeface="Arial"/>
                        <a:buNone/>
                      </a:pPr>
                      <a:r>
                        <a:rPr sz="1725" b="1">
                          <a:solidFill>
                            <a:srgbClr val="FFFFFF"/>
                          </a:solidFill>
                          <a:latin typeface="Arial"/>
                          <a:ea typeface="Arial"/>
                          <a:cs typeface="Arial"/>
                        </a:rPr>
                        <a:t>Limits</a:t>
                      </a:r>
                      <a:endParaRPr/>
                    </a:p>
                  </a:txBody>
                  <a:tcPr marL="133350" marR="133350" marT="95250" marB="76200" anchor="ctr">
                    <a:solidFill>
                      <a:srgbClr val="183343"/>
                    </a:solidFill>
                  </a:tcPr>
                </a:tc>
              </a:tr>
              <a:tr h="1149350">
                <a:tc>
                  <a:txBody>
                    <a:bodyPr/>
                    <a:lstStyle/>
                    <a:p>
                      <a:pPr marL="0" marR="0" lvl="0" indent="0" algn="l">
                        <a:spcBef>
                          <a:spcPts val="0"/>
                        </a:spcBef>
                        <a:spcAft>
                          <a:spcPts val="0"/>
                        </a:spcAft>
                        <a:buClr>
                          <a:srgbClr val="183343"/>
                        </a:buClr>
                        <a:buSzPts val="1725"/>
                        <a:buFont typeface="Arial"/>
                        <a:buNone/>
                      </a:pPr>
                      <a:r>
                        <a:rPr sz="1725" b="0">
                          <a:solidFill>
                            <a:srgbClr val="183343"/>
                          </a:solidFill>
                          <a:latin typeface="Arial"/>
                          <a:ea typeface="Arial"/>
                          <a:cs typeface="Arial"/>
                        </a:rPr>
                        <a:t>AUSCO 2026: AMS 800</a:t>
                      </a:r>
                      <a:endParaRPr/>
                    </a:p>
                    <a:p>
                      <a:pPr marL="0" marR="0" lvl="0" indent="0" algn="l">
                        <a:spcBef>
                          <a:spcPts val="0"/>
                        </a:spcBef>
                        <a:spcAft>
                          <a:spcPts val="0"/>
                        </a:spcAft>
                        <a:buClr>
                          <a:srgbClr val="183343"/>
                        </a:buClr>
                        <a:buSzPts val="1725"/>
                        <a:buFont typeface="Arial"/>
                        <a:buNone/>
                      </a:pPr>
                      <a:r>
                        <a:rPr sz="1725" b="0">
                          <a:solidFill>
                            <a:srgbClr val="183343"/>
                          </a:solidFill>
                          <a:latin typeface="Arial"/>
                          <a:ea typeface="Arial"/>
                          <a:cs typeface="Arial"/>
                        </a:rPr>
                        <a:t>115 primary implants, 25 irradiated</a:t>
                      </a:r>
                      <a:endParaRPr/>
                    </a:p>
                  </a:txBody>
                  <a:tcPr marL="133350" marR="133350" marT="95250" marB="76200" anchor="ctr">
                    <a:solidFill>
                      <a:srgbClr val="EEF4F5"/>
                    </a:solidFill>
                  </a:tcPr>
                </a:tc>
                <a:tc>
                  <a:txBody>
                    <a:bodyPr/>
                    <a:lstStyle/>
                    <a:p>
                      <a:pPr marL="0" marR="0" lvl="0" indent="0" algn="l">
                        <a:spcBef>
                          <a:spcPts val="0"/>
                        </a:spcBef>
                        <a:spcAft>
                          <a:spcPts val="0"/>
                        </a:spcAft>
                        <a:buClr>
                          <a:srgbClr val="183343"/>
                        </a:buClr>
                        <a:buSzPts val="1725"/>
                        <a:buFont typeface="Arial"/>
                        <a:buNone/>
                      </a:pPr>
                      <a:r>
                        <a:rPr sz="1725" b="0">
                          <a:solidFill>
                            <a:srgbClr val="183343"/>
                          </a:solidFill>
                          <a:latin typeface="Arial"/>
                          <a:ea typeface="Arial"/>
                          <a:cs typeface="Arial"/>
                        </a:rPr>
                        <a:t>12 months after activation</a:t>
                      </a:r>
                      <a:endParaRPr/>
                    </a:p>
                    <a:p>
                      <a:pPr marL="0" marR="0" lvl="0" indent="0" algn="l">
                        <a:spcBef>
                          <a:spcPts val="0"/>
                        </a:spcBef>
                        <a:spcAft>
                          <a:spcPts val="0"/>
                        </a:spcAft>
                        <a:buClr>
                          <a:srgbClr val="183343"/>
                        </a:buClr>
                        <a:buSzPts val="1725"/>
                        <a:buFont typeface="Arial"/>
                        <a:buNone/>
                      </a:pPr>
                      <a:r>
                        <a:rPr sz="1725" b="0">
                          <a:solidFill>
                            <a:srgbClr val="183343"/>
                          </a:solidFill>
                          <a:latin typeface="Arial"/>
                          <a:ea typeface="Arial"/>
                          <a:cs typeface="Arial"/>
                        </a:rPr>
                        <a:t>91/97 ≥50% pad-weight reduction</a:t>
                      </a:r>
                      <a:endParaRPr/>
                    </a:p>
                    <a:p>
                      <a:pPr marL="0" marR="0" lvl="0" indent="0" algn="l">
                        <a:spcBef>
                          <a:spcPts val="0"/>
                        </a:spcBef>
                        <a:spcAft>
                          <a:spcPts val="0"/>
                        </a:spcAft>
                        <a:buClr>
                          <a:srgbClr val="183343"/>
                        </a:buClr>
                        <a:buSzPts val="1725"/>
                        <a:buFont typeface="Arial"/>
                        <a:buNone/>
                      </a:pPr>
                      <a:r>
                        <a:rPr sz="1725" b="0">
                          <a:solidFill>
                            <a:srgbClr val="183343"/>
                          </a:solidFill>
                          <a:latin typeface="Arial"/>
                          <a:ea typeface="Arial"/>
                          <a:cs typeface="Arial"/>
                        </a:rPr>
                        <a:t>61/101 zero pads</a:t>
                      </a:r>
                      <a:endParaRPr/>
                    </a:p>
                  </a:txBody>
                  <a:tcPr marL="133350" marR="133350" marT="95250" marB="76200" anchor="ctr">
                    <a:solidFill>
                      <a:srgbClr val="EEF4F5"/>
                    </a:solidFill>
                  </a:tcPr>
                </a:tc>
                <a:tc>
                  <a:txBody>
                    <a:bodyPr/>
                    <a:lstStyle/>
                    <a:p>
                      <a:pPr marL="0" marR="0" lvl="0" indent="0" algn="l">
                        <a:spcBef>
                          <a:spcPts val="0"/>
                        </a:spcBef>
                        <a:spcAft>
                          <a:spcPts val="0"/>
                        </a:spcAft>
                        <a:buClr>
                          <a:srgbClr val="183343"/>
                        </a:buClr>
                        <a:buSzPts val="1725"/>
                        <a:buFont typeface="Arial"/>
                        <a:buNone/>
                      </a:pPr>
                      <a:r>
                        <a:rPr sz="1725" b="0">
                          <a:solidFill>
                            <a:srgbClr val="183343"/>
                          </a:solidFill>
                          <a:latin typeface="Arial"/>
                          <a:ea typeface="Arial"/>
                          <a:cs typeface="Arial"/>
                        </a:rPr>
                        <a:t>Prospective single-arm, funded by manufacturer. Missing data, one year, expert centres</a:t>
                      </a:r>
                      <a:endParaRPr/>
                    </a:p>
                  </a:txBody>
                  <a:tcPr marL="133350" marR="133350" marT="95250" marB="76200" anchor="ctr">
                    <a:solidFill>
                      <a:srgbClr val="EEF4F5"/>
                    </a:solidFill>
                  </a:tcPr>
                </a:tc>
              </a:tr>
              <a:tr h="1149350">
                <a:tc>
                  <a:txBody>
                    <a:bodyPr/>
                    <a:lstStyle/>
                    <a:p>
                      <a:pPr marL="0" marR="0" lvl="0" indent="0" algn="l">
                        <a:spcBef>
                          <a:spcPts val="0"/>
                        </a:spcBef>
                        <a:spcAft>
                          <a:spcPts val="0"/>
                        </a:spcAft>
                        <a:buClr>
                          <a:srgbClr val="183343"/>
                        </a:buClr>
                        <a:buSzPts val="1725"/>
                        <a:buFont typeface="Arial"/>
                        <a:buNone/>
                      </a:pPr>
                      <a:r>
                        <a:rPr sz="1725" b="0">
                          <a:solidFill>
                            <a:srgbClr val="183343"/>
                          </a:solidFill>
                          <a:latin typeface="Arial"/>
                          <a:ea typeface="Arial"/>
                          <a:cs typeface="Arial"/>
                        </a:rPr>
                        <a:t>Linder 2015: AMS 800</a:t>
                      </a:r>
                      <a:endParaRPr/>
                    </a:p>
                    <a:p>
                      <a:pPr marL="0" marR="0" lvl="0" indent="0" algn="l">
                        <a:spcBef>
                          <a:spcPts val="0"/>
                        </a:spcBef>
                        <a:spcAft>
                          <a:spcPts val="0"/>
                        </a:spcAft>
                        <a:buClr>
                          <a:srgbClr val="183343"/>
                        </a:buClr>
                        <a:buSzPts val="1725"/>
                        <a:buFont typeface="Arial"/>
                        <a:buNone/>
                      </a:pPr>
                      <a:r>
                        <a:rPr sz="1725" b="0">
                          <a:solidFill>
                            <a:srgbClr val="183343"/>
                          </a:solidFill>
                          <a:latin typeface="Arial"/>
                          <a:ea typeface="Arial"/>
                          <a:cs typeface="Arial"/>
                        </a:rPr>
                        <a:t>1,082 primary implants, 27% irradiated</a:t>
                      </a:r>
                      <a:endParaRPr/>
                    </a:p>
                  </a:txBody>
                  <a:tcPr marL="133350" marR="133350" marT="95250" marB="76200" anchor="ctr">
                    <a:solidFill>
                      <a:srgbClr val="FFFFFF"/>
                    </a:solidFill>
                  </a:tcPr>
                </a:tc>
                <a:tc>
                  <a:txBody>
                    <a:bodyPr/>
                    <a:lstStyle/>
                    <a:p>
                      <a:pPr marL="0" marR="0" lvl="0" indent="0" algn="l">
                        <a:spcBef>
                          <a:spcPts val="0"/>
                        </a:spcBef>
                        <a:spcAft>
                          <a:spcPts val="0"/>
                        </a:spcAft>
                        <a:buClr>
                          <a:srgbClr val="183343"/>
                        </a:buClr>
                        <a:buSzPts val="1725"/>
                        <a:buFont typeface="Arial"/>
                        <a:buNone/>
                      </a:pPr>
                      <a:r>
                        <a:rPr sz="1725" b="0">
                          <a:solidFill>
                            <a:srgbClr val="183343"/>
                          </a:solidFill>
                          <a:latin typeface="Arial"/>
                          <a:ea typeface="Arial"/>
                          <a:cs typeface="Arial"/>
                        </a:rPr>
                        <a:t>Freedom from any secondary surgery</a:t>
                      </a:r>
                      <a:endParaRPr/>
                    </a:p>
                    <a:p>
                      <a:pPr marL="0" marR="0" lvl="0" indent="0" algn="l">
                        <a:spcBef>
                          <a:spcPts val="0"/>
                        </a:spcBef>
                        <a:spcAft>
                          <a:spcPts val="0"/>
                        </a:spcAft>
                        <a:buClr>
                          <a:srgbClr val="183343"/>
                        </a:buClr>
                        <a:buSzPts val="1725"/>
                        <a:buFont typeface="Arial"/>
                        <a:buNone/>
                      </a:pPr>
                      <a:r>
                        <a:rPr sz="1725" b="0">
                          <a:solidFill>
                            <a:srgbClr val="183343"/>
                          </a:solidFill>
                          <a:latin typeface="Arial"/>
                          <a:ea typeface="Arial"/>
                          <a:cs typeface="Arial"/>
                        </a:rPr>
                        <a:t>KM 74% at five years</a:t>
                      </a:r>
                      <a:endParaRPr/>
                    </a:p>
                    <a:p>
                      <a:pPr marL="0" marR="0" lvl="0" indent="0" algn="l">
                        <a:spcBef>
                          <a:spcPts val="0"/>
                        </a:spcBef>
                        <a:spcAft>
                          <a:spcPts val="0"/>
                        </a:spcAft>
                        <a:buClr>
                          <a:srgbClr val="183343"/>
                        </a:buClr>
                        <a:buSzPts val="1725"/>
                        <a:buFont typeface="Arial"/>
                        <a:buNone/>
                      </a:pPr>
                      <a:r>
                        <a:rPr sz="1725" b="0">
                          <a:solidFill>
                            <a:srgbClr val="183343"/>
                          </a:solidFill>
                          <a:latin typeface="Arial"/>
                          <a:ea typeface="Arial"/>
                          <a:cs typeface="Arial"/>
                        </a:rPr>
                        <a:t>57% at ten years</a:t>
                      </a:r>
                      <a:endParaRPr/>
                    </a:p>
                  </a:txBody>
                  <a:tcPr marL="133350" marR="133350" marT="95250" marB="76200" anchor="ctr">
                    <a:solidFill>
                      <a:srgbClr val="FFFFFF"/>
                    </a:solidFill>
                  </a:tcPr>
                </a:tc>
                <a:tc>
                  <a:txBody>
                    <a:bodyPr/>
                    <a:lstStyle/>
                    <a:p>
                      <a:pPr marL="0" marR="0" lvl="0" indent="0" algn="l">
                        <a:spcBef>
                          <a:spcPts val="0"/>
                        </a:spcBef>
                        <a:spcAft>
                          <a:spcPts val="0"/>
                        </a:spcAft>
                        <a:buClr>
                          <a:srgbClr val="183343"/>
                        </a:buClr>
                        <a:buSzPts val="1725"/>
                        <a:buFont typeface="Arial"/>
                        <a:buNone/>
                      </a:pPr>
                      <a:r>
                        <a:rPr sz="1725" b="0">
                          <a:solidFill>
                            <a:srgbClr val="183343"/>
                          </a:solidFill>
                          <a:latin typeface="Arial"/>
                          <a:ea typeface="Arial"/>
                          <a:cs typeface="Arial"/>
                        </a:rPr>
                        <a:t>Historical specialist cohort. Continence and revision-free survival differ</a:t>
                      </a:r>
                      <a:endParaRPr/>
                    </a:p>
                  </a:txBody>
                  <a:tcPr marL="133350" marR="133350" marT="95250" marB="76200" anchor="ctr">
                    <a:solidFill>
                      <a:srgbClr val="FFFFFF"/>
                    </a:solidFill>
                  </a:tcPr>
                </a:tc>
              </a:tr>
              <a:tr h="1149350">
                <a:tc>
                  <a:txBody>
                    <a:bodyPr/>
                    <a:lstStyle/>
                    <a:p>
                      <a:pPr marL="0" marR="0" lvl="0" indent="0" algn="l">
                        <a:spcBef>
                          <a:spcPts val="0"/>
                        </a:spcBef>
                        <a:spcAft>
                          <a:spcPts val="0"/>
                        </a:spcAft>
                        <a:buClr>
                          <a:srgbClr val="183343"/>
                        </a:buClr>
                        <a:buSzPts val="1725"/>
                        <a:buFont typeface="Arial"/>
                        <a:buNone/>
                      </a:pPr>
                      <a:r>
                        <a:rPr sz="1725" b="0">
                          <a:solidFill>
                            <a:srgbClr val="183343"/>
                          </a:solidFill>
                          <a:latin typeface="Arial"/>
                          <a:ea typeface="Arial"/>
                          <a:cs typeface="Arial"/>
                        </a:rPr>
                        <a:t>Wilson 2024: ContiClassic</a:t>
                      </a:r>
                      <a:endParaRPr/>
                    </a:p>
                    <a:p>
                      <a:pPr marL="0" marR="0" lvl="0" indent="0" algn="l">
                        <a:spcBef>
                          <a:spcPts val="0"/>
                        </a:spcBef>
                        <a:spcAft>
                          <a:spcPts val="0"/>
                        </a:spcAft>
                        <a:buClr>
                          <a:srgbClr val="183343"/>
                        </a:buClr>
                        <a:buSzPts val="1725"/>
                        <a:buFont typeface="Arial"/>
                        <a:buNone/>
                      </a:pPr>
                      <a:r>
                        <a:rPr sz="1725" b="0">
                          <a:solidFill>
                            <a:srgbClr val="183343"/>
                          </a:solidFill>
                          <a:latin typeface="Arial"/>
                          <a:ea typeface="Arial"/>
                          <a:cs typeface="Arial"/>
                        </a:rPr>
                        <a:t>116 recipients, mixed indications</a:t>
                      </a:r>
                      <a:endParaRPr/>
                    </a:p>
                  </a:txBody>
                  <a:tcPr marL="133350" marR="133350" marT="95250" marB="76200" anchor="ctr">
                    <a:solidFill>
                      <a:srgbClr val="EEF4F5"/>
                    </a:solidFill>
                  </a:tcPr>
                </a:tc>
                <a:tc>
                  <a:txBody>
                    <a:bodyPr/>
                    <a:lstStyle/>
                    <a:p>
                      <a:pPr marL="0" marR="0" lvl="0" indent="0" algn="l">
                        <a:spcBef>
                          <a:spcPts val="0"/>
                        </a:spcBef>
                        <a:spcAft>
                          <a:spcPts val="0"/>
                        </a:spcAft>
                        <a:buClr>
                          <a:srgbClr val="183343"/>
                        </a:buClr>
                        <a:buSzPts val="1725"/>
                        <a:buFont typeface="Arial"/>
                        <a:buNone/>
                      </a:pPr>
                      <a:r>
                        <a:rPr sz="1725" b="0">
                          <a:solidFill>
                            <a:srgbClr val="183343"/>
                          </a:solidFill>
                          <a:latin typeface="Arial"/>
                          <a:ea typeface="Arial"/>
                          <a:cs typeface="Arial"/>
                        </a:rPr>
                        <a:t>Eight revisions</a:t>
                      </a:r>
                      <a:endParaRPr/>
                    </a:p>
                    <a:p>
                      <a:pPr marL="0" marR="0" lvl="0" indent="0" algn="l">
                        <a:spcBef>
                          <a:spcPts val="0"/>
                        </a:spcBef>
                        <a:spcAft>
                          <a:spcPts val="0"/>
                        </a:spcAft>
                        <a:buClr>
                          <a:srgbClr val="183343"/>
                        </a:buClr>
                        <a:buSzPts val="1725"/>
                        <a:buFont typeface="Arial"/>
                        <a:buNone/>
                      </a:pPr>
                      <a:r>
                        <a:rPr sz="1725" b="0">
                          <a:solidFill>
                            <a:srgbClr val="183343"/>
                          </a:solidFill>
                          <a:latin typeface="Arial"/>
                          <a:ea typeface="Arial"/>
                          <a:cs typeface="Arial"/>
                        </a:rPr>
                        <a:t>12-month KM device survival 93.2%</a:t>
                      </a:r>
                      <a:endParaRPr/>
                    </a:p>
                  </a:txBody>
                  <a:tcPr marL="133350" marR="133350" marT="95250" marB="76200" anchor="ctr">
                    <a:solidFill>
                      <a:srgbClr val="EEF4F5"/>
                    </a:solidFill>
                  </a:tcPr>
                </a:tc>
                <a:tc>
                  <a:txBody>
                    <a:bodyPr/>
                    <a:lstStyle/>
                    <a:p>
                      <a:pPr marL="0" marR="0" lvl="0" indent="0" algn="l">
                        <a:spcBef>
                          <a:spcPts val="0"/>
                        </a:spcBef>
                        <a:spcAft>
                          <a:spcPts val="0"/>
                        </a:spcAft>
                        <a:buClr>
                          <a:srgbClr val="183343"/>
                        </a:buClr>
                        <a:buSzPts val="1725"/>
                        <a:buFont typeface="Arial"/>
                        <a:buNone/>
                      </a:pPr>
                      <a:r>
                        <a:rPr sz="1725" b="0">
                          <a:solidFill>
                            <a:srgbClr val="183343"/>
                          </a:solidFill>
                          <a:latin typeface="Arial"/>
                          <a:ea typeface="Arial"/>
                          <a:cs typeface="Arial"/>
                        </a:rPr>
                        <a:t>Early safety series. No standardised continence comparator; mixed indications</a:t>
                      </a:r>
                      <a:endParaRPr/>
                    </a:p>
                  </a:txBody>
                  <a:tcPr marL="133350" marR="133350" marT="95250" marB="76200" anchor="ctr">
                    <a:solidFill>
                      <a:srgbClr val="EEF4F5"/>
                    </a:solidFill>
                  </a:tcPr>
                </a:tc>
              </a:tr>
            </a:tbl>
          </a:graphicData>
        </a:graphic>
      </p:graphicFrame>
    </p:spTree>
    <p:extLst>
      <p:ext uri="{BB962C8B-B14F-4D97-AF65-F5344CB8AC3E}">
        <p14:creationId xmlns:p14="http://schemas.microsoft.com/office/powerpoint/2010/main" val="299344395"/>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53" name="Google Shape;653;p43">
            <a:extLst xmlns:a="http://schemas.openxmlformats.org/drawingml/2006/main">
              <a:ext uri="{FF2B5EF4-FFF2-40B4-BE49-F238E27FC236}">
                <a16:creationId xmlns:a16="http://schemas.microsoft.com/office/drawing/2014/main" id="{F361F6C9-96D1-4D0C-9DB7-9AE2D478AEA3}"/>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Comparative and preparation evidence</a:t>
            </a:r>
            <a:endParaRPr/>
          </a:p>
        </p:txBody>
      </p:sp>
      <p:sp>
        <p:nvSpPr>
          <p:cNvPr id="654" name="Google Shape;654;p43">
            <a:extLst xmlns:a="http://schemas.openxmlformats.org/drawingml/2006/main">
              <a:ext uri="{FF2B5EF4-FFF2-40B4-BE49-F238E27FC236}">
                <a16:creationId xmlns:a16="http://schemas.microsoft.com/office/drawing/2014/main" id="{4FE15E15-D20F-453B-8168-85593E7C5A70}"/>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55" name="Google Shape;655;p43">
            <a:extLst xmlns:a="http://schemas.openxmlformats.org/drawingml/2006/main">
              <a:ext uri="{FF2B5EF4-FFF2-40B4-BE49-F238E27FC236}">
                <a16:creationId xmlns:a16="http://schemas.microsoft.com/office/drawing/2014/main" id="{31C3A0C3-090C-47D8-AD52-4F4802CA6D04}"/>
              </a:ext>
            </a:extLst>
          </p:cNvPr>
          <p:cNvSpPr>
            <a:spLocks xmlns:a="http://schemas.openxmlformats.org/drawingml/2006/main" noGrp="1"/>
          </p:cNvSpPr>
          <p:nvPr/>
        </p:nvSpPr>
        <p:spPr>
          <a:xfrm xmlns:a="http://schemas.openxmlformats.org/drawingml/2006/main">
            <a:off x="609600" y="6419850"/>
            <a:ext cx="109728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Backup: outside the timed talk</a:t>
            </a:r>
            <a:endParaRPr/>
          </a:p>
        </p:txBody>
      </p:sp>
      <p:graphicFrame>
        <p:nvGraphicFramePr>
          <p:cNvPr id="660" name="Google Shape;656;p43"/>
          <p:cNvGraphicFramePr/>
          <p:nvPr/>
        </p:nvGraphicFramePr>
        <p:xfrm>
          <a:off xmlns:a="http://schemas.openxmlformats.org/drawingml/2006/main" x="609600" y="1790700"/>
          <a:ext xmlns:a="http://schemas.openxmlformats.org/drawingml/2006/main" cx="3000000" cy="3000000"/>
        </p:xfrm>
        <a:graphic xmlns:a="http://schemas.openxmlformats.org/drawingml/2006/main">
          <a:graphicData uri="http://schemas.openxmlformats.org/drawingml/2006/table">
            <a:tbl>
              <a:tblPr>
                <a:tableStyleId>{0AF7EDE5-490F-44FA-BAEA-A03204E10917}</a:tableStyleId>
              </a:tblPr>
              <a:tblGrid>
                <a:gridCol w="3048000"/>
                <a:gridCol w="4000500"/>
                <a:gridCol w="3924300"/>
              </a:tblGrid>
              <a:tr h="552450">
                <a:tc>
                  <a:txBody>
                    <a:bodyPr/>
                    <a:lstStyle/>
                    <a:p>
                      <a:pPr marL="0" marR="0" lvl="0" indent="0" algn="l">
                        <a:spcBef>
                          <a:spcPts val="0"/>
                        </a:spcBef>
                        <a:spcAft>
                          <a:spcPts val="0"/>
                        </a:spcAft>
                        <a:buClr>
                          <a:srgbClr val="FFFFFF"/>
                        </a:buClr>
                        <a:buSzPts val="1800"/>
                        <a:buFont typeface="Arial"/>
                        <a:buNone/>
                      </a:pPr>
                      <a:r>
                        <a:rPr sz="1800" b="1">
                          <a:solidFill>
                            <a:srgbClr val="FFFFFF"/>
                          </a:solidFill>
                          <a:latin typeface="Arial"/>
                          <a:ea typeface="Arial"/>
                          <a:cs typeface="Arial"/>
                        </a:rPr>
                        <a:t>Study</a:t>
                      </a:r>
                      <a:endParaRPr/>
                    </a:p>
                  </a:txBody>
                  <a:tcPr marL="133350" marR="133350" marT="95250" marB="76200" anchor="ctr">
                    <a:solidFill>
                      <a:srgbClr val="183343"/>
                    </a:solidFill>
                  </a:tcPr>
                </a:tc>
                <a:tc>
                  <a:txBody>
                    <a:bodyPr/>
                    <a:lstStyle/>
                    <a:p>
                      <a:pPr marL="0" marR="0" lvl="0" indent="0" algn="l">
                        <a:spcBef>
                          <a:spcPts val="0"/>
                        </a:spcBef>
                        <a:spcAft>
                          <a:spcPts val="0"/>
                        </a:spcAft>
                        <a:buClr>
                          <a:srgbClr val="FFFFFF"/>
                        </a:buClr>
                        <a:buSzPts val="1800"/>
                        <a:buFont typeface="Arial"/>
                        <a:buNone/>
                      </a:pPr>
                      <a:r>
                        <a:rPr sz="1800" b="1">
                          <a:solidFill>
                            <a:srgbClr val="FFFFFF"/>
                          </a:solidFill>
                          <a:latin typeface="Arial"/>
                          <a:ea typeface="Arial"/>
                          <a:cs typeface="Arial"/>
                        </a:rPr>
                        <a:t>Finding</a:t>
                      </a:r>
                      <a:endParaRPr/>
                    </a:p>
                  </a:txBody>
                  <a:tcPr marL="133350" marR="133350" marT="95250" marB="76200" anchor="ctr">
                    <a:solidFill>
                      <a:srgbClr val="183343"/>
                    </a:solidFill>
                  </a:tcPr>
                </a:tc>
                <a:tc>
                  <a:txBody>
                    <a:bodyPr/>
                    <a:lstStyle/>
                    <a:p>
                      <a:pPr marL="0" marR="0" lvl="0" indent="0" algn="l">
                        <a:spcBef>
                          <a:spcPts val="0"/>
                        </a:spcBef>
                        <a:spcAft>
                          <a:spcPts val="0"/>
                        </a:spcAft>
                        <a:buClr>
                          <a:srgbClr val="FFFFFF"/>
                        </a:buClr>
                        <a:buSzPts val="1800"/>
                        <a:buFont typeface="Arial"/>
                        <a:buNone/>
                      </a:pPr>
                      <a:r>
                        <a:rPr sz="1800" b="1">
                          <a:solidFill>
                            <a:srgbClr val="FFFFFF"/>
                          </a:solidFill>
                          <a:latin typeface="Arial"/>
                          <a:ea typeface="Arial"/>
                          <a:cs typeface="Arial"/>
                        </a:rPr>
                        <a:t>Limits</a:t>
                      </a:r>
                      <a:endParaRPr/>
                    </a:p>
                  </a:txBody>
                  <a:tcPr marL="133350" marR="133350" marT="95250" marB="76200" anchor="ctr">
                    <a:solidFill>
                      <a:srgbClr val="183343"/>
                    </a:solidFill>
                  </a:tcPr>
                </a:tc>
              </a:tr>
              <a:tr h="1149350">
                <a:tc>
                  <a:txBody>
                    <a:bodyPr/>
                    <a:lstStyle/>
                    <a:p>
                      <a:pPr marL="0" marR="0" lvl="0" indent="0" algn="l">
                        <a:spcBef>
                          <a:spcPts val="0"/>
                        </a:spcBef>
                        <a:spcAft>
                          <a:spcPts val="0"/>
                        </a:spcAft>
                        <a:buClr>
                          <a:srgbClr val="183343"/>
                        </a:buClr>
                        <a:buSzPts val="1800"/>
                        <a:buFont typeface="Arial"/>
                        <a:buNone/>
                      </a:pPr>
                      <a:r>
                        <a:rPr sz="1800" b="0">
                          <a:solidFill>
                            <a:srgbClr val="183343"/>
                          </a:solidFill>
                          <a:latin typeface="Arial"/>
                          <a:ea typeface="Arial"/>
                          <a:cs typeface="Arial"/>
                        </a:rPr>
                        <a:t>MASTER 2022 / 2026</a:t>
                      </a:r>
                      <a:endParaRPr/>
                    </a:p>
                    <a:p>
                      <a:pPr marL="0" marR="0" lvl="0" indent="0" algn="l">
                        <a:spcBef>
                          <a:spcPts val="0"/>
                        </a:spcBef>
                        <a:spcAft>
                          <a:spcPts val="0"/>
                        </a:spcAft>
                        <a:buClr>
                          <a:srgbClr val="183343"/>
                        </a:buClr>
                        <a:buSzPts val="1800"/>
                        <a:buFont typeface="Arial"/>
                        <a:buNone/>
                      </a:pPr>
                      <a:r>
                        <a:rPr sz="1800" b="0">
                          <a:solidFill>
                            <a:srgbClr val="183343"/>
                          </a:solidFill>
                          <a:latin typeface="Arial"/>
                          <a:ea typeface="Arial"/>
                          <a:cs typeface="Arial"/>
                        </a:rPr>
                        <a:t>Same 380 randomised men</a:t>
                      </a:r>
                      <a:endParaRPr/>
                    </a:p>
                  </a:txBody>
                  <a:tcPr marL="133350" marR="133350" marT="95250" marB="76200" anchor="ctr">
                    <a:solidFill>
                      <a:srgbClr val="EEF4F5"/>
                    </a:solidFill>
                  </a:tcPr>
                </a:tc>
                <a:tc>
                  <a:txBody>
                    <a:bodyPr/>
                    <a:lstStyle/>
                    <a:p>
                      <a:pPr marL="0" marR="0" lvl="0" indent="0" algn="l">
                        <a:spcBef>
                          <a:spcPts val="0"/>
                        </a:spcBef>
                        <a:spcAft>
                          <a:spcPts val="0"/>
                        </a:spcAft>
                        <a:buClr>
                          <a:srgbClr val="183343"/>
                        </a:buClr>
                        <a:buSzPts val="1800"/>
                        <a:buFont typeface="Arial"/>
                        <a:buNone/>
                      </a:pPr>
                      <a:r>
                        <a:rPr sz="1800" b="0">
                          <a:solidFill>
                            <a:srgbClr val="183343"/>
                          </a:solidFill>
                          <a:latin typeface="Arial"/>
                          <a:ea typeface="Arial"/>
                          <a:cs typeface="Arial"/>
                        </a:rPr>
                        <a:t>24-month non-inferiority retained</a:t>
                      </a:r>
                      <a:endParaRPr/>
                    </a:p>
                    <a:p>
                      <a:pPr marL="0" marR="0" lvl="0" indent="0" algn="l">
                        <a:spcBef>
                          <a:spcPts val="0"/>
                        </a:spcBef>
                        <a:spcAft>
                          <a:spcPts val="0"/>
                        </a:spcAft>
                        <a:buClr>
                          <a:srgbClr val="183343"/>
                        </a:buClr>
                        <a:buSzPts val="1800"/>
                        <a:buFont typeface="Arial"/>
                        <a:buNone/>
                      </a:pPr>
                      <a:r>
                        <a:rPr sz="1800" b="0">
                          <a:solidFill>
                            <a:srgbClr val="183343"/>
                          </a:solidFill>
                          <a:latin typeface="Arial"/>
                          <a:ea typeface="Arial"/>
                          <a:cs typeface="Arial"/>
                        </a:rPr>
                        <a:t>Further surgery: sling 11%, AUS 2%</a:t>
                      </a:r>
                      <a:endParaRPr/>
                    </a:p>
                  </a:txBody>
                  <a:tcPr marL="133350" marR="133350" marT="95250" marB="76200" anchor="ctr">
                    <a:solidFill>
                      <a:srgbClr val="EEF4F5"/>
                    </a:solidFill>
                  </a:tcPr>
                </a:tc>
                <a:tc>
                  <a:txBody>
                    <a:bodyPr/>
                    <a:lstStyle/>
                    <a:p>
                      <a:pPr marL="0" marR="0" lvl="0" indent="0" algn="l">
                        <a:spcBef>
                          <a:spcPts val="0"/>
                        </a:spcBef>
                        <a:spcAft>
                          <a:spcPts val="0"/>
                        </a:spcAft>
                        <a:buClr>
                          <a:srgbClr val="183343"/>
                        </a:buClr>
                        <a:buSzPts val="1800"/>
                        <a:buFont typeface="Arial"/>
                        <a:buNone/>
                      </a:pPr>
                      <a:r>
                        <a:rPr sz="1800" b="0">
                          <a:solidFill>
                            <a:srgbClr val="183343"/>
                          </a:solidFill>
                          <a:latin typeface="Arial"/>
                          <a:ea typeface="Arial"/>
                          <a:cs typeface="Arial"/>
                        </a:rPr>
                        <a:t>Selected trial population. Secondary outcomes favour AUS; not general equivalence</a:t>
                      </a:r>
                      <a:endParaRPr/>
                    </a:p>
                  </a:txBody>
                  <a:tcPr marL="133350" marR="133350" marT="95250" marB="76200" anchor="ctr">
                    <a:solidFill>
                      <a:srgbClr val="EEF4F5"/>
                    </a:solidFill>
                  </a:tcPr>
                </a:tc>
              </a:tr>
              <a:tr h="1149350">
                <a:tc>
                  <a:txBody>
                    <a:bodyPr/>
                    <a:lstStyle/>
                    <a:p>
                      <a:pPr marL="0" marR="0" lvl="0" indent="0" algn="l">
                        <a:spcBef>
                          <a:spcPts val="0"/>
                        </a:spcBef>
                        <a:spcAft>
                          <a:spcPts val="0"/>
                        </a:spcAft>
                        <a:buClr>
                          <a:srgbClr val="183343"/>
                        </a:buClr>
                        <a:buSzPts val="1800"/>
                        <a:buFont typeface="Arial"/>
                        <a:buNone/>
                      </a:pPr>
                      <a:r>
                        <a:rPr sz="1800" b="0">
                          <a:solidFill>
                            <a:srgbClr val="183343"/>
                          </a:solidFill>
                          <a:latin typeface="Arial"/>
                          <a:ea typeface="Arial"/>
                          <a:cs typeface="Arial"/>
                        </a:rPr>
                        <a:t>Yeung 2013</a:t>
                      </a:r>
                      <a:endParaRPr/>
                    </a:p>
                    <a:p>
                      <a:pPr marL="0" marR="0" lvl="0" indent="0" algn="l">
                        <a:spcBef>
                          <a:spcPts val="0"/>
                        </a:spcBef>
                        <a:spcAft>
                          <a:spcPts val="0"/>
                        </a:spcAft>
                        <a:buClr>
                          <a:srgbClr val="183343"/>
                        </a:buClr>
                        <a:buSzPts val="1800"/>
                        <a:buFont typeface="Arial"/>
                        <a:buNone/>
                      </a:pPr>
                      <a:r>
                        <a:rPr sz="1800" b="0">
                          <a:solidFill>
                            <a:srgbClr val="183343"/>
                          </a:solidFill>
                          <a:latin typeface="Arial"/>
                          <a:ea typeface="Arial"/>
                          <a:cs typeface="Arial"/>
                        </a:rPr>
                        <a:t>100 initial GU prosthetic procedures</a:t>
                      </a:r>
                      <a:endParaRPr/>
                    </a:p>
                  </a:txBody>
                  <a:tcPr marL="133350" marR="133350" marT="95250" marB="76200" anchor="ctr">
                    <a:solidFill>
                      <a:srgbClr val="FFFFFF"/>
                    </a:solidFill>
                  </a:tcPr>
                </a:tc>
                <a:tc>
                  <a:txBody>
                    <a:bodyPr/>
                    <a:lstStyle/>
                    <a:p>
                      <a:pPr marL="0" marR="0" lvl="0" indent="0" algn="l">
                        <a:spcBef>
                          <a:spcPts val="0"/>
                        </a:spcBef>
                        <a:spcAft>
                          <a:spcPts val="0"/>
                        </a:spcAft>
                        <a:buClr>
                          <a:srgbClr val="183343"/>
                        </a:buClr>
                        <a:buSzPts val="1800"/>
                        <a:buFont typeface="Arial"/>
                        <a:buNone/>
                      </a:pPr>
                      <a:r>
                        <a:rPr sz="1800" b="0">
                          <a:solidFill>
                            <a:srgbClr val="183343"/>
                          </a:solidFill>
                          <a:latin typeface="Arial"/>
                          <a:ea typeface="Arial"/>
                          <a:cs typeface="Arial"/>
                        </a:rPr>
                        <a:t>Post-preparation skin culture positivity</a:t>
                      </a:r>
                      <a:endParaRPr/>
                    </a:p>
                    <a:p>
                      <a:pPr marL="0" marR="0" lvl="0" indent="0" algn="l">
                        <a:spcBef>
                          <a:spcPts val="0"/>
                        </a:spcBef>
                        <a:spcAft>
                          <a:spcPts val="0"/>
                        </a:spcAft>
                        <a:buClr>
                          <a:srgbClr val="183343"/>
                        </a:buClr>
                        <a:buSzPts val="1800"/>
                        <a:buFont typeface="Arial"/>
                        <a:buNone/>
                      </a:pPr>
                      <a:r>
                        <a:rPr sz="1800" b="0">
                          <a:solidFill>
                            <a:srgbClr val="183343"/>
                          </a:solidFill>
                          <a:latin typeface="Arial"/>
                          <a:ea typeface="Arial"/>
                          <a:cs typeface="Arial"/>
                        </a:rPr>
                        <a:t>8% versus 32%</a:t>
                      </a:r>
                      <a:endParaRPr/>
                    </a:p>
                  </a:txBody>
                  <a:tcPr marL="133350" marR="133350" marT="95250" marB="76200" anchor="ctr">
                    <a:solidFill>
                      <a:srgbClr val="FFFFFF"/>
                    </a:solidFill>
                  </a:tcPr>
                </a:tc>
                <a:tc>
                  <a:txBody>
                    <a:bodyPr/>
                    <a:lstStyle/>
                    <a:p>
                      <a:pPr marL="0" marR="0" lvl="0" indent="0" algn="l">
                        <a:spcBef>
                          <a:spcPts val="0"/>
                        </a:spcBef>
                        <a:spcAft>
                          <a:spcPts val="0"/>
                        </a:spcAft>
                        <a:buClr>
                          <a:srgbClr val="183343"/>
                        </a:buClr>
                        <a:buSzPts val="1800"/>
                        <a:buFont typeface="Arial"/>
                        <a:buNone/>
                      </a:pPr>
                      <a:r>
                        <a:rPr sz="1800" b="0">
                          <a:solidFill>
                            <a:srgbClr val="183343"/>
                          </a:solidFill>
                          <a:latin typeface="Arial"/>
                          <a:ea typeface="Arial"/>
                          <a:cs typeface="Arial"/>
                        </a:rPr>
                        <a:t>Surrogate outcome. Mixed devices. No AUS infection or duration conclusion</a:t>
                      </a:r>
                      <a:endParaRPr/>
                    </a:p>
                  </a:txBody>
                  <a:tcPr marL="133350" marR="133350" marT="95250" marB="76200" anchor="ctr">
                    <a:solidFill>
                      <a:srgbClr val="FFFFFF"/>
                    </a:solidFill>
                  </a:tcPr>
                </a:tc>
              </a:tr>
              <a:tr h="1149350">
                <a:tc>
                  <a:txBody>
                    <a:bodyPr/>
                    <a:lstStyle/>
                    <a:p>
                      <a:pPr marL="0" marR="0" lvl="0" indent="0" algn="l">
                        <a:spcBef>
                          <a:spcPts val="0"/>
                        </a:spcBef>
                        <a:spcAft>
                          <a:spcPts val="0"/>
                        </a:spcAft>
                        <a:buClr>
                          <a:srgbClr val="183343"/>
                        </a:buClr>
                        <a:buSzPts val="1800"/>
                        <a:buFont typeface="Arial"/>
                        <a:buNone/>
                      </a:pPr>
                      <a:r>
                        <a:rPr sz="1800" b="0">
                          <a:solidFill>
                            <a:srgbClr val="183343"/>
                          </a:solidFill>
                          <a:latin typeface="Arial"/>
                          <a:ea typeface="Arial"/>
                          <a:cs typeface="Arial"/>
                        </a:rPr>
                        <a:t>Gentamicin withdrawal 2026</a:t>
                      </a:r>
                      <a:endParaRPr/>
                    </a:p>
                    <a:p>
                      <a:pPr marL="0" marR="0" lvl="0" indent="0" algn="l">
                        <a:spcBef>
                          <a:spcPts val="0"/>
                        </a:spcBef>
                        <a:spcAft>
                          <a:spcPts val="0"/>
                        </a:spcAft>
                        <a:buClr>
                          <a:srgbClr val="183343"/>
                        </a:buClr>
                        <a:buSzPts val="1800"/>
                        <a:buFont typeface="Arial"/>
                        <a:buNone/>
                      </a:pPr>
                      <a:r>
                        <a:rPr sz="1800" b="0">
                          <a:solidFill>
                            <a:srgbClr val="183343"/>
                          </a:solidFill>
                          <a:latin typeface="Arial"/>
                          <a:ea typeface="Arial"/>
                          <a:cs typeface="Arial"/>
                        </a:rPr>
                        <a:t>173 uncoated AMS 800 procedures</a:t>
                      </a:r>
                      <a:endParaRPr/>
                    </a:p>
                  </a:txBody>
                  <a:tcPr marL="133350" marR="133350" marT="95250" marB="76200" anchor="ctr">
                    <a:solidFill>
                      <a:srgbClr val="EEF4F5"/>
                    </a:solidFill>
                  </a:tcPr>
                </a:tc>
                <a:tc>
                  <a:txBody>
                    <a:bodyPr/>
                    <a:lstStyle/>
                    <a:p>
                      <a:pPr marL="0" marR="0" lvl="0" indent="0" algn="l">
                        <a:spcBef>
                          <a:spcPts val="0"/>
                        </a:spcBef>
                        <a:spcAft>
                          <a:spcPts val="0"/>
                        </a:spcAft>
                        <a:buClr>
                          <a:srgbClr val="183343"/>
                        </a:buClr>
                        <a:buSzPts val="1800"/>
                        <a:buFont typeface="Arial"/>
                        <a:buNone/>
                      </a:pPr>
                      <a:r>
                        <a:rPr sz="1800" b="0">
                          <a:solidFill>
                            <a:srgbClr val="183343"/>
                          </a:solidFill>
                          <a:latin typeface="Arial"/>
                          <a:ea typeface="Arial"/>
                          <a:cs typeface="Arial"/>
                        </a:rPr>
                        <a:t>90-day SSI: 1/59 versus 2/114</a:t>
                      </a:r>
                      <a:endParaRPr/>
                    </a:p>
                    <a:p>
                      <a:pPr marL="0" marR="0" lvl="0" indent="0" algn="l">
                        <a:spcBef>
                          <a:spcPts val="0"/>
                        </a:spcBef>
                        <a:spcAft>
                          <a:spcPts val="0"/>
                        </a:spcAft>
                        <a:buClr>
                          <a:srgbClr val="183343"/>
                        </a:buClr>
                        <a:buSzPts val="1800"/>
                        <a:buFont typeface="Arial"/>
                        <a:buNone/>
                      </a:pPr>
                      <a:r>
                        <a:rPr sz="1800" b="0">
                          <a:solidFill>
                            <a:srgbClr val="183343"/>
                          </a:solidFill>
                          <a:latin typeface="Arial"/>
                          <a:ea typeface="Arial"/>
                          <a:cs typeface="Arial"/>
                        </a:rPr>
                        <a:t>No significant difference detected</a:t>
                      </a:r>
                      <a:endParaRPr/>
                    </a:p>
                  </a:txBody>
                  <a:tcPr marL="133350" marR="133350" marT="95250" marB="76200" anchor="ctr">
                    <a:solidFill>
                      <a:srgbClr val="EEF4F5"/>
                    </a:solidFill>
                  </a:tcPr>
                </a:tc>
                <a:tc>
                  <a:txBody>
                    <a:bodyPr/>
                    <a:lstStyle/>
                    <a:p>
                      <a:pPr marL="0" marR="0" lvl="0" indent="0" algn="l">
                        <a:spcBef>
                          <a:spcPts val="0"/>
                        </a:spcBef>
                        <a:spcAft>
                          <a:spcPts val="0"/>
                        </a:spcAft>
                        <a:buClr>
                          <a:srgbClr val="183343"/>
                        </a:buClr>
                        <a:buSzPts val="1800"/>
                        <a:buFont typeface="Arial"/>
                        <a:buNone/>
                      </a:pPr>
                      <a:r>
                        <a:rPr sz="1800" b="0">
                          <a:solidFill>
                            <a:srgbClr val="183343"/>
                          </a:solidFill>
                          <a:latin typeface="Arial"/>
                          <a:ea typeface="Arial"/>
                          <a:cs typeface="Arial"/>
                        </a:rPr>
                        <a:t>Sparse events, era confounding, broad systemic prophylaxis; not equivalence</a:t>
                      </a:r>
                      <a:endParaRPr/>
                    </a:p>
                  </a:txBody>
                  <a:tcPr marL="133350" marR="133350" marT="95250" marB="76200" anchor="ctr">
                    <a:solidFill>
                      <a:srgbClr val="EEF4F5"/>
                    </a:solidFill>
                  </a:tcPr>
                </a:tc>
              </a:tr>
            </a:tbl>
          </a:graphicData>
        </a:graphic>
      </p:graphicFrame>
    </p:spTree>
    <p:extLst>
      <p:ext uri="{BB962C8B-B14F-4D97-AF65-F5344CB8AC3E}">
        <p14:creationId xmlns:p14="http://schemas.microsoft.com/office/powerpoint/2010/main" val="1087329514"/>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62" name="Google Shape;662;p44">
            <a:extLst xmlns:a="http://schemas.openxmlformats.org/drawingml/2006/main">
              <a:ext uri="{FF2B5EF4-FFF2-40B4-BE49-F238E27FC236}">
                <a16:creationId xmlns:a16="http://schemas.microsoft.com/office/drawing/2014/main" id="{036CD798-9981-47D7-BB69-513AFEF51A03}"/>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Evidence gaps</a:t>
            </a:r>
            <a:endParaRPr/>
          </a:p>
        </p:txBody>
      </p:sp>
      <p:sp>
        <p:nvSpPr>
          <p:cNvPr id="663" name="Google Shape;663;p44">
            <a:extLst xmlns:a="http://schemas.openxmlformats.org/drawingml/2006/main">
              <a:ext uri="{FF2B5EF4-FFF2-40B4-BE49-F238E27FC236}">
                <a16:creationId xmlns:a16="http://schemas.microsoft.com/office/drawing/2014/main" id="{31E7DCAD-91AF-4DA5-9C56-98BDA6A598D4}"/>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64" name="Google Shape;664;p44">
            <a:extLst xmlns:a="http://schemas.openxmlformats.org/drawingml/2006/main">
              <a:ext uri="{FF2B5EF4-FFF2-40B4-BE49-F238E27FC236}">
                <a16:creationId xmlns:a16="http://schemas.microsoft.com/office/drawing/2014/main" id="{A8CAADC6-854F-4DB0-A724-4952C10E428C}"/>
              </a:ext>
            </a:extLst>
          </p:cNvPr>
          <p:cNvSpPr>
            <a:spLocks xmlns:a="http://schemas.openxmlformats.org/drawingml/2006/main" noGrp="1"/>
          </p:cNvSpPr>
          <p:nvPr/>
        </p:nvSpPr>
        <p:spPr>
          <a:xfrm xmlns:a="http://schemas.openxmlformats.org/drawingml/2006/main">
            <a:off x="609600" y="6419850"/>
            <a:ext cx="109728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Backup: outside the timed talk</a:t>
            </a:r>
            <a:endParaRPr/>
          </a:p>
        </p:txBody>
      </p:sp>
      <p:sp>
        <p:nvSpPr>
          <p:cNvPr id="665" name="Google Shape;665;p44">
            <a:extLst xmlns:a="http://schemas.openxmlformats.org/drawingml/2006/main">
              <a:ext uri="{FF2B5EF4-FFF2-40B4-BE49-F238E27FC236}">
                <a16:creationId xmlns:a16="http://schemas.microsoft.com/office/drawing/2014/main" id="{C2E7250D-EF0B-47BF-B9CB-80C24C52C20E}"/>
              </a:ext>
            </a:extLst>
          </p:cNvPr>
          <p:cNvSpPr>
            <a:spLocks xmlns:a="http://schemas.openxmlformats.org/drawingml/2006/main" noGrp="1"/>
          </p:cNvSpPr>
          <p:nvPr/>
        </p:nvSpPr>
        <p:spPr>
          <a:xfrm xmlns:a="http://schemas.openxmlformats.org/drawingml/2006/main">
            <a:off x="609600" y="1790700"/>
            <a:ext cx="10972800" cy="4286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025" b="0">
                <a:solidFill>
                  <a:srgbClr val="183343"/>
                </a:solidFill>
                <a:latin typeface="Arial"/>
                <a:ea typeface="Arial"/>
                <a:cs typeface="Arial"/>
              </a:rPr>
              <a:t>Routine versus selective UDS and meaningful outcomes</a:t>
            </a:r>
            <a:endParaRPr/>
          </a:p>
        </p:txBody>
      </p:sp>
      <p:sp>
        <p:nvSpPr>
          <p:cNvPr id="666" name="Google Shape;666;p44">
            <a:extLst xmlns:a="http://schemas.openxmlformats.org/drawingml/2006/main">
              <a:ext uri="{FF2B5EF4-FFF2-40B4-BE49-F238E27FC236}">
                <a16:creationId xmlns:a16="http://schemas.microsoft.com/office/drawing/2014/main" id="{827B8F5D-4274-4C98-AC27-7F25ACC8F8ED}"/>
              </a:ext>
            </a:extLst>
          </p:cNvPr>
          <p:cNvSpPr>
            <a:spLocks xmlns:a="http://schemas.openxmlformats.org/drawingml/2006/main" noGrp="1"/>
          </p:cNvSpPr>
          <p:nvPr/>
        </p:nvSpPr>
        <p:spPr>
          <a:xfrm xmlns:a="http://schemas.openxmlformats.org/drawingml/2006/main">
            <a:off x="609600" y="2333625"/>
            <a:ext cx="10972800" cy="4286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025" b="0">
                <a:solidFill>
                  <a:srgbClr val="183343"/>
                </a:solidFill>
                <a:latin typeface="Arial"/>
                <a:ea typeface="Arial"/>
                <a:cs typeface="Arial"/>
              </a:rPr>
              <a:t>Functional eligibility in DU or chronic retention</a:t>
            </a:r>
            <a:endParaRPr/>
          </a:p>
        </p:txBody>
      </p:sp>
      <p:sp>
        <p:nvSpPr>
          <p:cNvPr id="667" name="Google Shape;667;p44">
            <a:extLst xmlns:a="http://schemas.openxmlformats.org/drawingml/2006/main">
              <a:ext uri="{FF2B5EF4-FFF2-40B4-BE49-F238E27FC236}">
                <a16:creationId xmlns:a16="http://schemas.microsoft.com/office/drawing/2014/main" id="{57032BFF-ECE6-4516-ABDF-B705911894A8}"/>
              </a:ext>
            </a:extLst>
          </p:cNvPr>
          <p:cNvSpPr>
            <a:spLocks xmlns:a="http://schemas.openxmlformats.org/drawingml/2006/main" noGrp="1"/>
          </p:cNvSpPr>
          <p:nvPr/>
        </p:nvSpPr>
        <p:spPr>
          <a:xfrm xmlns:a="http://schemas.openxmlformats.org/drawingml/2006/main">
            <a:off x="609600" y="2876550"/>
            <a:ext cx="10972800" cy="4286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025" b="0">
                <a:solidFill>
                  <a:srgbClr val="183343"/>
                </a:solidFill>
                <a:latin typeface="Arial"/>
                <a:ea typeface="Arial"/>
                <a:cs typeface="Arial"/>
              </a:rPr>
              <a:t>Staging intervals after different reconstructions</a:t>
            </a:r>
            <a:endParaRPr/>
          </a:p>
        </p:txBody>
      </p:sp>
      <p:sp>
        <p:nvSpPr>
          <p:cNvPr id="668" name="Google Shape;668;p44">
            <a:extLst xmlns:a="http://schemas.openxmlformats.org/drawingml/2006/main">
              <a:ext uri="{FF2B5EF4-FFF2-40B4-BE49-F238E27FC236}">
                <a16:creationId xmlns:a16="http://schemas.microsoft.com/office/drawing/2014/main" id="{7B185408-0308-4E63-951C-08A445C865B4}"/>
              </a:ext>
            </a:extLst>
          </p:cNvPr>
          <p:cNvSpPr>
            <a:spLocks xmlns:a="http://schemas.openxmlformats.org/drawingml/2006/main" noGrp="1"/>
          </p:cNvSpPr>
          <p:nvPr/>
        </p:nvSpPr>
        <p:spPr>
          <a:xfrm xmlns:a="http://schemas.openxmlformats.org/drawingml/2006/main">
            <a:off x="609600" y="3419475"/>
            <a:ext cx="10972800" cy="4286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025" b="0">
                <a:solidFill>
                  <a:srgbClr val="183343"/>
                </a:solidFill>
                <a:latin typeface="Arial"/>
                <a:ea typeface="Arial"/>
                <a:cs typeface="Arial"/>
              </a:rPr>
              <a:t>Comparative protection from salvage strategies</a:t>
            </a:r>
            <a:endParaRPr/>
          </a:p>
        </p:txBody>
      </p:sp>
      <p:sp>
        <p:nvSpPr>
          <p:cNvPr id="669" name="Google Shape;669;p44">
            <a:extLst xmlns:a="http://schemas.openxmlformats.org/drawingml/2006/main">
              <a:ext uri="{FF2B5EF4-FFF2-40B4-BE49-F238E27FC236}">
                <a16:creationId xmlns:a16="http://schemas.microsoft.com/office/drawing/2014/main" id="{5D60F2C8-0EFA-4070-9683-F2C01AE405A3}"/>
              </a:ext>
            </a:extLst>
          </p:cNvPr>
          <p:cNvSpPr>
            <a:spLocks xmlns:a="http://schemas.openxmlformats.org/drawingml/2006/main" noGrp="1"/>
          </p:cNvSpPr>
          <p:nvPr/>
        </p:nvSpPr>
        <p:spPr>
          <a:xfrm xmlns:a="http://schemas.openxmlformats.org/drawingml/2006/main">
            <a:off x="609600" y="3962400"/>
            <a:ext cx="10972800" cy="4286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025" b="0">
                <a:solidFill>
                  <a:srgbClr val="183343"/>
                </a:solidFill>
                <a:latin typeface="Arial"/>
                <a:ea typeface="Arial"/>
                <a:cs typeface="Arial"/>
              </a:rPr>
              <a:t>Preparation, irrigation and prolonged prophylaxis</a:t>
            </a:r>
            <a:endParaRPr/>
          </a:p>
        </p:txBody>
      </p:sp>
      <p:sp>
        <p:nvSpPr>
          <p:cNvPr id="670" name="Google Shape;670;p44">
            <a:extLst xmlns:a="http://schemas.openxmlformats.org/drawingml/2006/main">
              <a:ext uri="{FF2B5EF4-FFF2-40B4-BE49-F238E27FC236}">
                <a16:creationId xmlns:a16="http://schemas.microsoft.com/office/drawing/2014/main" id="{9F3C88B6-DC91-43AE-B070-BFD04AA7BA3E}"/>
              </a:ext>
            </a:extLst>
          </p:cNvPr>
          <p:cNvSpPr>
            <a:spLocks xmlns:a="http://schemas.openxmlformats.org/drawingml/2006/main" noGrp="1"/>
          </p:cNvSpPr>
          <p:nvPr/>
        </p:nvSpPr>
        <p:spPr>
          <a:xfrm xmlns:a="http://schemas.openxmlformats.org/drawingml/2006/main">
            <a:off x="609600" y="4505325"/>
            <a:ext cx="10972800" cy="4286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025" b="0">
                <a:solidFill>
                  <a:srgbClr val="183343"/>
                </a:solidFill>
                <a:latin typeface="Arial"/>
                <a:ea typeface="Arial"/>
                <a:cs typeface="Arial"/>
              </a:rPr>
              <a:t>Independent long-term ContiClassic outcomes</a:t>
            </a:r>
            <a:endParaRPr/>
          </a:p>
        </p:txBody>
      </p:sp>
      <p:sp>
        <p:nvSpPr>
          <p:cNvPr id="671" name="Google Shape;671;p44">
            <a:extLst xmlns:a="http://schemas.openxmlformats.org/drawingml/2006/main">
              <a:ext uri="{FF2B5EF4-FFF2-40B4-BE49-F238E27FC236}">
                <a16:creationId xmlns:a16="http://schemas.microsoft.com/office/drawing/2014/main" id="{B69B213D-E526-4508-83C4-4DD3E919531A}"/>
              </a:ext>
            </a:extLst>
          </p:cNvPr>
          <p:cNvSpPr>
            <a:spLocks xmlns:a="http://schemas.openxmlformats.org/drawingml/2006/main" noGrp="1"/>
          </p:cNvSpPr>
          <p:nvPr/>
        </p:nvSpPr>
        <p:spPr>
          <a:xfrm xmlns:a="http://schemas.openxmlformats.org/drawingml/2006/main">
            <a:off x="609600" y="5048250"/>
            <a:ext cx="10972800" cy="4286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025" b="0">
                <a:solidFill>
                  <a:srgbClr val="183343"/>
                </a:solidFill>
                <a:latin typeface="Arial"/>
                <a:ea typeface="Arial"/>
                <a:cs typeface="Arial"/>
              </a:rPr>
              <a:t>Mechanisms and revision strategy in late leakage</a:t>
            </a:r>
            <a:endParaRPr/>
          </a:p>
        </p:txBody>
      </p:sp>
    </p:spTree>
    <p:extLst>
      <p:ext uri="{BB962C8B-B14F-4D97-AF65-F5344CB8AC3E}">
        <p14:creationId xmlns:p14="http://schemas.microsoft.com/office/powerpoint/2010/main" val="834477760"/>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77" name="Google Shape;677;p45">
            <a:extLst xmlns:a="http://schemas.openxmlformats.org/drawingml/2006/main">
              <a:ext uri="{FF2B5EF4-FFF2-40B4-BE49-F238E27FC236}">
                <a16:creationId xmlns:a16="http://schemas.microsoft.com/office/drawing/2014/main" id="{C6228662-B7FE-463A-BD6F-167E6FFB48B4}"/>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References 1 of 7</a:t>
            </a:r>
            <a:endParaRPr/>
          </a:p>
        </p:txBody>
      </p:sp>
      <p:sp>
        <p:nvSpPr>
          <p:cNvPr id="678" name="Google Shape;678;p45">
            <a:extLst xmlns:a="http://schemas.openxmlformats.org/drawingml/2006/main">
              <a:ext uri="{FF2B5EF4-FFF2-40B4-BE49-F238E27FC236}">
                <a16:creationId xmlns:a16="http://schemas.microsoft.com/office/drawing/2014/main" id="{01F8340F-6FB9-4086-8FDA-AE2B816D1372}"/>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79" name="Google Shape;679;p45">
            <a:extLst xmlns:a="http://schemas.openxmlformats.org/drawingml/2006/main">
              <a:ext uri="{FF2B5EF4-FFF2-40B4-BE49-F238E27FC236}">
                <a16:creationId xmlns:a16="http://schemas.microsoft.com/office/drawing/2014/main" id="{CB8E62FC-2D7F-4F3A-8254-C6298B5A4A51}"/>
              </a:ext>
            </a:extLst>
          </p:cNvPr>
          <p:cNvSpPr>
            <a:spLocks xmlns:a="http://schemas.openxmlformats.org/drawingml/2006/main" noGrp="1"/>
          </p:cNvSpPr>
          <p:nvPr/>
        </p:nvSpPr>
        <p:spPr>
          <a:xfrm xmlns:a="http://schemas.openxmlformats.org/drawingml/2006/main">
            <a:off x="609600" y="6419850"/>
            <a:ext cx="109728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Backup: outside the timed talk</a:t>
            </a:r>
            <a:endParaRPr/>
          </a:p>
        </p:txBody>
      </p:sp>
      <p:sp>
        <p:nvSpPr>
          <p:cNvPr id="680" name="Google Shape;680;p45">
            <a:extLst xmlns:a="http://schemas.openxmlformats.org/drawingml/2006/main">
              <a:ext uri="{FF2B5EF4-FFF2-40B4-BE49-F238E27FC236}">
                <a16:creationId xmlns:a16="http://schemas.microsoft.com/office/drawing/2014/main" id="{2119172F-AD3C-4DB3-BBA4-AB6336496CFF}"/>
              </a:ext>
            </a:extLst>
          </p:cNvPr>
          <p:cNvSpPr>
            <a:spLocks xmlns:a="http://schemas.openxmlformats.org/drawingml/2006/main" noGrp="1"/>
          </p:cNvSpPr>
          <p:nvPr/>
        </p:nvSpPr>
        <p:spPr>
          <a:xfrm xmlns:a="http://schemas.openxmlformats.org/drawingml/2006/main">
            <a:off x="609600" y="17621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BAUS25</a:t>
            </a:r>
            <a:endParaRPr/>
          </a:p>
        </p:txBody>
      </p:sp>
      <p:sp>
        <p:nvSpPr>
          <p:cNvPr id="681" name="Google Shape;681;p45">
            <a:extLst xmlns:a="http://schemas.openxmlformats.org/drawingml/2006/main">
              <a:ext uri="{FF2B5EF4-FFF2-40B4-BE49-F238E27FC236}">
                <a16:creationId xmlns:a16="http://schemas.microsoft.com/office/drawing/2014/main" id="{7E24354D-9651-467E-9F1C-5857C013AB59}"/>
              </a:ext>
            </a:extLst>
          </p:cNvPr>
          <p:cNvSpPr>
            <a:spLocks xmlns:a="http://schemas.openxmlformats.org/drawingml/2006/main" noGrp="1"/>
          </p:cNvSpPr>
          <p:nvPr/>
        </p:nvSpPr>
        <p:spPr>
          <a:xfrm xmlns:a="http://schemas.openxmlformats.org/drawingml/2006/main">
            <a:off x="609600" y="20478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ad96062852274a82"/>
              </a:rPr>
              <a:t>BAUS consensus, BJU Int 2025</a:t>
            </a:r>
            <a:endParaRPr/>
          </a:p>
        </p:txBody>
      </p:sp>
      <p:sp>
        <p:nvSpPr>
          <p:cNvPr id="682" name="Google Shape;682;p45">
            <a:extLst xmlns:a="http://schemas.openxmlformats.org/drawingml/2006/main">
              <a:ext uri="{FF2B5EF4-FFF2-40B4-BE49-F238E27FC236}">
                <a16:creationId xmlns:a16="http://schemas.microsoft.com/office/drawing/2014/main" id="{635C07E4-B27E-4D43-9929-EB965E328B14}"/>
              </a:ext>
            </a:extLst>
          </p:cNvPr>
          <p:cNvSpPr>
            <a:spLocks xmlns:a="http://schemas.openxmlformats.org/drawingml/2006/main" noGrp="1"/>
          </p:cNvSpPr>
          <p:nvPr/>
        </p:nvSpPr>
        <p:spPr>
          <a:xfrm xmlns:a="http://schemas.openxmlformats.org/drawingml/2006/main">
            <a:off x="6324600" y="17621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EAU26</a:t>
            </a:r>
            <a:endParaRPr/>
          </a:p>
        </p:txBody>
      </p:sp>
      <p:sp>
        <p:nvSpPr>
          <p:cNvPr id="683" name="Google Shape;683;p45">
            <a:extLst xmlns:a="http://schemas.openxmlformats.org/drawingml/2006/main">
              <a:ext uri="{FF2B5EF4-FFF2-40B4-BE49-F238E27FC236}">
                <a16:creationId xmlns:a16="http://schemas.microsoft.com/office/drawing/2014/main" id="{87A0D8D9-CD67-481E-87CE-EA1C7D13EB1B}"/>
              </a:ext>
            </a:extLst>
          </p:cNvPr>
          <p:cNvSpPr>
            <a:spLocks xmlns:a="http://schemas.openxmlformats.org/drawingml/2006/main" noGrp="1"/>
          </p:cNvSpPr>
          <p:nvPr/>
        </p:nvSpPr>
        <p:spPr>
          <a:xfrm xmlns:a="http://schemas.openxmlformats.org/drawingml/2006/main">
            <a:off x="6324600" y="20478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ead07626e602445d"/>
              </a:rPr>
              <a:t>EAU male LUTS guidelines, 2026</a:t>
            </a:r>
            <a:endParaRPr/>
          </a:p>
        </p:txBody>
      </p:sp>
      <p:sp>
        <p:nvSpPr>
          <p:cNvPr id="684" name="Google Shape;684;p45">
            <a:extLst xmlns:a="http://schemas.openxmlformats.org/drawingml/2006/main">
              <a:ext uri="{FF2B5EF4-FFF2-40B4-BE49-F238E27FC236}">
                <a16:creationId xmlns:a16="http://schemas.microsoft.com/office/drawing/2014/main" id="{3A117B3D-AED8-407E-B77C-974A20D8B468}"/>
              </a:ext>
            </a:extLst>
          </p:cNvPr>
          <p:cNvSpPr>
            <a:spLocks xmlns:a="http://schemas.openxmlformats.org/drawingml/2006/main" noGrp="1"/>
          </p:cNvSpPr>
          <p:nvPr/>
        </p:nvSpPr>
        <p:spPr>
          <a:xfrm xmlns:a="http://schemas.openxmlformats.org/drawingml/2006/main">
            <a:off x="609600" y="25622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AUA24</a:t>
            </a:r>
            <a:endParaRPr/>
          </a:p>
        </p:txBody>
      </p:sp>
      <p:sp>
        <p:nvSpPr>
          <p:cNvPr id="685" name="Google Shape;685;p45">
            <a:extLst xmlns:a="http://schemas.openxmlformats.org/drawingml/2006/main">
              <a:ext uri="{FF2B5EF4-FFF2-40B4-BE49-F238E27FC236}">
                <a16:creationId xmlns:a16="http://schemas.microsoft.com/office/drawing/2014/main" id="{5E87272F-9E3E-44F9-BA41-1B2B016B6B65}"/>
              </a:ext>
            </a:extLst>
          </p:cNvPr>
          <p:cNvSpPr>
            <a:spLocks xmlns:a="http://schemas.openxmlformats.org/drawingml/2006/main" noGrp="1"/>
          </p:cNvSpPr>
          <p:nvPr/>
        </p:nvSpPr>
        <p:spPr>
          <a:xfrm xmlns:a="http://schemas.openxmlformats.org/drawingml/2006/main">
            <a:off x="609600" y="28479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60aeaaace05a4fa8"/>
              </a:rPr>
              <a:t>AUA/GURS/SUFU IPT amendment, 2024</a:t>
            </a:r>
            <a:endParaRPr/>
          </a:p>
        </p:txBody>
      </p:sp>
      <p:sp>
        <p:nvSpPr>
          <p:cNvPr id="686" name="Google Shape;686;p45">
            <a:extLst xmlns:a="http://schemas.openxmlformats.org/drawingml/2006/main">
              <a:ext uri="{FF2B5EF4-FFF2-40B4-BE49-F238E27FC236}">
                <a16:creationId xmlns:a16="http://schemas.microsoft.com/office/drawing/2014/main" id="{547EB6A0-2605-48C8-9BC0-E9C129769CEF}"/>
              </a:ext>
            </a:extLst>
          </p:cNvPr>
          <p:cNvSpPr>
            <a:spLocks xmlns:a="http://schemas.openxmlformats.org/drawingml/2006/main" noGrp="1"/>
          </p:cNvSpPr>
          <p:nvPr/>
        </p:nvSpPr>
        <p:spPr>
          <a:xfrm xmlns:a="http://schemas.openxmlformats.org/drawingml/2006/main">
            <a:off x="6324600" y="25622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EAUSTR26</a:t>
            </a:r>
            <a:endParaRPr/>
          </a:p>
        </p:txBody>
      </p:sp>
      <p:sp>
        <p:nvSpPr>
          <p:cNvPr id="687" name="Google Shape;687;p45">
            <a:extLst xmlns:a="http://schemas.openxmlformats.org/drawingml/2006/main">
              <a:ext uri="{FF2B5EF4-FFF2-40B4-BE49-F238E27FC236}">
                <a16:creationId xmlns:a16="http://schemas.microsoft.com/office/drawing/2014/main" id="{488A738B-F80A-4F8F-BE05-E53606CE7ACC}"/>
              </a:ext>
            </a:extLst>
          </p:cNvPr>
          <p:cNvSpPr>
            <a:spLocks xmlns:a="http://schemas.openxmlformats.org/drawingml/2006/main" noGrp="1"/>
          </p:cNvSpPr>
          <p:nvPr/>
        </p:nvSpPr>
        <p:spPr>
          <a:xfrm xmlns:a="http://schemas.openxmlformats.org/drawingml/2006/main">
            <a:off x="6324600" y="28479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93338d9c33e14a31"/>
              </a:rPr>
              <a:t>EAU urethral strictures guidelines, 2026</a:t>
            </a:r>
            <a:endParaRPr/>
          </a:p>
        </p:txBody>
      </p:sp>
      <p:sp>
        <p:nvSpPr>
          <p:cNvPr id="688" name="Google Shape;688;p45">
            <a:extLst xmlns:a="http://schemas.openxmlformats.org/drawingml/2006/main">
              <a:ext uri="{FF2B5EF4-FFF2-40B4-BE49-F238E27FC236}">
                <a16:creationId xmlns:a16="http://schemas.microsoft.com/office/drawing/2014/main" id="{91B56B8B-6A60-49D1-BFE1-488C1DBBF3A6}"/>
              </a:ext>
            </a:extLst>
          </p:cNvPr>
          <p:cNvSpPr>
            <a:spLocks xmlns:a="http://schemas.openxmlformats.org/drawingml/2006/main" noGrp="1"/>
          </p:cNvSpPr>
          <p:nvPr/>
        </p:nvSpPr>
        <p:spPr>
          <a:xfrm xmlns:a="http://schemas.openxmlformats.org/drawingml/2006/main">
            <a:off x="609600" y="33623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ICS16</a:t>
            </a:r>
            <a:endParaRPr/>
          </a:p>
        </p:txBody>
      </p:sp>
      <p:sp>
        <p:nvSpPr>
          <p:cNvPr id="689" name="Google Shape;689;p45">
            <a:extLst xmlns:a="http://schemas.openxmlformats.org/drawingml/2006/main">
              <a:ext uri="{FF2B5EF4-FFF2-40B4-BE49-F238E27FC236}">
                <a16:creationId xmlns:a16="http://schemas.microsoft.com/office/drawing/2014/main" id="{E723CB15-7992-4402-9465-667A496E9A5C}"/>
              </a:ext>
            </a:extLst>
          </p:cNvPr>
          <p:cNvSpPr>
            <a:spLocks xmlns:a="http://schemas.openxmlformats.org/drawingml/2006/main" noGrp="1"/>
          </p:cNvSpPr>
          <p:nvPr/>
        </p:nvSpPr>
        <p:spPr>
          <a:xfrm xmlns:a="http://schemas.openxmlformats.org/drawingml/2006/main">
            <a:off x="609600" y="36480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a2d3d6b9f40541c0"/>
              </a:rPr>
              <a:t>ICS AUS consensus, NUU 2016</a:t>
            </a:r>
            <a:endParaRPr/>
          </a:p>
        </p:txBody>
      </p:sp>
      <p:sp>
        <p:nvSpPr>
          <p:cNvPr id="690" name="Google Shape;690;p45">
            <a:extLst xmlns:a="http://schemas.openxmlformats.org/drawingml/2006/main">
              <a:ext uri="{FF2B5EF4-FFF2-40B4-BE49-F238E27FC236}">
                <a16:creationId xmlns:a16="http://schemas.microsoft.com/office/drawing/2014/main" id="{8A773160-6407-46C5-B34A-BBBE0C6E3A3D}"/>
              </a:ext>
            </a:extLst>
          </p:cNvPr>
          <p:cNvSpPr>
            <a:spLocks xmlns:a="http://schemas.openxmlformats.org/drawingml/2006/main" noGrp="1"/>
          </p:cNvSpPr>
          <p:nvPr/>
        </p:nvSpPr>
        <p:spPr>
          <a:xfrm xmlns:a="http://schemas.openxmlformats.org/drawingml/2006/main">
            <a:off x="6324600" y="33623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AP23</a:t>
            </a:r>
            <a:endParaRPr/>
          </a:p>
        </p:txBody>
      </p:sp>
      <p:sp>
        <p:nvSpPr>
          <p:cNvPr id="691" name="Google Shape;691;p45">
            <a:extLst xmlns:a="http://schemas.openxmlformats.org/drawingml/2006/main">
              <a:ext uri="{FF2B5EF4-FFF2-40B4-BE49-F238E27FC236}">
                <a16:creationId xmlns:a16="http://schemas.microsoft.com/office/drawing/2014/main" id="{3FD953F6-BAB7-4201-AC7A-B11AA20B8B7A}"/>
              </a:ext>
            </a:extLst>
          </p:cNvPr>
          <p:cNvSpPr>
            <a:spLocks xmlns:a="http://schemas.openxmlformats.org/drawingml/2006/main" noGrp="1"/>
          </p:cNvSpPr>
          <p:nvPr/>
        </p:nvSpPr>
        <p:spPr>
          <a:xfrm xmlns:a="http://schemas.openxmlformats.org/drawingml/2006/main">
            <a:off x="6324600" y="36480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82fe3b65a5d44a15"/>
              </a:rPr>
              <a:t>Asia-Pacific AMS 800 consensus, 2023</a:t>
            </a:r>
            <a:endParaRPr/>
          </a:p>
        </p:txBody>
      </p:sp>
      <p:sp>
        <p:nvSpPr>
          <p:cNvPr id="692" name="Google Shape;692;p45">
            <a:extLst xmlns:a="http://schemas.openxmlformats.org/drawingml/2006/main">
              <a:ext uri="{FF2B5EF4-FFF2-40B4-BE49-F238E27FC236}">
                <a16:creationId xmlns:a16="http://schemas.microsoft.com/office/drawing/2014/main" id="{56DC4BDD-EBB9-43DA-9E54-65C17B03A12F}"/>
              </a:ext>
            </a:extLst>
          </p:cNvPr>
          <p:cNvSpPr>
            <a:spLocks xmlns:a="http://schemas.openxmlformats.org/drawingml/2006/main" noGrp="1"/>
          </p:cNvSpPr>
          <p:nvPr/>
        </p:nvSpPr>
        <p:spPr>
          <a:xfrm xmlns:a="http://schemas.openxmlformats.org/drawingml/2006/main">
            <a:off x="609600" y="41624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CCIFU</a:t>
            </a:r>
            <a:endParaRPr/>
          </a:p>
        </p:txBody>
      </p:sp>
      <p:sp>
        <p:nvSpPr>
          <p:cNvPr id="693" name="Google Shape;693;p45">
            <a:extLst xmlns:a="http://schemas.openxmlformats.org/drawingml/2006/main">
              <a:ext uri="{FF2B5EF4-FFF2-40B4-BE49-F238E27FC236}">
                <a16:creationId xmlns:a16="http://schemas.microsoft.com/office/drawing/2014/main" id="{FBC78B69-FE43-4334-BDA2-41BE3EBA6C7A}"/>
              </a:ext>
            </a:extLst>
          </p:cNvPr>
          <p:cNvSpPr>
            <a:spLocks xmlns:a="http://schemas.openxmlformats.org/drawingml/2006/main" noGrp="1"/>
          </p:cNvSpPr>
          <p:nvPr/>
        </p:nvSpPr>
        <p:spPr>
          <a:xfrm xmlns:a="http://schemas.openxmlformats.org/drawingml/2006/main">
            <a:off x="609600" y="44481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9d9e000020f244f2"/>
              </a:rPr>
              <a:t>Rigicon ContiClassic IFU, REV.03, 2023</a:t>
            </a:r>
            <a:endParaRPr/>
          </a:p>
        </p:txBody>
      </p:sp>
      <p:sp>
        <p:nvSpPr>
          <p:cNvPr id="694" name="Google Shape;694;p45">
            <a:extLst xmlns:a="http://schemas.openxmlformats.org/drawingml/2006/main">
              <a:ext uri="{FF2B5EF4-FFF2-40B4-BE49-F238E27FC236}">
                <a16:creationId xmlns:a16="http://schemas.microsoft.com/office/drawing/2014/main" id="{15900066-3B51-4247-AD99-D2A4091F7613}"/>
              </a:ext>
            </a:extLst>
          </p:cNvPr>
          <p:cNvSpPr>
            <a:spLocks xmlns:a="http://schemas.openxmlformats.org/drawingml/2006/main" noGrp="1"/>
          </p:cNvSpPr>
          <p:nvPr/>
        </p:nvSpPr>
        <p:spPr>
          <a:xfrm xmlns:a="http://schemas.openxmlformats.org/drawingml/2006/main">
            <a:off x="6324600" y="41624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ICSUDS17</a:t>
            </a:r>
            <a:endParaRPr/>
          </a:p>
        </p:txBody>
      </p:sp>
      <p:sp>
        <p:nvSpPr>
          <p:cNvPr id="695" name="Google Shape;695;p45">
            <a:extLst xmlns:a="http://schemas.openxmlformats.org/drawingml/2006/main">
              <a:ext uri="{FF2B5EF4-FFF2-40B4-BE49-F238E27FC236}">
                <a16:creationId xmlns:a16="http://schemas.microsoft.com/office/drawing/2014/main" id="{CFB4DA69-8AFF-4751-9932-0335026E91FC}"/>
              </a:ext>
            </a:extLst>
          </p:cNvPr>
          <p:cNvSpPr>
            <a:spLocks xmlns:a="http://schemas.openxmlformats.org/drawingml/2006/main" noGrp="1"/>
          </p:cNvSpPr>
          <p:nvPr/>
        </p:nvSpPr>
        <p:spPr>
          <a:xfrm xmlns:a="http://schemas.openxmlformats.org/drawingml/2006/main">
            <a:off x="6324600" y="44481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6a7968e533ce44ae"/>
              </a:rPr>
              <a:t>ICS good urodynamic practices, 2017</a:t>
            </a:r>
            <a:endParaRPr/>
          </a:p>
        </p:txBody>
      </p:sp>
      <p:sp>
        <p:nvSpPr>
          <p:cNvPr id="696" name="Google Shape;696;p45">
            <a:extLst xmlns:a="http://schemas.openxmlformats.org/drawingml/2006/main">
              <a:ext uri="{FF2B5EF4-FFF2-40B4-BE49-F238E27FC236}">
                <a16:creationId xmlns:a16="http://schemas.microsoft.com/office/drawing/2014/main" id="{1977937A-862D-41DA-9123-8D4E7F77D6C6}"/>
              </a:ext>
            </a:extLst>
          </p:cNvPr>
          <p:cNvSpPr>
            <a:spLocks xmlns:a="http://schemas.openxmlformats.org/drawingml/2006/main" noGrp="1"/>
          </p:cNvSpPr>
          <p:nvPr/>
        </p:nvSpPr>
        <p:spPr>
          <a:xfrm xmlns:a="http://schemas.openxmlformats.org/drawingml/2006/main">
            <a:off x="609600" y="49625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AUAOAB24</a:t>
            </a:r>
            <a:endParaRPr/>
          </a:p>
        </p:txBody>
      </p:sp>
      <p:sp>
        <p:nvSpPr>
          <p:cNvPr id="697" name="Google Shape;697;p45">
            <a:extLst xmlns:a="http://schemas.openxmlformats.org/drawingml/2006/main">
              <a:ext uri="{FF2B5EF4-FFF2-40B4-BE49-F238E27FC236}">
                <a16:creationId xmlns:a16="http://schemas.microsoft.com/office/drawing/2014/main" id="{16B28CC7-FC68-4AED-90DE-64E7CC43FE4D}"/>
              </a:ext>
            </a:extLst>
          </p:cNvPr>
          <p:cNvSpPr>
            <a:spLocks xmlns:a="http://schemas.openxmlformats.org/drawingml/2006/main" noGrp="1"/>
          </p:cNvSpPr>
          <p:nvPr/>
        </p:nvSpPr>
        <p:spPr>
          <a:xfrm xmlns:a="http://schemas.openxmlformats.org/drawingml/2006/main">
            <a:off x="609600" y="52482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cf90e922458244c0"/>
              </a:rPr>
              <a:t>AUA/SUFU idiopathic OAB guideline, 2024</a:t>
            </a:r>
            <a:endParaRPr/>
          </a:p>
        </p:txBody>
      </p:sp>
    </p:spTree>
    <p:extLst>
      <p:ext uri="{BB962C8B-B14F-4D97-AF65-F5344CB8AC3E}">
        <p14:creationId xmlns:p14="http://schemas.microsoft.com/office/powerpoint/2010/main" val="1954361865"/>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03" name="Google Shape;703;p46">
            <a:extLst xmlns:a="http://schemas.openxmlformats.org/drawingml/2006/main">
              <a:ext uri="{FF2B5EF4-FFF2-40B4-BE49-F238E27FC236}">
                <a16:creationId xmlns:a16="http://schemas.microsoft.com/office/drawing/2014/main" id="{DE20F023-FE2F-4870-A8F9-93C51A3C4E22}"/>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References 2 of 7</a:t>
            </a:r>
            <a:endParaRPr/>
          </a:p>
        </p:txBody>
      </p:sp>
      <p:sp>
        <p:nvSpPr>
          <p:cNvPr id="704" name="Google Shape;704;p46">
            <a:extLst xmlns:a="http://schemas.openxmlformats.org/drawingml/2006/main">
              <a:ext uri="{FF2B5EF4-FFF2-40B4-BE49-F238E27FC236}">
                <a16:creationId xmlns:a16="http://schemas.microsoft.com/office/drawing/2014/main" id="{BADBF60E-3D2C-419A-8F2A-70ED46385C07}"/>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705" name="Google Shape;705;p46">
            <a:extLst xmlns:a="http://schemas.openxmlformats.org/drawingml/2006/main">
              <a:ext uri="{FF2B5EF4-FFF2-40B4-BE49-F238E27FC236}">
                <a16:creationId xmlns:a16="http://schemas.microsoft.com/office/drawing/2014/main" id="{2786B6CF-ED91-4A91-BD3A-41F5F6B12B36}"/>
              </a:ext>
            </a:extLst>
          </p:cNvPr>
          <p:cNvSpPr>
            <a:spLocks xmlns:a="http://schemas.openxmlformats.org/drawingml/2006/main" noGrp="1"/>
          </p:cNvSpPr>
          <p:nvPr/>
        </p:nvSpPr>
        <p:spPr>
          <a:xfrm xmlns:a="http://schemas.openxmlformats.org/drawingml/2006/main">
            <a:off x="609600" y="6419850"/>
            <a:ext cx="109728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Backup: outside the timed talk</a:t>
            </a:r>
            <a:endParaRPr/>
          </a:p>
        </p:txBody>
      </p:sp>
      <p:sp>
        <p:nvSpPr>
          <p:cNvPr id="706" name="Google Shape;706;p46">
            <a:extLst xmlns:a="http://schemas.openxmlformats.org/drawingml/2006/main">
              <a:ext uri="{FF2B5EF4-FFF2-40B4-BE49-F238E27FC236}">
                <a16:creationId xmlns:a16="http://schemas.microsoft.com/office/drawing/2014/main" id="{D5C3B403-D96E-47B6-B195-5C76C5500D54}"/>
              </a:ext>
            </a:extLst>
          </p:cNvPr>
          <p:cNvSpPr>
            <a:spLocks xmlns:a="http://schemas.openxmlformats.org/drawingml/2006/main" noGrp="1"/>
          </p:cNvSpPr>
          <p:nvPr/>
        </p:nvSpPr>
        <p:spPr>
          <a:xfrm xmlns:a="http://schemas.openxmlformats.org/drawingml/2006/main">
            <a:off x="609600" y="17621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NICE</a:t>
            </a:r>
            <a:endParaRPr/>
          </a:p>
        </p:txBody>
      </p:sp>
      <p:sp>
        <p:nvSpPr>
          <p:cNvPr id="707" name="Google Shape;707;p46">
            <a:extLst xmlns:a="http://schemas.openxmlformats.org/drawingml/2006/main">
              <a:ext uri="{FF2B5EF4-FFF2-40B4-BE49-F238E27FC236}">
                <a16:creationId xmlns:a16="http://schemas.microsoft.com/office/drawing/2014/main" id="{08443FA3-DBB6-4B7B-9ADC-53ACEBC09258}"/>
              </a:ext>
            </a:extLst>
          </p:cNvPr>
          <p:cNvSpPr>
            <a:spLocks xmlns:a="http://schemas.openxmlformats.org/drawingml/2006/main" noGrp="1"/>
          </p:cNvSpPr>
          <p:nvPr/>
        </p:nvSpPr>
        <p:spPr>
          <a:xfrm xmlns:a="http://schemas.openxmlformats.org/drawingml/2006/main">
            <a:off x="609600" y="20478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b8a43f838df64bb9"/>
              </a:rPr>
              <a:t>NICE NG125: surgical site infection</a:t>
            </a:r>
            <a:endParaRPr/>
          </a:p>
        </p:txBody>
      </p:sp>
      <p:sp>
        <p:nvSpPr>
          <p:cNvPr id="708" name="Google Shape;708;p46">
            <a:extLst xmlns:a="http://schemas.openxmlformats.org/drawingml/2006/main">
              <a:ext uri="{FF2B5EF4-FFF2-40B4-BE49-F238E27FC236}">
                <a16:creationId xmlns:a16="http://schemas.microsoft.com/office/drawing/2014/main" id="{9A8107EF-C699-4FB3-897D-D4B661D94219}"/>
              </a:ext>
            </a:extLst>
          </p:cNvPr>
          <p:cNvSpPr>
            <a:spLocks xmlns:a="http://schemas.openxmlformats.org/drawingml/2006/main" noGrp="1"/>
          </p:cNvSpPr>
          <p:nvPr/>
        </p:nvSpPr>
        <p:spPr>
          <a:xfrm xmlns:a="http://schemas.openxmlformats.org/drawingml/2006/main">
            <a:off x="6324600" y="17621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WHO09</a:t>
            </a:r>
            <a:endParaRPr/>
          </a:p>
        </p:txBody>
      </p:sp>
      <p:sp>
        <p:nvSpPr>
          <p:cNvPr id="709" name="Google Shape;709;p46">
            <a:extLst xmlns:a="http://schemas.openxmlformats.org/drawingml/2006/main">
              <a:ext uri="{FF2B5EF4-FFF2-40B4-BE49-F238E27FC236}">
                <a16:creationId xmlns:a16="http://schemas.microsoft.com/office/drawing/2014/main" id="{A0AB7CA9-0EEA-4DA4-A2CB-64AEA1D13817}"/>
              </a:ext>
            </a:extLst>
          </p:cNvPr>
          <p:cNvSpPr>
            <a:spLocks xmlns:a="http://schemas.openxmlformats.org/drawingml/2006/main" noGrp="1"/>
          </p:cNvSpPr>
          <p:nvPr/>
        </p:nvSpPr>
        <p:spPr>
          <a:xfrm xmlns:a="http://schemas.openxmlformats.org/drawingml/2006/main">
            <a:off x="6324600" y="20478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ad1c66e972d94a08"/>
              </a:rPr>
              <a:t>WHO hand hygiene guidance, 2009</a:t>
            </a:r>
            <a:endParaRPr/>
          </a:p>
        </p:txBody>
      </p:sp>
      <p:sp>
        <p:nvSpPr>
          <p:cNvPr id="710" name="Google Shape;710;p46">
            <a:extLst xmlns:a="http://schemas.openxmlformats.org/drawingml/2006/main">
              <a:ext uri="{FF2B5EF4-FFF2-40B4-BE49-F238E27FC236}">
                <a16:creationId xmlns:a16="http://schemas.microsoft.com/office/drawing/2014/main" id="{3DE5C937-6033-4DB6-B54A-536E34362636}"/>
              </a:ext>
            </a:extLst>
          </p:cNvPr>
          <p:cNvSpPr>
            <a:spLocks xmlns:a="http://schemas.openxmlformats.org/drawingml/2006/main" noGrp="1"/>
          </p:cNvSpPr>
          <p:nvPr/>
        </p:nvSpPr>
        <p:spPr>
          <a:xfrm xmlns:a="http://schemas.openxmlformats.org/drawingml/2006/main">
            <a:off x="609600" y="25622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CHLORA26</a:t>
            </a:r>
            <a:endParaRPr/>
          </a:p>
        </p:txBody>
      </p:sp>
      <p:sp>
        <p:nvSpPr>
          <p:cNvPr id="711" name="Google Shape;711;p46">
            <a:extLst xmlns:a="http://schemas.openxmlformats.org/drawingml/2006/main">
              <a:ext uri="{FF2B5EF4-FFF2-40B4-BE49-F238E27FC236}">
                <a16:creationId xmlns:a16="http://schemas.microsoft.com/office/drawing/2014/main" id="{93400416-FEB4-452D-9467-17864F72A85F}"/>
              </a:ext>
            </a:extLst>
          </p:cNvPr>
          <p:cNvSpPr>
            <a:spLocks xmlns:a="http://schemas.openxmlformats.org/drawingml/2006/main" noGrp="1"/>
          </p:cNvSpPr>
          <p:nvPr/>
        </p:nvSpPr>
        <p:spPr>
          <a:xfrm xmlns:a="http://schemas.openxmlformats.org/drawingml/2006/main">
            <a:off x="609600" y="28479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f8b72e16e7454baa"/>
              </a:rPr>
              <a:t>ChloraPrep UK product information, 2026</a:t>
            </a:r>
            <a:endParaRPr/>
          </a:p>
        </p:txBody>
      </p:sp>
      <p:sp>
        <p:nvSpPr>
          <p:cNvPr id="712" name="Google Shape;712;p46">
            <a:extLst xmlns:a="http://schemas.openxmlformats.org/drawingml/2006/main">
              <a:ext uri="{FF2B5EF4-FFF2-40B4-BE49-F238E27FC236}">
                <a16:creationId xmlns:a16="http://schemas.microsoft.com/office/drawing/2014/main" id="{457D26AC-47E3-455C-9097-1E5545FBC94E}"/>
              </a:ext>
            </a:extLst>
          </p:cNvPr>
          <p:cNvSpPr>
            <a:spLocks xmlns:a="http://schemas.openxmlformats.org/drawingml/2006/main" noGrp="1"/>
          </p:cNvSpPr>
          <p:nvPr/>
        </p:nvSpPr>
        <p:spPr>
          <a:xfrm xmlns:a="http://schemas.openxmlformats.org/drawingml/2006/main">
            <a:off x="6324600" y="25622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IDSA19</a:t>
            </a:r>
            <a:endParaRPr/>
          </a:p>
        </p:txBody>
      </p:sp>
      <p:sp>
        <p:nvSpPr>
          <p:cNvPr id="713" name="Google Shape;713;p46">
            <a:extLst xmlns:a="http://schemas.openxmlformats.org/drawingml/2006/main">
              <a:ext uri="{FF2B5EF4-FFF2-40B4-BE49-F238E27FC236}">
                <a16:creationId xmlns:a16="http://schemas.microsoft.com/office/drawing/2014/main" id="{6364D571-2B7F-4AD9-918E-C35014E5884D}"/>
              </a:ext>
            </a:extLst>
          </p:cNvPr>
          <p:cNvSpPr>
            <a:spLocks xmlns:a="http://schemas.openxmlformats.org/drawingml/2006/main" noGrp="1"/>
          </p:cNvSpPr>
          <p:nvPr/>
        </p:nvSpPr>
        <p:spPr>
          <a:xfrm xmlns:a="http://schemas.openxmlformats.org/drawingml/2006/main">
            <a:off x="6324600" y="28479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19e8bbeb9fea45ab"/>
              </a:rPr>
              <a:t>IDSA asymptomatic bacteriuria, 2019</a:t>
            </a:r>
            <a:endParaRPr/>
          </a:p>
        </p:txBody>
      </p:sp>
      <p:sp>
        <p:nvSpPr>
          <p:cNvPr id="714" name="Google Shape;714;p46">
            <a:extLst xmlns:a="http://schemas.openxmlformats.org/drawingml/2006/main">
              <a:ext uri="{FF2B5EF4-FFF2-40B4-BE49-F238E27FC236}">
                <a16:creationId xmlns:a16="http://schemas.microsoft.com/office/drawing/2014/main" id="{3ABEC950-3D2C-4B1D-B8F9-EF750EB2C8B5}"/>
              </a:ext>
            </a:extLst>
          </p:cNvPr>
          <p:cNvSpPr>
            <a:spLocks xmlns:a="http://schemas.openxmlformats.org/drawingml/2006/main" noGrp="1"/>
          </p:cNvSpPr>
          <p:nvPr/>
        </p:nvSpPr>
        <p:spPr>
          <a:xfrm xmlns:a="http://schemas.openxmlformats.org/drawingml/2006/main">
            <a:off x="609600" y="33623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AUAABX20</a:t>
            </a:r>
            <a:endParaRPr/>
          </a:p>
        </p:txBody>
      </p:sp>
      <p:sp>
        <p:nvSpPr>
          <p:cNvPr id="715" name="Google Shape;715;p46">
            <a:extLst xmlns:a="http://schemas.openxmlformats.org/drawingml/2006/main">
              <a:ext uri="{FF2B5EF4-FFF2-40B4-BE49-F238E27FC236}">
                <a16:creationId xmlns:a16="http://schemas.microsoft.com/office/drawing/2014/main" id="{88C97427-6951-48E7-B71F-8089F8FF364D}"/>
              </a:ext>
            </a:extLst>
          </p:cNvPr>
          <p:cNvSpPr>
            <a:spLocks xmlns:a="http://schemas.openxmlformats.org/drawingml/2006/main" noGrp="1"/>
          </p:cNvSpPr>
          <p:nvPr/>
        </p:nvSpPr>
        <p:spPr>
          <a:xfrm xmlns:a="http://schemas.openxmlformats.org/drawingml/2006/main">
            <a:off x="609600" y="36480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4d59e275f5294856"/>
              </a:rPr>
              <a:t>AUA antimicrobial prophylaxis, 2020</a:t>
            </a:r>
            <a:endParaRPr/>
          </a:p>
        </p:txBody>
      </p:sp>
      <p:sp>
        <p:nvSpPr>
          <p:cNvPr id="716" name="Google Shape;716;p46">
            <a:extLst xmlns:a="http://schemas.openxmlformats.org/drawingml/2006/main">
              <a:ext uri="{FF2B5EF4-FFF2-40B4-BE49-F238E27FC236}">
                <a16:creationId xmlns:a16="http://schemas.microsoft.com/office/drawing/2014/main" id="{F01B9B2B-0BCC-4D8F-887E-E93A4551CD97}"/>
              </a:ext>
            </a:extLst>
          </p:cNvPr>
          <p:cNvSpPr>
            <a:spLocks xmlns:a="http://schemas.openxmlformats.org/drawingml/2006/main" noGrp="1"/>
          </p:cNvSpPr>
          <p:nvPr/>
        </p:nvSpPr>
        <p:spPr>
          <a:xfrm xmlns:a="http://schemas.openxmlformats.org/drawingml/2006/main">
            <a:off x="6324600" y="33623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CCSAFETY</a:t>
            </a:r>
            <a:endParaRPr/>
          </a:p>
        </p:txBody>
      </p:sp>
      <p:sp>
        <p:nvSpPr>
          <p:cNvPr id="717" name="Google Shape;717;p46">
            <a:extLst xmlns:a="http://schemas.openxmlformats.org/drawingml/2006/main">
              <a:ext uri="{FF2B5EF4-FFF2-40B4-BE49-F238E27FC236}">
                <a16:creationId xmlns:a16="http://schemas.microsoft.com/office/drawing/2014/main" id="{D53E99DF-A682-4825-BB44-300ECA013BB8}"/>
              </a:ext>
            </a:extLst>
          </p:cNvPr>
          <p:cNvSpPr>
            <a:spLocks xmlns:a="http://schemas.openxmlformats.org/drawingml/2006/main" noGrp="1"/>
          </p:cNvSpPr>
          <p:nvPr/>
        </p:nvSpPr>
        <p:spPr>
          <a:xfrm xmlns:a="http://schemas.openxmlformats.org/drawingml/2006/main">
            <a:off x="6324600" y="36480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0ef312843753474e"/>
              </a:rPr>
              <a:t>Wilson: ContiClassic safety, IJIR 2024</a:t>
            </a:r>
            <a:endParaRPr/>
          </a:p>
        </p:txBody>
      </p:sp>
      <p:sp>
        <p:nvSpPr>
          <p:cNvPr id="718" name="Google Shape;718;p46">
            <a:extLst xmlns:a="http://schemas.openxmlformats.org/drawingml/2006/main">
              <a:ext uri="{FF2B5EF4-FFF2-40B4-BE49-F238E27FC236}">
                <a16:creationId xmlns:a16="http://schemas.microsoft.com/office/drawing/2014/main" id="{62F07B65-D076-46CE-BF74-B1427B776BAB}"/>
              </a:ext>
            </a:extLst>
          </p:cNvPr>
          <p:cNvSpPr>
            <a:spLocks xmlns:a="http://schemas.openxmlformats.org/drawingml/2006/main" noGrp="1"/>
          </p:cNvSpPr>
          <p:nvPr/>
        </p:nvSpPr>
        <p:spPr>
          <a:xfrm xmlns:a="http://schemas.openxmlformats.org/drawingml/2006/main">
            <a:off x="609600" y="41624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MASTER22</a:t>
            </a:r>
            <a:endParaRPr/>
          </a:p>
        </p:txBody>
      </p:sp>
      <p:sp>
        <p:nvSpPr>
          <p:cNvPr id="719" name="Google Shape;719;p46">
            <a:extLst xmlns:a="http://schemas.openxmlformats.org/drawingml/2006/main">
              <a:ext uri="{FF2B5EF4-FFF2-40B4-BE49-F238E27FC236}">
                <a16:creationId xmlns:a16="http://schemas.microsoft.com/office/drawing/2014/main" id="{FEDAF567-1321-4575-B5D3-41C4D1156F3B}"/>
              </a:ext>
            </a:extLst>
          </p:cNvPr>
          <p:cNvSpPr>
            <a:spLocks xmlns:a="http://schemas.openxmlformats.org/drawingml/2006/main" noGrp="1"/>
          </p:cNvSpPr>
          <p:nvPr/>
        </p:nvSpPr>
        <p:spPr>
          <a:xfrm xmlns:a="http://schemas.openxmlformats.org/drawingml/2006/main">
            <a:off x="609600" y="44481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635fad21d39c47fd"/>
              </a:rPr>
              <a:t>MASTER randomised trial, HTA 2022</a:t>
            </a:r>
            <a:endParaRPr/>
          </a:p>
        </p:txBody>
      </p:sp>
      <p:sp>
        <p:nvSpPr>
          <p:cNvPr id="720" name="Google Shape;720;p46">
            <a:extLst xmlns:a="http://schemas.openxmlformats.org/drawingml/2006/main">
              <a:ext uri="{FF2B5EF4-FFF2-40B4-BE49-F238E27FC236}">
                <a16:creationId xmlns:a16="http://schemas.microsoft.com/office/drawing/2014/main" id="{FFA87D14-5729-4D04-A03E-CE3EA71A0D70}"/>
              </a:ext>
            </a:extLst>
          </p:cNvPr>
          <p:cNvSpPr>
            <a:spLocks xmlns:a="http://schemas.openxmlformats.org/drawingml/2006/main" noGrp="1"/>
          </p:cNvSpPr>
          <p:nvPr/>
        </p:nvSpPr>
        <p:spPr>
          <a:xfrm xmlns:a="http://schemas.openxmlformats.org/drawingml/2006/main">
            <a:off x="6324600" y="41624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UDS09</a:t>
            </a:r>
            <a:endParaRPr/>
          </a:p>
        </p:txBody>
      </p:sp>
      <p:sp>
        <p:nvSpPr>
          <p:cNvPr id="721" name="Google Shape;721;p46">
            <a:extLst xmlns:a="http://schemas.openxmlformats.org/drawingml/2006/main">
              <a:ext uri="{FF2B5EF4-FFF2-40B4-BE49-F238E27FC236}">
                <a16:creationId xmlns:a16="http://schemas.microsoft.com/office/drawing/2014/main" id="{1ACC04BD-740A-48DB-A431-5AF2FC0A8772}"/>
              </a:ext>
            </a:extLst>
          </p:cNvPr>
          <p:cNvSpPr>
            <a:spLocks xmlns:a="http://schemas.openxmlformats.org/drawingml/2006/main" noGrp="1"/>
          </p:cNvSpPr>
          <p:nvPr/>
        </p:nvSpPr>
        <p:spPr>
          <a:xfrm xmlns:a="http://schemas.openxmlformats.org/drawingml/2006/main">
            <a:off x="6324600" y="44481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868dca45bd73476c"/>
              </a:rPr>
              <a:t>Lai: pre-AUS urodynamics, Urology 2009</a:t>
            </a:r>
            <a:endParaRPr/>
          </a:p>
        </p:txBody>
      </p:sp>
      <p:sp>
        <p:nvSpPr>
          <p:cNvPr id="722" name="Google Shape;722;p46">
            <a:extLst xmlns:a="http://schemas.openxmlformats.org/drawingml/2006/main">
              <a:ext uri="{FF2B5EF4-FFF2-40B4-BE49-F238E27FC236}">
                <a16:creationId xmlns:a16="http://schemas.microsoft.com/office/drawing/2014/main" id="{064BF14F-E2E3-46A6-AB9E-DA1561FC6B07}"/>
              </a:ext>
            </a:extLst>
          </p:cNvPr>
          <p:cNvSpPr>
            <a:spLocks xmlns:a="http://schemas.openxmlformats.org/drawingml/2006/main" noGrp="1"/>
          </p:cNvSpPr>
          <p:nvPr/>
        </p:nvSpPr>
        <p:spPr>
          <a:xfrm xmlns:a="http://schemas.openxmlformats.org/drawingml/2006/main">
            <a:off x="609600" y="49625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OAB11</a:t>
            </a:r>
            <a:endParaRPr/>
          </a:p>
        </p:txBody>
      </p:sp>
      <p:sp>
        <p:nvSpPr>
          <p:cNvPr id="723" name="Google Shape;723;p46">
            <a:extLst xmlns:a="http://schemas.openxmlformats.org/drawingml/2006/main">
              <a:ext uri="{FF2B5EF4-FFF2-40B4-BE49-F238E27FC236}">
                <a16:creationId xmlns:a16="http://schemas.microsoft.com/office/drawing/2014/main" id="{68CA8996-0257-4AA3-8A06-A995C0B1097C}"/>
              </a:ext>
            </a:extLst>
          </p:cNvPr>
          <p:cNvSpPr>
            <a:spLocks xmlns:a="http://schemas.openxmlformats.org/drawingml/2006/main" noGrp="1"/>
          </p:cNvSpPr>
          <p:nvPr/>
        </p:nvSpPr>
        <p:spPr>
          <a:xfrm xmlns:a="http://schemas.openxmlformats.org/drawingml/2006/main">
            <a:off x="609600" y="52482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fb8d16a56af94498"/>
              </a:rPr>
              <a:t>Lai: OAB and post-prostatectomy AUS, 2011</a:t>
            </a:r>
            <a:endParaRPr/>
          </a:p>
        </p:txBody>
      </p:sp>
    </p:spTree>
    <p:extLst>
      <p:ext uri="{BB962C8B-B14F-4D97-AF65-F5344CB8AC3E}">
        <p14:creationId xmlns:p14="http://schemas.microsoft.com/office/powerpoint/2010/main" val="600171979"/>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29" name="Google Shape;729;p47">
            <a:extLst xmlns:a="http://schemas.openxmlformats.org/drawingml/2006/main">
              <a:ext uri="{FF2B5EF4-FFF2-40B4-BE49-F238E27FC236}">
                <a16:creationId xmlns:a16="http://schemas.microsoft.com/office/drawing/2014/main" id="{6FA9AAC0-4BD5-4399-A6B0-F07495F05FA6}"/>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References 3 of 7</a:t>
            </a:r>
            <a:endParaRPr/>
          </a:p>
        </p:txBody>
      </p:sp>
      <p:sp>
        <p:nvSpPr>
          <p:cNvPr id="730" name="Google Shape;730;p47">
            <a:extLst xmlns:a="http://schemas.openxmlformats.org/drawingml/2006/main">
              <a:ext uri="{FF2B5EF4-FFF2-40B4-BE49-F238E27FC236}">
                <a16:creationId xmlns:a16="http://schemas.microsoft.com/office/drawing/2014/main" id="{B8BC7DD5-9A46-41B6-B55F-0C8EA1FE5176}"/>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731" name="Google Shape;731;p47">
            <a:extLst xmlns:a="http://schemas.openxmlformats.org/drawingml/2006/main">
              <a:ext uri="{FF2B5EF4-FFF2-40B4-BE49-F238E27FC236}">
                <a16:creationId xmlns:a16="http://schemas.microsoft.com/office/drawing/2014/main" id="{EF363283-BB17-497F-9CBA-265AAFD0D1A7}"/>
              </a:ext>
            </a:extLst>
          </p:cNvPr>
          <p:cNvSpPr>
            <a:spLocks xmlns:a="http://schemas.openxmlformats.org/drawingml/2006/main" noGrp="1"/>
          </p:cNvSpPr>
          <p:nvPr/>
        </p:nvSpPr>
        <p:spPr>
          <a:xfrm xmlns:a="http://schemas.openxmlformats.org/drawingml/2006/main">
            <a:off x="609600" y="6419850"/>
            <a:ext cx="109728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Backup: outside the timed talk</a:t>
            </a:r>
            <a:endParaRPr/>
          </a:p>
        </p:txBody>
      </p:sp>
      <p:sp>
        <p:nvSpPr>
          <p:cNvPr id="732" name="Google Shape;732;p47">
            <a:extLst xmlns:a="http://schemas.openxmlformats.org/drawingml/2006/main">
              <a:ext uri="{FF2B5EF4-FFF2-40B4-BE49-F238E27FC236}">
                <a16:creationId xmlns:a16="http://schemas.microsoft.com/office/drawing/2014/main" id="{0C63BBDE-B84D-4EFF-8CA6-F7DC01EB993F}"/>
              </a:ext>
            </a:extLst>
          </p:cNvPr>
          <p:cNvSpPr>
            <a:spLocks xmlns:a="http://schemas.openxmlformats.org/drawingml/2006/main" noGrp="1"/>
          </p:cNvSpPr>
          <p:nvPr/>
        </p:nvSpPr>
        <p:spPr>
          <a:xfrm xmlns:a="http://schemas.openxmlformats.org/drawingml/2006/main">
            <a:off x="609600" y="17621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DO24</a:t>
            </a:r>
            <a:endParaRPr/>
          </a:p>
        </p:txBody>
      </p:sp>
      <p:sp>
        <p:nvSpPr>
          <p:cNvPr id="733" name="Google Shape;733;p47">
            <a:extLst xmlns:a="http://schemas.openxmlformats.org/drawingml/2006/main">
              <a:ext uri="{FF2B5EF4-FFF2-40B4-BE49-F238E27FC236}">
                <a16:creationId xmlns:a16="http://schemas.microsoft.com/office/drawing/2014/main" id="{4F518C65-724E-45B9-BD0C-5D87F97F74EF}"/>
              </a:ext>
            </a:extLst>
          </p:cNvPr>
          <p:cNvSpPr>
            <a:spLocks xmlns:a="http://schemas.openxmlformats.org/drawingml/2006/main" noGrp="1"/>
          </p:cNvSpPr>
          <p:nvPr/>
        </p:nvSpPr>
        <p:spPr>
          <a:xfrm xmlns:a="http://schemas.openxmlformats.org/drawingml/2006/main">
            <a:off x="609600" y="20478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dc3cf29530c94219"/>
              </a:rPr>
              <a:t>Bhatt: preoperative DO systematic review, 2024</a:t>
            </a:r>
            <a:endParaRPr/>
          </a:p>
        </p:txBody>
      </p:sp>
      <p:sp>
        <p:nvSpPr>
          <p:cNvPr id="734" name="Google Shape;734;p47">
            <a:extLst xmlns:a="http://schemas.openxmlformats.org/drawingml/2006/main">
              <a:ext uri="{FF2B5EF4-FFF2-40B4-BE49-F238E27FC236}">
                <a16:creationId xmlns:a16="http://schemas.microsoft.com/office/drawing/2014/main" id="{B445EE04-845C-49B8-A706-61C484FBC2BB}"/>
              </a:ext>
            </a:extLst>
          </p:cNvPr>
          <p:cNvSpPr>
            <a:spLocks xmlns:a="http://schemas.openxmlformats.org/drawingml/2006/main" noGrp="1"/>
          </p:cNvSpPr>
          <p:nvPr/>
        </p:nvSpPr>
        <p:spPr>
          <a:xfrm xmlns:a="http://schemas.openxmlformats.org/drawingml/2006/main">
            <a:off x="6324600" y="17621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DOFAIL23</a:t>
            </a:r>
            <a:endParaRPr/>
          </a:p>
        </p:txBody>
      </p:sp>
      <p:sp>
        <p:nvSpPr>
          <p:cNvPr id="735" name="Google Shape;735;p47">
            <a:extLst xmlns:a="http://schemas.openxmlformats.org/drawingml/2006/main">
              <a:ext uri="{FF2B5EF4-FFF2-40B4-BE49-F238E27FC236}">
                <a16:creationId xmlns:a16="http://schemas.microsoft.com/office/drawing/2014/main" id="{9D273DB2-0A09-4ADB-95F5-1B38CCBAD6C4}"/>
              </a:ext>
            </a:extLst>
          </p:cNvPr>
          <p:cNvSpPr>
            <a:spLocks xmlns:a="http://schemas.openxmlformats.org/drawingml/2006/main" noGrp="1"/>
          </p:cNvSpPr>
          <p:nvPr/>
        </p:nvSpPr>
        <p:spPr>
          <a:xfrm xmlns:a="http://schemas.openxmlformats.org/drawingml/2006/main">
            <a:off x="6324600" y="20478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fcb257e840f34a08"/>
              </a:rPr>
              <a:t>Krughoff: earlier AUS failure, 2023</a:t>
            </a:r>
            <a:endParaRPr/>
          </a:p>
        </p:txBody>
      </p:sp>
      <p:sp>
        <p:nvSpPr>
          <p:cNvPr id="736" name="Google Shape;736;p47">
            <a:extLst xmlns:a="http://schemas.openxmlformats.org/drawingml/2006/main">
              <a:ext uri="{FF2B5EF4-FFF2-40B4-BE49-F238E27FC236}">
                <a16:creationId xmlns:a16="http://schemas.microsoft.com/office/drawing/2014/main" id="{DD29A1C4-104A-4A49-89BD-EFB677529DDD}"/>
              </a:ext>
            </a:extLst>
          </p:cNvPr>
          <p:cNvSpPr>
            <a:spLocks xmlns:a="http://schemas.openxmlformats.org/drawingml/2006/main" noGrp="1"/>
          </p:cNvSpPr>
          <p:nvPr/>
        </p:nvSpPr>
        <p:spPr>
          <a:xfrm xmlns:a="http://schemas.openxmlformats.org/drawingml/2006/main">
            <a:off x="609600" y="25622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DU23</a:t>
            </a:r>
            <a:endParaRPr/>
          </a:p>
        </p:txBody>
      </p:sp>
      <p:sp>
        <p:nvSpPr>
          <p:cNvPr id="737" name="Google Shape;737;p47">
            <a:extLst xmlns:a="http://schemas.openxmlformats.org/drawingml/2006/main">
              <a:ext uri="{FF2B5EF4-FFF2-40B4-BE49-F238E27FC236}">
                <a16:creationId xmlns:a16="http://schemas.microsoft.com/office/drawing/2014/main" id="{13A99068-6556-4CA0-84E7-BAD4C7628A46}"/>
              </a:ext>
            </a:extLst>
          </p:cNvPr>
          <p:cNvSpPr>
            <a:spLocks xmlns:a="http://schemas.openxmlformats.org/drawingml/2006/main" noGrp="1"/>
          </p:cNvSpPr>
          <p:nvPr/>
        </p:nvSpPr>
        <p:spPr>
          <a:xfrm xmlns:a="http://schemas.openxmlformats.org/drawingml/2006/main">
            <a:off x="609600" y="28479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260e96048fb24e4d"/>
              </a:rPr>
              <a:t>Han: AUS with detrusor underactivity, 2023</a:t>
            </a:r>
            <a:endParaRPr/>
          </a:p>
        </p:txBody>
      </p:sp>
      <p:sp>
        <p:nvSpPr>
          <p:cNvPr id="738" name="Google Shape;738;p47">
            <a:extLst xmlns:a="http://schemas.openxmlformats.org/drawingml/2006/main">
              <a:ext uri="{FF2B5EF4-FFF2-40B4-BE49-F238E27FC236}">
                <a16:creationId xmlns:a16="http://schemas.microsoft.com/office/drawing/2014/main" id="{AA0B7CB4-17D6-4FD6-89D5-948BB81AD573}"/>
              </a:ext>
            </a:extLst>
          </p:cNvPr>
          <p:cNvSpPr>
            <a:spLocks xmlns:a="http://schemas.openxmlformats.org/drawingml/2006/main" noGrp="1"/>
          </p:cNvSpPr>
          <p:nvPr/>
        </p:nvSpPr>
        <p:spPr>
          <a:xfrm xmlns:a="http://schemas.openxmlformats.org/drawingml/2006/main">
            <a:off x="6324600" y="25622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CIC23</a:t>
            </a:r>
            <a:endParaRPr/>
          </a:p>
        </p:txBody>
      </p:sp>
      <p:sp>
        <p:nvSpPr>
          <p:cNvPr id="739" name="Google Shape;739;p47">
            <a:extLst xmlns:a="http://schemas.openxmlformats.org/drawingml/2006/main">
              <a:ext uri="{FF2B5EF4-FFF2-40B4-BE49-F238E27FC236}">
                <a16:creationId xmlns:a16="http://schemas.microsoft.com/office/drawing/2014/main" id="{A50799BD-C2D0-49DE-8B4A-4F9FF9AF726B}"/>
              </a:ext>
            </a:extLst>
          </p:cNvPr>
          <p:cNvSpPr>
            <a:spLocks xmlns:a="http://schemas.openxmlformats.org/drawingml/2006/main" noGrp="1"/>
          </p:cNvSpPr>
          <p:nvPr/>
        </p:nvSpPr>
        <p:spPr>
          <a:xfrm xmlns:a="http://schemas.openxmlformats.org/drawingml/2006/main">
            <a:off x="6324600" y="28479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08d10eb4deb34748"/>
              </a:rPr>
              <a:t>Krughoff: CIC after bulbar AUS, 2023</a:t>
            </a:r>
            <a:endParaRPr/>
          </a:p>
        </p:txBody>
      </p:sp>
      <p:sp>
        <p:nvSpPr>
          <p:cNvPr id="740" name="Google Shape;740;p47">
            <a:extLst xmlns:a="http://schemas.openxmlformats.org/drawingml/2006/main">
              <a:ext uri="{FF2B5EF4-FFF2-40B4-BE49-F238E27FC236}">
                <a16:creationId xmlns:a16="http://schemas.microsoft.com/office/drawing/2014/main" id="{23D88D80-DE46-48F1-8EE5-85682E28E4EA}"/>
              </a:ext>
            </a:extLst>
          </p:cNvPr>
          <p:cNvSpPr>
            <a:spLocks xmlns:a="http://schemas.openxmlformats.org/drawingml/2006/main" noGrp="1"/>
          </p:cNvSpPr>
          <p:nvPr/>
        </p:nvSpPr>
        <p:spPr>
          <a:xfrm xmlns:a="http://schemas.openxmlformats.org/drawingml/2006/main">
            <a:off x="609600" y="33623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CATH13</a:t>
            </a:r>
            <a:endParaRPr/>
          </a:p>
        </p:txBody>
      </p:sp>
      <p:sp>
        <p:nvSpPr>
          <p:cNvPr id="741" name="Google Shape;741;p47">
            <a:extLst xmlns:a="http://schemas.openxmlformats.org/drawingml/2006/main">
              <a:ext uri="{FF2B5EF4-FFF2-40B4-BE49-F238E27FC236}">
                <a16:creationId xmlns:a16="http://schemas.microsoft.com/office/drawing/2014/main" id="{4F903700-72E8-462B-BB92-E6DBF122170C}"/>
              </a:ext>
            </a:extLst>
          </p:cNvPr>
          <p:cNvSpPr>
            <a:spLocks xmlns:a="http://schemas.openxmlformats.org/drawingml/2006/main" noGrp="1"/>
          </p:cNvSpPr>
          <p:nvPr/>
        </p:nvSpPr>
        <p:spPr>
          <a:xfrm xmlns:a="http://schemas.openxmlformats.org/drawingml/2006/main">
            <a:off x="609600" y="36480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38397ebc16264232"/>
              </a:rPr>
              <a:t>Seideman: prolonged catheterisation, 2013</a:t>
            </a:r>
            <a:endParaRPr/>
          </a:p>
        </p:txBody>
      </p:sp>
      <p:sp>
        <p:nvSpPr>
          <p:cNvPr id="742" name="Google Shape;742;p47">
            <a:extLst xmlns:a="http://schemas.openxmlformats.org/drawingml/2006/main">
              <a:ext uri="{FF2B5EF4-FFF2-40B4-BE49-F238E27FC236}">
                <a16:creationId xmlns:a16="http://schemas.microsoft.com/office/drawing/2014/main" id="{56BB4525-747B-425A-A31F-C58924E41C2D}"/>
              </a:ext>
            </a:extLst>
          </p:cNvPr>
          <p:cNvSpPr>
            <a:spLocks xmlns:a="http://schemas.openxmlformats.org/drawingml/2006/main" noGrp="1"/>
          </p:cNvSpPr>
          <p:nvPr/>
        </p:nvSpPr>
        <p:spPr>
          <a:xfrm xmlns:a="http://schemas.openxmlformats.org/drawingml/2006/main">
            <a:off x="6324600" y="33623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UDS14</a:t>
            </a:r>
            <a:endParaRPr/>
          </a:p>
        </p:txBody>
      </p:sp>
      <p:sp>
        <p:nvSpPr>
          <p:cNvPr id="743" name="Google Shape;743;p47">
            <a:extLst xmlns:a="http://schemas.openxmlformats.org/drawingml/2006/main">
              <a:ext uri="{FF2B5EF4-FFF2-40B4-BE49-F238E27FC236}">
                <a16:creationId xmlns:a16="http://schemas.microsoft.com/office/drawing/2014/main" id="{14C5E843-DA48-46B9-8471-010EF5EF86C5}"/>
              </a:ext>
            </a:extLst>
          </p:cNvPr>
          <p:cNvSpPr>
            <a:spLocks xmlns:a="http://schemas.openxmlformats.org/drawingml/2006/main" noGrp="1"/>
          </p:cNvSpPr>
          <p:nvPr/>
        </p:nvSpPr>
        <p:spPr>
          <a:xfrm xmlns:a="http://schemas.openxmlformats.org/drawingml/2006/main">
            <a:off x="6324600" y="36480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b8b526d3072a47d0"/>
              </a:rPr>
              <a:t>Weissbart: absent leak during UDS, 2014</a:t>
            </a:r>
            <a:endParaRPr/>
          </a:p>
        </p:txBody>
      </p:sp>
      <p:sp>
        <p:nvSpPr>
          <p:cNvPr id="744" name="Google Shape;744;p47">
            <a:extLst xmlns:a="http://schemas.openxmlformats.org/drawingml/2006/main">
              <a:ext uri="{FF2B5EF4-FFF2-40B4-BE49-F238E27FC236}">
                <a16:creationId xmlns:a16="http://schemas.microsoft.com/office/drawing/2014/main" id="{5B61F7A2-9816-4BEC-9E80-C85145E563EF}"/>
              </a:ext>
            </a:extLst>
          </p:cNvPr>
          <p:cNvSpPr>
            <a:spLocks xmlns:a="http://schemas.openxmlformats.org/drawingml/2006/main" noGrp="1"/>
          </p:cNvSpPr>
          <p:nvPr/>
        </p:nvSpPr>
        <p:spPr>
          <a:xfrm xmlns:a="http://schemas.openxmlformats.org/drawingml/2006/main">
            <a:off x="609600" y="41624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RT22</a:t>
            </a:r>
            <a:endParaRPr/>
          </a:p>
        </p:txBody>
      </p:sp>
      <p:sp>
        <p:nvSpPr>
          <p:cNvPr id="745" name="Google Shape;745;p47">
            <a:extLst xmlns:a="http://schemas.openxmlformats.org/drawingml/2006/main">
              <a:ext uri="{FF2B5EF4-FFF2-40B4-BE49-F238E27FC236}">
                <a16:creationId xmlns:a16="http://schemas.microsoft.com/office/drawing/2014/main" id="{CC81600F-87A1-48A8-8D1E-0D44392A190E}"/>
              </a:ext>
            </a:extLst>
          </p:cNvPr>
          <p:cNvSpPr>
            <a:spLocks xmlns:a="http://schemas.openxmlformats.org/drawingml/2006/main" noGrp="1"/>
          </p:cNvSpPr>
          <p:nvPr/>
        </p:nvSpPr>
        <p:spPr>
          <a:xfrm xmlns:a="http://schemas.openxmlformats.org/drawingml/2006/main">
            <a:off x="609600" y="44481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80b9b53f318741ed"/>
              </a:rPr>
              <a:t>Zhang: radiation meta-analysis, 2022</a:t>
            </a:r>
            <a:endParaRPr/>
          </a:p>
        </p:txBody>
      </p:sp>
      <p:sp>
        <p:nvSpPr>
          <p:cNvPr id="746" name="Google Shape;746;p47">
            <a:extLst xmlns:a="http://schemas.openxmlformats.org/drawingml/2006/main">
              <a:ext uri="{FF2B5EF4-FFF2-40B4-BE49-F238E27FC236}">
                <a16:creationId xmlns:a16="http://schemas.microsoft.com/office/drawing/2014/main" id="{69A7299F-D175-4FD4-A918-D1DE112E50B5}"/>
              </a:ext>
            </a:extLst>
          </p:cNvPr>
          <p:cNvSpPr>
            <a:spLocks xmlns:a="http://schemas.openxmlformats.org/drawingml/2006/main" noGrp="1"/>
          </p:cNvSpPr>
          <p:nvPr/>
        </p:nvSpPr>
        <p:spPr>
          <a:xfrm xmlns:a="http://schemas.openxmlformats.org/drawingml/2006/main">
            <a:off x="6324600" y="41624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URETH26</a:t>
            </a:r>
            <a:endParaRPr/>
          </a:p>
        </p:txBody>
      </p:sp>
      <p:sp>
        <p:nvSpPr>
          <p:cNvPr id="747" name="Google Shape;747;p47">
            <a:extLst xmlns:a="http://schemas.openxmlformats.org/drawingml/2006/main">
              <a:ext uri="{FF2B5EF4-FFF2-40B4-BE49-F238E27FC236}">
                <a16:creationId xmlns:a16="http://schemas.microsoft.com/office/drawing/2014/main" id="{A36C63F4-2450-45E4-879F-6FCABD129460}"/>
              </a:ext>
            </a:extLst>
          </p:cNvPr>
          <p:cNvSpPr>
            <a:spLocks xmlns:a="http://schemas.openxmlformats.org/drawingml/2006/main" noGrp="1"/>
          </p:cNvSpPr>
          <p:nvPr/>
        </p:nvSpPr>
        <p:spPr>
          <a:xfrm xmlns:a="http://schemas.openxmlformats.org/drawingml/2006/main">
            <a:off x="6324600" y="44481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36a70ee436774414"/>
              </a:rPr>
              <a:t>Davis: AUS after urethroplasty, 2026</a:t>
            </a:r>
            <a:endParaRPr/>
          </a:p>
        </p:txBody>
      </p:sp>
      <p:sp>
        <p:nvSpPr>
          <p:cNvPr id="748" name="Google Shape;748;p47">
            <a:extLst xmlns:a="http://schemas.openxmlformats.org/drawingml/2006/main">
              <a:ext uri="{FF2B5EF4-FFF2-40B4-BE49-F238E27FC236}">
                <a16:creationId xmlns:a16="http://schemas.microsoft.com/office/drawing/2014/main" id="{6602255C-59E1-4AEC-B60B-CBE49FC42370}"/>
              </a:ext>
            </a:extLst>
          </p:cNvPr>
          <p:cNvSpPr>
            <a:spLocks xmlns:a="http://schemas.openxmlformats.org/drawingml/2006/main" noGrp="1"/>
          </p:cNvSpPr>
          <p:nvPr/>
        </p:nvSpPr>
        <p:spPr>
          <a:xfrm xmlns:a="http://schemas.openxmlformats.org/drawingml/2006/main">
            <a:off x="609600" y="49625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TC20</a:t>
            </a:r>
            <a:endParaRPr/>
          </a:p>
        </p:txBody>
      </p:sp>
      <p:sp>
        <p:nvSpPr>
          <p:cNvPr id="749" name="Google Shape;749;p47">
            <a:extLst xmlns:a="http://schemas.openxmlformats.org/drawingml/2006/main">
              <a:ext uri="{FF2B5EF4-FFF2-40B4-BE49-F238E27FC236}">
                <a16:creationId xmlns:a16="http://schemas.microsoft.com/office/drawing/2014/main" id="{2A48D73E-A858-4A47-B87F-76AEFE9900AF}"/>
              </a:ext>
            </a:extLst>
          </p:cNvPr>
          <p:cNvSpPr>
            <a:spLocks xmlns:a="http://schemas.openxmlformats.org/drawingml/2006/main" noGrp="1"/>
          </p:cNvSpPr>
          <p:nvPr/>
        </p:nvSpPr>
        <p:spPr>
          <a:xfrm xmlns:a="http://schemas.openxmlformats.org/drawingml/2006/main">
            <a:off x="609600" y="52482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08295113c03a42a3"/>
              </a:rPr>
              <a:t>Redmond: transcorporal fragile urethra, 2020</a:t>
            </a:r>
            <a:endParaRPr/>
          </a:p>
        </p:txBody>
      </p:sp>
    </p:spTree>
    <p:extLst>
      <p:ext uri="{BB962C8B-B14F-4D97-AF65-F5344CB8AC3E}">
        <p14:creationId xmlns:p14="http://schemas.microsoft.com/office/powerpoint/2010/main" val="1713786722"/>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55" name="Google Shape;755;p48">
            <a:extLst xmlns:a="http://schemas.openxmlformats.org/drawingml/2006/main">
              <a:ext uri="{FF2B5EF4-FFF2-40B4-BE49-F238E27FC236}">
                <a16:creationId xmlns:a16="http://schemas.microsoft.com/office/drawing/2014/main" id="{19511F19-B71A-4C01-AD96-CB959B9B531C}"/>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References 4 of 7</a:t>
            </a:r>
            <a:endParaRPr/>
          </a:p>
        </p:txBody>
      </p:sp>
      <p:sp>
        <p:nvSpPr>
          <p:cNvPr id="756" name="Google Shape;756;p48">
            <a:extLst xmlns:a="http://schemas.openxmlformats.org/drawingml/2006/main">
              <a:ext uri="{FF2B5EF4-FFF2-40B4-BE49-F238E27FC236}">
                <a16:creationId xmlns:a16="http://schemas.microsoft.com/office/drawing/2014/main" id="{72475BBB-3801-4616-8C4D-C188BBDA26B4}"/>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757" name="Google Shape;757;p48">
            <a:extLst xmlns:a="http://schemas.openxmlformats.org/drawingml/2006/main">
              <a:ext uri="{FF2B5EF4-FFF2-40B4-BE49-F238E27FC236}">
                <a16:creationId xmlns:a16="http://schemas.microsoft.com/office/drawing/2014/main" id="{2AE89C65-56A4-44A2-8934-ADA6EAF8C491}"/>
              </a:ext>
            </a:extLst>
          </p:cNvPr>
          <p:cNvSpPr>
            <a:spLocks xmlns:a="http://schemas.openxmlformats.org/drawingml/2006/main" noGrp="1"/>
          </p:cNvSpPr>
          <p:nvPr/>
        </p:nvSpPr>
        <p:spPr>
          <a:xfrm xmlns:a="http://schemas.openxmlformats.org/drawingml/2006/main">
            <a:off x="609600" y="6419850"/>
            <a:ext cx="109728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Backup: outside the timed talk</a:t>
            </a:r>
            <a:endParaRPr/>
          </a:p>
        </p:txBody>
      </p:sp>
      <p:sp>
        <p:nvSpPr>
          <p:cNvPr id="758" name="Google Shape;758;p48">
            <a:extLst xmlns:a="http://schemas.openxmlformats.org/drawingml/2006/main">
              <a:ext uri="{FF2B5EF4-FFF2-40B4-BE49-F238E27FC236}">
                <a16:creationId xmlns:a16="http://schemas.microsoft.com/office/drawing/2014/main" id="{12F7C283-B7CE-4E0B-A7A8-5D8604F370B6}"/>
              </a:ext>
            </a:extLst>
          </p:cNvPr>
          <p:cNvSpPr>
            <a:spLocks xmlns:a="http://schemas.openxmlformats.org/drawingml/2006/main" noGrp="1"/>
          </p:cNvSpPr>
          <p:nvPr/>
        </p:nvSpPr>
        <p:spPr>
          <a:xfrm xmlns:a="http://schemas.openxmlformats.org/drawingml/2006/main">
            <a:off x="609600" y="17621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TC23</a:t>
            </a:r>
            <a:endParaRPr/>
          </a:p>
        </p:txBody>
      </p:sp>
      <p:sp>
        <p:nvSpPr>
          <p:cNvPr id="759" name="Google Shape;759;p48">
            <a:extLst xmlns:a="http://schemas.openxmlformats.org/drawingml/2006/main">
              <a:ext uri="{FF2B5EF4-FFF2-40B4-BE49-F238E27FC236}">
                <a16:creationId xmlns:a16="http://schemas.microsoft.com/office/drawing/2014/main" id="{FA7D6FBE-18BC-464B-973C-53582895D028}"/>
              </a:ext>
            </a:extLst>
          </p:cNvPr>
          <p:cNvSpPr>
            <a:spLocks xmlns:a="http://schemas.openxmlformats.org/drawingml/2006/main" noGrp="1"/>
          </p:cNvSpPr>
          <p:nvPr/>
        </p:nvSpPr>
        <p:spPr>
          <a:xfrm xmlns:a="http://schemas.openxmlformats.org/drawingml/2006/main">
            <a:off x="609600" y="20478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26ed76f2d37e4007"/>
              </a:rPr>
              <a:t>Kurtzman: high-risk transcorporal AUS, 2023</a:t>
            </a:r>
            <a:endParaRPr/>
          </a:p>
        </p:txBody>
      </p:sp>
      <p:sp>
        <p:nvSpPr>
          <p:cNvPr id="760" name="Google Shape;760;p48">
            <a:extLst xmlns:a="http://schemas.openxmlformats.org/drawingml/2006/main">
              <a:ext uri="{FF2B5EF4-FFF2-40B4-BE49-F238E27FC236}">
                <a16:creationId xmlns:a16="http://schemas.microsoft.com/office/drawing/2014/main" id="{11A67F6E-2407-4984-B987-FC04B584AA10}"/>
              </a:ext>
            </a:extLst>
          </p:cNvPr>
          <p:cNvSpPr>
            <a:spLocks xmlns:a="http://schemas.openxmlformats.org/drawingml/2006/main" noGrp="1"/>
          </p:cNvSpPr>
          <p:nvPr/>
        </p:nvSpPr>
        <p:spPr>
          <a:xfrm xmlns:a="http://schemas.openxmlformats.org/drawingml/2006/main">
            <a:off x="6324600" y="17621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ATROPHY20</a:t>
            </a:r>
            <a:endParaRPr/>
          </a:p>
        </p:txBody>
      </p:sp>
      <p:sp>
        <p:nvSpPr>
          <p:cNvPr id="761" name="Google Shape;761;p48">
            <a:extLst xmlns:a="http://schemas.openxmlformats.org/drawingml/2006/main">
              <a:ext uri="{FF2B5EF4-FFF2-40B4-BE49-F238E27FC236}">
                <a16:creationId xmlns:a16="http://schemas.microsoft.com/office/drawing/2014/main" id="{C07A6073-7E81-48A2-97D4-9EF4437ABDCC}"/>
              </a:ext>
            </a:extLst>
          </p:cNvPr>
          <p:cNvSpPr>
            <a:spLocks xmlns:a="http://schemas.openxmlformats.org/drawingml/2006/main" noGrp="1"/>
          </p:cNvSpPr>
          <p:nvPr/>
        </p:nvSpPr>
        <p:spPr>
          <a:xfrm xmlns:a="http://schemas.openxmlformats.org/drawingml/2006/main">
            <a:off x="6324600" y="20478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dca876b6986d4224"/>
              </a:rPr>
              <a:t>Bergeson: urethral atrophy and revision, 2020</a:t>
            </a:r>
            <a:endParaRPr/>
          </a:p>
        </p:txBody>
      </p:sp>
      <p:sp>
        <p:nvSpPr>
          <p:cNvPr id="762" name="Google Shape;762;p48">
            <a:extLst xmlns:a="http://schemas.openxmlformats.org/drawingml/2006/main">
              <a:ext uri="{FF2B5EF4-FFF2-40B4-BE49-F238E27FC236}">
                <a16:creationId xmlns:a16="http://schemas.microsoft.com/office/drawing/2014/main" id="{13F59B02-1E83-4B2D-AA39-696707244959}"/>
              </a:ext>
            </a:extLst>
          </p:cNvPr>
          <p:cNvSpPr>
            <a:spLocks xmlns:a="http://schemas.openxmlformats.org/drawingml/2006/main" noGrp="1"/>
          </p:cNvSpPr>
          <p:nvPr/>
        </p:nvSpPr>
        <p:spPr>
          <a:xfrm xmlns:a="http://schemas.openxmlformats.org/drawingml/2006/main">
            <a:off x="609600" y="25622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PREP24</a:t>
            </a:r>
            <a:endParaRPr/>
          </a:p>
        </p:txBody>
      </p:sp>
      <p:sp>
        <p:nvSpPr>
          <p:cNvPr id="763" name="Google Shape;763;p48">
            <a:extLst xmlns:a="http://schemas.openxmlformats.org/drawingml/2006/main">
              <a:ext uri="{FF2B5EF4-FFF2-40B4-BE49-F238E27FC236}">
                <a16:creationId xmlns:a16="http://schemas.microsoft.com/office/drawing/2014/main" id="{2130340C-8E25-4399-9557-6AA8ECA161FE}"/>
              </a:ext>
            </a:extLst>
          </p:cNvPr>
          <p:cNvSpPr>
            <a:spLocks xmlns:a="http://schemas.openxmlformats.org/drawingml/2006/main" noGrp="1"/>
          </p:cNvSpPr>
          <p:nvPr/>
        </p:nvSpPr>
        <p:spPr>
          <a:xfrm xmlns:a="http://schemas.openxmlformats.org/drawingml/2006/main">
            <a:off x="609600" y="28479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8ab70dd81ebe46fa"/>
              </a:rPr>
              <a:t>Bourgi: AUS preparation protocols, 2024</a:t>
            </a:r>
            <a:endParaRPr/>
          </a:p>
        </p:txBody>
      </p:sp>
      <p:sp>
        <p:nvSpPr>
          <p:cNvPr id="764" name="Google Shape;764;p48">
            <a:extLst xmlns:a="http://schemas.openxmlformats.org/drawingml/2006/main">
              <a:ext uri="{FF2B5EF4-FFF2-40B4-BE49-F238E27FC236}">
                <a16:creationId xmlns:a16="http://schemas.microsoft.com/office/drawing/2014/main" id="{D710E189-B2AD-4FEC-8CBC-8AC72753B507}"/>
              </a:ext>
            </a:extLst>
          </p:cNvPr>
          <p:cNvSpPr>
            <a:spLocks xmlns:a="http://schemas.openxmlformats.org/drawingml/2006/main" noGrp="1"/>
          </p:cNvSpPr>
          <p:nvPr/>
        </p:nvSpPr>
        <p:spPr>
          <a:xfrm xmlns:a="http://schemas.openxmlformats.org/drawingml/2006/main">
            <a:off x="6324600" y="25622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YEUNG13</a:t>
            </a:r>
            <a:endParaRPr/>
          </a:p>
        </p:txBody>
      </p:sp>
      <p:sp>
        <p:nvSpPr>
          <p:cNvPr id="765" name="Google Shape;765;p48">
            <a:extLst xmlns:a="http://schemas.openxmlformats.org/drawingml/2006/main">
              <a:ext uri="{FF2B5EF4-FFF2-40B4-BE49-F238E27FC236}">
                <a16:creationId xmlns:a16="http://schemas.microsoft.com/office/drawing/2014/main" id="{26F6B006-5176-4985-BD19-26B42DD48136}"/>
              </a:ext>
            </a:extLst>
          </p:cNvPr>
          <p:cNvSpPr>
            <a:spLocks xmlns:a="http://schemas.openxmlformats.org/drawingml/2006/main" noGrp="1"/>
          </p:cNvSpPr>
          <p:nvPr/>
        </p:nvSpPr>
        <p:spPr>
          <a:xfrm xmlns:a="http://schemas.openxmlformats.org/drawingml/2006/main">
            <a:off x="6324600" y="28479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761a1c151ff44ec1"/>
              </a:rPr>
              <a:t>Yeung: GU skin preparation RCT, 2013</a:t>
            </a:r>
            <a:endParaRPr/>
          </a:p>
        </p:txBody>
      </p:sp>
      <p:sp>
        <p:nvSpPr>
          <p:cNvPr id="766" name="Google Shape;766;p48">
            <a:extLst xmlns:a="http://schemas.openxmlformats.org/drawingml/2006/main">
              <a:ext uri="{FF2B5EF4-FFF2-40B4-BE49-F238E27FC236}">
                <a16:creationId xmlns:a16="http://schemas.microsoft.com/office/drawing/2014/main" id="{A220F533-ACE4-4B5B-ACDA-AE6909EE3294}"/>
              </a:ext>
            </a:extLst>
          </p:cNvPr>
          <p:cNvSpPr>
            <a:spLocks xmlns:a="http://schemas.openxmlformats.org/drawingml/2006/main" noGrp="1"/>
          </p:cNvSpPr>
          <p:nvPr/>
        </p:nvSpPr>
        <p:spPr>
          <a:xfrm xmlns:a="http://schemas.openxmlformats.org/drawingml/2006/main">
            <a:off x="609600" y="33623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ABX18</a:t>
            </a:r>
            <a:endParaRPr/>
          </a:p>
        </p:txBody>
      </p:sp>
      <p:sp>
        <p:nvSpPr>
          <p:cNvPr id="767" name="Google Shape;767;p48">
            <a:extLst xmlns:a="http://schemas.openxmlformats.org/drawingml/2006/main">
              <a:ext uri="{FF2B5EF4-FFF2-40B4-BE49-F238E27FC236}">
                <a16:creationId xmlns:a16="http://schemas.microsoft.com/office/drawing/2014/main" id="{5F6AFEBF-C283-4139-84F0-55F9988C2736}"/>
              </a:ext>
            </a:extLst>
          </p:cNvPr>
          <p:cNvSpPr>
            <a:spLocks xmlns:a="http://schemas.openxmlformats.org/drawingml/2006/main" noGrp="1"/>
          </p:cNvSpPr>
          <p:nvPr/>
        </p:nvSpPr>
        <p:spPr>
          <a:xfrm xmlns:a="http://schemas.openxmlformats.org/drawingml/2006/main">
            <a:off x="609600" y="36480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d615dd7fbee74a51"/>
              </a:rPr>
              <a:t>Adamsky: postoperative antibiotics, 2018</a:t>
            </a:r>
            <a:endParaRPr/>
          </a:p>
        </p:txBody>
      </p:sp>
      <p:sp>
        <p:nvSpPr>
          <p:cNvPr id="768" name="Google Shape;768;p48">
            <a:extLst xmlns:a="http://schemas.openxmlformats.org/drawingml/2006/main">
              <a:ext uri="{FF2B5EF4-FFF2-40B4-BE49-F238E27FC236}">
                <a16:creationId xmlns:a16="http://schemas.microsoft.com/office/drawing/2014/main" id="{5C98680D-3573-4294-86A9-9DB24A5B512D}"/>
              </a:ext>
            </a:extLst>
          </p:cNvPr>
          <p:cNvSpPr>
            <a:spLocks xmlns:a="http://schemas.openxmlformats.org/drawingml/2006/main" noGrp="1"/>
          </p:cNvSpPr>
          <p:nvPr/>
        </p:nvSpPr>
        <p:spPr>
          <a:xfrm xmlns:a="http://schemas.openxmlformats.org/drawingml/2006/main">
            <a:off x="6324600" y="33623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TOUCH23</a:t>
            </a:r>
            <a:endParaRPr/>
          </a:p>
        </p:txBody>
      </p:sp>
      <p:sp>
        <p:nvSpPr>
          <p:cNvPr id="769" name="Google Shape;769;p48">
            <a:extLst xmlns:a="http://schemas.openxmlformats.org/drawingml/2006/main">
              <a:ext uri="{FF2B5EF4-FFF2-40B4-BE49-F238E27FC236}">
                <a16:creationId xmlns:a16="http://schemas.microsoft.com/office/drawing/2014/main" id="{F51666B6-7D3F-4836-A3E4-3404771DFE54}"/>
              </a:ext>
            </a:extLst>
          </p:cNvPr>
          <p:cNvSpPr>
            <a:spLocks xmlns:a="http://schemas.openxmlformats.org/drawingml/2006/main" noGrp="1"/>
          </p:cNvSpPr>
          <p:nvPr/>
        </p:nvSpPr>
        <p:spPr>
          <a:xfrm xmlns:a="http://schemas.openxmlformats.org/drawingml/2006/main">
            <a:off x="6324600" y="36480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857be31b25e74636"/>
              </a:rPr>
              <a:t>Ziegelmann: minimal-touch AUS, 2023</a:t>
            </a:r>
            <a:endParaRPr/>
          </a:p>
        </p:txBody>
      </p:sp>
      <p:sp>
        <p:nvSpPr>
          <p:cNvPr id="770" name="Google Shape;770;p48">
            <a:extLst xmlns:a="http://schemas.openxmlformats.org/drawingml/2006/main">
              <a:ext uri="{FF2B5EF4-FFF2-40B4-BE49-F238E27FC236}">
                <a16:creationId xmlns:a16="http://schemas.microsoft.com/office/drawing/2014/main" id="{4027BF03-632B-4352-A4AD-B1D3558BAD1A}"/>
              </a:ext>
            </a:extLst>
          </p:cNvPr>
          <p:cNvSpPr>
            <a:spLocks xmlns:a="http://schemas.openxmlformats.org/drawingml/2006/main" noGrp="1"/>
          </p:cNvSpPr>
          <p:nvPr/>
        </p:nvSpPr>
        <p:spPr>
          <a:xfrm xmlns:a="http://schemas.openxmlformats.org/drawingml/2006/main">
            <a:off x="609600" y="41624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LINDER15</a:t>
            </a:r>
            <a:endParaRPr/>
          </a:p>
        </p:txBody>
      </p:sp>
      <p:sp>
        <p:nvSpPr>
          <p:cNvPr id="771" name="Google Shape;771;p48">
            <a:extLst xmlns:a="http://schemas.openxmlformats.org/drawingml/2006/main">
              <a:ext uri="{FF2B5EF4-FFF2-40B4-BE49-F238E27FC236}">
                <a16:creationId xmlns:a16="http://schemas.microsoft.com/office/drawing/2014/main" id="{102D5EB1-5F32-462D-95D4-4725CF83BD49}"/>
              </a:ext>
            </a:extLst>
          </p:cNvPr>
          <p:cNvSpPr>
            <a:spLocks xmlns:a="http://schemas.openxmlformats.org/drawingml/2006/main" noGrp="1"/>
          </p:cNvSpPr>
          <p:nvPr/>
        </p:nvSpPr>
        <p:spPr>
          <a:xfrm xmlns:a="http://schemas.openxmlformats.org/drawingml/2006/main">
            <a:off x="609600" y="44481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f3746a89bebe4e3b"/>
              </a:rPr>
              <a:t>Linder: long-term AMS 800 outcomes, 2015</a:t>
            </a:r>
            <a:endParaRPr/>
          </a:p>
        </p:txBody>
      </p:sp>
      <p:sp>
        <p:nvSpPr>
          <p:cNvPr id="772" name="Google Shape;772;p48">
            <a:extLst xmlns:a="http://schemas.openxmlformats.org/drawingml/2006/main">
              <a:ext uri="{FF2B5EF4-FFF2-40B4-BE49-F238E27FC236}">
                <a16:creationId xmlns:a16="http://schemas.microsoft.com/office/drawing/2014/main" id="{950C1318-1540-47AE-9090-CACF879437EA}"/>
              </a:ext>
            </a:extLst>
          </p:cNvPr>
          <p:cNvSpPr>
            <a:spLocks xmlns:a="http://schemas.openxmlformats.org/drawingml/2006/main" noGrp="1"/>
          </p:cNvSpPr>
          <p:nvPr/>
        </p:nvSpPr>
        <p:spPr>
          <a:xfrm xmlns:a="http://schemas.openxmlformats.org/drawingml/2006/main">
            <a:off x="6324600" y="41624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AUSCO26</a:t>
            </a:r>
            <a:endParaRPr/>
          </a:p>
        </p:txBody>
      </p:sp>
      <p:sp>
        <p:nvSpPr>
          <p:cNvPr id="773" name="Google Shape;773;p48">
            <a:extLst xmlns:a="http://schemas.openxmlformats.org/drawingml/2006/main">
              <a:ext uri="{FF2B5EF4-FFF2-40B4-BE49-F238E27FC236}">
                <a16:creationId xmlns:a16="http://schemas.microsoft.com/office/drawing/2014/main" id="{786CE0F2-1F3B-4C33-8345-9932DA4EBFA7}"/>
              </a:ext>
            </a:extLst>
          </p:cNvPr>
          <p:cNvSpPr>
            <a:spLocks xmlns:a="http://schemas.openxmlformats.org/drawingml/2006/main" noGrp="1"/>
          </p:cNvSpPr>
          <p:nvPr/>
        </p:nvSpPr>
        <p:spPr>
          <a:xfrm xmlns:a="http://schemas.openxmlformats.org/drawingml/2006/main">
            <a:off x="6324600" y="44481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5748c9004dee42be"/>
              </a:rPr>
              <a:t>Kaufman: AMS 800 AUSCO study, 2026</a:t>
            </a:r>
            <a:endParaRPr/>
          </a:p>
        </p:txBody>
      </p:sp>
    </p:spTree>
    <p:extLst>
      <p:ext uri="{BB962C8B-B14F-4D97-AF65-F5344CB8AC3E}">
        <p14:creationId xmlns:p14="http://schemas.microsoft.com/office/powerpoint/2010/main" val="989661437"/>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55" name="Google Shape;755;p48">
            <a:extLst xmlns:a="http://schemas.openxmlformats.org/drawingml/2006/main">
              <a:ext uri="{FF2B5EF4-FFF2-40B4-BE49-F238E27FC236}">
                <a16:creationId xmlns:a16="http://schemas.microsoft.com/office/drawing/2014/main" id="{19511F19-B71A-4C01-AD96-CB959B9B531C}"/>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References 5 of 7</a:t>
            </a:r>
            <a:endParaRPr/>
          </a:p>
        </p:txBody>
      </p:sp>
      <p:sp>
        <p:nvSpPr>
          <p:cNvPr id="756" name="Google Shape;756;p48">
            <a:extLst xmlns:a="http://schemas.openxmlformats.org/drawingml/2006/main">
              <a:ext uri="{FF2B5EF4-FFF2-40B4-BE49-F238E27FC236}">
                <a16:creationId xmlns:a16="http://schemas.microsoft.com/office/drawing/2014/main" id="{72475BBB-3801-4616-8C4D-C188BBDA26B4}"/>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757" name="Google Shape;757;p48">
            <a:extLst xmlns:a="http://schemas.openxmlformats.org/drawingml/2006/main">
              <a:ext uri="{FF2B5EF4-FFF2-40B4-BE49-F238E27FC236}">
                <a16:creationId xmlns:a16="http://schemas.microsoft.com/office/drawing/2014/main" id="{2AE89C65-56A4-44A2-8934-ADA6EAF8C491}"/>
              </a:ext>
            </a:extLst>
          </p:cNvPr>
          <p:cNvSpPr>
            <a:spLocks xmlns:a="http://schemas.openxmlformats.org/drawingml/2006/main" noGrp="1"/>
          </p:cNvSpPr>
          <p:nvPr/>
        </p:nvSpPr>
        <p:spPr>
          <a:xfrm xmlns:a="http://schemas.openxmlformats.org/drawingml/2006/main">
            <a:off x="609600" y="6419850"/>
            <a:ext cx="109728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Backup: outside the timed talk</a:t>
            </a:r>
            <a:endParaRPr/>
          </a:p>
        </p:txBody>
      </p:sp>
      <p:sp>
        <p:nvSpPr>
          <p:cNvPr id="758" name="Google Shape;758;p48">
            <a:extLst xmlns:a="http://schemas.openxmlformats.org/drawingml/2006/main">
              <a:ext uri="{FF2B5EF4-FFF2-40B4-BE49-F238E27FC236}">
                <a16:creationId xmlns:a16="http://schemas.microsoft.com/office/drawing/2014/main" id="{12F7C283-B7CE-4E0B-A7A8-5D8604F370B6}"/>
              </a:ext>
            </a:extLst>
          </p:cNvPr>
          <p:cNvSpPr>
            <a:spLocks xmlns:a="http://schemas.openxmlformats.org/drawingml/2006/main" noGrp="1"/>
          </p:cNvSpPr>
          <p:nvPr/>
        </p:nvSpPr>
        <p:spPr>
          <a:xfrm xmlns:a="http://schemas.openxmlformats.org/drawingml/2006/main">
            <a:off x="609600" y="17621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AUASTATUS26</a:t>
            </a:r>
            <a:endParaRPr/>
          </a:p>
        </p:txBody>
      </p:sp>
      <p:sp>
        <p:nvSpPr>
          <p:cNvPr id="759" name="Google Shape;759;p48">
            <a:extLst xmlns:a="http://schemas.openxmlformats.org/drawingml/2006/main">
              <a:ext uri="{FF2B5EF4-FFF2-40B4-BE49-F238E27FC236}">
                <a16:creationId xmlns:a16="http://schemas.microsoft.com/office/drawing/2014/main" id="{FA7D6FBE-18BC-464B-973C-53582895D028}"/>
              </a:ext>
            </a:extLst>
          </p:cNvPr>
          <p:cNvSpPr>
            <a:spLocks xmlns:a="http://schemas.openxmlformats.org/drawingml/2006/main" noGrp="1"/>
          </p:cNvSpPr>
          <p:nvPr/>
        </p:nvSpPr>
        <p:spPr>
          <a:xfrm xmlns:a="http://schemas.openxmlformats.org/drawingml/2006/main">
            <a:off x="609600" y="20478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dfbd4d6c011f447c"/>
              </a:rPr>
              <a:t>AUA current guideline register, July 2026</a:t>
            </a:r>
            <a:endParaRPr/>
          </a:p>
        </p:txBody>
      </p:sp>
      <p:sp>
        <p:nvSpPr>
          <p:cNvPr id="760" name="Google Shape;760;p48">
            <a:extLst xmlns:a="http://schemas.openxmlformats.org/drawingml/2006/main">
              <a:ext uri="{FF2B5EF4-FFF2-40B4-BE49-F238E27FC236}">
                <a16:creationId xmlns:a16="http://schemas.microsoft.com/office/drawing/2014/main" id="{11A67F6E-2407-4984-B987-FC04B584AA10}"/>
              </a:ext>
            </a:extLst>
          </p:cNvPr>
          <p:cNvSpPr>
            <a:spLocks xmlns:a="http://schemas.openxmlformats.org/drawingml/2006/main" noGrp="1"/>
          </p:cNvSpPr>
          <p:nvPr/>
        </p:nvSpPr>
        <p:spPr>
          <a:xfrm xmlns:a="http://schemas.openxmlformats.org/drawingml/2006/main">
            <a:off x="6324600" y="17621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BAUSDAY26</a:t>
            </a:r>
            <a:endParaRPr/>
          </a:p>
        </p:txBody>
      </p:sp>
      <p:sp>
        <p:nvSpPr>
          <p:cNvPr id="761" name="Google Shape;761;p48">
            <a:extLst xmlns:a="http://schemas.openxmlformats.org/drawingml/2006/main">
              <a:ext uri="{FF2B5EF4-FFF2-40B4-BE49-F238E27FC236}">
                <a16:creationId xmlns:a16="http://schemas.microsoft.com/office/drawing/2014/main" id="{C07A6073-7E81-48A2-97D4-9EF4437ABDCC}"/>
              </a:ext>
            </a:extLst>
          </p:cNvPr>
          <p:cNvSpPr>
            <a:spLocks xmlns:a="http://schemas.openxmlformats.org/drawingml/2006/main" noGrp="1"/>
          </p:cNvSpPr>
          <p:nvPr/>
        </p:nvSpPr>
        <p:spPr>
          <a:xfrm xmlns:a="http://schemas.openxmlformats.org/drawingml/2006/main">
            <a:off x="6324600" y="20478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0311aebd328940ee"/>
              </a:rPr>
              <a:t>BAUS 2026 P4-8: day-case AUS audit</a:t>
            </a:r>
            <a:endParaRPr/>
          </a:p>
        </p:txBody>
      </p:sp>
      <p:sp>
        <p:nvSpPr>
          <p:cNvPr id="762" name="Google Shape;762;p48">
            <a:extLst xmlns:a="http://schemas.openxmlformats.org/drawingml/2006/main">
              <a:ext uri="{FF2B5EF4-FFF2-40B4-BE49-F238E27FC236}">
                <a16:creationId xmlns:a16="http://schemas.microsoft.com/office/drawing/2014/main" id="{13F59B02-1E83-4B2D-AA39-696707244959}"/>
              </a:ext>
            </a:extLst>
          </p:cNvPr>
          <p:cNvSpPr>
            <a:spLocks xmlns:a="http://schemas.openxmlformats.org/drawingml/2006/main" noGrp="1"/>
          </p:cNvSpPr>
          <p:nvPr/>
        </p:nvSpPr>
        <p:spPr>
          <a:xfrm xmlns:a="http://schemas.openxmlformats.org/drawingml/2006/main">
            <a:off x="609600" y="25622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BAUSSCI26</a:t>
            </a:r>
            <a:endParaRPr/>
          </a:p>
        </p:txBody>
      </p:sp>
      <p:sp>
        <p:nvSpPr>
          <p:cNvPr id="763" name="Google Shape;763;p48">
            <a:extLst xmlns:a="http://schemas.openxmlformats.org/drawingml/2006/main">
              <a:ext uri="{FF2B5EF4-FFF2-40B4-BE49-F238E27FC236}">
                <a16:creationId xmlns:a16="http://schemas.microsoft.com/office/drawing/2014/main" id="{2130340C-8E25-4399-9557-6AA8ECA161FE}"/>
              </a:ext>
            </a:extLst>
          </p:cNvPr>
          <p:cNvSpPr>
            <a:spLocks xmlns:a="http://schemas.openxmlformats.org/drawingml/2006/main" noGrp="1"/>
          </p:cNvSpPr>
          <p:nvPr/>
        </p:nvSpPr>
        <p:spPr>
          <a:xfrm xmlns:a="http://schemas.openxmlformats.org/drawingml/2006/main">
            <a:off x="609600" y="28479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b7a05fb776774a65"/>
              </a:rPr>
              <a:t>BAUS 2026 P12-7: bulbar AUS in SCI</a:t>
            </a:r>
            <a:endParaRPr/>
          </a:p>
        </p:txBody>
      </p:sp>
      <p:sp>
        <p:nvSpPr>
          <p:cNvPr id="764" name="Google Shape;764;p48">
            <a:extLst xmlns:a="http://schemas.openxmlformats.org/drawingml/2006/main">
              <a:ext uri="{FF2B5EF4-FFF2-40B4-BE49-F238E27FC236}">
                <a16:creationId xmlns:a16="http://schemas.microsoft.com/office/drawing/2014/main" id="{D710E189-B2AD-4FEC-8CBC-8AC72753B507}"/>
              </a:ext>
            </a:extLst>
          </p:cNvPr>
          <p:cNvSpPr>
            <a:spLocks xmlns:a="http://schemas.openxmlformats.org/drawingml/2006/main" noGrp="1"/>
          </p:cNvSpPr>
          <p:nvPr/>
        </p:nvSpPr>
        <p:spPr>
          <a:xfrm xmlns:a="http://schemas.openxmlformats.org/drawingml/2006/main">
            <a:off x="6324600" y="25622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AUAUDS26</a:t>
            </a:r>
            <a:endParaRPr/>
          </a:p>
        </p:txBody>
      </p:sp>
      <p:sp>
        <p:nvSpPr>
          <p:cNvPr id="765" name="Google Shape;765;p48">
            <a:extLst xmlns:a="http://schemas.openxmlformats.org/drawingml/2006/main">
              <a:ext uri="{FF2B5EF4-FFF2-40B4-BE49-F238E27FC236}">
                <a16:creationId xmlns:a16="http://schemas.microsoft.com/office/drawing/2014/main" id="{26F6B006-5176-4985-BD19-26B42DD48136}"/>
              </a:ext>
            </a:extLst>
          </p:cNvPr>
          <p:cNvSpPr>
            <a:spLocks xmlns:a="http://schemas.openxmlformats.org/drawingml/2006/main" noGrp="1"/>
          </p:cNvSpPr>
          <p:nvPr/>
        </p:nvSpPr>
        <p:spPr>
          <a:xfrm xmlns:a="http://schemas.openxmlformats.org/drawingml/2006/main">
            <a:off x="6324600" y="28479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75ff4be8b4ea4140"/>
              </a:rPr>
              <a:t>AUA 2026 IP09-22: pre-AUS UDS and cystoscopy</a:t>
            </a:r>
            <a:endParaRPr/>
          </a:p>
        </p:txBody>
      </p:sp>
      <p:sp>
        <p:nvSpPr>
          <p:cNvPr id="766" name="Google Shape;766;p48">
            <a:extLst xmlns:a="http://schemas.openxmlformats.org/drawingml/2006/main">
              <a:ext uri="{FF2B5EF4-FFF2-40B4-BE49-F238E27FC236}">
                <a16:creationId xmlns:a16="http://schemas.microsoft.com/office/drawing/2014/main" id="{A220F533-ACE4-4B5B-ACDA-AE6909EE3294}"/>
              </a:ext>
            </a:extLst>
          </p:cNvPr>
          <p:cNvSpPr>
            <a:spLocks xmlns:a="http://schemas.openxmlformats.org/drawingml/2006/main" noGrp="1"/>
          </p:cNvSpPr>
          <p:nvPr/>
        </p:nvSpPr>
        <p:spPr>
          <a:xfrm xmlns:a="http://schemas.openxmlformats.org/drawingml/2006/main">
            <a:off x="609600" y="33623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AUAABX26</a:t>
            </a:r>
            <a:endParaRPr/>
          </a:p>
        </p:txBody>
      </p:sp>
      <p:sp>
        <p:nvSpPr>
          <p:cNvPr id="767" name="Google Shape;767;p48">
            <a:extLst xmlns:a="http://schemas.openxmlformats.org/drawingml/2006/main">
              <a:ext uri="{FF2B5EF4-FFF2-40B4-BE49-F238E27FC236}">
                <a16:creationId xmlns:a16="http://schemas.microsoft.com/office/drawing/2014/main" id="{5F6AFEBF-C283-4139-84F0-55F9988C2736}"/>
              </a:ext>
            </a:extLst>
          </p:cNvPr>
          <p:cNvSpPr>
            <a:spLocks xmlns:a="http://schemas.openxmlformats.org/drawingml/2006/main" noGrp="1"/>
          </p:cNvSpPr>
          <p:nvPr/>
        </p:nvSpPr>
        <p:spPr>
          <a:xfrm xmlns:a="http://schemas.openxmlformats.org/drawingml/2006/main">
            <a:off x="609600" y="36480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816568730f924130"/>
              </a:rPr>
              <a:t>AUA 2026 IP09-18: postoperative antibiotics</a:t>
            </a:r>
            <a:endParaRPr/>
          </a:p>
        </p:txBody>
      </p:sp>
      <p:sp>
        <p:nvSpPr>
          <p:cNvPr id="768" name="Google Shape;768;p48">
            <a:extLst xmlns:a="http://schemas.openxmlformats.org/drawingml/2006/main">
              <a:ext uri="{FF2B5EF4-FFF2-40B4-BE49-F238E27FC236}">
                <a16:creationId xmlns:a16="http://schemas.microsoft.com/office/drawing/2014/main" id="{5C98680D-3573-4294-86A9-9DB24A5B512D}"/>
              </a:ext>
            </a:extLst>
          </p:cNvPr>
          <p:cNvSpPr>
            <a:spLocks xmlns:a="http://schemas.openxmlformats.org/drawingml/2006/main" noGrp="1"/>
          </p:cNvSpPr>
          <p:nvPr/>
        </p:nvSpPr>
        <p:spPr>
          <a:xfrm xmlns:a="http://schemas.openxmlformats.org/drawingml/2006/main">
            <a:off x="6324600" y="33623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AUASAFER26</a:t>
            </a:r>
            <a:endParaRPr/>
          </a:p>
        </p:txBody>
      </p:sp>
      <p:sp>
        <p:nvSpPr>
          <p:cNvPr id="769" name="Google Shape;769;p48">
            <a:extLst xmlns:a="http://schemas.openxmlformats.org/drawingml/2006/main">
              <a:ext uri="{FF2B5EF4-FFF2-40B4-BE49-F238E27FC236}">
                <a16:creationId xmlns:a16="http://schemas.microsoft.com/office/drawing/2014/main" id="{F51666B6-7D3F-4836-A3E4-3404771DFE54}"/>
              </a:ext>
            </a:extLst>
          </p:cNvPr>
          <p:cNvSpPr>
            <a:spLocks xmlns:a="http://schemas.openxmlformats.org/drawingml/2006/main" noGrp="1"/>
          </p:cNvSpPr>
          <p:nvPr/>
        </p:nvSpPr>
        <p:spPr>
          <a:xfrm xmlns:a="http://schemas.openxmlformats.org/drawingml/2006/main">
            <a:off x="6324600" y="36480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ac47faac222b42ba"/>
              </a:rPr>
              <a:t>AUA 2026 IP09-17: SAFER erosion management</a:t>
            </a:r>
            <a:endParaRPr/>
          </a:p>
        </p:txBody>
      </p:sp>
      <p:sp>
        <p:nvSpPr>
          <p:cNvPr id="770" name="Google Shape;770;p48">
            <a:extLst xmlns:a="http://schemas.openxmlformats.org/drawingml/2006/main">
              <a:ext uri="{FF2B5EF4-FFF2-40B4-BE49-F238E27FC236}">
                <a16:creationId xmlns:a16="http://schemas.microsoft.com/office/drawing/2014/main" id="{4027BF03-632B-4352-A4AD-B1D3558BAD1A}"/>
              </a:ext>
            </a:extLst>
          </p:cNvPr>
          <p:cNvSpPr>
            <a:spLocks xmlns:a="http://schemas.openxmlformats.org/drawingml/2006/main" noGrp="1"/>
          </p:cNvSpPr>
          <p:nvPr/>
        </p:nvSpPr>
        <p:spPr>
          <a:xfrm xmlns:a="http://schemas.openxmlformats.org/drawingml/2006/main">
            <a:off x="609600" y="41624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MASTER26</a:t>
            </a:r>
            <a:endParaRPr/>
          </a:p>
        </p:txBody>
      </p:sp>
      <p:sp>
        <p:nvSpPr>
          <p:cNvPr id="771" name="Google Shape;771;p48">
            <a:extLst xmlns:a="http://schemas.openxmlformats.org/drawingml/2006/main">
              <a:ext uri="{FF2B5EF4-FFF2-40B4-BE49-F238E27FC236}">
                <a16:creationId xmlns:a16="http://schemas.microsoft.com/office/drawing/2014/main" id="{102D5EB1-5F32-462D-95D4-4725CF83BD49}"/>
              </a:ext>
            </a:extLst>
          </p:cNvPr>
          <p:cNvSpPr>
            <a:spLocks xmlns:a="http://schemas.openxmlformats.org/drawingml/2006/main" noGrp="1"/>
          </p:cNvSpPr>
          <p:nvPr/>
        </p:nvSpPr>
        <p:spPr>
          <a:xfrm xmlns:a="http://schemas.openxmlformats.org/drawingml/2006/main">
            <a:off x="609600" y="44481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4389e244afea4a66"/>
              </a:rPr>
              <a:t>MASTER: 24-month RCT results, 2026</a:t>
            </a:r>
            <a:endParaRPr/>
          </a:p>
        </p:txBody>
      </p:sp>
      <p:sp>
        <p:nvSpPr>
          <p:cNvPr id="772" name="Google Shape;772;p48">
            <a:extLst xmlns:a="http://schemas.openxmlformats.org/drawingml/2006/main">
              <a:ext uri="{FF2B5EF4-FFF2-40B4-BE49-F238E27FC236}">
                <a16:creationId xmlns:a16="http://schemas.microsoft.com/office/drawing/2014/main" id="{950C1318-1540-47AE-9090-CACF879437EA}"/>
              </a:ext>
            </a:extLst>
          </p:cNvPr>
          <p:cNvSpPr>
            <a:spLocks xmlns:a="http://schemas.openxmlformats.org/drawingml/2006/main" noGrp="1"/>
          </p:cNvSpPr>
          <p:nvPr/>
        </p:nvSpPr>
        <p:spPr>
          <a:xfrm xmlns:a="http://schemas.openxmlformats.org/drawingml/2006/main">
            <a:off x="6324600" y="41624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URETHMETA26</a:t>
            </a:r>
            <a:endParaRPr/>
          </a:p>
        </p:txBody>
      </p:sp>
      <p:sp>
        <p:nvSpPr>
          <p:cNvPr id="773" name="Google Shape;773;p48">
            <a:extLst xmlns:a="http://schemas.openxmlformats.org/drawingml/2006/main">
              <a:ext uri="{FF2B5EF4-FFF2-40B4-BE49-F238E27FC236}">
                <a16:creationId xmlns:a16="http://schemas.microsoft.com/office/drawing/2014/main" id="{786CE0F2-1F3B-4C33-8345-9932DA4EBFA7}"/>
              </a:ext>
            </a:extLst>
          </p:cNvPr>
          <p:cNvSpPr>
            <a:spLocks xmlns:a="http://schemas.openxmlformats.org/drawingml/2006/main" noGrp="1"/>
          </p:cNvSpPr>
          <p:nvPr/>
        </p:nvSpPr>
        <p:spPr>
          <a:xfrm xmlns:a="http://schemas.openxmlformats.org/drawingml/2006/main">
            <a:off x="6324600" y="44481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cdedef0c064540e4"/>
              </a:rPr>
              <a:t>Prior urethroplasty: meta-analysis, 2026</a:t>
            </a:r>
            <a:endParaRPr/>
          </a:p>
        </p:txBody>
      </p:sp>
    </p:spTree>
    <p:extLst>
      <p:ext uri="{BB962C8B-B14F-4D97-AF65-F5344CB8AC3E}">
        <p14:creationId xmlns:p14="http://schemas.microsoft.com/office/powerpoint/2010/main" val="989661437"/>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55" name="Google Shape;755;p48">
            <a:extLst xmlns:a="http://schemas.openxmlformats.org/drawingml/2006/main">
              <a:ext uri="{FF2B5EF4-FFF2-40B4-BE49-F238E27FC236}">
                <a16:creationId xmlns:a16="http://schemas.microsoft.com/office/drawing/2014/main" id="{19511F19-B71A-4C01-AD96-CB959B9B531C}"/>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References 6 of 7</a:t>
            </a:r>
            <a:endParaRPr/>
          </a:p>
        </p:txBody>
      </p:sp>
      <p:sp>
        <p:nvSpPr>
          <p:cNvPr id="756" name="Google Shape;756;p48">
            <a:extLst xmlns:a="http://schemas.openxmlformats.org/drawingml/2006/main">
              <a:ext uri="{FF2B5EF4-FFF2-40B4-BE49-F238E27FC236}">
                <a16:creationId xmlns:a16="http://schemas.microsoft.com/office/drawing/2014/main" id="{72475BBB-3801-4616-8C4D-C188BBDA26B4}"/>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757" name="Google Shape;757;p48">
            <a:extLst xmlns:a="http://schemas.openxmlformats.org/drawingml/2006/main">
              <a:ext uri="{FF2B5EF4-FFF2-40B4-BE49-F238E27FC236}">
                <a16:creationId xmlns:a16="http://schemas.microsoft.com/office/drawing/2014/main" id="{2AE89C65-56A4-44A2-8934-ADA6EAF8C491}"/>
              </a:ext>
            </a:extLst>
          </p:cNvPr>
          <p:cNvSpPr>
            <a:spLocks xmlns:a="http://schemas.openxmlformats.org/drawingml/2006/main" noGrp="1"/>
          </p:cNvSpPr>
          <p:nvPr/>
        </p:nvSpPr>
        <p:spPr>
          <a:xfrm xmlns:a="http://schemas.openxmlformats.org/drawingml/2006/main">
            <a:off x="609600" y="6419850"/>
            <a:ext cx="109728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Backup: outside the timed talk</a:t>
            </a:r>
            <a:endParaRPr/>
          </a:p>
        </p:txBody>
      </p:sp>
      <p:sp>
        <p:nvSpPr>
          <p:cNvPr id="758" name="Google Shape;758;p48">
            <a:extLst xmlns:a="http://schemas.openxmlformats.org/drawingml/2006/main">
              <a:ext uri="{FF2B5EF4-FFF2-40B4-BE49-F238E27FC236}">
                <a16:creationId xmlns:a16="http://schemas.microsoft.com/office/drawing/2014/main" id="{12F7C283-B7CE-4E0B-A7A8-5D8604F370B6}"/>
              </a:ext>
            </a:extLst>
          </p:cNvPr>
          <p:cNvSpPr>
            <a:spLocks xmlns:a="http://schemas.openxmlformats.org/drawingml/2006/main" noGrp="1"/>
          </p:cNvSpPr>
          <p:nvPr/>
        </p:nvSpPr>
        <p:spPr>
          <a:xfrm xmlns:a="http://schemas.openxmlformats.org/drawingml/2006/main">
            <a:off x="609600" y="17621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IRRIG26</a:t>
            </a:r>
            <a:endParaRPr/>
          </a:p>
        </p:txBody>
      </p:sp>
      <p:sp>
        <p:nvSpPr>
          <p:cNvPr id="759" name="Google Shape;759;p48">
            <a:extLst xmlns:a="http://schemas.openxmlformats.org/drawingml/2006/main">
              <a:ext uri="{FF2B5EF4-FFF2-40B4-BE49-F238E27FC236}">
                <a16:creationId xmlns:a16="http://schemas.microsoft.com/office/drawing/2014/main" id="{FA7D6FBE-18BC-464B-973C-53582895D028}"/>
              </a:ext>
            </a:extLst>
          </p:cNvPr>
          <p:cNvSpPr>
            <a:spLocks xmlns:a="http://schemas.openxmlformats.org/drawingml/2006/main" noGrp="1"/>
          </p:cNvSpPr>
          <p:nvPr/>
        </p:nvSpPr>
        <p:spPr>
          <a:xfrm xmlns:a="http://schemas.openxmlformats.org/drawingml/2006/main">
            <a:off x="609600" y="20478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b7e8ec8814fc4258"/>
              </a:rPr>
              <a:t>Gentamicin withdrawal: AMS 800 cohort, 2026</a:t>
            </a:r>
            <a:endParaRPr/>
          </a:p>
        </p:txBody>
      </p:sp>
      <p:sp>
        <p:nvSpPr>
          <p:cNvPr id="760" name="Google Shape;760;p48">
            <a:extLst xmlns:a="http://schemas.openxmlformats.org/drawingml/2006/main">
              <a:ext uri="{FF2B5EF4-FFF2-40B4-BE49-F238E27FC236}">
                <a16:creationId xmlns:a16="http://schemas.microsoft.com/office/drawing/2014/main" id="{11A67F6E-2407-4984-B987-FC04B584AA10}"/>
              </a:ext>
            </a:extLst>
          </p:cNvPr>
          <p:cNvSpPr>
            <a:spLocks xmlns:a="http://schemas.openxmlformats.org/drawingml/2006/main" noGrp="1"/>
          </p:cNvSpPr>
          <p:nvPr/>
        </p:nvSpPr>
        <p:spPr>
          <a:xfrm xmlns:a="http://schemas.openxmlformats.org/drawingml/2006/main">
            <a:off x="6324600" y="17621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DAYMETA26</a:t>
            </a:r>
            <a:endParaRPr/>
          </a:p>
        </p:txBody>
      </p:sp>
      <p:sp>
        <p:nvSpPr>
          <p:cNvPr id="761" name="Google Shape;761;p48">
            <a:extLst xmlns:a="http://schemas.openxmlformats.org/drawingml/2006/main">
              <a:ext uri="{FF2B5EF4-FFF2-40B4-BE49-F238E27FC236}">
                <a16:creationId xmlns:a16="http://schemas.microsoft.com/office/drawing/2014/main" id="{C07A6073-7E81-48A2-97D4-9EF4437ABDCC}"/>
              </a:ext>
            </a:extLst>
          </p:cNvPr>
          <p:cNvSpPr>
            <a:spLocks xmlns:a="http://schemas.openxmlformats.org/drawingml/2006/main" noGrp="1"/>
          </p:cNvSpPr>
          <p:nvPr/>
        </p:nvSpPr>
        <p:spPr>
          <a:xfrm xmlns:a="http://schemas.openxmlformats.org/drawingml/2006/main">
            <a:off x="6324600" y="20478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2bba7903f75341fb"/>
              </a:rPr>
              <a:t>Day-case AUS meta-analysis: 2026 issue</a:t>
            </a:r>
            <a:endParaRPr/>
          </a:p>
        </p:txBody>
      </p:sp>
      <p:sp>
        <p:nvSpPr>
          <p:cNvPr id="762" name="Google Shape;762;p48">
            <a:extLst xmlns:a="http://schemas.openxmlformats.org/drawingml/2006/main">
              <a:ext uri="{FF2B5EF4-FFF2-40B4-BE49-F238E27FC236}">
                <a16:creationId xmlns:a16="http://schemas.microsoft.com/office/drawing/2014/main" id="{13F59B02-1E83-4B2D-AA39-696707244959}"/>
              </a:ext>
            </a:extLst>
          </p:cNvPr>
          <p:cNvSpPr>
            <a:spLocks xmlns:a="http://schemas.openxmlformats.org/drawingml/2006/main" noGrp="1"/>
          </p:cNvSpPr>
          <p:nvPr/>
        </p:nvSpPr>
        <p:spPr>
          <a:xfrm xmlns:a="http://schemas.openxmlformats.org/drawingml/2006/main">
            <a:off x="609600" y="25622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DAYCASE26</a:t>
            </a:r>
            <a:endParaRPr/>
          </a:p>
        </p:txBody>
      </p:sp>
      <p:sp>
        <p:nvSpPr>
          <p:cNvPr id="763" name="Google Shape;763;p48">
            <a:extLst xmlns:a="http://schemas.openxmlformats.org/drawingml/2006/main">
              <a:ext uri="{FF2B5EF4-FFF2-40B4-BE49-F238E27FC236}">
                <a16:creationId xmlns:a16="http://schemas.microsoft.com/office/drawing/2014/main" id="{2130340C-8E25-4399-9557-6AA8ECA161FE}"/>
              </a:ext>
            </a:extLst>
          </p:cNvPr>
          <p:cNvSpPr>
            <a:spLocks xmlns:a="http://schemas.openxmlformats.org/drawingml/2006/main" noGrp="1"/>
          </p:cNvSpPr>
          <p:nvPr/>
        </p:nvSpPr>
        <p:spPr>
          <a:xfrm xmlns:a="http://schemas.openxmlformats.org/drawingml/2006/main">
            <a:off x="609600" y="28479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054f2552f682469b"/>
              </a:rPr>
              <a:t>Day-case versus inpatient AUS: 177 men, 2026</a:t>
            </a:r>
            <a:endParaRPr/>
          </a:p>
        </p:txBody>
      </p:sp>
      <p:sp>
        <p:nvSpPr>
          <p:cNvPr id="764" name="Google Shape;764;p48">
            <a:extLst xmlns:a="http://schemas.openxmlformats.org/drawingml/2006/main">
              <a:ext uri="{FF2B5EF4-FFF2-40B4-BE49-F238E27FC236}">
                <a16:creationId xmlns:a16="http://schemas.microsoft.com/office/drawing/2014/main" id="{D710E189-B2AD-4FEC-8CBC-8AC72753B507}"/>
              </a:ext>
            </a:extLst>
          </p:cNvPr>
          <p:cNvSpPr>
            <a:spLocks xmlns:a="http://schemas.openxmlformats.org/drawingml/2006/main" noGrp="1"/>
          </p:cNvSpPr>
          <p:nvPr/>
        </p:nvSpPr>
        <p:spPr>
          <a:xfrm xmlns:a="http://schemas.openxmlformats.org/drawingml/2006/main">
            <a:off x="6324600" y="25622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FRAIL26</a:t>
            </a:r>
            <a:endParaRPr/>
          </a:p>
        </p:txBody>
      </p:sp>
      <p:sp>
        <p:nvSpPr>
          <p:cNvPr id="765" name="Google Shape;765;p48">
            <a:extLst xmlns:a="http://schemas.openxmlformats.org/drawingml/2006/main">
              <a:ext uri="{FF2B5EF4-FFF2-40B4-BE49-F238E27FC236}">
                <a16:creationId xmlns:a16="http://schemas.microsoft.com/office/drawing/2014/main" id="{26F6B006-5176-4985-BD19-26B42DD48136}"/>
              </a:ext>
            </a:extLst>
          </p:cNvPr>
          <p:cNvSpPr>
            <a:spLocks xmlns:a="http://schemas.openxmlformats.org/drawingml/2006/main" noGrp="1"/>
          </p:cNvSpPr>
          <p:nvPr/>
        </p:nvSpPr>
        <p:spPr>
          <a:xfrm xmlns:a="http://schemas.openxmlformats.org/drawingml/2006/main">
            <a:off x="6324600" y="28479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f545ed39d52c4fd9"/>
              </a:rPr>
              <a:t>Frailty and SUI surgery: Medicare cohort, 2026</a:t>
            </a:r>
            <a:endParaRPr/>
          </a:p>
        </p:txBody>
      </p:sp>
      <p:sp>
        <p:nvSpPr>
          <p:cNvPr id="766" name="Google Shape;766;p48">
            <a:extLst xmlns:a="http://schemas.openxmlformats.org/drawingml/2006/main">
              <a:ext uri="{FF2B5EF4-FFF2-40B4-BE49-F238E27FC236}">
                <a16:creationId xmlns:a16="http://schemas.microsoft.com/office/drawing/2014/main" id="{A220F533-ACE4-4B5B-ACDA-AE6909EE3294}"/>
              </a:ext>
            </a:extLst>
          </p:cNvPr>
          <p:cNvSpPr>
            <a:spLocks xmlns:a="http://schemas.openxmlformats.org/drawingml/2006/main" noGrp="1"/>
          </p:cNvSpPr>
          <p:nvPr/>
        </p:nvSpPr>
        <p:spPr>
          <a:xfrm xmlns:a="http://schemas.openxmlformats.org/drawingml/2006/main">
            <a:off x="609600" y="33623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PAD26</a:t>
            </a:r>
            <a:endParaRPr/>
          </a:p>
        </p:txBody>
      </p:sp>
      <p:sp>
        <p:nvSpPr>
          <p:cNvPr id="767" name="Google Shape;767;p48">
            <a:extLst xmlns:a="http://schemas.openxmlformats.org/drawingml/2006/main">
              <a:ext uri="{FF2B5EF4-FFF2-40B4-BE49-F238E27FC236}">
                <a16:creationId xmlns:a16="http://schemas.microsoft.com/office/drawing/2014/main" id="{5F6AFEBF-C283-4139-84F0-55F9988C2736}"/>
              </a:ext>
            </a:extLst>
          </p:cNvPr>
          <p:cNvSpPr>
            <a:spLocks xmlns:a="http://schemas.openxmlformats.org/drawingml/2006/main" noGrp="1"/>
          </p:cNvSpPr>
          <p:nvPr/>
        </p:nvSpPr>
        <p:spPr>
          <a:xfrm xmlns:a="http://schemas.openxmlformats.org/drawingml/2006/main">
            <a:off x="609600" y="36480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f162f4535d1449e8"/>
              </a:rPr>
              <a:t>Pad count versus 24-hour weight: 2026</a:t>
            </a:r>
            <a:endParaRPr/>
          </a:p>
        </p:txBody>
      </p:sp>
      <p:sp>
        <p:nvSpPr>
          <p:cNvPr id="768" name="Google Shape;768;p48">
            <a:extLst xmlns:a="http://schemas.openxmlformats.org/drawingml/2006/main">
              <a:ext uri="{FF2B5EF4-FFF2-40B4-BE49-F238E27FC236}">
                <a16:creationId xmlns:a16="http://schemas.microsoft.com/office/drawing/2014/main" id="{5C98680D-3573-4294-86A9-9DB24A5B512D}"/>
              </a:ext>
            </a:extLst>
          </p:cNvPr>
          <p:cNvSpPr>
            <a:spLocks xmlns:a="http://schemas.openxmlformats.org/drawingml/2006/main" noGrp="1"/>
          </p:cNvSpPr>
          <p:nvPr/>
        </p:nvSpPr>
        <p:spPr>
          <a:xfrm xmlns:a="http://schemas.openxmlformats.org/drawingml/2006/main">
            <a:off x="6324600" y="33623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PRBFAT26</a:t>
            </a:r>
            <a:endParaRPr/>
          </a:p>
        </p:txBody>
      </p:sp>
      <p:sp>
        <p:nvSpPr>
          <p:cNvPr id="769" name="Google Shape;769;p48">
            <a:extLst xmlns:a="http://schemas.openxmlformats.org/drawingml/2006/main">
              <a:ext uri="{FF2B5EF4-FFF2-40B4-BE49-F238E27FC236}">
                <a16:creationId xmlns:a16="http://schemas.microsoft.com/office/drawing/2014/main" id="{F51666B6-7D3F-4836-A3E4-3404771DFE54}"/>
              </a:ext>
            </a:extLst>
          </p:cNvPr>
          <p:cNvSpPr>
            <a:spLocks xmlns:a="http://schemas.openxmlformats.org/drawingml/2006/main" noGrp="1"/>
          </p:cNvSpPr>
          <p:nvPr/>
        </p:nvSpPr>
        <p:spPr>
          <a:xfrm xmlns:a="http://schemas.openxmlformats.org/drawingml/2006/main">
            <a:off x="6324600" y="36480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cfb16a3b6bcb4231"/>
              </a:rPr>
              <a:t>PRB material fatigue: 2026 issue</a:t>
            </a:r>
            <a:endParaRPr/>
          </a:p>
        </p:txBody>
      </p:sp>
      <p:sp>
        <p:nvSpPr>
          <p:cNvPr id="770" name="Google Shape;770;p48">
            <a:extLst xmlns:a="http://schemas.openxmlformats.org/drawingml/2006/main">
              <a:ext uri="{FF2B5EF4-FFF2-40B4-BE49-F238E27FC236}">
                <a16:creationId xmlns:a16="http://schemas.microsoft.com/office/drawing/2014/main" id="{4027BF03-632B-4352-A4AD-B1D3558BAD1A}"/>
              </a:ext>
            </a:extLst>
          </p:cNvPr>
          <p:cNvSpPr>
            <a:spLocks xmlns:a="http://schemas.openxmlformats.org/drawingml/2006/main" noGrp="1"/>
          </p:cNvSpPr>
          <p:nvPr/>
        </p:nvSpPr>
        <p:spPr>
          <a:xfrm xmlns:a="http://schemas.openxmlformats.org/drawingml/2006/main">
            <a:off x="609600" y="41624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REGRET26</a:t>
            </a:r>
            <a:endParaRPr/>
          </a:p>
        </p:txBody>
      </p:sp>
      <p:sp>
        <p:nvSpPr>
          <p:cNvPr id="771" name="Google Shape;771;p48">
            <a:extLst xmlns:a="http://schemas.openxmlformats.org/drawingml/2006/main">
              <a:ext uri="{FF2B5EF4-FFF2-40B4-BE49-F238E27FC236}">
                <a16:creationId xmlns:a16="http://schemas.microsoft.com/office/drawing/2014/main" id="{102D5EB1-5F32-462D-95D4-4725CF83BD49}"/>
              </a:ext>
            </a:extLst>
          </p:cNvPr>
          <p:cNvSpPr>
            <a:spLocks xmlns:a="http://schemas.openxmlformats.org/drawingml/2006/main" noGrp="1"/>
          </p:cNvSpPr>
          <p:nvPr/>
        </p:nvSpPr>
        <p:spPr>
          <a:xfrm xmlns:a="http://schemas.openxmlformats.org/drawingml/2006/main">
            <a:off x="609600" y="44481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c2d8a0a9523a4910"/>
              </a:rPr>
              <a:t>Long-term decisional regret after AUS, 2026 issue</a:t>
            </a:r>
            <a:endParaRPr/>
          </a:p>
        </p:txBody>
      </p:sp>
      <p:sp>
        <p:nvSpPr>
          <p:cNvPr id="772" name="Google Shape;772;p48">
            <a:extLst xmlns:a="http://schemas.openxmlformats.org/drawingml/2006/main">
              <a:ext uri="{FF2B5EF4-FFF2-40B4-BE49-F238E27FC236}">
                <a16:creationId xmlns:a16="http://schemas.microsoft.com/office/drawing/2014/main" id="{950C1318-1540-47AE-9090-CACF879437EA}"/>
              </a:ext>
            </a:extLst>
          </p:cNvPr>
          <p:cNvSpPr>
            <a:spLocks xmlns:a="http://schemas.openxmlformats.org/drawingml/2006/main" noGrp="1"/>
          </p:cNvSpPr>
          <p:nvPr/>
        </p:nvSpPr>
        <p:spPr>
          <a:xfrm xmlns:a="http://schemas.openxmlformats.org/drawingml/2006/main">
            <a:off x="6324600" y="41624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INSTR26</a:t>
            </a:r>
            <a:endParaRPr/>
          </a:p>
        </p:txBody>
      </p:sp>
      <p:sp>
        <p:nvSpPr>
          <p:cNvPr id="773" name="Google Shape;773;p48">
            <a:extLst xmlns:a="http://schemas.openxmlformats.org/drawingml/2006/main">
              <a:ext uri="{FF2B5EF4-FFF2-40B4-BE49-F238E27FC236}">
                <a16:creationId xmlns:a16="http://schemas.microsoft.com/office/drawing/2014/main" id="{786CE0F2-1F3B-4C33-8345-9932DA4EBFA7}"/>
              </a:ext>
            </a:extLst>
          </p:cNvPr>
          <p:cNvSpPr>
            <a:spLocks xmlns:a="http://schemas.openxmlformats.org/drawingml/2006/main" noGrp="1"/>
          </p:cNvSpPr>
          <p:nvPr/>
        </p:nvSpPr>
        <p:spPr>
          <a:xfrm xmlns:a="http://schemas.openxmlformats.org/drawingml/2006/main">
            <a:off x="6324600" y="44481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314b93abce9a41f1"/>
              </a:rPr>
              <a:t>AUS instrumentation knowledge survey, 2026</a:t>
            </a:r>
            <a:endParaRPr/>
          </a:p>
        </p:txBody>
      </p:sp>
    </p:spTree>
    <p:extLst>
      <p:ext uri="{BB962C8B-B14F-4D97-AF65-F5344CB8AC3E}">
        <p14:creationId xmlns:p14="http://schemas.microsoft.com/office/powerpoint/2010/main" val="989661437"/>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55" name="Google Shape;755;p48">
            <a:extLst xmlns:a="http://schemas.openxmlformats.org/drawingml/2006/main">
              <a:ext uri="{FF2B5EF4-FFF2-40B4-BE49-F238E27FC236}">
                <a16:creationId xmlns:a16="http://schemas.microsoft.com/office/drawing/2014/main" id="{19511F19-B71A-4C01-AD96-CB959B9B531C}"/>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References 7 of 7</a:t>
            </a:r>
            <a:endParaRPr/>
          </a:p>
        </p:txBody>
      </p:sp>
      <p:sp>
        <p:nvSpPr>
          <p:cNvPr id="756" name="Google Shape;756;p48">
            <a:extLst xmlns:a="http://schemas.openxmlformats.org/drawingml/2006/main">
              <a:ext uri="{FF2B5EF4-FFF2-40B4-BE49-F238E27FC236}">
                <a16:creationId xmlns:a16="http://schemas.microsoft.com/office/drawing/2014/main" id="{72475BBB-3801-4616-8C4D-C188BBDA26B4}"/>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757" name="Google Shape;757;p48">
            <a:extLst xmlns:a="http://schemas.openxmlformats.org/drawingml/2006/main">
              <a:ext uri="{FF2B5EF4-FFF2-40B4-BE49-F238E27FC236}">
                <a16:creationId xmlns:a16="http://schemas.microsoft.com/office/drawing/2014/main" id="{2AE89C65-56A4-44A2-8934-ADA6EAF8C491}"/>
              </a:ext>
            </a:extLst>
          </p:cNvPr>
          <p:cNvSpPr>
            <a:spLocks xmlns:a="http://schemas.openxmlformats.org/drawingml/2006/main" noGrp="1"/>
          </p:cNvSpPr>
          <p:nvPr/>
        </p:nvSpPr>
        <p:spPr>
          <a:xfrm xmlns:a="http://schemas.openxmlformats.org/drawingml/2006/main">
            <a:off x="609600" y="6419850"/>
            <a:ext cx="109728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Backup: outside the timed talk</a:t>
            </a:r>
            <a:endParaRPr/>
          </a:p>
        </p:txBody>
      </p:sp>
      <p:sp>
        <p:nvSpPr>
          <p:cNvPr id="758" name="Google Shape;758;p48">
            <a:extLst xmlns:a="http://schemas.openxmlformats.org/drawingml/2006/main">
              <a:ext uri="{FF2B5EF4-FFF2-40B4-BE49-F238E27FC236}">
                <a16:creationId xmlns:a16="http://schemas.microsoft.com/office/drawing/2014/main" id="{12F7C283-B7CE-4E0B-A7A8-5D8604F370B6}"/>
              </a:ext>
            </a:extLst>
          </p:cNvPr>
          <p:cNvSpPr>
            <a:spLocks xmlns:a="http://schemas.openxmlformats.org/drawingml/2006/main" noGrp="1"/>
          </p:cNvSpPr>
          <p:nvPr/>
        </p:nvSpPr>
        <p:spPr>
          <a:xfrm xmlns:a="http://schemas.openxmlformats.org/drawingml/2006/main">
            <a:off x="609600" y="17621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EROSION26</a:t>
            </a:r>
            <a:endParaRPr/>
          </a:p>
        </p:txBody>
      </p:sp>
      <p:sp>
        <p:nvSpPr>
          <p:cNvPr id="759" name="Google Shape;759;p48">
            <a:extLst xmlns:a="http://schemas.openxmlformats.org/drawingml/2006/main">
              <a:ext uri="{FF2B5EF4-FFF2-40B4-BE49-F238E27FC236}">
                <a16:creationId xmlns:a16="http://schemas.microsoft.com/office/drawing/2014/main" id="{FA7D6FBE-18BC-464B-973C-53582895D028}"/>
              </a:ext>
            </a:extLst>
          </p:cNvPr>
          <p:cNvSpPr>
            <a:spLocks xmlns:a="http://schemas.openxmlformats.org/drawingml/2006/main" noGrp="1"/>
          </p:cNvSpPr>
          <p:nvPr/>
        </p:nvSpPr>
        <p:spPr>
          <a:xfrm xmlns:a="http://schemas.openxmlformats.org/drawingml/2006/main">
            <a:off x="609600" y="20478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cb160f8167c543a1"/>
              </a:rPr>
              <a:t>Immediate urethral repair at explantation, 2026</a:t>
            </a:r>
            <a:endParaRPr/>
          </a:p>
        </p:txBody>
      </p:sp>
      <p:sp>
        <p:nvSpPr>
          <p:cNvPr id="760" name="Google Shape;760;p48">
            <a:extLst xmlns:a="http://schemas.openxmlformats.org/drawingml/2006/main">
              <a:ext uri="{FF2B5EF4-FFF2-40B4-BE49-F238E27FC236}">
                <a16:creationId xmlns:a16="http://schemas.microsoft.com/office/drawing/2014/main" id="{11A67F6E-2407-4984-B987-FC04B584AA10}"/>
              </a:ext>
            </a:extLst>
          </p:cNvPr>
          <p:cNvSpPr>
            <a:spLocks xmlns:a="http://schemas.openxmlformats.org/drawingml/2006/main" noGrp="1"/>
          </p:cNvSpPr>
          <p:nvPr/>
        </p:nvSpPr>
        <p:spPr>
          <a:xfrm xmlns:a="http://schemas.openxmlformats.org/drawingml/2006/main">
            <a:off x="6324600" y="17621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DEVICE26</a:t>
            </a:r>
            <a:endParaRPr/>
          </a:p>
        </p:txBody>
      </p:sp>
      <p:sp>
        <p:nvSpPr>
          <p:cNvPr id="761" name="Google Shape;761;p48">
            <a:extLst xmlns:a="http://schemas.openxmlformats.org/drawingml/2006/main">
              <a:ext uri="{FF2B5EF4-FFF2-40B4-BE49-F238E27FC236}">
                <a16:creationId xmlns:a16="http://schemas.microsoft.com/office/drawing/2014/main" id="{C07A6073-7E81-48A2-97D4-9EF4437ABDCC}"/>
              </a:ext>
            </a:extLst>
          </p:cNvPr>
          <p:cNvSpPr>
            <a:spLocks xmlns:a="http://schemas.openxmlformats.org/drawingml/2006/main" noGrp="1"/>
          </p:cNvSpPr>
          <p:nvPr/>
        </p:nvSpPr>
        <p:spPr>
          <a:xfrm xmlns:a="http://schemas.openxmlformats.org/drawingml/2006/main">
            <a:off x="6324600" y="20478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4c461daf406a44dd"/>
              </a:rPr>
              <a:t>Emerging AUS devices review, 2026</a:t>
            </a:r>
            <a:endParaRPr/>
          </a:p>
        </p:txBody>
      </p:sp>
      <p:sp>
        <p:nvSpPr>
          <p:cNvPr id="762" name="Google Shape;762;p48">
            <a:extLst xmlns:a="http://schemas.openxmlformats.org/drawingml/2006/main">
              <a:ext uri="{FF2B5EF4-FFF2-40B4-BE49-F238E27FC236}">
                <a16:creationId xmlns:a16="http://schemas.microsoft.com/office/drawing/2014/main" id="{13F59B02-1E83-4B2D-AA39-696707244959}"/>
              </a:ext>
            </a:extLst>
          </p:cNvPr>
          <p:cNvSpPr>
            <a:spLocks xmlns:a="http://schemas.openxmlformats.org/drawingml/2006/main" noGrp="1"/>
          </p:cNvSpPr>
          <p:nvPr/>
        </p:nvSpPr>
        <p:spPr>
          <a:xfrm xmlns:a="http://schemas.openxmlformats.org/drawingml/2006/main">
            <a:off x="609600" y="25622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SECOND26</a:t>
            </a:r>
            <a:endParaRPr/>
          </a:p>
        </p:txBody>
      </p:sp>
      <p:sp>
        <p:nvSpPr>
          <p:cNvPr id="763" name="Google Shape;763;p48">
            <a:extLst xmlns:a="http://schemas.openxmlformats.org/drawingml/2006/main">
              <a:ext uri="{FF2B5EF4-FFF2-40B4-BE49-F238E27FC236}">
                <a16:creationId xmlns:a16="http://schemas.microsoft.com/office/drawing/2014/main" id="{2130340C-8E25-4399-9557-6AA8ECA161FE}"/>
              </a:ext>
            </a:extLst>
          </p:cNvPr>
          <p:cNvSpPr>
            <a:spLocks xmlns:a="http://schemas.openxmlformats.org/drawingml/2006/main" noGrp="1"/>
          </p:cNvSpPr>
          <p:nvPr/>
        </p:nvSpPr>
        <p:spPr>
          <a:xfrm xmlns:a="http://schemas.openxmlformats.org/drawingml/2006/main">
            <a:off x="609600" y="28479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7c510c2b74274100"/>
              </a:rPr>
              <a:t>Second AUS survival: national French cohort, 2026</a:t>
            </a:r>
            <a:endParaRPr/>
          </a:p>
        </p:txBody>
      </p:sp>
      <p:sp>
        <p:nvSpPr>
          <p:cNvPr id="764" name="Google Shape;764;p48">
            <a:extLst xmlns:a="http://schemas.openxmlformats.org/drawingml/2006/main">
              <a:ext uri="{FF2B5EF4-FFF2-40B4-BE49-F238E27FC236}">
                <a16:creationId xmlns:a16="http://schemas.microsoft.com/office/drawing/2014/main" id="{D710E189-B2AD-4FEC-8CBC-8AC72753B507}"/>
              </a:ext>
            </a:extLst>
          </p:cNvPr>
          <p:cNvSpPr>
            <a:spLocks xmlns:a="http://schemas.openxmlformats.org/drawingml/2006/main" noGrp="1"/>
          </p:cNvSpPr>
          <p:nvPr/>
        </p:nvSpPr>
        <p:spPr>
          <a:xfrm xmlns:a="http://schemas.openxmlformats.org/drawingml/2006/main">
            <a:off x="6324600" y="25622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TCSYS25</a:t>
            </a:r>
            <a:endParaRPr/>
          </a:p>
        </p:txBody>
      </p:sp>
      <p:sp>
        <p:nvSpPr>
          <p:cNvPr id="765" name="Google Shape;765;p48">
            <a:extLst xmlns:a="http://schemas.openxmlformats.org/drawingml/2006/main">
              <a:ext uri="{FF2B5EF4-FFF2-40B4-BE49-F238E27FC236}">
                <a16:creationId xmlns:a16="http://schemas.microsoft.com/office/drawing/2014/main" id="{26F6B006-5176-4985-BD19-26B42DD48136}"/>
              </a:ext>
            </a:extLst>
          </p:cNvPr>
          <p:cNvSpPr>
            <a:spLocks xmlns:a="http://schemas.openxmlformats.org/drawingml/2006/main" noGrp="1"/>
          </p:cNvSpPr>
          <p:nvPr/>
        </p:nvSpPr>
        <p:spPr>
          <a:xfrm xmlns:a="http://schemas.openxmlformats.org/drawingml/2006/main">
            <a:off x="6324600" y="28479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a9b1c3ca1b814845"/>
              </a:rPr>
              <a:t>Transcorporal systematic review, online 2025</a:t>
            </a:r>
            <a:endParaRPr/>
          </a:p>
        </p:txBody>
      </p:sp>
      <p:sp>
        <p:nvSpPr>
          <p:cNvPr id="766" name="Google Shape;766;p48">
            <a:extLst xmlns:a="http://schemas.openxmlformats.org/drawingml/2006/main">
              <a:ext uri="{FF2B5EF4-FFF2-40B4-BE49-F238E27FC236}">
                <a16:creationId xmlns:a16="http://schemas.microsoft.com/office/drawing/2014/main" id="{A220F533-ACE4-4B5B-ACDA-AE6909EE3294}"/>
              </a:ext>
            </a:extLst>
          </p:cNvPr>
          <p:cNvSpPr>
            <a:spLocks xmlns:a="http://schemas.openxmlformats.org/drawingml/2006/main" noGrp="1"/>
          </p:cNvSpPr>
          <p:nvPr/>
        </p:nvSpPr>
        <p:spPr>
          <a:xfrm xmlns:a="http://schemas.openxmlformats.org/drawingml/2006/main">
            <a:off x="609600" y="33623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RTTIME25</a:t>
            </a:r>
            <a:endParaRPr/>
          </a:p>
        </p:txBody>
      </p:sp>
      <p:sp>
        <p:nvSpPr>
          <p:cNvPr id="767" name="Google Shape;767;p48">
            <a:extLst xmlns:a="http://schemas.openxmlformats.org/drawingml/2006/main">
              <a:ext uri="{FF2B5EF4-FFF2-40B4-BE49-F238E27FC236}">
                <a16:creationId xmlns:a16="http://schemas.microsoft.com/office/drawing/2014/main" id="{5F6AFEBF-C283-4139-84F0-55F9988C2736}"/>
              </a:ext>
            </a:extLst>
          </p:cNvPr>
          <p:cNvSpPr>
            <a:spLocks xmlns:a="http://schemas.openxmlformats.org/drawingml/2006/main" noGrp="1"/>
          </p:cNvSpPr>
          <p:nvPr/>
        </p:nvSpPr>
        <p:spPr>
          <a:xfrm xmlns:a="http://schemas.openxmlformats.org/drawingml/2006/main">
            <a:off x="609600" y="36480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8f45e874dc4f4067"/>
              </a:rPr>
              <a:t>Radiation and cuff-removal timing cohort, 2025</a:t>
            </a:r>
            <a:endParaRPr/>
          </a:p>
        </p:txBody>
      </p:sp>
      <p:sp>
        <p:nvSpPr>
          <p:cNvPr id="768" name="Google Shape;768;p48">
            <a:extLst xmlns:a="http://schemas.openxmlformats.org/drawingml/2006/main">
              <a:ext uri="{FF2B5EF4-FFF2-40B4-BE49-F238E27FC236}">
                <a16:creationId xmlns:a16="http://schemas.microsoft.com/office/drawing/2014/main" id="{5C98680D-3573-4294-86A9-9DB24A5B512D}"/>
              </a:ext>
            </a:extLst>
          </p:cNvPr>
          <p:cNvSpPr>
            <a:spLocks xmlns:a="http://schemas.openxmlformats.org/drawingml/2006/main" noGrp="1"/>
          </p:cNvSpPr>
          <p:nvPr/>
        </p:nvSpPr>
        <p:spPr>
          <a:xfrm xmlns:a="http://schemas.openxmlformats.org/drawingml/2006/main">
            <a:off x="6324600" y="33623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UROACTIVE26</a:t>
            </a:r>
            <a:endParaRPr/>
          </a:p>
        </p:txBody>
      </p:sp>
      <p:sp>
        <p:nvSpPr>
          <p:cNvPr id="769" name="Google Shape;769;p48">
            <a:extLst xmlns:a="http://schemas.openxmlformats.org/drawingml/2006/main">
              <a:ext uri="{FF2B5EF4-FFF2-40B4-BE49-F238E27FC236}">
                <a16:creationId xmlns:a16="http://schemas.microsoft.com/office/drawing/2014/main" id="{F51666B6-7D3F-4836-A3E4-3404771DFE54}"/>
              </a:ext>
            </a:extLst>
          </p:cNvPr>
          <p:cNvSpPr>
            <a:spLocks xmlns:a="http://schemas.openxmlformats.org/drawingml/2006/main" noGrp="1"/>
          </p:cNvSpPr>
          <p:nvPr/>
        </p:nvSpPr>
        <p:spPr>
          <a:xfrm xmlns:a="http://schemas.openxmlformats.org/drawingml/2006/main">
            <a:off x="6324600" y="36480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ec62ab02731b44f1"/>
              </a:rPr>
              <a:t>Electronic AUS: first-in-human study, 2026</a:t>
            </a:r>
            <a:endParaRPr/>
          </a:p>
        </p:txBody>
      </p:sp>
      <p:sp>
        <p:nvSpPr>
          <p:cNvPr id="770" name="Google Shape;770;p48">
            <a:extLst xmlns:a="http://schemas.openxmlformats.org/drawingml/2006/main">
              <a:ext uri="{FF2B5EF4-FFF2-40B4-BE49-F238E27FC236}">
                <a16:creationId xmlns:a16="http://schemas.microsoft.com/office/drawing/2014/main" id="{4027BF03-632B-4352-A4AD-B1D3558BAD1A}"/>
              </a:ext>
            </a:extLst>
          </p:cNvPr>
          <p:cNvSpPr>
            <a:spLocks xmlns:a="http://schemas.openxmlformats.org/drawingml/2006/main" noGrp="1"/>
          </p:cNvSpPr>
          <p:nvPr/>
        </p:nvSpPr>
        <p:spPr>
          <a:xfrm xmlns:a="http://schemas.openxmlformats.org/drawingml/2006/main">
            <a:off x="609600" y="41624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REPORT26</a:t>
            </a:r>
            <a:endParaRPr/>
          </a:p>
        </p:txBody>
      </p:sp>
      <p:sp>
        <p:nvSpPr>
          <p:cNvPr id="771" name="Google Shape;771;p48">
            <a:extLst xmlns:a="http://schemas.openxmlformats.org/drawingml/2006/main">
              <a:ext uri="{FF2B5EF4-FFF2-40B4-BE49-F238E27FC236}">
                <a16:creationId xmlns:a16="http://schemas.microsoft.com/office/drawing/2014/main" id="{102D5EB1-5F32-462D-95D4-4725CF83BD49}"/>
              </a:ext>
            </a:extLst>
          </p:cNvPr>
          <p:cNvSpPr>
            <a:spLocks xmlns:a="http://schemas.openxmlformats.org/drawingml/2006/main" noGrp="1"/>
          </p:cNvSpPr>
          <p:nvPr/>
        </p:nvSpPr>
        <p:spPr>
          <a:xfrm xmlns:a="http://schemas.openxmlformats.org/drawingml/2006/main">
            <a:off x="609600" y="44481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a5d94814c3be4a0c"/>
              </a:rPr>
              <a:t>Standardised complication reporting: 2026</a:t>
            </a:r>
            <a:endParaRPr/>
          </a:p>
        </p:txBody>
      </p:sp>
      <p:sp>
        <p:nvSpPr>
          <p:cNvPr id="772" name="Google Shape;772;p48">
            <a:extLst xmlns:a="http://schemas.openxmlformats.org/drawingml/2006/main">
              <a:ext uri="{FF2B5EF4-FFF2-40B4-BE49-F238E27FC236}">
                <a16:creationId xmlns:a16="http://schemas.microsoft.com/office/drawing/2014/main" id="{950C1318-1540-47AE-9090-CACF879437EA}"/>
              </a:ext>
            </a:extLst>
          </p:cNvPr>
          <p:cNvSpPr>
            <a:spLocks xmlns:a="http://schemas.openxmlformats.org/drawingml/2006/main" noGrp="1"/>
          </p:cNvSpPr>
          <p:nvPr/>
        </p:nvSpPr>
        <p:spPr>
          <a:xfrm xmlns:a="http://schemas.openxmlformats.org/drawingml/2006/main">
            <a:off x="6324600" y="41624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endParaRPr/>
          </a:p>
        </p:txBody>
      </p:sp>
      <p:sp>
        <p:nvSpPr>
          <p:cNvPr id="773" name="Google Shape;773;p48">
            <a:extLst xmlns:a="http://schemas.openxmlformats.org/drawingml/2006/main">
              <a:ext uri="{FF2B5EF4-FFF2-40B4-BE49-F238E27FC236}">
                <a16:creationId xmlns:a16="http://schemas.microsoft.com/office/drawing/2014/main" id="{786CE0F2-1F3B-4C33-8345-9932DA4EBFA7}"/>
              </a:ext>
            </a:extLst>
          </p:cNvPr>
          <p:cNvSpPr>
            <a:spLocks xmlns:a="http://schemas.openxmlformats.org/drawingml/2006/main" noGrp="1"/>
          </p:cNvSpPr>
          <p:nvPr/>
        </p:nvSpPr>
        <p:spPr>
          <a:xfrm xmlns:a="http://schemas.openxmlformats.org/drawingml/2006/main">
            <a:off x="6324600" y="44481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endParaRPr/>
          </a:p>
        </p:txBody>
      </p:sp>
    </p:spTree>
    <p:extLst>
      <p:ext uri="{BB962C8B-B14F-4D97-AF65-F5344CB8AC3E}">
        <p14:creationId xmlns:p14="http://schemas.microsoft.com/office/powerpoint/2010/main" val="98966143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hatGP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2026-10-05T14:18:01.3470000Z</dcterms:created>
  <dcterms:modified xsi:type="dcterms:W3CDTF">2026-10-05T14:18:01.3470000Z</dcterms:modified>
</coreProperties>
</file>