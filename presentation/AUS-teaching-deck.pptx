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8b8394f-82c2-fcf1-7dbf-2d1234eab12c}">
          <p14:sldIdLst>
            <p14:sldId id="256"/>
          </p14:sldIdLst>
        </p14:section>
        <p14:section name="Decide before theatre" id="{c8f2b5e0-63df-9b91-e677-bfe2580a0a0c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he bladder" id="{f5bd98f4-8949-abd7-c31d-0e841957cc29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he urethra" id="{7095c99e-6dae-3050-9171-25fb5aba2a81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reparation without ritual" id="{d3e15af5-ee61-0e35-b7f5-0b243ea3ebaf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The operation" id="{e4265ea9-e45e-74f1-a107-17b3e1b20d85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After the implant" id="{5995e4fe-6c55-ba74-6ac6-f9330d0e3242}">
          <p14:sldIdLst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Backup and references" id="{0348266b-24e4-3650-020a-fc483fd139ac}">
          <p14:sldIdLst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</c:v>
                </c:pt>
              </c:strCache>
            </c:strRef>
          </c:tx>
          <c:spPr>
            <a:solidFill>
              <a:srgbClr val="0F7F86"/>
            </a:solidFill>
            <a:ln w="38100" cap="flat">
              <a:solidFill>
                <a:srgbClr val="0F7F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F86"/>
              </a:solidFill>
              <a:ln w="9525" cap="flat">
                <a:solidFill>
                  <a:srgbClr val="0F7F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0.4</c:v>
                </c:pt>
                <c:pt idx="4">
                  <c:v>2.8</c:v>
                </c:pt>
                <c:pt idx="5">
                  <c:v>7</c:v>
                </c:pt>
                <c:pt idx="6">
                  <c:v>1.2</c:v>
                </c:pt>
                <c:pt idx="7">
                  <c:v>0.4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A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F6B7A"/>
                    </a:solidFill>
                    <a:latin typeface="+mn-lt"/>
                  </a:rPr>
                  <a:t>Increasing filling volume →  (arbitrary units)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2E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A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F6B7A"/>
                    </a:solidFill>
                    <a:latin typeface="+mn-lt"/>
                  </a:rPr>
                  <a:t>Pressure ↑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DE2E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Pressure</c:v>
                </c:pt>
              </c:strCache>
            </c:strRef>
          </c:tx>
          <c:spPr>
            <a:solidFill>
              <a:srgbClr val="C2482D"/>
            </a:solidFill>
            <a:ln w="38100" cap="flat">
              <a:solidFill>
                <a:srgbClr val="C248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482D"/>
              </a:solidFill>
              <a:ln w="9525" cap="flat">
                <a:solidFill>
                  <a:srgbClr val="C248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0.3</c:v>
                </c:pt>
                <c:pt idx="2">
                  <c:v>0.7</c:v>
                </c:pt>
                <c:pt idx="3">
                  <c:v>1.2</c:v>
                </c:pt>
                <c:pt idx="4">
                  <c:v>1.8</c:v>
                </c:pt>
                <c:pt idx="5">
                  <c:v>2.6</c:v>
                </c:pt>
                <c:pt idx="6">
                  <c:v>3.5</c:v>
                </c:pt>
                <c:pt idx="7">
                  <c:v>4.6</c:v>
                </c:pt>
                <c:pt idx="8">
                  <c:v>5.8</c:v>
                </c:pt>
                <c:pt idx="9">
                  <c:v>7.2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A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F6B7A"/>
                    </a:solidFill>
                    <a:latin typeface="+mn-lt"/>
                  </a:rPr>
                  <a:t>Increasing filling volume →  (arbitrary units)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2E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A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F6B7A"/>
                    </a:solidFill>
                    <a:latin typeface="+mn-lt"/>
                  </a:rPr>
                  <a:t>Pressure ↑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DE2E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cultures</c:v>
                </c:pt>
              </c:strCache>
            </c:strRef>
          </c:tx>
          <c:spPr>
            <a:solidFill>
              <a:srgbClr val="0F7F8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F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82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Chlorhexidine–alcohol</c:v>
                  </c:pt>
                  <c:pt idx="1">
                    <c:v>Povidone–iodine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2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3F4F6"/>
        </a:solidFill>
        <a:ln>
          <a:noFill/>
        </a:ln>
        <a:effectLst/>
      </c:spPr>
    </c:plotArea>
    <c:plotVisOnly val="1"/>
    <c:dispBlanksAs val="span"/>
  </c:chart>
  <c:spPr>
    <a:solidFill>
      <a:srgbClr val="F3F4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UroOps 3D teaching schematic of the implanted device, captured from https://uroops3d.com/lab/aus on 10 October 2026, with clinical review pending. It is not a record of an actual operation. No personal operative experience or local outcomes are asserted.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Rigicon ContiClassic IFU, CC-IFU REV.03, 12 October 2023, printed page 1 (PDF page 4). https://www.rigicon.com/files/e-labeling/ContiClassic-IFU.pdf . Manufacturer illustration, shown for component identification, without a comparative superiority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Figure: original two-panel schematic drawn for this slide on 20 October 2026 (presentation/assets/cuff-bore-schematic.png, drawn by design/cuff_bore_figure.py; provenance in assets/SOURCES.md). Diagrammatic cross-sections, not to scale; no device dimensions or catheter sizes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Illustration: original AI-generated teaching schematic made on 5 October 2026 for this slide (presentation/assets/anatomical-narrowing-colour-annotations-2026.png; provenance and prompt in assets/SOURCES.md and anatomical-narrowing-generation-notes-2026.md). Terminology checked against the EAU urethral strictures classification. Simplified, not to scale, not clinically validated; no patient image or UroOps3D asset was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UroOps 3D, https://uroops3d.com/lab/aus . Captured 10 October 2026. © UroOps3D / UroRef / Nity G. Teaching schematic with clinical review pending. It illustrates spatial relationships, not validated anatomy, tissue perfusion or operative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UroOps 3D, https://uroops3d.com/lab/aus . Captured 10 October 2026. © UroOps3D / UroRef / Nity G. Teaching schematic with clinical review pending. It illustrates spatial relationships, not validated anatomy, tissue perfusion or operative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UroOps 3D, https://uroops3d.com/lab/aus . Captured 10 October 2026. © UroOps3D / UroRef / Nity G. Teaching schematic with clinical review pending. It illustrates spatial relationships, not validated anatomy, tissue perfusion or operative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UroOps 3D, https://uroops3d.com/lab/aus . Captured 10 October 2026. © UroOps3D / UroRef / Nity G. Teaching schematic with clinical review pending. It illustrates spatial relationships, not validated anatomy, tissue perfusion or operative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UroOps 3D, https://uroops3d.com/lab/aus . Captured 10 October 2026. © UroOps3D / UroRef / Nity G. Teaching schematic with clinical review pending. It illustrates spatial relationships, not validated anatomy, tissue perfusion or operative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UroOps 3D, https://uroops3d.com/lab/aus . Captured 10 October 2026. © UroOps3D / UroRef / Nity G. Teaching schematic with clinical review pending. It illustrates spatial relationships, not validated anatomy, tissue perfusion or operative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uroops3d.com/lab/aus" TargetMode="Externa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11/bju.16726" TargetMode="External"/><Relationship Id="rId2" Type="http://schemas.openxmlformats.org/officeDocument/2006/relationships/hyperlink" Target="https://uroweb.org/guidelines/management-of-non-neurogenic-male-luts/chapter/disease-management" TargetMode="External"/><Relationship Id="rId3" Type="http://schemas.openxmlformats.org/officeDocument/2006/relationships/hyperlink" Target="https://www.auanet.org/documents/Guidelines/PDF/2024%20Guidelines/IPT%20Unabridged%20Final%206-18-24.pdf" TargetMode="External"/><Relationship Id="rId4" Type="http://schemas.openxmlformats.org/officeDocument/2006/relationships/hyperlink" Target="https://uroweb.org/guidelines/urethral-strictures/chapter/disease-management-in-males" TargetMode="External"/><Relationship Id="rId5" Type="http://schemas.openxmlformats.org/officeDocument/2006/relationships/hyperlink" Target="https://www.ics.org/folder/standardisation/current-ics-standardisations/d/artificial-urinary-sphincter-report-of-the-2015-consensus-conference/download" TargetMode="External"/><Relationship Id="rId6" Type="http://schemas.openxmlformats.org/officeDocument/2006/relationships/hyperlink" Target="https://doi.org/10.1111/iju.15083" TargetMode="External"/><Relationship Id="rId7" Type="http://schemas.openxmlformats.org/officeDocument/2006/relationships/hyperlink" Target="https://www.rigicon.com/files/e-labeling/ContiClassic-IFU.pdf" TargetMode="External"/><Relationship Id="rId8" Type="http://schemas.openxmlformats.org/officeDocument/2006/relationships/hyperlink" Target="https://doi.org/10.1002/nau.23124" TargetMode="External"/><Relationship Id="rId9" Type="http://schemas.openxmlformats.org/officeDocument/2006/relationships/hyperlink" Target="https://doi.org/10.1097/JU.0000000000003985" TargetMode="External"/><Relationship Id="rId10" Type="http://schemas.openxmlformats.org/officeDocument/2006/relationships/hyperlink" Target="https://www.nice.org.uk/guidance/ng125/chapter/recommendations" TargetMode="External"/><Relationship Id="rId11" Type="http://schemas.openxmlformats.org/officeDocument/2006/relationships/hyperlink" Target="https://www.who.int/publications/i/item/9789241597906" TargetMode="External"/><Relationship Id="rId12" Type="http://schemas.openxmlformats.org/officeDocument/2006/relationships/hyperlink" Target="https://www.medicines.org.uk/emc/product/101238/smpc" TargetMode="External"/><Relationship Id="rId13" Type="http://schemas.openxmlformats.org/officeDocument/2006/relationships/hyperlink" Target="https://www.idsociety.org/practice-guideline/asymptomatic-bacteriuria/" TargetMode="External"/><Relationship Id="rId14" Type="http://schemas.openxmlformats.org/officeDocument/2006/relationships/hyperlink" Target="https://doi.org/10.1097/JU.0000000000000509" TargetMode="External"/><Relationship Id="rId15" Type="http://schemas.openxmlformats.org/officeDocument/2006/relationships/hyperlink" Target="https://pubmed.ncbi.nlm.nih.gov/37543658/" TargetMode="External"/><Relationship Id="rId16" Type="http://schemas.openxmlformats.org/officeDocument/2006/relationships/hyperlink" Target="https://doi.org/10.3310/TBFZ0277" TargetMode="External"/><Relationship Id="rId17" Type="http://schemas.openxmlformats.org/officeDocument/2006/relationships/hyperlink" Target="https://pubmed.ncbi.nlm.nih.gov/19371935/" TargetMode="External"/><Relationship Id="rId18" Type="http://schemas.openxmlformats.org/officeDocument/2006/relationships/hyperlink" Target="https://pubmed.ncbi.nlm.nih.gov/21497853/" TargetMode="External"/><Relationship Id="rId19" Type="http://schemas.openxmlformats.org/officeDocument/2006/relationships/hyperlink" Target="https://doi.org/10.1002/bco2.442" TargetMode="External"/><Relationship Id="rId20" Type="http://schemas.openxmlformats.org/officeDocument/2006/relationships/hyperlink" Target="https://pubmed.ncbi.nlm.nih.gov/36921845/" TargetMode="Externa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36906798/" TargetMode="External"/><Relationship Id="rId2" Type="http://schemas.openxmlformats.org/officeDocument/2006/relationships/hyperlink" Target="https://pubmed.ncbi.nlm.nih.gov/36332702/" TargetMode="External"/><Relationship Id="rId3" Type="http://schemas.openxmlformats.org/officeDocument/2006/relationships/hyperlink" Target="https://pubmed.ncbi.nlm.nih.gov/24074987/" TargetMode="External"/><Relationship Id="rId4" Type="http://schemas.openxmlformats.org/officeDocument/2006/relationships/hyperlink" Target="https://pubmed.ncbi.nlm.nih.gov/25483765/" TargetMode="External"/><Relationship Id="rId5" Type="http://schemas.openxmlformats.org/officeDocument/2006/relationships/hyperlink" Target="https://doi.org/10.3389/fsurg.2022.825239" TargetMode="External"/><Relationship Id="rId6" Type="http://schemas.openxmlformats.org/officeDocument/2006/relationships/hyperlink" Target="https://pubmed.ncbi.nlm.nih.gov/41022035/" TargetMode="External"/><Relationship Id="rId7" Type="http://schemas.openxmlformats.org/officeDocument/2006/relationships/hyperlink" Target="https://doi.org/10.5489/cuaj.6431" TargetMode="External"/><Relationship Id="rId8" Type="http://schemas.openxmlformats.org/officeDocument/2006/relationships/hyperlink" Target="https://pubmed.ncbi.nlm.nih.gov/36749394/" TargetMode="External"/><Relationship Id="rId9" Type="http://schemas.openxmlformats.org/officeDocument/2006/relationships/hyperlink" Target="https://doi.org/10.21037/tau.2019.07.18" TargetMode="External"/><Relationship Id="rId10" Type="http://schemas.openxmlformats.org/officeDocument/2006/relationships/hyperlink" Target="https://tau.amegroups.org/article/view/130351/html" TargetMode="External"/><Relationship Id="rId11" Type="http://schemas.openxmlformats.org/officeDocument/2006/relationships/hyperlink" Target="https://pubmed.ncbi.nlm.nih.gov/23164373/" TargetMode="External"/><Relationship Id="rId12" Type="http://schemas.openxmlformats.org/officeDocument/2006/relationships/hyperlink" Target="https://doi.org/10.1016/j.urology.2017.07.064" TargetMode="External"/><Relationship Id="rId13" Type="http://schemas.openxmlformats.org/officeDocument/2006/relationships/hyperlink" Target="https://doi.org/10.5152/tud.2023.22136" TargetMode="External"/><Relationship Id="rId14" Type="http://schemas.openxmlformats.org/officeDocument/2006/relationships/hyperlink" Target="https://pubmed.ncbi.nlm.nih.gov/26135815/" TargetMode="External"/><Relationship Id="rId15" Type="http://schemas.openxmlformats.org/officeDocument/2006/relationships/hyperlink" Target="https://pmc.ncbi.nlm.nih.gov/articles/PMC12794701/" TargetMode="External"/><Relationship Id="rId16" Type="http://schemas.openxmlformats.org/officeDocument/2006/relationships/hyperlink" Target="https://helpdesk.auanet.org/hc/en-us/articles/40948838469143-Guidelines" TargetMode="External"/><Relationship Id="rId17" Type="http://schemas.openxmlformats.org/officeDocument/2006/relationships/hyperlink" Target="https://journals.sagepub.com/doi/full/10.1177/20514158261451299" TargetMode="External"/><Relationship Id="rId18" Type="http://schemas.openxmlformats.org/officeDocument/2006/relationships/hyperlink" Target="https://journals.sagepub.com/doi/full/10.1177/20514158261451299" TargetMode="External"/><Relationship Id="rId19" Type="http://schemas.openxmlformats.org/officeDocument/2006/relationships/hyperlink" Target="https://doi.org/10.1097/01.JU.0001191316.72449.22.22" TargetMode="External"/><Relationship Id="rId20" Type="http://schemas.openxmlformats.org/officeDocument/2006/relationships/hyperlink" Target="https://doi.org/10.1097/01.JU.0001191316.72449.22.18" TargetMode="Externa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7/01.JU.0001191316.72449.22.17" TargetMode="External"/><Relationship Id="rId2" Type="http://schemas.openxmlformats.org/officeDocument/2006/relationships/hyperlink" Target="https://doi.org/10.1016/j.euf.2026.07.012" TargetMode="External"/><Relationship Id="rId3" Type="http://schemas.openxmlformats.org/officeDocument/2006/relationships/hyperlink" Target="https://doi.org/10.1016/j.urology.2026.05.024" TargetMode="External"/><Relationship Id="rId4" Type="http://schemas.openxmlformats.org/officeDocument/2006/relationships/hyperlink" Target="https://doi.org/10.3390/antibiotics15090894" TargetMode="External"/><Relationship Id="rId5" Type="http://schemas.openxmlformats.org/officeDocument/2006/relationships/hyperlink" Target="https://doi.org/10.1007/s11255-025-04711-y" TargetMode="External"/><Relationship Id="rId6" Type="http://schemas.openxmlformats.org/officeDocument/2006/relationships/hyperlink" Target="https://doi.org/10.1016/j.fjurol.2026.103135" TargetMode="External"/><Relationship Id="rId7" Type="http://schemas.openxmlformats.org/officeDocument/2006/relationships/hyperlink" Target="https://doi.org/10.1097/ju.0000000000005102" TargetMode="External"/><Relationship Id="rId8" Type="http://schemas.openxmlformats.org/officeDocument/2006/relationships/hyperlink" Target="https://doi.org/10.1111/bju.70224" TargetMode="External"/><Relationship Id="rId9" Type="http://schemas.openxmlformats.org/officeDocument/2006/relationships/hyperlink" Target="https://doi.org/10.1016/j.urology.2025.12.031" TargetMode="External"/><Relationship Id="rId10" Type="http://schemas.openxmlformats.org/officeDocument/2006/relationships/hyperlink" Target="https://doi.org/10.1016/j.euros.2025.12.006" TargetMode="External"/><Relationship Id="rId11" Type="http://schemas.openxmlformats.org/officeDocument/2006/relationships/hyperlink" Target="https://doi.org/10.1002/nau.70417" TargetMode="External"/><Relationship Id="rId12" Type="http://schemas.openxmlformats.org/officeDocument/2006/relationships/hyperlink" Target="https://doi.org/10.1007/s00345-026-06629-1" TargetMode="External"/><Relationship Id="rId13" Type="http://schemas.openxmlformats.org/officeDocument/2006/relationships/hyperlink" Target="https://doi.org/10.1002/nau.70400" TargetMode="External"/><Relationship Id="rId14" Type="http://schemas.openxmlformats.org/officeDocument/2006/relationships/hyperlink" Target="https://doi.org/10.1590/s1677-5538.ibju.2025.0374" TargetMode="External"/><Relationship Id="rId15" Type="http://schemas.openxmlformats.org/officeDocument/2006/relationships/hyperlink" Target="https://doi.org/10.1016/j.urology.2025.11.222" TargetMode="External"/><Relationship Id="rId16" Type="http://schemas.openxmlformats.org/officeDocument/2006/relationships/hyperlink" Target="https://doi.org/10.1007/s00345-025-05625-1" TargetMode="External"/><Relationship Id="rId17" Type="http://schemas.openxmlformats.org/officeDocument/2006/relationships/hyperlink" Target="https://doi.org/10.1097/ju.0000000000004945" TargetMode="External"/><Relationship Id="rId18" Type="http://schemas.openxmlformats.org/officeDocument/2006/relationships/hyperlink" Target="https://doi.org/10.1007/s00345-026-06246-y" TargetMode="Externa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NityProjects\AUS-Presentation\repo\presentation\assets\uroops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005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TEACHING SESSION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Artificial urinary sphincter surgery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337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selection, difficult bladders and difficult urethras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[Meeting and date]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7091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 Andrew Baird</a:t>
            </a:r>
            <a:pPr algn="l" indent="0" marL="0">
              <a:buNone/>
            </a:pPr>
            <a:r>
              <a:rPr lang="en-US" sz="11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Urology Consultant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93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 Abu Yousif</a:t>
            </a:r>
            <a:pPr algn="l" indent="0" marL="0">
              <a:buNone/>
            </a:pPr>
            <a:r>
              <a:rPr lang="en-US" sz="11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Urology Consultant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477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Nity G</a:t>
            </a:r>
            <a:pPr algn="l" indent="0" marL="0">
              <a:buNone/>
            </a:pPr>
            <a:r>
              <a:rPr lang="en-US" sz="11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ST5 Urology Registrar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574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3FB8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40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 before theatre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this patient obtain useful continence while storing and emptying safely and operating the device?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decision before theatre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07264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07264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and device boundaries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49936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49936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Leakage mechanism and patient goals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92608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92608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Timing after prostate treatment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35280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5280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Pump use over time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77952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77952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cystoscopy before implantation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20624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20624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Urodynamics: BAUS, EAU and AUA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63296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463296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Interpreting an imperfect study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5059680"/>
            <a:ext cx="45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059680"/>
            <a:ext cx="38706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Consent: improvement and lifetime burden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decision before theatre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AUA24  ·  ICS16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 leakage is only the starting point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522144" cy="2788920"/>
          </a:xfrm>
          <a:prstGeom prst="roundRect">
            <a:avLst>
              <a:gd name="adj" fmla="val 5076"/>
            </a:avLst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880360"/>
            <a:ext cx="182880" cy="18288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20040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Implant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94760"/>
            <a:ext cx="1973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leak shown, safe bladder, good emptying, can work the pump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436544" y="2514600"/>
            <a:ext cx="2522144" cy="2788920"/>
          </a:xfrm>
          <a:prstGeom prst="roundRect">
            <a:avLst>
              <a:gd name="adj" fmla="val 5076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729152" y="2880360"/>
            <a:ext cx="182880" cy="182880"/>
          </a:xfrm>
          <a:prstGeom prst="ellipse">
            <a:avLst/>
          </a:prstGeom>
          <a:solidFill>
            <a:srgbClr val="B879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10864" y="320040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B879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Optimise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710864" y="3794760"/>
            <a:ext cx="1973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treatable bladder or emptying problem is the bigger issue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33008" y="2514600"/>
            <a:ext cx="2522144" cy="2788920"/>
          </a:xfrm>
          <a:prstGeom prst="roundRect">
            <a:avLst>
              <a:gd name="adj" fmla="val 5076"/>
            </a:avLst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5616" y="2880360"/>
            <a:ext cx="182880" cy="182880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7328" y="320040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B5B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Investigate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794760"/>
            <a:ext cx="1973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sure why he leaks, what the tests mean, or the anatomy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029471" y="2514600"/>
            <a:ext cx="2522144" cy="2788920"/>
          </a:xfrm>
          <a:prstGeom prst="roundRect">
            <a:avLst>
              <a:gd name="adj" fmla="val 5076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2079" y="2880360"/>
            <a:ext cx="182880" cy="182880"/>
          </a:xfrm>
          <a:prstGeom prst="ellipse">
            <a:avLst/>
          </a:prstGeom>
          <a:solidFill>
            <a:srgbClr val="C248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03791" y="320040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248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Reconsider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794760"/>
            <a:ext cx="1973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bladder function or using the device alone is unlikely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and device boundaries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EAU26  ·  AUA24  ·  ICS16  ·  AP23  ·  CCIFU  ·  AUASTATUS26  ·  DEVICE26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 2025 · AUA amendment 2024 · EAU 2026. Meeting abstracts are not guidelines. One device’s results do not transfer to another.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710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Source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it can tell us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Guidelines and consensus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recommended clinical pathway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Clinical studies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Results in one group of patients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Manufacturer IFU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the device may be used, and its warnings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Expert or local practice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practical choice, with the uncertainty stated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Leakage mechanism and patient goals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EAU26  ·  AUA24  ·  PAD26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 count is useful, but 2–4 pads a day covers a wide range of weights (2026 data). Weigh the pads when unsure.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the leak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leak shown on examination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Urgency, night-time symptoms and emptying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 use, pad weight and activity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B5B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Agree what improvement is worth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still improving? What has been tried?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validated symptom score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activity the patient wants back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Timing after prostate treatment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AUA24  ·  BAUS25  ·  EAU26  ·  MASTER22  ·  MASTER26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2026: at 24 months the sling was still non-inferior, but further surgery was 11% after sling vs 2% after AUS. Selected patients.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69080"/>
                <a:gridCol w="44650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Guidance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At six months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At twelve months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BAUS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least six months’ recovery for severe SUI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least twelve months for mild–moderate SUI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Surgery may be offered for bothersome, non-improving SUI despite conservative care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Offer surgery for persisting bothersome SUI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069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 by 24-hour pad weight: the Nitti classification BAUS uses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480560"/>
            <a:ext cx="3454298" cy="1005840"/>
          </a:xfrm>
          <a:prstGeom prst="roundRect">
            <a:avLst>
              <a:gd name="adj" fmla="val 12727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4754880"/>
            <a:ext cx="164592" cy="164592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36008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Mild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504748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100 g in 24 hours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68698" y="4480560"/>
            <a:ext cx="3454298" cy="1005840"/>
          </a:xfrm>
          <a:prstGeom prst="roundRect">
            <a:avLst>
              <a:gd name="adj" fmla="val 12727"/>
            </a:avLst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3018" y="4754880"/>
            <a:ext cx="164592" cy="164592"/>
          </a:xfrm>
          <a:prstGeom prst="ellipse">
            <a:avLst/>
          </a:prstGeom>
          <a:solidFill>
            <a:srgbClr val="B879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17338" y="4636008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79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Moderate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917338" y="504748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to 400 g in 24 hours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97317" y="4480560"/>
            <a:ext cx="3454298" cy="1005840"/>
          </a:xfrm>
          <a:prstGeom prst="roundRect">
            <a:avLst>
              <a:gd name="adj" fmla="val 12727"/>
            </a:avLst>
          </a:pr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8371637" y="4754880"/>
            <a:ext cx="164592" cy="164592"/>
          </a:xfrm>
          <a:prstGeom prst="ellipse">
            <a:avLst/>
          </a:prstGeom>
          <a:solidFill>
            <a:srgbClr val="C2482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45957" y="4636008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248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645957" y="504748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400 g in 24 hours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Pump use over time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AUA24  ·  ICS16  ·  CCIFU  ·  FRAIL26</a:t>
            </a:r>
            <a:endParaRPr lang="en-US" sz="800" dirty="0"/>
          </a:p>
        </p:txBody>
      </p:sp>
      <p:pic>
        <p:nvPicPr>
          <p:cNvPr id="6" name="Image 0" descr="C:\NityProjects\AUS-Presentation\repo\presentation\design\build\conticlassic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1828800"/>
            <a:ext cx="3291840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230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Rigicon ContiClassic, manufacturer illustration.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8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Pump assessment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the patient operate a demonstration pump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reach, strength and understanding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a position he can reach before surgery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frailty as well as future pump use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Flexible cystoscopy before implantation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AUA24  ·  EAU26  ·  EAUSTR26  ·  AUAUDS26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2026 AUA abstract (IP09-22) looks at testing again; results not published. Current guidance stands.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Guidance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 recommends cystourethroscopy before SUI surgery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BAUS: VUDS for every candidate; cystoscopy when a narrowing is suspected, or with standard UDS where video is unavailable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Looking in advance is our preference, not a rule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B5B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Findings that change the plan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Stricture, bladder-neck contracture or anastomotic narrowing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Erosion, foreign material or stones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Tumour, or anything that means repeated scopes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Urodynamics: BAUS, EAU and AUA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EAU26  ·  AUA24  ·  ICS16  ·  AUASTATUS26  ·  AUAUDS26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guidelines differ. The 2026 AUA abstract (IP09-22) is conference material; results not published.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69080"/>
                <a:gridCol w="44650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Guideline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Position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Clinical implication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BAUS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Video-urodynamics for surgical candidates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Follow the investigation pathway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EAU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UDS before invasive treatment, weak recommendation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Its own text still allows selective testing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UDS when it would change the diagnosis or counselling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Say what question the test should answer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Interpreting an imperfect study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AUA24  ·  ICS16  ·  UDS14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capacity may just be leakage. A weak contraction in the lab needs the real voiding history.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symptom, and a stress leak shown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25880" y="2560320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578608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Urine, bladder diary, free flow and repeated residual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325880" y="3310128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28416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Urethral anatomy and future access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325880" y="4059936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078224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urodynamic strategy your guideline recommends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325880" y="4809744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828032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storage safe? Can he empty? Is the outlet stable?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Consent: improvement and lifetime burden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AUSCO26  ·  CCSAFETY  ·  AUA24  ·  RT22  ·  FRAIL26  ·  REGRET26  ·  DEVICE26  ·  REPORT26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two numbers do not compare the devices. The regret data say: counsel about leakage and future surgery.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94760"/>
          </a:xfrm>
          <a:prstGeom prst="roundRect">
            <a:avLst>
              <a:gd name="adj" fmla="val 3373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10312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AMS 800: zero-pad use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6888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60%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794760"/>
            <a:ext cx="45642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 / 101 at 12 months after activation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AUSCO 2026: 115 primary implants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709160"/>
            <a:ext cx="456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Manufacturer-funded, no comparison group, missing data, one year of follow-up.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783080"/>
            <a:ext cx="5295748" cy="3794760"/>
          </a:xfrm>
          <a:prstGeom prst="roundRect">
            <a:avLst>
              <a:gd name="adj" fmla="val 3373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1628" y="210312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ContiClassic: device survival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1628" y="2468880"/>
            <a:ext cx="45642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93.2%</a:t>
            </a:r>
            <a:endParaRPr lang="en-US" sz="6600" dirty="0"/>
          </a:p>
        </p:txBody>
      </p:sp>
      <p:sp>
        <p:nvSpPr>
          <p:cNvPr id="15" name="Text 13"/>
          <p:cNvSpPr txBox="1"/>
          <p:nvPr/>
        </p:nvSpPr>
        <p:spPr>
          <a:xfrm>
            <a:off x="6621628" y="3794760"/>
            <a:ext cx="45642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12-month Kaplan–Meier estimate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116 recipients, mixed indications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1628" y="4709160"/>
            <a:ext cx="456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only, no comparison group. A working device is not the same as a dry patient.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574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3FB8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40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bladder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overactivity, weak contraction and poor compliance, because each leads to a different decision.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1: six pads and urgency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Urgency treatment and emptying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2: weak contraction and residual urine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Catheterisation with a cuff in place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Detrusor overactivity and poor compliance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1: six pads and urgency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DO24  ·  OAB11  ·  DOFAIL23  ·  CCIFU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alone does not rule out an AUS. The ContiClassic label requires bladder problems to be controlled or resolved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FICTIONAL CASE 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leak after prostatectomy, shown on examination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Urgency leakage and detrusor overactivity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31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storage pressures and good emptying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walk without soaking his clothes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32320" y="1783080"/>
            <a:ext cx="4419295" cy="3611880"/>
          </a:xfrm>
          <a:prstGeom prst="roundRect">
            <a:avLst>
              <a:gd name="adj" fmla="val 3544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Implant now or optimise first?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611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3950208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0F7F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3950208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28278" y="3950208"/>
            <a:ext cx="1100938" cy="365760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28278" y="3950208"/>
            <a:ext cx="110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4425696"/>
            <a:ext cx="1397203" cy="365760"/>
          </a:xfrm>
          <a:prstGeom prst="roundRect">
            <a:avLst>
              <a:gd name="adj" fmla="val 50000"/>
            </a:avLst>
          </a:prstGeom>
          <a:solidFill>
            <a:srgbClr val="3B5BA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4425696"/>
            <a:ext cx="1397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23299" y="4425696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C248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23299" y="44256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RECONSIDER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Urgency treatment and emptying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AUAOAB24  ·  OAB11  ·  CCIFU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order of treatments has been shown to be best around a cuff.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the reversible causes first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25880" y="267919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9748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drug with his memory and his residual in mind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325880" y="354787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botulinum toxin, plan for retention and for repeat injections through a cuff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325880" y="441655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434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Urgency after an AUS is a separate outcome; agree that beforehand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2: weak contraction and residual urine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DU23  ·  AUA24  ·  ICSUDS17  ·  CCIFU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weak-bladder studies do not prove safety in unresolved retention. No residual number decides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FICTIONAL CASE 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leakage with slow voiding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Urine left behind, again and again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31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contraction and abdominal straining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Could still be a narrowing, or a test that inhibited him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32320" y="1783080"/>
            <a:ext cx="4419295" cy="3611880"/>
          </a:xfrm>
          <a:prstGeom prst="roundRect">
            <a:avLst>
              <a:gd name="adj" fmla="val 3544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a reliable emptying plan change your answer?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611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3950208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0F7F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3950208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28278" y="3950208"/>
            <a:ext cx="1397203" cy="365760"/>
          </a:xfrm>
          <a:prstGeom prst="roundRect">
            <a:avLst>
              <a:gd name="adj" fmla="val 50000"/>
            </a:avLst>
          </a:prstGeom>
          <a:solidFill>
            <a:srgbClr val="3B5BA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28278" y="3950208"/>
            <a:ext cx="1397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4425696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C248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44256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RECONSIDER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Catheterisation with a cuff in place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CIC23  ·  CATH13  ·  CCIFU  ·  ICS16  ·  BAUSSCI26  ·  INSTR26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2026 survey found gaps in deactivation training. Follow the device instructions; there is no universal catheter size.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6638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Cuff fully deflated. Device deactivated.</a:t>
            </a:r>
            <a:endParaRPr lang="en-US" sz="2400" dirty="0"/>
          </a:p>
        </p:txBody>
      </p:sp>
      <p:pic>
        <p:nvPicPr>
          <p:cNvPr id="8" name="Image 0" descr="C:\NityProjects\AUS-Presentation\repo\presentation\assets\cuff-bore-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6638544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98664" y="1737360"/>
            <a:ext cx="3952951" cy="3794760"/>
          </a:xfrm>
          <a:prstGeom prst="roundRect">
            <a:avLst>
              <a:gd name="adj" fmla="val 3373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7872984" y="2057400"/>
            <a:ext cx="365760" cy="36576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72984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375904" y="2039112"/>
            <a:ext cx="29471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does he catheterise, and how often?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872984" y="3246120"/>
            <a:ext cx="365760" cy="36576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72984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375904" y="3227832"/>
            <a:ext cx="29471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he can really do it, and agree the drainage route before the implant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872984" y="4434840"/>
            <a:ext cx="365760" cy="36576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72984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375904" y="4416552"/>
            <a:ext cx="29471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or long-term catheters need a specialist plan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Detrusor overactivity and poor compliance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UDS09  ·  ICS16  ·  BAUS25  ·  CCIFU  ·  BAUSSCI26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Schematic traces, arbitrary units. Check the trace quality; check kidneys and upper tracts when storage pressure worries you.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94760"/>
          </a:xfrm>
          <a:prstGeom prst="roundRect">
            <a:avLst>
              <a:gd name="adj" fmla="val 3373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574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DO: transient contraction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474710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960120" y="2560320"/>
          <a:ext cx="465566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960120" y="50292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Involuntary filling contraction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55868" y="1783080"/>
            <a:ext cx="5295748" cy="3794760"/>
          </a:xfrm>
          <a:prstGeom prst="roundRect">
            <a:avLst>
              <a:gd name="adj" fmla="val 3373"/>
            </a:avLst>
          </a:prstGeom>
          <a:solidFill>
            <a:srgbClr val="F3F4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75908" y="20574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248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Poor compliance: sustained rise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30188" y="2514600"/>
            <a:ext cx="474710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graphicFrame>
        <p:nvGraphicFramePr>
          <p:cNvPr id="15" name="Chart 1" descr=""/>
          <p:cNvGraphicFramePr/>
          <p:nvPr/>
        </p:nvGraphicFramePr>
        <p:xfrm>
          <a:off x="6575908" y="2560320"/>
          <a:ext cx="465566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6575908" y="50292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separate storage-safety problem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574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3FB8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40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urethra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narrowing, prove the outlet is stable, and plan the tissue the cuff will need.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different sites of narrowing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Reassessment and urethral stability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3: radiation and recurrent VUAS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 after urethral reconstruction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Transcorporal placement: role and costs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different sites of narrowing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EAUSTR26  ·  BAUS25  ·  AUA24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Symptoms, flow, residual and the scope must all say the outlet is stable.</a:t>
            </a:r>
            <a:endParaRPr lang="en-US" sz="1200" dirty="0"/>
          </a:p>
        </p:txBody>
      </p:sp>
      <p:pic>
        <p:nvPicPr>
          <p:cNvPr id="7" name="Image 0" descr="C:\NityProjects\AUS-Presentation\repo\presentation\design\build\narrowing-pa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745045" cy="3291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230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schematic, not to scale.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8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Anatomical distinctions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2377440"/>
            <a:ext cx="29836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Anterior stricture: the urethra and its spongy tissue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21040" y="323697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154680"/>
            <a:ext cx="29836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Bladder-neck contracture: prostate partly present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21040" y="401421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3931920"/>
            <a:ext cx="29836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VUAS: the bladder–urethra join after prostatectomy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Reassessment and urethral stability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AUA24  ·  EAUSTR26  ·  ICS16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intervals for three situations. The pattern of recurrence, the tissue and future access decide.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69080"/>
                <a:gridCol w="44650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Guideline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Interval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The relevant pathway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least 4–6 weeks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check scope after treating a symptomatic bladder-neck or anastomotic narrowing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EAU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3–6 months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a redo bladder–urethra anastomosis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BAUS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least six months without recurrence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treatment of post-prostatectomy narrowing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3: radiation and recurrent VUAS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RT22  ·  BAUS25  ·  EAUSTR26  ·  AUA24  ·  RTTIME25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Radiotherapy raises the risk. A 2025 study sets no waiting rule; a stable outlet and reconstruction come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FICTIONAL CASE 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Radical prostatectomy and salvage radiotherapy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 leak whenever the narrowing is open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31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anastomosis keeps narrowing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only stays open because we keep treating it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32320" y="1783080"/>
            <a:ext cx="4419295" cy="3611880"/>
          </a:xfrm>
          <a:prstGeom prst="roundRect">
            <a:avLst>
              <a:gd name="adj" fmla="val 3544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Implant, stage reconstruction or reconsider the endpoint?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611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3950208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0F7F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3950208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28278" y="3950208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3B5BA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28278" y="395020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60966" y="395020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C248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60966" y="395020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RECONSIDER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AUS after urethral reconstruction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URETH26  ·  BAUS25  ·  AUA24  ·  ICS16  ·  URETHMETA26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meta-analysis: a previous urethroplasty means more removals; repairs that cut the urethra across carry more erosion. Observational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reconstruction history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Repair site and operative report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the urethra cut across, or not?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 erosion, graft or posterior reconstruction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B5B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next operation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remaining tissue and its blood supply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healthy tissue for the cuff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safe plane? Reassess, or do it in stages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Transcorporal placement: role and costs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TC20  ·  TC23  ·  BAUS25  ·  AP23  ·  TCSYS25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latest review suggests less erosion but more revision. Non-randomised data cannot prove protection.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Selected role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dangerous plane behind the urethra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move for one specific dissection problem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it protects from erosion is unproven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B5B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Costs and limitations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Injury and bleeding from the erectile bodies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Effects on erections and on any future penile implant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worst urethras get it, which muddies the comparisons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574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3FB8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40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Preparation without ritual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activity, the product and the evidence before debating a duration.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fifteen-minute wash question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 culture reduction and clinical infection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Urine and antibiotic disagreements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Contamination control during implantation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pre-implant theatre checklist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fifteen-minute wash question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NICE  ·  WHO09  ·  PREP24  ·  IRRIG26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BAUS’s five-minute field scrub is consensus, borrowed from other implants. Product timings are for different activities.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AUS evidence supports a fixed 15-minute preparation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318608" cy="1325880"/>
          </a:xfrm>
          <a:prstGeom prst="roundRect">
            <a:avLst>
              <a:gd name="adj" fmla="val 9655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98648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8803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Washing at home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644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Soap, the day before or the day of surgery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2606040"/>
            <a:ext cx="5318608" cy="1325880"/>
          </a:xfrm>
          <a:prstGeom prst="roundRect">
            <a:avLst>
              <a:gd name="adj" fmla="val 9655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7328" y="2898648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055968" y="28803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Skin preparation in theatre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55968" y="32644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product, right site, contact time, fully dry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5318608" cy="1325880"/>
          </a:xfrm>
          <a:prstGeom prst="roundRect">
            <a:avLst>
              <a:gd name="adj" fmla="val 9655"/>
            </a:avLst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498848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4805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Hand antisepsis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8646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team’s hands and forearms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4206240"/>
            <a:ext cx="5318608" cy="1325880"/>
          </a:xfrm>
          <a:prstGeom prst="roundRect">
            <a:avLst>
              <a:gd name="adj" fmla="val 9655"/>
            </a:avLst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507328" y="4498848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07328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55968" y="44805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Washout and device preparation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55968" y="48646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steps, each with its own rules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Skin culture reduction and clinical infection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YEUNG13  ·  PREP24  ·  NICE  ·  CHLORA26  ·  BAUS25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Yeung 2013: 100 first genitourinary implants, 50 per arm. Skin cultures after preparation, not AUS infections; no timing tested.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035040" cy="3794760"/>
          </a:xfrm>
          <a:prstGeom prst="roundRect">
            <a:avLst>
              <a:gd name="adj" fmla="val 3373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57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Positive post-preparation skin cultures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60120" y="242316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132320" y="182880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laboratory measure, not infections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468880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study shows fewer AUS infections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132320" y="3429000"/>
            <a:ext cx="4419295" cy="1188720"/>
          </a:xfrm>
          <a:prstGeom prst="roundRect">
            <a:avLst>
              <a:gd name="adj" fmla="val 10769"/>
            </a:avLst>
          </a:prstGeom>
          <a:solidFill>
            <a:srgbClr val="F3F4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52360" y="3611880"/>
            <a:ext cx="3779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right product, the right site and full drying still matter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Urine and antibiotic disagreements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IDSA19  ·  BAUS25  ·  AUAABX20  ·  ABX18  ·  CCIFU  ·  AUAABX26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2026 AUA abstract (IP09-18) covers antibiotics after surgery; results not published. Agree the label with local microbiology policy.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710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Question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Evidence or instruction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Symptomatic infection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Treat and reassess before implantation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Asymptomatic bacteriuria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BAUS says test and treat; IDSA says do not screen or treat for an AUS alone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Prophylaxis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Give before the incision; repeat the dose if the operation is long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Postoperative antibiotics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Older observational data show no clear benefit; the ContiClassic label asks for a longer course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Contamination control during implantation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TOUCH23  ·  NICE  ·  AP23  ·  CCIFU  ·  IRRIG26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AMS 800 cohort: infections 1 in 59 with gentamicin vs 2 in 114 without. Three events prove nothing either way.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the implant until the field is ready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25880" y="267919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9748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 skin contact and unnecessary handling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325880" y="354787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 sterile gloves before touching the device, and a pause to check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325880" y="441655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434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washout, device dipping and device filling separate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pre-implant theatre checklist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NICE  ·  BAUS25  ·  CCIFU  ·  AUAABX20  ·  IRRIG26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710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Check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Basis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Indication, infection review, prophylaxis and asepsis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Guidance-supported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Antiseptic, drying, antibiotic choice and redosing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and local policy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Model, sizes, pressure, preparation and drainage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device instructions and local plan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 handling pause and contamination response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Expert practice, not trial evidence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fixed 15 minutes, the best washout, long antibiotic courses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Unresolved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NityProjects\AUS-Presentation\repo\presentation\design\build\envato-section-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326">
              <a:alpha val="70000"/>
            </a:srgbClr>
          </a:solidFill>
          <a:ln/>
        </p:spPr>
      </p:sp>
      <p:sp>
        <p:nvSpPr>
          <p:cNvPr id="4" name="divider gradient 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326">
                  <a:alpha val="0"/>
                </a:srgbClr>
              </a:gs>
              <a:gs pos="40000">
                <a:srgbClr val="1F2326">
                  <a:alpha val="0"/>
                </a:srgbClr>
              </a:gs>
              <a:gs pos="72000">
                <a:srgbClr val="1F2326">
                  <a:alpha val="62000"/>
                </a:srgbClr>
              </a:gs>
              <a:gs pos="100000">
                <a:srgbClr val="1F2326">
                  <a:alpha val="96000"/>
                </a:srgbClr>
              </a:gs>
            </a:gsLst>
            <a:lin ang="0" scaled="0"/>
          </a:gradFill>
          <a:ln/>
        </p:spPr>
      </p:sp>
      <p:sp>
        <p:nvSpPr>
          <p:cNvPr id="5" name="Shape 2"/>
          <p:cNvSpPr/>
          <p:nvPr/>
        </p:nvSpPr>
        <p:spPr>
          <a:xfrm>
            <a:off x="640080" y="20574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3FB8B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240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operation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11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 tissue, measure what the cuff will enclose, follow the actual device protocol, and verify before closing.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Positioning and exposure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Bulbar dissection and tissue preservation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Cuff measurement and fit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Urethral injury or contamination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Balloon pocket and pressure selection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3931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Pump position and patient access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80960" y="4389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checks and handover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4846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UroOps 3D: anatomy and component routes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2A2F3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Positioning and exposure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AUA24  ·  ICS16  ·  AP23</a:t>
            </a:r>
            <a:endParaRPr lang="en-US" sz="800" dirty="0"/>
          </a:p>
        </p:txBody>
      </p:sp>
      <p:pic>
        <p:nvPicPr>
          <p:cNvPr id="6" name="Image 0" descr="C:\NityProjects\AUS-Presentation\repo\presentation\assets\uroops-surge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5285"/>
            <a:ext cx="7223760" cy="29788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8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access plan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hip mobility and protect pressure points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the perineal, balloon and pump sites together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scars, mesh, previous devices and repairs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 exposure? Improve it before dissecting further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Bulbar dissection and tissue preservation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ICS16  ·  AP23  ·  CCIFU  ·  URETH26</a:t>
            </a:r>
            <a:endParaRPr lang="en-US" sz="800" dirty="0"/>
          </a:p>
        </p:txBody>
      </p:sp>
      <p:pic>
        <p:nvPicPr>
          <p:cNvPr id="6" name="Image 0" descr="C:\NityProjects\AUS-Presentation\repo\presentation\assets\uroops-cuff-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5285"/>
            <a:ext cx="7223760" cy="29788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8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cuff-bearing segment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Healthy tissue with enough spongy support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Dissect the plane behind the urethra under direct vision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only the length the cuff needs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Unsure of the plane or the wall? Stop and reassess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Cuff measurement and fit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ICS16  ·  CCIFU  ·  CCSAFETY  ·  AP23</a:t>
            </a:r>
            <a:endParaRPr lang="en-US" sz="800" dirty="0"/>
          </a:p>
        </p:txBody>
      </p:sp>
      <p:pic>
        <p:nvPicPr>
          <p:cNvPr id="6" name="Image 0" descr="C:\NityProjects\AUS-Presentation\repo\presentation\assets\uroops-a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852160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8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Sizing errors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go of the traction; do not squash the urethra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which tissue the cuff will enclose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device’s own sizing method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 fit? Measure again; do not raise the pressure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Urethral injury or contamination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AP23  ·  ICS16  ·  CCIFU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improvised antiseptic soak cannot rescue a contaminated single-use implant.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C248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endpoint can change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C248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repair and safe drainage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42255" cy="3657600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2103120"/>
            <a:ext cx="384048" cy="384048"/>
          </a:xfrm>
          <a:prstGeom prst="ellipse">
            <a:avLst/>
          </a:prstGeom>
          <a:solidFill>
            <a:srgbClr val="C248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084832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sure the wall is intact? Leak test or scope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629400" y="3182112"/>
            <a:ext cx="384048" cy="384048"/>
          </a:xfrm>
          <a:prstGeom prst="ellipse">
            <a:avLst/>
          </a:prstGeom>
          <a:solidFill>
            <a:srgbClr val="C248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163824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known urethral injury means no implant today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629400" y="4261104"/>
            <a:ext cx="384048" cy="384048"/>
          </a:xfrm>
          <a:prstGeom prst="ellipse">
            <a:avLst/>
          </a:prstGeom>
          <a:solidFill>
            <a:srgbClr val="C248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4242816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contaminated single-use items and reset the clean field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Balloon pocket and pressure selection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CCIFU  ·  AP23  ·  ICS16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safe pocket and the right pressure are two separate decisions. Fill volumes and selection rules need the current OR protocol.</a:t>
            </a:r>
            <a:endParaRPr lang="en-US" sz="1200" dirty="0"/>
          </a:p>
        </p:txBody>
      </p:sp>
      <p:pic>
        <p:nvPicPr>
          <p:cNvPr id="7" name="Image 0" descr="C:\NityProjects\AUS-Presentation\repo\presentation\assets\uroops-ball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62328"/>
            <a:ext cx="5120640" cy="34991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783080"/>
            <a:ext cx="5242255" cy="1371600"/>
          </a:xfrm>
          <a:prstGeom prst="roundRect">
            <a:avLst>
              <a:gd name="adj" fmla="val 9333"/>
            </a:avLst>
          </a:prstGeom>
          <a:solidFill>
            <a:srgbClr val="2A2F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29400" y="2011680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8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ContiClassic label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350008"/>
            <a:ext cx="4602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60–69 cmH₂O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3383280"/>
            <a:ext cx="5242255" cy="1371600"/>
          </a:xfrm>
          <a:prstGeom prst="roundRect">
            <a:avLst>
              <a:gd name="adj" fmla="val 9333"/>
            </a:avLst>
          </a:prstGeom>
          <a:solidFill>
            <a:srgbClr val="2A2F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29400" y="3611880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8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AMS 800 consensus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950208"/>
            <a:ext cx="4602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Commonly 61–70 cmH₂O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507492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ranges are device-specific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Pump position and patient access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AP23  ·  ICS16  ·  CCIFU</a:t>
            </a:r>
            <a:endParaRPr lang="en-US" sz="800" dirty="0"/>
          </a:p>
        </p:txBody>
      </p:sp>
      <p:pic>
        <p:nvPicPr>
          <p:cNvPr id="6" name="Image 0" descr="C:\NityProjects\AUS-Presentation\repo\presentation\assets\uroops-three-spa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5285"/>
            <a:ext cx="7223760" cy="29788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8288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8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functional position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321040" y="245973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67928" y="237744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accessible side agreed in clinic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0" y="316839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308610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crowding, tight skin and pressure on the testis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21040" y="387705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67928" y="379476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orientation and tubing pull before closing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21040" y="4585716"/>
            <a:ext cx="100584" cy="100584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4503420"/>
            <a:ext cx="298368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he can reach it at activation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System checks and handover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CCIFU  ·  ICS16  ·  AP23  ·  CATH13  ·  INSTR26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2026 survey found gaps in deactivation training. Fill the device by its own protocol.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the tubing: no tension, bends or trapping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25880" y="267919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9748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connections and cycle the device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325880" y="354787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6616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the cuff is open and the device is off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325880" y="4416552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43484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the device, the catheter plan and whom to call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UroOps 3D: anatomy and component routes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ICS16  ·  AP23  ·  CCIFU</a:t>
            </a:r>
            <a:endParaRPr lang="en-US" sz="800" dirty="0"/>
          </a:p>
        </p:txBody>
      </p:sp>
      <p:pic>
        <p:nvPicPr>
          <p:cNvPr id="6" name="Image 0" descr="C:\NityProjects\AUS-Presentation\repo\presentation\assets\uroops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5765"/>
            <a:ext cx="7223760" cy="29779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8288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3FB8B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0" y="1828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23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DEMONSTRATION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321040" y="2377440"/>
            <a:ext cx="365760" cy="365760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210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851392" y="2377440"/>
            <a:ext cx="27002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Cuff and dorsal plane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321040" y="2944368"/>
            <a:ext cx="365760" cy="365760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210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851392" y="2944368"/>
            <a:ext cx="27002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Pump access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321040" y="3511296"/>
            <a:ext cx="365760" cy="365760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210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851392" y="3511296"/>
            <a:ext cx="27002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Balloon pocket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321040" y="4078224"/>
            <a:ext cx="365760" cy="365760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2104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851392" y="4078224"/>
            <a:ext cx="27002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Tubing route</a:t>
            </a:r>
            <a:endParaRPr lang="en-US" sz="1500" dirty="0"/>
          </a:p>
        </p:txBody>
      </p:sp>
      <p:sp>
        <p:nvSpPr>
          <p:cNvPr id="21" name="Text 18">
            <a:hlinkClick r:id="rId2" tooltip=""/>
          </p:cNvPr>
          <p:cNvSpPr txBox="1"/>
          <p:nvPr/>
        </p:nvSpPr>
        <p:spPr>
          <a:xfrm>
            <a:off x="8321040" y="470916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u="sng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uroops3d.com/lab/aus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52578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page. Teaching schematic, clinical review pending.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574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3FB8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40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the implant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over the risk, diagnose late leakage before revising, and say where the evidence stops.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188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SECTION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Aftercare, activation and urgent review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1031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4: leakage after three good years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5603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Established benefit and unresolved questions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0175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decisions before implantation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4747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decisions protecting the result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93192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before theatre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76957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76957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13834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13834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urethra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50712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50712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 without ritual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87589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87589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E87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824466" y="5989320"/>
            <a:ext cx="1727149" cy="82296"/>
          </a:xfrm>
          <a:prstGeom prst="roundRect">
            <a:avLst>
              <a:gd name="adj" fmla="val 44444"/>
            </a:avLst>
          </a:prstGeom>
          <a:solidFill>
            <a:srgbClr val="3FB8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24466" y="6126480"/>
            <a:ext cx="1727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Aftercare, activation and urgent review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CCIFU  ·  AUA24  ·  CATH13  ·  BAUSDAY26  ·  DAYMETA26  ·  DAYCASE26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2026 day-case audit and studies support selected pathways. Confirm he empties, has support, and can get seen fast.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Planned care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case for selected men, once he has voided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ContiClassic: switched off for 4–6 weeks until pain and swelling settle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activation he works it himself and gets the device card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B5B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Earlier assessment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or difficult voiding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Worsening pain, redness, discharge or fever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Suspected infection or erosion needs specialist review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4: leakage after three good years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ATROPHY20  ·  BAUS25  ·  AUA24  ·  CCIFU  ·  AUASAFER26  ·  PRBFAT26  ·  EROSION26  ·  SECOND26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2026 lab study shows balloons wear with age. Find the cause; do not automatically fit a smaller cuff or a new balloon.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B879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FICTIONAL CASE 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good result for three years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leaking again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313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he leaks, and how he uses the pump, still to be checked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Could be erosion, a mechanical fault, or the bladder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32320" y="1783080"/>
            <a:ext cx="4419295" cy="3611880"/>
          </a:xfrm>
          <a:prstGeom prst="roundRect">
            <a:avLst>
              <a:gd name="adj" fmla="val 3544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would you investigate before choosing revision?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611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3950208"/>
            <a:ext cx="607162" cy="36576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3950208"/>
            <a:ext cx="60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33258" y="3950208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33258" y="3950208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URETHRA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63456" y="3950208"/>
            <a:ext cx="1199693" cy="36576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63456" y="3950208"/>
            <a:ext cx="1199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4425696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0" y="4425696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BLADDER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Established benefit and unresolved questions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MASTER22  ·  TC20  ·  TC23  ·  PREP24  ·  CCSAFETY  ·  DEVICE26  ·  UROACTIVE26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692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reviews and the first electronic sphincters add options; comparative and long-term evidence is still thin.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7F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Supported or plausible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73405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Well-chosen patients get a big improvement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Keeping tissue and controlling contamination make sense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for future catheters and scopes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5295748" cy="3749040"/>
          </a:xfrm>
          <a:prstGeom prst="roundRect">
            <a:avLst>
              <a:gd name="adj" fmla="val 3415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5908" y="2075688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B5B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Still uncertain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75908" y="273405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22796" y="265176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rescue for a fragile urethra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75908" y="355701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2796" y="347472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washout fluid and preparation time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75908" y="4379976"/>
            <a:ext cx="100584" cy="100584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2796" y="4297680"/>
            <a:ext cx="4408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ContiClassic results compared with AMS 800</a:t>
            </a:r>
            <a:endParaRPr lang="en-US" sz="15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decisions before implantation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  ·  EAU26  ·  AUA24  ·  DU23  ·  ICS16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stress leak shown, and a goal that matters to him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25880" y="2560320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78608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he use the pump now, and in five years?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325880" y="3310128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28416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that answer: anatomy, safe storage, emptying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325880" y="4059936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078224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Overactive, weak, or high-pressure bladder: keep them separate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325880" y="4809744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828032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stable urethra and future access plan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decisions protecting the result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45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CCIFU  ·  NICE  ·  AP23  ·  ATROPHY20  ·  BAUS25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28800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right antisepsis and the right antibiotics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25880" y="2560320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78608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tissue; measure without distortion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325880" y="3310128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28416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device protocol, and clear reasons to stop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325880" y="4059936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078224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device is off, the drainage plan, and teach the patient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325880" y="4809744"/>
            <a:ext cx="1022573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828032"/>
            <a:ext cx="10225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diagnosis before any revision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IMPLANT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97961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7AE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/ 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0312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bladder finding makes you defer an implant?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06324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establishes urethral stability in your practice?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133088"/>
            <a:ext cx="457200" cy="457200"/>
          </a:xfrm>
          <a:prstGeom prst="ellipse">
            <a:avLst/>
          </a:prstGeom>
          <a:solidFill>
            <a:srgbClr val="3FB8B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02336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preparation or salvage practice needs a trial?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FB8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finding would change your plan?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 evidence: device and endpoint</a:t>
            </a:r>
            <a:endParaRPr lang="en-US" sz="3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38706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Study and population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Endpoint and result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Limits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AUSCO 2026: AMS 800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115 primary implants, 25 irradiated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months after activation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91/97 ≥50% pad-weight reduction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61/101 zero pads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Prospective single-arm, funded by manufacturer. Missing data, one year, expert centres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Linder 2015: AMS 800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1,082 primary implants, 27% irradiated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Freedom from any secondary surgery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KM 74% at five years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57% at ten years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Historical specialist cohort. Continence and revision-free survival differ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Wilson 2024: ContiClassic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116 recipients, mixed indications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Eight revisions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12-month KM device survival 93.2%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Early safety series. No standardised continence comparator; mixed indications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Comparative and preparation evidence</a:t>
            </a:r>
            <a:endParaRPr lang="en-US" sz="3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387065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Study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Finding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Limits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91440" marB="9144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MASTER 2022 / 2026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380 randomised men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24-month non-inferiority retained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Further surgery: sling 11%, AUS 2%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Selected trial population. Secondary outcomes favour AUS; not general equivalence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Yeung 2013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initial GU prosthetic procedures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Post-preparation skin culture positivity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8% versus 32%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Surrogate outcome. Mixed devices. No AUS infection or duration conclusion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Gentamicin withdrawal 2026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173 uncoated AMS 800 procedures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90-day SSI: 1/59 versus 2/114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significant difference detected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Sparse events, era confounding, broad systemic prophylaxis; not equivalence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48256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versus selective UDS and meaningful outcomes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0148" y="1783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6484468" y="2048256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446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33108" y="1920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eligibility in DU or chronic retention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191256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063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 intervals after different reconstructions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0148" y="2926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4468" y="3191256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446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33108" y="3063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Comparative protection from salvage strategies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334256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206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Preparation, irrigation and prolonged prophylaxis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0148" y="4069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4334256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446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33108" y="4206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long-term ContiClassic outcomes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5341468" cy="914400"/>
          </a:xfrm>
          <a:prstGeom prst="roundRect">
            <a:avLst>
              <a:gd name="adj" fmla="val 14000"/>
            </a:avLst>
          </a:prstGeom>
          <a:solidFill>
            <a:srgbClr val="F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5477256"/>
            <a:ext cx="384048" cy="384048"/>
          </a:xfrm>
          <a:prstGeom prst="ellipse">
            <a:avLst/>
          </a:prstGeom>
          <a:solidFill>
            <a:srgbClr val="0F7F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349240"/>
            <a:ext cx="424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Mechanisms and revision strategy in late leakage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 1 of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BAUS25</a:t>
            </a:r>
            <a:endParaRPr lang="en-US" sz="95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1920240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BAUS consensus, BJU Int 2025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5798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EAU26</a:t>
            </a:r>
            <a:endParaRPr lang="en-US" sz="950" dirty="0"/>
          </a:p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1920240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EAU male LUTS guidelines,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AUA24</a:t>
            </a:r>
            <a:endParaRPr lang="en-US" sz="950" dirty="0"/>
          </a:p>
        </p:txBody>
      </p:sp>
      <p:sp>
        <p:nvSpPr>
          <p:cNvPr id="11" name="Text 9">
            <a:hlinkClick r:id="rId3" tooltip=""/>
          </p:cNvPr>
          <p:cNvSpPr txBox="1"/>
          <p:nvPr/>
        </p:nvSpPr>
        <p:spPr>
          <a:xfrm>
            <a:off x="1920240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AUA/GURS/SUFU IPT amendment, 2024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EAUSTR26</a:t>
            </a:r>
            <a:endParaRPr lang="en-US" sz="950" dirty="0"/>
          </a:p>
        </p:txBody>
      </p:sp>
      <p:sp>
        <p:nvSpPr>
          <p:cNvPr id="14" name="Text 12">
            <a:hlinkClick r:id="rId4" tooltip=""/>
          </p:cNvPr>
          <p:cNvSpPr txBox="1"/>
          <p:nvPr/>
        </p:nvSpPr>
        <p:spPr>
          <a:xfrm>
            <a:off x="1920240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EAU urethral strictures guidelines, 2026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1985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ICS16</a:t>
            </a:r>
            <a:endParaRPr lang="en-US" sz="950" dirty="0"/>
          </a:p>
        </p:txBody>
      </p:sp>
      <p:sp>
        <p:nvSpPr>
          <p:cNvPr id="17" name="Text 15">
            <a:hlinkClick r:id="rId5" tooltip=""/>
          </p:cNvPr>
          <p:cNvSpPr txBox="1"/>
          <p:nvPr/>
        </p:nvSpPr>
        <p:spPr>
          <a:xfrm>
            <a:off x="1920240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ICS AUS consensus, NUU 2016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AP23</a:t>
            </a:r>
            <a:endParaRPr lang="en-US" sz="950" dirty="0"/>
          </a:p>
        </p:txBody>
      </p:sp>
      <p:sp>
        <p:nvSpPr>
          <p:cNvPr id="20" name="Text 18">
            <a:hlinkClick r:id="rId6" tooltip=""/>
          </p:cNvPr>
          <p:cNvSpPr txBox="1"/>
          <p:nvPr/>
        </p:nvSpPr>
        <p:spPr>
          <a:xfrm>
            <a:off x="1920240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Asia-Pacific AMS 800 consensus, 2023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CCIFU</a:t>
            </a:r>
            <a:endParaRPr lang="en-US" sz="950" dirty="0"/>
          </a:p>
        </p:txBody>
      </p:sp>
      <p:sp>
        <p:nvSpPr>
          <p:cNvPr id="23" name="Text 21">
            <a:hlinkClick r:id="rId7" tooltip=""/>
          </p:cNvPr>
          <p:cNvSpPr txBox="1"/>
          <p:nvPr/>
        </p:nvSpPr>
        <p:spPr>
          <a:xfrm>
            <a:off x="1920240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Rigicon ContiClassic IFU, REV.03, 2023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ICSUDS17</a:t>
            </a:r>
            <a:endParaRPr lang="en-US" sz="950" dirty="0"/>
          </a:p>
        </p:txBody>
      </p:sp>
      <p:sp>
        <p:nvSpPr>
          <p:cNvPr id="26" name="Text 24">
            <a:hlinkClick r:id="rId8" tooltip=""/>
          </p:cNvPr>
          <p:cNvSpPr txBox="1"/>
          <p:nvPr/>
        </p:nvSpPr>
        <p:spPr>
          <a:xfrm>
            <a:off x="1920240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ICS good urodynamic practices, 2017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10235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AUAOAB24</a:t>
            </a:r>
            <a:endParaRPr lang="en-US" sz="950" dirty="0"/>
          </a:p>
        </p:txBody>
      </p:sp>
      <p:sp>
        <p:nvSpPr>
          <p:cNvPr id="29" name="Text 27">
            <a:hlinkClick r:id="rId9" tooltip=""/>
          </p:cNvPr>
          <p:cNvSpPr txBox="1"/>
          <p:nvPr/>
        </p:nvSpPr>
        <p:spPr>
          <a:xfrm>
            <a:off x="1920240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AUA/SUFU idiopathic OAB guideline, 2024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52297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NICE</a:t>
            </a:r>
            <a:endParaRPr lang="en-US" sz="950" dirty="0"/>
          </a:p>
        </p:txBody>
      </p:sp>
      <p:sp>
        <p:nvSpPr>
          <p:cNvPr id="32" name="Text 30">
            <a:hlinkClick r:id="rId10" tooltip=""/>
          </p:cNvPr>
          <p:cNvSpPr txBox="1"/>
          <p:nvPr/>
        </p:nvSpPr>
        <p:spPr>
          <a:xfrm>
            <a:off x="1920240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NICE NG125: surgical site infection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278728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WHO09</a:t>
            </a:r>
            <a:endParaRPr lang="en-US" sz="950" dirty="0"/>
          </a:p>
        </p:txBody>
      </p:sp>
      <p:sp>
        <p:nvSpPr>
          <p:cNvPr id="34" name="Text 32">
            <a:hlinkClick r:id="rId11" tooltip=""/>
          </p:cNvPr>
          <p:cNvSpPr txBox="1"/>
          <p:nvPr/>
        </p:nvSpPr>
        <p:spPr>
          <a:xfrm>
            <a:off x="7558888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hand hygiene guidance, 2009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78728" y="215798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78728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CHLORA26</a:t>
            </a:r>
            <a:endParaRPr lang="en-US" sz="950" dirty="0"/>
          </a:p>
        </p:txBody>
      </p:sp>
      <p:sp>
        <p:nvSpPr>
          <p:cNvPr id="37" name="Text 35">
            <a:hlinkClick r:id="rId12" tooltip=""/>
          </p:cNvPr>
          <p:cNvSpPr txBox="1"/>
          <p:nvPr/>
        </p:nvSpPr>
        <p:spPr>
          <a:xfrm>
            <a:off x="7558888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ChloraPrep UK product information, 2026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78728" y="257860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78728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IDSA19</a:t>
            </a:r>
            <a:endParaRPr lang="en-US" sz="950" dirty="0"/>
          </a:p>
        </p:txBody>
      </p:sp>
      <p:sp>
        <p:nvSpPr>
          <p:cNvPr id="40" name="Text 38">
            <a:hlinkClick r:id="rId13" tooltip=""/>
          </p:cNvPr>
          <p:cNvSpPr txBox="1"/>
          <p:nvPr/>
        </p:nvSpPr>
        <p:spPr>
          <a:xfrm>
            <a:off x="7558888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IDSA asymptomatic bacteriuria, 2019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78728" y="299923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78728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AUAABX20</a:t>
            </a:r>
            <a:endParaRPr lang="en-US" sz="950" dirty="0"/>
          </a:p>
        </p:txBody>
      </p:sp>
      <p:sp>
        <p:nvSpPr>
          <p:cNvPr id="43" name="Text 41">
            <a:hlinkClick r:id="rId14" tooltip=""/>
          </p:cNvPr>
          <p:cNvSpPr txBox="1"/>
          <p:nvPr/>
        </p:nvSpPr>
        <p:spPr>
          <a:xfrm>
            <a:off x="7558888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antimicrobial prophylaxis, 2020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78728" y="341985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78728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CCSAFETY</a:t>
            </a:r>
            <a:endParaRPr lang="en-US" sz="950" dirty="0"/>
          </a:p>
        </p:txBody>
      </p:sp>
      <p:sp>
        <p:nvSpPr>
          <p:cNvPr id="46" name="Text 44">
            <a:hlinkClick r:id="rId15" tooltip=""/>
          </p:cNvPr>
          <p:cNvSpPr txBox="1"/>
          <p:nvPr/>
        </p:nvSpPr>
        <p:spPr>
          <a:xfrm>
            <a:off x="7558888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Wilson: ContiClassic safety, IJIR 2024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78728" y="3840480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78728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MASTER22</a:t>
            </a:r>
            <a:endParaRPr lang="en-US" sz="950" dirty="0"/>
          </a:p>
        </p:txBody>
      </p:sp>
      <p:sp>
        <p:nvSpPr>
          <p:cNvPr id="49" name="Text 47">
            <a:hlinkClick r:id="rId16" tooltip=""/>
          </p:cNvPr>
          <p:cNvSpPr txBox="1"/>
          <p:nvPr/>
        </p:nvSpPr>
        <p:spPr>
          <a:xfrm>
            <a:off x="7558888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 randomised trial, HTA 2022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78728" y="426110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78728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UDS09</a:t>
            </a:r>
            <a:endParaRPr lang="en-US" sz="950" dirty="0"/>
          </a:p>
        </p:txBody>
      </p:sp>
      <p:sp>
        <p:nvSpPr>
          <p:cNvPr id="52" name="Text 50">
            <a:hlinkClick r:id="rId17" tooltip=""/>
          </p:cNvPr>
          <p:cNvSpPr txBox="1"/>
          <p:nvPr/>
        </p:nvSpPr>
        <p:spPr>
          <a:xfrm>
            <a:off x="7558888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Lai: pre-AUS urodynamics, Urology 2009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78728" y="468172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78728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OAB11</a:t>
            </a:r>
            <a:endParaRPr lang="en-US" sz="950" dirty="0"/>
          </a:p>
        </p:txBody>
      </p:sp>
      <p:sp>
        <p:nvSpPr>
          <p:cNvPr id="55" name="Text 53">
            <a:hlinkClick r:id="rId18" tooltip=""/>
          </p:cNvPr>
          <p:cNvSpPr txBox="1"/>
          <p:nvPr/>
        </p:nvSpPr>
        <p:spPr>
          <a:xfrm>
            <a:off x="7558888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Lai: OAB and post-prostatectomy AUS, 2011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78728" y="510235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78728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DO24</a:t>
            </a:r>
            <a:endParaRPr lang="en-US" sz="950" dirty="0"/>
          </a:p>
        </p:txBody>
      </p:sp>
      <p:sp>
        <p:nvSpPr>
          <p:cNvPr id="58" name="Text 56">
            <a:hlinkClick r:id="rId19" tooltip=""/>
          </p:cNvPr>
          <p:cNvSpPr txBox="1"/>
          <p:nvPr/>
        </p:nvSpPr>
        <p:spPr>
          <a:xfrm>
            <a:off x="7558888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Bhatt: preoperative DO systematic review, 2024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78728" y="552297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278728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DOFAIL23</a:t>
            </a:r>
            <a:endParaRPr lang="en-US" sz="950" dirty="0"/>
          </a:p>
        </p:txBody>
      </p:sp>
      <p:sp>
        <p:nvSpPr>
          <p:cNvPr id="61" name="Text 59">
            <a:hlinkClick r:id="rId20" tooltip=""/>
          </p:cNvPr>
          <p:cNvSpPr txBox="1"/>
          <p:nvPr/>
        </p:nvSpPr>
        <p:spPr>
          <a:xfrm>
            <a:off x="7558888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Krughoff: earlier AUS failure, 2023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 2 of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DU23</a:t>
            </a:r>
            <a:endParaRPr lang="en-US" sz="95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1920240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Han: AUS with detrusor underactivity, 2023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5798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CIC23</a:t>
            </a:r>
            <a:endParaRPr lang="en-US" sz="950" dirty="0"/>
          </a:p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1920240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Krughoff: CIC after bulbar AUS, 2023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CATH13</a:t>
            </a:r>
            <a:endParaRPr lang="en-US" sz="950" dirty="0"/>
          </a:p>
        </p:txBody>
      </p:sp>
      <p:sp>
        <p:nvSpPr>
          <p:cNvPr id="11" name="Text 9">
            <a:hlinkClick r:id="rId3" tooltip=""/>
          </p:cNvPr>
          <p:cNvSpPr txBox="1"/>
          <p:nvPr/>
        </p:nvSpPr>
        <p:spPr>
          <a:xfrm>
            <a:off x="1920240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Seideman: prolonged catheterisation, 2013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UDS14</a:t>
            </a:r>
            <a:endParaRPr lang="en-US" sz="950" dirty="0"/>
          </a:p>
        </p:txBody>
      </p:sp>
      <p:sp>
        <p:nvSpPr>
          <p:cNvPr id="14" name="Text 12">
            <a:hlinkClick r:id="rId4" tooltip=""/>
          </p:cNvPr>
          <p:cNvSpPr txBox="1"/>
          <p:nvPr/>
        </p:nvSpPr>
        <p:spPr>
          <a:xfrm>
            <a:off x="1920240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Weissbart: absent leak during UDS, 2014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1985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RT22</a:t>
            </a:r>
            <a:endParaRPr lang="en-US" sz="950" dirty="0"/>
          </a:p>
        </p:txBody>
      </p:sp>
      <p:sp>
        <p:nvSpPr>
          <p:cNvPr id="17" name="Text 15">
            <a:hlinkClick r:id="rId5" tooltip=""/>
          </p:cNvPr>
          <p:cNvSpPr txBox="1"/>
          <p:nvPr/>
        </p:nvSpPr>
        <p:spPr>
          <a:xfrm>
            <a:off x="1920240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Zhang: radiation meta-analysis, 2022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URETH26</a:t>
            </a:r>
            <a:endParaRPr lang="en-US" sz="950" dirty="0"/>
          </a:p>
        </p:txBody>
      </p:sp>
      <p:sp>
        <p:nvSpPr>
          <p:cNvPr id="20" name="Text 18">
            <a:hlinkClick r:id="rId6" tooltip=""/>
          </p:cNvPr>
          <p:cNvSpPr txBox="1"/>
          <p:nvPr/>
        </p:nvSpPr>
        <p:spPr>
          <a:xfrm>
            <a:off x="1920240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Davis: AUS after urethroplasty, 2026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TC20</a:t>
            </a:r>
            <a:endParaRPr lang="en-US" sz="950" dirty="0"/>
          </a:p>
        </p:txBody>
      </p:sp>
      <p:sp>
        <p:nvSpPr>
          <p:cNvPr id="23" name="Text 21">
            <a:hlinkClick r:id="rId7" tooltip=""/>
          </p:cNvPr>
          <p:cNvSpPr txBox="1"/>
          <p:nvPr/>
        </p:nvSpPr>
        <p:spPr>
          <a:xfrm>
            <a:off x="1920240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Redmond: transcorporal fragile urethra, 2020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TC23</a:t>
            </a:r>
            <a:endParaRPr lang="en-US" sz="950" dirty="0"/>
          </a:p>
        </p:txBody>
      </p:sp>
      <p:sp>
        <p:nvSpPr>
          <p:cNvPr id="26" name="Text 24">
            <a:hlinkClick r:id="rId8" tooltip=""/>
          </p:cNvPr>
          <p:cNvSpPr txBox="1"/>
          <p:nvPr/>
        </p:nvSpPr>
        <p:spPr>
          <a:xfrm>
            <a:off x="1920240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Kurtzman: high-risk transcorporal AUS, 2023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10235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ATROPHY20</a:t>
            </a:r>
            <a:endParaRPr lang="en-US" sz="950" dirty="0"/>
          </a:p>
        </p:txBody>
      </p:sp>
      <p:sp>
        <p:nvSpPr>
          <p:cNvPr id="29" name="Text 27">
            <a:hlinkClick r:id="rId9" tooltip=""/>
          </p:cNvPr>
          <p:cNvSpPr txBox="1"/>
          <p:nvPr/>
        </p:nvSpPr>
        <p:spPr>
          <a:xfrm>
            <a:off x="1920240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Bergeson: urethral atrophy and revision, 2020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52297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PREP24</a:t>
            </a:r>
            <a:endParaRPr lang="en-US" sz="950" dirty="0"/>
          </a:p>
        </p:txBody>
      </p:sp>
      <p:sp>
        <p:nvSpPr>
          <p:cNvPr id="32" name="Text 30">
            <a:hlinkClick r:id="rId10" tooltip=""/>
          </p:cNvPr>
          <p:cNvSpPr txBox="1"/>
          <p:nvPr/>
        </p:nvSpPr>
        <p:spPr>
          <a:xfrm>
            <a:off x="1920240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Bourgi: AUS preparation protocols, 2024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278728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YEUNG13</a:t>
            </a:r>
            <a:endParaRPr lang="en-US" sz="950" dirty="0"/>
          </a:p>
        </p:txBody>
      </p:sp>
      <p:sp>
        <p:nvSpPr>
          <p:cNvPr id="34" name="Text 32">
            <a:hlinkClick r:id="rId11" tooltip=""/>
          </p:cNvPr>
          <p:cNvSpPr txBox="1"/>
          <p:nvPr/>
        </p:nvSpPr>
        <p:spPr>
          <a:xfrm>
            <a:off x="7558888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Yeung: GU skin preparation RCT, 2013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78728" y="215798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78728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ABX18</a:t>
            </a:r>
            <a:endParaRPr lang="en-US" sz="950" dirty="0"/>
          </a:p>
        </p:txBody>
      </p:sp>
      <p:sp>
        <p:nvSpPr>
          <p:cNvPr id="37" name="Text 35">
            <a:hlinkClick r:id="rId12" tooltip=""/>
          </p:cNvPr>
          <p:cNvSpPr txBox="1"/>
          <p:nvPr/>
        </p:nvSpPr>
        <p:spPr>
          <a:xfrm>
            <a:off x="7558888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Adamsky: postoperative antibiotics, 2018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78728" y="257860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78728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TOUCH23</a:t>
            </a:r>
            <a:endParaRPr lang="en-US" sz="950" dirty="0"/>
          </a:p>
        </p:txBody>
      </p:sp>
      <p:sp>
        <p:nvSpPr>
          <p:cNvPr id="40" name="Text 38">
            <a:hlinkClick r:id="rId13" tooltip=""/>
          </p:cNvPr>
          <p:cNvSpPr txBox="1"/>
          <p:nvPr/>
        </p:nvSpPr>
        <p:spPr>
          <a:xfrm>
            <a:off x="7558888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Ziegelmann: minimal-touch AUS, 2023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78728" y="299923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78728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LINDER15</a:t>
            </a:r>
            <a:endParaRPr lang="en-US" sz="950" dirty="0"/>
          </a:p>
        </p:txBody>
      </p:sp>
      <p:sp>
        <p:nvSpPr>
          <p:cNvPr id="43" name="Text 41">
            <a:hlinkClick r:id="rId14" tooltip=""/>
          </p:cNvPr>
          <p:cNvSpPr txBox="1"/>
          <p:nvPr/>
        </p:nvSpPr>
        <p:spPr>
          <a:xfrm>
            <a:off x="7558888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Linder: long-term AMS 800 outcomes, 2015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78728" y="341985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78728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AUSCO26</a:t>
            </a:r>
            <a:endParaRPr lang="en-US" sz="950" dirty="0"/>
          </a:p>
        </p:txBody>
      </p:sp>
      <p:sp>
        <p:nvSpPr>
          <p:cNvPr id="46" name="Text 44">
            <a:hlinkClick r:id="rId15" tooltip=""/>
          </p:cNvPr>
          <p:cNvSpPr txBox="1"/>
          <p:nvPr/>
        </p:nvSpPr>
        <p:spPr>
          <a:xfrm>
            <a:off x="7558888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Kaufman: AMS 800 AUSCO study, 2026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78728" y="3840480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78728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AUASTATUS26</a:t>
            </a:r>
            <a:endParaRPr lang="en-US" sz="950" dirty="0"/>
          </a:p>
        </p:txBody>
      </p:sp>
      <p:sp>
        <p:nvSpPr>
          <p:cNvPr id="49" name="Text 47">
            <a:hlinkClick r:id="rId16" tooltip=""/>
          </p:cNvPr>
          <p:cNvSpPr txBox="1"/>
          <p:nvPr/>
        </p:nvSpPr>
        <p:spPr>
          <a:xfrm>
            <a:off x="7558888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current guideline register, July 2026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78728" y="426110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78728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BAUSDAY26</a:t>
            </a:r>
            <a:endParaRPr lang="en-US" sz="950" dirty="0"/>
          </a:p>
        </p:txBody>
      </p:sp>
      <p:sp>
        <p:nvSpPr>
          <p:cNvPr id="52" name="Text 50">
            <a:hlinkClick r:id="rId17" tooltip=""/>
          </p:cNvPr>
          <p:cNvSpPr txBox="1"/>
          <p:nvPr/>
        </p:nvSpPr>
        <p:spPr>
          <a:xfrm>
            <a:off x="7558888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BAUS 2026 P4-8: day-case AUS audit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78728" y="468172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78728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BAUSSCI26</a:t>
            </a:r>
            <a:endParaRPr lang="en-US" sz="950" dirty="0"/>
          </a:p>
        </p:txBody>
      </p:sp>
      <p:sp>
        <p:nvSpPr>
          <p:cNvPr id="55" name="Text 53">
            <a:hlinkClick r:id="rId18" tooltip=""/>
          </p:cNvPr>
          <p:cNvSpPr txBox="1"/>
          <p:nvPr/>
        </p:nvSpPr>
        <p:spPr>
          <a:xfrm>
            <a:off x="7558888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BAUS 2026 P12-7: bulbar AUS in SCI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78728" y="510235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78728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AUAUDS26</a:t>
            </a:r>
            <a:endParaRPr lang="en-US" sz="950" dirty="0"/>
          </a:p>
        </p:txBody>
      </p:sp>
      <p:sp>
        <p:nvSpPr>
          <p:cNvPr id="58" name="Text 56">
            <a:hlinkClick r:id="rId19" tooltip=""/>
          </p:cNvPr>
          <p:cNvSpPr txBox="1"/>
          <p:nvPr/>
        </p:nvSpPr>
        <p:spPr>
          <a:xfrm>
            <a:off x="7558888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2026 IP09-22: pre-AUS UDS and cystoscopy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78728" y="552297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278728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AUAABX26</a:t>
            </a:r>
            <a:endParaRPr lang="en-US" sz="950" dirty="0"/>
          </a:p>
        </p:txBody>
      </p:sp>
      <p:sp>
        <p:nvSpPr>
          <p:cNvPr id="61" name="Text 59">
            <a:hlinkClick r:id="rId20" tooltip=""/>
          </p:cNvPr>
          <p:cNvSpPr txBox="1"/>
          <p:nvPr/>
        </p:nvSpPr>
        <p:spPr>
          <a:xfrm>
            <a:off x="7558888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2026 IP09-18: postoperative antibiotics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 3 of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AUASAFER26</a:t>
            </a:r>
            <a:endParaRPr lang="en-US" sz="95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1920240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AUA 2026 IP09-17: SAFER erosion management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5798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MASTER26</a:t>
            </a:r>
            <a:endParaRPr lang="en-US" sz="950" dirty="0"/>
          </a:p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1920240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MASTER: 24-month RCT results,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URETHMETA26</a:t>
            </a:r>
            <a:endParaRPr lang="en-US" sz="950" dirty="0"/>
          </a:p>
        </p:txBody>
      </p:sp>
      <p:sp>
        <p:nvSpPr>
          <p:cNvPr id="11" name="Text 9">
            <a:hlinkClick r:id="rId3" tooltip=""/>
          </p:cNvPr>
          <p:cNvSpPr txBox="1"/>
          <p:nvPr/>
        </p:nvSpPr>
        <p:spPr>
          <a:xfrm>
            <a:off x="1920240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Prior urethroplasty: meta-analysis, 2026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IRRIG26</a:t>
            </a:r>
            <a:endParaRPr lang="en-US" sz="950" dirty="0"/>
          </a:p>
        </p:txBody>
      </p:sp>
      <p:sp>
        <p:nvSpPr>
          <p:cNvPr id="14" name="Text 12">
            <a:hlinkClick r:id="rId4" tooltip=""/>
          </p:cNvPr>
          <p:cNvSpPr txBox="1"/>
          <p:nvPr/>
        </p:nvSpPr>
        <p:spPr>
          <a:xfrm>
            <a:off x="1920240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Gentamicin withdrawal: AMS 800 cohort, 2026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1985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DAYMETA26</a:t>
            </a:r>
            <a:endParaRPr lang="en-US" sz="950" dirty="0"/>
          </a:p>
        </p:txBody>
      </p:sp>
      <p:sp>
        <p:nvSpPr>
          <p:cNvPr id="17" name="Text 15">
            <a:hlinkClick r:id="rId5" tooltip=""/>
          </p:cNvPr>
          <p:cNvSpPr txBox="1"/>
          <p:nvPr/>
        </p:nvSpPr>
        <p:spPr>
          <a:xfrm>
            <a:off x="1920240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Day-case AUS meta-analysis: 2026 issue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DAYCASE26</a:t>
            </a:r>
            <a:endParaRPr lang="en-US" sz="950" dirty="0"/>
          </a:p>
        </p:txBody>
      </p:sp>
      <p:sp>
        <p:nvSpPr>
          <p:cNvPr id="20" name="Text 18">
            <a:hlinkClick r:id="rId6" tooltip=""/>
          </p:cNvPr>
          <p:cNvSpPr txBox="1"/>
          <p:nvPr/>
        </p:nvSpPr>
        <p:spPr>
          <a:xfrm>
            <a:off x="1920240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Day-case versus inpatient AUS: 177 men, 2026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FRAIL26</a:t>
            </a:r>
            <a:endParaRPr lang="en-US" sz="950" dirty="0"/>
          </a:p>
        </p:txBody>
      </p:sp>
      <p:sp>
        <p:nvSpPr>
          <p:cNvPr id="23" name="Text 21">
            <a:hlinkClick r:id="rId7" tooltip=""/>
          </p:cNvPr>
          <p:cNvSpPr txBox="1"/>
          <p:nvPr/>
        </p:nvSpPr>
        <p:spPr>
          <a:xfrm>
            <a:off x="1920240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Frailty and SUI surgery: Medicare cohort, 2026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PAD26</a:t>
            </a:r>
            <a:endParaRPr lang="en-US" sz="950" dirty="0"/>
          </a:p>
        </p:txBody>
      </p:sp>
      <p:sp>
        <p:nvSpPr>
          <p:cNvPr id="26" name="Text 24">
            <a:hlinkClick r:id="rId8" tooltip=""/>
          </p:cNvPr>
          <p:cNvSpPr txBox="1"/>
          <p:nvPr/>
        </p:nvSpPr>
        <p:spPr>
          <a:xfrm>
            <a:off x="1920240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Pad count versus 24-hour weight: 2026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10235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1023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PRBFAT26</a:t>
            </a:r>
            <a:endParaRPr lang="en-US" sz="950" dirty="0"/>
          </a:p>
        </p:txBody>
      </p:sp>
      <p:sp>
        <p:nvSpPr>
          <p:cNvPr id="29" name="Text 27">
            <a:hlinkClick r:id="rId9" tooltip=""/>
          </p:cNvPr>
          <p:cNvSpPr txBox="1"/>
          <p:nvPr/>
        </p:nvSpPr>
        <p:spPr>
          <a:xfrm>
            <a:off x="1920240" y="510235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PRB material fatigue: 2026 issue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52297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522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REGRET26</a:t>
            </a:r>
            <a:endParaRPr lang="en-US" sz="950" dirty="0"/>
          </a:p>
        </p:txBody>
      </p:sp>
      <p:sp>
        <p:nvSpPr>
          <p:cNvPr id="32" name="Text 30">
            <a:hlinkClick r:id="rId10" tooltip=""/>
          </p:cNvPr>
          <p:cNvSpPr txBox="1"/>
          <p:nvPr/>
        </p:nvSpPr>
        <p:spPr>
          <a:xfrm>
            <a:off x="1920240" y="552297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Long-term decisional regret after AUS, 2026 issue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278728" y="17373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INSTR26</a:t>
            </a:r>
            <a:endParaRPr lang="en-US" sz="950" dirty="0"/>
          </a:p>
        </p:txBody>
      </p:sp>
      <p:sp>
        <p:nvSpPr>
          <p:cNvPr id="34" name="Text 32">
            <a:hlinkClick r:id="rId11" tooltip=""/>
          </p:cNvPr>
          <p:cNvSpPr txBox="1"/>
          <p:nvPr/>
        </p:nvSpPr>
        <p:spPr>
          <a:xfrm>
            <a:off x="7558888" y="173736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AUS instrumentation knowledge survey, 2026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78728" y="215798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78728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EROSION26</a:t>
            </a:r>
            <a:endParaRPr lang="en-US" sz="950" dirty="0"/>
          </a:p>
        </p:txBody>
      </p:sp>
      <p:sp>
        <p:nvSpPr>
          <p:cNvPr id="37" name="Text 35">
            <a:hlinkClick r:id="rId12" tooltip=""/>
          </p:cNvPr>
          <p:cNvSpPr txBox="1"/>
          <p:nvPr/>
        </p:nvSpPr>
        <p:spPr>
          <a:xfrm>
            <a:off x="7558888" y="215798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Immediate urethral repair at explantation, 2026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78728" y="257860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78728" y="2578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DEVICE26</a:t>
            </a:r>
            <a:endParaRPr lang="en-US" sz="950" dirty="0"/>
          </a:p>
        </p:txBody>
      </p:sp>
      <p:sp>
        <p:nvSpPr>
          <p:cNvPr id="40" name="Text 38">
            <a:hlinkClick r:id="rId13" tooltip=""/>
          </p:cNvPr>
          <p:cNvSpPr txBox="1"/>
          <p:nvPr/>
        </p:nvSpPr>
        <p:spPr>
          <a:xfrm>
            <a:off x="7558888" y="257860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Emerging AUS devices review, 2026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78728" y="299923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78728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SECOND26</a:t>
            </a:r>
            <a:endParaRPr lang="en-US" sz="950" dirty="0"/>
          </a:p>
        </p:txBody>
      </p:sp>
      <p:sp>
        <p:nvSpPr>
          <p:cNvPr id="43" name="Text 41">
            <a:hlinkClick r:id="rId14" tooltip=""/>
          </p:cNvPr>
          <p:cNvSpPr txBox="1"/>
          <p:nvPr/>
        </p:nvSpPr>
        <p:spPr>
          <a:xfrm>
            <a:off x="7558888" y="2999232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Second AUS survival: national French cohort, 2026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78728" y="3419856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78728" y="34198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TCSYS25</a:t>
            </a:r>
            <a:endParaRPr lang="en-US" sz="950" dirty="0"/>
          </a:p>
        </p:txBody>
      </p:sp>
      <p:sp>
        <p:nvSpPr>
          <p:cNvPr id="46" name="Text 44">
            <a:hlinkClick r:id="rId15" tooltip=""/>
          </p:cNvPr>
          <p:cNvSpPr txBox="1"/>
          <p:nvPr/>
        </p:nvSpPr>
        <p:spPr>
          <a:xfrm>
            <a:off x="7558888" y="3419856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Transcorporal systematic review, online 2025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78728" y="3840480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78728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RTTIME25</a:t>
            </a:r>
            <a:endParaRPr lang="en-US" sz="950" dirty="0"/>
          </a:p>
        </p:txBody>
      </p:sp>
      <p:sp>
        <p:nvSpPr>
          <p:cNvPr id="49" name="Text 47">
            <a:hlinkClick r:id="rId16" tooltip=""/>
          </p:cNvPr>
          <p:cNvSpPr txBox="1"/>
          <p:nvPr/>
        </p:nvSpPr>
        <p:spPr>
          <a:xfrm>
            <a:off x="7558888" y="3840480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Radiation and cuff-removal timing cohort, 2025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78728" y="4261104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78728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UROACTIVE26</a:t>
            </a:r>
            <a:endParaRPr lang="en-US" sz="950" dirty="0"/>
          </a:p>
        </p:txBody>
      </p:sp>
      <p:sp>
        <p:nvSpPr>
          <p:cNvPr id="52" name="Text 50">
            <a:hlinkClick r:id="rId17" tooltip=""/>
          </p:cNvPr>
          <p:cNvSpPr txBox="1"/>
          <p:nvPr/>
        </p:nvSpPr>
        <p:spPr>
          <a:xfrm>
            <a:off x="7558888" y="4261104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 AUS: first-in-human study, 2026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78728" y="4681728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78728" y="46817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F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REPORT26</a:t>
            </a:r>
            <a:endParaRPr lang="en-US" sz="950" dirty="0"/>
          </a:p>
        </p:txBody>
      </p:sp>
      <p:sp>
        <p:nvSpPr>
          <p:cNvPr id="55" name="Text 53">
            <a:hlinkClick r:id="rId18" tooltip=""/>
          </p:cNvPr>
          <p:cNvSpPr txBox="1"/>
          <p:nvPr/>
        </p:nvSpPr>
        <p:spPr>
          <a:xfrm>
            <a:off x="7558888" y="4681728"/>
            <a:ext cx="399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Standardised complication reporting: 2026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78728" y="5102352"/>
            <a:ext cx="5272888" cy="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urinary sphincter surgery</dc:title>
  <dc:subject>Patient selection, difficult bladders and difficult urethras</dc:subject>
  <dc:creator>Mr Andrew Baird, Mr Abu Yousif, Nity G</dc:creator>
  <cp:lastModifiedBy>Mr Andrew Baird, Mr Abu Yousif, Nity G</cp:lastModifiedBy>
  <cp:revision>1</cp:revision>
  <dcterms:created xsi:type="dcterms:W3CDTF">2026-10-20T12:32:38Z</dcterms:created>
  <dcterms:modified xsi:type="dcterms:W3CDTF">2026-10-20T12:32:38Z</dcterms:modified>
</cp:coreProperties>
</file>