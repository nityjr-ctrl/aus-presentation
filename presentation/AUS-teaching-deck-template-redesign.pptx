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6.xml" ContentType="application/vnd.openxmlformats-officedocument.drawingml.chart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embeddedFontLst>
    <p:embeddedFont>
      <p:font typeface="Calibri" panose="020F0502020204030204" pitchFamily="34" charset="0"/>
      <p:regular r:id="rIdTemplateFont0"/>
      <p:bold r:id="rIdTemplateFont1"/>
      <p:italic r:id="rIdTemplateFont2"/>
      <p:boldItalic r:id="rIdTemplateFont3"/>
    </p:embeddedFont>
    <p:embeddedFont>
      <p:font typeface="Plus Jakarta Sans" pitchFamily="2" charset="0"/>
      <p:regular r:id="rIdTemplateFont4"/>
      <p:bold r:id="rIdTemplateFont5"/>
      <p:italic r:id="rIdTemplateFont6"/>
      <p:boldItalic r:id="rIdTemplateFont7"/>
    </p:embeddedFont>
    <p:embeddedFont>
      <p:font typeface="Plus Jakarta Sans Light" pitchFamily="2" charset="0"/>
      <p:regular r:id="rIdTemplateFont8"/>
      <p:bold r:id="rIdTemplateFont9"/>
      <p:italic r:id="rIdTemplateFont10"/>
      <p:boldItalic r:id="rIdTemplateFont11"/>
    </p:embeddedFont>
    <p:embeddedFont>
      <p:font typeface="Plus Jakarta Sans Medium" pitchFamily="2" charset="0"/>
      <p:regular r:id="rIdTemplateFont12"/>
      <p:bold r:id="rIdTemplateFont13"/>
      <p:italic r:id="rIdTemplateFont14"/>
      <p:boldItalic r:id="rIdTemplateFont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3f2c6ae-b444-4933-30d6-30475369db76}">
          <p14:sldIdLst>
            <p14:sldId id="256"/>
          </p14:sldIdLst>
        </p14:section>
        <p14:section name="Decide before theatre" id="{6070bb79-00b1-7a0c-6125-5a828e7b74b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The bladder" id="{61773d22-27ff-29ae-f473-9412c55eb469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The urethra" id="{b69dc671-0046-d10b-1cf6-92c521db16ca}">
          <p14:sldIdLst>
            <p14:sldId id="273"/>
            <p14:sldId id="274"/>
            <p14:sldId id="275"/>
            <p14:sldId id="276"/>
            <p14:sldId id="277"/>
          </p14:sldIdLst>
        </p14:section>
        <p14:section name="Preparation without ritual" id="{6a459672-96c3-7d65-7a6b-9f68efa04f95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The operation" id="{55e960d0-9841-9ce3-fbe0-f68d42741983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After the implant" id="{236fb9f5-268d-3a8b-74c3-5e4107309c55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Backup and references" id="{eaafa765-6591-3903-931a-74df70350c1d}">
          <p14:sldIdLst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TemplateFont0" Type="http://schemas.openxmlformats.org/officeDocument/2006/relationships/font" Target="fonts/template-font1.fntdata"/><Relationship Id="rIdTemplateFont1" Type="http://schemas.openxmlformats.org/officeDocument/2006/relationships/font" Target="fonts/template-font2.fntdata"/><Relationship Id="rIdTemplateFont2" Type="http://schemas.openxmlformats.org/officeDocument/2006/relationships/font" Target="fonts/template-font3.fntdata"/><Relationship Id="rIdTemplateFont3" Type="http://schemas.openxmlformats.org/officeDocument/2006/relationships/font" Target="fonts/template-font4.fntdata"/><Relationship Id="rIdTemplateFont4" Type="http://schemas.openxmlformats.org/officeDocument/2006/relationships/font" Target="fonts/template-font5.fntdata"/><Relationship Id="rIdTemplateFont5" Type="http://schemas.openxmlformats.org/officeDocument/2006/relationships/font" Target="fonts/template-font6.fntdata"/><Relationship Id="rIdTemplateFont6" Type="http://schemas.openxmlformats.org/officeDocument/2006/relationships/font" Target="fonts/template-font7.fntdata"/><Relationship Id="rIdTemplateFont7" Type="http://schemas.openxmlformats.org/officeDocument/2006/relationships/font" Target="fonts/template-font8.fntdata"/><Relationship Id="rIdTemplateFont8" Type="http://schemas.openxmlformats.org/officeDocument/2006/relationships/font" Target="fonts/template-font9.fntdata"/><Relationship Id="rIdTemplateFont9" Type="http://schemas.openxmlformats.org/officeDocument/2006/relationships/font" Target="fonts/template-font10.fntdata"/><Relationship Id="rIdTemplateFont10" Type="http://schemas.openxmlformats.org/officeDocument/2006/relationships/font" Target="fonts/template-font11.fntdata"/><Relationship Id="rIdTemplateFont11" Type="http://schemas.openxmlformats.org/officeDocument/2006/relationships/font" Target="fonts/template-font12.fntdata"/><Relationship Id="rIdTemplateFont12" Type="http://schemas.openxmlformats.org/officeDocument/2006/relationships/font" Target="fonts/template-font13.fntdata"/><Relationship Id="rIdTemplateFont13" Type="http://schemas.openxmlformats.org/officeDocument/2006/relationships/font" Target="fonts/template-font14.fntdata"/><Relationship Id="rIdTemplateFont14" Type="http://schemas.openxmlformats.org/officeDocument/2006/relationships/font" Target="fonts/template-font15.fntdata"/><Relationship Id="rIdTemplateFont15" Type="http://schemas.openxmlformats.org/officeDocument/2006/relationships/font" Target="fonts/template-font16.fntdata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Pressure</c:v>
                </c:pt>
              </c:strCache>
            </c:strRef>
          </c:tx>
          <c:spPr>
            <a:solidFill>
              <a:srgbClr val="05C489"/>
            </a:solidFill>
            <a:ln w="38100" cap="flat">
              <a:solidFill>
                <a:srgbClr val="05C48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lus Jakarta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5C489"/>
              </a:solidFill>
              <a:ln w="9525" cap="flat">
                <a:solidFill>
                  <a:srgbClr val="05C489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0.4</c:v>
                </c:pt>
                <c:pt idx="4">
                  <c:v>2.8</c:v>
                </c:pt>
                <c:pt idx="5">
                  <c:v>7</c:v>
                </c:pt>
                <c:pt idx="6">
                  <c:v>1.2</c:v>
                </c:pt>
                <c:pt idx="7">
                  <c:v>0.4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Plus Jakarta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BFBFBF"/>
                    </a:solidFill>
                    <a:latin typeface="Plus Jakarta Sans"/>
                  </a:defRPr>
                </a:pPr>
                <a:r>
                  <a:rPr sz="1000" b="0" i="0" u="none" strike="noStrike">
                    <a:solidFill>
                      <a:srgbClr val="BFBFBF"/>
                    </a:solidFill>
                    <a:latin typeface="Plus Jakarta Sans"/>
                  </a:rPr>
                  <a:t>Increasing filling volume →  (arbitrary units)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C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FBFBF"/>
                </a:solidFill>
                <a:latin typeface="Plus Jakarta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BFBFBF"/>
                    </a:solidFill>
                    <a:latin typeface="Plus Jakarta Sans"/>
                  </a:defRPr>
                </a:pPr>
                <a:r>
                  <a:rPr sz="1000" b="0" i="0" u="none" strike="noStrike">
                    <a:solidFill>
                      <a:srgbClr val="BFBFBF"/>
                    </a:solidFill>
                    <a:latin typeface="Plus Jakarta Sans"/>
                  </a:rPr>
                  <a:t>Pressure ↑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FCFC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FBFBF"/>
                </a:solidFill>
                <a:latin typeface="Plus Jakarta San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2D2D2D"/>
        </a:solidFill>
        <a:ln>
          <a:noFill/>
        </a:ln>
        <a:effectLst/>
      </c:spPr>
    </c:plotArea>
    <c:plotVisOnly val="1"/>
    <c:dispBlanksAs val="span"/>
  </c:chart>
  <c:spPr>
    <a:solidFill>
      <a:srgbClr val="2D2D2D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Pressure</c:v>
                </c:pt>
              </c:strCache>
            </c:strRef>
          </c:tx>
          <c:spPr>
            <a:solidFill>
              <a:srgbClr val="FF8500"/>
            </a:solidFill>
            <a:ln w="38100" cap="flat">
              <a:solidFill>
                <a:srgbClr val="FF85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lus Jakarta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8500"/>
              </a:solidFill>
              <a:ln w="9525" cap="flat">
                <a:solidFill>
                  <a:srgbClr val="FF850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0.3</c:v>
                </c:pt>
                <c:pt idx="2">
                  <c:v>0.7</c:v>
                </c:pt>
                <c:pt idx="3">
                  <c:v>1.2</c:v>
                </c:pt>
                <c:pt idx="4">
                  <c:v>1.8</c:v>
                </c:pt>
                <c:pt idx="5">
                  <c:v>2.6</c:v>
                </c:pt>
                <c:pt idx="6">
                  <c:v>3.5</c:v>
                </c:pt>
                <c:pt idx="7">
                  <c:v>4.6</c:v>
                </c:pt>
                <c:pt idx="8">
                  <c:v>5.8</c:v>
                </c:pt>
                <c:pt idx="9">
                  <c:v>7.2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Plus Jakarta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BFBFBF"/>
                    </a:solidFill>
                    <a:latin typeface="Plus Jakarta Sans"/>
                  </a:defRPr>
                </a:pPr>
                <a:r>
                  <a:rPr sz="1000" b="0" i="0" u="none" strike="noStrike">
                    <a:solidFill>
                      <a:srgbClr val="BFBFBF"/>
                    </a:solidFill>
                    <a:latin typeface="Plus Jakarta Sans"/>
                  </a:rPr>
                  <a:t>Increasing filling volume →  (arbitrary units)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C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FBFBF"/>
                </a:solidFill>
                <a:latin typeface="Plus Jakarta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BFBFBF"/>
                    </a:solidFill>
                    <a:latin typeface="Plus Jakarta Sans"/>
                  </a:defRPr>
                </a:pPr>
                <a:r>
                  <a:rPr sz="1000" b="0" i="0" u="none" strike="noStrike">
                    <a:solidFill>
                      <a:srgbClr val="BFBFBF"/>
                    </a:solidFill>
                    <a:latin typeface="Plus Jakarta Sans"/>
                  </a:rPr>
                  <a:t>Pressure ↑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FCFC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FBFBF"/>
                </a:solidFill>
                <a:latin typeface="Plus Jakarta San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2D2D2D"/>
        </a:solidFill>
        <a:ln>
          <a:noFill/>
        </a:ln>
        <a:effectLst/>
      </c:spPr>
    </c:plotArea>
    <c:plotVisOnly val="1"/>
    <c:dispBlanksAs val="span"/>
  </c:chart>
  <c:spPr>
    <a:solidFill>
      <a:srgbClr val="2D2D2D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cultures</c:v>
                </c:pt>
              </c:strCache>
            </c:strRef>
          </c:tx>
          <c:spPr>
            <a:solidFill>
              <a:srgbClr val="05C48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Plus Jakarta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C4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500"/>
              </a:solidFill>
              <a:effectLst/>
            </c:spPr>
          </c:dPt>
          <c:cat>
            <c:strRef>
              <c:f>Sheet1!$A$2:$A$3</c:f>
              <c:strCache>
                <c:ptCount val="2"/>
                <c:pt idx="0">
                  <c:v>Chlorhexidine–alcohol</c:v>
                </c:pt>
                <c:pt idx="1">
                  <c:v>Povidone–iodine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FFFFFF"/>
                  </a:solidFill>
                  <a:latin typeface="Plus Jakarta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CF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Plus Jakarta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CFCFC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FBFBF"/>
                </a:solidFill>
                <a:latin typeface="Plus Jakarta San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2D2D2D"/>
        </a:solidFill>
        <a:ln>
          <a:noFill/>
        </a:ln>
        <a:effectLst/>
      </c:spPr>
    </c:plotArea>
    <c:plotVisOnly val="1"/>
    <c:dispBlanksAs val="span"/>
  </c:chart>
  <c:spPr>
    <a:solidFill>
      <a:srgbClr val="2D2D2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Welcome the room, introduce the presenters, hand to the first section.
Image: UroOps 3D teaching schematic of the implanted device, captured from https://uroops3d.com/lab/aus on 10 October 2026, with clinical review pending. It is not a record of an actual operation. No personal operative experience or local outcomes are asserted.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slide. Read the title, say the one-line question, move on.
Our first question for every man: can he get useful continence, keep his bladder safe, empty it, and work the device?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/ 36 · The decision before theatre
• An AUS can work perfectly and still disappoint: the cuff closes, the pump works, and he still stays at home.
• Today we follow the decisions that separate a good result from a disappointing one: what he wants, then the bladder, then the urethra.
• One question keeps coming back, in four words: implant now, treat something else first, investigate more, or reconsider.
• We will test it on four fictional patients, and hand the decision to you each time.
• Next: before we lean on any evidence, let us be honest about what kind of evidence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/ 36 · Evidence and device boundaries
• Thank you to Rigicon for organising the meeting; the clinical discussion stays independent of the sponsor.
• Guidelines give us a pathway. Experts agreeing is not a trial.
• A manufacturer's instructions say how to use a product, not whether it beats another one.
• BAUS sets out the UK pathway; we compare it with EAU and AUA where they differ. ICS and Asia-Pacific are AMS 800 documents.
• Where the evidence stops, we will say so. Next: start where the patient starts, with the leak.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/ 36 · Leakage mechanism and patient goals
• Start with a bad day. Standing, walking, coughing? Does an urge come first? Dry at night?
• "Mixed" is a description, not an explanation. Show the stress leak with a full bladder and a cough.
• Pad count is easy, but two to four pads a day covers a huge range. Weigh the pads over 24 hours when you are not sure.
• Then ask what improvement would be worth an operation: the golf course, work, one pad.
• Next: once we know what he wants back, the question is when, and whether an AUS is the only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/ 36 · Timing after prostate treatment
• Do not let conservative treatment drift, and do not interrupt a recovery that is still happening.
• BAUS: wait at least six months for severe leakage, twelve for mild or moderate. Severe means over 400 grams in 24 hours on the Nitti scale; mild is under 100.
• AUA: from six months if it is bothersome and not improving; offer surgery at one year.
• A sling still suits milder leakage and good tissue. Radiotherapy and severe leakage push towards an AUS.
• MASTER at 24 months: the sling was still non-inferior, but further surgery was eleven per cent after a sling, two after an AUS. After a sling that mostly meant an AUS; after an AUS, a mechanical revision.
• Equal on one measure is not equal for everyone: men with a previous implant or an untreated narrowing were excluded.
• Next: timing assumes he can use the device. We check that by watching, not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/ 36 · Pump use over time
• Put a demonstration pump in his hand and watch. Arthritis, tremor and a weak pinch only show when he tries.
• Reach matters as much as strength: can he reach the chosen side of the scrotum while sitting?
• Check he understands cycling, switching off, and what to tell the next doctor before any catheter.
• Frailty is more than age: in the Medicare cohort it raised early complications and later revision, independently of age.
• That frailty was scored from billing codes, not examined, so it says frailty matters, not how to test it.
• Next: with the patient assessed, two investigations change the plan most often. First, the cystoscope.
Image source: Rigicon ContiClassic IFU, CC-IFU REV.03, 12 October 2023, printed page 1 (PDF page 4). https://www.rigicon.com/files/e-labeling/ContiClassic-IFU.pdf . Manufacturer illustration, shown for component identification, without a comparative superiority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 / 36 · Flexible cystoscopy before implantation
• AUA: a cystoscopy before any stress-incontinence operation. EAU: scope when it would change the plan.
• BAUS: video-urodynamics for every candidate, and a scope only when a narrowing is suspected or the dipstick shows blood. No video? Then urodynamics plus a scope for everyone.
• Our preference is to look in advance, so a surprise is discussed before the day of surgery.
• We are looking for a stricture, a narrowing at the anastomosis or bladder neck, old erosion, foreign material, stones, tumour, radiation change.
• If there is a narrowing, add flow, residual, site and length. Do not turn a diagnostic scope into an unplanned dilation.
• Why not? A dilation is a treatment: it resets the six-month clock, tears the scar before we have measured it, and costs tissue a cuff may need.
• Next: the second investigation is where the guidelines really disagree, so we name the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 / 36 · Urodynamics: BAUS, EAU and AUA
• BAUS: video-urodynamics for every candidate. EAU: urodynamics before invasive treatment, but only weakly. AUA: when it would change the diagnosis or the counselling.
• Most useful when the stress leak is uncertain, urgency dominates, emptying is poor or compliance worries us.
• Before you order it, say what question it should answer and what result would change the plan.
• No trial shows that testing every man improves AUS results. The 2026 AUA abstract looks again; its results are not published.
• Next: whichever route you follow, the study that comes back will be imperfect. Here is how we read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 / 36 · Interpreting an imperfect study
• A man who leaks all the way through filling never gets a real storage test: a small capacity may be leakage, not a stiff bladder.
• Look at the traces, the subtraction, the filling rate and why filling stopped. A compliance number printed during artefact means nothing.
• Weissbart: 32 of 169 men did not leak with the catheter in, and every one leaked once it came out.
• Five steps: symptoms and a shown stress leak; urine, diary, flow, residual; the urethral anatomy; the urodynamic strategy; then classify storage, emptying and outlet.
• Next: when the assessment is complete, we consent, and consent is where numbers need their denominators.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 / 36 · Consent: improvement and lifetime burden
• Consent covers residual leakage, urgency, erosion, infection, mechanical failure and revision.
• AUSCO, AMS 800: 61 of 101 men used no pads at twelve months. Manufacturer-funded, no comparison group, missing data.
• ContiClassic: 93.2 per cent device survival at twelve months in 116 men. The device working, not the man dry; no comparison group.
• The regret study: needing another operation was the only independent predictor of regret, and benefit faded with time. Future surgery goes into consent from the start.
• Next: that is the decision before theatre. Our first fictional patient puts it to work, and the decision is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slide. Read the title, say the one-line question, move on.
Three bladder problems, three different decisions: an overactive bladder, a weak bladder, and a bladder that stores at high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/ 36 · Case 1: six pads and urgency
• Six pads on an active day, an obvious stress leak, urgency leak with detrusor overactivity, safe pressures, good emptying, open urethra.
• Implant now or treat the bladder first? [Pause eight seconds.]
• Overactive bladder is symptoms; DO is what we see on the trace. The systematic review found no good reason to refuse surgery for DO alone.
• It does not promise the urgency settles; in one reintervention group, DO went with earlier reintervention.
• Our approach: treat the storage symptoms, agree urgency is a separate goal, reassess. For ContiClassic the instructions require the bladder condition controlled or resolved.
• Next: so how do we treat that urgency without creating an emptying problem?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/ 36 · Urgency treatment and emptying
• Reversible things first: fluids, caffeine, constipation, infection, medication. Then bladder training and a drug chosen for his memory and his residual.
• Botulinum toxin works for stubborn urgency, but could he catheterise, and how would repeat injections pass a future cuff?
• Lai: most men with mixed symptoms still had urgency after a successful AUS. Fixing one is not failure in the other, if discussed.
• Severe urgency after surgery gets checked: infection, residual, device problems, before more drugs.
• Next: our second patient has the opposite problem. He cannot empty well even before a cuff.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/ 36 · Case 2: weak contraction and residual urine
• An obvious stress leak, but he voids slowly, strains and leaves urine behind; the study shows a weak contraction.
• Is that enough to refuse him an AUS? [Pause eight seconds.]
• First rule out a narrowing, check his drugs and his nerves, and compare the lab void with how he voids at home.
• The weak-bladder cohort looked reasonable, but it left out early revisions and does not stretch to severe retention.
• An AUS is not like a sling. A sling adds resistance that never goes away; the cuff opens when he presses the pump, so he voids through an open urethra.
• Our answer: investigate and set up a reliable emptying plan. If it holds, an implant may be reasonable; if he cannot empty or manage the rescue plan, reconsider.
• Next: if his rescue plan is a catheter, we must be clear what catheterising through a cuff involves.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/ 36 · Catheterisation with a cuff in place
• Self-catheterisation does not rule out an AUS, but it changes the consent and the operation.
• First ask why he catheterises: a weak bladder, a narrowing coming back, or an outlet problem to fix first?
• The rule: cuff fully deflated, device switched off, gentlest instrument, stop at resistance you cannot explain.
• The picture: the number on the box is the empty, deflated cuff. In the patient the urethral wall fills it, and only the small lumen is left for a catheter. Choose the catheter for the urethra, not the cuff.
• A 2026 survey found real gaps in confidence on exactly this step. Long catheterisation is linked with erosion, so repeated or long drainage needs a specialist plan.
• Next: one bladder problem can look like success. A dry patient can still be unsafe.
Figure: original two-panel schematic drawn for this slide on 20 October 2026 (presentation/assets/cuff-bore-schematic.png, drawn by design/cuff_bore_figure.py; provenance in assets/SOURCES.md). Diagrammatic cross-sections, not to scale; no device dimensions or catheter sizes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/ 36 · Detrusor overactivity and poor compliance
• Poor compliance means the pressure keeps rising as the bladder fills, not just a contraction. Left: a brief contraction. Right: a steady rise.
• Check the trace: a sustained rise, a proper fill, valid subtraction. Think radiotherapy, scarring, nerves, years of leaking.
• Check the kidneys and upper tracts when storage pressure worries you; treat the bladder and repeat the test before making the outlet tighter.
• Lai 2009: pad results can look good while poor compliance still threatens the kidneys.
• Our four decisions are now clear: implant, treat first, investigate, reconsider. A way of thinking, not a score.
• Next: that closes the bladder. The urethra is next, and the first job is to name the narrowing.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slide. Read the title, say the one-line question, move on.
Name the narrowing, prove the outlet is stable, and plan the tissue the cuff will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/ 36 · Reassessment and urethral stability
• BAUS: at least six months with no recurrence after treating a narrowing after prostatectomy. Consensus, not a trial.
• AUA: a check scope at least four to six weeks after treating a bladder-neck or anastomotic narrowing, as a point to reassess, not a clearance.
• EAU: three to six months after a redo anastomosis, and only for that situation.
• Treat first and implant later lets us watch for recurrence and spares a new cuff from instruments. Doing both at once is for selected expert hands.
• A man who re-narrows every few weeks is not low risk because the calendar reached a date.
• Next: our third patient brings all of this together, with radiotherapy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/ 36 · Case 3: radiation and recurrent VUAS
• Prostatectomy, salvage radiotherapy, repeated treatment of a narrowing at the anastomosis. Open, he leaks; then it closes again. He wants to be dry now.
• Would you put an AUS into that? [Pause six seconds.]
• Our answer: hold off and get a reconstructive plan. The urethra does not stay open on its own; check compliance and radiation cystitis too.
• Radiotherapy roughly doubles the odds of erosion in pooled studies. That is counselling, not his personal number. The 2025 timing study sets no waiting rule.
• Reconstruction, proven stability, then an AUS may be reasonable. In a ruined outlet with an unsafe bladder, diversion can be the better life.
• Next: suppose he gets his reconstruction. What does a repaired urethra mean for the later operation?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/ 36 · AUS after urethral reconstruction
• A previous urethroplasty is several different operations: cut across or not, graft, posterior repair, old erosion, fistula. Where is the healthy spongy tissue now?
• Keep what is left, do not free the urethra through a repair, and stage the operation if there is no safe plane.
• Davis: device removal in 56 per cent after a repair that cut the urethra across, versus 24 per cent after one that did not. The 2026 meta-analysis points the same way.
• Observational and muddied by the worst cases; it supports a detailed history and careful counselling, not blame.
• Plan the reconstruction and the continence surgery together. Next: when the plane behind the urethra is hostile, one option goes through the corpora. It has a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/ 36 · Transcorporal placement: role and costs
• Transcorporal placement passes the cuff through the erectile bodies behind the urethra, avoiding a dangerous plane and putting tough tissue under the cuff. Sensible, but not proven protection.
• The data point both ways: Redmond favoured it on the numbers; Kurtzman found more erosions and infections; the 2025 review pooled less erosion but more revision.
• Surgeons choose it for the worst urethras, so the comparison is muddied in both directions.
• Discuss bleeding, erections and any future penile implant. Size the cuff by the device method, with no home-made correction.
• If the plan is just to squeeze a failing urethra harder, look again at the diagnosis and the aim.
• Next: now a different kind of decision, the things we do before the skin is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slide. Read the title, say the one-line question, move on.
Before we argue about how long anything takes, we say which activity, which product, and what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/ 36 · The fifteen-minute wash question
• Is a fifteen-minute wash needed before an AUS? We found no evidence for a rule like that.
• First say which activity: the patient's wash, the skin preparation, the team's hands, the washout, the device dip. Each has its own instruction.
• BAUS recommends a five-minute field scrub, by consensus, borrowed openly from other implant surgery. Not fifteen minutes.
• Fifteen minutes does not make up for missed skin, the wrong product, pooled alcohol or a contaminated field. Correct and repeatable beats long.
• Next: what the studies can actually support is narrower than the folklore, and here is the best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/ 36 · Skin culture reduction and clinical infection
• Yeung: 100 men having their first genitourinary implant; positive skin cultures 8 per cent with chlorhexidine-alcohol, 32 with povidone-iodine.
• A laboratory measure, in a mix of devices. It did not show fewer AUS infections, and it tested no duration.
• The later povidone comparison showed no advantage for the intensive protocol, and never compared fifteen minutes with shorter.
• Use an alcohol-based preparation where the product allows; check allergy, permitted sites and full drying before diathermy.
• Do not remove hair routinely; clip on the day if you must. Next: skin is one disagreement. Urine and antibiotics are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/ 36 · Urine and antibiotic disagreements
• Treat a symptomatic infection and reassess. Bacteria without symptoms is a different question.
• BAUS asks for a urine sample and treatment. IDSA advises against screening or treating symptomless bacteriuria for an AUS alone, on very weak evidence.
• Agree the pathway with microbiology; choose prophylaxis by policy, isolates, allergy and kidneys; give it before the incision and repeat if needed.
• Adamsky: removal 3.9 versus 4.0 per cent with and without antibiotics after surgery. The ContiClassic label describes a longer course.
• We check the current label and write a local protocol. Next: once the patient is prepared, the remaining risk is our hands and the implant.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/ 36 · Contamination control during implantation
• Get ready before opening the implant, protect a handling area, touch skin as little as possible, cut traffic and hand-offs.
• Fresh gloves before the device and after any worry: common sense, not proof. The minimal-touch series compare different eras.
• Keep wound washout, device dipping and device filling separate. NICE does not support washout just to prevent infection.
• The gentamicin cohort: one infection in 59 with, two in 114 without. Three events prove nothing either way.
• For ContiClassic, follow the verified instructions and get the operative protocol; no remembered AMS 800 recipe, no improvised bath.
• Next: all of this collapses into one checklist the whole team runs before the implant is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 / 36 · The pre-implant theatre checklist
• Before opening: patient, operation, tissue worries, stop conditions; infection review, prophylaxis given, repeat-dose plan; skin preparation suitable and dry.
• Then the exact device and components, cuff sizes, planned pressure, current instructions, who prepares it, and the drainage plan.
• Decide now what happens if the urethra is injured or sterility is lost. A checklist makes that response automatic.
• The last row matters: a fixed fifteen minutes, the best washout and long antibiotic courses sit there as unresolved, not required.
• Next: into theatre. The next eight slides follow the operation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slide. Read the title, say the one-line question, move on.
Keep the tissue, measure what the cuff will really enclose, follow the real device protocol, check before closing.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/ 36 · Positioning and exposure
• Expose the bulbar urethra while protecting pressure points and respecting stiff hips; check before he is asleep if movement is limited.
• A single cuff through a perineal incision has guideline support for the standard first implant.
• Plan balloon and pump sites now: pelvic surgery, mesh, scars and an existing penile implant change the plan. Have the notes.
• If exposure is poor, improve the incision, the retraction or the position. Pulling harder transfers the force to the urethra.
• Next: with the urethra exposed, which tissue will the cuff sit on, and how much of it do we disturb?
Animation and image: UroOps 3D, https://uroops3d.com/lab/aus . Captured 10 October 2026. © UroOps3D / UroRef / Nity G. Teaching schematic with clinical review pending. It illustrates spatial relationships, not validated anatomy, tissue perfusion or operative instructions. The clip starts and loops by itself in slide-show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/ 36 · Bulbar dissection and tissue preservation
• The aim is a cuff round a healthy segment, not a stripped urethra. The upper bulbar urethra usually has good spongy support.
• The plane behind the urethra, against the erectile bodies, is where a slip becomes a hole. Dissect under direct vision; never pass an instrument blind.
• Keep the spongy tissue and its blood supply, free only what the cuff needs, control bleeding without burning everything.
• If the plane disappears, stop: improve the view, change the site, or get reconstructive help. Transcorporal is a planned move, not a rescue.
• Next: once the segment is chosen, we measure it, and measurement is where the most avoidable errors live.
Animation and image: UroOps 3D, https://uroops3d.com/lab/aus . Captured 10 October 2026. © UroOps3D / UroRef / Nity G. Teaching schematic with clinical review pending. It illustrates spatial relationships, not validated anatomy, tissue perfusion or operative instructions. The clip starts and loops by itself in slide-show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/ 36 · Cuff measurement and fit
• Measurement goes wrong when you measure the wrong tissue: traction stretches, a tight tape squashes, fat and scar make it read bigger.
• Let go of the traction, confirm the plane, use the manufacturer's method, and measure again if the reading looks odd.
• Take the catheter out for a moment while you size the cuff, and put it back once the size is chosen.
• Too small: retention and damage. Too large: leakage. Neither is fixed by a higher-pressure balloon.
• Four of the eight revisions in the first ContiClassic series were sizing errors. That is why we re-measure, not which method is best.
• Next: sometimes the dissection or the measurement shows something that changes what today's operation is for.
Animation and image: UroOps 3D, https://uroops3d.com/lab/aus . Captured 10 October 2026. © UroOps3D / UroRef / Nity G. Teaching schematic with clinical review pending. It illustrates spatial relationships, not validated anatomy, tissue perfusion or operative instructions. The clip starts and loops by itself in slide-show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 / 36 · Urethral injury or contamination
• Suspect an injury when the plane is wrong, the wall looks breached, fluid leaks or the instruments were difficult. Test and scope; a negative test does not make rough dissection safe.
• A known injury changes the aim: stop the implant, define it, repair, drain, explain, and check healing before any new implant.
• Contamination: stop handling, find what was contaminated, replace single-use items, restore a clean setup, or come back another day.
• These are single-use implants. A dropped cuff does not go back in after a home-made soak. Finishing without an implant can be the right outcome.
• Next: if the cuff is safely in, two separate balloon decisions remain: where it goes, and which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 / 36 · Balloon pocket and pressure selection
• The usual pocket behind the pubic bone becomes dangerous after pelvic surgery, radiotherapy, mesh or a previous implant. Never push through resistance.
• A pocket under the abdominal muscle can be right in experienced hands, with its own problems: bad position, felt through the skin, hernia.
• Pressure is a separate decision. ContiClassic lists sixty to sixty-nine; AMS 800 consensus usually sixty-one to seventy. Not interchangeable.
• The public instructions confirm saline filling but send the detail to a separate operating-room protocol; confirm volumes and selection before surgery.
• A higher pressure never covers a poor cuff fit. Next: the third component is the one the patient touches every day.
Animation and image: UroOps 3D, https://uroops3d.com/lab/aus . Captured 10 October 2026. © UroOps3D / UroRef / Nity G. Teaching schematic with clinical review pending. It illustrates spatial relationships, not validated anatomy, tissue perfusion or operative instructions. The clip starts and loops by itself in slide-show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 / 36 · Pump position and patient access
• Where the pump sits is part of the result. He has already shown us where he can reach and which hand he uses.
• Low and easy to reach, but the pocket must fit: too much dissection lets it migrate; too little causes pain and pressure.
• Keep it clearly separate from the testis and away from thin skin. Check how it sits standing and whether the tubing pulls it up.
• Easy on a table says nothing about a swollen scrotum. Check again at activation, with him doing it.
• Next: then we finish the system, and we hand over the risk with it.
Animation and image: UroOps 3D, https://uroops3d.com/lab/aus . Captured 10 October 2026. © UroOps3D / UroRef / Nity G. Teaching schematic with clinical review pending. It illustrates spatial relationships, not validated anatomy, tissue perfusion or operative instructions. The clip starts and loops by itself in slide-show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/ 36 · System checks and handover
• Follow every tube: no tension, loops, kinks or trapping. Keep needles away from the components.
• Prepare and connect by the device's own protocol, cycle it, then confirm the cuff is open and the device is off. Pressing a button is not enough.
• A small catheter, placed gently, out early after a straightforward implant. No improvised "standard" size.
• Record model, cuff site and size, balloon type and position, device off, catheter plan and whom to call. The next clinician must know before any drainage.
• The 2026 survey is why we labour this: the gap in confidence about switching off is real. Next: all three spaces on the model, four minutes.
Animation and image: UroOps 3D, https://uroops3d.com/lab/aus . Captured 10 October 2026. © UroOps3D / UroRef / Nity G. Teaching schematic with clinical review pending. It illustrates spatial relationships, not validated anatomy, tissue perfusion or operative instructions. The clip starts and loops by itself in slide-show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slide. Read the title, say the one-line question, move on.
Hand over the risk, work out why a late leak has come back before revising, and say where the evidence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/ 36 · Aftercare, activation and urgent review
• Our pathway: three doses of co-amoxiclav around the operation, catheter out the next day, then check he voids. If he cannot: assess, drain safely, no repeated blind attempts.
• Day-case works for selected men: the BAUS audit sent 88 per cent home the same day, and the meta-analysis found no significant excess of retention. Selected, not everyone.
• Pain, redness, discharge, fever or trouble voiding come back to a specialist. Infection or erosion usually means the device comes out, not antibiotics.
• Back at six weeks to switch the device on; he works it himself and we check he empties. Seen again six weeks later, then at three and six months; after a year he contacts us if he needs to.
• Device card and clear instructions: warn any clinician before a catheter or a scope. Next: our last patient did everything right for three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 / 36 · Case 4: leakage after three good years
• Three good years, now leaking again. Would you book a smaller cuff? [Pause five seconds.]
• Separate a leak that never went away from a true return. Activity, urgency, overflow or trouble cycling? Watch his technique; check the device state.
• Urine and residual, examine the components, scope with the device off for erosion, then fluid loss, mechanics and the bladder.
• Bergeson: atrophy in eight per cent of revisions, the balloon in a third; the 2026 lab study shows balloons stiffen and thin with age. A mechanism, not a rule to replace them.
• Options run from retraining and bladder treatment to replacing a component or the whole system. Second implants: 68 per cent free of reintervention at five years.
• Next: so where does all this leave us? What is established, and what honestly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 / 36 · Established benefit and unresolved questions
• An AUS gives real benefit, and revision and erosion are part of what he signs up for.
• Keeping tissue, controlling contamination and planning for future instruments all make sense; the individual details often have no comparative evidence.
• We cannot name one best salvage for a fragile urethra, one best washout fluid, or a proven preparation time.
• New devices, including the first electronic sphincters, need outcome data in comparable patients before engineering becomes a clinical claim.
• Make that uncertainty visible in consent and planning. Next: the hour in ten decisions. Five belong before theatre.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/ 36 · Five decisions before implantation
• One: a shown stress leak and an improvement that matters to him.
• Two: watch him use a pump, and think about reach in years, not months.
• Three: investigations that answer specific questions, admitting the guidelines differ.
• Four: keep an overactive bladder, a weak bladder and poor compliance separate. Five: a stable outlet and a plan for future instruments.
• Applied to the cases: treat case one first, investigate case two, stage case three. Next: five decisions protect the result once the implant is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/ 36 · Five decisions protecting the result
• Six: preparation right for the product, the anatomy and the pathway. A fifteen-minute ritual is not a substitute.
• Seven: keep the tissue you need and measure what the cuff will actually enclose.
• Eight: the instructions for the device you are implanting, and clear conditions for stopping.
• Nine: confirm the cuff state, the drainage and that he can use the device; spell out the precautions for future catheters and scopes.
• Ten: when the leak comes back, diagnose it before choosing a smaller cuff or a higher pressure. Next: that is our ten. The last five minutes are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 / 36 · Discussion
• We would like these minutes on decisions, not preferences. Pick a case, say what you would do, and name the finding that would change your plan.
• Take one view on the bladder or on urethral stability, then one contrasting view. Ask: guideline requirement, device instruction, or your reading of the evidence?
• Then one question on operative practice, preparation or failure. Keep contributions short enough to allow disagreement.
• A show of hands is opinion, not evidence. Beyond the evidence we have, say exactly what is uncertain.
• Close: the useful differences are now clear, what the evidence supports, what the device requires, and where judgement stays decisive.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· Conclusion and thank you
• Three things to take home. One: select the patient: a shown stress leak, a safe bladder, reliable emptying and a pump he can use.
• Two: protect the urethra: keep the tissue, size the cuff without distortion, and follow the device's own protocol.
• Three: when a late leak comes back, work out why before you revise: his technique, the urethra, the mechanics, the bladder.
• Thank you for your time, and thank you to Rigicon for hosting us in Liverpool. Questions are welcome now and over dinner.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400"/>
              <a:t>Reference sources 1 of 3. Use this slide to identify the guideline, consensus or device-instruction citation requested by the audience. Keep the source types separate: a manufacturer instruction defines permitted use and precautions; it is not comparative outcome evidence. The entries are linked on the slide.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400"/>
              <a:t>Reference sources 2 of 3. Use the linked entries for questions about bladder function, catheterisation, radiation, urethral reconstruction, preparation and established outcomes. When citing a study, name its population, endpoint and limitation rather than reading the citation list aloud. The 2026 conference entries remain conference material where full results are unavailable.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400"/>
              <a:t>Reference sources 3 of 3. These entries include recent studies, reviews and conference material. Keep the evidence limits from the teaching slides when answering questions. Early electronic-device results do not establish long-term comparative benefit, and conference abstracts do not replace current guidance or the actual device instructions.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400"/>
              <a:t>Backup: outcome evidence. Use if asked to unpack the outcome numbers. Zero-pad use, pad-weight reduction, device survival and freedom from further surgery are different endpoints. The studies describe different devices and populations, so these rows do not form a direct comparison. Point out missing outcomes, follow-up duration, manufacturer funding and the limits of the early ContiClassic series.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400"/>
              <a:t>Backup: comparative and preparation evidence. MASTER follows the same 380 randomised men; explain the non-inferiority result alongside further surgery and the selected trial population. Yeung measures immediate skin cultures after preparation, not AUS infection or preparation duration. The gentamicin-withdrawal cohort has only three infections, so it cannot establish equivalence. Use the limits column when answering.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400"/>
              <a:t>Backup: evidence gaps. Ask which unanswered question would change the audience’s practice. The gaps concern testing, weak-bladder eligibility, staging after reconstruction, salvage strategies, preparation and antibiotics, long-term ContiClassic outcomes, and the cause of late leakage. Distinguish a practical local choice from a question that comparative research still needs to answer.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Video: UroOps 3D, https://uroops3d.com/lab/aus . Captured 10 October 2026. © UroOps3D / UroRef / Nity G. Teaching schematic with clinical review pending. It illustrates spatial relationships, not validated anatomy, tissue perfusion or operative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0-1.mp4"/><Relationship Id="rId2" Type="http://schemas.microsoft.com/office/2007/relationships/media" Target="../media/media-30-1.mp4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1-1.mp4"/><Relationship Id="rId2" Type="http://schemas.microsoft.com/office/2007/relationships/media" Target="../media/media-31-1.mp4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2-1.mp4"/><Relationship Id="rId2" Type="http://schemas.microsoft.com/office/2007/relationships/media" Target="../media/media-32-1.mp4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4-1.mp4"/><Relationship Id="rId2" Type="http://schemas.microsoft.com/office/2007/relationships/media" Target="../media/media-34-1.mp4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5-1.mp4"/><Relationship Id="rId2" Type="http://schemas.microsoft.com/office/2007/relationships/media" Target="../media/media-35-1.mp4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6-1.mp4"/><Relationship Id="rId2" Type="http://schemas.microsoft.com/office/2007/relationships/media" Target="../media/media-36-1.mp4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11/bju.16726" TargetMode="External"/><Relationship Id="rId2" Type="http://schemas.openxmlformats.org/officeDocument/2006/relationships/hyperlink" Target="https://uroweb.org/guidelines/management-of-non-neurogenic-male-luts/chapter/disease-management" TargetMode="External"/><Relationship Id="rId3" Type="http://schemas.openxmlformats.org/officeDocument/2006/relationships/hyperlink" Target="https://www.auanet.org/documents/Guidelines/PDF/2024%20Guidelines/IPT%20Unabridged%20Final%206-18-24.pdf" TargetMode="External"/><Relationship Id="rId4" Type="http://schemas.openxmlformats.org/officeDocument/2006/relationships/hyperlink" Target="https://uroweb.org/guidelines/urethral-strictures/chapter/disease-management-in-males" TargetMode="External"/><Relationship Id="rId5" Type="http://schemas.openxmlformats.org/officeDocument/2006/relationships/hyperlink" Target="https://www.ics.org/folder/standardisation/current-ics-standardisations/d/artificial-urinary-sphincter-report-of-the-2015-consensus-conference/download" TargetMode="External"/><Relationship Id="rId6" Type="http://schemas.openxmlformats.org/officeDocument/2006/relationships/hyperlink" Target="https://doi.org/10.1111/iju.15083" TargetMode="External"/><Relationship Id="rId7" Type="http://schemas.openxmlformats.org/officeDocument/2006/relationships/hyperlink" Target="https://www.rigicon.com/files/e-labeling/ContiClassic-IFU.pdf" TargetMode="External"/><Relationship Id="rId8" Type="http://schemas.openxmlformats.org/officeDocument/2006/relationships/hyperlink" Target="https://doi.org/10.1002/nau.23124" TargetMode="External"/><Relationship Id="rId9" Type="http://schemas.openxmlformats.org/officeDocument/2006/relationships/hyperlink" Target="https://doi.org/10.1097/JU.0000000000003985" TargetMode="External"/><Relationship Id="rId10" Type="http://schemas.openxmlformats.org/officeDocument/2006/relationships/hyperlink" Target="https://www.nice.org.uk/guidance/ng125/chapter/recommendations" TargetMode="External"/><Relationship Id="rId11" Type="http://schemas.openxmlformats.org/officeDocument/2006/relationships/hyperlink" Target="https://www.who.int/publications/i/item/9789241597906" TargetMode="External"/><Relationship Id="rId12" Type="http://schemas.openxmlformats.org/officeDocument/2006/relationships/hyperlink" Target="https://www.medicines.org.uk/emc/product/101238/smpc" TargetMode="External"/><Relationship Id="rId13" Type="http://schemas.openxmlformats.org/officeDocument/2006/relationships/hyperlink" Target="https://www.idsociety.org/practice-guideline/asymptomatic-bacteriuria/" TargetMode="External"/><Relationship Id="rId14" Type="http://schemas.openxmlformats.org/officeDocument/2006/relationships/hyperlink" Target="https://doi.org/10.1097/JU.0000000000000509" TargetMode="External"/><Relationship Id="rId15" Type="http://schemas.openxmlformats.org/officeDocument/2006/relationships/hyperlink" Target="https://pubmed.ncbi.nlm.nih.gov/37543658/" TargetMode="External"/><Relationship Id="rId16" Type="http://schemas.openxmlformats.org/officeDocument/2006/relationships/hyperlink" Target="https://doi.org/10.3310/TBFZ0277" TargetMode="External"/><Relationship Id="rId17" Type="http://schemas.openxmlformats.org/officeDocument/2006/relationships/hyperlink" Target="https://pubmed.ncbi.nlm.nih.gov/19371935/" TargetMode="External"/><Relationship Id="rId18" Type="http://schemas.openxmlformats.org/officeDocument/2006/relationships/hyperlink" Target="https://pubmed.ncbi.nlm.nih.gov/21497853/" TargetMode="External"/><Relationship Id="rId19" Type="http://schemas.openxmlformats.org/officeDocument/2006/relationships/hyperlink" Target="https://doi.org/10.1002/bco2.442" TargetMode="External"/><Relationship Id="rId20" Type="http://schemas.openxmlformats.org/officeDocument/2006/relationships/hyperlink" Target="https://pubmed.ncbi.nlm.nih.gov/36921845/" TargetMode="Externa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hyperlink" Target="https://pubmed.ncbi.nlm.nih.gov/36906798/" TargetMode="External"/><Relationship Id="rId2" Type="http://schemas.openxmlformats.org/officeDocument/2006/relationships/hyperlink" Target="https://pubmed.ncbi.nlm.nih.gov/36332702/" TargetMode="External"/><Relationship Id="rId3" Type="http://schemas.openxmlformats.org/officeDocument/2006/relationships/hyperlink" Target="https://pubmed.ncbi.nlm.nih.gov/24074987/" TargetMode="External"/><Relationship Id="rId4" Type="http://schemas.openxmlformats.org/officeDocument/2006/relationships/hyperlink" Target="https://pubmed.ncbi.nlm.nih.gov/25483765/" TargetMode="External"/><Relationship Id="rId5" Type="http://schemas.openxmlformats.org/officeDocument/2006/relationships/hyperlink" Target="https://doi.org/10.3389/fsurg.2022.825239" TargetMode="External"/><Relationship Id="rId6" Type="http://schemas.openxmlformats.org/officeDocument/2006/relationships/hyperlink" Target="https://pubmed.ncbi.nlm.nih.gov/41022035/" TargetMode="External"/><Relationship Id="rId7" Type="http://schemas.openxmlformats.org/officeDocument/2006/relationships/hyperlink" Target="https://doi.org/10.5489/cuaj.6431" TargetMode="External"/><Relationship Id="rId8" Type="http://schemas.openxmlformats.org/officeDocument/2006/relationships/hyperlink" Target="https://pubmed.ncbi.nlm.nih.gov/36749394/" TargetMode="External"/><Relationship Id="rId9" Type="http://schemas.openxmlformats.org/officeDocument/2006/relationships/hyperlink" Target="https://doi.org/10.21037/tau.2019.07.18" TargetMode="External"/><Relationship Id="rId10" Type="http://schemas.openxmlformats.org/officeDocument/2006/relationships/hyperlink" Target="https://tau.amegroups.org/article/view/130351/html" TargetMode="External"/><Relationship Id="rId11" Type="http://schemas.openxmlformats.org/officeDocument/2006/relationships/hyperlink" Target="https://pubmed.ncbi.nlm.nih.gov/23164373/" TargetMode="External"/><Relationship Id="rId12" Type="http://schemas.openxmlformats.org/officeDocument/2006/relationships/hyperlink" Target="https://doi.org/10.1016/j.urology.2017.07.064" TargetMode="External"/><Relationship Id="rId13" Type="http://schemas.openxmlformats.org/officeDocument/2006/relationships/hyperlink" Target="https://doi.org/10.5152/tud.2023.22136" TargetMode="External"/><Relationship Id="rId14" Type="http://schemas.openxmlformats.org/officeDocument/2006/relationships/hyperlink" Target="https://pubmed.ncbi.nlm.nih.gov/26135815/" TargetMode="External"/><Relationship Id="rId15" Type="http://schemas.openxmlformats.org/officeDocument/2006/relationships/hyperlink" Target="https://pmc.ncbi.nlm.nih.gov/articles/PMC12794701/" TargetMode="External"/><Relationship Id="rId16" Type="http://schemas.openxmlformats.org/officeDocument/2006/relationships/hyperlink" Target="https://helpdesk.auanet.org/hc/en-us/articles/40948838469143-Guidelines" TargetMode="External"/><Relationship Id="rId17" Type="http://schemas.openxmlformats.org/officeDocument/2006/relationships/hyperlink" Target="https://journals.sagepub.com/doi/full/10.1177/20514158261451299" TargetMode="External"/><Relationship Id="rId18" Type="http://schemas.openxmlformats.org/officeDocument/2006/relationships/hyperlink" Target="https://journals.sagepub.com/doi/full/10.1177/20514158261451299" TargetMode="External"/><Relationship Id="rId19" Type="http://schemas.openxmlformats.org/officeDocument/2006/relationships/hyperlink" Target="https://doi.org/10.1097/01.JU.0001191316.72449.22.22" TargetMode="External"/><Relationship Id="rId20" Type="http://schemas.openxmlformats.org/officeDocument/2006/relationships/hyperlink" Target="https://doi.org/10.1097/01.JU.0001191316.72449.22.18" TargetMode="Externa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7/01.JU.0001191316.72449.22.17" TargetMode="External"/><Relationship Id="rId2" Type="http://schemas.openxmlformats.org/officeDocument/2006/relationships/hyperlink" Target="https://doi.org/10.1016/j.euf.2026.07.012" TargetMode="External"/><Relationship Id="rId3" Type="http://schemas.openxmlformats.org/officeDocument/2006/relationships/hyperlink" Target="https://doi.org/10.1016/j.urology.2026.05.024" TargetMode="External"/><Relationship Id="rId4" Type="http://schemas.openxmlformats.org/officeDocument/2006/relationships/hyperlink" Target="https://doi.org/10.3390/antibiotics15090894" TargetMode="External"/><Relationship Id="rId5" Type="http://schemas.openxmlformats.org/officeDocument/2006/relationships/hyperlink" Target="https://doi.org/10.1007/s11255-025-04711-y" TargetMode="External"/><Relationship Id="rId6" Type="http://schemas.openxmlformats.org/officeDocument/2006/relationships/hyperlink" Target="https://doi.org/10.1016/j.fjurol.2026.103135" TargetMode="External"/><Relationship Id="rId7" Type="http://schemas.openxmlformats.org/officeDocument/2006/relationships/hyperlink" Target="https://doi.org/10.1097/ju.0000000000005102" TargetMode="External"/><Relationship Id="rId8" Type="http://schemas.openxmlformats.org/officeDocument/2006/relationships/hyperlink" Target="https://doi.org/10.1111/bju.70224" TargetMode="External"/><Relationship Id="rId9" Type="http://schemas.openxmlformats.org/officeDocument/2006/relationships/hyperlink" Target="https://doi.org/10.1016/j.urology.2025.12.031" TargetMode="External"/><Relationship Id="rId10" Type="http://schemas.openxmlformats.org/officeDocument/2006/relationships/hyperlink" Target="https://doi.org/10.1016/j.euros.2025.12.006" TargetMode="External"/><Relationship Id="rId11" Type="http://schemas.openxmlformats.org/officeDocument/2006/relationships/hyperlink" Target="https://doi.org/10.1002/nau.70417" TargetMode="External"/><Relationship Id="rId12" Type="http://schemas.openxmlformats.org/officeDocument/2006/relationships/hyperlink" Target="https://doi.org/10.1007/s00345-026-06629-1" TargetMode="External"/><Relationship Id="rId13" Type="http://schemas.openxmlformats.org/officeDocument/2006/relationships/hyperlink" Target="https://doi.org/10.1002/nau.70400" TargetMode="External"/><Relationship Id="rId14" Type="http://schemas.openxmlformats.org/officeDocument/2006/relationships/hyperlink" Target="https://doi.org/10.1590/s1677-5538.ibju.2025.0374" TargetMode="External"/><Relationship Id="rId15" Type="http://schemas.openxmlformats.org/officeDocument/2006/relationships/hyperlink" Target="https://doi.org/10.1016/j.urology.2025.11.222" TargetMode="External"/><Relationship Id="rId16" Type="http://schemas.openxmlformats.org/officeDocument/2006/relationships/hyperlink" Target="https://doi.org/10.1007/s00345-025-05625-1" TargetMode="External"/><Relationship Id="rId17" Type="http://schemas.openxmlformats.org/officeDocument/2006/relationships/hyperlink" Target="https://doi.org/10.1097/ju.0000000000004945" TargetMode="External"/><Relationship Id="rId18" Type="http://schemas.openxmlformats.org/officeDocument/2006/relationships/hyperlink" Target="https://doi.org/10.1007/s00345-026-06246-y" TargetMode="Externa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1-1.mp4"/><Relationship Id="rId2" Type="http://schemas.microsoft.com/office/2007/relationships/media" Target="../media/media-51-1.mp4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NityProjects\AUS-Presentation\repo\presentation\assets\uroops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7000" y="285750"/>
            <a:ext cx="5000625" cy="60007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RIGICON ADVANCED TRAINING EVENT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3246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Artificial urinary sphincter surgery: patient selection, difficult bladders and difficult urethras</a:t>
            </a:r>
            <a:endParaRPr lang="en-US" sz="1700" dirty="0">
              <a:latin typeface="Plus Jakarta San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Artificial Urinary Sphincter (AUS) Implantation · The Municipal Hotel, Liverpool · 22–23 October 2026</a:t>
            </a:r>
            <a:endParaRPr lang="en-US" sz="1100" dirty="0">
              <a:latin typeface="Plus Jakarta San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40080" y="48006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Mr Andrew Baird</a:t>
            </a:r>
            <a:pPr algn="l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   Urology Consultant</a:t>
            </a:r>
            <a:endParaRPr lang="en-US" sz="1400" dirty="0">
              <a:latin typeface="Plus Jakarta San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40080" y="51846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Mr Mohamed Abu Yousif</a:t>
            </a:r>
            <a:pPr algn="l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   Urology Consultant</a:t>
            </a:r>
            <a:endParaRPr lang="en-US" sz="1400" dirty="0">
              <a:latin typeface="Plus Jakarta San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" y="5568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Nity G</a:t>
            </a:r>
            <a:pPr algn="l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   ST5 Urology Registrar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B3FB01D7-7A61-4F07-88BD-1A431118D5A6}"/>
              </a:ext>
            </a:extLst>
          </p:cNvPr>
          <p:cNvSpPr>
            <a:spLocks noGrp="1"/>
          </p:cNvSpPr>
          <p:nvPr/>
        </p:nvSpPr>
        <p:spPr>
          <a:xfrm>
            <a:off x="638175" y="1381125"/>
            <a:ext cx="5905500" cy="1905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225" b="1">
                <a:solidFill>
                  <a:srgbClr val="FFFFFF"/>
                </a:solidFill>
                <a:latin typeface="Plus Jakarta Sans"/>
              </a:defRPr>
            </a:defPPr>
            <a:lvl1pPr>
              <a:defRPr sz="3225" b="1">
                <a:solidFill>
                  <a:srgbClr val="FFFFFF"/>
                </a:solidFill>
                <a:latin typeface="Plus Jakarta Sans"/>
              </a:defRPr>
            </a:lvl1pPr>
            <a:lvl2pPr>
              <a:defRPr sz="3225" b="1">
                <a:solidFill>
                  <a:srgbClr val="FFFFFF"/>
                </a:solidFill>
                <a:latin typeface="Plus Jakarta Sans"/>
              </a:defRPr>
            </a:lvl2pPr>
            <a:lvl3pPr>
              <a:defRPr sz="3225" b="1">
                <a:solidFill>
                  <a:srgbClr val="FFFFFF"/>
                </a:solidFill>
                <a:latin typeface="Plus Jakarta Sans"/>
              </a:defRPr>
            </a:lvl3pPr>
            <a:lvl4pPr>
              <a:defRPr sz="3225" b="1">
                <a:solidFill>
                  <a:srgbClr val="FFFFFF"/>
                </a:solidFill>
                <a:latin typeface="Plus Jakarta Sans"/>
              </a:defRPr>
            </a:lvl4pPr>
            <a:lvl5pPr>
              <a:defRPr sz="3225" b="1">
                <a:solidFill>
                  <a:srgbClr val="FFFFFF"/>
                </a:solidFill>
                <a:latin typeface="Plus Jakarta Sans"/>
              </a:defRPr>
            </a:lvl5pPr>
            <a:lvl6pPr>
              <a:defRPr sz="3225" b="1">
                <a:solidFill>
                  <a:srgbClr val="FFFFFF"/>
                </a:solidFill>
                <a:latin typeface="Plus Jakarta Sans"/>
              </a:defRPr>
            </a:lvl6pPr>
            <a:lvl7pPr>
              <a:defRPr sz="3225" b="1">
                <a:solidFill>
                  <a:srgbClr val="FFFFFF"/>
                </a:solidFill>
                <a:latin typeface="Plus Jakarta Sans"/>
              </a:defRPr>
            </a:lvl7pPr>
            <a:lvl8pPr>
              <a:defRPr sz="3225" b="1">
                <a:solidFill>
                  <a:srgbClr val="FFFFFF"/>
                </a:solidFill>
                <a:latin typeface="Plus Jakarta Sans"/>
              </a:defRPr>
            </a:lvl8pPr>
            <a:lvl9pPr>
              <a:defRPr sz="32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lus Jakarta Sans"/>
              </a:defRPr>
            </a:pPr>
            <a:r>
              <a:rPr sz="3225" b="1">
                <a:solidFill>
                  <a:srgbClr val="FFFFFF"/>
                </a:solidFill>
                <a:latin typeface="Plus Jakarta Sans"/>
              </a:rPr>
              <a:t>Tips and tricks for primary implantation and revision surgery</a:t>
            </a:r>
          </a:p>
        </p:txBody>
      </p:sp>
      <p:sp>
        <p:nvSpPr>
          <p:cNvPr id="9010" name="Google Shape;50;p7"/>
          <p:cNvSpPr/>
          <p:nvPr/>
        </p:nvSpPr>
        <p:spPr>
          <a:xfrm>
            <a:off x="5810250" y="790575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615314" h="615315" extrusionOk="0">
                <a:moveTo>
                  <a:pt x="307372" y="0"/>
                </a:moveTo>
                <a:lnTo>
                  <a:pt x="295063" y="64094"/>
                </a:lnTo>
                <a:lnTo>
                  <a:pt x="281976" y="117458"/>
                </a:lnTo>
                <a:lnTo>
                  <a:pt x="266867" y="161336"/>
                </a:lnTo>
                <a:lnTo>
                  <a:pt x="248493" y="196971"/>
                </a:lnTo>
                <a:lnTo>
                  <a:pt x="196971" y="248493"/>
                </a:lnTo>
                <a:lnTo>
                  <a:pt x="161336" y="266867"/>
                </a:lnTo>
                <a:lnTo>
                  <a:pt x="117458" y="281976"/>
                </a:lnTo>
                <a:lnTo>
                  <a:pt x="64094" y="295063"/>
                </a:lnTo>
                <a:lnTo>
                  <a:pt x="0" y="307372"/>
                </a:lnTo>
                <a:lnTo>
                  <a:pt x="64094" y="319682"/>
                </a:lnTo>
                <a:lnTo>
                  <a:pt x="117458" y="332769"/>
                </a:lnTo>
                <a:lnTo>
                  <a:pt x="161336" y="347878"/>
                </a:lnTo>
                <a:lnTo>
                  <a:pt x="196971" y="366252"/>
                </a:lnTo>
                <a:lnTo>
                  <a:pt x="248493" y="417773"/>
                </a:lnTo>
                <a:lnTo>
                  <a:pt x="266867" y="453409"/>
                </a:lnTo>
                <a:lnTo>
                  <a:pt x="281976" y="497287"/>
                </a:lnTo>
                <a:lnTo>
                  <a:pt x="295063" y="550651"/>
                </a:lnTo>
                <a:lnTo>
                  <a:pt x="307372" y="614745"/>
                </a:lnTo>
                <a:lnTo>
                  <a:pt x="319682" y="550651"/>
                </a:lnTo>
                <a:lnTo>
                  <a:pt x="332769" y="497287"/>
                </a:lnTo>
                <a:lnTo>
                  <a:pt x="347878" y="453409"/>
                </a:lnTo>
                <a:lnTo>
                  <a:pt x="366252" y="417773"/>
                </a:lnTo>
                <a:lnTo>
                  <a:pt x="417773" y="366252"/>
                </a:lnTo>
                <a:lnTo>
                  <a:pt x="453409" y="347878"/>
                </a:lnTo>
                <a:lnTo>
                  <a:pt x="497287" y="332769"/>
                </a:lnTo>
                <a:lnTo>
                  <a:pt x="550651" y="319682"/>
                </a:lnTo>
                <a:lnTo>
                  <a:pt x="614745" y="307372"/>
                </a:lnTo>
                <a:lnTo>
                  <a:pt x="550651" y="295063"/>
                </a:lnTo>
                <a:lnTo>
                  <a:pt x="497287" y="281976"/>
                </a:lnTo>
                <a:lnTo>
                  <a:pt x="453409" y="266867"/>
                </a:lnTo>
                <a:lnTo>
                  <a:pt x="417773" y="248493"/>
                </a:lnTo>
                <a:lnTo>
                  <a:pt x="366252" y="196971"/>
                </a:lnTo>
                <a:lnTo>
                  <a:pt x="347878" y="161336"/>
                </a:lnTo>
                <a:lnTo>
                  <a:pt x="332769" y="117458"/>
                </a:lnTo>
                <a:lnTo>
                  <a:pt x="319682" y="64094"/>
                </a:lnTo>
                <a:lnTo>
                  <a:pt x="307372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3457575"/>
            <a:ext cx="5476875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Can this patient obtain useful continence while storing and emptying safely and operating the device?</a:t>
            </a:r>
            <a:endParaRPr lang="en-US" sz="1500" dirty="0">
              <a:solidFill>
                <a:srgbClr val="BFBFBF"/>
              </a:solidFill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decision before theatre</a:t>
            </a:r>
            <a:endParaRPr lang="en-US" sz="1300" dirty="0">
              <a:latin typeface="Plus Jakarta San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223760" y="207264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680960" y="207264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Evidence and device boundaries</a:t>
            </a:r>
            <a:endParaRPr lang="en-US" sz="1300" dirty="0">
              <a:latin typeface="Plus Jakarta San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223760" y="249936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80960" y="249936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Leakage mechanism and patient goals</a:t>
            </a:r>
            <a:endParaRPr lang="en-US" sz="1300" dirty="0">
              <a:latin typeface="Plus Jakarta San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223760" y="292608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680960" y="292608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Timing after prostate treatment</a:t>
            </a:r>
            <a:endParaRPr lang="en-US" sz="1300" dirty="0">
              <a:latin typeface="Plus Jakarta San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223760" y="335280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680960" y="335280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Pump use over time</a:t>
            </a:r>
            <a:endParaRPr lang="en-US" sz="1300" dirty="0">
              <a:latin typeface="Plus Jakarta San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223760" y="377952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680960" y="377952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Flexible cystoscopy before implantation</a:t>
            </a:r>
            <a:endParaRPr lang="en-US" sz="1300" dirty="0">
              <a:latin typeface="Plus Jakarta San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223760" y="420624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680960" y="420624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Urodynamics: BAUS, EAU and AUA</a:t>
            </a:r>
            <a:endParaRPr lang="en-US" sz="1300" dirty="0">
              <a:latin typeface="Plus Jakarta San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223760" y="463296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680960" y="463296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Interpreting an imperfect study</a:t>
            </a:r>
            <a:endParaRPr lang="en-US" sz="1300" dirty="0">
              <a:latin typeface="Plus Jakarta San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223760" y="505968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680960" y="505968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Consent: improvement and lifetime burden</a:t>
            </a:r>
            <a:endParaRPr lang="en-US" sz="130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>
              <a:latin typeface="Plus Jakarta San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>
              <a:latin typeface="Plus Jakarta San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>
              <a:latin typeface="Plus Jakarta San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>
              <a:latin typeface="Plus Jakarta San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>
              <a:latin typeface="Plus Jakarta San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CED84160-9C8B-4B49-9A83-1285FCD1FA10}"/>
              </a:ext>
            </a:extLst>
          </p:cNvPr>
          <p:cNvSpPr>
            <a:spLocks noGrp="1"/>
          </p:cNvSpPr>
          <p:nvPr/>
        </p:nvSpPr>
        <p:spPr>
          <a:xfrm>
            <a:off x="638175" y="1905000"/>
            <a:ext cx="5476875" cy="1314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600" b="1">
                <a:solidFill>
                  <a:srgbClr val="FFFFFF"/>
                </a:solidFill>
                <a:latin typeface="Plus Jakarta Sans"/>
              </a:defRPr>
            </a:defPPr>
            <a:lvl1pPr>
              <a:defRPr sz="3600" b="1">
                <a:solidFill>
                  <a:srgbClr val="FFFFFF"/>
                </a:solidFill>
                <a:latin typeface="Plus Jakarta Sans"/>
              </a:defRPr>
            </a:lvl1pPr>
            <a:lvl2pPr>
              <a:defRPr sz="3600" b="1">
                <a:solidFill>
                  <a:srgbClr val="FFFFFF"/>
                </a:solidFill>
                <a:latin typeface="Plus Jakarta Sans"/>
              </a:defRPr>
            </a:lvl2pPr>
            <a:lvl3pPr>
              <a:defRPr sz="3600" b="1">
                <a:solidFill>
                  <a:srgbClr val="FFFFFF"/>
                </a:solidFill>
                <a:latin typeface="Plus Jakarta Sans"/>
              </a:defRPr>
            </a:lvl3pPr>
            <a:lvl4pPr>
              <a:defRPr sz="3600" b="1">
                <a:solidFill>
                  <a:srgbClr val="FFFFFF"/>
                </a:solidFill>
                <a:latin typeface="Plus Jakarta Sans"/>
              </a:defRPr>
            </a:lvl4pPr>
            <a:lvl5pPr>
              <a:defRPr sz="3600" b="1">
                <a:solidFill>
                  <a:srgbClr val="FFFFFF"/>
                </a:solidFill>
                <a:latin typeface="Plus Jakarta Sans"/>
              </a:defRPr>
            </a:lvl5pPr>
            <a:lvl6pPr>
              <a:defRPr sz="3600" b="1">
                <a:solidFill>
                  <a:srgbClr val="FFFFFF"/>
                </a:solidFill>
                <a:latin typeface="Plus Jakarta Sans"/>
              </a:defRPr>
            </a:lvl6pPr>
            <a:lvl7pPr>
              <a:defRPr sz="3600" b="1">
                <a:solidFill>
                  <a:srgbClr val="FFFFFF"/>
                </a:solidFill>
                <a:latin typeface="Plus Jakarta Sans"/>
              </a:defRPr>
            </a:lvl7pPr>
            <a:lvl8pPr>
              <a:defRPr sz="3600" b="1">
                <a:solidFill>
                  <a:srgbClr val="FFFFFF"/>
                </a:solidFill>
                <a:latin typeface="Plus Jakarta Sans"/>
              </a:defRPr>
            </a:lvl8pPr>
            <a:lvl9pPr>
              <a:defRPr sz="3600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rPr sz="3600" b="1">
                <a:solidFill>
                  <a:srgbClr val="FFFFFF"/>
                </a:solidFill>
                <a:latin typeface="Plus Jakarta Sans"/>
              </a:rPr>
              <a:t>Decide before theatre</a:t>
            </a:r>
          </a:p>
        </p:txBody>
      </p:sp>
      <p:sp>
        <p:nvSpPr>
          <p:cNvPr id="9010" name="Google Shape;50;p7"/>
          <p:cNvSpPr/>
          <p:nvPr/>
        </p:nvSpPr>
        <p:spPr>
          <a:xfrm>
            <a:off x="5810250" y="158115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615314" h="615315" extrusionOk="0">
                <a:moveTo>
                  <a:pt x="307372" y="0"/>
                </a:moveTo>
                <a:lnTo>
                  <a:pt x="295063" y="64094"/>
                </a:lnTo>
                <a:lnTo>
                  <a:pt x="281976" y="117458"/>
                </a:lnTo>
                <a:lnTo>
                  <a:pt x="266867" y="161336"/>
                </a:lnTo>
                <a:lnTo>
                  <a:pt x="248493" y="196971"/>
                </a:lnTo>
                <a:lnTo>
                  <a:pt x="196971" y="248493"/>
                </a:lnTo>
                <a:lnTo>
                  <a:pt x="161336" y="266867"/>
                </a:lnTo>
                <a:lnTo>
                  <a:pt x="117458" y="281976"/>
                </a:lnTo>
                <a:lnTo>
                  <a:pt x="64094" y="295063"/>
                </a:lnTo>
                <a:lnTo>
                  <a:pt x="0" y="307372"/>
                </a:lnTo>
                <a:lnTo>
                  <a:pt x="64094" y="319682"/>
                </a:lnTo>
                <a:lnTo>
                  <a:pt x="117458" y="332769"/>
                </a:lnTo>
                <a:lnTo>
                  <a:pt x="161336" y="347878"/>
                </a:lnTo>
                <a:lnTo>
                  <a:pt x="196971" y="366252"/>
                </a:lnTo>
                <a:lnTo>
                  <a:pt x="248493" y="417773"/>
                </a:lnTo>
                <a:lnTo>
                  <a:pt x="266867" y="453409"/>
                </a:lnTo>
                <a:lnTo>
                  <a:pt x="281976" y="497287"/>
                </a:lnTo>
                <a:lnTo>
                  <a:pt x="295063" y="550651"/>
                </a:lnTo>
                <a:lnTo>
                  <a:pt x="307372" y="614745"/>
                </a:lnTo>
                <a:lnTo>
                  <a:pt x="319682" y="550651"/>
                </a:lnTo>
                <a:lnTo>
                  <a:pt x="332769" y="497287"/>
                </a:lnTo>
                <a:lnTo>
                  <a:pt x="347878" y="453409"/>
                </a:lnTo>
                <a:lnTo>
                  <a:pt x="366252" y="417773"/>
                </a:lnTo>
                <a:lnTo>
                  <a:pt x="417773" y="366252"/>
                </a:lnTo>
                <a:lnTo>
                  <a:pt x="453409" y="347878"/>
                </a:lnTo>
                <a:lnTo>
                  <a:pt x="497287" y="332769"/>
                </a:lnTo>
                <a:lnTo>
                  <a:pt x="550651" y="319682"/>
                </a:lnTo>
                <a:lnTo>
                  <a:pt x="614745" y="307372"/>
                </a:lnTo>
                <a:lnTo>
                  <a:pt x="550651" y="295063"/>
                </a:lnTo>
                <a:lnTo>
                  <a:pt x="497287" y="281976"/>
                </a:lnTo>
                <a:lnTo>
                  <a:pt x="453409" y="266867"/>
                </a:lnTo>
                <a:lnTo>
                  <a:pt x="417773" y="248493"/>
                </a:lnTo>
                <a:lnTo>
                  <a:pt x="366252" y="196971"/>
                </a:lnTo>
                <a:lnTo>
                  <a:pt x="347878" y="161336"/>
                </a:lnTo>
                <a:lnTo>
                  <a:pt x="332769" y="117458"/>
                </a:lnTo>
                <a:lnTo>
                  <a:pt x="319682" y="64094"/>
                </a:lnTo>
                <a:lnTo>
                  <a:pt x="307372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11" name="Google Shape;49;p7"/>
          <p:cNvSpPr/>
          <p:nvPr/>
        </p:nvSpPr>
        <p:spPr>
          <a:xfrm>
            <a:off x="638175" y="1676400"/>
            <a:ext cx="552450" cy="85725"/>
          </a:xfrm>
          <a:custGeom>
            <a:avLst/>
            <a:gdLst/>
            <a:ahLst/>
            <a:cxnLst/>
            <a:rect l="l" t="t" r="r" b="b"/>
            <a:pathLst>
              <a:path w="2339340" h="539115" extrusionOk="0">
                <a:moveTo>
                  <a:pt x="2129736" y="0"/>
                </a:moveTo>
                <a:lnTo>
                  <a:pt x="209417" y="0"/>
                </a:lnTo>
                <a:lnTo>
                  <a:pt x="161399" y="5531"/>
                </a:lnTo>
                <a:lnTo>
                  <a:pt x="117319" y="21286"/>
                </a:lnTo>
                <a:lnTo>
                  <a:pt x="78436" y="46009"/>
                </a:lnTo>
                <a:lnTo>
                  <a:pt x="46005" y="78440"/>
                </a:lnTo>
                <a:lnTo>
                  <a:pt x="21284" y="117324"/>
                </a:lnTo>
                <a:lnTo>
                  <a:pt x="5530" y="161402"/>
                </a:lnTo>
                <a:lnTo>
                  <a:pt x="0" y="209417"/>
                </a:lnTo>
                <a:lnTo>
                  <a:pt x="0" y="329089"/>
                </a:lnTo>
                <a:lnTo>
                  <a:pt x="5530" y="377108"/>
                </a:lnTo>
                <a:lnTo>
                  <a:pt x="21284" y="421187"/>
                </a:lnTo>
                <a:lnTo>
                  <a:pt x="46005" y="460070"/>
                </a:lnTo>
                <a:lnTo>
                  <a:pt x="78436" y="492501"/>
                </a:lnTo>
                <a:lnTo>
                  <a:pt x="117319" y="517222"/>
                </a:lnTo>
                <a:lnTo>
                  <a:pt x="161399" y="532976"/>
                </a:lnTo>
                <a:lnTo>
                  <a:pt x="209417" y="538507"/>
                </a:lnTo>
                <a:lnTo>
                  <a:pt x="2129736" y="538507"/>
                </a:lnTo>
                <a:lnTo>
                  <a:pt x="2177754" y="532976"/>
                </a:lnTo>
                <a:lnTo>
                  <a:pt x="2221834" y="517222"/>
                </a:lnTo>
                <a:lnTo>
                  <a:pt x="2260717" y="492501"/>
                </a:lnTo>
                <a:lnTo>
                  <a:pt x="2293148" y="460070"/>
                </a:lnTo>
                <a:lnTo>
                  <a:pt x="2317869" y="421187"/>
                </a:lnTo>
                <a:lnTo>
                  <a:pt x="2333623" y="377108"/>
                </a:lnTo>
                <a:lnTo>
                  <a:pt x="2339153" y="329089"/>
                </a:lnTo>
                <a:lnTo>
                  <a:pt x="2339153" y="209417"/>
                </a:lnTo>
                <a:lnTo>
                  <a:pt x="2333623" y="161402"/>
                </a:lnTo>
                <a:lnTo>
                  <a:pt x="2317869" y="117324"/>
                </a:lnTo>
                <a:lnTo>
                  <a:pt x="2293148" y="78440"/>
                </a:lnTo>
                <a:lnTo>
                  <a:pt x="2260717" y="46009"/>
                </a:lnTo>
                <a:lnTo>
                  <a:pt x="2221834" y="21286"/>
                </a:lnTo>
                <a:lnTo>
                  <a:pt x="2177754" y="5531"/>
                </a:lnTo>
                <a:lnTo>
                  <a:pt x="2129736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01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AUA24  ·  ICS16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Severe leakage is only the starting point</a:t>
            </a:r>
            <a:endParaRPr lang="en-US" sz="18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522144" cy="2788920"/>
          </a:xfrm>
          <a:prstGeom prst="roundRect">
            <a:avLst>
              <a:gd name="adj" fmla="val 5076"/>
            </a:avLst>
          </a:prstGeom>
          <a:solidFill>
            <a:srgbClr val="05C489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880360"/>
            <a:ext cx="182880" cy="18288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20040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61616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Implant</a:t>
            </a:r>
            <a:endParaRPr lang="en-US" sz="24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3794760"/>
            <a:ext cx="1973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Stress leak shown, safe bladder, good emptying, can work the pump</a:t>
            </a:r>
            <a:endParaRPr lang="en-US" sz="155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36544" y="2514600"/>
            <a:ext cx="2522144" cy="2788920"/>
          </a:xfrm>
          <a:prstGeom prst="roundRect">
            <a:avLst>
              <a:gd name="adj" fmla="val 5076"/>
            </a:avLst>
          </a:prstGeom>
          <a:solidFill>
            <a:srgbClr val="2D2D2D"/>
          </a:solidFill>
          <a:ln/>
        </p:spPr>
      </p:sp>
      <p:sp>
        <p:nvSpPr>
          <p:cNvPr id="12" name="Shape 10"/>
          <p:cNvSpPr/>
          <p:nvPr/>
        </p:nvSpPr>
        <p:spPr>
          <a:xfrm>
            <a:off x="3729152" y="2880360"/>
            <a:ext cx="182880" cy="182880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10864" y="320040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Optimise</a:t>
            </a:r>
            <a:endParaRPr lang="en-US" sz="24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710864" y="3794760"/>
            <a:ext cx="1973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treatable bladder or emptying problem is the bigger issue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33008" y="2514600"/>
            <a:ext cx="2522144" cy="2788920"/>
          </a:xfrm>
          <a:prstGeom prst="roundRect">
            <a:avLst>
              <a:gd name="adj" fmla="val 5076"/>
            </a:avLst>
          </a:prstGeom>
          <a:solidFill>
            <a:srgbClr val="2D2D2D"/>
          </a:solidFill>
          <a:ln/>
        </p:spPr>
      </p:sp>
      <p:sp>
        <p:nvSpPr>
          <p:cNvPr id="16" name="Shape 14"/>
          <p:cNvSpPr/>
          <p:nvPr/>
        </p:nvSpPr>
        <p:spPr>
          <a:xfrm>
            <a:off x="6525616" y="288036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320040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Investigate</a:t>
            </a:r>
            <a:endParaRPr lang="en-US" sz="2400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507328" y="3794760"/>
            <a:ext cx="1973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Not sure why he leaks, what the tests mean, or the anatomy</a:t>
            </a:r>
            <a:endParaRPr lang="en-US" sz="1550" dirty="0">
              <a:latin typeface="Plus Jakarta San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29471" y="2514600"/>
            <a:ext cx="2522144" cy="2788920"/>
          </a:xfrm>
          <a:prstGeom prst="roundRect">
            <a:avLst>
              <a:gd name="adj" fmla="val 5076"/>
            </a:avLst>
          </a:prstGeom>
          <a:solidFill>
            <a:srgbClr val="2D2D2D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2079" y="2880360"/>
            <a:ext cx="182880" cy="182880"/>
          </a:xfrm>
          <a:prstGeom prst="ellipse">
            <a:avLst/>
          </a:prstGeom>
          <a:solidFill>
            <a:srgbClr val="FF85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03791" y="320040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85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Reconsider</a:t>
            </a:r>
            <a:endParaRPr lang="en-US" sz="2400" dirty="0">
              <a:solidFill>
                <a:srgbClr val="FF8500"/>
              </a:solidFill>
              <a:latin typeface="Plus Jakarta San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303791" y="3794760"/>
            <a:ext cx="1973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Safe bladder function or using the device alone is unlikely</a:t>
            </a:r>
            <a:endParaRPr lang="en-US" sz="15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145B6E10-69F7-4702-B4D3-D1F4027C9E6D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The decision before theatre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02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EAU26  ·  AUA24  ·  ICS16  ·  AP23  ·  CCIFU  ·  AUASTATUS26  ·  DEVICE26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 2025 · AUA amendment 2024 · EAU 2026. Meeting abstracts are not guidelines. One device’s results do not transfer to another.</a:t>
            </a:r>
            <a:endParaRPr lang="en-US" sz="1200" dirty="0">
              <a:latin typeface="Plus Jakarta San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710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Source</a:t>
                      </a:r>
                      <a:endParaRPr lang="en-US" sz="12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 it can tell us</a:t>
                      </a:r>
                      <a:endParaRPr lang="en-US" sz="12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Guidelines and consensus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 recommended clinical pathway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Clinical studies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Results in one group of patients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Manufacturer IFU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How the device may be used, and its warnings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Expert or local practice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 practical choice, with the uncertainty stated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567AD18D-2439-4929-8F7E-9D0A33195443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Evidence and device boundaries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03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EAU26  ·  AUA24  ·  PAD26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Pad count is useful, but 2–4 pads a day covers a wide range of weights (2026 data). Weigh the pads when unsure.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Describe the leak</a:t>
            </a:r>
            <a:endParaRPr lang="en-US" sz="150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Stress leak shown on examination</a:t>
            </a:r>
            <a:endParaRPr lang="en-US" sz="155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Urgency, night-time symptoms and emptying</a:t>
            </a:r>
            <a:endParaRPr lang="en-US" sz="155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Pad use, pad weight and activity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Agree what improvement is worth it</a:t>
            </a:r>
            <a:endParaRPr lang="en-US" sz="150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Is it still improving? What has been tried?</a:t>
            </a:r>
            <a:endParaRPr lang="en-US" sz="1550" dirty="0">
              <a:latin typeface="Plus Jakarta San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validated symptom score</a:t>
            </a:r>
            <a:endParaRPr lang="en-US" sz="155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activity the patient wants back</a:t>
            </a:r>
            <a:endParaRPr lang="en-US" sz="15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0575D0CE-4238-4654-8A15-030C6BA9EEAA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Leakage mechanism and patient goals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04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AUA24  ·  BAUS25  ·  EAU26  ·  MASTER22  ·  MASTER26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MASTER 2026: at 24 months the sling was still non-inferior, but further surgery was 11% after sling vs 2% after AUS. Selected patients.</a:t>
            </a:r>
            <a:endParaRPr lang="en-US" sz="1200" dirty="0">
              <a:latin typeface="Plus Jakarta Sans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69080"/>
                <a:gridCol w="44650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Guidance</a:t>
                      </a:r>
                      <a:endParaRPr lang="en-US" sz="140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At six months</a:t>
                      </a:r>
                      <a:endParaRPr lang="en-US" sz="140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At twelve months</a:t>
                      </a:r>
                      <a:endParaRPr lang="en-US" sz="140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BAUS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At least six months’ recovery for severe SUI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At least twelve months for mild–moderate SUI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AUA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Surgery may be offered for bothersome, non-improving SUI despite conservative care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Offer surgery for persisting bothersome SUI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4069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Severity by 24-hour pad weight: the Nitti classification BAUS uses</a:t>
            </a:r>
            <a:endParaRPr lang="en-US" sz="1300" dirty="0">
              <a:latin typeface="Plus Jakarta San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4480560"/>
            <a:ext cx="3454298" cy="1005840"/>
          </a:xfrm>
          <a:prstGeom prst="roundRect">
            <a:avLst>
              <a:gd name="adj" fmla="val 12727"/>
            </a:avLst>
          </a:prstGeom>
          <a:solidFill>
            <a:srgbClr val="2D2D2D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4754880"/>
            <a:ext cx="164592" cy="164592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36008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Mild</a:t>
            </a:r>
            <a:endParaRPr lang="en-US" sz="2000" dirty="0">
              <a:latin typeface="Plus Jakarta San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188720" y="504748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Under 100 g in 24 hours</a:t>
            </a:r>
            <a:endParaRPr lang="en-US" sz="1400" dirty="0">
              <a:latin typeface="Plus Jakarta San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68698" y="4480560"/>
            <a:ext cx="3454298" cy="1005840"/>
          </a:xfrm>
          <a:prstGeom prst="roundRect">
            <a:avLst>
              <a:gd name="adj" fmla="val 12727"/>
            </a:avLst>
          </a:prstGeom>
          <a:solidFill>
            <a:srgbClr val="2D2D2D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3018" y="4754880"/>
            <a:ext cx="164592" cy="164592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17338" y="4636008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Moderate</a:t>
            </a:r>
            <a:endParaRPr lang="en-US" sz="2000" dirty="0">
              <a:latin typeface="Plus Jakarta San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4917338" y="504748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100 to 400 g in 24 hours</a:t>
            </a:r>
            <a:endParaRPr lang="en-US" sz="1400" dirty="0">
              <a:latin typeface="Plus Jakarta San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097317" y="4480560"/>
            <a:ext cx="3454298" cy="1005840"/>
          </a:xfrm>
          <a:prstGeom prst="roundRect">
            <a:avLst>
              <a:gd name="adj" fmla="val 12727"/>
            </a:avLst>
          </a:prstGeom>
          <a:solidFill>
            <a:srgbClr val="2D2D2D"/>
          </a:solidFill>
          <a:ln/>
        </p:spPr>
      </p:sp>
      <p:sp>
        <p:nvSpPr>
          <p:cNvPr id="18" name="Shape 15"/>
          <p:cNvSpPr/>
          <p:nvPr/>
        </p:nvSpPr>
        <p:spPr>
          <a:xfrm>
            <a:off x="8371637" y="4754880"/>
            <a:ext cx="164592" cy="164592"/>
          </a:xfrm>
          <a:prstGeom prst="ellipse">
            <a:avLst/>
          </a:prstGeom>
          <a:solidFill>
            <a:srgbClr val="FF85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45957" y="4636008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85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Severe</a:t>
            </a:r>
            <a:endParaRPr lang="en-US" sz="2000" dirty="0">
              <a:latin typeface="Plus Jakarta Sans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8645957" y="504748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Over 400 g in 24 hours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99F3E1D9-23F9-48DE-A6C6-2A1B2B546CF4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Timing after prostate treatment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05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AUA24  ·  ICS16  ·  CCIFU  ·  FRAIL26</a:t>
            </a:r>
            <a:endParaRPr lang="en-US" sz="800" dirty="0">
              <a:latin typeface="Plus Jakarta Sans"/>
            </a:endParaRPr>
          </a:p>
        </p:txBody>
      </p:sp>
      <p:pic>
        <p:nvPicPr>
          <p:cNvPr id="6" name="Image 0" descr="C:\NityProjects\AUS-Presentation\repo\presentation\design\build\conticlassic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1828800"/>
            <a:ext cx="3291840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230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Rigicon ContiClassic, manufacturer illustration.</a:t>
            </a:r>
            <a:endParaRPr lang="en-US" sz="1100" dirty="0">
              <a:latin typeface="Plus Jakarta San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Pump assessment</a:t>
            </a:r>
            <a:endParaRPr lang="en-US" sz="1500" dirty="0">
              <a:latin typeface="Plus Jakarta San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67928" y="237744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Watch the patient operate a demonstration pump</a:t>
            </a:r>
            <a:endParaRPr lang="en-US" sz="1400" dirty="0">
              <a:latin typeface="Plus Jakarta San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321040" y="316839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67928" y="308610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Check reach, strength and understanding</a:t>
            </a:r>
            <a:endParaRPr lang="en-US" sz="1400" dirty="0">
              <a:latin typeface="Plus Jakarta San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321040" y="387705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67928" y="379476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Agree a position he can reach before surgery</a:t>
            </a:r>
            <a:endParaRPr lang="en-US" sz="1400" dirty="0">
              <a:latin typeface="Plus Jakarta San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321040" y="458571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67928" y="450342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Assess frailty as well as future pump use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8C36BB0F-D7ED-4BE2-8DCC-5C210C01A4CA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Pump use over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06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AUA24  ·  EAU26  ·  EAUSTR26  ·  AUAUDS26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2026 AUA abstract (IP09-22) looks at testing again; results not published. Current guidance stands.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Guidance</a:t>
            </a:r>
            <a:endParaRPr lang="en-US" sz="150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 recommends cystourethroscopy before SUI surgery</a:t>
            </a:r>
            <a:endParaRPr lang="en-US" sz="155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BAUS: VUDS for every candidate; cystoscopy when a narrowing is suspected, or with standard UDS where video is unavailable</a:t>
            </a:r>
            <a:endParaRPr lang="en-US" sz="155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Looking in advance is our preference, not a rule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Findings that change the plan</a:t>
            </a:r>
            <a:endParaRPr lang="en-US" sz="150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Stricture, bladder-neck contracture or anastomotic narrowing</a:t>
            </a:r>
            <a:endParaRPr lang="en-US" sz="1550" dirty="0">
              <a:latin typeface="Plus Jakarta San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Erosion, foreign material or stones</a:t>
            </a:r>
            <a:endParaRPr lang="en-US" sz="155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Tumour, or anything that means repeated scopes</a:t>
            </a:r>
            <a:endParaRPr lang="en-US" sz="15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EB93A475-7961-4B98-8C0F-EBF3837D1655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Flexible cystoscopy before implantation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07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EAU26  ·  AUA24  ·  ICS16  ·  AUASTATUS26  ·  AUAUDS26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three guidelines differ. The 2026 AUA abstract (IP09-22) is conference material; results not published.</a:t>
            </a:r>
            <a:endParaRPr lang="en-US" sz="1200" dirty="0">
              <a:latin typeface="Plus Jakarta San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69080"/>
                <a:gridCol w="44650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Guideline</a:t>
                      </a:r>
                      <a:endParaRPr lang="en-US" sz="140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Position</a:t>
                      </a:r>
                      <a:endParaRPr lang="en-US" sz="140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Clinical implication</a:t>
                      </a:r>
                      <a:endParaRPr lang="en-US" sz="140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BAUS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Video-urodynamics for surgical candidates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Follow the investigation pathway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EAU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UDS before invasive treatment, weak recommendation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Its own text still allows selective testing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AUA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UDS when it would change the diagnosis or counselling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Say what question the test should answer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8E6102BC-3876-4ABF-A6F9-6EF3F9D0BB8A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Urodynamics: BAUS, EAU and AUA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08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AUA24  ·  ICS16  ·  UDS14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small capacity may just be leakage. A weak contraction in the lab needs the real voiding history.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Main symptom, and a stress leak shown</a:t>
            </a:r>
            <a:endParaRPr lang="en-US" sz="1700" dirty="0">
              <a:latin typeface="Plus Jakarta San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25880" y="2560320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25880" y="2578608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Urine, bladder diary, free flow and repeated residual</a:t>
            </a:r>
            <a:endParaRPr lang="en-US" sz="1700" dirty="0">
              <a:latin typeface="Plus Jakarta San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25880" y="3310128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>
              <a:latin typeface="Plus Jakarta San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325880" y="3328416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Urethral anatomy and future access</a:t>
            </a:r>
            <a:endParaRPr lang="en-US" sz="170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5880" y="4059936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>
              <a:latin typeface="Plus Jakarta San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325880" y="4078224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urodynamic strategy your guideline recommends</a:t>
            </a:r>
            <a:endParaRPr lang="en-US" sz="1700" dirty="0"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25880" y="4809744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300" dirty="0">
              <a:latin typeface="Plus Jakarta San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325880" y="4828032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Is storage safe? Can he empty? Is the outlet stable?</a:t>
            </a:r>
            <a:endParaRPr lang="en-US" sz="17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DE7AA877-61D7-4BCE-8903-EF00BE0E31CB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Interpreting an imperfect study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09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AUSCO26  ·  CCSAFETY  ·  AUA24  ·  RT22  ·  FRAIL26  ·  REGRET26  ·  DEVICE26  ·  REPORT26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These two numbers do not compare the devices. The regret data say: counsel about leakage and future surgery.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94760"/>
          </a:xfrm>
          <a:prstGeom prst="roundRect">
            <a:avLst>
              <a:gd name="adj" fmla="val 3373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10312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AMS 800: zero-pad use</a:t>
            </a:r>
            <a:endParaRPr lang="en-US" sz="1500" dirty="0"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05840" y="246888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60%</a:t>
            </a:r>
            <a:endParaRPr lang="en-US" sz="66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05840" y="3794760"/>
            <a:ext cx="45642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61 / 101 at 12 months after activation</a:t>
            </a:r>
            <a:endParaRPr lang="en-US" sz="1400" dirty="0">
              <a:latin typeface="Plus Jakarta Sans"/>
            </a:endParaRPr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AUSCO 2026: 115 primary implants</a:t>
            </a:r>
            <a:endParaRPr lang="en-US" sz="1400" dirty="0">
              <a:latin typeface="Plus Jakarta San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05840" y="4709160"/>
            <a:ext cx="456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Manufacturer-funded, no comparison group, missing data, one year of follow-up.</a:t>
            </a:r>
            <a:endParaRPr lang="en-US" sz="1200" dirty="0">
              <a:latin typeface="Plus Jakarta San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55868" y="1783080"/>
            <a:ext cx="5295748" cy="3794760"/>
          </a:xfrm>
          <a:prstGeom prst="roundRect">
            <a:avLst>
              <a:gd name="adj" fmla="val 3373"/>
            </a:avLst>
          </a:prstGeom>
          <a:solidFill>
            <a:srgbClr val="2D2D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1628" y="210312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ContiClassic: device survival</a:t>
            </a:r>
            <a:endParaRPr lang="en-US" sz="1500" dirty="0">
              <a:latin typeface="Plus Jakarta San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621628" y="246888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93.2%</a:t>
            </a:r>
            <a:endParaRPr lang="en-US" sz="66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21628" y="3794760"/>
            <a:ext cx="45642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12-month Kaplan–Meier estimate</a:t>
            </a:r>
            <a:endParaRPr lang="en-US" sz="1400" dirty="0">
              <a:latin typeface="Plus Jakarta Sans"/>
            </a:endParaRPr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First 116 recipients, mixed indications</a:t>
            </a:r>
            <a:endParaRPr lang="en-US" sz="1400" dirty="0">
              <a:latin typeface="Plus Jakarta San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21628" y="4709160"/>
            <a:ext cx="456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Abstract only, no comparison group. A working device is not the same as a dry patient.</a:t>
            </a:r>
            <a:endParaRPr lang="en-US" sz="12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C53A2B93-F8DD-41C2-B4BC-17FFCFF8130C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Consent: improvement and lifetime burden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3457575"/>
            <a:ext cx="5476875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Separate overactivity, weak contraction and poor compliance, because each leads to a different decision.</a:t>
            </a:r>
            <a:endParaRPr lang="en-US" sz="1500" dirty="0">
              <a:solidFill>
                <a:srgbClr val="BFBFBF"/>
              </a:solidFill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Case 1: six pads and urgency</a:t>
            </a:r>
            <a:endParaRPr lang="en-US" sz="1300" dirty="0">
              <a:latin typeface="Plus Jakarta San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Urgency treatment and emptying</a:t>
            </a:r>
            <a:endParaRPr lang="en-US" sz="1300" dirty="0">
              <a:latin typeface="Plus Jakarta San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Case 2: weak contraction and residual urine</a:t>
            </a:r>
            <a:endParaRPr lang="en-US" sz="1300" dirty="0">
              <a:latin typeface="Plus Jakarta San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Catheterisation with a cuff in place</a:t>
            </a:r>
            <a:endParaRPr lang="en-US" sz="1300" dirty="0">
              <a:latin typeface="Plus Jakarta San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680960" y="34747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Detrusor overactivity and poor compliance</a:t>
            </a:r>
            <a:endParaRPr lang="en-US" sz="1300" dirty="0">
              <a:latin typeface="Plus Jakarta San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>
              <a:latin typeface="Plus Jakarta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>
              <a:latin typeface="Plus Jakarta San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C1CFB1B5-303A-44BB-BD5F-5E0A0C5032EC}"/>
              </a:ext>
            </a:extLst>
          </p:cNvPr>
          <p:cNvSpPr>
            <a:spLocks noGrp="1"/>
          </p:cNvSpPr>
          <p:nvPr/>
        </p:nvSpPr>
        <p:spPr>
          <a:xfrm>
            <a:off x="638175" y="1905000"/>
            <a:ext cx="5476875" cy="1314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600" b="1">
                <a:solidFill>
                  <a:srgbClr val="FFFFFF"/>
                </a:solidFill>
                <a:latin typeface="Plus Jakarta Sans"/>
              </a:defRPr>
            </a:defPPr>
            <a:lvl1pPr>
              <a:defRPr sz="3600" b="1">
                <a:solidFill>
                  <a:srgbClr val="FFFFFF"/>
                </a:solidFill>
                <a:latin typeface="Plus Jakarta Sans"/>
              </a:defRPr>
            </a:lvl1pPr>
            <a:lvl2pPr>
              <a:defRPr sz="3600" b="1">
                <a:solidFill>
                  <a:srgbClr val="FFFFFF"/>
                </a:solidFill>
                <a:latin typeface="Plus Jakarta Sans"/>
              </a:defRPr>
            </a:lvl2pPr>
            <a:lvl3pPr>
              <a:defRPr sz="3600" b="1">
                <a:solidFill>
                  <a:srgbClr val="FFFFFF"/>
                </a:solidFill>
                <a:latin typeface="Plus Jakarta Sans"/>
              </a:defRPr>
            </a:lvl3pPr>
            <a:lvl4pPr>
              <a:defRPr sz="3600" b="1">
                <a:solidFill>
                  <a:srgbClr val="FFFFFF"/>
                </a:solidFill>
                <a:latin typeface="Plus Jakarta Sans"/>
              </a:defRPr>
            </a:lvl4pPr>
            <a:lvl5pPr>
              <a:defRPr sz="3600" b="1">
                <a:solidFill>
                  <a:srgbClr val="FFFFFF"/>
                </a:solidFill>
                <a:latin typeface="Plus Jakarta Sans"/>
              </a:defRPr>
            </a:lvl5pPr>
            <a:lvl6pPr>
              <a:defRPr sz="3600" b="1">
                <a:solidFill>
                  <a:srgbClr val="FFFFFF"/>
                </a:solidFill>
                <a:latin typeface="Plus Jakarta Sans"/>
              </a:defRPr>
            </a:lvl6pPr>
            <a:lvl7pPr>
              <a:defRPr sz="3600" b="1">
                <a:solidFill>
                  <a:srgbClr val="FFFFFF"/>
                </a:solidFill>
                <a:latin typeface="Plus Jakarta Sans"/>
              </a:defRPr>
            </a:lvl7pPr>
            <a:lvl8pPr>
              <a:defRPr sz="3600" b="1">
                <a:solidFill>
                  <a:srgbClr val="FFFFFF"/>
                </a:solidFill>
                <a:latin typeface="Plus Jakarta Sans"/>
              </a:defRPr>
            </a:lvl8pPr>
            <a:lvl9pPr>
              <a:defRPr sz="3600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rPr sz="3600" b="1">
                <a:solidFill>
                  <a:srgbClr val="FFFFFF"/>
                </a:solidFill>
                <a:latin typeface="Plus Jakarta Sans"/>
              </a:rPr>
              <a:t>The bladder</a:t>
            </a:r>
          </a:p>
        </p:txBody>
      </p:sp>
      <p:sp>
        <p:nvSpPr>
          <p:cNvPr id="9010" name="Google Shape;50;p7"/>
          <p:cNvSpPr/>
          <p:nvPr/>
        </p:nvSpPr>
        <p:spPr>
          <a:xfrm>
            <a:off x="5810250" y="158115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615314" h="615315" extrusionOk="0">
                <a:moveTo>
                  <a:pt x="307372" y="0"/>
                </a:moveTo>
                <a:lnTo>
                  <a:pt x="295063" y="64094"/>
                </a:lnTo>
                <a:lnTo>
                  <a:pt x="281976" y="117458"/>
                </a:lnTo>
                <a:lnTo>
                  <a:pt x="266867" y="161336"/>
                </a:lnTo>
                <a:lnTo>
                  <a:pt x="248493" y="196971"/>
                </a:lnTo>
                <a:lnTo>
                  <a:pt x="196971" y="248493"/>
                </a:lnTo>
                <a:lnTo>
                  <a:pt x="161336" y="266867"/>
                </a:lnTo>
                <a:lnTo>
                  <a:pt x="117458" y="281976"/>
                </a:lnTo>
                <a:lnTo>
                  <a:pt x="64094" y="295063"/>
                </a:lnTo>
                <a:lnTo>
                  <a:pt x="0" y="307372"/>
                </a:lnTo>
                <a:lnTo>
                  <a:pt x="64094" y="319682"/>
                </a:lnTo>
                <a:lnTo>
                  <a:pt x="117458" y="332769"/>
                </a:lnTo>
                <a:lnTo>
                  <a:pt x="161336" y="347878"/>
                </a:lnTo>
                <a:lnTo>
                  <a:pt x="196971" y="366252"/>
                </a:lnTo>
                <a:lnTo>
                  <a:pt x="248493" y="417773"/>
                </a:lnTo>
                <a:lnTo>
                  <a:pt x="266867" y="453409"/>
                </a:lnTo>
                <a:lnTo>
                  <a:pt x="281976" y="497287"/>
                </a:lnTo>
                <a:lnTo>
                  <a:pt x="295063" y="550651"/>
                </a:lnTo>
                <a:lnTo>
                  <a:pt x="307372" y="614745"/>
                </a:lnTo>
                <a:lnTo>
                  <a:pt x="319682" y="550651"/>
                </a:lnTo>
                <a:lnTo>
                  <a:pt x="332769" y="497287"/>
                </a:lnTo>
                <a:lnTo>
                  <a:pt x="347878" y="453409"/>
                </a:lnTo>
                <a:lnTo>
                  <a:pt x="366252" y="417773"/>
                </a:lnTo>
                <a:lnTo>
                  <a:pt x="417773" y="366252"/>
                </a:lnTo>
                <a:lnTo>
                  <a:pt x="453409" y="347878"/>
                </a:lnTo>
                <a:lnTo>
                  <a:pt x="497287" y="332769"/>
                </a:lnTo>
                <a:lnTo>
                  <a:pt x="550651" y="319682"/>
                </a:lnTo>
                <a:lnTo>
                  <a:pt x="614745" y="307372"/>
                </a:lnTo>
                <a:lnTo>
                  <a:pt x="550651" y="295063"/>
                </a:lnTo>
                <a:lnTo>
                  <a:pt x="497287" y="281976"/>
                </a:lnTo>
                <a:lnTo>
                  <a:pt x="453409" y="266867"/>
                </a:lnTo>
                <a:lnTo>
                  <a:pt x="417773" y="248493"/>
                </a:lnTo>
                <a:lnTo>
                  <a:pt x="366252" y="196971"/>
                </a:lnTo>
                <a:lnTo>
                  <a:pt x="347878" y="161336"/>
                </a:lnTo>
                <a:lnTo>
                  <a:pt x="332769" y="117458"/>
                </a:lnTo>
                <a:lnTo>
                  <a:pt x="319682" y="64094"/>
                </a:lnTo>
                <a:lnTo>
                  <a:pt x="307372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11" name="Google Shape;49;p7"/>
          <p:cNvSpPr/>
          <p:nvPr/>
        </p:nvSpPr>
        <p:spPr>
          <a:xfrm>
            <a:off x="638175" y="1676400"/>
            <a:ext cx="552450" cy="85725"/>
          </a:xfrm>
          <a:custGeom>
            <a:avLst/>
            <a:gdLst/>
            <a:ahLst/>
            <a:cxnLst/>
            <a:rect l="l" t="t" r="r" b="b"/>
            <a:pathLst>
              <a:path w="2339340" h="539115" extrusionOk="0">
                <a:moveTo>
                  <a:pt x="2129736" y="0"/>
                </a:moveTo>
                <a:lnTo>
                  <a:pt x="209417" y="0"/>
                </a:lnTo>
                <a:lnTo>
                  <a:pt x="161399" y="5531"/>
                </a:lnTo>
                <a:lnTo>
                  <a:pt x="117319" y="21286"/>
                </a:lnTo>
                <a:lnTo>
                  <a:pt x="78436" y="46009"/>
                </a:lnTo>
                <a:lnTo>
                  <a:pt x="46005" y="78440"/>
                </a:lnTo>
                <a:lnTo>
                  <a:pt x="21284" y="117324"/>
                </a:lnTo>
                <a:lnTo>
                  <a:pt x="5530" y="161402"/>
                </a:lnTo>
                <a:lnTo>
                  <a:pt x="0" y="209417"/>
                </a:lnTo>
                <a:lnTo>
                  <a:pt x="0" y="329089"/>
                </a:lnTo>
                <a:lnTo>
                  <a:pt x="5530" y="377108"/>
                </a:lnTo>
                <a:lnTo>
                  <a:pt x="21284" y="421187"/>
                </a:lnTo>
                <a:lnTo>
                  <a:pt x="46005" y="460070"/>
                </a:lnTo>
                <a:lnTo>
                  <a:pt x="78436" y="492501"/>
                </a:lnTo>
                <a:lnTo>
                  <a:pt x="117319" y="517222"/>
                </a:lnTo>
                <a:lnTo>
                  <a:pt x="161399" y="532976"/>
                </a:lnTo>
                <a:lnTo>
                  <a:pt x="209417" y="538507"/>
                </a:lnTo>
                <a:lnTo>
                  <a:pt x="2129736" y="538507"/>
                </a:lnTo>
                <a:lnTo>
                  <a:pt x="2177754" y="532976"/>
                </a:lnTo>
                <a:lnTo>
                  <a:pt x="2221834" y="517222"/>
                </a:lnTo>
                <a:lnTo>
                  <a:pt x="2260717" y="492501"/>
                </a:lnTo>
                <a:lnTo>
                  <a:pt x="2293148" y="460070"/>
                </a:lnTo>
                <a:lnTo>
                  <a:pt x="2317869" y="421187"/>
                </a:lnTo>
                <a:lnTo>
                  <a:pt x="2333623" y="377108"/>
                </a:lnTo>
                <a:lnTo>
                  <a:pt x="2339153" y="329089"/>
                </a:lnTo>
                <a:lnTo>
                  <a:pt x="2339153" y="209417"/>
                </a:lnTo>
                <a:lnTo>
                  <a:pt x="2333623" y="161402"/>
                </a:lnTo>
                <a:lnTo>
                  <a:pt x="2317869" y="117324"/>
                </a:lnTo>
                <a:lnTo>
                  <a:pt x="2293148" y="78440"/>
                </a:lnTo>
                <a:lnTo>
                  <a:pt x="2260717" y="46009"/>
                </a:lnTo>
                <a:lnTo>
                  <a:pt x="2221834" y="21286"/>
                </a:lnTo>
                <a:lnTo>
                  <a:pt x="2177754" y="5531"/>
                </a:lnTo>
                <a:lnTo>
                  <a:pt x="2129736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10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DO24  ·  OAB11  ·  DOFAIL23  ·  CCIFU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DO alone does not rule out an AUS. The ContiClassic label requires bladder problems to be controlled or resolved first.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9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FICTIONAL CASE 01</a:t>
            </a:r>
            <a:endParaRPr lang="en-US" sz="9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31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Stress leak after prostatectomy, shown on examination</a:t>
            </a:r>
            <a:endParaRPr lang="en-US" sz="155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815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Urgency leakage and detrusor overactivity</a:t>
            </a:r>
            <a:endParaRPr lang="en-US" sz="155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313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Safe storage pressures and good emptying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Goal: walk without soaking his clothes</a:t>
            </a:r>
            <a:endParaRPr lang="en-US" sz="155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2320" y="1783080"/>
            <a:ext cx="4419295" cy="3611880"/>
          </a:xfrm>
          <a:prstGeom prst="roundRect">
            <a:avLst>
              <a:gd name="adj" fmla="val 3544"/>
            </a:avLst>
          </a:prstGeom>
          <a:solidFill>
            <a:srgbClr val="2D2D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057400"/>
            <a:ext cx="3687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Implant now or optimise first?</a:t>
            </a:r>
            <a:endParaRPr lang="en-US" sz="2400" dirty="0">
              <a:latin typeface="Plus Jakarta San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498080" y="36118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YOUR CALL</a:t>
            </a:r>
            <a:endParaRPr lang="en-US" sz="900" dirty="0">
              <a:latin typeface="Plus Jakarta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98080" y="3950208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05C48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3950208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IMPLANT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28278" y="3950208"/>
            <a:ext cx="1100938" cy="365760"/>
          </a:xfrm>
          <a:prstGeom prst="roundRect">
            <a:avLst>
              <a:gd name="adj" fmla="val 50000"/>
            </a:avLst>
          </a:prstGeom>
          <a:solidFill>
            <a:srgbClr val="89FF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28278" y="3950208"/>
            <a:ext cx="110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OPTIMISE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98080" y="4425696"/>
            <a:ext cx="139720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4425696"/>
            <a:ext cx="1397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INVESTIGATE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23299" y="4425696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F85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23299" y="44256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RECONSIDER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D0A0E2FF-D0EE-4560-BA16-B59354F20728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Case 1: six pads and urgency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11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AUAOAB24  ·  OAB11  ·  CCIFU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No one order of treatments has been shown to be best around a cuff.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Fix the reversible causes first</a:t>
            </a:r>
            <a:endParaRPr lang="en-US" sz="1700" dirty="0">
              <a:latin typeface="Plus Jakarta San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25880" y="2679192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25880" y="269748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Choose the drug with his memory and his residual in mind</a:t>
            </a:r>
            <a:endParaRPr lang="en-US" sz="1700" dirty="0">
              <a:latin typeface="Plus Jakarta San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25880" y="3547872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>
              <a:latin typeface="Plus Jakarta San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Before botulinum toxin, plan for retention and for repeat injections through a cuff</a:t>
            </a:r>
            <a:endParaRPr lang="en-US" sz="170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5880" y="4416552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>
              <a:latin typeface="Plus Jakarta San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325880" y="4434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Urgency after an AUS is a separate outcome; agree that beforehand</a:t>
            </a:r>
            <a:endParaRPr lang="en-US" sz="17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9958CA30-63EF-442C-B899-D7BF50C89BD4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Urgency treatment and emptying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12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DU23  ·  AUA24  ·  ICSUDS17  ·  CCIFU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weak-bladder studies do not prove safety in unresolved retention. No residual number decides it.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9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FICTIONAL CASE 02</a:t>
            </a:r>
            <a:endParaRPr lang="en-US" sz="9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31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Stress leakage with slow voiding</a:t>
            </a:r>
            <a:endParaRPr lang="en-US" sz="155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815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Urine left behind, again and again</a:t>
            </a:r>
            <a:endParaRPr lang="en-US" sz="155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313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Weak contraction and abdominal straining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Could still be a narrowing, or a test that inhibited him</a:t>
            </a:r>
            <a:endParaRPr lang="en-US" sz="155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2320" y="1783080"/>
            <a:ext cx="4419295" cy="3611880"/>
          </a:xfrm>
          <a:prstGeom prst="roundRect">
            <a:avLst>
              <a:gd name="adj" fmla="val 3544"/>
            </a:avLst>
          </a:prstGeom>
          <a:solidFill>
            <a:srgbClr val="2D2D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057400"/>
            <a:ext cx="3687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Would a reliable emptying plan change your answer?</a:t>
            </a:r>
            <a:endParaRPr lang="en-US" sz="2400" dirty="0">
              <a:latin typeface="Plus Jakarta San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498080" y="36118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YOUR CALL</a:t>
            </a:r>
            <a:endParaRPr lang="en-US" sz="900" dirty="0">
              <a:latin typeface="Plus Jakarta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98080" y="3950208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05C48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3950208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IMPLANT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28278" y="3950208"/>
            <a:ext cx="139720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28278" y="3950208"/>
            <a:ext cx="1397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INVESTIGATE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98080" y="4425696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F85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44256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RECONSIDER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A6BADFD9-7AE0-49AF-B45E-787DB6C887A6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Case 2: weak contraction and residual urine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13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CIC23  ·  CATH13  ·  CCIFU  ·  ICS16  ·  BAUSSCI26  ·  INSTR26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2026 survey found gaps in deactivation training. Follow the device instructions; there is no universal catheter size.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6638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Cuff fully deflated. Device deactivated.</a:t>
            </a:r>
            <a:endParaRPr lang="en-US" sz="2400" dirty="0">
              <a:latin typeface="Plus Jakarta Sans"/>
            </a:endParaRPr>
          </a:p>
        </p:txBody>
      </p:sp>
      <p:pic>
        <p:nvPicPr>
          <p:cNvPr id="8" name="Image 0" descr="C:\NityProjects\AUS-Presentation\repo\presentation\assets\cuff-bore-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14600"/>
            <a:ext cx="6638544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98664" y="1737360"/>
            <a:ext cx="3952951" cy="3794760"/>
          </a:xfrm>
          <a:prstGeom prst="roundRect">
            <a:avLst>
              <a:gd name="adj" fmla="val 3373"/>
            </a:avLst>
          </a:prstGeom>
          <a:solidFill>
            <a:srgbClr val="2D2D2D"/>
          </a:solidFill>
          <a:ln/>
        </p:spPr>
      </p:sp>
      <p:sp>
        <p:nvSpPr>
          <p:cNvPr id="10" name="Shape 7"/>
          <p:cNvSpPr/>
          <p:nvPr/>
        </p:nvSpPr>
        <p:spPr>
          <a:xfrm>
            <a:off x="7872984" y="2057400"/>
            <a:ext cx="365760" cy="36576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72984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>
              <a:latin typeface="Plus Jakarta San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375904" y="2039112"/>
            <a:ext cx="29471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Why does he catheterise, and how often?</a:t>
            </a:r>
            <a:endParaRPr lang="en-US" sz="1350" dirty="0">
              <a:latin typeface="Plus Jakarta San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872984" y="3246120"/>
            <a:ext cx="365760" cy="36576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72984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>
              <a:latin typeface="Plus Jakarta San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375904" y="3227832"/>
            <a:ext cx="29471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Check he can really do it, and agree the drainage route before the implant</a:t>
            </a:r>
            <a:endParaRPr lang="en-US" sz="1350" dirty="0">
              <a:latin typeface="Plus Jakarta San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872984" y="4434840"/>
            <a:ext cx="365760" cy="36576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72984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>
              <a:latin typeface="Plus Jakarta Sans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8375904" y="4416552"/>
            <a:ext cx="29471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Repeated or long-term catheters need a specialist plan</a:t>
            </a:r>
            <a:endParaRPr lang="en-US" sz="13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E7086DBE-E582-4843-AEA1-346B51BFCA2B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Catheterisation with a cuff in place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14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UDS09  ·  ICS16  ·  BAUS25  ·  CCIFU  ·  BAUSSCI26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Schematic traces, arbitrary units. Check the trace quality; check kidneys and upper tracts when storage pressure worries you.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94760"/>
          </a:xfrm>
          <a:prstGeom prst="roundRect">
            <a:avLst>
              <a:gd name="adj" fmla="val 3373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574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DO: transient contraction</a:t>
            </a:r>
            <a:endParaRPr lang="en-US" sz="150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4747108" cy="237744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960120" y="2560320"/>
          <a:ext cx="4655668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960120" y="50292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Involuntary filling contraction</a:t>
            </a:r>
            <a:endParaRPr lang="en-US" sz="1400" dirty="0">
              <a:latin typeface="Plus Jakarta San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55868" y="1783080"/>
            <a:ext cx="5295748" cy="3794760"/>
          </a:xfrm>
          <a:prstGeom prst="roundRect">
            <a:avLst>
              <a:gd name="adj" fmla="val 3373"/>
            </a:avLst>
          </a:prstGeom>
          <a:solidFill>
            <a:srgbClr val="2D2D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75908" y="20574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85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Poor compliance: sustained rise</a:t>
            </a:r>
            <a:endParaRPr lang="en-US" sz="1500" dirty="0">
              <a:latin typeface="Plus Jakarta San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30188" y="2514600"/>
            <a:ext cx="4747108" cy="237744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/>
        </p:spPr>
      </p:sp>
      <p:graphicFrame>
        <p:nvGraphicFramePr>
          <p:cNvPr id="15" name="Chart 1" descr=""/>
          <p:cNvGraphicFramePr/>
          <p:nvPr/>
        </p:nvGraphicFramePr>
        <p:xfrm>
          <a:off x="6575908" y="2560320"/>
          <a:ext cx="4655668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6575908" y="50292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separate storage-safety problem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46D6DA20-A383-4447-A9B7-F5AA397F52EC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Detrusor overactivity and poor compliance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3457575"/>
            <a:ext cx="5476875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Name the narrowing, prove the outlet is stable, and plan the tissue the cuff will need.</a:t>
            </a:r>
            <a:endParaRPr lang="en-US" sz="1500" dirty="0">
              <a:solidFill>
                <a:srgbClr val="BFBFBF"/>
              </a:solidFill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Reassessment and urethral stability</a:t>
            </a:r>
            <a:endParaRPr lang="en-US" sz="1300" dirty="0">
              <a:latin typeface="Plus Jakarta San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Case 3: radiation and recurrent VUAS</a:t>
            </a:r>
            <a:endParaRPr lang="en-US" sz="1300" dirty="0">
              <a:latin typeface="Plus Jakarta San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AUS after urethral reconstruction</a:t>
            </a:r>
            <a:endParaRPr lang="en-US" sz="1300" dirty="0">
              <a:latin typeface="Plus Jakarta San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Transcorporal placement: role and costs</a:t>
            </a:r>
            <a:endParaRPr lang="en-US" sz="1300" dirty="0">
              <a:latin typeface="Plus Jakarta San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>
              <a:latin typeface="Plus Jakarta San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>
              <a:latin typeface="Plus Jakarta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85931943-D4BD-4EC2-ADD5-A703B8753B42}"/>
              </a:ext>
            </a:extLst>
          </p:cNvPr>
          <p:cNvSpPr>
            <a:spLocks noGrp="1"/>
          </p:cNvSpPr>
          <p:nvPr/>
        </p:nvSpPr>
        <p:spPr>
          <a:xfrm>
            <a:off x="638175" y="1905000"/>
            <a:ext cx="5476875" cy="1314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600" b="1">
                <a:solidFill>
                  <a:srgbClr val="FFFFFF"/>
                </a:solidFill>
                <a:latin typeface="Plus Jakarta Sans"/>
              </a:defRPr>
            </a:defPPr>
            <a:lvl1pPr>
              <a:defRPr sz="3600" b="1">
                <a:solidFill>
                  <a:srgbClr val="FFFFFF"/>
                </a:solidFill>
                <a:latin typeface="Plus Jakarta Sans"/>
              </a:defRPr>
            </a:lvl1pPr>
            <a:lvl2pPr>
              <a:defRPr sz="3600" b="1">
                <a:solidFill>
                  <a:srgbClr val="FFFFFF"/>
                </a:solidFill>
                <a:latin typeface="Plus Jakarta Sans"/>
              </a:defRPr>
            </a:lvl2pPr>
            <a:lvl3pPr>
              <a:defRPr sz="3600" b="1">
                <a:solidFill>
                  <a:srgbClr val="FFFFFF"/>
                </a:solidFill>
                <a:latin typeface="Plus Jakarta Sans"/>
              </a:defRPr>
            </a:lvl3pPr>
            <a:lvl4pPr>
              <a:defRPr sz="3600" b="1">
                <a:solidFill>
                  <a:srgbClr val="FFFFFF"/>
                </a:solidFill>
                <a:latin typeface="Plus Jakarta Sans"/>
              </a:defRPr>
            </a:lvl4pPr>
            <a:lvl5pPr>
              <a:defRPr sz="3600" b="1">
                <a:solidFill>
                  <a:srgbClr val="FFFFFF"/>
                </a:solidFill>
                <a:latin typeface="Plus Jakarta Sans"/>
              </a:defRPr>
            </a:lvl5pPr>
            <a:lvl6pPr>
              <a:defRPr sz="3600" b="1">
                <a:solidFill>
                  <a:srgbClr val="FFFFFF"/>
                </a:solidFill>
                <a:latin typeface="Plus Jakarta Sans"/>
              </a:defRPr>
            </a:lvl6pPr>
            <a:lvl7pPr>
              <a:defRPr sz="3600" b="1">
                <a:solidFill>
                  <a:srgbClr val="FFFFFF"/>
                </a:solidFill>
                <a:latin typeface="Plus Jakarta Sans"/>
              </a:defRPr>
            </a:lvl7pPr>
            <a:lvl8pPr>
              <a:defRPr sz="3600" b="1">
                <a:solidFill>
                  <a:srgbClr val="FFFFFF"/>
                </a:solidFill>
                <a:latin typeface="Plus Jakarta Sans"/>
              </a:defRPr>
            </a:lvl8pPr>
            <a:lvl9pPr>
              <a:defRPr sz="3600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rPr sz="3600" b="1">
                <a:solidFill>
                  <a:srgbClr val="FFFFFF"/>
                </a:solidFill>
                <a:latin typeface="Plus Jakarta Sans"/>
              </a:rPr>
              <a:t>The urethra</a:t>
            </a:r>
          </a:p>
        </p:txBody>
      </p:sp>
      <p:sp>
        <p:nvSpPr>
          <p:cNvPr id="9010" name="Google Shape;50;p7"/>
          <p:cNvSpPr/>
          <p:nvPr/>
        </p:nvSpPr>
        <p:spPr>
          <a:xfrm>
            <a:off x="5810250" y="158115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615314" h="615315" extrusionOk="0">
                <a:moveTo>
                  <a:pt x="307372" y="0"/>
                </a:moveTo>
                <a:lnTo>
                  <a:pt x="295063" y="64094"/>
                </a:lnTo>
                <a:lnTo>
                  <a:pt x="281976" y="117458"/>
                </a:lnTo>
                <a:lnTo>
                  <a:pt x="266867" y="161336"/>
                </a:lnTo>
                <a:lnTo>
                  <a:pt x="248493" y="196971"/>
                </a:lnTo>
                <a:lnTo>
                  <a:pt x="196971" y="248493"/>
                </a:lnTo>
                <a:lnTo>
                  <a:pt x="161336" y="266867"/>
                </a:lnTo>
                <a:lnTo>
                  <a:pt x="117458" y="281976"/>
                </a:lnTo>
                <a:lnTo>
                  <a:pt x="64094" y="295063"/>
                </a:lnTo>
                <a:lnTo>
                  <a:pt x="0" y="307372"/>
                </a:lnTo>
                <a:lnTo>
                  <a:pt x="64094" y="319682"/>
                </a:lnTo>
                <a:lnTo>
                  <a:pt x="117458" y="332769"/>
                </a:lnTo>
                <a:lnTo>
                  <a:pt x="161336" y="347878"/>
                </a:lnTo>
                <a:lnTo>
                  <a:pt x="196971" y="366252"/>
                </a:lnTo>
                <a:lnTo>
                  <a:pt x="248493" y="417773"/>
                </a:lnTo>
                <a:lnTo>
                  <a:pt x="266867" y="453409"/>
                </a:lnTo>
                <a:lnTo>
                  <a:pt x="281976" y="497287"/>
                </a:lnTo>
                <a:lnTo>
                  <a:pt x="295063" y="550651"/>
                </a:lnTo>
                <a:lnTo>
                  <a:pt x="307372" y="614745"/>
                </a:lnTo>
                <a:lnTo>
                  <a:pt x="319682" y="550651"/>
                </a:lnTo>
                <a:lnTo>
                  <a:pt x="332769" y="497287"/>
                </a:lnTo>
                <a:lnTo>
                  <a:pt x="347878" y="453409"/>
                </a:lnTo>
                <a:lnTo>
                  <a:pt x="366252" y="417773"/>
                </a:lnTo>
                <a:lnTo>
                  <a:pt x="417773" y="366252"/>
                </a:lnTo>
                <a:lnTo>
                  <a:pt x="453409" y="347878"/>
                </a:lnTo>
                <a:lnTo>
                  <a:pt x="497287" y="332769"/>
                </a:lnTo>
                <a:lnTo>
                  <a:pt x="550651" y="319682"/>
                </a:lnTo>
                <a:lnTo>
                  <a:pt x="614745" y="307372"/>
                </a:lnTo>
                <a:lnTo>
                  <a:pt x="550651" y="295063"/>
                </a:lnTo>
                <a:lnTo>
                  <a:pt x="497287" y="281976"/>
                </a:lnTo>
                <a:lnTo>
                  <a:pt x="453409" y="266867"/>
                </a:lnTo>
                <a:lnTo>
                  <a:pt x="417773" y="248493"/>
                </a:lnTo>
                <a:lnTo>
                  <a:pt x="366252" y="196971"/>
                </a:lnTo>
                <a:lnTo>
                  <a:pt x="347878" y="161336"/>
                </a:lnTo>
                <a:lnTo>
                  <a:pt x="332769" y="117458"/>
                </a:lnTo>
                <a:lnTo>
                  <a:pt x="319682" y="64094"/>
                </a:lnTo>
                <a:lnTo>
                  <a:pt x="307372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11" name="Google Shape;49;p7"/>
          <p:cNvSpPr/>
          <p:nvPr/>
        </p:nvSpPr>
        <p:spPr>
          <a:xfrm>
            <a:off x="638175" y="1676400"/>
            <a:ext cx="552450" cy="85725"/>
          </a:xfrm>
          <a:custGeom>
            <a:avLst/>
            <a:gdLst/>
            <a:ahLst/>
            <a:cxnLst/>
            <a:rect l="l" t="t" r="r" b="b"/>
            <a:pathLst>
              <a:path w="2339340" h="539115" extrusionOk="0">
                <a:moveTo>
                  <a:pt x="2129736" y="0"/>
                </a:moveTo>
                <a:lnTo>
                  <a:pt x="209417" y="0"/>
                </a:lnTo>
                <a:lnTo>
                  <a:pt x="161399" y="5531"/>
                </a:lnTo>
                <a:lnTo>
                  <a:pt x="117319" y="21286"/>
                </a:lnTo>
                <a:lnTo>
                  <a:pt x="78436" y="46009"/>
                </a:lnTo>
                <a:lnTo>
                  <a:pt x="46005" y="78440"/>
                </a:lnTo>
                <a:lnTo>
                  <a:pt x="21284" y="117324"/>
                </a:lnTo>
                <a:lnTo>
                  <a:pt x="5530" y="161402"/>
                </a:lnTo>
                <a:lnTo>
                  <a:pt x="0" y="209417"/>
                </a:lnTo>
                <a:lnTo>
                  <a:pt x="0" y="329089"/>
                </a:lnTo>
                <a:lnTo>
                  <a:pt x="5530" y="377108"/>
                </a:lnTo>
                <a:lnTo>
                  <a:pt x="21284" y="421187"/>
                </a:lnTo>
                <a:lnTo>
                  <a:pt x="46005" y="460070"/>
                </a:lnTo>
                <a:lnTo>
                  <a:pt x="78436" y="492501"/>
                </a:lnTo>
                <a:lnTo>
                  <a:pt x="117319" y="517222"/>
                </a:lnTo>
                <a:lnTo>
                  <a:pt x="161399" y="532976"/>
                </a:lnTo>
                <a:lnTo>
                  <a:pt x="209417" y="538507"/>
                </a:lnTo>
                <a:lnTo>
                  <a:pt x="2129736" y="538507"/>
                </a:lnTo>
                <a:lnTo>
                  <a:pt x="2177754" y="532976"/>
                </a:lnTo>
                <a:lnTo>
                  <a:pt x="2221834" y="517222"/>
                </a:lnTo>
                <a:lnTo>
                  <a:pt x="2260717" y="492501"/>
                </a:lnTo>
                <a:lnTo>
                  <a:pt x="2293148" y="460070"/>
                </a:lnTo>
                <a:lnTo>
                  <a:pt x="2317869" y="421187"/>
                </a:lnTo>
                <a:lnTo>
                  <a:pt x="2333623" y="377108"/>
                </a:lnTo>
                <a:lnTo>
                  <a:pt x="2339153" y="329089"/>
                </a:lnTo>
                <a:lnTo>
                  <a:pt x="2339153" y="209417"/>
                </a:lnTo>
                <a:lnTo>
                  <a:pt x="2333623" y="161402"/>
                </a:lnTo>
                <a:lnTo>
                  <a:pt x="2317869" y="117324"/>
                </a:lnTo>
                <a:lnTo>
                  <a:pt x="2293148" y="78440"/>
                </a:lnTo>
                <a:lnTo>
                  <a:pt x="2260717" y="46009"/>
                </a:lnTo>
                <a:lnTo>
                  <a:pt x="2221834" y="21286"/>
                </a:lnTo>
                <a:lnTo>
                  <a:pt x="2177754" y="5531"/>
                </a:lnTo>
                <a:lnTo>
                  <a:pt x="2129736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15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AUA24  ·  EAUSTR26  ·  ICS16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Three intervals for three situations. The pattern of recurrence, the tissue and future access decide.</a:t>
            </a:r>
            <a:endParaRPr lang="en-US" sz="1200" dirty="0">
              <a:latin typeface="Plus Jakarta Sans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69080"/>
                <a:gridCol w="44650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Guideline</a:t>
                      </a:r>
                      <a:endParaRPr lang="en-US" sz="140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Interval</a:t>
                      </a:r>
                      <a:endParaRPr lang="en-US" sz="140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The relevant pathway</a:t>
                      </a:r>
                      <a:endParaRPr lang="en-US" sz="140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AUA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At least 4–6 weeks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 check scope after treating a symptomatic bladder-neck or anastomotic narrowing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EAU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3–6 months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After a redo bladder–urethra anastomosis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BAUS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At least six months without recurrence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After treatment of post-prostatectomy narrowing</a:t>
                      </a:r>
                      <a:endParaRPr lang="en-US" sz="150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72CDCA97-D639-4AE3-B276-DA355CA405CF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Reassessment and urethral stability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16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RT22  ·  BAUS25  ·  EAUSTR26  ·  AUA24  ·  RTTIME25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Radiotherapy raises the risk. A 2025 study sets no waiting rule; a stable outlet and reconstruction come first.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9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FICTIONAL CASE 03</a:t>
            </a:r>
            <a:endParaRPr lang="en-US" sz="9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31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Radical prostatectomy and salvage radiotherapy</a:t>
            </a:r>
            <a:endParaRPr lang="en-US" sz="155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815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Severe leak whenever the narrowing is open</a:t>
            </a:r>
            <a:endParaRPr lang="en-US" sz="155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313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anastomosis keeps narrowing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It only stays open because we keep treating it</a:t>
            </a:r>
            <a:endParaRPr lang="en-US" sz="155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2320" y="1783080"/>
            <a:ext cx="4419295" cy="3611880"/>
          </a:xfrm>
          <a:prstGeom prst="roundRect">
            <a:avLst>
              <a:gd name="adj" fmla="val 3544"/>
            </a:avLst>
          </a:prstGeom>
          <a:solidFill>
            <a:srgbClr val="2D2D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057400"/>
            <a:ext cx="3687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Implant, stage reconstruction or reconsider the endpoint?</a:t>
            </a:r>
            <a:endParaRPr lang="en-US" sz="2400" dirty="0">
              <a:latin typeface="Plus Jakarta San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498080" y="36118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YOUR CALL</a:t>
            </a:r>
            <a:endParaRPr lang="en-US" sz="900" dirty="0">
              <a:latin typeface="Plus Jakarta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98080" y="3950208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05C48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3950208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IMPLANT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28278" y="3950208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28278" y="395020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STAGE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60966" y="395020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F85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60966" y="395020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RECONSIDER</a:t>
            </a:r>
            <a:endParaRPr lang="en-US" sz="10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C16403E4-646A-42F4-9C92-2F1F03AA575B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Case 3: radiation and recurrent VUAS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17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URETH26  ·  BAUS25  ·  AUA24  ·  ICS16  ·  URETHMETA26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2026 meta-analysis: a previous urethroplasty means more removals; repairs that cut the urethra across carry more erosion. Observational data.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The reconstruction history</a:t>
            </a:r>
            <a:endParaRPr lang="en-US" sz="150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Repair site and operative report</a:t>
            </a:r>
            <a:endParaRPr lang="en-US" sz="155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Was the urethra cut across, or not?</a:t>
            </a:r>
            <a:endParaRPr lang="en-US" sz="155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Prior erosion, graft or posterior reconstruction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The next operation</a:t>
            </a:r>
            <a:endParaRPr lang="en-US" sz="150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Keep the remaining tissue and its blood supply</a:t>
            </a:r>
            <a:endParaRPr lang="en-US" sz="1550" dirty="0">
              <a:latin typeface="Plus Jakarta San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Choose healthy tissue for the cuff</a:t>
            </a:r>
            <a:endParaRPr lang="en-US" sz="155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No safe plane? Reassess, or do it in stages</a:t>
            </a:r>
            <a:endParaRPr lang="en-US" sz="15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92C2234B-9A31-4927-A006-84594899D6F4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AUS after urethral reconstruction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18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TC20  ·  TC23  ·  BAUS25  ·  AP23  ·  TCSYS25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latest review suggests less erosion but more revision. Non-randomised data cannot prove protection.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Selected role</a:t>
            </a:r>
            <a:endParaRPr lang="en-US" sz="150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dangerous plane behind the urethra</a:t>
            </a:r>
            <a:endParaRPr lang="en-US" sz="155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move for one specific dissection problem</a:t>
            </a:r>
            <a:endParaRPr lang="en-US" sz="155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Whether it protects from erosion is unproven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Costs and limitations</a:t>
            </a:r>
            <a:endParaRPr lang="en-US" sz="150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Injury and bleeding from the erectile bodies</a:t>
            </a:r>
            <a:endParaRPr lang="en-US" sz="1550" dirty="0">
              <a:latin typeface="Plus Jakarta San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Effects on erections and on any future penile implant</a:t>
            </a:r>
            <a:endParaRPr lang="en-US" sz="155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worst urethras get it, which muddies the comparisons</a:t>
            </a:r>
            <a:endParaRPr lang="en-US" sz="15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C4D34D64-FAE7-42F4-A95D-E276BF94926B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Transcorporal placement: role and costs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3457575"/>
            <a:ext cx="5476875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Identify the activity, the product and the evidence before debating a duration.</a:t>
            </a:r>
            <a:endParaRPr lang="en-US" sz="1500" dirty="0">
              <a:solidFill>
                <a:srgbClr val="BFBFBF"/>
              </a:solidFill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fifteen-minute wash question</a:t>
            </a:r>
            <a:endParaRPr lang="en-US" sz="1300" dirty="0">
              <a:latin typeface="Plus Jakarta San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Skin culture reduction and clinical infection</a:t>
            </a:r>
            <a:endParaRPr lang="en-US" sz="1300" dirty="0">
              <a:latin typeface="Plus Jakarta San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Urine and antibiotic disagreements</a:t>
            </a:r>
            <a:endParaRPr lang="en-US" sz="1300" dirty="0">
              <a:latin typeface="Plus Jakarta San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Contamination control during implantation</a:t>
            </a:r>
            <a:endParaRPr lang="en-US" sz="1300" dirty="0">
              <a:latin typeface="Plus Jakarta San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680960" y="34747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pre-implant theatre checklist</a:t>
            </a:r>
            <a:endParaRPr lang="en-US" sz="1300" dirty="0">
              <a:latin typeface="Plus Jakarta San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>
              <a:latin typeface="Plus Jakarta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>
              <a:latin typeface="Plus Jakarta San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A78B9711-5F8F-4349-9C6C-DF7F3CDEB36D}"/>
              </a:ext>
            </a:extLst>
          </p:cNvPr>
          <p:cNvSpPr>
            <a:spLocks noGrp="1"/>
          </p:cNvSpPr>
          <p:nvPr/>
        </p:nvSpPr>
        <p:spPr>
          <a:xfrm>
            <a:off x="638175" y="1905000"/>
            <a:ext cx="5476875" cy="1314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600" b="1">
                <a:solidFill>
                  <a:srgbClr val="FFFFFF"/>
                </a:solidFill>
                <a:latin typeface="Plus Jakarta Sans"/>
              </a:defRPr>
            </a:defPPr>
            <a:lvl1pPr>
              <a:defRPr sz="3600" b="1">
                <a:solidFill>
                  <a:srgbClr val="FFFFFF"/>
                </a:solidFill>
                <a:latin typeface="Plus Jakarta Sans"/>
              </a:defRPr>
            </a:lvl1pPr>
            <a:lvl2pPr>
              <a:defRPr sz="3600" b="1">
                <a:solidFill>
                  <a:srgbClr val="FFFFFF"/>
                </a:solidFill>
                <a:latin typeface="Plus Jakarta Sans"/>
              </a:defRPr>
            </a:lvl2pPr>
            <a:lvl3pPr>
              <a:defRPr sz="3600" b="1">
                <a:solidFill>
                  <a:srgbClr val="FFFFFF"/>
                </a:solidFill>
                <a:latin typeface="Plus Jakarta Sans"/>
              </a:defRPr>
            </a:lvl3pPr>
            <a:lvl4pPr>
              <a:defRPr sz="3600" b="1">
                <a:solidFill>
                  <a:srgbClr val="FFFFFF"/>
                </a:solidFill>
                <a:latin typeface="Plus Jakarta Sans"/>
              </a:defRPr>
            </a:lvl4pPr>
            <a:lvl5pPr>
              <a:defRPr sz="3600" b="1">
                <a:solidFill>
                  <a:srgbClr val="FFFFFF"/>
                </a:solidFill>
                <a:latin typeface="Plus Jakarta Sans"/>
              </a:defRPr>
            </a:lvl5pPr>
            <a:lvl6pPr>
              <a:defRPr sz="3600" b="1">
                <a:solidFill>
                  <a:srgbClr val="FFFFFF"/>
                </a:solidFill>
                <a:latin typeface="Plus Jakarta Sans"/>
              </a:defRPr>
            </a:lvl6pPr>
            <a:lvl7pPr>
              <a:defRPr sz="3600" b="1">
                <a:solidFill>
                  <a:srgbClr val="FFFFFF"/>
                </a:solidFill>
                <a:latin typeface="Plus Jakarta Sans"/>
              </a:defRPr>
            </a:lvl7pPr>
            <a:lvl8pPr>
              <a:defRPr sz="3600" b="1">
                <a:solidFill>
                  <a:srgbClr val="FFFFFF"/>
                </a:solidFill>
                <a:latin typeface="Plus Jakarta Sans"/>
              </a:defRPr>
            </a:lvl8pPr>
            <a:lvl9pPr>
              <a:defRPr sz="3600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rPr sz="3600" b="1">
                <a:solidFill>
                  <a:srgbClr val="FFFFFF"/>
                </a:solidFill>
                <a:latin typeface="Plus Jakarta Sans"/>
              </a:rPr>
              <a:t>Preparation without ritual</a:t>
            </a:r>
          </a:p>
        </p:txBody>
      </p:sp>
      <p:sp>
        <p:nvSpPr>
          <p:cNvPr id="9010" name="Google Shape;50;p7"/>
          <p:cNvSpPr/>
          <p:nvPr/>
        </p:nvSpPr>
        <p:spPr>
          <a:xfrm>
            <a:off x="5810250" y="158115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615314" h="615315" extrusionOk="0">
                <a:moveTo>
                  <a:pt x="307372" y="0"/>
                </a:moveTo>
                <a:lnTo>
                  <a:pt x="295063" y="64094"/>
                </a:lnTo>
                <a:lnTo>
                  <a:pt x="281976" y="117458"/>
                </a:lnTo>
                <a:lnTo>
                  <a:pt x="266867" y="161336"/>
                </a:lnTo>
                <a:lnTo>
                  <a:pt x="248493" y="196971"/>
                </a:lnTo>
                <a:lnTo>
                  <a:pt x="196971" y="248493"/>
                </a:lnTo>
                <a:lnTo>
                  <a:pt x="161336" y="266867"/>
                </a:lnTo>
                <a:lnTo>
                  <a:pt x="117458" y="281976"/>
                </a:lnTo>
                <a:lnTo>
                  <a:pt x="64094" y="295063"/>
                </a:lnTo>
                <a:lnTo>
                  <a:pt x="0" y="307372"/>
                </a:lnTo>
                <a:lnTo>
                  <a:pt x="64094" y="319682"/>
                </a:lnTo>
                <a:lnTo>
                  <a:pt x="117458" y="332769"/>
                </a:lnTo>
                <a:lnTo>
                  <a:pt x="161336" y="347878"/>
                </a:lnTo>
                <a:lnTo>
                  <a:pt x="196971" y="366252"/>
                </a:lnTo>
                <a:lnTo>
                  <a:pt x="248493" y="417773"/>
                </a:lnTo>
                <a:lnTo>
                  <a:pt x="266867" y="453409"/>
                </a:lnTo>
                <a:lnTo>
                  <a:pt x="281976" y="497287"/>
                </a:lnTo>
                <a:lnTo>
                  <a:pt x="295063" y="550651"/>
                </a:lnTo>
                <a:lnTo>
                  <a:pt x="307372" y="614745"/>
                </a:lnTo>
                <a:lnTo>
                  <a:pt x="319682" y="550651"/>
                </a:lnTo>
                <a:lnTo>
                  <a:pt x="332769" y="497287"/>
                </a:lnTo>
                <a:lnTo>
                  <a:pt x="347878" y="453409"/>
                </a:lnTo>
                <a:lnTo>
                  <a:pt x="366252" y="417773"/>
                </a:lnTo>
                <a:lnTo>
                  <a:pt x="417773" y="366252"/>
                </a:lnTo>
                <a:lnTo>
                  <a:pt x="453409" y="347878"/>
                </a:lnTo>
                <a:lnTo>
                  <a:pt x="497287" y="332769"/>
                </a:lnTo>
                <a:lnTo>
                  <a:pt x="550651" y="319682"/>
                </a:lnTo>
                <a:lnTo>
                  <a:pt x="614745" y="307372"/>
                </a:lnTo>
                <a:lnTo>
                  <a:pt x="550651" y="295063"/>
                </a:lnTo>
                <a:lnTo>
                  <a:pt x="497287" y="281976"/>
                </a:lnTo>
                <a:lnTo>
                  <a:pt x="453409" y="266867"/>
                </a:lnTo>
                <a:lnTo>
                  <a:pt x="417773" y="248493"/>
                </a:lnTo>
                <a:lnTo>
                  <a:pt x="366252" y="196971"/>
                </a:lnTo>
                <a:lnTo>
                  <a:pt x="347878" y="161336"/>
                </a:lnTo>
                <a:lnTo>
                  <a:pt x="332769" y="117458"/>
                </a:lnTo>
                <a:lnTo>
                  <a:pt x="319682" y="64094"/>
                </a:lnTo>
                <a:lnTo>
                  <a:pt x="307372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11" name="Google Shape;49;p7"/>
          <p:cNvSpPr/>
          <p:nvPr/>
        </p:nvSpPr>
        <p:spPr>
          <a:xfrm>
            <a:off x="638175" y="1676400"/>
            <a:ext cx="552450" cy="85725"/>
          </a:xfrm>
          <a:custGeom>
            <a:avLst/>
            <a:gdLst/>
            <a:ahLst/>
            <a:cxnLst/>
            <a:rect l="l" t="t" r="r" b="b"/>
            <a:pathLst>
              <a:path w="2339340" h="539115" extrusionOk="0">
                <a:moveTo>
                  <a:pt x="2129736" y="0"/>
                </a:moveTo>
                <a:lnTo>
                  <a:pt x="209417" y="0"/>
                </a:lnTo>
                <a:lnTo>
                  <a:pt x="161399" y="5531"/>
                </a:lnTo>
                <a:lnTo>
                  <a:pt x="117319" y="21286"/>
                </a:lnTo>
                <a:lnTo>
                  <a:pt x="78436" y="46009"/>
                </a:lnTo>
                <a:lnTo>
                  <a:pt x="46005" y="78440"/>
                </a:lnTo>
                <a:lnTo>
                  <a:pt x="21284" y="117324"/>
                </a:lnTo>
                <a:lnTo>
                  <a:pt x="5530" y="161402"/>
                </a:lnTo>
                <a:lnTo>
                  <a:pt x="0" y="209417"/>
                </a:lnTo>
                <a:lnTo>
                  <a:pt x="0" y="329089"/>
                </a:lnTo>
                <a:lnTo>
                  <a:pt x="5530" y="377108"/>
                </a:lnTo>
                <a:lnTo>
                  <a:pt x="21284" y="421187"/>
                </a:lnTo>
                <a:lnTo>
                  <a:pt x="46005" y="460070"/>
                </a:lnTo>
                <a:lnTo>
                  <a:pt x="78436" y="492501"/>
                </a:lnTo>
                <a:lnTo>
                  <a:pt x="117319" y="517222"/>
                </a:lnTo>
                <a:lnTo>
                  <a:pt x="161399" y="532976"/>
                </a:lnTo>
                <a:lnTo>
                  <a:pt x="209417" y="538507"/>
                </a:lnTo>
                <a:lnTo>
                  <a:pt x="2129736" y="538507"/>
                </a:lnTo>
                <a:lnTo>
                  <a:pt x="2177754" y="532976"/>
                </a:lnTo>
                <a:lnTo>
                  <a:pt x="2221834" y="517222"/>
                </a:lnTo>
                <a:lnTo>
                  <a:pt x="2260717" y="492501"/>
                </a:lnTo>
                <a:lnTo>
                  <a:pt x="2293148" y="460070"/>
                </a:lnTo>
                <a:lnTo>
                  <a:pt x="2317869" y="421187"/>
                </a:lnTo>
                <a:lnTo>
                  <a:pt x="2333623" y="377108"/>
                </a:lnTo>
                <a:lnTo>
                  <a:pt x="2339153" y="329089"/>
                </a:lnTo>
                <a:lnTo>
                  <a:pt x="2339153" y="209417"/>
                </a:lnTo>
                <a:lnTo>
                  <a:pt x="2333623" y="161402"/>
                </a:lnTo>
                <a:lnTo>
                  <a:pt x="2317869" y="117324"/>
                </a:lnTo>
                <a:lnTo>
                  <a:pt x="2293148" y="78440"/>
                </a:lnTo>
                <a:lnTo>
                  <a:pt x="2260717" y="46009"/>
                </a:lnTo>
                <a:lnTo>
                  <a:pt x="2221834" y="21286"/>
                </a:lnTo>
                <a:lnTo>
                  <a:pt x="2177754" y="5531"/>
                </a:lnTo>
                <a:lnTo>
                  <a:pt x="2129736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19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NICE  ·  WHO09  ·  PREP24  ·  IRRIG26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BAUS’s five-minute field scrub is consensus, borrowed from other implants. Product timings are for different activities.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No AUS evidence supports a fixed 15-minute preparation</a:t>
            </a:r>
            <a:endParaRPr lang="en-US" sz="1900" dirty="0">
              <a:latin typeface="Plus Jakarta San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318608" cy="1325880"/>
          </a:xfrm>
          <a:prstGeom prst="roundRect">
            <a:avLst>
              <a:gd name="adj" fmla="val 9655"/>
            </a:avLst>
          </a:prstGeom>
          <a:solidFill>
            <a:srgbClr val="2D2D2D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898648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>
              <a:latin typeface="Plus Jakarta San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463040" y="28803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Washing at home</a:t>
            </a:r>
            <a:endParaRPr lang="en-US" sz="1500" dirty="0">
              <a:latin typeface="Plus Jakarta San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463040" y="3264408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Soap, the day before or the day of surgery</a:t>
            </a:r>
            <a:endParaRPr lang="en-US" sz="140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33008" y="2606040"/>
            <a:ext cx="5318608" cy="1325880"/>
          </a:xfrm>
          <a:prstGeom prst="roundRect">
            <a:avLst>
              <a:gd name="adj" fmla="val 9655"/>
            </a:avLst>
          </a:prstGeom>
          <a:solidFill>
            <a:srgbClr val="2D2D2D"/>
          </a:solidFill>
          <a:ln/>
        </p:spPr>
      </p:sp>
      <p:sp>
        <p:nvSpPr>
          <p:cNvPr id="14" name="Shape 12"/>
          <p:cNvSpPr/>
          <p:nvPr/>
        </p:nvSpPr>
        <p:spPr>
          <a:xfrm>
            <a:off x="6507328" y="2898648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73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>
              <a:latin typeface="Plus Jakarta San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055968" y="28803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Skin preparation in theatre</a:t>
            </a:r>
            <a:endParaRPr lang="en-US" sz="1500" dirty="0">
              <a:latin typeface="Plus Jakarta San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055968" y="3264408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Right product, right site, contact time, fully dry</a:t>
            </a:r>
            <a:endParaRPr lang="en-US" sz="140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5318608" cy="1325880"/>
          </a:xfrm>
          <a:prstGeom prst="roundRect">
            <a:avLst>
              <a:gd name="adj" fmla="val 9655"/>
            </a:avLst>
          </a:prstGeom>
          <a:solidFill>
            <a:srgbClr val="2D2D2D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498848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>
              <a:latin typeface="Plus Jakarta San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463040" y="44805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Hand antisepsis</a:t>
            </a:r>
            <a:endParaRPr lang="en-US" sz="1500" dirty="0">
              <a:latin typeface="Plus Jakarta San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463040" y="4864608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team’s hands and forearms</a:t>
            </a:r>
            <a:endParaRPr lang="en-US" sz="1400" dirty="0">
              <a:latin typeface="Plus Jakarta San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33008" y="4206240"/>
            <a:ext cx="5318608" cy="1325880"/>
          </a:xfrm>
          <a:prstGeom prst="roundRect">
            <a:avLst>
              <a:gd name="adj" fmla="val 9655"/>
            </a:avLst>
          </a:prstGeom>
          <a:solidFill>
            <a:srgbClr val="2D2D2D"/>
          </a:solidFill>
          <a:ln/>
        </p:spPr>
      </p:sp>
      <p:sp>
        <p:nvSpPr>
          <p:cNvPr id="24" name="Shape 22"/>
          <p:cNvSpPr/>
          <p:nvPr/>
        </p:nvSpPr>
        <p:spPr>
          <a:xfrm>
            <a:off x="6507328" y="4498848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07328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>
              <a:latin typeface="Plus Jakarta San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055968" y="44805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Washout and device preparation</a:t>
            </a:r>
            <a:endParaRPr lang="en-US" sz="1500" dirty="0">
              <a:latin typeface="Plus Jakarta San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055968" y="4864608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Separate steps, each with its own rules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041A3DC2-528B-4C0D-AAC3-5D8AB7D4C6B9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The fifteen-minute wash question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20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YEUNG13  ·  PREP24  ·  NICE  ·  CHLORA26  ·  BAUS25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Yeung 2013: 100 first genitourinary implants, 50 per arm. Skin cultures after preparation, not AUS infections; no timing tested.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035040" cy="3794760"/>
          </a:xfrm>
          <a:prstGeom prst="roundRect">
            <a:avLst>
              <a:gd name="adj" fmla="val 3373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57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Positive post-preparation skin cultures</a:t>
            </a:r>
            <a:endParaRPr lang="en-US" sz="1300" dirty="0">
              <a:latin typeface="Plus Jakarta Sans"/>
            </a:endParaRPr>
          </a:p>
        </p:txBody>
      </p:sp>
      <p:graphicFrame>
        <p:nvGraphicFramePr>
          <p:cNvPr id="9" name="Chart 0" descr=""/>
          <p:cNvGraphicFramePr/>
          <p:nvPr/>
        </p:nvGraphicFramePr>
        <p:xfrm>
          <a:off x="960120" y="242316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132320" y="182880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A laboratory measure, not infections</a:t>
            </a:r>
            <a:endParaRPr lang="en-US" sz="2000" dirty="0">
              <a:latin typeface="Plus Jakarta San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132320" y="2468880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No study shows fewer AUS infections</a:t>
            </a:r>
            <a:endParaRPr lang="en-US" sz="1500" dirty="0">
              <a:latin typeface="Plus Jakarta San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132320" y="3429000"/>
            <a:ext cx="4419295" cy="1188720"/>
          </a:xfrm>
          <a:prstGeom prst="roundRect">
            <a:avLst>
              <a:gd name="adj" fmla="val 10769"/>
            </a:avLst>
          </a:prstGeom>
          <a:solidFill>
            <a:srgbClr val="2D2D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52360" y="3611880"/>
            <a:ext cx="3779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The right product, the right site and full drying still matter</a:t>
            </a:r>
            <a:endParaRPr lang="en-US" sz="15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22F97CA1-AEA1-4392-90E2-24325544654B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Skin culture reduction and clinical infection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21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IDSA19  ·  BAUS25  ·  AUAABX20  ·  ABX18  ·  CCIFU  ·  AUAABX26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2026 AUA abstract (IP09-18) covers antibiotics after surgery; results not published. Agree the label with local microbiology policy.</a:t>
            </a:r>
            <a:endParaRPr lang="en-US" sz="1200" dirty="0">
              <a:latin typeface="Plus Jakarta Sans"/>
            </a:endParaRPr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710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Question</a:t>
                      </a:r>
                      <a:endParaRPr lang="en-US" sz="12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Evidence or instruction</a:t>
                      </a:r>
                      <a:endParaRPr lang="en-US" sz="12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Symptomatic infection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Treat and reassess before implantation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Asymptomatic bacteriuria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BAUS says test and treat; IDSA says do not screen or treat for an AUS alone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Prophylaxis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Give before the incision; repeat the dose if the operation is long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Postoperative antibiotics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Older observational data show no clear benefit; the ContiClassic label asks for a longer course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EC5F33C2-3C21-48C1-B2C5-4D5D149C314C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Urine and antibiotic disagreements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22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TOUCH23  ·  NICE  ·  AP23  ·  CCIFU  ·  IRRIG26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2026 AMS 800 cohort: infections 1 in 59 with gentamicin vs 2 in 114 without. Three events prove nothing either way.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Protect the implant until the field is ready</a:t>
            </a:r>
            <a:endParaRPr lang="en-US" sz="1700" dirty="0">
              <a:latin typeface="Plus Jakarta San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25880" y="2679192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25880" y="269748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Limit skin contact and unnecessary handling</a:t>
            </a:r>
            <a:endParaRPr lang="en-US" sz="1700" dirty="0">
              <a:latin typeface="Plus Jakarta San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25880" y="3547872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>
              <a:latin typeface="Plus Jakarta San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Fresh sterile gloves before touching the device, and a pause to check</a:t>
            </a:r>
            <a:endParaRPr lang="en-US" sz="170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5880" y="4416552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>
              <a:latin typeface="Plus Jakarta San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325880" y="4434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Keep washout, device dipping and device filling separate</a:t>
            </a:r>
            <a:endParaRPr lang="en-US" sz="17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1B44E308-90C5-4503-A87F-5F39DEDCCCA9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Contamination control during implantation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23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NICE  ·  BAUS25  ·  CCIFU  ·  AUAABX20  ·  IRRIG26</a:t>
            </a:r>
            <a:endParaRPr lang="en-US" sz="800" dirty="0">
              <a:latin typeface="Plus Jakarta Sans"/>
            </a:endParaRPr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710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Check</a:t>
                      </a:r>
                      <a:endParaRPr lang="en-US" sz="12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Basis</a:t>
                      </a:r>
                      <a:endParaRPr lang="en-US" sz="12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Indication, infection review, prophylaxis and asepsis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Guidance-supported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Antiseptic, drying, antibiotic choice and redosing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Product and local policy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Model, sizes, pressure, preparation and drainage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Current device instructions and local plan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Clean handling pause and contamination response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Expert practice, not trial evidence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 fixed 15 minutes, the best washout, long antibiotic courses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Unresolved</a:t>
                      </a:r>
                      <a:endParaRPr lang="en-US" sz="13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47BE3817-7034-47C9-BA67-9FCB8A378B85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The pre-implant theatre checklist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 txBox="1"/>
          <p:nvPr/>
        </p:nvSpPr>
        <p:spPr>
          <a:xfrm>
            <a:off x="640080" y="3611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Preserve tissue, measure what the cuff will enclose, follow the actual device protocol, and verify before closing.</a:t>
            </a:r>
            <a:endParaRPr lang="en-US" sz="1500" dirty="0">
              <a:latin typeface="Plus Jakarta San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>
              <a:latin typeface="Plus Jakarta San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Positioning and exposure</a:t>
            </a:r>
            <a:endParaRPr lang="en-US" sz="1300" dirty="0">
              <a:latin typeface="Plus Jakarta San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Bulbar dissection and tissue preservation</a:t>
            </a:r>
            <a:endParaRPr lang="en-US" sz="1300" dirty="0">
              <a:latin typeface="Plus Jakarta San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Cuff measurement and fit</a:t>
            </a:r>
            <a:endParaRPr lang="en-US" sz="1300" dirty="0">
              <a:latin typeface="Plus Jakarta San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Urethral injury or contamination</a:t>
            </a:r>
            <a:endParaRPr lang="en-US" sz="1300" dirty="0">
              <a:latin typeface="Plus Jakarta San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7680960" y="34747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Balloon pocket and pressure selection</a:t>
            </a:r>
            <a:endParaRPr lang="en-US" sz="1300" dirty="0">
              <a:latin typeface="Plus Jakarta San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72237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680960" y="3931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Pump position and patient access</a:t>
            </a:r>
            <a:endParaRPr lang="en-US" sz="1300" dirty="0">
              <a:latin typeface="Plus Jakarta San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72237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7680960" y="4389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System checks and handover</a:t>
            </a:r>
            <a:endParaRPr lang="en-US" sz="1300" dirty="0">
              <a:latin typeface="Plus Jakarta San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>
              <a:latin typeface="Plus Jakarta San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>
              <a:latin typeface="Plus Jakarta San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>
              <a:latin typeface="Plus Jakarta San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>
              <a:latin typeface="Plus Jakarta San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>
              <a:latin typeface="Plus Jakarta Sans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D2D2D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9113E28F-B980-41FD-B603-434701C2DF80}"/>
              </a:ext>
            </a:extLst>
          </p:cNvPr>
          <p:cNvSpPr>
            <a:spLocks noGrp="1"/>
          </p:cNvSpPr>
          <p:nvPr/>
        </p:nvSpPr>
        <p:spPr>
          <a:xfrm>
            <a:off x="638175" y="1905000"/>
            <a:ext cx="5476875" cy="1314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600" b="1">
                <a:solidFill>
                  <a:srgbClr val="FFFFFF"/>
                </a:solidFill>
                <a:latin typeface="Plus Jakarta Sans"/>
              </a:defRPr>
            </a:defPPr>
            <a:lvl1pPr>
              <a:defRPr sz="3600" b="1">
                <a:solidFill>
                  <a:srgbClr val="FFFFFF"/>
                </a:solidFill>
                <a:latin typeface="Plus Jakarta Sans"/>
              </a:defRPr>
            </a:lvl1pPr>
            <a:lvl2pPr>
              <a:defRPr sz="3600" b="1">
                <a:solidFill>
                  <a:srgbClr val="FFFFFF"/>
                </a:solidFill>
                <a:latin typeface="Plus Jakarta Sans"/>
              </a:defRPr>
            </a:lvl2pPr>
            <a:lvl3pPr>
              <a:defRPr sz="3600" b="1">
                <a:solidFill>
                  <a:srgbClr val="FFFFFF"/>
                </a:solidFill>
                <a:latin typeface="Plus Jakarta Sans"/>
              </a:defRPr>
            </a:lvl3pPr>
            <a:lvl4pPr>
              <a:defRPr sz="3600" b="1">
                <a:solidFill>
                  <a:srgbClr val="FFFFFF"/>
                </a:solidFill>
                <a:latin typeface="Plus Jakarta Sans"/>
              </a:defRPr>
            </a:lvl4pPr>
            <a:lvl5pPr>
              <a:defRPr sz="3600" b="1">
                <a:solidFill>
                  <a:srgbClr val="FFFFFF"/>
                </a:solidFill>
                <a:latin typeface="Plus Jakarta Sans"/>
              </a:defRPr>
            </a:lvl5pPr>
            <a:lvl6pPr>
              <a:defRPr sz="3600" b="1">
                <a:solidFill>
                  <a:srgbClr val="FFFFFF"/>
                </a:solidFill>
                <a:latin typeface="Plus Jakarta Sans"/>
              </a:defRPr>
            </a:lvl6pPr>
            <a:lvl7pPr>
              <a:defRPr sz="3600" b="1">
                <a:solidFill>
                  <a:srgbClr val="FFFFFF"/>
                </a:solidFill>
                <a:latin typeface="Plus Jakarta Sans"/>
              </a:defRPr>
            </a:lvl7pPr>
            <a:lvl8pPr>
              <a:defRPr sz="3600" b="1">
                <a:solidFill>
                  <a:srgbClr val="FFFFFF"/>
                </a:solidFill>
                <a:latin typeface="Plus Jakarta Sans"/>
              </a:defRPr>
            </a:lvl8pPr>
            <a:lvl9pPr>
              <a:defRPr sz="3600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rPr sz="3600" b="1">
                <a:solidFill>
                  <a:srgbClr val="FFFFFF"/>
                </a:solidFill>
                <a:latin typeface="Plus Jakarta Sans"/>
              </a:rPr>
              <a:t>The operation</a:t>
            </a:r>
          </a:p>
        </p:txBody>
      </p:sp>
      <p:sp>
        <p:nvSpPr>
          <p:cNvPr id="9010" name="Google Shape;50;p7"/>
          <p:cNvSpPr/>
          <p:nvPr/>
        </p:nvSpPr>
        <p:spPr>
          <a:xfrm>
            <a:off x="5810250" y="158115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615314" h="615315" extrusionOk="0">
                <a:moveTo>
                  <a:pt x="307372" y="0"/>
                </a:moveTo>
                <a:lnTo>
                  <a:pt x="295063" y="64094"/>
                </a:lnTo>
                <a:lnTo>
                  <a:pt x="281976" y="117458"/>
                </a:lnTo>
                <a:lnTo>
                  <a:pt x="266867" y="161336"/>
                </a:lnTo>
                <a:lnTo>
                  <a:pt x="248493" y="196971"/>
                </a:lnTo>
                <a:lnTo>
                  <a:pt x="196971" y="248493"/>
                </a:lnTo>
                <a:lnTo>
                  <a:pt x="161336" y="266867"/>
                </a:lnTo>
                <a:lnTo>
                  <a:pt x="117458" y="281976"/>
                </a:lnTo>
                <a:lnTo>
                  <a:pt x="64094" y="295063"/>
                </a:lnTo>
                <a:lnTo>
                  <a:pt x="0" y="307372"/>
                </a:lnTo>
                <a:lnTo>
                  <a:pt x="64094" y="319682"/>
                </a:lnTo>
                <a:lnTo>
                  <a:pt x="117458" y="332769"/>
                </a:lnTo>
                <a:lnTo>
                  <a:pt x="161336" y="347878"/>
                </a:lnTo>
                <a:lnTo>
                  <a:pt x="196971" y="366252"/>
                </a:lnTo>
                <a:lnTo>
                  <a:pt x="248493" y="417773"/>
                </a:lnTo>
                <a:lnTo>
                  <a:pt x="266867" y="453409"/>
                </a:lnTo>
                <a:lnTo>
                  <a:pt x="281976" y="497287"/>
                </a:lnTo>
                <a:lnTo>
                  <a:pt x="295063" y="550651"/>
                </a:lnTo>
                <a:lnTo>
                  <a:pt x="307372" y="614745"/>
                </a:lnTo>
                <a:lnTo>
                  <a:pt x="319682" y="550651"/>
                </a:lnTo>
                <a:lnTo>
                  <a:pt x="332769" y="497287"/>
                </a:lnTo>
                <a:lnTo>
                  <a:pt x="347878" y="453409"/>
                </a:lnTo>
                <a:lnTo>
                  <a:pt x="366252" y="417773"/>
                </a:lnTo>
                <a:lnTo>
                  <a:pt x="417773" y="366252"/>
                </a:lnTo>
                <a:lnTo>
                  <a:pt x="453409" y="347878"/>
                </a:lnTo>
                <a:lnTo>
                  <a:pt x="497287" y="332769"/>
                </a:lnTo>
                <a:lnTo>
                  <a:pt x="550651" y="319682"/>
                </a:lnTo>
                <a:lnTo>
                  <a:pt x="614745" y="307372"/>
                </a:lnTo>
                <a:lnTo>
                  <a:pt x="550651" y="295063"/>
                </a:lnTo>
                <a:lnTo>
                  <a:pt x="497287" y="281976"/>
                </a:lnTo>
                <a:lnTo>
                  <a:pt x="453409" y="266867"/>
                </a:lnTo>
                <a:lnTo>
                  <a:pt x="417773" y="248493"/>
                </a:lnTo>
                <a:lnTo>
                  <a:pt x="366252" y="196971"/>
                </a:lnTo>
                <a:lnTo>
                  <a:pt x="347878" y="161336"/>
                </a:lnTo>
                <a:lnTo>
                  <a:pt x="332769" y="117458"/>
                </a:lnTo>
                <a:lnTo>
                  <a:pt x="319682" y="64094"/>
                </a:lnTo>
                <a:lnTo>
                  <a:pt x="307372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11" name="Google Shape;49;p7"/>
          <p:cNvSpPr/>
          <p:nvPr/>
        </p:nvSpPr>
        <p:spPr>
          <a:xfrm>
            <a:off x="638175" y="1676400"/>
            <a:ext cx="552450" cy="85725"/>
          </a:xfrm>
          <a:custGeom>
            <a:avLst/>
            <a:gdLst/>
            <a:ahLst/>
            <a:cxnLst/>
            <a:rect l="l" t="t" r="r" b="b"/>
            <a:pathLst>
              <a:path w="2339340" h="539115" extrusionOk="0">
                <a:moveTo>
                  <a:pt x="2129736" y="0"/>
                </a:moveTo>
                <a:lnTo>
                  <a:pt x="209417" y="0"/>
                </a:lnTo>
                <a:lnTo>
                  <a:pt x="161399" y="5531"/>
                </a:lnTo>
                <a:lnTo>
                  <a:pt x="117319" y="21286"/>
                </a:lnTo>
                <a:lnTo>
                  <a:pt x="78436" y="46009"/>
                </a:lnTo>
                <a:lnTo>
                  <a:pt x="46005" y="78440"/>
                </a:lnTo>
                <a:lnTo>
                  <a:pt x="21284" y="117324"/>
                </a:lnTo>
                <a:lnTo>
                  <a:pt x="5530" y="161402"/>
                </a:lnTo>
                <a:lnTo>
                  <a:pt x="0" y="209417"/>
                </a:lnTo>
                <a:lnTo>
                  <a:pt x="0" y="329089"/>
                </a:lnTo>
                <a:lnTo>
                  <a:pt x="5530" y="377108"/>
                </a:lnTo>
                <a:lnTo>
                  <a:pt x="21284" y="421187"/>
                </a:lnTo>
                <a:lnTo>
                  <a:pt x="46005" y="460070"/>
                </a:lnTo>
                <a:lnTo>
                  <a:pt x="78436" y="492501"/>
                </a:lnTo>
                <a:lnTo>
                  <a:pt x="117319" y="517222"/>
                </a:lnTo>
                <a:lnTo>
                  <a:pt x="161399" y="532976"/>
                </a:lnTo>
                <a:lnTo>
                  <a:pt x="209417" y="538507"/>
                </a:lnTo>
                <a:lnTo>
                  <a:pt x="2129736" y="538507"/>
                </a:lnTo>
                <a:lnTo>
                  <a:pt x="2177754" y="532976"/>
                </a:lnTo>
                <a:lnTo>
                  <a:pt x="2221834" y="517222"/>
                </a:lnTo>
                <a:lnTo>
                  <a:pt x="2260717" y="492501"/>
                </a:lnTo>
                <a:lnTo>
                  <a:pt x="2293148" y="460070"/>
                </a:lnTo>
                <a:lnTo>
                  <a:pt x="2317869" y="421187"/>
                </a:lnTo>
                <a:lnTo>
                  <a:pt x="2333623" y="377108"/>
                </a:lnTo>
                <a:lnTo>
                  <a:pt x="2339153" y="329089"/>
                </a:lnTo>
                <a:lnTo>
                  <a:pt x="2339153" y="209417"/>
                </a:lnTo>
                <a:lnTo>
                  <a:pt x="2333623" y="161402"/>
                </a:lnTo>
                <a:lnTo>
                  <a:pt x="2317869" y="117324"/>
                </a:lnTo>
                <a:lnTo>
                  <a:pt x="2293148" y="78440"/>
                </a:lnTo>
                <a:lnTo>
                  <a:pt x="2260717" y="46009"/>
                </a:lnTo>
                <a:lnTo>
                  <a:pt x="2221834" y="21286"/>
                </a:lnTo>
                <a:lnTo>
                  <a:pt x="2177754" y="5531"/>
                </a:lnTo>
                <a:lnTo>
                  <a:pt x="2129736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24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AUA24  ·  ICS16  ·  AP23</a:t>
            </a:r>
            <a:endParaRPr lang="en-US" sz="800" dirty="0">
              <a:latin typeface="Plus Jakarta Sans"/>
            </a:endParaRPr>
          </a:p>
        </p:txBody>
      </p:sp>
      <p:pic>
        <p:nvPicPr>
          <p:cNvPr id="115" name="UroOps clip aus-26-exposure">
            <a:hlinkClick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828800"/>
            <a:ext cx="6408115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The access plan</a:t>
            </a:r>
            <a:endParaRPr lang="en-US" sz="1500" dirty="0">
              <a:latin typeface="Plus Jakarta San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67928" y="237744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Respect hip mobility and protect pressure points</a:t>
            </a:r>
            <a:endParaRPr lang="en-US" sz="1400" dirty="0">
              <a:latin typeface="Plus Jakarta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321040" y="316839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308610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Plan the perineal, balloon and pump sites together</a:t>
            </a:r>
            <a:endParaRPr lang="en-US" sz="1400" dirty="0">
              <a:latin typeface="Plus Jakarta San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321040" y="387705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67928" y="379476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Review scars, mesh, previous devices and repairs</a:t>
            </a:r>
            <a:endParaRPr lang="en-US" sz="1400" dirty="0">
              <a:latin typeface="Plus Jakarta San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321040" y="458571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450342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Poor exposure? Improve it before dissecting further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18D02D17-B197-47CE-AB77-EF3605F3D8EB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Positioning and exposure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33" fill="hold"/>
                                        <p:tgtEl>
                                          <p:spTgt spid="1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5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25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ICS16  ·  AP23  ·  CCIFU  ·  URETH26</a:t>
            </a:r>
            <a:endParaRPr lang="en-US" sz="800" dirty="0">
              <a:latin typeface="Plus Jakarta Sans"/>
            </a:endParaRPr>
          </a:p>
        </p:txBody>
      </p:sp>
      <p:pic>
        <p:nvPicPr>
          <p:cNvPr id="115" name="UroOps clip aus-27-dissection">
            <a:hlinkClick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828800"/>
            <a:ext cx="6408115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The cuff-bearing segment</a:t>
            </a:r>
            <a:endParaRPr lang="en-US" sz="1500" dirty="0">
              <a:latin typeface="Plus Jakarta San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67928" y="237744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Healthy tissue with enough spongy support</a:t>
            </a:r>
            <a:endParaRPr lang="en-US" sz="1400" dirty="0">
              <a:latin typeface="Plus Jakarta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321040" y="316839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308610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Dissect the plane behind the urethra under direct vision</a:t>
            </a:r>
            <a:endParaRPr lang="en-US" sz="1400" dirty="0">
              <a:latin typeface="Plus Jakarta San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321040" y="387705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67928" y="379476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Free only the length the cuff needs</a:t>
            </a:r>
            <a:endParaRPr lang="en-US" sz="1400" dirty="0">
              <a:latin typeface="Plus Jakarta San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321040" y="458571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450342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Unsure of the plane or the wall? Stop and reassess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57B63E85-109A-4940-A5D3-5EF5C7264D9C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Bulbar dissection and tissue preservation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33" fill="hold"/>
                                        <p:tgtEl>
                                          <p:spTgt spid="1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5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26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ICS16  ·  CCIFU  ·  CCSAFETY  ·  AP23</a:t>
            </a:r>
            <a:endParaRPr lang="en-US" sz="800" dirty="0">
              <a:latin typeface="Plus Jakarta Sans"/>
            </a:endParaRPr>
          </a:p>
        </p:txBody>
      </p:sp>
      <p:pic>
        <p:nvPicPr>
          <p:cNvPr id="117" name="UroOps clip aus-28-sizing">
            <a:hlinkClick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828800"/>
            <a:ext cx="6408115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Sizing errors</a:t>
            </a:r>
            <a:endParaRPr lang="en-US" sz="1500" dirty="0">
              <a:latin typeface="Plus Jakarta San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67928" y="2377440"/>
            <a:ext cx="298368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Let go of the traction; do not squash the urethra</a:t>
            </a:r>
            <a:endParaRPr lang="en-US" sz="1400" dirty="0">
              <a:latin typeface="Plus Jakarta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321040" y="3026664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2944368"/>
            <a:ext cx="298368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Take the catheter out for a moment while you size the cuff</a:t>
            </a:r>
            <a:endParaRPr lang="en-US" sz="1400" dirty="0">
              <a:latin typeface="Plus Jakarta San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321040" y="3593592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67928" y="3511296"/>
            <a:ext cx="298368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Confirm which tissue the cuff will enclose</a:t>
            </a:r>
            <a:endParaRPr lang="en-US" sz="1400" dirty="0">
              <a:latin typeface="Plus Jakarta San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321040" y="4160520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4078224"/>
            <a:ext cx="298368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Use the device’s own sizing method</a:t>
            </a:r>
            <a:endParaRPr lang="en-US" sz="1400" dirty="0">
              <a:latin typeface="Plus Jakarta San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321040" y="4727448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67928" y="4645152"/>
            <a:ext cx="298368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Poor fit? Measure again; do not raise the pressure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FF155C6F-9BEC-4970-AC6D-BFFAFD220EBD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Cuff measurement and fit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33" fill="hold"/>
                                        <p:tgtEl>
                                          <p:spTgt spid="1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7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27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AP23  ·  ICS16  ·  CCIFU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An improvised antiseptic soak cannot rescue a contaminated single-use implant.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F85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The endpoint can change</a:t>
            </a:r>
            <a:endParaRPr lang="en-US" sz="3200" dirty="0">
              <a:latin typeface="Plus Jakarta Sans"/>
            </a:endParaRPr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F85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to repair and safe drainage</a:t>
            </a:r>
            <a:endParaRPr lang="en-US" sz="3200" dirty="0">
              <a:latin typeface="Plus Jakarta San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42255" cy="3657600"/>
          </a:xfrm>
          <a:prstGeom prst="roundRect">
            <a:avLst>
              <a:gd name="adj" fmla="val 3500"/>
            </a:avLst>
          </a:prstGeom>
          <a:solidFill>
            <a:srgbClr val="2D2D2D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2103120"/>
            <a:ext cx="384048" cy="384048"/>
          </a:xfrm>
          <a:prstGeom prst="ellipse">
            <a:avLst/>
          </a:prstGeom>
          <a:solidFill>
            <a:srgbClr val="FF85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>
              <a:latin typeface="Plus Jakarta San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178040" y="2084832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Not sure the wall is intact? Leak test or scope</a:t>
            </a:r>
            <a:endParaRPr lang="en-US" sz="1550" dirty="0">
              <a:latin typeface="Plus Jakarta San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29400" y="3182112"/>
            <a:ext cx="384048" cy="384048"/>
          </a:xfrm>
          <a:prstGeom prst="ellipse">
            <a:avLst/>
          </a:prstGeom>
          <a:solidFill>
            <a:srgbClr val="FF85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>
              <a:latin typeface="Plus Jakarta San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178040" y="3163824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known urethral injury means no implant today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629400" y="4261104"/>
            <a:ext cx="384048" cy="384048"/>
          </a:xfrm>
          <a:prstGeom prst="ellipse">
            <a:avLst/>
          </a:prstGeom>
          <a:solidFill>
            <a:srgbClr val="FF85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>
              <a:latin typeface="Plus Jakarta San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178040" y="4242816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Replace contaminated single-use items and reset the clean field</a:t>
            </a:r>
            <a:endParaRPr lang="en-US" sz="15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1DBD1A12-6484-49D7-AB2C-45B8CA3C5B31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Urethral injury or contamination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28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CCIFU  ·  AP23  ·  ICS16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safe pocket and the right pressure are two separate decisions. Fill volumes and selection rules need the current OR protocol.</a:t>
            </a:r>
            <a:endParaRPr lang="en-US" sz="1200" dirty="0">
              <a:latin typeface="Plus Jakarta Sans"/>
            </a:endParaRPr>
          </a:p>
        </p:txBody>
      </p:sp>
      <p:pic>
        <p:nvPicPr>
          <p:cNvPr id="114" name="UroOps clip aus-30-balloon">
            <a:hlinkClick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862328"/>
            <a:ext cx="5120640" cy="34991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783080"/>
            <a:ext cx="5242255" cy="1371600"/>
          </a:xfrm>
          <a:prstGeom prst="roundRect">
            <a:avLst>
              <a:gd name="adj" fmla="val 9333"/>
            </a:avLst>
          </a:prstGeom>
          <a:solidFill>
            <a:srgbClr val="2D2D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29400" y="2011680"/>
            <a:ext cx="4602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ContiClassic label</a:t>
            </a:r>
            <a:endParaRPr lang="en-US" sz="1300" dirty="0">
              <a:latin typeface="Plus Jakarta San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29400" y="2350008"/>
            <a:ext cx="4602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4F5F7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60–69 cmH₂O</a:t>
            </a:r>
            <a:endParaRPr lang="en-US" sz="2800" dirty="0">
              <a:latin typeface="Plus Jakarta San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09360" y="3383280"/>
            <a:ext cx="5242255" cy="1371600"/>
          </a:xfrm>
          <a:prstGeom prst="roundRect">
            <a:avLst>
              <a:gd name="adj" fmla="val 9333"/>
            </a:avLst>
          </a:prstGeom>
          <a:solidFill>
            <a:srgbClr val="2D2D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29400" y="3611880"/>
            <a:ext cx="4602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AMS 800 consensus</a:t>
            </a:r>
            <a:endParaRPr lang="en-US" sz="1300" dirty="0">
              <a:latin typeface="Plus Jakarta San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6629400" y="3950208"/>
            <a:ext cx="4602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4F5F7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Commonly 61–70 cmH₂O</a:t>
            </a:r>
            <a:endParaRPr lang="en-US" sz="2800" dirty="0">
              <a:latin typeface="Plus Jakarta San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309360" y="507492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These ranges are device-specific</a:t>
            </a:r>
            <a:endParaRPr lang="en-US" sz="13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407AFB1F-E768-467C-BE74-36A77E90E84F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Balloon pocket and pressure selection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33" fill="hold"/>
                                        <p:tgtEl>
                                          <p:spTgt spid="1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4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29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AP23  ·  ICS16  ·  CCIFU</a:t>
            </a:r>
            <a:endParaRPr lang="en-US" sz="800" dirty="0">
              <a:latin typeface="Plus Jakarta Sans"/>
            </a:endParaRPr>
          </a:p>
        </p:txBody>
      </p:sp>
      <p:pic>
        <p:nvPicPr>
          <p:cNvPr id="115" name="UroOps clip aus-31-pump">
            <a:hlinkClick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828800"/>
            <a:ext cx="6408115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A functional position</a:t>
            </a:r>
            <a:endParaRPr lang="en-US" sz="1500" dirty="0">
              <a:latin typeface="Plus Jakarta San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67928" y="237744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Use the accessible side agreed in clinic</a:t>
            </a:r>
            <a:endParaRPr lang="en-US" sz="1400" dirty="0">
              <a:latin typeface="Plus Jakarta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321040" y="316839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308610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Avoid crowding, tight skin and pressure on the testis</a:t>
            </a:r>
            <a:endParaRPr lang="en-US" sz="1400" dirty="0">
              <a:latin typeface="Plus Jakarta San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321040" y="387705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67928" y="379476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Check the orientation and tubing pull before closing</a:t>
            </a:r>
            <a:endParaRPr lang="en-US" sz="1400" dirty="0">
              <a:latin typeface="Plus Jakarta San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321040" y="4585716"/>
            <a:ext cx="100584" cy="100584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450342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Check he can reach it at activation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9404B38F-AC2E-40E5-A1C5-20BBAD3C8842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Pump position and patient access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33" fill="hold"/>
                                        <p:tgtEl>
                                          <p:spTgt spid="1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30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CCIFU  ·  ICS16  ·  AP23  ·  CATH13  ·  INSTR26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2026 survey found gaps in deactivation training. Fill the device by its own protocol.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25880" y="18288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Trace the tubing: no tension, bends or trapping</a:t>
            </a:r>
            <a:endParaRPr lang="en-US" sz="1700" dirty="0">
              <a:latin typeface="Plus Jakarta San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25880" y="2679192"/>
            <a:ext cx="571500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25880" y="269748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Check the connections and cycle the device</a:t>
            </a:r>
            <a:endParaRPr lang="en-US" sz="1700" dirty="0">
              <a:latin typeface="Plus Jakarta San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25880" y="3547872"/>
            <a:ext cx="571500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>
              <a:latin typeface="Plus Jakarta San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Confirm the cuff is open and the device is off</a:t>
            </a:r>
            <a:endParaRPr lang="en-US" sz="170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5880" y="4416552"/>
            <a:ext cx="571500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>
              <a:latin typeface="Plus Jakarta San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325880" y="443484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Record the device, the catheter plan and whom to call</a:t>
            </a:r>
            <a:endParaRPr lang="en-US" sz="1700" dirty="0"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406640" y="1783080"/>
            <a:ext cx="4144975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pic>
        <p:nvPicPr>
          <p:cNvPr id="122" name="UroOps clip aus-32-check">
            <a:hlinkClick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529627" y="1783080"/>
            <a:ext cx="3899002" cy="3749040"/>
          </a:xfrm>
          <a:prstGeom prst="rect">
            <a:avLst/>
          </a:prstGeom>
        </p:spPr>
      </p:pic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82209258-51CB-4F75-B6A1-30D3D78E04B4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System checks and handover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33" fill="hold"/>
                                        <p:tgtEl>
                                          <p:spTgt spid="1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2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3457575"/>
            <a:ext cx="5476875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Hand over the risk, diagnose late leakage before revising, and say where the evidence stops.</a:t>
            </a:r>
            <a:endParaRPr lang="en-US" sz="1500" dirty="0">
              <a:solidFill>
                <a:srgbClr val="BFBFBF"/>
              </a:solidFill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Aftercare, activation and urgent review</a:t>
            </a:r>
            <a:endParaRPr lang="en-US" sz="1300" dirty="0">
              <a:latin typeface="Plus Jakarta San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Case 4: leakage after three good years</a:t>
            </a:r>
            <a:endParaRPr lang="en-US" sz="1300" dirty="0">
              <a:latin typeface="Plus Jakarta San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Established benefit and unresolved questions</a:t>
            </a:r>
            <a:endParaRPr lang="en-US" sz="1300" dirty="0">
              <a:latin typeface="Plus Jakarta San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Five decisions before implantation</a:t>
            </a:r>
            <a:endParaRPr lang="en-US" sz="1300" dirty="0">
              <a:latin typeface="Plus Jakarta San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680960" y="34747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Five decisions protecting the result</a:t>
            </a:r>
            <a:endParaRPr lang="en-US" sz="1300" dirty="0">
              <a:latin typeface="Plus Jakarta San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2237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100" dirty="0">
              <a:solidFill>
                <a:srgbClr val="89FF00"/>
              </a:solidFill>
              <a:latin typeface="Plus Jakarta San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680960" y="3931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Discussion</a:t>
            </a:r>
            <a:endParaRPr lang="en-US" sz="130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>
              <a:latin typeface="Plus Jakarta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>
              <a:latin typeface="Plus Jakarta San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>
              <a:latin typeface="Plus Jakarta San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89FF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8F377CF6-A876-440F-A106-D6BFF9882C9C}"/>
              </a:ext>
            </a:extLst>
          </p:cNvPr>
          <p:cNvSpPr>
            <a:spLocks noGrp="1"/>
          </p:cNvSpPr>
          <p:nvPr/>
        </p:nvSpPr>
        <p:spPr>
          <a:xfrm>
            <a:off x="638175" y="1905000"/>
            <a:ext cx="5476875" cy="1314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600" b="1">
                <a:solidFill>
                  <a:srgbClr val="FFFFFF"/>
                </a:solidFill>
                <a:latin typeface="Plus Jakarta Sans"/>
              </a:defRPr>
            </a:defPPr>
            <a:lvl1pPr>
              <a:defRPr sz="3600" b="1">
                <a:solidFill>
                  <a:srgbClr val="FFFFFF"/>
                </a:solidFill>
                <a:latin typeface="Plus Jakarta Sans"/>
              </a:defRPr>
            </a:lvl1pPr>
            <a:lvl2pPr>
              <a:defRPr sz="3600" b="1">
                <a:solidFill>
                  <a:srgbClr val="FFFFFF"/>
                </a:solidFill>
                <a:latin typeface="Plus Jakarta Sans"/>
              </a:defRPr>
            </a:lvl2pPr>
            <a:lvl3pPr>
              <a:defRPr sz="3600" b="1">
                <a:solidFill>
                  <a:srgbClr val="FFFFFF"/>
                </a:solidFill>
                <a:latin typeface="Plus Jakarta Sans"/>
              </a:defRPr>
            </a:lvl3pPr>
            <a:lvl4pPr>
              <a:defRPr sz="3600" b="1">
                <a:solidFill>
                  <a:srgbClr val="FFFFFF"/>
                </a:solidFill>
                <a:latin typeface="Plus Jakarta Sans"/>
              </a:defRPr>
            </a:lvl4pPr>
            <a:lvl5pPr>
              <a:defRPr sz="3600" b="1">
                <a:solidFill>
                  <a:srgbClr val="FFFFFF"/>
                </a:solidFill>
                <a:latin typeface="Plus Jakarta Sans"/>
              </a:defRPr>
            </a:lvl5pPr>
            <a:lvl6pPr>
              <a:defRPr sz="3600" b="1">
                <a:solidFill>
                  <a:srgbClr val="FFFFFF"/>
                </a:solidFill>
                <a:latin typeface="Plus Jakarta Sans"/>
              </a:defRPr>
            </a:lvl6pPr>
            <a:lvl7pPr>
              <a:defRPr sz="3600" b="1">
                <a:solidFill>
                  <a:srgbClr val="FFFFFF"/>
                </a:solidFill>
                <a:latin typeface="Plus Jakarta Sans"/>
              </a:defRPr>
            </a:lvl7pPr>
            <a:lvl8pPr>
              <a:defRPr sz="3600" b="1">
                <a:solidFill>
                  <a:srgbClr val="FFFFFF"/>
                </a:solidFill>
                <a:latin typeface="Plus Jakarta Sans"/>
              </a:defRPr>
            </a:lvl8pPr>
            <a:lvl9pPr>
              <a:defRPr sz="3600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rPr sz="3600" b="1">
                <a:solidFill>
                  <a:srgbClr val="FFFFFF"/>
                </a:solidFill>
                <a:latin typeface="Plus Jakarta Sans"/>
              </a:rPr>
              <a:t>After the implant</a:t>
            </a:r>
          </a:p>
        </p:txBody>
      </p:sp>
      <p:sp>
        <p:nvSpPr>
          <p:cNvPr id="9010" name="Google Shape;50;p7"/>
          <p:cNvSpPr/>
          <p:nvPr/>
        </p:nvSpPr>
        <p:spPr>
          <a:xfrm>
            <a:off x="5810250" y="158115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615314" h="615315" extrusionOk="0">
                <a:moveTo>
                  <a:pt x="307372" y="0"/>
                </a:moveTo>
                <a:lnTo>
                  <a:pt x="295063" y="64094"/>
                </a:lnTo>
                <a:lnTo>
                  <a:pt x="281976" y="117458"/>
                </a:lnTo>
                <a:lnTo>
                  <a:pt x="266867" y="161336"/>
                </a:lnTo>
                <a:lnTo>
                  <a:pt x="248493" y="196971"/>
                </a:lnTo>
                <a:lnTo>
                  <a:pt x="196971" y="248493"/>
                </a:lnTo>
                <a:lnTo>
                  <a:pt x="161336" y="266867"/>
                </a:lnTo>
                <a:lnTo>
                  <a:pt x="117458" y="281976"/>
                </a:lnTo>
                <a:lnTo>
                  <a:pt x="64094" y="295063"/>
                </a:lnTo>
                <a:lnTo>
                  <a:pt x="0" y="307372"/>
                </a:lnTo>
                <a:lnTo>
                  <a:pt x="64094" y="319682"/>
                </a:lnTo>
                <a:lnTo>
                  <a:pt x="117458" y="332769"/>
                </a:lnTo>
                <a:lnTo>
                  <a:pt x="161336" y="347878"/>
                </a:lnTo>
                <a:lnTo>
                  <a:pt x="196971" y="366252"/>
                </a:lnTo>
                <a:lnTo>
                  <a:pt x="248493" y="417773"/>
                </a:lnTo>
                <a:lnTo>
                  <a:pt x="266867" y="453409"/>
                </a:lnTo>
                <a:lnTo>
                  <a:pt x="281976" y="497287"/>
                </a:lnTo>
                <a:lnTo>
                  <a:pt x="295063" y="550651"/>
                </a:lnTo>
                <a:lnTo>
                  <a:pt x="307372" y="614745"/>
                </a:lnTo>
                <a:lnTo>
                  <a:pt x="319682" y="550651"/>
                </a:lnTo>
                <a:lnTo>
                  <a:pt x="332769" y="497287"/>
                </a:lnTo>
                <a:lnTo>
                  <a:pt x="347878" y="453409"/>
                </a:lnTo>
                <a:lnTo>
                  <a:pt x="366252" y="417773"/>
                </a:lnTo>
                <a:lnTo>
                  <a:pt x="417773" y="366252"/>
                </a:lnTo>
                <a:lnTo>
                  <a:pt x="453409" y="347878"/>
                </a:lnTo>
                <a:lnTo>
                  <a:pt x="497287" y="332769"/>
                </a:lnTo>
                <a:lnTo>
                  <a:pt x="550651" y="319682"/>
                </a:lnTo>
                <a:lnTo>
                  <a:pt x="614745" y="307372"/>
                </a:lnTo>
                <a:lnTo>
                  <a:pt x="550651" y="295063"/>
                </a:lnTo>
                <a:lnTo>
                  <a:pt x="497287" y="281976"/>
                </a:lnTo>
                <a:lnTo>
                  <a:pt x="453409" y="266867"/>
                </a:lnTo>
                <a:lnTo>
                  <a:pt x="417773" y="248493"/>
                </a:lnTo>
                <a:lnTo>
                  <a:pt x="366252" y="196971"/>
                </a:lnTo>
                <a:lnTo>
                  <a:pt x="347878" y="161336"/>
                </a:lnTo>
                <a:lnTo>
                  <a:pt x="332769" y="117458"/>
                </a:lnTo>
                <a:lnTo>
                  <a:pt x="319682" y="64094"/>
                </a:lnTo>
                <a:lnTo>
                  <a:pt x="307372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11" name="Google Shape;49;p7"/>
          <p:cNvSpPr/>
          <p:nvPr/>
        </p:nvSpPr>
        <p:spPr>
          <a:xfrm>
            <a:off x="638175" y="1676400"/>
            <a:ext cx="552450" cy="85725"/>
          </a:xfrm>
          <a:custGeom>
            <a:avLst/>
            <a:gdLst/>
            <a:ahLst/>
            <a:cxnLst/>
            <a:rect l="l" t="t" r="r" b="b"/>
            <a:pathLst>
              <a:path w="2339340" h="539115" extrusionOk="0">
                <a:moveTo>
                  <a:pt x="2129736" y="0"/>
                </a:moveTo>
                <a:lnTo>
                  <a:pt x="209417" y="0"/>
                </a:lnTo>
                <a:lnTo>
                  <a:pt x="161399" y="5531"/>
                </a:lnTo>
                <a:lnTo>
                  <a:pt x="117319" y="21286"/>
                </a:lnTo>
                <a:lnTo>
                  <a:pt x="78436" y="46009"/>
                </a:lnTo>
                <a:lnTo>
                  <a:pt x="46005" y="78440"/>
                </a:lnTo>
                <a:lnTo>
                  <a:pt x="21284" y="117324"/>
                </a:lnTo>
                <a:lnTo>
                  <a:pt x="5530" y="161402"/>
                </a:lnTo>
                <a:lnTo>
                  <a:pt x="0" y="209417"/>
                </a:lnTo>
                <a:lnTo>
                  <a:pt x="0" y="329089"/>
                </a:lnTo>
                <a:lnTo>
                  <a:pt x="5530" y="377108"/>
                </a:lnTo>
                <a:lnTo>
                  <a:pt x="21284" y="421187"/>
                </a:lnTo>
                <a:lnTo>
                  <a:pt x="46005" y="460070"/>
                </a:lnTo>
                <a:lnTo>
                  <a:pt x="78436" y="492501"/>
                </a:lnTo>
                <a:lnTo>
                  <a:pt x="117319" y="517222"/>
                </a:lnTo>
                <a:lnTo>
                  <a:pt x="161399" y="532976"/>
                </a:lnTo>
                <a:lnTo>
                  <a:pt x="209417" y="538507"/>
                </a:lnTo>
                <a:lnTo>
                  <a:pt x="2129736" y="538507"/>
                </a:lnTo>
                <a:lnTo>
                  <a:pt x="2177754" y="532976"/>
                </a:lnTo>
                <a:lnTo>
                  <a:pt x="2221834" y="517222"/>
                </a:lnTo>
                <a:lnTo>
                  <a:pt x="2260717" y="492501"/>
                </a:lnTo>
                <a:lnTo>
                  <a:pt x="2293148" y="460070"/>
                </a:lnTo>
                <a:lnTo>
                  <a:pt x="2317869" y="421187"/>
                </a:lnTo>
                <a:lnTo>
                  <a:pt x="2333623" y="377108"/>
                </a:lnTo>
                <a:lnTo>
                  <a:pt x="2339153" y="329089"/>
                </a:lnTo>
                <a:lnTo>
                  <a:pt x="2339153" y="209417"/>
                </a:lnTo>
                <a:lnTo>
                  <a:pt x="2333623" y="161402"/>
                </a:lnTo>
                <a:lnTo>
                  <a:pt x="2317869" y="117324"/>
                </a:lnTo>
                <a:lnTo>
                  <a:pt x="2293148" y="78440"/>
                </a:lnTo>
                <a:lnTo>
                  <a:pt x="2260717" y="46009"/>
                </a:lnTo>
                <a:lnTo>
                  <a:pt x="2221834" y="21286"/>
                </a:lnTo>
                <a:lnTo>
                  <a:pt x="2177754" y="5531"/>
                </a:lnTo>
                <a:lnTo>
                  <a:pt x="2129736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31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CCIFU  ·  AUA24  ·  CATH13  ·  BAUSDAY26  ·  DAYMETA26  ·  DAYCASE26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2026 day-case audit and studies support selected pathways. Confirm he empties, has support, and can get seen fast.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Our pathway</a:t>
            </a:r>
            <a:endParaRPr lang="en-US" sz="150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268833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06040"/>
            <a:ext cx="4408780" cy="52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Three doses of co-amoxiclav (Augmentin) around the operation</a:t>
            </a:r>
            <a:endParaRPr lang="en-US" sz="140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3311330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229034"/>
            <a:ext cx="4408780" cy="26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Catheter out the next day</a:t>
            </a:r>
            <a:endParaRPr lang="en-US" sz="140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3674203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3591907"/>
            <a:ext cx="4408780" cy="26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Back at 6 weeks to switch the device on</a:t>
            </a:r>
            <a:endParaRPr lang="en-US" sz="140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0120" y="40370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07008" y="3954780"/>
            <a:ext cx="4408780" cy="52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Seen again 6 weeks after activation for any problems</a:t>
            </a:r>
            <a:endParaRPr lang="en-US" sz="140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0120" y="4660070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07008" y="4577774"/>
            <a:ext cx="4408780" cy="26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Follow-up at 3 months and 6 months</a:t>
            </a:r>
            <a:endParaRPr lang="en-US" sz="1400" dirty="0">
              <a:latin typeface="Plus Jakarta San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60120" y="5022943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07008" y="4940647"/>
            <a:ext cx="4408780" cy="26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a year, he contacts us if he needs to</a:t>
            </a:r>
            <a:endParaRPr lang="en-US" sz="140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Earlier assessment</a:t>
            </a:r>
            <a:endParaRPr lang="en-US" sz="1500" dirty="0">
              <a:latin typeface="Plus Jakarta San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Retention or difficult voiding</a:t>
            </a:r>
            <a:endParaRPr lang="en-US" sz="1550" dirty="0">
              <a:latin typeface="Plus Jakarta San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Worsening pain, redness, discharge or fever</a:t>
            </a:r>
            <a:endParaRPr lang="en-US" sz="1550" dirty="0">
              <a:latin typeface="Plus Jakarta San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Suspected infection or erosion needs specialist review</a:t>
            </a:r>
            <a:endParaRPr lang="en-US" sz="15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A1F92F05-4628-40A0-9B43-FCD2F4084DEE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Aftercare, activation and urgent review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32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ATROPHY20  ·  BAUS25  ·  AUA24  ·  CCIFU  ·  AUASAFER26  ·  PRBFAT26  ·  EROSION26  ·  SECOND26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2026 lab study shows balloons wear with age. Find the cause; do not automatically fit a smaller cuff or a new balloon.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9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1616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FICTIONAL CASE 04</a:t>
            </a:r>
            <a:endParaRPr lang="en-US" sz="900" dirty="0">
              <a:solidFill>
                <a:srgbClr val="161616"/>
              </a:solidFill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31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good result for three years</a:t>
            </a:r>
            <a:endParaRPr lang="en-US" sz="155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815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Now leaking again</a:t>
            </a:r>
            <a:endParaRPr lang="en-US" sz="155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313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Why he leaks, and how he uses the pump, still to be checked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Could be erosion, a mechanical fault, or the bladder</a:t>
            </a:r>
            <a:endParaRPr lang="en-US" sz="155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2320" y="1783080"/>
            <a:ext cx="4419295" cy="3611880"/>
          </a:xfrm>
          <a:prstGeom prst="roundRect">
            <a:avLst>
              <a:gd name="adj" fmla="val 3544"/>
            </a:avLst>
          </a:prstGeom>
          <a:solidFill>
            <a:srgbClr val="2D2D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057400"/>
            <a:ext cx="3687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What would you investigate before choosing revision?</a:t>
            </a:r>
            <a:endParaRPr lang="en-US" sz="2400" dirty="0">
              <a:latin typeface="Plus Jakarta San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498080" y="36118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YOUR CALL</a:t>
            </a:r>
            <a:endParaRPr lang="en-US" sz="900" dirty="0">
              <a:latin typeface="Plus Jakarta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98080" y="3950208"/>
            <a:ext cx="607162" cy="36576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3950208"/>
            <a:ext cx="60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USE</a:t>
            </a:r>
            <a:endParaRPr lang="en-US" sz="1000" dirty="0">
              <a:latin typeface="Plus Jakarta Sa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33258" y="3950208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33258" y="3950208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URETHRA</a:t>
            </a:r>
            <a:endParaRPr lang="en-US" sz="100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63456" y="3950208"/>
            <a:ext cx="1199693" cy="36576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63456" y="3950208"/>
            <a:ext cx="1199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MECHANICS</a:t>
            </a:r>
            <a:endParaRPr lang="en-US" sz="1000" dirty="0">
              <a:latin typeface="Plus Jakarta San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498080" y="4425696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4425696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BLADDER</a:t>
            </a:r>
            <a:endParaRPr lang="en-US" sz="10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39435F0A-125D-43C8-BED2-E098A8E55359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Case 4: leakage after three good years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33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MASTER22  ·  TC20  ·  TC23  ·  PREP24  ·  CCSAFETY  ·  DEVICE26  ·  UROACTIVE26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2026 reviews and the first electronic sphincters add options; comparative and long-term evidence is still thin.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C489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Supported or plausible</a:t>
            </a:r>
            <a:endParaRPr lang="en-US" sz="150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Well-chosen patients get a big improvement</a:t>
            </a:r>
            <a:endParaRPr lang="en-US" sz="155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Keeping tissue and controlling contamination make sense</a:t>
            </a:r>
            <a:endParaRPr lang="en-US" sz="155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Plan for future catheters and scopes</a:t>
            </a:r>
            <a:endParaRPr lang="en-US" sz="15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2D2D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Still uncertain</a:t>
            </a:r>
            <a:endParaRPr lang="en-US" sz="150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best rescue for a fragile urethra</a:t>
            </a:r>
            <a:endParaRPr lang="en-US" sz="1550" dirty="0">
              <a:latin typeface="Plus Jakarta San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best washout fluid and preparation time</a:t>
            </a:r>
            <a:endParaRPr lang="en-US" sz="155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Long-term ContiClassic results compared with AMS 800</a:t>
            </a:r>
            <a:endParaRPr lang="en-US" sz="15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AF6A2889-9EB8-4B2A-9271-36F7D5DD5EC6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Established benefit and unresolved questions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34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  ·  EAU26  ·  AUA24  ·  DU23  ·  ICS16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>
              <a:latin typeface="Plus Jakarta San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stress leak shown, and a goal that matters to him</a:t>
            </a:r>
            <a:endParaRPr lang="en-US" sz="170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25880" y="2560320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>
              <a:latin typeface="Plus Jakarta San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325880" y="2578608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Can he use the pump now, and in five years?</a:t>
            </a:r>
            <a:endParaRPr lang="en-US" sz="170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25880" y="3310128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>
              <a:latin typeface="Plus Jakarta San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325880" y="3328416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Tests that answer: anatomy, safe storage, emptying</a:t>
            </a:r>
            <a:endParaRPr lang="en-US" sz="170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25880" y="4059936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>
              <a:latin typeface="Plus Jakarta San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325880" y="4078224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Overactive, weak, or high-pressure bladder: keep them separate</a:t>
            </a:r>
            <a:endParaRPr lang="en-US" sz="170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25880" y="4809744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300" dirty="0">
              <a:latin typeface="Plus Jakarta San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325880" y="4828032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stable urethra and future access plan</a:t>
            </a:r>
            <a:endParaRPr lang="en-US" sz="17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1E78FAB6-4CCB-48A4-96E0-A59AA3A166EE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Five decisions before implantation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35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CCIFU  ·  NICE  ·  AP23  ·  ATROPHY20  ·  BAUS25</a:t>
            </a:r>
            <a:endParaRPr lang="en-US" sz="800" dirty="0">
              <a:latin typeface="Plus Jakarta San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300" dirty="0">
              <a:latin typeface="Plus Jakarta San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right antisepsis and the right antibiotics</a:t>
            </a:r>
            <a:endParaRPr lang="en-US" sz="170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25880" y="2560320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300" dirty="0">
              <a:latin typeface="Plus Jakarta San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325880" y="2578608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Keep the tissue; measure without distortion</a:t>
            </a:r>
            <a:endParaRPr lang="en-US" sz="1700" dirty="0">
              <a:latin typeface="Plus Jakarta San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25880" y="3310128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300" dirty="0">
              <a:latin typeface="Plus Jakarta San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325880" y="3328416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The real device protocol, and clear reasons to stop</a:t>
            </a:r>
            <a:endParaRPr lang="en-US" sz="1700" dirty="0">
              <a:latin typeface="Plus Jakarta Sa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25880" y="4059936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1300" dirty="0">
              <a:latin typeface="Plus Jakarta San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325880" y="4078224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Check the device is off, the drainage plan, and teach the patient</a:t>
            </a:r>
            <a:endParaRPr lang="en-US" sz="170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25880" y="4809744"/>
            <a:ext cx="10225735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300" dirty="0">
              <a:latin typeface="Plus Jakarta San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325880" y="4828032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 diagnosis before any revision</a:t>
            </a:r>
            <a:endParaRPr lang="en-US" sz="17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F16A16F8-CDC2-4FA9-8466-7B77FAB44920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Five decisions protecting the result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>
              <a:latin typeface="Plus Jakarta San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36 / 36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371600" y="210312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7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Which bladder finding makes you defer an implant?</a:t>
            </a:r>
            <a:endParaRPr lang="en-US" sz="2400" dirty="0">
              <a:latin typeface="Plus Jakarta San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>
              <a:latin typeface="Plus Jakarta San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371600" y="306324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7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What establishes urethral stability in your practice?</a:t>
            </a:r>
            <a:endParaRPr lang="en-US" sz="2400" dirty="0">
              <a:latin typeface="Plus Jakarta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4133088"/>
            <a:ext cx="457200" cy="457200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71600" y="402336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7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Which preparation or salvage practice needs a trial?</a:t>
            </a:r>
            <a:endParaRPr lang="en-US" sz="2400" dirty="0">
              <a:latin typeface="Plus Jakarta San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Which finding would change your plan?</a:t>
            </a:r>
            <a:endParaRPr lang="en-US" sz="16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995A1A21-A657-403D-9480-DEA686CE3049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Discussion</a:t>
            </a:r>
          </a:p>
        </p:txBody>
      </p:sp>
      <p:sp>
        <p:nvSpPr>
          <p:cNvPr id="9010" name="Google Shape;50;p7"/>
          <p:cNvSpPr/>
          <p:nvPr/>
        </p:nvSpPr>
        <p:spPr>
          <a:xfrm>
            <a:off x="10810875" y="857250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615314" h="615315" extrusionOk="0">
                <a:moveTo>
                  <a:pt x="307372" y="0"/>
                </a:moveTo>
                <a:lnTo>
                  <a:pt x="295063" y="64094"/>
                </a:lnTo>
                <a:lnTo>
                  <a:pt x="281976" y="117458"/>
                </a:lnTo>
                <a:lnTo>
                  <a:pt x="266867" y="161336"/>
                </a:lnTo>
                <a:lnTo>
                  <a:pt x="248493" y="196971"/>
                </a:lnTo>
                <a:lnTo>
                  <a:pt x="196971" y="248493"/>
                </a:lnTo>
                <a:lnTo>
                  <a:pt x="161336" y="266867"/>
                </a:lnTo>
                <a:lnTo>
                  <a:pt x="117458" y="281976"/>
                </a:lnTo>
                <a:lnTo>
                  <a:pt x="64094" y="295063"/>
                </a:lnTo>
                <a:lnTo>
                  <a:pt x="0" y="307372"/>
                </a:lnTo>
                <a:lnTo>
                  <a:pt x="64094" y="319682"/>
                </a:lnTo>
                <a:lnTo>
                  <a:pt x="117458" y="332769"/>
                </a:lnTo>
                <a:lnTo>
                  <a:pt x="161336" y="347878"/>
                </a:lnTo>
                <a:lnTo>
                  <a:pt x="196971" y="366252"/>
                </a:lnTo>
                <a:lnTo>
                  <a:pt x="248493" y="417773"/>
                </a:lnTo>
                <a:lnTo>
                  <a:pt x="266867" y="453409"/>
                </a:lnTo>
                <a:lnTo>
                  <a:pt x="281976" y="497287"/>
                </a:lnTo>
                <a:lnTo>
                  <a:pt x="295063" y="550651"/>
                </a:lnTo>
                <a:lnTo>
                  <a:pt x="307372" y="614745"/>
                </a:lnTo>
                <a:lnTo>
                  <a:pt x="319682" y="550651"/>
                </a:lnTo>
                <a:lnTo>
                  <a:pt x="332769" y="497287"/>
                </a:lnTo>
                <a:lnTo>
                  <a:pt x="347878" y="453409"/>
                </a:lnTo>
                <a:lnTo>
                  <a:pt x="366252" y="417773"/>
                </a:lnTo>
                <a:lnTo>
                  <a:pt x="417773" y="366252"/>
                </a:lnTo>
                <a:lnTo>
                  <a:pt x="453409" y="347878"/>
                </a:lnTo>
                <a:lnTo>
                  <a:pt x="497287" y="332769"/>
                </a:lnTo>
                <a:lnTo>
                  <a:pt x="550651" y="319682"/>
                </a:lnTo>
                <a:lnTo>
                  <a:pt x="614745" y="307372"/>
                </a:lnTo>
                <a:lnTo>
                  <a:pt x="550651" y="295063"/>
                </a:lnTo>
                <a:lnTo>
                  <a:pt x="497287" y="281976"/>
                </a:lnTo>
                <a:lnTo>
                  <a:pt x="453409" y="266867"/>
                </a:lnTo>
                <a:lnTo>
                  <a:pt x="417773" y="248493"/>
                </a:lnTo>
                <a:lnTo>
                  <a:pt x="366252" y="196971"/>
                </a:lnTo>
                <a:lnTo>
                  <a:pt x="347878" y="161336"/>
                </a:lnTo>
                <a:lnTo>
                  <a:pt x="332769" y="117458"/>
                </a:lnTo>
                <a:lnTo>
                  <a:pt x="319682" y="64094"/>
                </a:lnTo>
                <a:lnTo>
                  <a:pt x="307372" y="0"/>
                </a:lnTo>
                <a:close/>
              </a:path>
            </a:pathLst>
          </a:custGeom>
          <a:solidFill>
            <a:srgbClr val="89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>
              <a:latin typeface="Plus Jakarta San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>
              <a:latin typeface="Plus Jakarta San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F5F7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Select the patient: a shown stress leak, a safe bladder, reliable emptying and a pump he can use</a:t>
            </a:r>
            <a:endParaRPr lang="en-US" sz="2000" dirty="0">
              <a:latin typeface="Plus Jakarta San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>
              <a:latin typeface="Plus Jakarta San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71600" y="265176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F5F7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Protect the urethra: keep the tissue, size the cuff without distortion, follow the device’s own protocol</a:t>
            </a:r>
            <a:endParaRPr lang="en-US" sz="2000" dirty="0">
              <a:latin typeface="Plus Jakarta San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89FF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>
              <a:latin typeface="Plus Jakarta San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371600" y="352044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F5F7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When a late leak returns, diagnose it before you revise: his technique, the urethra, the mechanics, the bladder</a:t>
            </a:r>
            <a:endParaRPr lang="en-US" sz="2000" dirty="0">
              <a:latin typeface="Plus Jakarta San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0080" y="4480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4F5F7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Thank you</a:t>
            </a:r>
            <a:endParaRPr lang="en-US" sz="4000" dirty="0">
              <a:latin typeface="Plus Jakarta San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Questions welcome</a:t>
            </a:r>
            <a:endParaRPr lang="en-US" sz="1600" dirty="0">
              <a:latin typeface="Plus Jakarta San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223760" y="4526280"/>
            <a:ext cx="4327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Mr Andrew Baird</a:t>
            </a:r>
            <a:pPr algn="l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   Urology Consultant</a:t>
            </a:r>
            <a:endParaRPr lang="en-US" sz="1400" dirty="0">
              <a:latin typeface="Plus Jakarta San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223760" y="4892040"/>
            <a:ext cx="4327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Mr Mohamed Abu Yousif</a:t>
            </a:r>
            <a:pPr algn="l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   Urology Consultant</a:t>
            </a:r>
            <a:endParaRPr lang="en-US" sz="1400" dirty="0">
              <a:latin typeface="Plus Jakarta San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223760" y="5257800"/>
            <a:ext cx="4327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Nity G</a:t>
            </a:r>
            <a:pPr algn="l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   ST5 Urology Registrar</a:t>
            </a:r>
            <a:endParaRPr lang="en-US" sz="1400" dirty="0">
              <a:latin typeface="Plus Jakarta San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FAFA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Rigicon Advanced Training Event · Liverpool · 22–23 October 2026</a:t>
            </a:r>
            <a:endParaRPr lang="en-US" sz="10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4268583C-F2B2-48D7-B1AA-BBB5830D2774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Conclusion and thank you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950" dirty="0">
              <a:latin typeface="Plus Jakarta San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BAUS25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1920240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BAUS consensus, BJU Int 2025</a:t>
            </a:r>
            <a:endParaRPr lang="en-US" sz="1150" dirty="0">
              <a:latin typeface="Plus Jakarta San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15798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EAU26</a:t>
            </a:r>
            <a:endParaRPr lang="en-US" sz="950" dirty="0">
              <a:latin typeface="Plus Jakarta Sans"/>
            </a:endParaRPr>
          </a:p>
        </p:txBody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1920240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EAU male LUTS guidelines,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AUA24</a:t>
            </a:r>
            <a:endParaRPr lang="en-US" sz="950" dirty="0">
              <a:latin typeface="Plus Jakarta Sans"/>
            </a:endParaRPr>
          </a:p>
        </p:txBody>
      </p:sp>
      <p:sp>
        <p:nvSpPr>
          <p:cNvPr id="11" name="Text 9">
            <a:hlinkClick r:id="rId3" tooltip=""/>
          </p:cNvPr>
          <p:cNvSpPr txBox="1"/>
          <p:nvPr/>
        </p:nvSpPr>
        <p:spPr>
          <a:xfrm>
            <a:off x="1920240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AUA/GURS/SUFU IPT amendment, 2024</a:t>
            </a:r>
            <a:endParaRPr lang="en-US" sz="1150" dirty="0">
              <a:latin typeface="Plus Jakarta San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EAUSTR26</a:t>
            </a:r>
            <a:endParaRPr lang="en-US" sz="950" dirty="0">
              <a:latin typeface="Plus Jakarta Sans"/>
            </a:endParaRPr>
          </a:p>
        </p:txBody>
      </p:sp>
      <p:sp>
        <p:nvSpPr>
          <p:cNvPr id="14" name="Text 12">
            <a:hlinkClick r:id="rId4" tooltip=""/>
          </p:cNvPr>
          <p:cNvSpPr txBox="1"/>
          <p:nvPr/>
        </p:nvSpPr>
        <p:spPr>
          <a:xfrm>
            <a:off x="1920240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EAU urethral strictures guidelines,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41985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ICS16</a:t>
            </a:r>
            <a:endParaRPr lang="en-US" sz="950" dirty="0">
              <a:latin typeface="Plus Jakarta Sans"/>
            </a:endParaRPr>
          </a:p>
        </p:txBody>
      </p:sp>
      <p:sp>
        <p:nvSpPr>
          <p:cNvPr id="17" name="Text 15">
            <a:hlinkClick r:id="rId5" tooltip=""/>
          </p:cNvPr>
          <p:cNvSpPr txBox="1"/>
          <p:nvPr/>
        </p:nvSpPr>
        <p:spPr>
          <a:xfrm>
            <a:off x="1920240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ICS AUS consensus, NUU 2016</a:t>
            </a:r>
            <a:endParaRPr lang="en-US" sz="115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AP23</a:t>
            </a:r>
            <a:endParaRPr lang="en-US" sz="950" dirty="0">
              <a:latin typeface="Plus Jakarta Sans"/>
            </a:endParaRPr>
          </a:p>
        </p:txBody>
      </p:sp>
      <p:sp>
        <p:nvSpPr>
          <p:cNvPr id="20" name="Text 18">
            <a:hlinkClick r:id="rId6" tooltip=""/>
          </p:cNvPr>
          <p:cNvSpPr txBox="1"/>
          <p:nvPr/>
        </p:nvSpPr>
        <p:spPr>
          <a:xfrm>
            <a:off x="1920240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Asia-Pacific AMS 800 consensus, 2023</a:t>
            </a:r>
            <a:endParaRPr lang="en-US" sz="115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CCIFU</a:t>
            </a:r>
            <a:endParaRPr lang="en-US" sz="950" dirty="0">
              <a:latin typeface="Plus Jakarta Sans"/>
            </a:endParaRPr>
          </a:p>
        </p:txBody>
      </p:sp>
      <p:sp>
        <p:nvSpPr>
          <p:cNvPr id="23" name="Text 21">
            <a:hlinkClick r:id="rId7" tooltip=""/>
          </p:cNvPr>
          <p:cNvSpPr txBox="1"/>
          <p:nvPr/>
        </p:nvSpPr>
        <p:spPr>
          <a:xfrm>
            <a:off x="1920240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Rigicon ContiClassic IFU, REV.03, 2023</a:t>
            </a:r>
            <a:endParaRPr lang="en-US" sz="115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ICSUDS17</a:t>
            </a:r>
            <a:endParaRPr lang="en-US" sz="950" dirty="0">
              <a:latin typeface="Plus Jakarta Sans"/>
            </a:endParaRPr>
          </a:p>
        </p:txBody>
      </p:sp>
      <p:sp>
        <p:nvSpPr>
          <p:cNvPr id="26" name="Text 24">
            <a:hlinkClick r:id="rId8" tooltip=""/>
          </p:cNvPr>
          <p:cNvSpPr txBox="1"/>
          <p:nvPr/>
        </p:nvSpPr>
        <p:spPr>
          <a:xfrm>
            <a:off x="1920240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ICS good urodynamic practices, 2017</a:t>
            </a:r>
            <a:endParaRPr lang="en-US" sz="1150" dirty="0">
              <a:latin typeface="Plus Jakarta San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510235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AUAOAB24</a:t>
            </a:r>
            <a:endParaRPr lang="en-US" sz="950" dirty="0">
              <a:latin typeface="Plus Jakarta Sans"/>
            </a:endParaRPr>
          </a:p>
        </p:txBody>
      </p:sp>
      <p:sp>
        <p:nvSpPr>
          <p:cNvPr id="29" name="Text 27">
            <a:hlinkClick r:id="rId9" tooltip=""/>
          </p:cNvPr>
          <p:cNvSpPr txBox="1"/>
          <p:nvPr/>
        </p:nvSpPr>
        <p:spPr>
          <a:xfrm>
            <a:off x="1920240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AUA/SUFU idiopathic OAB guideline, 2024</a:t>
            </a:r>
            <a:endParaRPr lang="en-US" sz="1150" dirty="0">
              <a:latin typeface="Plus Jakarta San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552297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NICE</a:t>
            </a:r>
            <a:endParaRPr lang="en-US" sz="950" dirty="0">
              <a:latin typeface="Plus Jakarta Sans"/>
            </a:endParaRPr>
          </a:p>
        </p:txBody>
      </p:sp>
      <p:sp>
        <p:nvSpPr>
          <p:cNvPr id="32" name="Text 30">
            <a:hlinkClick r:id="rId10" tooltip=""/>
          </p:cNvPr>
          <p:cNvSpPr txBox="1"/>
          <p:nvPr/>
        </p:nvSpPr>
        <p:spPr>
          <a:xfrm>
            <a:off x="1920240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NICE NG125: surgical site infection</a:t>
            </a:r>
            <a:endParaRPr lang="en-US" sz="1150" dirty="0">
              <a:latin typeface="Plus Jakarta San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278728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WHO09</a:t>
            </a:r>
            <a:endParaRPr lang="en-US" sz="950" dirty="0">
              <a:latin typeface="Plus Jakarta Sans"/>
            </a:endParaRPr>
          </a:p>
        </p:txBody>
      </p:sp>
      <p:sp>
        <p:nvSpPr>
          <p:cNvPr id="34" name="Text 32">
            <a:hlinkClick r:id="rId11" tooltip=""/>
          </p:cNvPr>
          <p:cNvSpPr txBox="1"/>
          <p:nvPr/>
        </p:nvSpPr>
        <p:spPr>
          <a:xfrm>
            <a:off x="7558888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hand hygiene guidance, 2009</a:t>
            </a:r>
            <a:endParaRPr lang="en-US" sz="1150" dirty="0">
              <a:latin typeface="Plus Jakarta San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78728" y="215798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78728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CHLORA26</a:t>
            </a:r>
            <a:endParaRPr lang="en-US" sz="950" dirty="0">
              <a:latin typeface="Plus Jakarta Sans"/>
            </a:endParaRPr>
          </a:p>
        </p:txBody>
      </p:sp>
      <p:sp>
        <p:nvSpPr>
          <p:cNvPr id="37" name="Text 35">
            <a:hlinkClick r:id="rId12" tooltip=""/>
          </p:cNvPr>
          <p:cNvSpPr txBox="1"/>
          <p:nvPr/>
        </p:nvSpPr>
        <p:spPr>
          <a:xfrm>
            <a:off x="7558888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ChloraPrep UK product information,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78728" y="257860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78728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IDSA19</a:t>
            </a:r>
            <a:endParaRPr lang="en-US" sz="950" dirty="0">
              <a:latin typeface="Plus Jakarta Sans"/>
            </a:endParaRPr>
          </a:p>
        </p:txBody>
      </p:sp>
      <p:sp>
        <p:nvSpPr>
          <p:cNvPr id="40" name="Text 38">
            <a:hlinkClick r:id="rId13" tooltip=""/>
          </p:cNvPr>
          <p:cNvSpPr txBox="1"/>
          <p:nvPr/>
        </p:nvSpPr>
        <p:spPr>
          <a:xfrm>
            <a:off x="7558888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IDSA asymptomatic bacteriuria, 2019</a:t>
            </a:r>
            <a:endParaRPr lang="en-US" sz="1150" dirty="0">
              <a:latin typeface="Plus Jakarta San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78728" y="299923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78728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AUAABX20</a:t>
            </a:r>
            <a:endParaRPr lang="en-US" sz="950" dirty="0">
              <a:latin typeface="Plus Jakarta Sans"/>
            </a:endParaRPr>
          </a:p>
        </p:txBody>
      </p:sp>
      <p:sp>
        <p:nvSpPr>
          <p:cNvPr id="43" name="Text 41">
            <a:hlinkClick r:id="rId14" tooltip=""/>
          </p:cNvPr>
          <p:cNvSpPr txBox="1"/>
          <p:nvPr/>
        </p:nvSpPr>
        <p:spPr>
          <a:xfrm>
            <a:off x="7558888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antimicrobial prophylaxis, 2020</a:t>
            </a:r>
            <a:endParaRPr lang="en-US" sz="1150" dirty="0">
              <a:latin typeface="Plus Jakarta San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78728" y="341985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78728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CCSAFETY</a:t>
            </a:r>
            <a:endParaRPr lang="en-US" sz="950" dirty="0">
              <a:latin typeface="Plus Jakarta Sans"/>
            </a:endParaRPr>
          </a:p>
        </p:txBody>
      </p:sp>
      <p:sp>
        <p:nvSpPr>
          <p:cNvPr id="46" name="Text 44">
            <a:hlinkClick r:id="rId15" tooltip=""/>
          </p:cNvPr>
          <p:cNvSpPr txBox="1"/>
          <p:nvPr/>
        </p:nvSpPr>
        <p:spPr>
          <a:xfrm>
            <a:off x="7558888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Wilson: ContiClassic safety, IJIR 2024</a:t>
            </a:r>
            <a:endParaRPr lang="en-US" sz="1150" dirty="0">
              <a:latin typeface="Plus Jakarta San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78728" y="3840480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78728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MASTER22</a:t>
            </a:r>
            <a:endParaRPr lang="en-US" sz="950" dirty="0">
              <a:latin typeface="Plus Jakarta Sans"/>
            </a:endParaRPr>
          </a:p>
        </p:txBody>
      </p:sp>
      <p:sp>
        <p:nvSpPr>
          <p:cNvPr id="49" name="Text 47">
            <a:hlinkClick r:id="rId16" tooltip=""/>
          </p:cNvPr>
          <p:cNvSpPr txBox="1"/>
          <p:nvPr/>
        </p:nvSpPr>
        <p:spPr>
          <a:xfrm>
            <a:off x="7558888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randomised trial, HTA 2022</a:t>
            </a:r>
            <a:endParaRPr lang="en-US" sz="1150" dirty="0">
              <a:latin typeface="Plus Jakarta San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78728" y="426110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78728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UDS09</a:t>
            </a:r>
            <a:endParaRPr lang="en-US" sz="950" dirty="0">
              <a:latin typeface="Plus Jakarta Sans"/>
            </a:endParaRPr>
          </a:p>
        </p:txBody>
      </p:sp>
      <p:sp>
        <p:nvSpPr>
          <p:cNvPr id="52" name="Text 50">
            <a:hlinkClick r:id="rId17" tooltip=""/>
          </p:cNvPr>
          <p:cNvSpPr txBox="1"/>
          <p:nvPr/>
        </p:nvSpPr>
        <p:spPr>
          <a:xfrm>
            <a:off x="7558888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Lai: pre-AUS urodynamics, Urology 2009</a:t>
            </a:r>
            <a:endParaRPr lang="en-US" sz="1150" dirty="0">
              <a:latin typeface="Plus Jakarta San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278728" y="468172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78728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OAB11</a:t>
            </a:r>
            <a:endParaRPr lang="en-US" sz="950" dirty="0">
              <a:latin typeface="Plus Jakarta Sans"/>
            </a:endParaRPr>
          </a:p>
        </p:txBody>
      </p:sp>
      <p:sp>
        <p:nvSpPr>
          <p:cNvPr id="55" name="Text 53">
            <a:hlinkClick r:id="rId18" tooltip=""/>
          </p:cNvPr>
          <p:cNvSpPr txBox="1"/>
          <p:nvPr/>
        </p:nvSpPr>
        <p:spPr>
          <a:xfrm>
            <a:off x="7558888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Lai: OAB and post-prostatectomy AUS, 2011</a:t>
            </a:r>
            <a:endParaRPr lang="en-US" sz="1150" dirty="0">
              <a:latin typeface="Plus Jakarta San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278728" y="510235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78728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DO24</a:t>
            </a:r>
            <a:endParaRPr lang="en-US" sz="950" dirty="0">
              <a:latin typeface="Plus Jakarta Sans"/>
            </a:endParaRPr>
          </a:p>
        </p:txBody>
      </p:sp>
      <p:sp>
        <p:nvSpPr>
          <p:cNvPr id="58" name="Text 56">
            <a:hlinkClick r:id="rId19" tooltip=""/>
          </p:cNvPr>
          <p:cNvSpPr txBox="1"/>
          <p:nvPr/>
        </p:nvSpPr>
        <p:spPr>
          <a:xfrm>
            <a:off x="7558888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Bhatt: preoperative DO systematic review, 2024</a:t>
            </a:r>
            <a:endParaRPr lang="en-US" sz="1150" dirty="0">
              <a:latin typeface="Plus Jakarta San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278728" y="552297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278728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DOFAIL23</a:t>
            </a:r>
            <a:endParaRPr lang="en-US" sz="950" dirty="0">
              <a:latin typeface="Plus Jakarta Sans"/>
            </a:endParaRPr>
          </a:p>
        </p:txBody>
      </p:sp>
      <p:sp>
        <p:nvSpPr>
          <p:cNvPr id="61" name="Text 59">
            <a:hlinkClick r:id="rId20" tooltip=""/>
          </p:cNvPr>
          <p:cNvSpPr txBox="1"/>
          <p:nvPr/>
        </p:nvSpPr>
        <p:spPr>
          <a:xfrm>
            <a:off x="7558888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Krughoff: earlier AUS failure, 2023</a:t>
            </a:r>
            <a:endParaRPr lang="en-US" sz="11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D8D36D4B-7C6C-4F6D-B3F8-83E845EC61A4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Sources 1 of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950" dirty="0">
              <a:latin typeface="Plus Jakarta San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DU23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1920240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Han: AUS with detrusor underactivity, 2023</a:t>
            </a:r>
            <a:endParaRPr lang="en-US" sz="1150" dirty="0">
              <a:latin typeface="Plus Jakarta San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15798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CIC23</a:t>
            </a:r>
            <a:endParaRPr lang="en-US" sz="950" dirty="0">
              <a:latin typeface="Plus Jakarta Sans"/>
            </a:endParaRPr>
          </a:p>
        </p:txBody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1920240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Krughoff: CIC after bulbar AUS, 2023</a:t>
            </a:r>
            <a:endParaRPr lang="en-US" sz="115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CATH13</a:t>
            </a:r>
            <a:endParaRPr lang="en-US" sz="950" dirty="0">
              <a:latin typeface="Plus Jakarta Sans"/>
            </a:endParaRPr>
          </a:p>
        </p:txBody>
      </p:sp>
      <p:sp>
        <p:nvSpPr>
          <p:cNvPr id="11" name="Text 9">
            <a:hlinkClick r:id="rId3" tooltip=""/>
          </p:cNvPr>
          <p:cNvSpPr txBox="1"/>
          <p:nvPr/>
        </p:nvSpPr>
        <p:spPr>
          <a:xfrm>
            <a:off x="1920240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Seideman: prolonged catheterisation, 2013</a:t>
            </a:r>
            <a:endParaRPr lang="en-US" sz="1150" dirty="0">
              <a:latin typeface="Plus Jakarta San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UDS14</a:t>
            </a:r>
            <a:endParaRPr lang="en-US" sz="950" dirty="0">
              <a:latin typeface="Plus Jakarta Sans"/>
            </a:endParaRPr>
          </a:p>
        </p:txBody>
      </p:sp>
      <p:sp>
        <p:nvSpPr>
          <p:cNvPr id="14" name="Text 12">
            <a:hlinkClick r:id="rId4" tooltip=""/>
          </p:cNvPr>
          <p:cNvSpPr txBox="1"/>
          <p:nvPr/>
        </p:nvSpPr>
        <p:spPr>
          <a:xfrm>
            <a:off x="1920240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Weissbart: absent leak during UDS, 2014</a:t>
            </a:r>
            <a:endParaRPr lang="en-US" sz="11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41985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RT22</a:t>
            </a:r>
            <a:endParaRPr lang="en-US" sz="950" dirty="0">
              <a:latin typeface="Plus Jakarta Sans"/>
            </a:endParaRPr>
          </a:p>
        </p:txBody>
      </p:sp>
      <p:sp>
        <p:nvSpPr>
          <p:cNvPr id="17" name="Text 15">
            <a:hlinkClick r:id="rId5" tooltip=""/>
          </p:cNvPr>
          <p:cNvSpPr txBox="1"/>
          <p:nvPr/>
        </p:nvSpPr>
        <p:spPr>
          <a:xfrm>
            <a:off x="1920240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Zhang: radiation meta-analysis, 2022</a:t>
            </a:r>
            <a:endParaRPr lang="en-US" sz="115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URETH26</a:t>
            </a:r>
            <a:endParaRPr lang="en-US" sz="950" dirty="0">
              <a:latin typeface="Plus Jakarta Sans"/>
            </a:endParaRPr>
          </a:p>
        </p:txBody>
      </p:sp>
      <p:sp>
        <p:nvSpPr>
          <p:cNvPr id="20" name="Text 18">
            <a:hlinkClick r:id="rId6" tooltip=""/>
          </p:cNvPr>
          <p:cNvSpPr txBox="1"/>
          <p:nvPr/>
        </p:nvSpPr>
        <p:spPr>
          <a:xfrm>
            <a:off x="1920240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Davis: AUS after urethroplasty,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TC20</a:t>
            </a:r>
            <a:endParaRPr lang="en-US" sz="950" dirty="0">
              <a:latin typeface="Plus Jakarta Sans"/>
            </a:endParaRPr>
          </a:p>
        </p:txBody>
      </p:sp>
      <p:sp>
        <p:nvSpPr>
          <p:cNvPr id="23" name="Text 21">
            <a:hlinkClick r:id="rId7" tooltip=""/>
          </p:cNvPr>
          <p:cNvSpPr txBox="1"/>
          <p:nvPr/>
        </p:nvSpPr>
        <p:spPr>
          <a:xfrm>
            <a:off x="1920240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Redmond: transcorporal fragile urethra, 2020</a:t>
            </a:r>
            <a:endParaRPr lang="en-US" sz="115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TC23</a:t>
            </a:r>
            <a:endParaRPr lang="en-US" sz="950" dirty="0">
              <a:latin typeface="Plus Jakarta Sans"/>
            </a:endParaRPr>
          </a:p>
        </p:txBody>
      </p:sp>
      <p:sp>
        <p:nvSpPr>
          <p:cNvPr id="26" name="Text 24">
            <a:hlinkClick r:id="rId8" tooltip=""/>
          </p:cNvPr>
          <p:cNvSpPr txBox="1"/>
          <p:nvPr/>
        </p:nvSpPr>
        <p:spPr>
          <a:xfrm>
            <a:off x="1920240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Kurtzman: high-risk transcorporal AUS, 2023</a:t>
            </a:r>
            <a:endParaRPr lang="en-US" sz="1150" dirty="0">
              <a:latin typeface="Plus Jakarta San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510235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ATROPHY20</a:t>
            </a:r>
            <a:endParaRPr lang="en-US" sz="950" dirty="0">
              <a:latin typeface="Plus Jakarta Sans"/>
            </a:endParaRPr>
          </a:p>
        </p:txBody>
      </p:sp>
      <p:sp>
        <p:nvSpPr>
          <p:cNvPr id="29" name="Text 27">
            <a:hlinkClick r:id="rId9" tooltip=""/>
          </p:cNvPr>
          <p:cNvSpPr txBox="1"/>
          <p:nvPr/>
        </p:nvSpPr>
        <p:spPr>
          <a:xfrm>
            <a:off x="1920240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Bergeson: urethral atrophy and revision, 2020</a:t>
            </a:r>
            <a:endParaRPr lang="en-US" sz="1150" dirty="0">
              <a:latin typeface="Plus Jakarta San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552297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PREP24</a:t>
            </a:r>
            <a:endParaRPr lang="en-US" sz="950" dirty="0">
              <a:latin typeface="Plus Jakarta Sans"/>
            </a:endParaRPr>
          </a:p>
        </p:txBody>
      </p:sp>
      <p:sp>
        <p:nvSpPr>
          <p:cNvPr id="32" name="Text 30">
            <a:hlinkClick r:id="rId10" tooltip=""/>
          </p:cNvPr>
          <p:cNvSpPr txBox="1"/>
          <p:nvPr/>
        </p:nvSpPr>
        <p:spPr>
          <a:xfrm>
            <a:off x="1920240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Bourgi: AUS preparation protocols, 2024</a:t>
            </a:r>
            <a:endParaRPr lang="en-US" sz="1150" dirty="0">
              <a:latin typeface="Plus Jakarta San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278728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YEUNG13</a:t>
            </a:r>
            <a:endParaRPr lang="en-US" sz="950" dirty="0">
              <a:latin typeface="Plus Jakarta Sans"/>
            </a:endParaRPr>
          </a:p>
        </p:txBody>
      </p:sp>
      <p:sp>
        <p:nvSpPr>
          <p:cNvPr id="34" name="Text 32">
            <a:hlinkClick r:id="rId11" tooltip=""/>
          </p:cNvPr>
          <p:cNvSpPr txBox="1"/>
          <p:nvPr/>
        </p:nvSpPr>
        <p:spPr>
          <a:xfrm>
            <a:off x="7558888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Yeung: GU skin preparation RCT, 2013</a:t>
            </a:r>
            <a:endParaRPr lang="en-US" sz="1150" dirty="0">
              <a:latin typeface="Plus Jakarta San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78728" y="215798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78728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ABX18</a:t>
            </a:r>
            <a:endParaRPr lang="en-US" sz="950" dirty="0">
              <a:latin typeface="Plus Jakarta Sans"/>
            </a:endParaRPr>
          </a:p>
        </p:txBody>
      </p:sp>
      <p:sp>
        <p:nvSpPr>
          <p:cNvPr id="37" name="Text 35">
            <a:hlinkClick r:id="rId12" tooltip=""/>
          </p:cNvPr>
          <p:cNvSpPr txBox="1"/>
          <p:nvPr/>
        </p:nvSpPr>
        <p:spPr>
          <a:xfrm>
            <a:off x="7558888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Adamsky: postoperative antibiotics, 2018</a:t>
            </a:r>
            <a:endParaRPr lang="en-US" sz="1150" dirty="0">
              <a:latin typeface="Plus Jakarta San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78728" y="257860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78728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TOUCH23</a:t>
            </a:r>
            <a:endParaRPr lang="en-US" sz="950" dirty="0">
              <a:latin typeface="Plus Jakarta Sans"/>
            </a:endParaRPr>
          </a:p>
        </p:txBody>
      </p:sp>
      <p:sp>
        <p:nvSpPr>
          <p:cNvPr id="40" name="Text 38">
            <a:hlinkClick r:id="rId13" tooltip=""/>
          </p:cNvPr>
          <p:cNvSpPr txBox="1"/>
          <p:nvPr/>
        </p:nvSpPr>
        <p:spPr>
          <a:xfrm>
            <a:off x="7558888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Ziegelmann: minimal-touch AUS, 2023</a:t>
            </a:r>
            <a:endParaRPr lang="en-US" sz="1150" dirty="0">
              <a:latin typeface="Plus Jakarta San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78728" y="299923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78728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LINDER15</a:t>
            </a:r>
            <a:endParaRPr lang="en-US" sz="950" dirty="0">
              <a:latin typeface="Plus Jakarta Sans"/>
            </a:endParaRPr>
          </a:p>
        </p:txBody>
      </p:sp>
      <p:sp>
        <p:nvSpPr>
          <p:cNvPr id="43" name="Text 41">
            <a:hlinkClick r:id="rId14" tooltip=""/>
          </p:cNvPr>
          <p:cNvSpPr txBox="1"/>
          <p:nvPr/>
        </p:nvSpPr>
        <p:spPr>
          <a:xfrm>
            <a:off x="7558888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Linder: long-term AMS 800 outcomes, 2015</a:t>
            </a:r>
            <a:endParaRPr lang="en-US" sz="1150" dirty="0">
              <a:latin typeface="Plus Jakarta San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78728" y="341985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78728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AUSCO26</a:t>
            </a:r>
            <a:endParaRPr lang="en-US" sz="950" dirty="0">
              <a:latin typeface="Plus Jakarta Sans"/>
            </a:endParaRPr>
          </a:p>
        </p:txBody>
      </p:sp>
      <p:sp>
        <p:nvSpPr>
          <p:cNvPr id="46" name="Text 44">
            <a:hlinkClick r:id="rId15" tooltip=""/>
          </p:cNvPr>
          <p:cNvSpPr txBox="1"/>
          <p:nvPr/>
        </p:nvSpPr>
        <p:spPr>
          <a:xfrm>
            <a:off x="7558888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Kaufman: AMS 800 AUSCO study,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78728" y="3840480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78728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AUASTATUS26</a:t>
            </a:r>
            <a:endParaRPr lang="en-US" sz="950" dirty="0">
              <a:latin typeface="Plus Jakarta Sans"/>
            </a:endParaRPr>
          </a:p>
        </p:txBody>
      </p:sp>
      <p:sp>
        <p:nvSpPr>
          <p:cNvPr id="49" name="Text 47">
            <a:hlinkClick r:id="rId16" tooltip=""/>
          </p:cNvPr>
          <p:cNvSpPr txBox="1"/>
          <p:nvPr/>
        </p:nvSpPr>
        <p:spPr>
          <a:xfrm>
            <a:off x="7558888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current guideline register, July 2026</a:t>
            </a:r>
            <a:endParaRPr lang="en-US" sz="1150" dirty="0">
              <a:latin typeface="Plus Jakarta San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78728" y="426110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78728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BAUSDAY26</a:t>
            </a:r>
            <a:endParaRPr lang="en-US" sz="950" dirty="0">
              <a:latin typeface="Plus Jakarta Sans"/>
            </a:endParaRPr>
          </a:p>
        </p:txBody>
      </p:sp>
      <p:sp>
        <p:nvSpPr>
          <p:cNvPr id="52" name="Text 50">
            <a:hlinkClick r:id="rId17" tooltip=""/>
          </p:cNvPr>
          <p:cNvSpPr txBox="1"/>
          <p:nvPr/>
        </p:nvSpPr>
        <p:spPr>
          <a:xfrm>
            <a:off x="7558888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BAUS 2026 P4-8: day-case AUS audit</a:t>
            </a:r>
            <a:endParaRPr lang="en-US" sz="1150" dirty="0">
              <a:latin typeface="Plus Jakarta San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278728" y="468172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78728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BAUSSCI26</a:t>
            </a:r>
            <a:endParaRPr lang="en-US" sz="950" dirty="0">
              <a:latin typeface="Plus Jakarta Sans"/>
            </a:endParaRPr>
          </a:p>
        </p:txBody>
      </p:sp>
      <p:sp>
        <p:nvSpPr>
          <p:cNvPr id="55" name="Text 53">
            <a:hlinkClick r:id="rId18" tooltip=""/>
          </p:cNvPr>
          <p:cNvSpPr txBox="1"/>
          <p:nvPr/>
        </p:nvSpPr>
        <p:spPr>
          <a:xfrm>
            <a:off x="7558888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BAUS 2026 P12-7: bulbar AUS in SCI</a:t>
            </a:r>
            <a:endParaRPr lang="en-US" sz="1150" dirty="0">
              <a:latin typeface="Plus Jakarta San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278728" y="510235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78728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AUAUDS26</a:t>
            </a:r>
            <a:endParaRPr lang="en-US" sz="950" dirty="0">
              <a:latin typeface="Plus Jakarta Sans"/>
            </a:endParaRPr>
          </a:p>
        </p:txBody>
      </p:sp>
      <p:sp>
        <p:nvSpPr>
          <p:cNvPr id="58" name="Text 56">
            <a:hlinkClick r:id="rId19" tooltip=""/>
          </p:cNvPr>
          <p:cNvSpPr txBox="1"/>
          <p:nvPr/>
        </p:nvSpPr>
        <p:spPr>
          <a:xfrm>
            <a:off x="7558888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2026 IP09-22: pre-AUS UDS and cystoscopy</a:t>
            </a:r>
            <a:endParaRPr lang="en-US" sz="1150" dirty="0">
              <a:latin typeface="Plus Jakarta San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278728" y="552297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278728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AUAABX26</a:t>
            </a:r>
            <a:endParaRPr lang="en-US" sz="950" dirty="0">
              <a:latin typeface="Plus Jakarta Sans"/>
            </a:endParaRPr>
          </a:p>
        </p:txBody>
      </p:sp>
      <p:sp>
        <p:nvSpPr>
          <p:cNvPr id="61" name="Text 59">
            <a:hlinkClick r:id="rId20" tooltip=""/>
          </p:cNvPr>
          <p:cNvSpPr txBox="1"/>
          <p:nvPr/>
        </p:nvSpPr>
        <p:spPr>
          <a:xfrm>
            <a:off x="7558888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2026 IP09-18: postoperative antibiotics</a:t>
            </a:r>
            <a:endParaRPr lang="en-US" sz="115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5FC1DC24-3F83-4F28-9DD6-CFC8EA67E88A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Sources 2 of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950" dirty="0">
              <a:latin typeface="Plus Jakarta San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AUASAFER26</a:t>
            </a:r>
            <a:endParaRPr lang="en-US" sz="950" dirty="0">
              <a:latin typeface="Plus Jakarta Sans"/>
            </a:endParaRPr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1920240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2026 IP09-17: SAFER erosion management</a:t>
            </a:r>
            <a:endParaRPr lang="en-US" sz="1150" dirty="0">
              <a:latin typeface="Plus Jakarta San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15798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MASTER26</a:t>
            </a:r>
            <a:endParaRPr lang="en-US" sz="950" dirty="0">
              <a:latin typeface="Plus Jakarta Sans"/>
            </a:endParaRPr>
          </a:p>
        </p:txBody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1920240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MASTER: 24-month RCT results,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URETHMETA26</a:t>
            </a:r>
            <a:endParaRPr lang="en-US" sz="950" dirty="0">
              <a:latin typeface="Plus Jakarta Sans"/>
            </a:endParaRPr>
          </a:p>
        </p:txBody>
      </p:sp>
      <p:sp>
        <p:nvSpPr>
          <p:cNvPr id="11" name="Text 9">
            <a:hlinkClick r:id="rId3" tooltip=""/>
          </p:cNvPr>
          <p:cNvSpPr txBox="1"/>
          <p:nvPr/>
        </p:nvSpPr>
        <p:spPr>
          <a:xfrm>
            <a:off x="1920240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Prior urethroplasty: meta-analysis,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IRRIG26</a:t>
            </a:r>
            <a:endParaRPr lang="en-US" sz="950" dirty="0">
              <a:latin typeface="Plus Jakarta Sans"/>
            </a:endParaRPr>
          </a:p>
        </p:txBody>
      </p:sp>
      <p:sp>
        <p:nvSpPr>
          <p:cNvPr id="14" name="Text 12">
            <a:hlinkClick r:id="rId4" tooltip=""/>
          </p:cNvPr>
          <p:cNvSpPr txBox="1"/>
          <p:nvPr/>
        </p:nvSpPr>
        <p:spPr>
          <a:xfrm>
            <a:off x="1920240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Gentamicin withdrawal: AMS 800 cohort,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41985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DAYMETA26</a:t>
            </a:r>
            <a:endParaRPr lang="en-US" sz="950" dirty="0">
              <a:latin typeface="Plus Jakarta Sans"/>
            </a:endParaRPr>
          </a:p>
        </p:txBody>
      </p:sp>
      <p:sp>
        <p:nvSpPr>
          <p:cNvPr id="17" name="Text 15">
            <a:hlinkClick r:id="rId5" tooltip=""/>
          </p:cNvPr>
          <p:cNvSpPr txBox="1"/>
          <p:nvPr/>
        </p:nvSpPr>
        <p:spPr>
          <a:xfrm>
            <a:off x="1920240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Day-case AUS meta-analysis: 2026 issue</a:t>
            </a:r>
            <a:endParaRPr lang="en-US" sz="1150" dirty="0">
              <a:latin typeface="Plus Jakarta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DAYCASE26</a:t>
            </a:r>
            <a:endParaRPr lang="en-US" sz="950" dirty="0">
              <a:latin typeface="Plus Jakarta Sans"/>
            </a:endParaRPr>
          </a:p>
        </p:txBody>
      </p:sp>
      <p:sp>
        <p:nvSpPr>
          <p:cNvPr id="20" name="Text 18">
            <a:hlinkClick r:id="rId6" tooltip=""/>
          </p:cNvPr>
          <p:cNvSpPr txBox="1"/>
          <p:nvPr/>
        </p:nvSpPr>
        <p:spPr>
          <a:xfrm>
            <a:off x="1920240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Day-case versus inpatient AUS: 177 men,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FRAIL26</a:t>
            </a:r>
            <a:endParaRPr lang="en-US" sz="950" dirty="0">
              <a:latin typeface="Plus Jakarta Sans"/>
            </a:endParaRPr>
          </a:p>
        </p:txBody>
      </p:sp>
      <p:sp>
        <p:nvSpPr>
          <p:cNvPr id="23" name="Text 21">
            <a:hlinkClick r:id="rId7" tooltip=""/>
          </p:cNvPr>
          <p:cNvSpPr txBox="1"/>
          <p:nvPr/>
        </p:nvSpPr>
        <p:spPr>
          <a:xfrm>
            <a:off x="1920240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Frailty and SUI surgery: Medicare cohort,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PAD26</a:t>
            </a:r>
            <a:endParaRPr lang="en-US" sz="950" dirty="0">
              <a:latin typeface="Plus Jakarta Sans"/>
            </a:endParaRPr>
          </a:p>
        </p:txBody>
      </p:sp>
      <p:sp>
        <p:nvSpPr>
          <p:cNvPr id="26" name="Text 24">
            <a:hlinkClick r:id="rId8" tooltip=""/>
          </p:cNvPr>
          <p:cNvSpPr txBox="1"/>
          <p:nvPr/>
        </p:nvSpPr>
        <p:spPr>
          <a:xfrm>
            <a:off x="1920240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Pad count versus 24-hour weight: 2026</a:t>
            </a:r>
            <a:endParaRPr lang="en-US" sz="1150" dirty="0">
              <a:latin typeface="Plus Jakarta San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510235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PRBFAT26</a:t>
            </a:r>
            <a:endParaRPr lang="en-US" sz="950" dirty="0">
              <a:latin typeface="Plus Jakarta Sans"/>
            </a:endParaRPr>
          </a:p>
        </p:txBody>
      </p:sp>
      <p:sp>
        <p:nvSpPr>
          <p:cNvPr id="29" name="Text 27">
            <a:hlinkClick r:id="rId9" tooltip=""/>
          </p:cNvPr>
          <p:cNvSpPr txBox="1"/>
          <p:nvPr/>
        </p:nvSpPr>
        <p:spPr>
          <a:xfrm>
            <a:off x="1920240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PRB material fatigue: 2026 issue</a:t>
            </a:r>
            <a:endParaRPr lang="en-US" sz="1150" dirty="0">
              <a:latin typeface="Plus Jakarta San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552297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REGRET26</a:t>
            </a:r>
            <a:endParaRPr lang="en-US" sz="950" dirty="0">
              <a:latin typeface="Plus Jakarta Sans"/>
            </a:endParaRPr>
          </a:p>
        </p:txBody>
      </p:sp>
      <p:sp>
        <p:nvSpPr>
          <p:cNvPr id="32" name="Text 30">
            <a:hlinkClick r:id="rId10" tooltip=""/>
          </p:cNvPr>
          <p:cNvSpPr txBox="1"/>
          <p:nvPr/>
        </p:nvSpPr>
        <p:spPr>
          <a:xfrm>
            <a:off x="1920240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Long-term decisional regret after AUS, 2026 issue</a:t>
            </a:r>
            <a:endParaRPr lang="en-US" sz="1150" dirty="0">
              <a:latin typeface="Plus Jakarta San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278728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INSTR26</a:t>
            </a:r>
            <a:endParaRPr lang="en-US" sz="950" dirty="0">
              <a:latin typeface="Plus Jakarta Sans"/>
            </a:endParaRPr>
          </a:p>
        </p:txBody>
      </p:sp>
      <p:sp>
        <p:nvSpPr>
          <p:cNvPr id="34" name="Text 32">
            <a:hlinkClick r:id="rId11" tooltip=""/>
          </p:cNvPr>
          <p:cNvSpPr txBox="1"/>
          <p:nvPr/>
        </p:nvSpPr>
        <p:spPr>
          <a:xfrm>
            <a:off x="7558888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AUS instrumentation knowledge survey,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78728" y="215798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78728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EROSION26</a:t>
            </a:r>
            <a:endParaRPr lang="en-US" sz="950" dirty="0">
              <a:latin typeface="Plus Jakarta Sans"/>
            </a:endParaRPr>
          </a:p>
        </p:txBody>
      </p:sp>
      <p:sp>
        <p:nvSpPr>
          <p:cNvPr id="37" name="Text 35">
            <a:hlinkClick r:id="rId12" tooltip=""/>
          </p:cNvPr>
          <p:cNvSpPr txBox="1"/>
          <p:nvPr/>
        </p:nvSpPr>
        <p:spPr>
          <a:xfrm>
            <a:off x="7558888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Immediate urethral repair at explantation,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78728" y="257860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78728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DEVICE26</a:t>
            </a:r>
            <a:endParaRPr lang="en-US" sz="950" dirty="0">
              <a:latin typeface="Plus Jakarta Sans"/>
            </a:endParaRPr>
          </a:p>
        </p:txBody>
      </p:sp>
      <p:sp>
        <p:nvSpPr>
          <p:cNvPr id="40" name="Text 38">
            <a:hlinkClick r:id="rId13" tooltip=""/>
          </p:cNvPr>
          <p:cNvSpPr txBox="1"/>
          <p:nvPr/>
        </p:nvSpPr>
        <p:spPr>
          <a:xfrm>
            <a:off x="7558888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Emerging AUS devices review,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78728" y="299923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78728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SECOND26</a:t>
            </a:r>
            <a:endParaRPr lang="en-US" sz="950" dirty="0">
              <a:latin typeface="Plus Jakarta Sans"/>
            </a:endParaRPr>
          </a:p>
        </p:txBody>
      </p:sp>
      <p:sp>
        <p:nvSpPr>
          <p:cNvPr id="43" name="Text 41">
            <a:hlinkClick r:id="rId14" tooltip=""/>
          </p:cNvPr>
          <p:cNvSpPr txBox="1"/>
          <p:nvPr/>
        </p:nvSpPr>
        <p:spPr>
          <a:xfrm>
            <a:off x="7558888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Second AUS survival: national French cohort,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78728" y="3419856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78728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TCSYS25</a:t>
            </a:r>
            <a:endParaRPr lang="en-US" sz="950" dirty="0">
              <a:latin typeface="Plus Jakarta Sans"/>
            </a:endParaRPr>
          </a:p>
        </p:txBody>
      </p:sp>
      <p:sp>
        <p:nvSpPr>
          <p:cNvPr id="46" name="Text 44">
            <a:hlinkClick r:id="rId15" tooltip=""/>
          </p:cNvPr>
          <p:cNvSpPr txBox="1"/>
          <p:nvPr/>
        </p:nvSpPr>
        <p:spPr>
          <a:xfrm>
            <a:off x="7558888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Transcorporal systematic review, online 2025</a:t>
            </a:r>
            <a:endParaRPr lang="en-US" sz="1150" dirty="0">
              <a:latin typeface="Plus Jakarta San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78728" y="3840480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78728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RTTIME25</a:t>
            </a:r>
            <a:endParaRPr lang="en-US" sz="950" dirty="0">
              <a:latin typeface="Plus Jakarta Sans"/>
            </a:endParaRPr>
          </a:p>
        </p:txBody>
      </p:sp>
      <p:sp>
        <p:nvSpPr>
          <p:cNvPr id="49" name="Text 47">
            <a:hlinkClick r:id="rId16" tooltip=""/>
          </p:cNvPr>
          <p:cNvSpPr txBox="1"/>
          <p:nvPr/>
        </p:nvSpPr>
        <p:spPr>
          <a:xfrm>
            <a:off x="7558888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Radiation and cuff-removal timing cohort, 2025</a:t>
            </a:r>
            <a:endParaRPr lang="en-US" sz="1150" dirty="0">
              <a:latin typeface="Plus Jakarta San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78728" y="4261104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78728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UROACTIVE26</a:t>
            </a:r>
            <a:endParaRPr lang="en-US" sz="950" dirty="0">
              <a:latin typeface="Plus Jakarta Sans"/>
            </a:endParaRPr>
          </a:p>
        </p:txBody>
      </p:sp>
      <p:sp>
        <p:nvSpPr>
          <p:cNvPr id="52" name="Text 50">
            <a:hlinkClick r:id="rId17" tooltip=""/>
          </p:cNvPr>
          <p:cNvSpPr txBox="1"/>
          <p:nvPr/>
        </p:nvSpPr>
        <p:spPr>
          <a:xfrm>
            <a:off x="7558888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 AUS: first-in-human study, 2026</a:t>
            </a:r>
            <a:endParaRPr lang="en-US" sz="1150" dirty="0">
              <a:latin typeface="Plus Jakarta San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278728" y="4681728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78728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REPORT26</a:t>
            </a:r>
            <a:endParaRPr lang="en-US" sz="950" dirty="0">
              <a:latin typeface="Plus Jakarta Sans"/>
            </a:endParaRPr>
          </a:p>
        </p:txBody>
      </p:sp>
      <p:sp>
        <p:nvSpPr>
          <p:cNvPr id="55" name="Text 53">
            <a:hlinkClick r:id="rId18" tooltip=""/>
          </p:cNvPr>
          <p:cNvSpPr txBox="1"/>
          <p:nvPr/>
        </p:nvSpPr>
        <p:spPr>
          <a:xfrm>
            <a:off x="7558888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Standardised complication reporting: 2026</a:t>
            </a:r>
            <a:endParaRPr lang="en-US" sz="1150" dirty="0">
              <a:latin typeface="Plus Jakarta San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278728" y="5102352"/>
            <a:ext cx="5272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1550C834-83FA-4C09-A978-E9BAF71369EB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Sources 3 of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950" dirty="0">
              <a:latin typeface="Plus Jakarta Sans"/>
            </a:endParaRPr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  <a:gridCol w="38706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Study and population</a:t>
                      </a:r>
                      <a:endParaRPr lang="en-US" sz="11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Endpoint and result</a:t>
                      </a:r>
                      <a:endParaRPr lang="en-US" sz="11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Limits</a:t>
                      </a:r>
                      <a:endParaRPr lang="en-US" sz="11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AUSCO 2026: AMS 800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115 primary implants, 25 irradiated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12 months after activation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91/97 ≥50% pad-weight reduction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61/101 zero pads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Prospective single-arm, funded by manufacturer. Missing data, one year, expert centres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Linder 2015: AMS 800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1,082 primary implants, 27% irradiated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Freedom from any secondary surgery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KM 74% at five years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57% at ten years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Historical specialist cohort. Continence and revision-free survival differ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Wilson 2024: ContiClassic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116 recipients, mixed indications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Eight revisions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12-month KM device survival 93.2%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Early safety series. No standardised continence comparator; mixed indications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46D9134E-A240-4BDD-8956-5AF40CEBCF47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Outcome evidence: device and endpoint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950" dirty="0">
              <a:latin typeface="Plus Jakarta Sans"/>
            </a:endParaRPr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  <a:gridCol w="38706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Study</a:t>
                      </a:r>
                      <a:endParaRPr lang="en-US" sz="11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Finding</a:t>
                      </a:r>
                      <a:endParaRPr lang="en-US" sz="11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616"/>
                          </a:solidFill>
                          <a:latin typeface="Plus Jakarta Sans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Limits</a:t>
                      </a:r>
                      <a:endParaRPr lang="en-US" sz="1150" dirty="0">
                        <a:solidFill>
                          <a:srgbClr val="161616"/>
                        </a:solidFill>
                        <a:latin typeface="Plus Jakarta Sans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C48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MASTER 2022 / 2026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Same 380 randomised men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24-month non-inferiority retained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Further surgery: sling 11%, AUS 2%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Selected trial population. Secondary outcomes favour AUS; not general equivalence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Yeung 2013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100 initial GU prosthetic procedures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Post-preparation skin culture positivity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8% versus 32%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Surrogate outcome. Mixed devices. No AUS infection or duration conclusion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Gentamicin withdrawal 2026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173 uncoated AMS 800 procedures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90-day SSI: 1/59 versus 2/114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No significant difference detected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Segoe UI" pitchFamily="34" charset="-122"/>
                          <a:cs typeface="Segoe UI" pitchFamily="34" charset="-120"/>
                        </a:rPr>
                        <a:t>Sparse events, era confounding, broad systemic prophylaxis; not equivalence</a:t>
                      </a:r>
                      <a:endParaRPr lang="en-US" sz="1250" dirty="0">
                        <a:solidFill>
                          <a:srgbClr val="FFFFFF"/>
                        </a:solidFill>
                        <a:latin typeface="Plus Jakarta Sans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F068B00F-FF30-4485-88BC-72FD48C3AEC0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Comparative and preparation evidence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5C489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950" dirty="0">
              <a:latin typeface="Plus Jakarta San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48256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>
              <a:latin typeface="Plus Jakarta San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Routine versus selective UDS and meaningful outcomes</a:t>
            </a:r>
            <a:endParaRPr lang="en-US" sz="1400" dirty="0">
              <a:latin typeface="Plus Jakarta San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0148" y="1783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2D2D2D"/>
          </a:solidFill>
          <a:ln/>
        </p:spPr>
      </p:sp>
      <p:sp>
        <p:nvSpPr>
          <p:cNvPr id="9" name="Shape 7"/>
          <p:cNvSpPr/>
          <p:nvPr/>
        </p:nvSpPr>
        <p:spPr>
          <a:xfrm>
            <a:off x="6484468" y="2048256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446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>
              <a:latin typeface="Plus Jakarta San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033108" y="1920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Functional eligibility in DU or chronic retention</a:t>
            </a:r>
            <a:endParaRPr lang="en-US" sz="1400" dirty="0">
              <a:latin typeface="Plus Jakarta San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2D2D2D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191256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>
              <a:latin typeface="Plus Jakarta San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463040" y="3063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Staging intervals after different reconstructions</a:t>
            </a:r>
            <a:endParaRPr lang="en-US" sz="1400" dirty="0">
              <a:latin typeface="Plus Jakarta San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0148" y="2926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2D2D2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84468" y="3191256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4468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>
              <a:latin typeface="Plus Jakarta San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033108" y="3063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Comparative protection from salvage strategies</a:t>
            </a:r>
            <a:endParaRPr lang="en-US" sz="1400" dirty="0">
              <a:latin typeface="Plus Jakarta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2D2D2D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334256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>
              <a:latin typeface="Plus Jakarta San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463040" y="4206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Preparation, irrigation and prolonged prophylaxis</a:t>
            </a:r>
            <a:endParaRPr lang="en-US" sz="1400" dirty="0">
              <a:latin typeface="Plus Jakarta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0148" y="4069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2D2D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4334256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446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200" dirty="0">
              <a:latin typeface="Plus Jakarta San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033108" y="4206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Independent long-term ContiClassic outcomes</a:t>
            </a:r>
            <a:endParaRPr lang="en-US" sz="1400" dirty="0">
              <a:latin typeface="Plus Jakarta San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5212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2D2D2D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5477256"/>
            <a:ext cx="384048" cy="384048"/>
          </a:xfrm>
          <a:prstGeom prst="ellipse">
            <a:avLst/>
          </a:prstGeom>
          <a:solidFill>
            <a:srgbClr val="05C48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200" dirty="0">
              <a:latin typeface="Plus Jakarta San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463040" y="5349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Mechanisms and revision strategy in late leakage</a:t>
            </a:r>
            <a:endParaRPr lang="en-US" sz="14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EAB70C94-360E-4E24-878C-D63B65CA45D8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Evidence gaps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89FF00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950" dirty="0">
              <a:latin typeface="Plus Jakarta Sans"/>
            </a:endParaRPr>
          </a:p>
        </p:txBody>
      </p:sp>
      <p:pic>
        <p:nvPicPr>
          <p:cNvPr id="106" name="UroOps lesson video">
            <a:hlinkClick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783080"/>
            <a:ext cx="8138160" cy="457771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235440" y="1783080"/>
            <a:ext cx="2316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89FF00"/>
                </a:solidFill>
                <a:latin typeface="Plus Jakarta Sans" pitchFamily="34" charset="0"/>
                <a:ea typeface="Segoe UI Semibold" pitchFamily="34" charset="-122"/>
                <a:cs typeface="Segoe UI Semibold" pitchFamily="34" charset="-120"/>
              </a:rPr>
              <a:t>Use only if the live page fails</a:t>
            </a:r>
            <a:endParaRPr lang="en-US" sz="1600" dirty="0">
              <a:latin typeface="Plus Jakarta San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235440" y="2606040"/>
            <a:ext cx="23161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Plus Jakarta Sans" pitchFamily="34" charset="0"/>
                <a:ea typeface="Segoe UI" pitchFamily="34" charset="-122"/>
                <a:cs typeface="Segoe UI" pitchFamily="34" charset="-120"/>
              </a:rPr>
              <a:t>Starts by itself. 102 seconds, no sound. Same narration as the UroOps overview in the presenter script.</a:t>
            </a:r>
            <a:endParaRPr lang="en-US" sz="1300" dirty="0">
              <a:latin typeface="Plus Jakarta Sans"/>
            </a:endParaRPr>
          </a:p>
        </p:txBody>
      </p:sp>
      <p:sp>
        <p:nvSpPr>
          <p:cNvPr id="9001" name="replacement-title">
            <a:extLst>
              <a:ext uri="{FF2B5EF4-FFF2-40B4-BE49-F238E27FC236}">
                <a16:creationId xmlns:a16="http://schemas.microsoft.com/office/drawing/2014/main" id="{F9102DFA-5FFD-4649-8BFD-A4A2413D25F8}"/>
              </a:ext>
            </a:extLst>
          </p:cNvPr>
          <p:cNvSpPr>
            <a:spLocks noGrp="1"/>
          </p:cNvSpPr>
          <p:nvPr/>
        </p:nvSpPr>
        <p:spPr>
          <a:xfrm>
            <a:off x="638175" y="752475"/>
            <a:ext cx="109156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625" b="1">
                <a:solidFill>
                  <a:srgbClr val="FFFFFF"/>
                </a:solidFill>
                <a:latin typeface="Plus Jakarta Sans"/>
              </a:defRPr>
            </a:defPPr>
            <a:lvl1pPr>
              <a:defRPr sz="2625" b="1">
                <a:solidFill>
                  <a:srgbClr val="FFFFFF"/>
                </a:solidFill>
                <a:latin typeface="Plus Jakarta Sans"/>
              </a:defRPr>
            </a:lvl1pPr>
            <a:lvl2pPr>
              <a:defRPr sz="2625" b="1">
                <a:solidFill>
                  <a:srgbClr val="FFFFFF"/>
                </a:solidFill>
                <a:latin typeface="Plus Jakarta Sans"/>
              </a:defRPr>
            </a:lvl2pPr>
            <a:lvl3pPr>
              <a:defRPr sz="2625" b="1">
                <a:solidFill>
                  <a:srgbClr val="FFFFFF"/>
                </a:solidFill>
                <a:latin typeface="Plus Jakarta Sans"/>
              </a:defRPr>
            </a:lvl3pPr>
            <a:lvl4pPr>
              <a:defRPr sz="2625" b="1">
                <a:solidFill>
                  <a:srgbClr val="FFFFFF"/>
                </a:solidFill>
                <a:latin typeface="Plus Jakarta Sans"/>
              </a:defRPr>
            </a:lvl4pPr>
            <a:lvl5pPr>
              <a:defRPr sz="2625" b="1">
                <a:solidFill>
                  <a:srgbClr val="FFFFFF"/>
                </a:solidFill>
                <a:latin typeface="Plus Jakarta Sans"/>
              </a:defRPr>
            </a:lvl5pPr>
            <a:lvl6pPr>
              <a:defRPr sz="2625" b="1">
                <a:solidFill>
                  <a:srgbClr val="FFFFFF"/>
                </a:solidFill>
                <a:latin typeface="Plus Jakarta Sans"/>
              </a:defRPr>
            </a:lvl6pPr>
            <a:lvl7pPr>
              <a:defRPr sz="2625" b="1">
                <a:solidFill>
                  <a:srgbClr val="FFFFFF"/>
                </a:solidFill>
                <a:latin typeface="Plus Jakarta Sans"/>
              </a:defRPr>
            </a:lvl7pPr>
            <a:lvl8pPr>
              <a:defRPr sz="2625" b="1">
                <a:solidFill>
                  <a:srgbClr val="FFFFFF"/>
                </a:solidFill>
                <a:latin typeface="Plus Jakarta Sans"/>
              </a:defRPr>
            </a:lvl8pPr>
            <a:lvl9pPr>
              <a:defRPr sz="2625" b="1">
                <a:solidFill>
                  <a:srgbClr val="FFFFFF"/>
                </a:solidFill>
                <a:latin typeface="Plus Jakarta Sans"/>
              </a:defRPr>
            </a:lvl9pPr>
          </a:lstStyle>
          <a:p>
            <a:pPr>
              <a:defRPr sz="2625" b="1">
                <a:solidFill>
                  <a:srgbClr val="FFFFFF"/>
                </a:solidFill>
                <a:latin typeface="Plus Jakarta Sans"/>
              </a:defRPr>
            </a:pPr>
            <a:r>
              <a:rPr sz="2625" b="1">
                <a:solidFill>
                  <a:srgbClr val="FFFFFF"/>
                </a:solidFill>
                <a:latin typeface="Plus Jakarta Sans"/>
              </a:rPr>
              <a:t>UroOps 3D lesson: recorded run-through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33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 and tricks for primary implantation and revision surgery</dc:title>
  <dc:subject>Artificial urinary sphincter surgery: patient selection, difficult bladders and difficult urethras</dc:subject>
  <dc:creator>Mr Andrew Baird, Mr Mohamed Abu Yousif, Nity G</dc:creator>
  <cp:lastModifiedBy>Mr Andrew Baird, Mr Mohamed Abu Yousif, Nity G</cp:lastModifiedBy>
  <cp:revision>1</cp:revision>
  <dcterms:created xsi:type="dcterms:W3CDTF">2026-10-20T15:56:08Z</dcterms:created>
  <dcterms:modified xsi:type="dcterms:W3CDTF">2026-10-20T15:56:08Z</dcterms:modified>
</cp:coreProperties>
</file>