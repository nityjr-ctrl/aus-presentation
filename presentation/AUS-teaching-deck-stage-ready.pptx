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charts/chart6.xml" ContentType="application/vnd.openxmlformats-officedocument.drawingml.chart+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Default Extension="fntdata" ContentType="application/x-fontdata"/>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embedTrueType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embeddedFontLst>
    <p:embeddedFont>
      <p:font typeface="Calibri" panose="020F0502020204030204" pitchFamily="34" charset="0"/>
      <p:regular r:id="rIdTemplateFont0"/>
      <p:bold r:id="rIdTemplateFont1"/>
      <p:italic r:id="rIdTemplateFont2"/>
      <p:boldItalic r:id="rIdTemplateFont3"/>
    </p:embeddedFont>
    <p:embeddedFont>
      <p:font typeface="Plus Jakarta Sans" pitchFamily="2" charset="0"/>
      <p:regular r:id="rIdTemplateFont4"/>
      <p:bold r:id="rIdTemplateFont5"/>
      <p:italic r:id="rIdTemplateFont6"/>
      <p:boldItalic r:id="rIdTemplateFont7"/>
    </p:embeddedFont>
    <p:embeddedFont>
      <p:font typeface="Plus Jakarta Sans Light" pitchFamily="2" charset="0"/>
      <p:regular r:id="rIdTemplateFont8"/>
      <p:bold r:id="rIdTemplateFont9"/>
      <p:italic r:id="rIdTemplateFont10"/>
      <p:boldItalic r:id="rIdTemplateFont11"/>
    </p:embeddedFont>
    <p:embeddedFont>
      <p:font typeface="Plus Jakarta Sans Medium" pitchFamily="2" charset="0"/>
      <p:regular r:id="rIdTemplateFont12"/>
      <p:bold r:id="rIdTemplateFont13"/>
      <p:italic r:id="rIdTemplateFont14"/>
      <p:boldItalic r:id="rIdTemplateFont1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3f2c6ae-b444-4933-30d6-30475369db76}">
          <p14:sldIdLst>
            <p14:sldId id="256"/>
          </p14:sldIdLst>
        </p14:section>
        <p14:section name="Decide before theatre" id="{6070bb79-00b1-7a0c-6125-5a828e7b74bb}">
          <p14:sldIdLst>
            <p14:sldId id="257"/>
            <p14:sldId id="258"/>
            <p14:sldId id="259"/>
            <p14:sldId id="260"/>
            <p14:sldId id="261"/>
            <p14:sldId id="262"/>
            <p14:sldId id="263"/>
            <p14:sldId id="264"/>
            <p14:sldId id="265"/>
            <p14:sldId id="266"/>
          </p14:sldIdLst>
        </p14:section>
        <p14:section name="The bladder" id="{61773d22-27ff-29ae-f473-9412c55eb469}">
          <p14:sldIdLst>
            <p14:sldId id="267"/>
            <p14:sldId id="268"/>
            <p14:sldId id="269"/>
            <p14:sldId id="270"/>
            <p14:sldId id="271"/>
            <p14:sldId id="272"/>
          </p14:sldIdLst>
        </p14:section>
        <p14:section name="The urethra" id="{b69dc671-0046-d10b-1cf6-92c521db16ca}">
          <p14:sldIdLst>
            <p14:sldId id="273"/>
            <p14:sldId id="274"/>
            <p14:sldId id="275"/>
            <p14:sldId id="276"/>
            <p14:sldId id="277"/>
          </p14:sldIdLst>
        </p14:section>
        <p14:section name="Preparation without ritual" id="{6a459672-96c3-7d65-7a6b-9f68efa04f95}">
          <p14:sldIdLst>
            <p14:sldId id="278"/>
            <p14:sldId id="279"/>
            <p14:sldId id="280"/>
            <p14:sldId id="281"/>
            <p14:sldId id="282"/>
            <p14:sldId id="283"/>
          </p14:sldIdLst>
        </p14:section>
        <p14:section name="The operation" id="{55e960d0-9841-9ce3-fbe0-f68d42741983}">
          <p14:sldIdLst>
            <p14:sldId id="284"/>
            <p14:sldId id="285"/>
            <p14:sldId id="286"/>
            <p14:sldId id="287"/>
            <p14:sldId id="288"/>
            <p14:sldId id="289"/>
            <p14:sldId id="290"/>
            <p14:sldId id="291"/>
          </p14:sldIdLst>
        </p14:section>
        <p14:section name="After the implant" id="{236fb9f5-268d-3a8b-74c3-5e4107309c55}">
          <p14:sldIdLst>
            <p14:sldId id="292"/>
            <p14:sldId id="293"/>
            <p14:sldId id="294"/>
            <p14:sldId id="295"/>
            <p14:sldId id="296"/>
            <p14:sldId id="297"/>
            <p14:sldId id="298"/>
            <p14:sldId id="299"/>
          </p14:sldIdLst>
        </p14:section>
        <p14:section name="Backup and references" id="{eaafa765-6591-3903-931a-74df70350c1d}">
          <p14:sldIdLst>
            <p14:sldId id="300"/>
            <p14:sldId id="301"/>
            <p14:sldId id="302"/>
            <p14:sldId id="303"/>
            <p14:sldId id="304"/>
            <p14:sldId id="305"/>
            <p14:sldId id="30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 Id="rIdTemplateFont0" Type="http://schemas.openxmlformats.org/officeDocument/2006/relationships/font" Target="fonts/template-font1.fntdata"/><Relationship Id="rIdTemplateFont1" Type="http://schemas.openxmlformats.org/officeDocument/2006/relationships/font" Target="fonts/template-font2.fntdata"/><Relationship Id="rIdTemplateFont2" Type="http://schemas.openxmlformats.org/officeDocument/2006/relationships/font" Target="fonts/template-font3.fntdata"/><Relationship Id="rIdTemplateFont3" Type="http://schemas.openxmlformats.org/officeDocument/2006/relationships/font" Target="fonts/template-font4.fntdata"/><Relationship Id="rIdTemplateFont4" Type="http://schemas.openxmlformats.org/officeDocument/2006/relationships/font" Target="fonts/template-font5.fntdata"/><Relationship Id="rIdTemplateFont5" Type="http://schemas.openxmlformats.org/officeDocument/2006/relationships/font" Target="fonts/template-font6.fntdata"/><Relationship Id="rIdTemplateFont6" Type="http://schemas.openxmlformats.org/officeDocument/2006/relationships/font" Target="fonts/template-font7.fntdata"/><Relationship Id="rIdTemplateFont7" Type="http://schemas.openxmlformats.org/officeDocument/2006/relationships/font" Target="fonts/template-font8.fntdata"/><Relationship Id="rIdTemplateFont8" Type="http://schemas.openxmlformats.org/officeDocument/2006/relationships/font" Target="fonts/template-font9.fntdata"/><Relationship Id="rIdTemplateFont9" Type="http://schemas.openxmlformats.org/officeDocument/2006/relationships/font" Target="fonts/template-font10.fntdata"/><Relationship Id="rIdTemplateFont10" Type="http://schemas.openxmlformats.org/officeDocument/2006/relationships/font" Target="fonts/template-font11.fntdata"/><Relationship Id="rIdTemplateFont11" Type="http://schemas.openxmlformats.org/officeDocument/2006/relationships/font" Target="fonts/template-font12.fntdata"/><Relationship Id="rIdTemplateFont12" Type="http://schemas.openxmlformats.org/officeDocument/2006/relationships/font" Target="fonts/template-font13.fntdata"/><Relationship Id="rIdTemplateFont13" Type="http://schemas.openxmlformats.org/officeDocument/2006/relationships/font" Target="fonts/template-font14.fntdata"/><Relationship Id="rIdTemplateFont14" Type="http://schemas.openxmlformats.org/officeDocument/2006/relationships/font" Target="fonts/template-font15.fntdata"/><Relationship Id="rIdTemplateFont15" Type="http://schemas.openxmlformats.org/officeDocument/2006/relationships/font" Target="fonts/template-font16.fntdata"/></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4.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lineChart>
        <c:varyColors val="0"/>
        <c:ser>
          <c:idx val="0"/>
          <c:order val="0"/>
          <c:tx>
            <c:strRef>
              <c:f>Sheet1!$B$1</c:f>
              <c:strCache>
                <c:ptCount val="1"/>
                <c:pt idx="0">
                  <c:v>Pressure</c:v>
                </c:pt>
              </c:strCache>
            </c:strRef>
          </c:tx>
          <c:spPr>
            <a:solidFill>
              <a:srgbClr val="05C489"/>
            </a:solidFill>
            <a:ln w="38100" cap="flat">
              <a:solidFill>
                <a:srgbClr val="05C489"/>
              </a:solidFill>
              <a:prstDash val="solid"/>
              <a:round/>
            </a:ln>
            <a:effectLst/>
          </c:spPr>
          <c:invertIfNegative val="0"/>
          <c:dLbls>
            <c:numFmt formatCode="#,##0" sourceLinked="0"/>
            <c:txPr>
              <a:bodyPr/>
              <a:lstStyle/>
              <a:p>
                <a:pPr>
                  <a:defRPr b="0" i="0" strike="noStrike" sz="1200" u="none">
                    <a:solidFill>
                      <a:srgbClr val="000000"/>
                    </a:solidFill>
                    <a:latin typeface="Plus Jakarta Sans"/>
                  </a:defRPr>
                </a:pPr>
              </a:p>
            </c:txPr>
            <c:showLegendKey val="0"/>
            <c:showVal val="0"/>
            <c:showCatName val="0"/>
            <c:showSerName val="0"/>
            <c:showPercent val="0"/>
            <c:showBubbleSize val="0"/>
            <c:showLeaderLines val="0"/>
          </c:dLbls>
          <c:marker>
            <c:symbol val="none"/>
            <c:size val="6"/>
            <c:spPr>
              <a:solidFill>
                <a:srgbClr val="05C489"/>
              </a:solidFill>
              <a:ln w="9525" cap="flat">
                <a:solidFill>
                  <a:srgbClr val="05C489"/>
                </a:solidFill>
                <a:prstDash val="solid"/>
                <a:round/>
              </a:ln>
              <a:effectLst/>
            </c:spPr>
          </c:marker>
          <c:cat>
            <c:strRef>
              <c:f>Sheet1!$A$2:$A$11</c:f>
              <c:strCache>
                <c:ptCount val="10"/>
                <c:pt idx="0">
                  <c:v>0</c:v>
                </c:pt>
                <c:pt idx="1">
                  <c:v>1</c:v>
                </c:pt>
                <c:pt idx="2">
                  <c:v>2</c:v>
                </c:pt>
                <c:pt idx="3">
                  <c:v>3</c:v>
                </c:pt>
                <c:pt idx="4">
                  <c:v>4</c:v>
                </c:pt>
                <c:pt idx="5">
                  <c:v>5</c:v>
                </c:pt>
                <c:pt idx="6">
                  <c:v>6</c:v>
                </c:pt>
                <c:pt idx="7">
                  <c:v>7</c:v>
                </c:pt>
                <c:pt idx="8">
                  <c:v>8</c:v>
                </c:pt>
                <c:pt idx="9">
                  <c:v>9</c:v>
                </c:pt>
              </c:strCache>
            </c:strRef>
          </c:cat>
          <c:val>
            <c:numRef>
              <c:f>Sheet1!$B$2:$B$11</c:f>
              <c:numCache>
                <c:formatCode>General</c:formatCode>
                <c:ptCount val="10"/>
                <c:pt idx="0">
                  <c:v>0</c:v>
                </c:pt>
                <c:pt idx="1">
                  <c:v>0</c:v>
                </c:pt>
                <c:pt idx="2">
                  <c:v>0</c:v>
                </c:pt>
                <c:pt idx="3">
                  <c:v>0.4</c:v>
                </c:pt>
                <c:pt idx="4">
                  <c:v>2.8</c:v>
                </c:pt>
                <c:pt idx="5">
                  <c:v>7</c:v>
                </c:pt>
                <c:pt idx="6">
                  <c:v>1.2</c:v>
                </c:pt>
                <c:pt idx="7">
                  <c:v>0.4</c:v>
                </c:pt>
                <c:pt idx="8">
                  <c:v>0</c:v>
                </c:pt>
                <c:pt idx="9">
                  <c:v>0</c:v>
                </c:pt>
              </c:numCache>
            </c:numRef>
          </c:val>
          <c:smooth val="0"/>
        </c:ser>
        <c:dLbls>
          <c:numFmt formatCode="#,##0" sourceLinked="0"/>
          <c:txPr>
            <a:bodyPr/>
            <a:lstStyle/>
            <a:p>
              <a:pPr>
                <a:defRPr b="0" i="0" strike="noStrike" sz="1200" u="none">
                  <a:solidFill>
                    <a:srgbClr val="000000"/>
                  </a:solidFill>
                  <a:latin typeface="Plus Jakarta Sans"/>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BFBFBF"/>
                    </a:solidFill>
                    <a:latin typeface="Plus Jakarta Sans"/>
                  </a:defRPr>
                </a:pPr>
                <a:r>
                  <a:rPr sz="1000" b="0" i="0" u="none" strike="noStrike">
                    <a:solidFill>
                      <a:srgbClr val="BFBFBF"/>
                    </a:solidFill>
                    <a:latin typeface="Plus Jakarta Sans"/>
                  </a:rPr>
                  <a:t>Increasing filling volume →  (arbitrary units)</a:t>
                </a:r>
              </a:p>
            </c:rich>
          </c:tx>
          <c:layout/>
          <c:overlay val="0"/>
        </c:title>
        <c:numFmt formatCode="General" sourceLinked="1"/>
        <c:majorTickMark val="out"/>
        <c:minorTickMark val="none"/>
        <c:tickLblPos val="low"/>
        <c:spPr>
          <a:ln w="12700" cap="flat">
            <a:solidFill>
              <a:srgbClr val="CFCFCF"/>
            </a:solidFill>
            <a:prstDash val="solid"/>
            <a:round/>
          </a:ln>
        </c:spPr>
        <c:txPr>
          <a:bodyPr/>
          <a:lstStyle/>
          <a:p>
            <a:pPr>
              <a:defRPr sz="900" b="0" i="0" u="none" strike="noStrike">
                <a:solidFill>
                  <a:srgbClr val="BFBFBF"/>
                </a:solidFill>
                <a:latin typeface="Plus Jakarta Sans"/>
              </a:defRPr>
            </a:pPr>
            <a:endParaRPr lang="en-US"/>
          </a:p>
        </c:txPr>
        <c:crossAx val="2094734552"/>
        <c:crosses val="autoZero"/>
        <c:auto val="1"/>
        <c:lblAlgn val="ctr"/>
        <c:noMultiLvlLbl val="1"/>
      </c:catAx>
      <c:valAx>
        <c:axId val="2094734552"/>
        <c:scaling>
          <c:orientation val="minMax"/>
          <c:max val="10"/>
          <c:min val="0"/>
        </c:scaling>
        <c:delete val="0"/>
        <c:axPos val="l"/>
        <c:title>
          <c:tx>
            <c:rich>
              <a:bodyPr/>
              <a:lstStyle/>
              <a:p>
                <a:pPr>
                  <a:defRPr sz="1000" b="0" i="0" u="none" strike="noStrike">
                    <a:solidFill>
                      <a:srgbClr val="BFBFBF"/>
                    </a:solidFill>
                    <a:latin typeface="Plus Jakarta Sans"/>
                  </a:defRPr>
                </a:pPr>
                <a:r>
                  <a:rPr sz="1000" b="0" i="0" u="none" strike="noStrike">
                    <a:solidFill>
                      <a:srgbClr val="BFBFBF"/>
                    </a:solidFill>
                    <a:latin typeface="Plus Jakarta Sans"/>
                  </a:rPr>
                  <a:t>Pressure ↑</a:t>
                </a:r>
              </a:p>
            </c:rich>
          </c:tx>
          <c:layout/>
          <c:overlay val="0"/>
        </c:title>
        <c:numFmt formatCode="General" sourceLinked="0"/>
        <c:majorTickMark val="out"/>
        <c:minorTickMark val="none"/>
        <c:tickLblPos val="nextTo"/>
        <c:spPr>
          <a:ln w="12700" cap="flat">
            <a:solidFill>
              <a:srgbClr val="CFCFCF"/>
            </a:solidFill>
            <a:prstDash val="solid"/>
            <a:round/>
          </a:ln>
        </c:spPr>
        <c:txPr>
          <a:bodyPr/>
          <a:lstStyle/>
          <a:p>
            <a:pPr>
              <a:defRPr sz="900" b="0" i="0" u="none" strike="noStrike">
                <a:solidFill>
                  <a:srgbClr val="BFBFBF"/>
                </a:solidFill>
                <a:latin typeface="Plus Jakarta Sans"/>
              </a:defRPr>
            </a:pPr>
            <a:endParaRPr lang="en-US"/>
          </a:p>
        </c:txPr>
        <c:crossAx val="2094734554"/>
        <c:crosses val="autoZero"/>
        <c:crossBetween val="between"/>
        <c:majorUnit val="2"/>
      </c:valAx>
      <c:spPr>
        <a:solidFill>
          <a:srgbClr val="2D2D2D"/>
        </a:solidFill>
        <a:ln>
          <a:noFill/>
        </a:ln>
        <a:effectLst/>
      </c:spPr>
    </c:plotArea>
    <c:plotVisOnly val="1"/>
    <c:dispBlanksAs val="span"/>
  </c:chart>
  <c:spPr>
    <a:solidFill>
      <a:srgbClr val="2D2D2D"/>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lineChart>
        <c:varyColors val="0"/>
        <c:ser>
          <c:idx val="0"/>
          <c:order val="0"/>
          <c:tx>
            <c:strRef>
              <c:f>Sheet1!$B$1</c:f>
              <c:strCache>
                <c:ptCount val="1"/>
                <c:pt idx="0">
                  <c:v>Pressure</c:v>
                </c:pt>
              </c:strCache>
            </c:strRef>
          </c:tx>
          <c:spPr>
            <a:solidFill>
              <a:srgbClr val="FF8500"/>
            </a:solidFill>
            <a:ln w="38100" cap="flat">
              <a:solidFill>
                <a:srgbClr val="FF8500"/>
              </a:solidFill>
              <a:prstDash val="solid"/>
              <a:round/>
            </a:ln>
            <a:effectLst/>
          </c:spPr>
          <c:invertIfNegative val="0"/>
          <c:dLbls>
            <c:numFmt formatCode="#,##0" sourceLinked="0"/>
            <c:txPr>
              <a:bodyPr/>
              <a:lstStyle/>
              <a:p>
                <a:pPr>
                  <a:defRPr b="0" i="0" strike="noStrike" sz="1200" u="none">
                    <a:solidFill>
                      <a:srgbClr val="000000"/>
                    </a:solidFill>
                    <a:latin typeface="Plus Jakarta Sans"/>
                  </a:defRPr>
                </a:pPr>
              </a:p>
            </c:txPr>
            <c:showLegendKey val="0"/>
            <c:showVal val="0"/>
            <c:showCatName val="0"/>
            <c:showSerName val="0"/>
            <c:showPercent val="0"/>
            <c:showBubbleSize val="0"/>
            <c:showLeaderLines val="0"/>
          </c:dLbls>
          <c:marker>
            <c:symbol val="none"/>
            <c:size val="6"/>
            <c:spPr>
              <a:solidFill>
                <a:srgbClr val="FF8500"/>
              </a:solidFill>
              <a:ln w="9525" cap="flat">
                <a:solidFill>
                  <a:srgbClr val="FF8500"/>
                </a:solidFill>
                <a:prstDash val="solid"/>
                <a:round/>
              </a:ln>
              <a:effectLst/>
            </c:spPr>
          </c:marker>
          <c:cat>
            <c:strRef>
              <c:f>Sheet1!$A$2:$A$11</c:f>
              <c:strCache>
                <c:ptCount val="10"/>
                <c:pt idx="0">
                  <c:v>0</c:v>
                </c:pt>
                <c:pt idx="1">
                  <c:v>1</c:v>
                </c:pt>
                <c:pt idx="2">
                  <c:v>2</c:v>
                </c:pt>
                <c:pt idx="3">
                  <c:v>3</c:v>
                </c:pt>
                <c:pt idx="4">
                  <c:v>4</c:v>
                </c:pt>
                <c:pt idx="5">
                  <c:v>5</c:v>
                </c:pt>
                <c:pt idx="6">
                  <c:v>6</c:v>
                </c:pt>
                <c:pt idx="7">
                  <c:v>7</c:v>
                </c:pt>
                <c:pt idx="8">
                  <c:v>8</c:v>
                </c:pt>
                <c:pt idx="9">
                  <c:v>9</c:v>
                </c:pt>
              </c:strCache>
            </c:strRef>
          </c:cat>
          <c:val>
            <c:numRef>
              <c:f>Sheet1!$B$2:$B$11</c:f>
              <c:numCache>
                <c:formatCode>General</c:formatCode>
                <c:ptCount val="10"/>
                <c:pt idx="0">
                  <c:v>0</c:v>
                </c:pt>
                <c:pt idx="1">
                  <c:v>0.3</c:v>
                </c:pt>
                <c:pt idx="2">
                  <c:v>0.7</c:v>
                </c:pt>
                <c:pt idx="3">
                  <c:v>1.2</c:v>
                </c:pt>
                <c:pt idx="4">
                  <c:v>1.8</c:v>
                </c:pt>
                <c:pt idx="5">
                  <c:v>2.6</c:v>
                </c:pt>
                <c:pt idx="6">
                  <c:v>3.5</c:v>
                </c:pt>
                <c:pt idx="7">
                  <c:v>4.6</c:v>
                </c:pt>
                <c:pt idx="8">
                  <c:v>5.8</c:v>
                </c:pt>
                <c:pt idx="9">
                  <c:v>7.2</c:v>
                </c:pt>
              </c:numCache>
            </c:numRef>
          </c:val>
          <c:smooth val="1"/>
        </c:ser>
        <c:dLbls>
          <c:numFmt formatCode="#,##0" sourceLinked="0"/>
          <c:txPr>
            <a:bodyPr/>
            <a:lstStyle/>
            <a:p>
              <a:pPr>
                <a:defRPr b="0" i="0" strike="noStrike" sz="1200" u="none">
                  <a:solidFill>
                    <a:srgbClr val="000000"/>
                  </a:solidFill>
                  <a:latin typeface="Plus Jakarta Sans"/>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BFBFBF"/>
                    </a:solidFill>
                    <a:latin typeface="Plus Jakarta Sans"/>
                  </a:defRPr>
                </a:pPr>
                <a:r>
                  <a:rPr sz="1000" b="0" i="0" u="none" strike="noStrike">
                    <a:solidFill>
                      <a:srgbClr val="BFBFBF"/>
                    </a:solidFill>
                    <a:latin typeface="Plus Jakarta Sans"/>
                  </a:rPr>
                  <a:t>Increasing filling volume →  (arbitrary units)</a:t>
                </a:r>
              </a:p>
            </c:rich>
          </c:tx>
          <c:layout/>
          <c:overlay val="0"/>
        </c:title>
        <c:numFmt formatCode="General" sourceLinked="1"/>
        <c:majorTickMark val="out"/>
        <c:minorTickMark val="none"/>
        <c:tickLblPos val="low"/>
        <c:spPr>
          <a:ln w="12700" cap="flat">
            <a:solidFill>
              <a:srgbClr val="CFCFCF"/>
            </a:solidFill>
            <a:prstDash val="solid"/>
            <a:round/>
          </a:ln>
        </c:spPr>
        <c:txPr>
          <a:bodyPr/>
          <a:lstStyle/>
          <a:p>
            <a:pPr>
              <a:defRPr sz="900" b="0" i="0" u="none" strike="noStrike">
                <a:solidFill>
                  <a:srgbClr val="BFBFBF"/>
                </a:solidFill>
                <a:latin typeface="Plus Jakarta Sans"/>
              </a:defRPr>
            </a:pPr>
            <a:endParaRPr lang="en-US"/>
          </a:p>
        </c:txPr>
        <c:crossAx val="2094734552"/>
        <c:crosses val="autoZero"/>
        <c:auto val="1"/>
        <c:lblAlgn val="ctr"/>
        <c:noMultiLvlLbl val="1"/>
      </c:catAx>
      <c:valAx>
        <c:axId val="2094734552"/>
        <c:scaling>
          <c:orientation val="minMax"/>
          <c:max val="10"/>
          <c:min val="0"/>
        </c:scaling>
        <c:delete val="0"/>
        <c:axPos val="l"/>
        <c:title>
          <c:tx>
            <c:rich>
              <a:bodyPr/>
              <a:lstStyle/>
              <a:p>
                <a:pPr>
                  <a:defRPr sz="1000" b="0" i="0" u="none" strike="noStrike">
                    <a:solidFill>
                      <a:srgbClr val="BFBFBF"/>
                    </a:solidFill>
                    <a:latin typeface="Plus Jakarta Sans"/>
                  </a:defRPr>
                </a:pPr>
                <a:r>
                  <a:rPr sz="1000" b="0" i="0" u="none" strike="noStrike">
                    <a:solidFill>
                      <a:srgbClr val="BFBFBF"/>
                    </a:solidFill>
                    <a:latin typeface="Plus Jakarta Sans"/>
                  </a:rPr>
                  <a:t>Pressure ↑</a:t>
                </a:r>
              </a:p>
            </c:rich>
          </c:tx>
          <c:layout/>
          <c:overlay val="0"/>
        </c:title>
        <c:numFmt formatCode="General" sourceLinked="0"/>
        <c:majorTickMark val="out"/>
        <c:minorTickMark val="none"/>
        <c:tickLblPos val="nextTo"/>
        <c:spPr>
          <a:ln w="12700" cap="flat">
            <a:solidFill>
              <a:srgbClr val="CFCFCF"/>
            </a:solidFill>
            <a:prstDash val="solid"/>
            <a:round/>
          </a:ln>
        </c:spPr>
        <c:txPr>
          <a:bodyPr/>
          <a:lstStyle/>
          <a:p>
            <a:pPr>
              <a:defRPr sz="900" b="0" i="0" u="none" strike="noStrike">
                <a:solidFill>
                  <a:srgbClr val="BFBFBF"/>
                </a:solidFill>
                <a:latin typeface="Plus Jakarta Sans"/>
              </a:defRPr>
            </a:pPr>
            <a:endParaRPr lang="en-US"/>
          </a:p>
        </c:txPr>
        <c:crossAx val="2094734554"/>
        <c:crosses val="autoZero"/>
        <c:crossBetween val="between"/>
        <c:majorUnit val="2"/>
      </c:valAx>
      <c:spPr>
        <a:solidFill>
          <a:srgbClr val="2D2D2D"/>
        </a:solidFill>
        <a:ln>
          <a:noFill/>
        </a:ln>
        <a:effectLst/>
      </c:spPr>
    </c:plotArea>
    <c:plotVisOnly val="1"/>
    <c:dispBlanksAs val="span"/>
  </c:chart>
  <c:spPr>
    <a:solidFill>
      <a:srgbClr val="2D2D2D"/>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col"/>
        <c:grouping val="clustered"/>
        <c:varyColors val="0"/>
        <c:ser>
          <c:idx val="0"/>
          <c:order val="0"/>
          <c:tx>
            <c:strRef>
              <c:f>Sheet1!$B$1</c:f>
              <c:strCache>
                <c:ptCount val="1"/>
                <c:pt idx="0">
                  <c:v>Positive cultures</c:v>
                </c:pt>
              </c:strCache>
            </c:strRef>
          </c:tx>
          <c:spPr>
            <a:solidFill>
              <a:srgbClr val="05C489"/>
            </a:solidFill>
            <a:effectLst/>
          </c:spPr>
          <c:invertIfNegative val="0"/>
          <c:dLbls>
            <c:numFmt formatCode="0&quot;%&quot;" sourceLinked="0"/>
            <c:txPr>
              <a:bodyPr/>
              <a:lstStyle/>
              <a:p>
                <a:pPr>
                  <a:defRPr b="1" i="0" strike="noStrike" sz="1600" u="none">
                    <a:solidFill>
                      <a:srgbClr val="FFFFFF"/>
                    </a:solidFill>
                    <a:latin typeface="Plus Jakarta Sans"/>
                  </a:defRPr>
                </a:pPr>
              </a:p>
            </c:txPr>
            <c:showLegendKey val="0"/>
            <c:showVal val="1"/>
            <c:showCatName val="0"/>
            <c:showSerName val="0"/>
            <c:showPercent val="0"/>
            <c:showBubbleSize val="0"/>
            <c:showLeaderLines val="0"/>
          </c:dLbls>
          <c:dPt>
            <c:idx val="0"/>
            <c:invertIfNegative val="0"/>
            <c:bubble3D val="0"/>
            <c:spPr>
              <a:solidFill>
                <a:srgbClr val="05C489"/>
              </a:solidFill>
              <a:effectLst/>
            </c:spPr>
          </c:dPt>
          <c:dPt>
            <c:idx val="1"/>
            <c:invertIfNegative val="0"/>
            <c:bubble3D val="0"/>
            <c:spPr>
              <a:solidFill>
                <a:srgbClr val="FF8500"/>
              </a:solidFill>
              <a:effectLst/>
            </c:spPr>
          </c:dPt>
          <c:cat>
            <c:strRef>
              <c:f>Sheet1!$A$2:$A$3</c:f>
              <c:strCache>
                <c:ptCount val="2"/>
                <c:pt idx="0">
                  <c:v>Chlorhexidine–alcohol</c:v>
                </c:pt>
                <c:pt idx="1">
                  <c:v>Povidone–iodine</c:v>
                </c:pt>
              </c:strCache>
            </c:strRef>
          </c:cat>
          <c:val>
            <c:numRef>
              <c:f>Sheet1!$B$2:$B$3</c:f>
              <c:numCache>
                <c:formatCode>General</c:formatCode>
                <c:ptCount val="2"/>
                <c:pt idx="0">
                  <c:v>8</c:v>
                </c:pt>
                <c:pt idx="1">
                  <c:v>32</c:v>
                </c:pt>
              </c:numCache>
            </c:numRef>
          </c:val>
        </c:ser>
        <c:dLbls>
          <c:numFmt formatCode="0&quot;%&quot;" sourceLinked="0"/>
          <c:txPr>
            <a:bodyPr/>
            <a:lstStyle/>
            <a:p>
              <a:pPr>
                <a:defRPr b="1" i="0" strike="noStrike" sz="1600" u="none">
                  <a:solidFill>
                    <a:srgbClr val="FFFFFF"/>
                  </a:solidFill>
                  <a:latin typeface="Plus Jakarta Sans"/>
                </a:defRPr>
              </a:pPr>
            </a:p>
          </c:txPr>
          <c:showLegendKey val="0"/>
          <c:showVal val="1"/>
          <c:showCatName val="0"/>
          <c:showSerName val="0"/>
          <c:showPercent val="0"/>
          <c:showBubbleSize val="0"/>
          <c:showLeaderLines val="0"/>
        </c:dLbls>
        <c:gapWidth val="9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FCFCF"/>
            </a:solidFill>
            <a:prstDash val="solid"/>
            <a:round/>
          </a:ln>
        </c:spPr>
        <c:txPr>
          <a:bodyPr/>
          <a:lstStyle/>
          <a:p>
            <a:pPr>
              <a:defRPr sz="1300" b="0" i="0" u="none" strike="noStrike">
                <a:solidFill>
                  <a:srgbClr val="FFFFFF"/>
                </a:solidFill>
                <a:latin typeface="Plus Jakarta Sans"/>
              </a:defRPr>
            </a:pPr>
            <a:endParaRPr lang="en-US"/>
          </a:p>
        </c:txPr>
        <c:crossAx val="2094734552"/>
        <c:crosses val="autoZero"/>
        <c:auto val="1"/>
        <c:lblAlgn val="ctr"/>
        <c:noMultiLvlLbl val="1"/>
      </c:catAx>
      <c:valAx>
        <c:axId val="2094734552"/>
        <c:scaling>
          <c:orientation val="minMax"/>
          <c:max val="40"/>
          <c:min val="0"/>
        </c:scaling>
        <c:delete val="0"/>
        <c:axPos val="l"/>
        <c:majorGridlines>
          <c:spPr>
            <a:ln w="6350" cap="flat">
              <a:solidFill>
                <a:srgbClr val="CFCFCF"/>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000" b="0" i="0" u="none" strike="noStrike">
                <a:solidFill>
                  <a:srgbClr val="BFBFBF"/>
                </a:solidFill>
                <a:latin typeface="Plus Jakarta Sans"/>
              </a:defRPr>
            </a:pPr>
            <a:endParaRPr lang="en-US"/>
          </a:p>
        </c:txPr>
        <c:crossAx val="2094734554"/>
        <c:crosses val="autoZero"/>
        <c:crossBetween val="between"/>
        <c:majorUnit val="10"/>
      </c:valAx>
      <c:spPr>
        <a:solidFill>
          <a:srgbClr val="2D2D2D"/>
        </a:solidFill>
        <a:ln>
          <a:noFill/>
        </a:ln>
        <a:effectLst/>
      </c:spPr>
    </c:plotArea>
    <c:plotVisOnly val="1"/>
    <c:dispBlanksAs val="span"/>
  </c:chart>
  <c:spPr>
    <a:solidFill>
      <a:srgbClr val="2D2D2D"/>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 Tips and tricks for primary implantation and revision surgery</a:t>
            </a:r>
            <a:endParaRPr sz="1500" b="1"/>
          </a:p>
          <a:p>
            <a:r>
              <a:t/>
            </a:r>
            <a:endParaRPr sz="1400" b="0"/>
          </a:p>
          <a:p>
            <a:r>
              <a:t>SHORT VERSION</a:t>
            </a:r>
            <a:endParaRPr sz="1500" b="1"/>
          </a:p>
          <a:p>
            <a:r>
              <a:t>Today is about choosing the right patient, protecting the urethra, and planning for the lifetime of the device.</a:t>
            </a:r>
            <a:endParaRPr sz="1400" b="0"/>
          </a:p>
          <a:p>
            <a:r>
              <a:t/>
            </a:r>
            <a:endParaRPr sz="1400" b="0"/>
          </a:p>
          <a:p>
            <a:r>
              <a:t>READ ALOUD</a:t>
            </a:r>
            <a:endParaRPr sz="1500" b="1"/>
          </a:p>
          <a:p>
            <a:r>
              <a:t>Hello, and thank you for joining us. I'm Nity G, an ST5 urology registrar, presenting with Mr Andrew Baird and Mr Mohamed Abu Yousif.</a:t>
            </a:r>
            <a:endParaRPr sz="1400" b="0"/>
          </a:p>
          <a:p>
            <a:r>
              <a:t/>
            </a:r>
            <a:endParaRPr sz="1400" b="0"/>
          </a:p>
          <a:p>
            <a:r>
              <a:t>We are discussing tips and tricks for primary artificial urinary sphincter implantation and revision surgery.</a:t>
            </a:r>
            <a:endParaRPr sz="1400" b="0"/>
          </a:p>
          <a:p>
            <a:r>
              <a:t/>
            </a:r>
            <a:endParaRPr sz="1400" b="0"/>
          </a:p>
          <a:p>
            <a:r>
              <a:t>The operation matters, but the decisions before and after it matter too. We will work through patient selection, bladder function, the urethra, preparation, the operation and follow-up.</a:t>
            </a:r>
            <a:endParaRPr sz="1400" b="0"/>
          </a:p>
          <a:p>
            <a:r>
              <a:t/>
            </a:r>
            <a:endParaRPr sz="1400" b="0"/>
          </a:p>
          <a:p>
            <a:r>
              <a:t>We will use four fictional cases to make those decisions practical. Throughout, we will separate published evidence, device instructions and our own approach.</a:t>
            </a:r>
            <a:endParaRPr sz="1400" b="0"/>
          </a:p>
          <a:p>
            <a:r>
              <a:t/>
            </a:r>
            <a:endParaRPr sz="1400" b="0"/>
          </a:p>
          <a:p>
            <a:r>
              <a:t>NEXT</a:t>
            </a:r>
            <a:endParaRPr sz="1500" b="1"/>
          </a:p>
          <a:p>
            <a:r>
              <a:t>Let us start with the decision we need to make before booking an operation.</a:t>
            </a:r>
            <a:endParaRPr sz="1400" b="0"/>
          </a:p>
          <a:p>
            <a:r>
              <a:t/>
            </a:r>
            <a:endParaRPr sz="1400" b="0"/>
          </a:p>
          <a:p>
            <a:r>
              <a:t>FIGURE CREDIT</a:t>
            </a:r>
            <a:endParaRPr sz="1500" b="1"/>
          </a:p>
          <a:p>
            <a:r>
              <a:t>Image: UroOps 3D teaching schematic of the implanted device, captured from https://uroops3d.com/lab/aus on 10 October 2026, with clinical review pending. It is not a record of an actual operation. No personal operative experience or local outcomes are asserted.</a:t>
            </a:r>
            <a:endParaRPr sz="1400" b="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 Decide before theatre</a:t>
            </a:r>
            <a:endParaRPr sz="1500" b="1"/>
          </a:p>
          <a:p>
            <a:r>
              <a:t/>
            </a:r>
            <a:endParaRPr sz="1400" b="0"/>
          </a:p>
          <a:p>
            <a:r>
              <a:t>SHORT VERSION</a:t>
            </a:r>
            <a:endParaRPr sz="1500" b="1"/>
          </a:p>
          <a:p>
            <a:r>
              <a:t>Before an implant, ask whether the patient can become meaningfully drier, store urine safely, empty his bladder and use the pump.</a:t>
            </a:r>
            <a:endParaRPr sz="1400" b="0"/>
          </a:p>
          <a:p>
            <a:r>
              <a:t/>
            </a:r>
            <a:endParaRPr sz="1400" b="0"/>
          </a:p>
          <a:p>
            <a:r>
              <a:t>READ ALOUD</a:t>
            </a:r>
            <a:endParaRPr sz="1500" b="1"/>
          </a:p>
          <a:p>
            <a:r>
              <a:t>The first section is about the decision before theatre.</a:t>
            </a:r>
            <a:endParaRPr sz="1400" b="0"/>
          </a:p>
          <a:p>
            <a:r>
              <a:t/>
            </a:r>
            <a:endParaRPr sz="1400" b="0"/>
          </a:p>
          <a:p>
            <a:r>
              <a:t>A severe stress leak is a reason to assess someone for surgery. It does not, by itself, tell us that an implant will give a good result.</a:t>
            </a:r>
            <a:endParaRPr sz="1400" b="0"/>
          </a:p>
          <a:p>
            <a:r>
              <a:t/>
            </a:r>
            <a:endParaRPr sz="1400" b="0"/>
          </a:p>
          <a:p>
            <a:r>
              <a:t>We need to answer four questions. Will this improve the activity that matters to him? Can his bladder store urine safely? Can he empty it? Can he find and operate the pump?</a:t>
            </a:r>
            <a:endParaRPr sz="1400" b="0"/>
          </a:p>
          <a:p>
            <a:r>
              <a:t/>
            </a:r>
            <a:endParaRPr sz="1400" b="0"/>
          </a:p>
          <a:p>
            <a:r>
              <a:t>Those questions explain the investigations and counselling that follow.</a:t>
            </a:r>
            <a:endParaRPr sz="1400" b="0"/>
          </a:p>
          <a:p>
            <a:r>
              <a:t/>
            </a:r>
            <a:endParaRPr sz="1400" b="0"/>
          </a:p>
          <a:p>
            <a:r>
              <a:t>NEXT</a:t>
            </a:r>
            <a:endParaRPr sz="1500" b="1"/>
          </a:p>
          <a:p>
            <a:r>
              <a:t>The next slide turns those questions into four possible decisions.</a:t>
            </a:r>
            <a:endParaRPr sz="1400" b="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 The decision before theatre</a:t>
            </a:r>
            <a:endParaRPr sz="1500" b="1"/>
          </a:p>
          <a:p>
            <a:r>
              <a:t/>
            </a:r>
            <a:endParaRPr sz="1400" b="0"/>
          </a:p>
          <a:p>
            <a:r>
              <a:t>SHORT VERSION</a:t>
            </a:r>
            <a:endParaRPr sz="1500" b="1"/>
          </a:p>
          <a:p>
            <a:r>
              <a:t>Our four choices are: implant, treat another problem first, investigate further, or reconsider the plan.</a:t>
            </a:r>
            <a:endParaRPr sz="1400" b="0"/>
          </a:p>
          <a:p>
            <a:r>
              <a:t/>
            </a:r>
            <a:endParaRPr sz="1400" b="0"/>
          </a:p>
          <a:p>
            <a:r>
              <a:t>READ ALOUD</a:t>
            </a:r>
            <a:endParaRPr sz="1500" b="1"/>
          </a:p>
          <a:p>
            <a:r>
              <a:t>A device can work properly and still leave the patient disappointed. He may remain limited by urgency, poor emptying, or difficulty using the pump.</a:t>
            </a:r>
            <a:endParaRPr sz="1400" b="0"/>
          </a:p>
          <a:p>
            <a:r>
              <a:t/>
            </a:r>
            <a:endParaRPr sz="1400" b="0"/>
          </a:p>
          <a:p>
            <a:r>
              <a:t>The first option is to implant when the stress leak is established, storage is safe, emptying is reliable and the pump is usable.</a:t>
            </a:r>
            <a:endParaRPr sz="1400" b="0"/>
          </a:p>
          <a:p>
            <a:r>
              <a:t/>
            </a:r>
            <a:endParaRPr sz="1400" b="0"/>
          </a:p>
          <a:p>
            <a:r>
              <a:t>The second is to optimise. That means treating a problem that is currently more important than the stress leak.</a:t>
            </a:r>
            <a:endParaRPr sz="1400" b="0"/>
          </a:p>
          <a:p>
            <a:r>
              <a:t/>
            </a:r>
            <a:endParaRPr sz="1400" b="0"/>
          </a:p>
          <a:p>
            <a:r>
              <a:t>The third is to investigate when the symptoms, measurements or anatomy do not yet make sense.</a:t>
            </a:r>
            <a:endParaRPr sz="1400" b="0"/>
          </a:p>
          <a:p>
            <a:r>
              <a:t/>
            </a:r>
            <a:endParaRPr sz="1400" b="0"/>
          </a:p>
          <a:p>
            <a:r>
              <a:t>The fourth is to reconsider when safe function or independent device use seems unlikely. These are decisions to discuss with the patient, rather than a scoring system.</a:t>
            </a:r>
            <a:endParaRPr sz="1400" b="0"/>
          </a:p>
          <a:p>
            <a:r>
              <a:t/>
            </a:r>
            <a:endParaRPr sz="1400" b="0"/>
          </a:p>
          <a:p>
            <a:r>
              <a:t>NEXT</a:t>
            </a:r>
            <a:endParaRPr sz="1500" b="1"/>
          </a:p>
          <a:p>
            <a:r>
              <a:t>Before using evidence to make those decisions, we should be clear about what each source can tell us.</a:t>
            </a:r>
            <a:endParaRPr sz="1400" b="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4: Evidence and device boundaries</a:t>
            </a:r>
            <a:endParaRPr sz="1500" b="1"/>
          </a:p>
          <a:p>
            <a:r>
              <a:t/>
            </a:r>
            <a:endParaRPr sz="1400" b="0"/>
          </a:p>
          <a:p>
            <a:r>
              <a:t>SHORT VERSION</a:t>
            </a:r>
            <a:endParaRPr sz="1500" b="1"/>
          </a:p>
          <a:p>
            <a:r>
              <a:t>Guidelines, clinical studies, device instructions and personal practice answer different questions. We should name which one we are using.</a:t>
            </a:r>
            <a:endParaRPr sz="1400" b="0"/>
          </a:p>
          <a:p>
            <a:r>
              <a:t/>
            </a:r>
            <a:endParaRPr sz="1400" b="0"/>
          </a:p>
          <a:p>
            <a:r>
              <a:t>READ ALOUD</a:t>
            </a:r>
            <a:endParaRPr sz="1500" b="1"/>
          </a:p>
          <a:p>
            <a:r>
              <a:t>Thank you to Rigicon for organising the meeting. We should still examine each clinical claim on its own evidence.</a:t>
            </a:r>
            <a:endParaRPr sz="1400" b="0"/>
          </a:p>
          <a:p>
            <a:r>
              <a:t/>
            </a:r>
            <a:endParaRPr sz="1400" b="0"/>
          </a:p>
          <a:p>
            <a:r>
              <a:t>Guidelines recommend a pathway. Some recommendations come from trials, and others from expert consensus where trials are missing.</a:t>
            </a:r>
            <a:endParaRPr sz="1400" b="0"/>
          </a:p>
          <a:p>
            <a:r>
              <a:t/>
            </a:r>
            <a:endParaRPr sz="1400" b="0"/>
          </a:p>
          <a:p>
            <a:r>
              <a:t>A clinical study tells us what happened in a particular group of patients, with a particular device and a particular definition of success.</a:t>
            </a:r>
            <a:endParaRPr sz="1400" b="0"/>
          </a:p>
          <a:p>
            <a:r>
              <a:t/>
            </a:r>
            <a:endParaRPr sz="1400" b="0"/>
          </a:p>
          <a:p>
            <a:r>
              <a:t>The manufacturer's instructions tell us how that device may be used and what precautions apply. They do not prove that it performs better than another device.</a:t>
            </a:r>
            <a:endParaRPr sz="1400" b="0"/>
          </a:p>
          <a:p>
            <a:r>
              <a:t/>
            </a:r>
            <a:endParaRPr sz="1400" b="0"/>
          </a:p>
          <a:p>
            <a:r>
              <a:t>Our own practice may be useful, but we should identify it as practice rather than present it as a proven rule.</a:t>
            </a:r>
            <a:endParaRPr sz="1400" b="0"/>
          </a:p>
          <a:p>
            <a:r>
              <a:t/>
            </a:r>
            <a:endParaRPr sz="1400" b="0"/>
          </a:p>
          <a:p>
            <a:r>
              <a:t>In this talk we compare the British, European and American guidance, and keep device-specific evidence separate.</a:t>
            </a:r>
            <a:endParaRPr sz="1400" b="0"/>
          </a:p>
          <a:p>
            <a:r>
              <a:t/>
            </a:r>
            <a:endParaRPr sz="1400" b="0"/>
          </a:p>
          <a:p>
            <a:r>
              <a:t>NEXT</a:t>
            </a:r>
            <a:endParaRPr sz="1500" b="1"/>
          </a:p>
          <a:p>
            <a:r>
              <a:t>We start the assessment with the leak the patient actually experiences.</a:t>
            </a:r>
            <a:endParaRPr sz="1400" b="0"/>
          </a:p>
          <a:p>
            <a:r>
              <a:t/>
            </a:r>
            <a:endParaRPr sz="1400" b="0"/>
          </a:p>
          <a:p>
            <a:r>
              <a:t>TERMS IF NEEDED</a:t>
            </a:r>
            <a:endParaRPr sz="1500" b="1"/>
          </a:p>
          <a:p>
            <a:r>
              <a:t>BAUS: British Association of Urological Surgeons. EAU: European Association of Urology. AUA: American Urological Association. IFU: the manufacturer's instructions for use.</a:t>
            </a:r>
            <a:endParaRPr sz="1400" b="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5: Leakage mechanism and patient goals</a:t>
            </a:r>
            <a:endParaRPr sz="1500" b="1"/>
          </a:p>
          <a:p>
            <a:r>
              <a:t/>
            </a:r>
            <a:endParaRPr sz="1400" b="0"/>
          </a:p>
          <a:p>
            <a:r>
              <a:t>SHORT VERSION</a:t>
            </a:r>
            <a:endParaRPr sz="1500" b="1"/>
          </a:p>
          <a:p>
            <a:r>
              <a:t>Establish what causes the leakage, measure it when needed, and ask what improvement would matter to the patient.</a:t>
            </a:r>
            <a:endParaRPr sz="1400" b="0"/>
          </a:p>
          <a:p>
            <a:r>
              <a:t/>
            </a:r>
            <a:endParaRPr sz="1400" b="0"/>
          </a:p>
          <a:p>
            <a:r>
              <a:t>READ ALOUD</a:t>
            </a:r>
            <a:endParaRPr sz="1500" b="1"/>
          </a:p>
          <a:p>
            <a:r>
              <a:t>I would start by asking him to describe a bad day. Does he leak when he stands, walks or coughs? Does an urgent need to pass urine come first? What happens at night?</a:t>
            </a:r>
            <a:endParaRPr sz="1400" b="0"/>
          </a:p>
          <a:p>
            <a:r>
              <a:t/>
            </a:r>
            <a:endParaRPr sz="1400" b="0"/>
          </a:p>
          <a:p>
            <a:r>
              <a:t>Stress leakage means leakage with effort or movement. Urgency leakage follows a sudden, difficult-to-defer urge. Both can occur in the same patient.</a:t>
            </a:r>
            <a:endParaRPr sz="1400" b="0"/>
          </a:p>
          <a:p>
            <a:r>
              <a:t/>
            </a:r>
            <a:endParaRPr sz="1400" b="0"/>
          </a:p>
          <a:p>
            <a:r>
              <a:t>We should demonstrate the stress leak where possible, rather than rely on the word "mixed" to explain everything.</a:t>
            </a:r>
            <a:endParaRPr sz="1400" b="0"/>
          </a:p>
          <a:p>
            <a:r>
              <a:t/>
            </a:r>
            <a:endParaRPr sz="1400" b="0"/>
          </a:p>
          <a:p>
            <a:r>
              <a:t>Pad count gives a rough idea, but people use and change pads differently. A 24-hour pad weight helps when severity is uncertain.</a:t>
            </a:r>
            <a:endParaRPr sz="1400" b="0"/>
          </a:p>
          <a:p>
            <a:r>
              <a:t/>
            </a:r>
            <a:endParaRPr sz="1400" b="0"/>
          </a:p>
          <a:p>
            <a:r>
              <a:t>Finally, ask what he wants back. That might be work, exercise, a social activity, or fewer pads. That gives us a meaningful goal for consent.</a:t>
            </a:r>
            <a:endParaRPr sz="1400" b="0"/>
          </a:p>
          <a:p>
            <a:r>
              <a:t/>
            </a:r>
            <a:endParaRPr sz="1400" b="0"/>
          </a:p>
          <a:p>
            <a:r>
              <a:t>NEXT</a:t>
            </a:r>
            <a:endParaRPr sz="1500" b="1"/>
          </a:p>
          <a:p>
            <a:r>
              <a:t>Once we understand the leakage and the goal, we can discuss timing and the choice of operation.</a:t>
            </a:r>
            <a:endParaRPr sz="1400" b="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6: Timing after prostate treatment</a:t>
            </a:r>
            <a:endParaRPr sz="1500" b="1"/>
          </a:p>
          <a:p>
            <a:r>
              <a:t/>
            </a:r>
            <a:endParaRPr sz="1400" b="0"/>
          </a:p>
          <a:p>
            <a:r>
              <a:t>SHORT VERSION</a:t>
            </a:r>
            <a:endParaRPr sz="1500" b="1"/>
          </a:p>
          <a:p>
            <a:r>
              <a:t>Allow recovery after prostate treatment, but review persistent bothersome leakage. A sling and an AUS are not interchangeable choices.</a:t>
            </a:r>
            <a:endParaRPr sz="1400" b="0"/>
          </a:p>
          <a:p>
            <a:r>
              <a:t/>
            </a:r>
            <a:endParaRPr sz="1400" b="0"/>
          </a:p>
          <a:p>
            <a:r>
              <a:t>READ ALOUD</a:t>
            </a:r>
            <a:endParaRPr sz="1500" b="1"/>
          </a:p>
          <a:p>
            <a:r>
              <a:t>We should avoid operating while continence is still improving, but also avoid letting conservative treatment continue without review.</a:t>
            </a:r>
            <a:endParaRPr sz="1400" b="0"/>
          </a:p>
          <a:p>
            <a:r>
              <a:t/>
            </a:r>
            <a:endParaRPr sz="1400" b="0"/>
          </a:p>
          <a:p>
            <a:r>
              <a:t>The BAUS pathway shown here allows at least six months of recovery for severe leakage and at least twelve months for mild or moderate leakage.</a:t>
            </a:r>
            <a:endParaRPr sz="1400" b="0"/>
          </a:p>
          <a:p>
            <a:r>
              <a:t/>
            </a:r>
            <a:endParaRPr sz="1400" b="0"/>
          </a:p>
          <a:p>
            <a:r>
              <a:t>The pad-weight bands on this slide are under 100 grams in 24 hours for mild, 100 to 400 grams for moderate, and over 400 grams for severe leakage.</a:t>
            </a:r>
            <a:endParaRPr sz="1400" b="0"/>
          </a:p>
          <a:p>
            <a:r>
              <a:t/>
            </a:r>
            <a:endParaRPr sz="1400" b="0"/>
          </a:p>
          <a:p>
            <a:r>
              <a:t>The AUA allows surgery from six months when bothersome leakage is not improving despite conservative treatment, and recommends offering surgery for persisting bothersome leakage at one year.</a:t>
            </a:r>
            <a:endParaRPr sz="1400" b="0"/>
          </a:p>
          <a:p>
            <a:r>
              <a:t/>
            </a:r>
            <a:endParaRPr sz="1400" b="0"/>
          </a:p>
          <a:p>
            <a:r>
              <a:t>A sling may suit selected men with milder leakage. Severe leakage and previous radiotherapy make its results less favourable.</a:t>
            </a:r>
            <a:endParaRPr sz="1400" b="0"/>
          </a:p>
          <a:p>
            <a:r>
              <a:t/>
            </a:r>
            <a:endParaRPr sz="1400" b="0"/>
          </a:p>
          <a:p>
            <a:r>
              <a:t>In MASTER, the sling met the trial's non-inferiority threshold at 24 months. That does not mean identical outcomes for every patient. Further surgery occurred in eleven per cent after a sling and two per cent after an AUS.</a:t>
            </a:r>
            <a:endParaRPr sz="1400" b="0"/>
          </a:p>
          <a:p>
            <a:r>
              <a:t/>
            </a:r>
            <a:endParaRPr sz="1400" b="0"/>
          </a:p>
          <a:p>
            <a:r>
              <a:t>NEXT</a:t>
            </a:r>
            <a:endParaRPr sz="1500" b="1"/>
          </a:p>
          <a:p>
            <a:r>
              <a:t>Before choosing any device, we need to see whether he can actually operate it.</a:t>
            </a:r>
            <a:endParaRPr sz="1400" b="0"/>
          </a:p>
          <a:p>
            <a:r>
              <a:t/>
            </a:r>
            <a:endParaRPr sz="1400" b="0"/>
          </a:p>
          <a:p>
            <a:r>
              <a:t>TERMS IF NEEDED</a:t>
            </a:r>
            <a:endParaRPr sz="1500" b="1"/>
          </a:p>
          <a:p>
            <a:r>
              <a:t>Non-inferiority: the trial tested whether the sling was worse by more than a pre-agreed margin on its main outcome. It does not mean the operations are identical.</a:t>
            </a:r>
            <a:endParaRPr sz="1400" b="0"/>
          </a:p>
          <a:p>
            <a:r>
              <a:rPr lang="en-GB" sz="1400" b="0">
                <a:latin typeface="Plus Jakarta Sans"/>
              </a:rPr>
              <a:t>REFERENCE LINKS (not spoken)
https://www.auanet.org/documents/Guidelines/PDF/2024%20Guidelines/IPT%20Unabridged%20Final%206-18-24.pdf
https://pubmed.ncbi.nlm.nih.gov/42648940/</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7: Pump use over time</a:t>
            </a:r>
            <a:endParaRPr sz="1500" b="1"/>
          </a:p>
          <a:p>
            <a:r>
              <a:t/>
            </a:r>
            <a:endParaRPr sz="1400" b="0"/>
          </a:p>
          <a:p>
            <a:r>
              <a:t>SHORT VERSION</a:t>
            </a:r>
            <a:endParaRPr sz="1500" b="1"/>
          </a:p>
          <a:p>
            <a:r>
              <a:t>Give him a demonstration pump and watch him use it. Check reach, hand function, understanding and likely future ability.</a:t>
            </a:r>
            <a:endParaRPr sz="1400" b="0"/>
          </a:p>
          <a:p>
            <a:r>
              <a:t/>
            </a:r>
            <a:endParaRPr sz="1400" b="0"/>
          </a:p>
          <a:p>
            <a:r>
              <a:t>READ ALOUD</a:t>
            </a:r>
            <a:endParaRPr sz="1500" b="1"/>
          </a:p>
          <a:p>
            <a:r>
              <a:t>Asking "Can you use a pump?" is not enough. Put a demonstration pump in his hand and watch what happens.</a:t>
            </a:r>
            <a:endParaRPr sz="1400" b="0"/>
          </a:p>
          <a:p>
            <a:r>
              <a:t/>
            </a:r>
            <a:endParaRPr sz="1400" b="0"/>
          </a:p>
          <a:p>
            <a:r>
              <a:t>Check whether he can reach the planned position, including when sitting. Then check grip, pinch strength and whether he understands the sequence.</a:t>
            </a:r>
            <a:endParaRPr sz="1400" b="0"/>
          </a:p>
          <a:p>
            <a:r>
              <a:t/>
            </a:r>
            <a:endParaRPr sz="1400" b="0"/>
          </a:p>
          <a:p>
            <a:r>
              <a:t>He needs to understand normal cycling and how to obtain help if the device must be deactivated. He should know to tell another clinician about the AUS before catheterisation or instrumentation.</a:t>
            </a:r>
            <a:endParaRPr sz="1400" b="0"/>
          </a:p>
          <a:p>
            <a:r>
              <a:t/>
            </a:r>
            <a:endParaRPr sz="1400" b="0"/>
          </a:p>
          <a:p>
            <a:r>
              <a:t>Think beyond the day of surgery. Arthritis, tremor, cognitive problems and general frailty may affect future use.</a:t>
            </a:r>
            <a:endParaRPr sz="1400" b="0"/>
          </a:p>
          <a:p>
            <a:r>
              <a:t/>
            </a:r>
            <a:endParaRPr sz="1400" b="0"/>
          </a:p>
          <a:p>
            <a:r>
              <a:t>The frailty study in the source material found an association with complications and later revision. It used billing-code measures, so it supports considering frailty but does not give us a validated pump-use test.</a:t>
            </a:r>
            <a:endParaRPr sz="1400" b="0"/>
          </a:p>
          <a:p>
            <a:r>
              <a:t/>
            </a:r>
            <a:endParaRPr sz="1400" b="0"/>
          </a:p>
          <a:p>
            <a:r>
              <a:t>NEXT</a:t>
            </a:r>
            <a:endParaRPr sz="1500" b="1"/>
          </a:p>
          <a:p>
            <a:r>
              <a:t>After assessing the person, we look for urethral and bladder problems that could change the operation.</a:t>
            </a:r>
            <a:endParaRPr sz="1400" b="0"/>
          </a:p>
          <a:p>
            <a:r>
              <a:t/>
            </a:r>
            <a:endParaRPr sz="1400" b="0"/>
          </a:p>
          <a:p>
            <a:r>
              <a:t>TERMS IF NEEDED</a:t>
            </a:r>
            <a:endParaRPr sz="1500" b="1"/>
          </a:p>
          <a:p>
            <a:r>
              <a:t>AUS: artificial urinary sphincter. Cycling: squeezing the pump to open the cuff for voiding, followed by the device's normal refill.</a:t>
            </a:r>
            <a:endParaRPr sz="1400" b="0"/>
          </a:p>
          <a:p>
            <a:r>
              <a:t/>
            </a:r>
            <a:endParaRPr sz="1400" b="0"/>
          </a:p>
          <a:p>
            <a:r>
              <a:t>FIGURE CREDIT</a:t>
            </a:r>
            <a:endParaRPr sz="1500" b="1"/>
          </a:p>
          <a:p>
            <a:r>
              <a:t>Image source: Rigicon ContiClassic IFU, CC-IFU REV.03, 12 October 2023, printed page 1 (PDF page 4). https://www.rigicon.com/files/e-labeling/ContiClassic-IFU.pdf . Manufacturer illustration, shown for component identification, without a comparative superiority claim.</a:t>
            </a:r>
            <a:endParaRPr sz="1400" b="0"/>
          </a:p>
          <a:p>
            <a:r>
              <a:rPr lang="en-GB" sz="1400" b="0">
                <a:latin typeface="Plus Jakarta Sans"/>
              </a:rPr>
              <a:t>REFERENCE LINKS (not spoken)
https://www.auanet.org/documents/Guidelines/PDF/2024%20Guidelines/IPT%20Unabridged%20Final%206-18-24.pdf</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8: Flexible cystoscopy before implantation</a:t>
            </a:r>
            <a:endParaRPr sz="1500" b="1"/>
          </a:p>
          <a:p>
            <a:r>
              <a:t/>
            </a:r>
            <a:endParaRPr sz="1400" b="0"/>
          </a:p>
          <a:p>
            <a:r>
              <a:t>SHORT VERSION</a:t>
            </a:r>
            <a:endParaRPr sz="1500" b="1"/>
          </a:p>
          <a:p>
            <a:r>
              <a:t>Cystoscopy looks for pathology that could change the plan. If we find a narrowing, we assess and discuss it before proceeding.</a:t>
            </a:r>
            <a:endParaRPr sz="1400" b="0"/>
          </a:p>
          <a:p>
            <a:r>
              <a:t/>
            </a:r>
            <a:endParaRPr sz="1400" b="0"/>
          </a:p>
          <a:p>
            <a:r>
              <a:t>READ ALOUD</a:t>
            </a:r>
            <a:endParaRPr sz="1500" b="1"/>
          </a:p>
          <a:p>
            <a:r>
              <a:t>Cystoscopy lets us inspect the urethra and bladder before an incontinence operation.</a:t>
            </a:r>
            <a:endParaRPr sz="1400" b="0"/>
          </a:p>
          <a:p>
            <a:r>
              <a:t/>
            </a:r>
            <a:endParaRPr sz="1400" b="0"/>
          </a:p>
          <a:p>
            <a:r>
              <a:t>The AUA recommends this before stress-incontinence surgery. The BAUS pathway in this deck uses video-urodynamics for surgical candidates, with cystoscopy when narrowing is suspected, or alongside standard urodynamics where video is unavailable.</a:t>
            </a:r>
            <a:endParaRPr sz="1400" b="0"/>
          </a:p>
          <a:p>
            <a:r>
              <a:t/>
            </a:r>
            <a:endParaRPr sz="1400" b="0"/>
          </a:p>
          <a:p>
            <a:r>
              <a:t>We are looking for a urethral stricture, narrowing at the bladder neck or surgical join, previous erosion, foreign material, stones or a tumour. These findings may change what we do and when we do it.</a:t>
            </a:r>
            <a:endParaRPr sz="1400" b="0"/>
          </a:p>
          <a:p>
            <a:r>
              <a:t/>
            </a:r>
            <a:endParaRPr sz="1400" b="0"/>
          </a:p>
          <a:p>
            <a:r>
              <a:t>Our preference is to look in advance so that a surprise can be discussed before the day of implantation.</a:t>
            </a:r>
            <a:endParaRPr sz="1400" b="0"/>
          </a:p>
          <a:p>
            <a:r>
              <a:t/>
            </a:r>
            <a:endParaRPr sz="1400" b="0"/>
          </a:p>
          <a:p>
            <a:r>
              <a:t>A narrowing deserves a planned assessment and treatment discussion. Diagnostic cystoscopy should not automatically turn into an unplanned dilation. We need to understand the site, the extent, the symptoms and the emptying first.</a:t>
            </a:r>
            <a:endParaRPr sz="1400" b="0"/>
          </a:p>
          <a:p>
            <a:r>
              <a:t/>
            </a:r>
            <a:endParaRPr sz="1400" b="0"/>
          </a:p>
          <a:p>
            <a:r>
              <a:t>NEXT</a:t>
            </a:r>
            <a:endParaRPr sz="1500" b="1"/>
          </a:p>
          <a:p>
            <a:r>
              <a:t>The next investigation is urodynamics, where the guidelines take different positions.</a:t>
            </a:r>
            <a:endParaRPr sz="1400" b="0"/>
          </a:p>
          <a:p>
            <a:r>
              <a:t/>
            </a:r>
            <a:endParaRPr sz="1400" b="0"/>
          </a:p>
          <a:p>
            <a:r>
              <a:t>TERMS IF NEEDED</a:t>
            </a:r>
            <a:endParaRPr sz="1500" b="1"/>
          </a:p>
          <a:p>
            <a:r>
              <a:t>Cystoscopy: looking inside with a scope. A stricture is a scarred narrowing. An anastomosis is the surgical join between the bladder and urethra after radical prostatectomy.</a:t>
            </a:r>
            <a:endParaRPr sz="1400" b="0"/>
          </a:p>
          <a:p>
            <a:r>
              <a:rPr lang="en-GB" sz="1400" b="0">
                <a:latin typeface="Plus Jakarta Sans"/>
              </a:rPr>
              <a:t>REFERENCE LINKS (not spoken)
https://www.auanet.org/documents/Guidelines/PDF/2024%20Guidelines/IPT%20Unabridged%20Final%206-18-24.pdf
https://doi.org/10.1111/bju.16726</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9: Urodynamics: BAUS, EAU and AUA</a:t>
            </a:r>
            <a:endParaRPr sz="1500" b="1"/>
          </a:p>
          <a:p>
            <a:r>
              <a:t/>
            </a:r>
            <a:endParaRPr sz="1400" b="0"/>
          </a:p>
          <a:p>
            <a:r>
              <a:t>SHORT VERSION</a:t>
            </a:r>
            <a:endParaRPr sz="1500" b="1"/>
          </a:p>
          <a:p>
            <a:r>
              <a:t>Name the guideline you are following, and state what uncertainty urodynamics is meant to resolve.</a:t>
            </a:r>
            <a:endParaRPr sz="1400" b="0"/>
          </a:p>
          <a:p>
            <a:r>
              <a:t/>
            </a:r>
            <a:endParaRPr sz="1400" b="0"/>
          </a:p>
          <a:p>
            <a:r>
              <a:t>READ ALOUD</a:t>
            </a:r>
            <a:endParaRPr sz="1500" b="1"/>
          </a:p>
          <a:p>
            <a:r>
              <a:t>Urodynamics measures how the bladder stores urine and how the patient empties it. Video-urodynamics adds imaging during the test.</a:t>
            </a:r>
            <a:endParaRPr sz="1400" b="0"/>
          </a:p>
          <a:p>
            <a:r>
              <a:t/>
            </a:r>
            <a:endParaRPr sz="1400" b="0"/>
          </a:p>
          <a:p>
            <a:r>
              <a:t>BAUS recommends video-urodynamics for surgical candidates. EAU recommends invasive urodynamics when considering invasive treatment, but grades that recommendation as weak and also describes selective testing. AUA uses it when it would help diagnosis or counselling.</a:t>
            </a:r>
            <a:endParaRPr sz="1400" b="0"/>
          </a:p>
          <a:p>
            <a:r>
              <a:t/>
            </a:r>
            <a:endParaRPr sz="1400" b="0"/>
          </a:p>
          <a:p>
            <a:r>
              <a:t>The practical questions are straightforward. Is the stress leak established? Are urgency or unsafe filling pressures important? Is emptying reliable?</a:t>
            </a:r>
            <a:endParaRPr sz="1400" b="0"/>
          </a:p>
          <a:p>
            <a:r>
              <a:t/>
            </a:r>
            <a:endParaRPr sz="1400" b="0"/>
          </a:p>
          <a:p>
            <a:r>
              <a:t>Before requesting the test, say what result would change the plan. When interpreting it, be clear which guideline pathway you are using.</a:t>
            </a:r>
            <a:endParaRPr sz="1400" b="0"/>
          </a:p>
          <a:p>
            <a:r>
              <a:t/>
            </a:r>
            <a:endParaRPr sz="1400" b="0"/>
          </a:p>
          <a:p>
            <a:r>
              <a:t>The AUA conference abstract mentioned in this deck does not provide verified full results for us to use as a reason to change that pathway.</a:t>
            </a:r>
            <a:endParaRPr sz="1400" b="0"/>
          </a:p>
          <a:p>
            <a:r>
              <a:t/>
            </a:r>
            <a:endParaRPr sz="1400" b="0"/>
          </a:p>
          <a:p>
            <a:r>
              <a:t>NEXT</a:t>
            </a:r>
            <a:endParaRPr sz="1500" b="1"/>
          </a:p>
          <a:p>
            <a:r>
              <a:t>Whatever testing strategy we choose, we still have to interpret an imperfect study.</a:t>
            </a:r>
            <a:endParaRPr sz="1400" b="0"/>
          </a:p>
          <a:p>
            <a:r>
              <a:rPr lang="en-GB" sz="1400" b="0">
                <a:latin typeface="Plus Jakarta Sans"/>
              </a:rPr>
              <a:t>REFERENCE LINKS (not spoken)
https://uroweb.org/guidelines/management-of-non-neurogenic-male-luts/chapter/disease-management
https://doi.org/10.1111/bju.16726</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10: Interpreting an imperfect study</a:t>
            </a:r>
            <a:endParaRPr sz="1500" b="1"/>
          </a:p>
          <a:p>
            <a:r>
              <a:t/>
            </a:r>
            <a:endParaRPr sz="1400" b="0"/>
          </a:p>
          <a:p>
            <a:r>
              <a:t>SHORT VERSION</a:t>
            </a:r>
            <a:endParaRPr sz="1500" b="1"/>
          </a:p>
          <a:p>
            <a:r>
              <a:t>Read the traces alongside the patient's usual symptoms and voiding. One abnormal laboratory number does not explain the whole problem.</a:t>
            </a:r>
            <a:endParaRPr sz="1400" b="0"/>
          </a:p>
          <a:p>
            <a:r>
              <a:t/>
            </a:r>
            <a:endParaRPr sz="1400" b="0"/>
          </a:p>
          <a:p>
            <a:r>
              <a:t>READ ALOUD</a:t>
            </a:r>
            <a:endParaRPr sz="1500" b="1"/>
          </a:p>
          <a:p>
            <a:r>
              <a:t>A small measured capacity does not always mean a stiff bladder. A man who leaks throughout filling may simply never store much urine during the test.</a:t>
            </a:r>
            <a:endParaRPr sz="1400" b="0"/>
          </a:p>
          <a:p>
            <a:r>
              <a:t/>
            </a:r>
            <a:endParaRPr sz="1400" b="0"/>
          </a:p>
          <a:p>
            <a:r>
              <a:t>Similarly, a weak void in the laboratory may not reflect his usual voiding at home. Compare it with the bladder diary, free flow and repeated measurements of urine left behind.</a:t>
            </a:r>
            <a:endParaRPr sz="1400" b="0"/>
          </a:p>
          <a:p>
            <a:r>
              <a:t/>
            </a:r>
            <a:endParaRPr sz="1400" b="0"/>
          </a:p>
          <a:p>
            <a:r>
              <a:t>Check that the pressure traces are technically credible, that the abdominal pressure has been subtracted properly, and why filling stopped.</a:t>
            </a:r>
            <a:endParaRPr sz="1400" b="0"/>
          </a:p>
          <a:p>
            <a:r>
              <a:t/>
            </a:r>
            <a:endParaRPr sz="1400" b="0"/>
          </a:p>
          <a:p>
            <a:r>
              <a:t>The study cited here illustrates another limitation: some men did not show the stress leak with the catheter in place but did leak after it was removed. Failure to reproduce the leak during that part of the test does not settle the diagnosis.</a:t>
            </a:r>
            <a:endParaRPr sz="1400" b="0"/>
          </a:p>
          <a:p>
            <a:r>
              <a:t/>
            </a:r>
            <a:endParaRPr sz="1400" b="0"/>
          </a:p>
          <a:p>
            <a:r>
              <a:t>Bring the findings together: symptoms, demonstrated leakage, urine tests, diary, flow, residual and urethral anatomy. Then decide whether storage, emptying and the outlet are safe.</a:t>
            </a:r>
            <a:endParaRPr sz="1400" b="0"/>
          </a:p>
          <a:p>
            <a:r>
              <a:t/>
            </a:r>
            <a:endParaRPr sz="1400" b="0"/>
          </a:p>
          <a:p>
            <a:r>
              <a:t>NEXT</a:t>
            </a:r>
            <a:endParaRPr sz="1500" b="1"/>
          </a:p>
          <a:p>
            <a:r>
              <a:t>Once the assessment makes sense, we can explain the likely benefit and the lifetime burden to the patient.</a:t>
            </a:r>
            <a:endParaRPr sz="1400" b="0"/>
          </a:p>
          <a:p>
            <a:r>
              <a:t/>
            </a:r>
            <a:endParaRPr sz="1400" b="0"/>
          </a:p>
          <a:p>
            <a:r>
              <a:t>TERMS IF NEEDED</a:t>
            </a:r>
            <a:endParaRPr sz="1500" b="1"/>
          </a:p>
          <a:p>
            <a:r>
              <a:t>Residual: urine left in the bladder after voiding. Compliance: how easily the bladder stretches as it fills.</a:t>
            </a:r>
            <a:endParaRPr sz="1400" b="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11: Consent: improvement and lifetime burden</a:t>
            </a:r>
            <a:endParaRPr sz="1500" b="1"/>
          </a:p>
          <a:p>
            <a:r>
              <a:t/>
            </a:r>
            <a:endParaRPr sz="1400" b="0"/>
          </a:p>
          <a:p>
            <a:r>
              <a:t>SHORT VERSION</a:t>
            </a:r>
            <a:endParaRPr sz="1500" b="1"/>
          </a:p>
          <a:p>
            <a:r>
              <a:t>Explain improvement and future operations. These two percentages measure different things and cannot compare the devices.</a:t>
            </a:r>
            <a:endParaRPr sz="1400" b="0"/>
          </a:p>
          <a:p>
            <a:r>
              <a:t/>
            </a:r>
            <a:endParaRPr sz="1400" b="0"/>
          </a:p>
          <a:p>
            <a:r>
              <a:t>READ ALOUD</a:t>
            </a:r>
            <a:endParaRPr sz="1500" b="1"/>
          </a:p>
          <a:p>
            <a:r>
              <a:t>Consent should cover residual stress leakage, persistent urgency, infection, erosion, mechanical failure and the possibility of another operation.</a:t>
            </a:r>
            <a:endParaRPr sz="1400" b="0"/>
          </a:p>
          <a:p>
            <a:r>
              <a:t/>
            </a:r>
            <a:endParaRPr sz="1400" b="0"/>
          </a:p>
          <a:p>
            <a:r>
              <a:t>The first number concerns the AMS 800. In AUSCO, 61 of 101 men with that outcome recorded used no pads at twelve months after activation. The study was manufacturer-funded, had no comparison group and had missing outcomes.</a:t>
            </a:r>
            <a:endParaRPr sz="1400" b="0"/>
          </a:p>
          <a:p>
            <a:r>
              <a:t/>
            </a:r>
            <a:endParaRPr sz="1400" b="0"/>
          </a:p>
          <a:p>
            <a:r>
              <a:t>The second number concerns ContiClassic. The estimated device-survival rate at twelve months was 93.2 per cent in the early series of 116 recipients. That means device survival, not a 93.2 per cent dry rate.</a:t>
            </a:r>
            <a:endParaRPr sz="1400" b="0"/>
          </a:p>
          <a:p>
            <a:r>
              <a:t/>
            </a:r>
            <a:endParaRPr sz="1400" b="0"/>
          </a:p>
          <a:p>
            <a:r>
              <a:t>The populations, endpoints and study designs differ. These figures therefore cannot tell us which device is better.</a:t>
            </a:r>
            <a:endParaRPr sz="1400" b="0"/>
          </a:p>
          <a:p>
            <a:r>
              <a:t/>
            </a:r>
            <a:endParaRPr sz="1400" b="0"/>
          </a:p>
          <a:p>
            <a:r>
              <a:t>The practical consent message is that an AUS may improve continence, but it does not promise complete dryness or freedom from future surgery. We should discuss that lifetime burden from the start.</a:t>
            </a:r>
            <a:endParaRPr sz="1400" b="0"/>
          </a:p>
          <a:p>
            <a:r>
              <a:t/>
            </a:r>
            <a:endParaRPr sz="1400" b="0"/>
          </a:p>
          <a:p>
            <a:r>
              <a:t>NEXT</a:t>
            </a:r>
            <a:endParaRPr sz="1500" b="1"/>
          </a:p>
          <a:p>
            <a:r>
              <a:t>That completes the assessment before theatre. We now turn to the bladder and our first fictional case.</a:t>
            </a:r>
            <a:endParaRPr sz="1400" b="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12: The bladder</a:t>
            </a:r>
            <a:endParaRPr sz="1500" b="1"/>
          </a:p>
          <a:p>
            <a:r>
              <a:t/>
            </a:r>
            <a:endParaRPr sz="1400" b="0"/>
          </a:p>
          <a:p>
            <a:r>
              <a:t>SHORT VERSION</a:t>
            </a:r>
            <a:endParaRPr sz="1500" b="1"/>
          </a:p>
          <a:p>
            <a:r>
              <a:t>Keep three bladder problems separate: involuntary contractions, weak emptying, and rising pressure during filling.</a:t>
            </a:r>
            <a:endParaRPr sz="1400" b="0"/>
          </a:p>
          <a:p>
            <a:r>
              <a:t/>
            </a:r>
            <a:endParaRPr sz="1400" b="0"/>
          </a:p>
          <a:p>
            <a:r>
              <a:t>READ ALOUD</a:t>
            </a:r>
            <a:endParaRPr sz="1500" b="1"/>
          </a:p>
          <a:p>
            <a:r>
              <a:t>This section separates three problems that are easy to group together as "bladder dysfunction".</a:t>
            </a:r>
            <a:endParaRPr sz="1400" b="0"/>
          </a:p>
          <a:p>
            <a:r>
              <a:t/>
            </a:r>
            <a:endParaRPr sz="1400" b="0"/>
          </a:p>
          <a:p>
            <a:r>
              <a:t>An overactive bladder causes urgency symptoms. Detrusor overactivity is an involuntary bladder contraction seen during the test.</a:t>
            </a:r>
            <a:endParaRPr sz="1400" b="0"/>
          </a:p>
          <a:p>
            <a:r>
              <a:t/>
            </a:r>
            <a:endParaRPr sz="1400" b="0"/>
          </a:p>
          <a:p>
            <a:r>
              <a:t>A weak contraction raises a different question: can the patient empty reliably?</a:t>
            </a:r>
            <a:endParaRPr sz="1400" b="0"/>
          </a:p>
          <a:p>
            <a:r>
              <a:t/>
            </a:r>
            <a:endParaRPr sz="1400" b="0"/>
          </a:p>
          <a:p>
            <a:r>
              <a:t>Poor compliance means the pressure rises as the bladder fills. That is a storage-safety problem, even if the patient becomes drier.</a:t>
            </a:r>
            <a:endParaRPr sz="1400" b="0"/>
          </a:p>
          <a:p>
            <a:r>
              <a:t/>
            </a:r>
            <a:endParaRPr sz="1400" b="0"/>
          </a:p>
          <a:p>
            <a:r>
              <a:t>Each problem changes the decision in a different way.</a:t>
            </a:r>
            <a:endParaRPr sz="1400" b="0"/>
          </a:p>
          <a:p>
            <a:r>
              <a:t/>
            </a:r>
            <a:endParaRPr sz="1400" b="0"/>
          </a:p>
          <a:p>
            <a:r>
              <a:t>NEXT</a:t>
            </a:r>
            <a:endParaRPr sz="1500" b="1"/>
          </a:p>
          <a:p>
            <a:r>
              <a:t>Our first fictional patient has both a stress leak and urgency.</a:t>
            </a:r>
            <a:endParaRPr sz="1400" b="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13: Case 1: six pads and urgency</a:t>
            </a:r>
            <a:endParaRPr sz="1500" b="1"/>
          </a:p>
          <a:p>
            <a:r>
              <a:t/>
            </a:r>
            <a:endParaRPr sz="1400" b="0"/>
          </a:p>
          <a:p>
            <a:r>
              <a:t>SHORT VERSION</a:t>
            </a:r>
            <a:endParaRPr sz="1500" b="1"/>
          </a:p>
          <a:p>
            <a:r>
              <a:t>Detrusor overactivity alone does not automatically exclude an AUS, but urgency and device-specific instructions need a separate plan.</a:t>
            </a:r>
            <a:endParaRPr sz="1400" b="0"/>
          </a:p>
          <a:p>
            <a:r>
              <a:t/>
            </a:r>
            <a:endParaRPr sz="1400" b="0"/>
          </a:p>
          <a:p>
            <a:r>
              <a:t>READ ALOUD</a:t>
            </a:r>
            <a:endParaRPr sz="1500" b="1"/>
          </a:p>
          <a:p>
            <a:r>
              <a:t>This fictional patient uses six pads on an active day. We can demonstrate a stress leak. He also has urgency leakage and involuntary bladder contractions on the study, but his filling pressures and emptying are reassuring.</a:t>
            </a:r>
            <a:endParaRPr sz="1400" b="0"/>
          </a:p>
          <a:p>
            <a:r>
              <a:t/>
            </a:r>
            <a:endParaRPr sz="1400" b="0"/>
          </a:p>
          <a:p>
            <a:r>
              <a:t>The question for the room is: would you implant now, or treat the bladder first?</a:t>
            </a:r>
            <a:endParaRPr sz="1400" b="0"/>
          </a:p>
          <a:p>
            <a:r>
              <a:t/>
            </a:r>
            <a:endParaRPr sz="1400" b="0"/>
          </a:p>
          <a:p>
            <a:r>
              <a:t>[Pause for an answer.]</a:t>
            </a:r>
            <a:endParaRPr sz="1400" b="0"/>
          </a:p>
          <a:p>
            <a:r>
              <a:t/>
            </a:r>
            <a:endParaRPr sz="1400" b="0"/>
          </a:p>
          <a:p>
            <a:r>
              <a:t>Detrusor overactivity alone is not an automatic reason to refuse general AUS surgery. But treating the stress leak does not guarantee that the urgency will settle.</a:t>
            </a:r>
            <a:endParaRPr sz="1400" b="0"/>
          </a:p>
          <a:p>
            <a:r>
              <a:t/>
            </a:r>
            <a:endParaRPr sz="1400" b="0"/>
          </a:p>
          <a:p>
            <a:r>
              <a:t>Our approach is to address the storage symptoms, agree a separate urgency goal and reassess.</a:t>
            </a:r>
            <a:endParaRPr sz="1400" b="0"/>
          </a:p>
          <a:p>
            <a:r>
              <a:t/>
            </a:r>
            <a:endParaRPr sz="1400" b="0"/>
          </a:p>
          <a:p>
            <a:r>
              <a:t>For ContiClassic, the instructions specifically require the relevant bladder condition to be treated and controlled or resolved before implantation. General AUS evidence does not override the instructions for the particular device.</a:t>
            </a:r>
            <a:endParaRPr sz="1400" b="0"/>
          </a:p>
          <a:p>
            <a:r>
              <a:t/>
            </a:r>
            <a:endParaRPr sz="1400" b="0"/>
          </a:p>
          <a:p>
            <a:r>
              <a:t>NEXT</a:t>
            </a:r>
            <a:endParaRPr sz="1500" b="1"/>
          </a:p>
          <a:p>
            <a:r>
              <a:t>How can we treat urgency without creating a new emptying problem?</a:t>
            </a:r>
            <a:endParaRPr sz="1400" b="0"/>
          </a:p>
          <a:p>
            <a:r>
              <a:t/>
            </a:r>
            <a:endParaRPr sz="1400" b="0"/>
          </a:p>
          <a:p>
            <a:r>
              <a:t>TERMS IF NEEDED</a:t>
            </a:r>
            <a:endParaRPr sz="1500" b="1"/>
          </a:p>
          <a:p>
            <a:r>
              <a:t>Detrusor means the bladder muscle. Overactive bladder describes symptoms; detrusor overactivity describes what happens on the pressure trace.</a:t>
            </a:r>
            <a:endParaRPr sz="1400" b="0"/>
          </a:p>
          <a:p>
            <a:r>
              <a:rPr lang="en-GB" sz="1400" b="0">
                <a:latin typeface="Plus Jakarta Sans"/>
              </a:rPr>
              <a:t>REFERENCE LINKS (not spoken)
https://www.rigicon.com/files/e-labeling/ContiClassic-IFU.pdf</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14: Urgency treatment and emptying</a:t>
            </a:r>
            <a:endParaRPr sz="1500" b="1"/>
          </a:p>
          <a:p>
            <a:r>
              <a:t/>
            </a:r>
            <a:endParaRPr sz="1400" b="0"/>
          </a:p>
          <a:p>
            <a:r>
              <a:t>SHORT VERSION</a:t>
            </a:r>
            <a:endParaRPr sz="1500" b="1"/>
          </a:p>
          <a:p>
            <a:r>
              <a:t>Treat urgency in steps, while checking cognition, residual urine and any future need for catheterisation or repeat access.</a:t>
            </a:r>
            <a:endParaRPr sz="1400" b="0"/>
          </a:p>
          <a:p>
            <a:r>
              <a:t/>
            </a:r>
            <a:endParaRPr sz="1400" b="0"/>
          </a:p>
          <a:p>
            <a:r>
              <a:t>READ ALOUD</a:t>
            </a:r>
            <a:endParaRPr sz="1500" b="1"/>
          </a:p>
          <a:p>
            <a:r>
              <a:t>Start with reversible contributors such as fluid habits, caffeine, constipation, infection and medication. Bladder training and medication may then help.</a:t>
            </a:r>
            <a:endParaRPr sz="1400" b="0"/>
          </a:p>
          <a:p>
            <a:r>
              <a:t/>
            </a:r>
            <a:endParaRPr sz="1400" b="0"/>
          </a:p>
          <a:p>
            <a:r>
              <a:t>When choosing a drug, consider cognition and how well he empties. Improving urgency while causing troublesome retention is not a good trade.</a:t>
            </a:r>
            <a:endParaRPr sz="1400" b="0"/>
          </a:p>
          <a:p>
            <a:r>
              <a:t/>
            </a:r>
            <a:endParaRPr sz="1400" b="0"/>
          </a:p>
          <a:p>
            <a:r>
              <a:t>If botulinum toxin is being considered, discuss the possibility of retention before treatment. Could he catheterise if needed, and what would repeated bladder access mean once a cuff is present?</a:t>
            </a:r>
            <a:endParaRPr sz="1400" b="0"/>
          </a:p>
          <a:p>
            <a:r>
              <a:t/>
            </a:r>
            <a:endParaRPr sz="1400" b="0"/>
          </a:p>
          <a:p>
            <a:r>
              <a:t>Urgency can remain after a technically successful AUS. That is why it needs its own treatment goal and its own place in consent.</a:t>
            </a:r>
            <a:endParaRPr sz="1400" b="0"/>
          </a:p>
          <a:p>
            <a:r>
              <a:t/>
            </a:r>
            <a:endParaRPr sz="1400" b="0"/>
          </a:p>
          <a:p>
            <a:r>
              <a:t>New or severe urgency after surgery also needs assessment for causes such as infection, retained urine or a device problem, rather than simply adding another drug.</a:t>
            </a:r>
            <a:endParaRPr sz="1400" b="0"/>
          </a:p>
          <a:p>
            <a:r>
              <a:t/>
            </a:r>
            <a:endParaRPr sz="1400" b="0"/>
          </a:p>
          <a:p>
            <a:r>
              <a:t>NEXT</a:t>
            </a:r>
            <a:endParaRPr sz="1500" b="1"/>
          </a:p>
          <a:p>
            <a:r>
              <a:t>The next patient has the opposite concern: poor emptying before we add a cuff.</a:t>
            </a:r>
            <a:endParaRPr sz="1400" b="0"/>
          </a:p>
          <a:p>
            <a:r>
              <a:t/>
            </a:r>
            <a:endParaRPr sz="1400" b="0"/>
          </a:p>
          <a:p>
            <a:r>
              <a:t>TERMS IF NEEDED</a:t>
            </a:r>
            <a:endParaRPr sz="1500" b="1"/>
          </a:p>
          <a:p>
            <a:r>
              <a:t>Residual urine is the urine left behind after voiding. Botulinum toxin treatment can reduce bladder overactivity but may make emptying more difficult.</a:t>
            </a:r>
            <a:endParaRPr sz="1400" b="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15: Case 2: weak contraction and residual urine</a:t>
            </a:r>
            <a:endParaRPr sz="1500" b="1"/>
          </a:p>
          <a:p>
            <a:r>
              <a:t/>
            </a:r>
            <a:endParaRPr sz="1400" b="0"/>
          </a:p>
          <a:p>
            <a:r>
              <a:t>SHORT VERSION</a:t>
            </a:r>
            <a:endParaRPr sz="1500" b="1"/>
          </a:p>
          <a:p>
            <a:r>
              <a:t>A weak contraction is a reason to investigate emptying, rather than an automatic yes or no. A reliable drainage plan is essential.</a:t>
            </a:r>
            <a:endParaRPr sz="1400" b="0"/>
          </a:p>
          <a:p>
            <a:r>
              <a:t/>
            </a:r>
            <a:endParaRPr sz="1400" b="0"/>
          </a:p>
          <a:p>
            <a:r>
              <a:t>READ ALOUD</a:t>
            </a:r>
            <a:endParaRPr sz="1500" b="1"/>
          </a:p>
          <a:p>
            <a:r>
              <a:t>This fictional patient has stress leakage, but he also voids slowly, strains and repeatedly leaves urine behind. The laboratory study shows a weak bladder contraction.</a:t>
            </a:r>
            <a:endParaRPr sz="1400" b="0"/>
          </a:p>
          <a:p>
            <a:r>
              <a:t/>
            </a:r>
            <a:endParaRPr sz="1400" b="0"/>
          </a:p>
          <a:p>
            <a:r>
              <a:t>Would that finding alone make you refuse an AUS?</a:t>
            </a:r>
            <a:endParaRPr sz="1400" b="0"/>
          </a:p>
          <a:p>
            <a:r>
              <a:t/>
            </a:r>
            <a:endParaRPr sz="1400" b="0"/>
          </a:p>
          <a:p>
            <a:r>
              <a:t>[Pause for an answer.]</a:t>
            </a:r>
            <a:endParaRPr sz="1400" b="0"/>
          </a:p>
          <a:p>
            <a:r>
              <a:t/>
            </a:r>
            <a:endParaRPr sz="1400" b="0"/>
          </a:p>
          <a:p>
            <a:r>
              <a:t>First check whether there is a narrowing or another explanation for poor emptying. Review medication and relevant neurological history, and compare the laboratory void with his usual voiding.</a:t>
            </a:r>
            <a:endParaRPr sz="1400" b="0"/>
          </a:p>
          <a:p>
            <a:r>
              <a:t/>
            </a:r>
            <a:endParaRPr sz="1400" b="0"/>
          </a:p>
          <a:p>
            <a:r>
              <a:t>The available weak-bladder studies involve selected patients. They do not establish safety for someone with unresolved severe retention.</a:t>
            </a:r>
            <a:endParaRPr sz="1400" b="0"/>
          </a:p>
          <a:p>
            <a:r>
              <a:t/>
            </a:r>
            <a:endParaRPr sz="1400" b="0"/>
          </a:p>
          <a:p>
            <a:r>
              <a:t>An AUS cuff is intended to open for voiding when the device is operated correctly. That helps explain why weak contraction is not automatically the same problem as adding fixed outlet resistance. It still does not guarantee that this man will empty.</a:t>
            </a:r>
            <a:endParaRPr sz="1400" b="0"/>
          </a:p>
          <a:p>
            <a:r>
              <a:t/>
            </a:r>
            <a:endParaRPr sz="1400" b="0"/>
          </a:p>
          <a:p>
            <a:r>
              <a:t>Our answer is to investigate and establish a reliable emptying plan. If he cannot empty or manage the backup drainage plan, we need to reconsider implantation.</a:t>
            </a:r>
            <a:endParaRPr sz="1400" b="0"/>
          </a:p>
          <a:p>
            <a:r>
              <a:t/>
            </a:r>
            <a:endParaRPr sz="1400" b="0"/>
          </a:p>
          <a:p>
            <a:r>
              <a:t>NEXT</a:t>
            </a:r>
            <a:endParaRPr sz="1500" b="1"/>
          </a:p>
          <a:p>
            <a:r>
              <a:t>If that backup plan involves a catheter, the next slide explains why a cuff changes the precautions.</a:t>
            </a:r>
            <a:endParaRPr sz="1400" b="0"/>
          </a:p>
          <a:p>
            <a:r>
              <a:t/>
            </a:r>
            <a:endParaRPr sz="1400" b="0"/>
          </a:p>
          <a:p>
            <a:r>
              <a:t>TERMS IF NEEDED</a:t>
            </a:r>
            <a:endParaRPr sz="1500" b="1"/>
          </a:p>
          <a:p>
            <a:r>
              <a:t>Detrusor underactivity: a bladder contraction that is too weak or too short to empty effectively. A residual is the urine left after voiding.</a:t>
            </a:r>
            <a:endParaRPr sz="1400" b="0"/>
          </a:p>
          <a:p>
            <a:r>
              <a:rPr lang="en-GB" sz="1400" b="0">
                <a:latin typeface="Plus Jakarta Sans"/>
              </a:rPr>
              <a:t>REFERENCE LINKS (not spoken)
https://uroweb.org/guidelines/management-of-non-neurogenic-male-luts/chapter/disease-management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16: Catheterisation with a cuff in place</a:t>
            </a:r>
            <a:endParaRPr sz="1500" b="1"/>
          </a:p>
          <a:p>
            <a:r>
              <a:t/>
            </a:r>
            <a:endParaRPr sz="1400" b="0"/>
          </a:p>
          <a:p>
            <a:r>
              <a:t>SHORT VERSION</a:t>
            </a:r>
            <a:endParaRPr sz="1500" b="1"/>
          </a:p>
          <a:p>
            <a:r>
              <a:t>Before a catheter crosses an AUS cuff, deflate the cuff and deactivate the device. The catheter must fit the urethra, not an empty cuff diagram.</a:t>
            </a:r>
            <a:endParaRPr sz="1400" b="0"/>
          </a:p>
          <a:p>
            <a:r>
              <a:t/>
            </a:r>
            <a:endParaRPr sz="1400" b="0"/>
          </a:p>
          <a:p>
            <a:r>
              <a:t>READ ALOUD</a:t>
            </a:r>
            <a:endParaRPr sz="1500" b="1"/>
          </a:p>
          <a:p>
            <a:r>
              <a:t>Self-catheterisation does not automatically rule out an AUS, but it changes the planning and counselling.</a:t>
            </a:r>
            <a:endParaRPr sz="1400" b="0"/>
          </a:p>
          <a:p>
            <a:r>
              <a:t/>
            </a:r>
            <a:endParaRPr sz="1400" b="0"/>
          </a:p>
          <a:p>
            <a:r>
              <a:t>First ask why he needs the catheter. Is the bladder weak, is a narrowing recurring, or is there an outlet problem to address first?</a:t>
            </a:r>
            <a:endParaRPr sz="1400" b="0"/>
          </a:p>
          <a:p>
            <a:r>
              <a:t/>
            </a:r>
            <a:endParaRPr sz="1400" b="0"/>
          </a:p>
          <a:p>
            <a:r>
              <a:t>Before a catheter or instrument passes through the cuff, the cuff must be fully deflated and the device deactivated, following that device's instructions. Do not force an instrument against unexplained resistance.</a:t>
            </a:r>
            <a:endParaRPr sz="1400" b="0"/>
          </a:p>
          <a:p>
            <a:r>
              <a:t/>
            </a:r>
            <a:endParaRPr sz="1400" b="0"/>
          </a:p>
          <a:p>
            <a:r>
              <a:t>The picture explains a common misunderstanding. On the left, the cuff is empty and deflated. On the right, the urethral wall occupies space inside it, leaving a much smaller channel for the catheter.</a:t>
            </a:r>
            <a:endParaRPr sz="1400" b="0"/>
          </a:p>
          <a:p>
            <a:r>
              <a:t/>
            </a:r>
            <a:endParaRPr sz="1400" b="0"/>
          </a:p>
          <a:p>
            <a:r>
              <a:t>So an empty cuff measurement is not a universal safe catheter size. We need to consider the patient's urethra and obtain specialist advice for difficult, repeated or prolonged drainage.</a:t>
            </a:r>
            <a:endParaRPr sz="1400" b="0"/>
          </a:p>
          <a:p>
            <a:r>
              <a:t/>
            </a:r>
            <a:endParaRPr sz="1400" b="0"/>
          </a:p>
          <a:p>
            <a:r>
              <a:t>NEXT</a:t>
            </a:r>
            <a:endParaRPr sz="1500" b="1"/>
          </a:p>
          <a:p>
            <a:r>
              <a:t>Our final bladder distinction is safety during filling. Becoming dry does not necessarily mean the bladder is safe.</a:t>
            </a:r>
            <a:endParaRPr sz="1400" b="0"/>
          </a:p>
          <a:p>
            <a:r>
              <a:t/>
            </a:r>
            <a:endParaRPr sz="1400" b="0"/>
          </a:p>
          <a:p>
            <a:r>
              <a:t>TERMS IF NEEDED</a:t>
            </a:r>
            <a:endParaRPr sz="1500" b="1"/>
          </a:p>
          <a:p>
            <a:r>
              <a:t>Deactivation keeps the cuff open until the device is reactivated. It is different from briefly opening it for an ordinary void.</a:t>
            </a:r>
            <a:endParaRPr sz="1400" b="0"/>
          </a:p>
          <a:p>
            <a:r>
              <a:t/>
            </a:r>
            <a:endParaRPr sz="1400" b="0"/>
          </a:p>
          <a:p>
            <a:r>
              <a:t>FIGURE CREDIT</a:t>
            </a:r>
            <a:endParaRPr sz="1500" b="1"/>
          </a:p>
          <a:p>
            <a:r>
              <a:t>Figure: original two-panel schematic drawn for this slide on 20 October 2026 (presentation/assets/cuff-bore-schematic.png, drawn by design/cuff_bore_figure.py; provenance in assets/SOURCES.md). Diagrammatic cross-sections, not to scale; no device dimensions or catheter sizes are shown.</a:t>
            </a:r>
            <a:endParaRPr sz="1400" b="0"/>
          </a:p>
          <a:p>
            <a:r>
              <a:rPr lang="en-GB" sz="1400" b="0">
                <a:latin typeface="Plus Jakarta Sans"/>
              </a:rPr>
              <a:t>REFERENCE LINKS (not spoken)
https://www.rigicon.com/files/e-labeling/ContiClassic-IFU.pdf</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17: Detrusor overactivity and poor compliance</a:t>
            </a:r>
            <a:endParaRPr sz="1500" b="1"/>
          </a:p>
          <a:p>
            <a:r>
              <a:t/>
            </a:r>
            <a:endParaRPr sz="1400" b="0"/>
          </a:p>
          <a:p>
            <a:r>
              <a:t>SHORT VERSION</a:t>
            </a:r>
            <a:endParaRPr sz="1500" b="1"/>
          </a:p>
          <a:p>
            <a:r>
              <a:t>The left trace shows a brief contraction. The right shows pressure rising throughout filling, which raises a separate safety concern.</a:t>
            </a:r>
            <a:endParaRPr sz="1400" b="0"/>
          </a:p>
          <a:p>
            <a:r>
              <a:t/>
            </a:r>
            <a:endParaRPr sz="1400" b="0"/>
          </a:p>
          <a:p>
            <a:r>
              <a:t>READ ALOUD</a:t>
            </a:r>
            <a:endParaRPr sz="1500" b="1"/>
          </a:p>
          <a:p>
            <a:r>
              <a:t>These are schematic traces, not patient measurements.</a:t>
            </a:r>
            <a:endParaRPr sz="1400" b="0"/>
          </a:p>
          <a:p>
            <a:r>
              <a:t/>
            </a:r>
            <a:endParaRPr sz="1400" b="0"/>
          </a:p>
          <a:p>
            <a:r>
              <a:t>On the left, there is a temporary rise in bladder pressure from an involuntary contraction. That is detrusor overactivity.</a:t>
            </a:r>
            <a:endParaRPr sz="1400" b="0"/>
          </a:p>
          <a:p>
            <a:r>
              <a:t/>
            </a:r>
            <a:endParaRPr sz="1400" b="0"/>
          </a:p>
          <a:p>
            <a:r>
              <a:t>On the right, the pressure keeps rising as filling continues. The bladder is not accommodating the added volume easily. That is poor compliance.</a:t>
            </a:r>
            <a:endParaRPr sz="1400" b="0"/>
          </a:p>
          <a:p>
            <a:r>
              <a:t/>
            </a:r>
            <a:endParaRPr sz="1400" b="0"/>
          </a:p>
          <a:p>
            <a:r>
              <a:t>Before accepting either interpretation, check the quality of the traces and the filling conditions. A printed number does not replace looking at the study.</a:t>
            </a:r>
            <a:endParaRPr sz="1400" b="0"/>
          </a:p>
          <a:p>
            <a:r>
              <a:t/>
            </a:r>
            <a:endParaRPr sz="1400" b="0"/>
          </a:p>
          <a:p>
            <a:r>
              <a:t>If storage pressure is concerning, assess the bladder and consider renal function and the upper urinary tracts as indicated. Treat the storage problem and reassess before increasing outlet resistance.</a:t>
            </a:r>
            <a:endParaRPr sz="1400" b="0"/>
          </a:p>
          <a:p>
            <a:r>
              <a:t/>
            </a:r>
            <a:endParaRPr sz="1400" b="0"/>
          </a:p>
          <a:p>
            <a:r>
              <a:t>The key distinction is that a patient may become drier while unsafe storage pressure remains. Continence and storage safety are separate outcomes.</a:t>
            </a:r>
            <a:endParaRPr sz="1400" b="0"/>
          </a:p>
          <a:p>
            <a:r>
              <a:t/>
            </a:r>
            <a:endParaRPr sz="1400" b="0"/>
          </a:p>
          <a:p>
            <a:r>
              <a:t>NEXT</a:t>
            </a:r>
            <a:endParaRPr sz="1500" b="1"/>
          </a:p>
          <a:p>
            <a:r>
              <a:t>That finishes the bladder section. Next we turn to the urethra and whether the outlet is stable.</a:t>
            </a:r>
            <a:endParaRPr sz="1400" b="0"/>
          </a:p>
          <a:p>
            <a:r>
              <a:t/>
            </a:r>
            <a:endParaRPr sz="1400" b="0"/>
          </a:p>
          <a:p>
            <a:r>
              <a:t>TERMS IF NEEDED</a:t>
            </a:r>
            <a:endParaRPr sz="1500" b="1"/>
          </a:p>
          <a:p>
            <a:r>
              <a:t>Compliance means how readily the bladder stretches during filling. Poor compliance produces a sustained pressure rise, rather than just an isolated contraction.</a:t>
            </a:r>
            <a:endParaRPr sz="1400" b="0"/>
          </a:p>
          <a:p>
            <a:r>
              <a:rPr lang="en-GB" sz="1400" b="0">
                <a:latin typeface="Plus Jakarta Sans"/>
              </a:rPr>
              <a:t>REFERENCE LINKS (not spoken)
https://www.rigicon.com/files/e-labeling/ContiClassic-IFU.pdf</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18: The urethra</a:t>
            </a:r>
            <a:endParaRPr sz="1500" b="1"/>
          </a:p>
          <a:p>
            <a:r>
              <a:t/>
            </a:r>
            <a:endParaRPr sz="1400" b="0"/>
          </a:p>
          <a:p>
            <a:r>
              <a:t>SHORT VERSION</a:t>
            </a:r>
            <a:endParaRPr sz="1500" b="1"/>
          </a:p>
          <a:p>
            <a:r>
              <a:t>Before choosing a cuff site, identify the narrowing, establish that the outlet is stable, and understand the tissue available.</a:t>
            </a:r>
            <a:endParaRPr sz="1400" b="0"/>
          </a:p>
          <a:p>
            <a:r>
              <a:t/>
            </a:r>
            <a:endParaRPr sz="1400" b="0"/>
          </a:p>
          <a:p>
            <a:r>
              <a:t>READ ALOUD</a:t>
            </a:r>
            <a:endParaRPr sz="1500" b="1"/>
          </a:p>
          <a:p>
            <a:r>
              <a:t>We now move from the bladder to the urethra.</a:t>
            </a:r>
            <a:endParaRPr sz="1400" b="0"/>
          </a:p>
          <a:p>
            <a:r>
              <a:t/>
            </a:r>
            <a:endParaRPr sz="1400" b="0"/>
          </a:p>
          <a:p>
            <a:r>
              <a:t>The first task is to identify exactly where any narrowing is and what treatment the patient has already had.</a:t>
            </a:r>
            <a:endParaRPr sz="1400" b="0"/>
          </a:p>
          <a:p>
            <a:r>
              <a:t/>
            </a:r>
            <a:endParaRPr sz="1400" b="0"/>
          </a:p>
          <a:p>
            <a:r>
              <a:t>Then we ask whether the outlet is stable or whether further procedures are likely. Repeated access after implantation may change the risks and the plan.</a:t>
            </a:r>
            <a:endParaRPr sz="1400" b="0"/>
          </a:p>
          <a:p>
            <a:r>
              <a:t/>
            </a:r>
            <a:endParaRPr sz="1400" b="0"/>
          </a:p>
          <a:p>
            <a:r>
              <a:t>Finally, consider the tissue available for the cuff. Previous radiotherapy, erosion or reconstruction can make that decision more difficult.</a:t>
            </a:r>
            <a:endParaRPr sz="1400" b="0"/>
          </a:p>
          <a:p>
            <a:r>
              <a:t/>
            </a:r>
            <a:endParaRPr sz="1400" b="0"/>
          </a:p>
          <a:p>
            <a:r>
              <a:t>The next slides look at reassessment after narrowing, a recurrent narrowing after radiotherapy, previous reconstruction and the role of a transcorporal approach.</a:t>
            </a:r>
            <a:endParaRPr sz="1400" b="0"/>
          </a:p>
          <a:p>
            <a:r>
              <a:t/>
            </a:r>
            <a:endParaRPr sz="1400" b="0"/>
          </a:p>
          <a:p>
            <a:r>
              <a:t>NEXT</a:t>
            </a:r>
            <a:endParaRPr sz="1500" b="1"/>
          </a:p>
          <a:p>
            <a:r>
              <a:t>We will start with the different reassessment intervals and the clinical situations they refer to.</a:t>
            </a:r>
            <a:endParaRPr sz="1400" b="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 36 · Reassessment and urethral stability
• BAUS: at least six months with no recurrence after treating a narrowing after prostatectomy. Consensus, not a trial.
• AUA: a check scope at least four to six weeks after treating a bladder-neck or anastomotic narrowing, as a point to reassess, not a clearance.
• EAU: three to six months after a redo anastomosis, and only for that situation.
• Treat first and implant later lets us watch for recurrence and spares a new cuff from instruments. Doing both at once is for selected expert hands.
• A man who re-narrows every few weeks is not low risk because the calendar reached a date.
• Next: our third patient brings all of this together, with radiotherapy added.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 36 · Case 3: radiation and recurrent VUAS
• Prostatectomy, salvage radiotherapy, repeated treatment of a narrowing at the anastomosis. Open, he leaks; then it closes again. He wants to be dry now.
• Would you put an AUS into that? [Pause six seconds.]
• Our answer: hold off and get a reconstructive plan. The urethra does not stay open on its own; check compliance and radiation cystitis too.
• Radiotherapy roughly doubles the odds of erosion in pooled studies. That is counselling, not his personal number. The 2025 timing study sets no waiting rule.
• Reconstruction, proven stability, then an AUS may be reasonable. In a ruined outlet with an unsafe bladder, diversion can be the better life.
• Next: suppose he gets his reconstruction. What does a repaired urethra mean for the later operation?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36 · AUS after urethral reconstruction
• A previous urethroplasty is several different operations: cut across or not, graft, posterior repair, old erosion, fistula. Where is the healthy spongy tissue now?
• Keep what is left, do not free the urethra through a repair, and stage the operation if there is no safe plane.
• Davis: device removal in 56 per cent after a repair that cut the urethra across, versus 24 per cent after one that did not. The 2026 meta-analysis points the same way.
• Observational and muddied by the worst cases; it supports a detailed history and careful counselling, not blame.
• Plan the reconstruction and the continence surgery together. Next: when the plane behind the urethra is hostile, one option goes through the corpora. It has a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 36 · Transcorporal placement: role and costs
• Transcorporal placement passes the cuff through the erectile bodies behind the urethra, avoiding a dangerous plane and putting tough tissue under the cuff. Sensible, but not proven protection.
• The data point both ways: Redmond favoured it on the numbers; Kurtzman found more erosions and infections; the 2025 review pooled less erosion but more revision.
• Surgeons choose it for the worst urethras, so the comparison is muddied in both directions.
• Discuss bleeding, erections and any future penile implant. Size the cuff by the device method, with no home-made correction.
• If the plan is just to squeeze a failing urethra harder, look again at the diagnosis and the aim.
• Next: now a different kind of decision, the things we do before the skin is opened.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slide. Read the title, say the one-line question, move on.
Before we argue about how long anything takes, we say which activity, which product, and what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 36 · The fifteen-minute wash question
• Is a fifteen-minute wash needed before an AUS? We found no evidence for a rule like that.
• First say which activity: the patient's wash, the skin preparation, the team's hands, the washout, the device dip. Each has its own instruction.
• BAUS recommends a five-minute field scrub, by consensus, borrowed openly from other implant surgery. Not fifteen minutes.
• Fifteen minutes does not make up for missed skin, the wrong product, pooled alcohol or a contaminated field. Correct and repeatable beats long.
• Next: what the studies can actually support is narrower than the folklore, and here is the best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 36 · Skin culture reduction and clinical infection
• Yeung: 100 men having their first genitourinary implant; positive skin cultures 8 per cent with chlorhexidine-alcohol, 32 with povidone-iodine.
• A laboratory measure, in a mix of devices. It did not show fewer AUS infections, and it tested no duration.
• The later povidone comparison showed no advantage for the intensive protocol, and never compared fifteen minutes with shorter.
• Use an alcohol-based preparation where the product allows; check allergy, permitted sites and full drying before diathermy.
• Do not remove hair routinely; clip on the day if you must. Next: skin is one disagreement. Urine and antibiotics are another.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 36 · Urine and antibiotic disagreements
• Treat a symptomatic infection and reassess. Bacteria without symptoms is a different question.
• BAUS asks for a urine sample and treatment. IDSA advises against screening or treating symptomless bacteriuria for an AUS alone, on very weak evidence.
• Agree the pathway with microbiology; choose prophylaxis by policy, isolates, allergy and kidneys; give it before the incision and repeat if needed.
• Adamsky: removal 3.9 versus 4.0 per cent with and without antibiotics after surgery. The ContiClassic label describes a longer course.
• We check the current label and write a local protocol. Next: once the patient is prepared, the remaining risk is our hands and the implant.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 36 · Contamination control during implantation
• Get ready before opening the implant, protect a handling area, touch skin as little as possible, cut traffic and hand-offs.
• Fresh gloves before the device and after any worry: common sense, not proof. The minimal-touch series compare different eras.
• Keep wound washout, device dipping and device filling separate. NICE does not support washout just to prevent infection.
• The gentamicin cohort: one infection in 59 with, two in 114 without. Three events prove nothing either way.
• For ContiClassic, follow the verified instructions and get the operative protocol; no remembered AMS 800 recipe, no improvised bath.
• Next: all of this collapses into one checklist the whole team runs before the implant is opened.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 36 · The pre-implant theatre checklist
• Before opening: patient, operation, tissue worries, stop conditions; infection review, prophylaxis given, repeat-dose plan; skin preparation suitable and dry.
• Then the exact device and components, cuff sizes, planned pressure, current instructions, who prepares it, and the drainage plan.
• Decide now what happens if the urethra is injured or sterility is lost. A checklist makes that response automatic.
• The last row matters: a fixed fifteen minutes, the best washout and long antibiotic courses sit there as unresolved, not required.
• Next: into theatre. The next eight slides follow the operation in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slide. Read the title, say the one-line question, move on.
Keep the tissue, measure what the cuff will really enclose, follow the real device protocol, check before closing.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 / 36 · Positioning and exposure
• Expose the bulbar urethra while protecting pressure points and respecting stiff hips; check before he is asleep if movement is limited.
• A single cuff through a perineal incision has guideline support for the standard first implant.
• Plan balloon and pump sites now: pelvic surgery, mesh, scars and an existing penile implant change the plan. Have the notes.
• If exposure is poor, improve the incision, the retraction or the position. Pulling harder transfers the force to the urethra.
• Next: with the urethra exposed, which tissue will the cuff sit on, and how much of it do we disturb?
Animation and image: UroOps 3D, https://uroops3d.com/lab/aus . Captured 10 October 2026. © UroOps3D / UroRef / Nity G. Teaching schematic with clinical review pending. It illustrates spatial relationships, not validated anatomy, tissue perfusion or operative instructions. The clip starts and loops by itself in slide-show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 36 · Bulbar dissection and tissue preservation
• The aim is a cuff round a healthy segment, not a stripped urethra. The upper bulbar urethra usually has good spongy support.
• The plane behind the urethra, against the erectile bodies, is where a slip becomes a hole. Dissect under direct vision; never pass an instrument blind.
• Keep the spongy tissue and its blood supply, free only what the cuff needs, control bleeding without burning everything.
• If the plane disappears, stop: improve the view, change the site, or get reconstructive help. Transcorporal is a planned move, not a rescue.
• Next: once the segment is chosen, we measure it, and measurement is where the most avoidable errors live.
Animation and image: UroOps 3D, https://uroops3d.com/lab/aus . Captured 10 October 2026. © UroOps3D / UroRef / Nity G. Teaching schematic with clinical review pending. It illustrates spatial relationships, not validated anatomy, tissue perfusion or operative instructions. The clip starts and loops by itself in slide-show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 / 36 · Cuff measurement and fit
• Measurement goes wrong when you measure the wrong tissue: traction stretches, a tight tape squashes, fat and scar make it read bigger.
• Let go of the traction, confirm the plane, use the manufacturer's method, and measure again if the reading looks odd.
• Take the catheter out for a moment while you size the cuff, and put it back once the size is chosen.
• Too small: retention and damage. Too large: leakage. Neither is fixed by a higher-pressure balloon.
• Four of the eight revisions in the first ContiClassic series were sizing errors. That is why we re-measure, not which method is best.
• Next: sometimes the dissection or the measurement shows something that changes what today's operation is for.
Animation and image: UroOps 3D, https://uroops3d.com/lab/aus . Captured 10 October 2026. © UroOps3D / UroRef / Nity G. Teaching schematic with clinical review pending. It illustrates spatial relationships, not validated anatomy, tissue perfusion or operative instructions. The clip starts and loops by itself in slide-show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 / 36 · Urethral injury or contamination
• Suspect an injury when the plane is wrong, the wall looks breached, fluid leaks or the instruments were difficult. Test and scope; a negative test does not make rough dissection safe.
• A known injury changes the aim: stop the implant, define it, repair, drain, explain, and check healing before any new implant.
• Contamination: stop handling, find what was contaminated, replace single-use items, restore a clean setup, or come back another day.
• These are single-use implants. A dropped cuff does not go back in after a home-made soak. Finishing without an implant can be the right outcome.
• Next: if the cuff is safely in, two separate balloon decisions remain: where it goes, and which pressure.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 / 36 · Balloon pocket and pressure selection
• The usual pocket behind the pubic bone becomes dangerous after pelvic surgery, radiotherapy, mesh or a previous implant. Never push through resistance.
• A pocket under the abdominal muscle can be right in experienced hands, with its own problems: bad position, felt through the skin, hernia.
• Pressure is a separate decision. ContiClassic lists sixty to sixty-nine; AMS 800 consensus usually sixty-one to seventy. Not interchangeable.
• The public instructions confirm saline filling but send the detail to a separate operating-room protocol; confirm volumes and selection before surgery.
• A higher pressure never covers a poor cuff fit. Next: the third component is the one the patient touches every day.
Animation and image: UroOps 3D, https://uroops3d.com/lab/aus . Captured 10 October 2026. © UroOps3D / UroRef / Nity G. Teaching schematic with clinical review pending. It illustrates spatial relationships, not validated anatomy, tissue perfusion or operative instructions. The clip starts and loops by itself in slide-show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 / 36 · Pump position and patient access
• Where the pump sits is part of the result. He has already shown us where he can reach and which hand he uses.
• Low and easy to reach, but the pocket must fit: too much dissection lets it migrate; too little causes pain and pressure.
• Keep it clearly separate from the testis and away from thin skin. Check how it sits standing and whether the tubing pulls it up.
• Easy on a table says nothing about a swollen scrotum. Check again at activation, with him doing it.
• Next: then we finish the system, and we hand over the risk with it.
Animation and image: UroOps 3D, https://uroops3d.com/lab/aus . Captured 10 October 2026. © UroOps3D / UroRef / Nity G. Teaching schematic with clinical review pending. It illustrates spatial relationships, not validated anatomy, tissue perfusion or operative instructions. The clip starts and loops by itself in slide-show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 36 · System checks and handover
• Follow every tube: no tension, loops, kinks or trapping. Keep needles away from the components.
• Prepare and connect by the device's own protocol, cycle it, then confirm the cuff is open and the device is off. Pressing a button is not enough.
• A small catheter, placed gently, out early after a straightforward implant. No improvised "standard" size.
• Record model, cuff site and size, balloon type and position, device off, catheter plan and whom to call. The next clinician must know before any drainage.
• The 2026 survey is why we labour this: the gap in confidence about switching off is real. Next: we hand over the patient and plan aftercare.
Animation and image: UroOps 3D, https://uroops3d.com/lab/aus . Captured 10 October 2026. © UroOps3D / UroRef / Nity G. Teaching schematic with clinical review pending. It illustrates spatial relationships, not validated anatomy, tissue perfusion or operative instructions. The clip starts and loops by itself in slide-show mode.</a:t>
            </a:r>
            <a:endParaRPr lang="en-US" dirty="0"/>
          </a:p>
          <a:p>
            <a:r>
              <a:rPr lang="en-GB" sz="1400">
                <a:latin typeface="Plus Jakarta Sans"/>
              </a:rPr>
              <a:t>Final configuration: point out the pump within the scrotal pouch, where the patient can reach it. The recording retains the checks and the final resting view.</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slide. Read the title, say the one-line question, move on.
Hand over the risk, work out why a late leak has come back before revising, and say where the evidence stops.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 / 36 · Aftercare, activation and urgent review
• Our pathway: three doses of co-amoxiclav around the operation, catheter out the next day, then check he voids. If he cannot: assess, drain safely, no repeated blind attempts.
• Day-case works for selected men: the BAUS audit sent 88 per cent home the same day, and the meta-analysis found no significant excess of retention. Selected, not everyone.
• Pain, redness, discharge, fever or trouble voiding come back to a specialist. Infection or erosion usually means the device comes out, not antibiotics.
• Back at six weeks to switch the device on; he works it himself and we check he empties. Seen again six weeks later, then at three and six months; after a year he contacts us if he needs to.
• Device card and clear instructions: warn any clinician before a catheter or a scope. Next: our last patient did everything right for three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 / 36 · Case 4: leakage after three good years
• Three good years, now leaking again. Would you book a smaller cuff? [Pause five seconds.]
• Separate a leak that never went away from a true return. Activity, urgency, overflow or trouble cycling? Watch his technique; check the device state.
• Urine and residual, examine the components, scope with the device off for erosion, then fluid loss, mechanics and the bladder.
• Bergeson: atrophy in eight per cent of revisions, the balloon in a third; the 2026 lab study shows balloons stiffen and thin with age. A mechanism, not a rule to replace them.
• Options run from retraining and bladder treatment to replacing a component or the whole system. Second implants: 68 per cent free of reintervention at five years.
• Next: so where does all this leave us? What is established, and what honestly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 / 36 · Established benefit and unresolved questions
• An AUS gives real benefit, and revision and erosion are part of what he signs up for.
• Keeping tissue, controlling contamination and planning for future instruments all make sense; the individual details often have no comparative evidence.
• We cannot name one best salvage for a fragile urethra, one best washout fluid, or a proven preparation time.
• New devices, including the first electronic sphincters, need outcome data in comparable patients before engineering becomes a clinical claim.
• Make that uncertainty visible in consent and planning. Next: the hour in ten decisions. Five belong before theatre.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 / 36 · Five decisions before implantation
• One: a shown stress leak and an improvement that matters to him.
• Two: watch him use a pump, and think about reach in years, not months.
• Three: investigations that answer specific questions, admitting the guidelines differ.
• Four: keep an overactive bladder, a weak bladder and poor compliance separate. Five: a stable outlet and a plan for future instruments.
• Applied to the cases: treat case one first, investigate case two, stage case three. Next: five decisions protect the result once the implant is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 36 · Five decisions protecting the result
• Six: preparation right for the product, the anatomy and the pathway. A fifteen-minute ritual is not a substitute.
• Seven: keep the tissue you need and measure what the cuff will actually enclose.
• Eight: the instructions for the device you are implanting, and clear conditions for stopping.
• Nine: confirm the cuff state, the drainage and that he can use the device; spell out the precautions for future catheters and scopes.
• Ten: when the leak comes back, diagnose it before choosing a smaller cuff or a higher pressure. Next: that is our ten. The last five minutes are yours.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36 / 36 · Discussion
• We would like these minutes on decisions, not preferences. Pick a case, say what you would do, and name the finding that would change your plan.
• Take one view on the bladder or on urethral stability, then one contrasting view. Ask: guideline requirement, device instruction, or your reading of the evidence?
• Then one question on operative practice, preparation or failure. Keep contributions short enough to allow disagreement.
• A show of hands is opinion, not evidence. Beyond the evidence we have, say exactly what is uncertain.
• Close: the useful differences are now clear, what the evidence supports, what the device requires, and where judgement stays decisive.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closing message is simple: select carefully, protect the urethra, and diagnose the cause before revising.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400"/>
              <a:t>Reference sources 1 of 3. Use this slide to identify the guideline, consensus or device-instruction citation requested by the audience. Keep the source types separate: a manufacturer instruction defines permitted use and precautions; it is not comparative outcome evidence. The entries are linked on the slide.</a:t>
            </a:r>
            <a:endParaRPr lang="en-GB"/>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400"/>
              <a:t>Reference sources 2 of 3. Use the linked entries for questions about bladder function, catheterisation, radiation, urethral reconstruction, preparation and established outcomes. When citing a study, name its population, endpoint and limitation rather than reading the citation list aloud. The 2026 conference entries remain conference material where full results are unavailable.</a:t>
            </a:r>
            <a:endParaRPr lang="en-GB"/>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400"/>
              <a:t>Reference sources 3 of 3. These entries include recent studies, reviews and conference material. Keep the evidence limits from the teaching slides when answering questions. Early electronic-device results do not establish long-term comparative benefit, and conference abstracts do not replace current guidance or the actual device instructions.</a:t>
            </a:r>
            <a:endParaRPr lang="en-GB"/>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400"/>
              <a:t>Backup: outcome evidence. Use if asked to unpack the outcome numbers. Zero-pad use, pad-weight reduction, device survival and freedom from further surgery are different endpoints. The studies describe different devices and populations, so these rows do not form a direct comparison. Point out missing outcomes, follow-up duration, manufacturer funding and the limits of the early ContiClassic series.</a:t>
            </a:r>
            <a:endParaRPr lang="en-GB"/>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400"/>
              <a:t>Backup: comparative and preparation evidence. MASTER follows the same 380 randomised men; explain the non-inferiority result alongside further surgery and the selected trial population. Yeung measures immediate skin cultures after preparation, not AUS infection or preparation duration. The gentamicin-withdrawal cohort has only three infections, so it cannot establish equivalence. Use the limits column when answering.</a:t>
            </a:r>
            <a:endParaRPr lang="en-GB"/>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400"/>
              <a:t>Backup: evidence gaps. Ask which unanswered question would change the audience’s practice. The gaps concern testing, weak-bladder eligibility, staging after reconstruction, salvage strategies, preparation and antibiotics, long-term ContiClassic outcomes, and the cause of late leakage. Distinguish a practical local choice from a question that comparative research still needs to answer.</a:t>
            </a:r>
            <a:endParaRPr lang="en-GB"/>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Video: UroOps 3D, https://uroops3d.com/lab/aus . Captured 10 October 2026. © UroOps3D / UroRef / Nity G. Teaching schematic with clinical review pending. It illustrates spatial relationships, not validated anatomy, tissue perfusion or operative instructions.</a:t>
            </a:r>
            <a:endParaRPr lang="en-US" dirty="0"/>
          </a:p>
          <a:p>
            <a:r>
              <a:rPr lang="en-GB" sz="1400">
                <a:latin typeface="Plus Jakarta Sans"/>
              </a:rPr>
              <a:t>Recorded backup: 97 seconds, silent. Describe the retained steps and the final configuration. The pump sits within the scrotal pouch.</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video" Target="../media/media-30-1.mp4"/><Relationship Id="rId2" Type="http://schemas.microsoft.com/office/2007/relationships/media" Target="../media/media-30-1.mp4"/><Relationship Id="rId3" Type="http://schemas.openxmlformats.org/officeDocument/2006/relationships/image" Target="../media/image-30-3.png"/><Relationship Id="rId4" Type="http://schemas.openxmlformats.org/officeDocument/2006/relationships/slideLayout" Target="../slideLayouts/slideLayout1.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video" Target="../media/media-31-1.mp4"/><Relationship Id="rId2" Type="http://schemas.microsoft.com/office/2007/relationships/media" Target="../media/media-31-1.mp4"/><Relationship Id="rId3" Type="http://schemas.openxmlformats.org/officeDocument/2006/relationships/image" Target="../media/image-31-3.png"/><Relationship Id="rId4" Type="http://schemas.openxmlformats.org/officeDocument/2006/relationships/slideLayout" Target="../slideLayouts/slideLayout1.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video" Target="../media/media-32-1.mp4"/><Relationship Id="rId2" Type="http://schemas.microsoft.com/office/2007/relationships/media" Target="../media/media-32-1.mp4"/><Relationship Id="rId3" Type="http://schemas.openxmlformats.org/officeDocument/2006/relationships/image" Target="../media/image-32-3.png"/><Relationship Id="rId4" Type="http://schemas.openxmlformats.org/officeDocument/2006/relationships/slideLayout" Target="../slideLayouts/slideLayout1.xml"/><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video" Target="../media/media-34-1.mp4"/><Relationship Id="rId2" Type="http://schemas.microsoft.com/office/2007/relationships/media" Target="../media/media-34-1.mp4"/><Relationship Id="rId3" Type="http://schemas.openxmlformats.org/officeDocument/2006/relationships/image" Target="../media/image-34-3.png"/><Relationship Id="rId4" Type="http://schemas.openxmlformats.org/officeDocument/2006/relationships/slideLayout" Target="../slideLayouts/slideLayout1.xml"/><Relationship Id="rId5"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video" Target="../media/media-35-1.mp4"/><Relationship Id="rId2" Type="http://schemas.microsoft.com/office/2007/relationships/media" Target="../media/media-35-1.mp4"/><Relationship Id="rId3" Type="http://schemas.openxmlformats.org/officeDocument/2006/relationships/image" Target="../media/image-35-3.png"/><Relationship Id="rId4" Type="http://schemas.openxmlformats.org/officeDocument/2006/relationships/slideLayout" Target="../slideLayouts/slideLayout1.xml"/><Relationship Id="rId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video" Target="../media/media-36-1.mp4"/><Relationship Id="rId2" Type="http://schemas.microsoft.com/office/2007/relationships/media" Target="../media/media-36-1.mp4"/><Relationship Id="rId3" Type="http://schemas.openxmlformats.org/officeDocument/2006/relationships/image" Target="../media/image-36-3.png"/><Relationship Id="rId4" Type="http://schemas.openxmlformats.org/officeDocument/2006/relationships/slideLayout" Target="../slideLayouts/slideLayout1.xml"/><Relationship Id="rId5"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hyperlink" Target="https://doi.org/10.1111/bju.16726" TargetMode="External"/><Relationship Id="rId2" Type="http://schemas.openxmlformats.org/officeDocument/2006/relationships/hyperlink" Target="https://uroweb.org/guidelines/management-of-non-neurogenic-male-luts/chapter/disease-management" TargetMode="External"/><Relationship Id="rId3" Type="http://schemas.openxmlformats.org/officeDocument/2006/relationships/hyperlink" Target="https://www.auanet.org/documents/Guidelines/PDF/2024%20Guidelines/IPT%20Unabridged%20Final%206-18-24.pdf" TargetMode="External"/><Relationship Id="rId4" Type="http://schemas.openxmlformats.org/officeDocument/2006/relationships/hyperlink" Target="https://uroweb.org/guidelines/urethral-strictures/chapter/disease-management-in-males" TargetMode="External"/><Relationship Id="rId5" Type="http://schemas.openxmlformats.org/officeDocument/2006/relationships/hyperlink" Target="https://www.ics.org/folder/standardisation/current-ics-standardisations/d/artificial-urinary-sphincter-report-of-the-2015-consensus-conference/download" TargetMode="External"/><Relationship Id="rId6" Type="http://schemas.openxmlformats.org/officeDocument/2006/relationships/hyperlink" Target="https://doi.org/10.1111/iju.15083" TargetMode="External"/><Relationship Id="rId7" Type="http://schemas.openxmlformats.org/officeDocument/2006/relationships/hyperlink" Target="https://www.rigicon.com/files/e-labeling/ContiClassic-IFU.pdf" TargetMode="External"/><Relationship Id="rId8" Type="http://schemas.openxmlformats.org/officeDocument/2006/relationships/hyperlink" Target="https://doi.org/10.1002/nau.23124" TargetMode="External"/><Relationship Id="rId9" Type="http://schemas.openxmlformats.org/officeDocument/2006/relationships/hyperlink" Target="https://doi.org/10.1097/JU.0000000000003985" TargetMode="External"/><Relationship Id="rId10" Type="http://schemas.openxmlformats.org/officeDocument/2006/relationships/hyperlink" Target="https://www.nice.org.uk/guidance/ng125/chapter/recommendations" TargetMode="External"/><Relationship Id="rId11" Type="http://schemas.openxmlformats.org/officeDocument/2006/relationships/hyperlink" Target="https://www.who.int/publications/i/item/9789241597906" TargetMode="External"/><Relationship Id="rId12" Type="http://schemas.openxmlformats.org/officeDocument/2006/relationships/hyperlink" Target="https://www.medicines.org.uk/emc/product/101238/smpc" TargetMode="External"/><Relationship Id="rId13" Type="http://schemas.openxmlformats.org/officeDocument/2006/relationships/hyperlink" Target="https://www.idsociety.org/practice-guideline/asymptomatic-bacteriuria/" TargetMode="External"/><Relationship Id="rId14" Type="http://schemas.openxmlformats.org/officeDocument/2006/relationships/hyperlink" Target="https://doi.org/10.1097/JU.0000000000000509" TargetMode="External"/><Relationship Id="rId15" Type="http://schemas.openxmlformats.org/officeDocument/2006/relationships/hyperlink" Target="https://pubmed.ncbi.nlm.nih.gov/37543658/" TargetMode="External"/><Relationship Id="rId16" Type="http://schemas.openxmlformats.org/officeDocument/2006/relationships/hyperlink" Target="https://doi.org/10.3310/TBFZ0277" TargetMode="External"/><Relationship Id="rId17" Type="http://schemas.openxmlformats.org/officeDocument/2006/relationships/hyperlink" Target="https://pubmed.ncbi.nlm.nih.gov/19371935/" TargetMode="External"/><Relationship Id="rId18" Type="http://schemas.openxmlformats.org/officeDocument/2006/relationships/hyperlink" Target="https://pubmed.ncbi.nlm.nih.gov/21497853/" TargetMode="External"/><Relationship Id="rId19" Type="http://schemas.openxmlformats.org/officeDocument/2006/relationships/hyperlink" Target="https://doi.org/10.1002/bco2.442" TargetMode="External"/><Relationship Id="rId20" Type="http://schemas.openxmlformats.org/officeDocument/2006/relationships/hyperlink" Target="https://pubmed.ncbi.nlm.nih.gov/36921845/" TargetMode="External"/><Relationship Id="rId21" Type="http://schemas.openxmlformats.org/officeDocument/2006/relationships/slideLayout" Target="../slideLayouts/slideLayout1.xml"/><Relationship Id="rId2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hyperlink" Target="https://pubmed.ncbi.nlm.nih.gov/36906798/" TargetMode="External"/><Relationship Id="rId2" Type="http://schemas.openxmlformats.org/officeDocument/2006/relationships/hyperlink" Target="https://pubmed.ncbi.nlm.nih.gov/36332702/" TargetMode="External"/><Relationship Id="rId3" Type="http://schemas.openxmlformats.org/officeDocument/2006/relationships/hyperlink" Target="https://pubmed.ncbi.nlm.nih.gov/24074987/" TargetMode="External"/><Relationship Id="rId4" Type="http://schemas.openxmlformats.org/officeDocument/2006/relationships/hyperlink" Target="https://pubmed.ncbi.nlm.nih.gov/25483765/" TargetMode="External"/><Relationship Id="rId5" Type="http://schemas.openxmlformats.org/officeDocument/2006/relationships/hyperlink" Target="https://doi.org/10.3389/fsurg.2022.825239" TargetMode="External"/><Relationship Id="rId6" Type="http://schemas.openxmlformats.org/officeDocument/2006/relationships/hyperlink" Target="https://pubmed.ncbi.nlm.nih.gov/41022035/" TargetMode="External"/><Relationship Id="rId7" Type="http://schemas.openxmlformats.org/officeDocument/2006/relationships/hyperlink" Target="https://doi.org/10.5489/cuaj.6431" TargetMode="External"/><Relationship Id="rId8" Type="http://schemas.openxmlformats.org/officeDocument/2006/relationships/hyperlink" Target="https://pubmed.ncbi.nlm.nih.gov/36749394/" TargetMode="External"/><Relationship Id="rId9" Type="http://schemas.openxmlformats.org/officeDocument/2006/relationships/hyperlink" Target="https://doi.org/10.21037/tau.2019.07.18" TargetMode="External"/><Relationship Id="rId10" Type="http://schemas.openxmlformats.org/officeDocument/2006/relationships/hyperlink" Target="https://tau.amegroups.org/article/view/130351/html" TargetMode="External"/><Relationship Id="rId11" Type="http://schemas.openxmlformats.org/officeDocument/2006/relationships/hyperlink" Target="https://pubmed.ncbi.nlm.nih.gov/23164373/" TargetMode="External"/><Relationship Id="rId12" Type="http://schemas.openxmlformats.org/officeDocument/2006/relationships/hyperlink" Target="https://doi.org/10.1016/j.urology.2017.07.064" TargetMode="External"/><Relationship Id="rId13" Type="http://schemas.openxmlformats.org/officeDocument/2006/relationships/hyperlink" Target="https://doi.org/10.5152/tud.2023.22136" TargetMode="External"/><Relationship Id="rId14" Type="http://schemas.openxmlformats.org/officeDocument/2006/relationships/hyperlink" Target="https://pubmed.ncbi.nlm.nih.gov/26135815/" TargetMode="External"/><Relationship Id="rId15" Type="http://schemas.openxmlformats.org/officeDocument/2006/relationships/hyperlink" Target="https://pmc.ncbi.nlm.nih.gov/articles/PMC12794701/" TargetMode="External"/><Relationship Id="rId16" Type="http://schemas.openxmlformats.org/officeDocument/2006/relationships/hyperlink" Target="https://helpdesk.auanet.org/hc/en-us/articles/40948838469143-Guidelines" TargetMode="External"/><Relationship Id="rId17" Type="http://schemas.openxmlformats.org/officeDocument/2006/relationships/hyperlink" Target="https://journals.sagepub.com/doi/full/10.1177/20514158261451299" TargetMode="External"/><Relationship Id="rId18" Type="http://schemas.openxmlformats.org/officeDocument/2006/relationships/hyperlink" Target="https://journals.sagepub.com/doi/full/10.1177/20514158261451299" TargetMode="External"/><Relationship Id="rId19" Type="http://schemas.openxmlformats.org/officeDocument/2006/relationships/hyperlink" Target="https://doi.org/10.1097/01.JU.0001191316.72449.22.22" TargetMode="External"/><Relationship Id="rId20" Type="http://schemas.openxmlformats.org/officeDocument/2006/relationships/hyperlink" Target="https://doi.org/10.1097/01.JU.0001191316.72449.22.18" TargetMode="External"/><Relationship Id="rId21" Type="http://schemas.openxmlformats.org/officeDocument/2006/relationships/slideLayout" Target="../slideLayouts/slideLayout1.xml"/><Relationship Id="rId2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hyperlink" Target="https://doi.org/10.1097/01.JU.0001191316.72449.22.17" TargetMode="External"/><Relationship Id="rId2" Type="http://schemas.openxmlformats.org/officeDocument/2006/relationships/hyperlink" Target="https://doi.org/10.1016/j.euf.2026.07.012" TargetMode="External"/><Relationship Id="rId3" Type="http://schemas.openxmlformats.org/officeDocument/2006/relationships/hyperlink" Target="https://doi.org/10.1016/j.urology.2026.05.024" TargetMode="External"/><Relationship Id="rId4" Type="http://schemas.openxmlformats.org/officeDocument/2006/relationships/hyperlink" Target="https://doi.org/10.3390/antibiotics15090894" TargetMode="External"/><Relationship Id="rId5" Type="http://schemas.openxmlformats.org/officeDocument/2006/relationships/hyperlink" Target="https://doi.org/10.1007/s11255-025-04711-y" TargetMode="External"/><Relationship Id="rId6" Type="http://schemas.openxmlformats.org/officeDocument/2006/relationships/hyperlink" Target="https://doi.org/10.1016/j.fjurol.2026.103135" TargetMode="External"/><Relationship Id="rId7" Type="http://schemas.openxmlformats.org/officeDocument/2006/relationships/hyperlink" Target="https://doi.org/10.1097/ju.0000000000005102" TargetMode="External"/><Relationship Id="rId8" Type="http://schemas.openxmlformats.org/officeDocument/2006/relationships/hyperlink" Target="https://doi.org/10.1111/bju.70224" TargetMode="External"/><Relationship Id="rId9" Type="http://schemas.openxmlformats.org/officeDocument/2006/relationships/hyperlink" Target="https://doi.org/10.1016/j.urology.2025.12.031" TargetMode="External"/><Relationship Id="rId10" Type="http://schemas.openxmlformats.org/officeDocument/2006/relationships/hyperlink" Target="https://doi.org/10.1016/j.euros.2025.12.006" TargetMode="External"/><Relationship Id="rId11" Type="http://schemas.openxmlformats.org/officeDocument/2006/relationships/hyperlink" Target="https://doi.org/10.1002/nau.70417" TargetMode="External"/><Relationship Id="rId12" Type="http://schemas.openxmlformats.org/officeDocument/2006/relationships/hyperlink" Target="https://doi.org/10.1007/s00345-026-06629-1" TargetMode="External"/><Relationship Id="rId13" Type="http://schemas.openxmlformats.org/officeDocument/2006/relationships/hyperlink" Target="https://doi.org/10.1002/nau.70400" TargetMode="External"/><Relationship Id="rId14" Type="http://schemas.openxmlformats.org/officeDocument/2006/relationships/hyperlink" Target="https://doi.org/10.1590/s1677-5538.ibju.2025.0374" TargetMode="External"/><Relationship Id="rId15" Type="http://schemas.openxmlformats.org/officeDocument/2006/relationships/hyperlink" Target="https://doi.org/10.1016/j.urology.2025.11.222" TargetMode="External"/><Relationship Id="rId16" Type="http://schemas.openxmlformats.org/officeDocument/2006/relationships/hyperlink" Target="https://doi.org/10.1007/s00345-025-05625-1" TargetMode="External"/><Relationship Id="rId17" Type="http://schemas.openxmlformats.org/officeDocument/2006/relationships/hyperlink" Target="https://doi.org/10.1097/ju.0000000000004945" TargetMode="External"/><Relationship Id="rId18" Type="http://schemas.openxmlformats.org/officeDocument/2006/relationships/hyperlink" Target="https://doi.org/10.1007/s00345-026-06246-y" TargetMode="External"/><Relationship Id="rId19" Type="http://schemas.openxmlformats.org/officeDocument/2006/relationships/slideLayout" Target="../slideLayouts/slideLayout1.xml"/><Relationship Id="rId20"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video" Target="../media/media-51-1.mp4"/><Relationship Id="rId2" Type="http://schemas.microsoft.com/office/2007/relationships/media" Target="../media/media-51-1.mp4"/><Relationship Id="rId3" Type="http://schemas.openxmlformats.org/officeDocument/2006/relationships/image" Target="../media/image-51-3.png"/><Relationship Id="rId4" Type="http://schemas.openxmlformats.org/officeDocument/2006/relationships/slideLayout" Target="../slideLayouts/slideLayout1.xml"/><Relationship Id="rId5"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616"/>
        </a:solidFill>
        <a:effectLst/>
      </p:bgPr>
    </p:bg>
    <p:spTree>
      <p:nvGrpSpPr>
        <p:cNvPr id="1" name=""/>
        <p:cNvGrpSpPr/>
        <p:nvPr/>
      </p:nvGrpSpPr>
      <p:grpSpPr>
        <a:xfrm>
          <a:off x="0" y="0"/>
          <a:ext cx="0" cy="0"/>
          <a:chOff x="0" y="0"/>
          <a:chExt cx="0" cy="0"/>
        </a:xfrm>
      </p:grpSpPr>
      <p:pic>
        <p:nvPicPr>
          <p:cNvPr id="2" name="Image 0" descr="C:\NityProjects\AUS-Presentation\repo\presentation\assets\uroops-cover.png">    </p:cNvPr>
          <p:cNvPicPr>
            <a:picLocks noChangeAspect="1"/>
          </p:cNvPicPr>
          <p:nvPr/>
        </p:nvPicPr>
        <p:blipFill>
          <a:blip r:embed="rId1"/>
          <a:srcRect l="0" r="0" t="0" b="0"/>
          <a:stretch/>
        </p:blipFill>
        <p:spPr>
          <a:xfrm>
            <a:off x="7029450" y="228600"/>
            <a:ext cx="4210050" cy="5048250"/>
          </a:xfrm>
          <a:prstGeom prst="rect">
            <a:avLst/>
          </a:prstGeom>
        </p:spPr>
      </p:pic>
      <p:sp>
        <p:nvSpPr>
          <p:cNvPr id="3" name="Text 0"/>
          <p:cNvSpPr txBox="1"/>
          <p:nvPr/>
        </p:nvSpPr>
        <p:spPr>
          <a:xfrm>
            <a:off x="640080" y="868680"/>
            <a:ext cx="5029200" cy="274320"/>
          </a:xfrm>
          <a:prstGeom prst="rect">
            <a:avLst/>
          </a:prstGeom>
          <a:noFill/>
          <a:ln/>
        </p:spPr>
        <p:txBody>
          <a:bodyPr wrap="square" lIns="0" tIns="0" rIns="0" bIns="0" rtlCol="0" anchor="t"/>
          <a:lstStyle/>
          <a:p>
            <a:pPr algn="l" indent="0" marL="0">
              <a:buNone/>
            </a:pPr>
            <a:r>
              <a:rPr lang="en-US" sz="950" b="1" spc="250" kern="0" dirty="0">
                <a:solidFill>
                  <a:srgbClr val="89FF00"/>
                </a:solidFill>
                <a:latin typeface="Plus Jakarta Sans" pitchFamily="34" charset="0"/>
                <a:ea typeface="Segoe UI" pitchFamily="34" charset="-122"/>
                <a:cs typeface="Segoe UI" pitchFamily="34" charset="-120"/>
              </a:rPr>
              <a:t>RIGICON ADVANCED TRAINING EVENT</a:t>
            </a:r>
            <a:endParaRPr lang="en-US" sz="950" dirty="0">
              <a:latin typeface="Plus Jakarta Sans"/>
            </a:endParaRPr>
          </a:p>
        </p:txBody>
      </p:sp>
      <p:sp>
        <p:nvSpPr>
          <p:cNvPr id="5" name="Text 2"/>
          <p:cNvSpPr txBox="1"/>
          <p:nvPr/>
        </p:nvSpPr>
        <p:spPr>
          <a:xfrm>
            <a:off x="640080" y="3246120"/>
            <a:ext cx="4937760" cy="822960"/>
          </a:xfrm>
          <a:prstGeom prst="rect">
            <a:avLst/>
          </a:prstGeom>
          <a:noFill/>
          <a:ln/>
        </p:spPr>
        <p:txBody>
          <a:bodyPr wrap="square" lIns="0" tIns="0" rIns="0" bIns="0" rtlCol="0" anchor="t"/>
          <a:lstStyle/>
          <a:p>
            <a:pPr algn="l" indent="0" marL="0">
              <a:lnSpc>
                <a:spcPct val="115000"/>
              </a:lnSpc>
              <a:buNone/>
            </a:pPr>
            <a:r>
              <a:rPr lang="en-US" sz="1700" dirty="0">
                <a:solidFill>
                  <a:srgbClr val="BFBFBF"/>
                </a:solidFill>
                <a:latin typeface="Plus Jakarta Sans" pitchFamily="34" charset="0"/>
                <a:ea typeface="Segoe UI" pitchFamily="34" charset="-122"/>
                <a:cs typeface="Segoe UI" pitchFamily="34" charset="-120"/>
              </a:rPr>
              <a:t>Artificial urinary sphincter surgery: patient selection, difficult bladders and difficult urethras</a:t>
            </a:r>
            <a:endParaRPr lang="en-US" sz="1700" dirty="0">
              <a:latin typeface="Plus Jakarta Sans"/>
            </a:endParaRPr>
          </a:p>
        </p:txBody>
      </p:sp>
      <p:sp>
        <p:nvSpPr>
          <p:cNvPr id="6" name="Text 3"/>
          <p:cNvSpPr txBox="1"/>
          <p:nvPr/>
        </p:nvSpPr>
        <p:spPr>
          <a:xfrm>
            <a:off x="640080" y="4206240"/>
            <a:ext cx="4937760" cy="457200"/>
          </a:xfrm>
          <a:prstGeom prst="rect">
            <a:avLst/>
          </a:prstGeom>
          <a:noFill/>
          <a:ln/>
        </p:spPr>
        <p:txBody>
          <a:bodyPr wrap="square" lIns="0" tIns="0" rIns="0" bIns="0" rtlCol="0" anchor="t"/>
          <a:lstStyle/>
          <a:p>
            <a:pPr algn="l" indent="0" marL="0">
              <a:lnSpc>
                <a:spcPct val="110000"/>
              </a:lnSpc>
              <a:buNone/>
            </a:pPr>
            <a:r>
              <a:rPr lang="en-US" sz="1100" dirty="0">
                <a:solidFill>
                  <a:srgbClr val="AFAFAF"/>
                </a:solidFill>
                <a:latin typeface="Plus Jakarta Sans" pitchFamily="34" charset="0"/>
                <a:ea typeface="Segoe UI" pitchFamily="34" charset="-122"/>
                <a:cs typeface="Segoe UI" pitchFamily="34" charset="-120"/>
              </a:rPr>
              <a:t>Artificial Urinary Sphincter (AUS) Implantation · The Municipal Hotel, Liverpool · 22–23 October 2026</a:t>
            </a:r>
            <a:endParaRPr lang="en-US" sz="1100" dirty="0">
              <a:latin typeface="Plus Jakarta Sans"/>
            </a:endParaRPr>
          </a:p>
        </p:txBody>
      </p:sp>
      <p:sp>
        <p:nvSpPr>
          <p:cNvPr id="9001" name="replacement-title">
            <a:extLst>
              <a:ext uri="{FF2B5EF4-FFF2-40B4-BE49-F238E27FC236}">
                <a16:creationId xmlns:a16="http://schemas.microsoft.com/office/drawing/2014/main" id="{B3FB01D7-7A61-4F07-88BD-1A431118D5A6}"/>
              </a:ext>
            </a:extLst>
          </p:cNvPr>
          <p:cNvSpPr>
            <a:spLocks noGrp="1"/>
          </p:cNvSpPr>
          <p:nvPr/>
        </p:nvSpPr>
        <p:spPr>
          <a:xfrm>
            <a:off x="638175" y="1381125"/>
            <a:ext cx="5905500" cy="1905000"/>
          </a:xfrm>
          <a:prstGeom prst="rect">
            <a:avLst/>
          </a:prstGeom>
          <a:noFill/>
          <a:ln w="0">
            <a:noFill/>
          </a:ln>
        </p:spPr>
        <p:txBody>
          <a:bodyPr anchor="ctr"/>
          <a:lstStyle>
            <a:defPPr>
              <a:defRPr sz="3225" b="1">
                <a:solidFill>
                  <a:srgbClr val="FFFFFF"/>
                </a:solidFill>
                <a:latin typeface="Plus Jakarta Sans"/>
              </a:defRPr>
            </a:defPPr>
            <a:lvl1pPr>
              <a:defRPr sz="3225" b="1">
                <a:solidFill>
                  <a:srgbClr val="FFFFFF"/>
                </a:solidFill>
                <a:latin typeface="Plus Jakarta Sans"/>
              </a:defRPr>
            </a:lvl1pPr>
            <a:lvl2pPr>
              <a:defRPr sz="3225" b="1">
                <a:solidFill>
                  <a:srgbClr val="FFFFFF"/>
                </a:solidFill>
                <a:latin typeface="Plus Jakarta Sans"/>
              </a:defRPr>
            </a:lvl2pPr>
            <a:lvl3pPr>
              <a:defRPr sz="3225" b="1">
                <a:solidFill>
                  <a:srgbClr val="FFFFFF"/>
                </a:solidFill>
                <a:latin typeface="Plus Jakarta Sans"/>
              </a:defRPr>
            </a:lvl3pPr>
            <a:lvl4pPr>
              <a:defRPr sz="3225" b="1">
                <a:solidFill>
                  <a:srgbClr val="FFFFFF"/>
                </a:solidFill>
                <a:latin typeface="Plus Jakarta Sans"/>
              </a:defRPr>
            </a:lvl4pPr>
            <a:lvl5pPr>
              <a:defRPr sz="3225" b="1">
                <a:solidFill>
                  <a:srgbClr val="FFFFFF"/>
                </a:solidFill>
                <a:latin typeface="Plus Jakarta Sans"/>
              </a:defRPr>
            </a:lvl5pPr>
            <a:lvl6pPr>
              <a:defRPr sz="3225" b="1">
                <a:solidFill>
                  <a:srgbClr val="FFFFFF"/>
                </a:solidFill>
                <a:latin typeface="Plus Jakarta Sans"/>
              </a:defRPr>
            </a:lvl6pPr>
            <a:lvl7pPr>
              <a:defRPr sz="3225" b="1">
                <a:solidFill>
                  <a:srgbClr val="FFFFFF"/>
                </a:solidFill>
                <a:latin typeface="Plus Jakarta Sans"/>
              </a:defRPr>
            </a:lvl7pPr>
            <a:lvl8pPr>
              <a:defRPr sz="3225" b="1">
                <a:solidFill>
                  <a:srgbClr val="FFFFFF"/>
                </a:solidFill>
                <a:latin typeface="Plus Jakarta Sans"/>
              </a:defRPr>
            </a:lvl8pPr>
            <a:lvl9pPr>
              <a:defRPr sz="3225" b="1">
                <a:solidFill>
                  <a:srgbClr val="FFFFFF"/>
                </a:solidFill>
                <a:latin typeface="Plus Jakarta Sans"/>
              </a:defRPr>
            </a:lvl9pPr>
          </a:lstStyle>
          <a:p>
            <a:pPr>
              <a:defRPr sz="3225" b="1">
                <a:solidFill>
                  <a:srgbClr val="FFFFFF"/>
                </a:solidFill>
                <a:latin typeface="Plus Jakarta Sans"/>
              </a:defRPr>
            </a:pPr>
            <a:r>
              <a:rPr sz="3225" b="1">
                <a:solidFill>
                  <a:srgbClr val="FFFFFF"/>
                </a:solidFill>
                <a:latin typeface="Plus Jakarta Sans"/>
              </a:rPr>
              <a:t>Tips and tricks for primary implantation and revision surgery</a:t>
            </a:r>
          </a:p>
        </p:txBody>
      </p:sp>
      <p:sp>
        <p:nvSpPr>
          <p:cNvPr id="9010" name="Google Shape;50;p7"/>
          <p:cNvSpPr/>
          <p:nvPr/>
        </p:nvSpPr>
        <p:spPr>
          <a:xfrm>
            <a:off x="5810250" y="790575"/>
            <a:ext cx="314325" cy="314325"/>
          </a:xfrm>
          <a:custGeom>
            <a:avLst/>
            <a:gdLst/>
            <a:ahLst/>
            <a:cxnLst/>
            <a:rect l="l" t="t" r="r" b="b"/>
            <a:pathLst>
              <a:path w="615314" h="615315" extrusionOk="0">
                <a:moveTo>
                  <a:pt x="307372" y="0"/>
                </a:moveTo>
                <a:lnTo>
                  <a:pt x="295063" y="64094"/>
                </a:lnTo>
                <a:lnTo>
                  <a:pt x="281976" y="117458"/>
                </a:lnTo>
                <a:lnTo>
                  <a:pt x="266867" y="161336"/>
                </a:lnTo>
                <a:lnTo>
                  <a:pt x="248493" y="196971"/>
                </a:lnTo>
                <a:lnTo>
                  <a:pt x="196971" y="248493"/>
                </a:lnTo>
                <a:lnTo>
                  <a:pt x="161336" y="266867"/>
                </a:lnTo>
                <a:lnTo>
                  <a:pt x="117458" y="281976"/>
                </a:lnTo>
                <a:lnTo>
                  <a:pt x="64094" y="295063"/>
                </a:lnTo>
                <a:lnTo>
                  <a:pt x="0" y="307372"/>
                </a:lnTo>
                <a:lnTo>
                  <a:pt x="64094" y="319682"/>
                </a:lnTo>
                <a:lnTo>
                  <a:pt x="117458" y="332769"/>
                </a:lnTo>
                <a:lnTo>
                  <a:pt x="161336" y="347878"/>
                </a:lnTo>
                <a:lnTo>
                  <a:pt x="196971" y="366252"/>
                </a:lnTo>
                <a:lnTo>
                  <a:pt x="248493" y="417773"/>
                </a:lnTo>
                <a:lnTo>
                  <a:pt x="266867" y="453409"/>
                </a:lnTo>
                <a:lnTo>
                  <a:pt x="281976" y="497287"/>
                </a:lnTo>
                <a:lnTo>
                  <a:pt x="295063" y="550651"/>
                </a:lnTo>
                <a:lnTo>
                  <a:pt x="307372" y="614745"/>
                </a:lnTo>
                <a:lnTo>
                  <a:pt x="319682" y="550651"/>
                </a:lnTo>
                <a:lnTo>
                  <a:pt x="332769" y="497287"/>
                </a:lnTo>
                <a:lnTo>
                  <a:pt x="347878" y="453409"/>
                </a:lnTo>
                <a:lnTo>
                  <a:pt x="366252" y="417773"/>
                </a:lnTo>
                <a:lnTo>
                  <a:pt x="417773" y="366252"/>
                </a:lnTo>
                <a:lnTo>
                  <a:pt x="453409" y="347878"/>
                </a:lnTo>
                <a:lnTo>
                  <a:pt x="497287" y="332769"/>
                </a:lnTo>
                <a:lnTo>
                  <a:pt x="550651" y="319682"/>
                </a:lnTo>
                <a:lnTo>
                  <a:pt x="614745" y="307372"/>
                </a:lnTo>
                <a:lnTo>
                  <a:pt x="550651" y="295063"/>
                </a:lnTo>
                <a:lnTo>
                  <a:pt x="497287" y="281976"/>
                </a:lnTo>
                <a:lnTo>
                  <a:pt x="453409" y="266867"/>
                </a:lnTo>
                <a:lnTo>
                  <a:pt x="417773" y="248493"/>
                </a:lnTo>
                <a:lnTo>
                  <a:pt x="366252" y="196971"/>
                </a:lnTo>
                <a:lnTo>
                  <a:pt x="347878" y="161336"/>
                </a:lnTo>
                <a:lnTo>
                  <a:pt x="332769" y="117458"/>
                </a:lnTo>
                <a:lnTo>
                  <a:pt x="319682" y="64094"/>
                </a:lnTo>
                <a:lnTo>
                  <a:pt x="307372" y="0"/>
                </a:lnTo>
                <a:close/>
              </a:path>
            </a:pathLst>
          </a:custGeom>
          <a:solidFill>
            <a:srgbClr val="89FF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100" name="presenter-0-name">
            <a:extLst>
              <a:ext uri="{FF2B5EF4-FFF2-40B4-BE49-F238E27FC236}">
                <a16:creationId xmlns:a16="http://schemas.microsoft.com/office/drawing/2014/main" id="{1DDD7CE3-5855-474E-9732-5F8751C980EA}"/>
              </a:ext>
            </a:extLst>
          </p:cNvPr>
          <p:cNvSpPr>
            <a:spLocks noGrp="1"/>
          </p:cNvSpPr>
          <p:nvPr/>
        </p:nvSpPr>
        <p:spPr>
          <a:xfrm>
            <a:off x="638175" y="5524500"/>
            <a:ext cx="3429000" cy="276225"/>
          </a:xfrm>
          <a:prstGeom prst="rect">
            <a:avLst/>
          </a:prstGeom>
          <a:noFill/>
          <a:ln w="0">
            <a:noFill/>
          </a:ln>
        </p:spPr>
        <p:txBody>
          <a:bodyPr anchor="ctr"/>
          <a:lstStyle>
            <a:defPPr>
              <a:defRPr sz="1500" b="1">
                <a:solidFill>
                  <a:srgbClr val="FFFFFF"/>
                </a:solidFill>
              </a:defRPr>
            </a:defPPr>
            <a:lvl1pPr>
              <a:defRPr sz="1500" b="1">
                <a:solidFill>
                  <a:srgbClr val="FFFFFF"/>
                </a:solidFill>
              </a:defRPr>
            </a:lvl1pPr>
            <a:lvl2pPr>
              <a:defRPr sz="1500" b="1">
                <a:solidFill>
                  <a:srgbClr val="FFFFFF"/>
                </a:solidFill>
              </a:defRPr>
            </a:lvl2pPr>
            <a:lvl3pPr>
              <a:defRPr sz="1500" b="1">
                <a:solidFill>
                  <a:srgbClr val="FFFFFF"/>
                </a:solidFill>
              </a:defRPr>
            </a:lvl3pPr>
            <a:lvl4pPr>
              <a:defRPr sz="1500" b="1">
                <a:solidFill>
                  <a:srgbClr val="FFFFFF"/>
                </a:solidFill>
              </a:defRPr>
            </a:lvl4pPr>
            <a:lvl5pPr>
              <a:defRPr sz="1500" b="1">
                <a:solidFill>
                  <a:srgbClr val="FFFFFF"/>
                </a:solidFill>
              </a:defRPr>
            </a:lvl5pPr>
            <a:lvl6pPr>
              <a:defRPr sz="1500" b="1">
                <a:solidFill>
                  <a:srgbClr val="FFFFFF"/>
                </a:solidFill>
              </a:defRPr>
            </a:lvl6pPr>
            <a:lvl7pPr>
              <a:defRPr sz="1500" b="1">
                <a:solidFill>
                  <a:srgbClr val="FFFFFF"/>
                </a:solidFill>
              </a:defRPr>
            </a:lvl7pPr>
            <a:lvl8pPr>
              <a:defRPr sz="1500" b="1">
                <a:solidFill>
                  <a:srgbClr val="FFFFFF"/>
                </a:solidFill>
              </a:defRPr>
            </a:lvl8pPr>
            <a:lvl9pPr>
              <a:defRPr sz="1500" b="1">
                <a:solidFill>
                  <a:srgbClr val="FFFFFF"/>
                </a:solidFill>
              </a:defRPr>
            </a:lvl9pPr>
          </a:lstStyle>
          <a:p>
            <a:pPr>
              <a:defRPr sz="1500" b="1">
                <a:solidFill>
                  <a:srgbClr val="FFFFFF"/>
                </a:solidFill>
              </a:defRPr>
            </a:pPr>
            <a:r>
              <a:rPr sz="1500" b="1">
                <a:solidFill>
                  <a:srgbClr val="FFFFFF"/>
                </a:solidFill>
              </a:rPr>
              <a:t>Mr Andrew Baird</a:t>
            </a:r>
          </a:p>
        </p:txBody>
      </p:sp>
      <p:sp>
        <p:nvSpPr>
          <p:cNvPr id="9101" name="presenter-0-role">
            <a:extLst>
              <a:ext uri="{FF2B5EF4-FFF2-40B4-BE49-F238E27FC236}">
                <a16:creationId xmlns:a16="http://schemas.microsoft.com/office/drawing/2014/main" id="{76BE70D3-20B5-455D-B1E1-0A7274593743}"/>
              </a:ext>
            </a:extLst>
          </p:cNvPr>
          <p:cNvSpPr>
            <a:spLocks noGrp="1"/>
          </p:cNvSpPr>
          <p:nvPr/>
        </p:nvSpPr>
        <p:spPr>
          <a:xfrm>
            <a:off x="638175" y="5829300"/>
            <a:ext cx="3429000" cy="228600"/>
          </a:xfrm>
          <a:prstGeom prst="rect">
            <a:avLst/>
          </a:prstGeom>
          <a:noFill/>
          <a:ln w="0">
            <a:noFill/>
          </a:ln>
        </p:spPr>
        <p:txBody>
          <a:bodyPr anchor="ctr"/>
          <a:lstStyle>
            <a:defPPr>
              <a:defRPr sz="1275" b="0">
                <a:solidFill>
                  <a:srgbClr val="BFBFBF"/>
                </a:solidFill>
              </a:defRPr>
            </a:defPPr>
            <a:lvl1pPr>
              <a:defRPr sz="1275" b="0">
                <a:solidFill>
                  <a:srgbClr val="BFBFBF"/>
                </a:solidFill>
              </a:defRPr>
            </a:lvl1pPr>
            <a:lvl2pPr>
              <a:defRPr sz="1275" b="0">
                <a:solidFill>
                  <a:srgbClr val="BFBFBF"/>
                </a:solidFill>
              </a:defRPr>
            </a:lvl2pPr>
            <a:lvl3pPr>
              <a:defRPr sz="1275" b="0">
                <a:solidFill>
                  <a:srgbClr val="BFBFBF"/>
                </a:solidFill>
              </a:defRPr>
            </a:lvl3pPr>
            <a:lvl4pPr>
              <a:defRPr sz="1275" b="0">
                <a:solidFill>
                  <a:srgbClr val="BFBFBF"/>
                </a:solidFill>
              </a:defRPr>
            </a:lvl4pPr>
            <a:lvl5pPr>
              <a:defRPr sz="1275" b="0">
                <a:solidFill>
                  <a:srgbClr val="BFBFBF"/>
                </a:solidFill>
              </a:defRPr>
            </a:lvl5pPr>
            <a:lvl6pPr>
              <a:defRPr sz="1275" b="0">
                <a:solidFill>
                  <a:srgbClr val="BFBFBF"/>
                </a:solidFill>
              </a:defRPr>
            </a:lvl6pPr>
            <a:lvl7pPr>
              <a:defRPr sz="1275" b="0">
                <a:solidFill>
                  <a:srgbClr val="BFBFBF"/>
                </a:solidFill>
              </a:defRPr>
            </a:lvl7pPr>
            <a:lvl8pPr>
              <a:defRPr sz="1275" b="0">
                <a:solidFill>
                  <a:srgbClr val="BFBFBF"/>
                </a:solidFill>
              </a:defRPr>
            </a:lvl8pPr>
            <a:lvl9pPr>
              <a:defRPr sz="1275" b="0">
                <a:solidFill>
                  <a:srgbClr val="BFBFBF"/>
                </a:solidFill>
              </a:defRPr>
            </a:lvl9pPr>
          </a:lstStyle>
          <a:p>
            <a:pPr>
              <a:defRPr sz="1275" b="0">
                <a:solidFill>
                  <a:srgbClr val="BFBFBF"/>
                </a:solidFill>
              </a:defRPr>
            </a:pPr>
            <a:r>
              <a:rPr sz="1275" b="0">
                <a:solidFill>
                  <a:srgbClr val="BFBFBF"/>
                </a:solidFill>
              </a:rPr>
              <a:t>Consultant Urologist</a:t>
            </a:r>
          </a:p>
        </p:txBody>
      </p:sp>
      <p:sp>
        <p:nvSpPr>
          <p:cNvPr id="9102" name="presenter-0-institution">
            <a:extLst>
              <a:ext uri="{FF2B5EF4-FFF2-40B4-BE49-F238E27FC236}">
                <a16:creationId xmlns:a16="http://schemas.microsoft.com/office/drawing/2014/main" id="{A7CAC40A-3C1A-4F35-9B0D-E3A02CD3A369}"/>
              </a:ext>
            </a:extLst>
          </p:cNvPr>
          <p:cNvSpPr>
            <a:spLocks noGrp="1"/>
          </p:cNvSpPr>
          <p:nvPr/>
        </p:nvSpPr>
        <p:spPr>
          <a:xfrm>
            <a:off x="638175" y="6096000"/>
            <a:ext cx="3429000" cy="247650"/>
          </a:xfrm>
          <a:prstGeom prst="rect">
            <a:avLst/>
          </a:prstGeom>
          <a:noFill/>
          <a:ln w="0">
            <a:noFill/>
          </a:ln>
        </p:spPr>
        <p:txBody>
          <a:bodyPr anchor="ctr"/>
          <a:lstStyle>
            <a:defPPr>
              <a:defRPr sz="1125" b="0">
                <a:solidFill>
                  <a:srgbClr val="BFBFBF"/>
                </a:solidFill>
              </a:defRPr>
            </a:defPPr>
            <a:lvl1pPr>
              <a:defRPr sz="1125" b="0">
                <a:solidFill>
                  <a:srgbClr val="BFBFBF"/>
                </a:solidFill>
              </a:defRPr>
            </a:lvl1pPr>
            <a:lvl2pPr>
              <a:defRPr sz="1125" b="0">
                <a:solidFill>
                  <a:srgbClr val="BFBFBF"/>
                </a:solidFill>
              </a:defRPr>
            </a:lvl2pPr>
            <a:lvl3pPr>
              <a:defRPr sz="1125" b="0">
                <a:solidFill>
                  <a:srgbClr val="BFBFBF"/>
                </a:solidFill>
              </a:defRPr>
            </a:lvl3pPr>
            <a:lvl4pPr>
              <a:defRPr sz="1125" b="0">
                <a:solidFill>
                  <a:srgbClr val="BFBFBF"/>
                </a:solidFill>
              </a:defRPr>
            </a:lvl4pPr>
            <a:lvl5pPr>
              <a:defRPr sz="1125" b="0">
                <a:solidFill>
                  <a:srgbClr val="BFBFBF"/>
                </a:solidFill>
              </a:defRPr>
            </a:lvl5pPr>
            <a:lvl6pPr>
              <a:defRPr sz="1125" b="0">
                <a:solidFill>
                  <a:srgbClr val="BFBFBF"/>
                </a:solidFill>
              </a:defRPr>
            </a:lvl6pPr>
            <a:lvl7pPr>
              <a:defRPr sz="1125" b="0">
                <a:solidFill>
                  <a:srgbClr val="BFBFBF"/>
                </a:solidFill>
              </a:defRPr>
            </a:lvl7pPr>
            <a:lvl8pPr>
              <a:defRPr sz="1125" b="0">
                <a:solidFill>
                  <a:srgbClr val="BFBFBF"/>
                </a:solidFill>
              </a:defRPr>
            </a:lvl8pPr>
            <a:lvl9pPr>
              <a:defRPr sz="1125" b="0">
                <a:solidFill>
                  <a:srgbClr val="BFBFBF"/>
                </a:solidFill>
              </a:defRPr>
            </a:lvl9pPr>
          </a:lstStyle>
          <a:p>
            <a:pPr>
              <a:defRPr sz="1125" b="0">
                <a:solidFill>
                  <a:srgbClr val="BFBFBF"/>
                </a:solidFill>
              </a:defRPr>
            </a:pPr>
            <a:r>
              <a:rPr sz="1125" b="0">
                <a:solidFill>
                  <a:srgbClr val="BFBFBF"/>
                </a:solidFill>
              </a:rPr>
              <a:t>Royal Liverpool University Hospital</a:t>
            </a:r>
          </a:p>
        </p:txBody>
      </p:sp>
      <p:sp>
        <p:nvSpPr>
          <p:cNvPr id="9103" name="presenter-1-name">
            <a:extLst>
              <a:ext uri="{FF2B5EF4-FFF2-40B4-BE49-F238E27FC236}">
                <a16:creationId xmlns:a16="http://schemas.microsoft.com/office/drawing/2014/main" id="{77D6393D-0D3F-4A11-A846-A463A64CA710}"/>
              </a:ext>
            </a:extLst>
          </p:cNvPr>
          <p:cNvSpPr>
            <a:spLocks noGrp="1"/>
          </p:cNvSpPr>
          <p:nvPr/>
        </p:nvSpPr>
        <p:spPr>
          <a:xfrm>
            <a:off x="4371975" y="5524500"/>
            <a:ext cx="3429000" cy="276225"/>
          </a:xfrm>
          <a:prstGeom prst="rect">
            <a:avLst/>
          </a:prstGeom>
          <a:noFill/>
          <a:ln w="0">
            <a:noFill/>
          </a:ln>
        </p:spPr>
        <p:txBody>
          <a:bodyPr anchor="ctr"/>
          <a:lstStyle>
            <a:defPPr>
              <a:defRPr sz="1500" b="1">
                <a:solidFill>
                  <a:srgbClr val="FFFFFF"/>
                </a:solidFill>
              </a:defRPr>
            </a:defPPr>
            <a:lvl1pPr>
              <a:defRPr sz="1500" b="1">
                <a:solidFill>
                  <a:srgbClr val="FFFFFF"/>
                </a:solidFill>
              </a:defRPr>
            </a:lvl1pPr>
            <a:lvl2pPr>
              <a:defRPr sz="1500" b="1">
                <a:solidFill>
                  <a:srgbClr val="FFFFFF"/>
                </a:solidFill>
              </a:defRPr>
            </a:lvl2pPr>
            <a:lvl3pPr>
              <a:defRPr sz="1500" b="1">
                <a:solidFill>
                  <a:srgbClr val="FFFFFF"/>
                </a:solidFill>
              </a:defRPr>
            </a:lvl3pPr>
            <a:lvl4pPr>
              <a:defRPr sz="1500" b="1">
                <a:solidFill>
                  <a:srgbClr val="FFFFFF"/>
                </a:solidFill>
              </a:defRPr>
            </a:lvl4pPr>
            <a:lvl5pPr>
              <a:defRPr sz="1500" b="1">
                <a:solidFill>
                  <a:srgbClr val="FFFFFF"/>
                </a:solidFill>
              </a:defRPr>
            </a:lvl5pPr>
            <a:lvl6pPr>
              <a:defRPr sz="1500" b="1">
                <a:solidFill>
                  <a:srgbClr val="FFFFFF"/>
                </a:solidFill>
              </a:defRPr>
            </a:lvl6pPr>
            <a:lvl7pPr>
              <a:defRPr sz="1500" b="1">
                <a:solidFill>
                  <a:srgbClr val="FFFFFF"/>
                </a:solidFill>
              </a:defRPr>
            </a:lvl7pPr>
            <a:lvl8pPr>
              <a:defRPr sz="1500" b="1">
                <a:solidFill>
                  <a:srgbClr val="FFFFFF"/>
                </a:solidFill>
              </a:defRPr>
            </a:lvl8pPr>
            <a:lvl9pPr>
              <a:defRPr sz="1500" b="1">
                <a:solidFill>
                  <a:srgbClr val="FFFFFF"/>
                </a:solidFill>
              </a:defRPr>
            </a:lvl9pPr>
          </a:lstStyle>
          <a:p>
            <a:pPr>
              <a:defRPr sz="1500" b="1">
                <a:solidFill>
                  <a:srgbClr val="FFFFFF"/>
                </a:solidFill>
              </a:defRPr>
            </a:pPr>
            <a:r>
              <a:rPr sz="1500" b="1">
                <a:solidFill>
                  <a:srgbClr val="FFFFFF"/>
                </a:solidFill>
              </a:rPr>
              <a:t>Mr Mohamed Abu Yousif</a:t>
            </a:r>
          </a:p>
        </p:txBody>
      </p:sp>
      <p:sp>
        <p:nvSpPr>
          <p:cNvPr id="9104" name="presenter-1-role">
            <a:extLst>
              <a:ext uri="{FF2B5EF4-FFF2-40B4-BE49-F238E27FC236}">
                <a16:creationId xmlns:a16="http://schemas.microsoft.com/office/drawing/2014/main" id="{D17B7A52-9ECE-4021-ACF9-711E84FC1B0A}"/>
              </a:ext>
            </a:extLst>
          </p:cNvPr>
          <p:cNvSpPr>
            <a:spLocks noGrp="1"/>
          </p:cNvSpPr>
          <p:nvPr/>
        </p:nvSpPr>
        <p:spPr>
          <a:xfrm>
            <a:off x="4371975" y="5829300"/>
            <a:ext cx="3429000" cy="228600"/>
          </a:xfrm>
          <a:prstGeom prst="rect">
            <a:avLst/>
          </a:prstGeom>
          <a:noFill/>
          <a:ln w="0">
            <a:noFill/>
          </a:ln>
        </p:spPr>
        <p:txBody>
          <a:bodyPr anchor="ctr"/>
          <a:lstStyle>
            <a:defPPr>
              <a:defRPr sz="1275" b="0">
                <a:solidFill>
                  <a:srgbClr val="BFBFBF"/>
                </a:solidFill>
              </a:defRPr>
            </a:defPPr>
            <a:lvl1pPr>
              <a:defRPr sz="1275" b="0">
                <a:solidFill>
                  <a:srgbClr val="BFBFBF"/>
                </a:solidFill>
              </a:defRPr>
            </a:lvl1pPr>
            <a:lvl2pPr>
              <a:defRPr sz="1275" b="0">
                <a:solidFill>
                  <a:srgbClr val="BFBFBF"/>
                </a:solidFill>
              </a:defRPr>
            </a:lvl2pPr>
            <a:lvl3pPr>
              <a:defRPr sz="1275" b="0">
                <a:solidFill>
                  <a:srgbClr val="BFBFBF"/>
                </a:solidFill>
              </a:defRPr>
            </a:lvl3pPr>
            <a:lvl4pPr>
              <a:defRPr sz="1275" b="0">
                <a:solidFill>
                  <a:srgbClr val="BFBFBF"/>
                </a:solidFill>
              </a:defRPr>
            </a:lvl4pPr>
            <a:lvl5pPr>
              <a:defRPr sz="1275" b="0">
                <a:solidFill>
                  <a:srgbClr val="BFBFBF"/>
                </a:solidFill>
              </a:defRPr>
            </a:lvl5pPr>
            <a:lvl6pPr>
              <a:defRPr sz="1275" b="0">
                <a:solidFill>
                  <a:srgbClr val="BFBFBF"/>
                </a:solidFill>
              </a:defRPr>
            </a:lvl6pPr>
            <a:lvl7pPr>
              <a:defRPr sz="1275" b="0">
                <a:solidFill>
                  <a:srgbClr val="BFBFBF"/>
                </a:solidFill>
              </a:defRPr>
            </a:lvl7pPr>
            <a:lvl8pPr>
              <a:defRPr sz="1275" b="0">
                <a:solidFill>
                  <a:srgbClr val="BFBFBF"/>
                </a:solidFill>
              </a:defRPr>
            </a:lvl8pPr>
            <a:lvl9pPr>
              <a:defRPr sz="1275" b="0">
                <a:solidFill>
                  <a:srgbClr val="BFBFBF"/>
                </a:solidFill>
              </a:defRPr>
            </a:lvl9pPr>
          </a:lstStyle>
          <a:p>
            <a:pPr>
              <a:defRPr sz="1275" b="0">
                <a:solidFill>
                  <a:srgbClr val="BFBFBF"/>
                </a:solidFill>
              </a:defRPr>
            </a:pPr>
            <a:r>
              <a:rPr sz="1275" b="0">
                <a:solidFill>
                  <a:srgbClr val="BFBFBF"/>
                </a:solidFill>
              </a:rPr>
              <a:t>Consultant Urologist</a:t>
            </a:r>
          </a:p>
        </p:txBody>
      </p:sp>
      <p:sp>
        <p:nvSpPr>
          <p:cNvPr id="9105" name="presenter-1-institution">
            <a:extLst>
              <a:ext uri="{FF2B5EF4-FFF2-40B4-BE49-F238E27FC236}">
                <a16:creationId xmlns:a16="http://schemas.microsoft.com/office/drawing/2014/main" id="{8DF8CE2B-AEFD-41EB-A1F7-2EEB74C09C36}"/>
              </a:ext>
            </a:extLst>
          </p:cNvPr>
          <p:cNvSpPr>
            <a:spLocks noGrp="1"/>
          </p:cNvSpPr>
          <p:nvPr/>
        </p:nvSpPr>
        <p:spPr>
          <a:xfrm>
            <a:off x="4371975" y="6096000"/>
            <a:ext cx="3429000" cy="247650"/>
          </a:xfrm>
          <a:prstGeom prst="rect">
            <a:avLst/>
          </a:prstGeom>
          <a:noFill/>
          <a:ln w="0">
            <a:noFill/>
          </a:ln>
        </p:spPr>
        <p:txBody>
          <a:bodyPr anchor="ctr"/>
          <a:lstStyle>
            <a:defPPr>
              <a:defRPr sz="1125" b="0">
                <a:solidFill>
                  <a:srgbClr val="BFBFBF"/>
                </a:solidFill>
              </a:defRPr>
            </a:defPPr>
            <a:lvl1pPr>
              <a:defRPr sz="1125" b="0">
                <a:solidFill>
                  <a:srgbClr val="BFBFBF"/>
                </a:solidFill>
              </a:defRPr>
            </a:lvl1pPr>
            <a:lvl2pPr>
              <a:defRPr sz="1125" b="0">
                <a:solidFill>
                  <a:srgbClr val="BFBFBF"/>
                </a:solidFill>
              </a:defRPr>
            </a:lvl2pPr>
            <a:lvl3pPr>
              <a:defRPr sz="1125" b="0">
                <a:solidFill>
                  <a:srgbClr val="BFBFBF"/>
                </a:solidFill>
              </a:defRPr>
            </a:lvl3pPr>
            <a:lvl4pPr>
              <a:defRPr sz="1125" b="0">
                <a:solidFill>
                  <a:srgbClr val="BFBFBF"/>
                </a:solidFill>
              </a:defRPr>
            </a:lvl4pPr>
            <a:lvl5pPr>
              <a:defRPr sz="1125" b="0">
                <a:solidFill>
                  <a:srgbClr val="BFBFBF"/>
                </a:solidFill>
              </a:defRPr>
            </a:lvl5pPr>
            <a:lvl6pPr>
              <a:defRPr sz="1125" b="0">
                <a:solidFill>
                  <a:srgbClr val="BFBFBF"/>
                </a:solidFill>
              </a:defRPr>
            </a:lvl6pPr>
            <a:lvl7pPr>
              <a:defRPr sz="1125" b="0">
                <a:solidFill>
                  <a:srgbClr val="BFBFBF"/>
                </a:solidFill>
              </a:defRPr>
            </a:lvl7pPr>
            <a:lvl8pPr>
              <a:defRPr sz="1125" b="0">
                <a:solidFill>
                  <a:srgbClr val="BFBFBF"/>
                </a:solidFill>
              </a:defRPr>
            </a:lvl8pPr>
            <a:lvl9pPr>
              <a:defRPr sz="1125" b="0">
                <a:solidFill>
                  <a:srgbClr val="BFBFBF"/>
                </a:solidFill>
              </a:defRPr>
            </a:lvl9pPr>
          </a:lstStyle>
          <a:p>
            <a:pPr>
              <a:defRPr sz="1125" b="0">
                <a:solidFill>
                  <a:srgbClr val="BFBFBF"/>
                </a:solidFill>
              </a:defRPr>
            </a:pPr>
            <a:r>
              <a:rPr sz="1125" b="0">
                <a:solidFill>
                  <a:srgbClr val="BFBFBF"/>
                </a:solidFill>
              </a:rPr>
              <a:t>Royal Liverpool University Hospital</a:t>
            </a:r>
          </a:p>
        </p:txBody>
      </p:sp>
      <p:sp>
        <p:nvSpPr>
          <p:cNvPr id="9106" name="presenter-2-name">
            <a:extLst>
              <a:ext uri="{FF2B5EF4-FFF2-40B4-BE49-F238E27FC236}">
                <a16:creationId xmlns:a16="http://schemas.microsoft.com/office/drawing/2014/main" id="{44DD31BD-3070-4985-BD0D-2116416699BB}"/>
              </a:ext>
            </a:extLst>
          </p:cNvPr>
          <p:cNvSpPr>
            <a:spLocks noGrp="1"/>
          </p:cNvSpPr>
          <p:nvPr/>
        </p:nvSpPr>
        <p:spPr>
          <a:xfrm>
            <a:off x="8105775" y="5524500"/>
            <a:ext cx="3429000" cy="276225"/>
          </a:xfrm>
          <a:prstGeom prst="rect">
            <a:avLst/>
          </a:prstGeom>
          <a:noFill/>
          <a:ln w="0">
            <a:noFill/>
          </a:ln>
        </p:spPr>
        <p:txBody>
          <a:bodyPr anchor="ctr"/>
          <a:lstStyle>
            <a:defPPr>
              <a:defRPr sz="1500" b="1">
                <a:solidFill>
                  <a:srgbClr val="FFFFFF"/>
                </a:solidFill>
              </a:defRPr>
            </a:defPPr>
            <a:lvl1pPr>
              <a:defRPr sz="1500" b="1">
                <a:solidFill>
                  <a:srgbClr val="FFFFFF"/>
                </a:solidFill>
              </a:defRPr>
            </a:lvl1pPr>
            <a:lvl2pPr>
              <a:defRPr sz="1500" b="1">
                <a:solidFill>
                  <a:srgbClr val="FFFFFF"/>
                </a:solidFill>
              </a:defRPr>
            </a:lvl2pPr>
            <a:lvl3pPr>
              <a:defRPr sz="1500" b="1">
                <a:solidFill>
                  <a:srgbClr val="FFFFFF"/>
                </a:solidFill>
              </a:defRPr>
            </a:lvl3pPr>
            <a:lvl4pPr>
              <a:defRPr sz="1500" b="1">
                <a:solidFill>
                  <a:srgbClr val="FFFFFF"/>
                </a:solidFill>
              </a:defRPr>
            </a:lvl4pPr>
            <a:lvl5pPr>
              <a:defRPr sz="1500" b="1">
                <a:solidFill>
                  <a:srgbClr val="FFFFFF"/>
                </a:solidFill>
              </a:defRPr>
            </a:lvl5pPr>
            <a:lvl6pPr>
              <a:defRPr sz="1500" b="1">
                <a:solidFill>
                  <a:srgbClr val="FFFFFF"/>
                </a:solidFill>
              </a:defRPr>
            </a:lvl6pPr>
            <a:lvl7pPr>
              <a:defRPr sz="1500" b="1">
                <a:solidFill>
                  <a:srgbClr val="FFFFFF"/>
                </a:solidFill>
              </a:defRPr>
            </a:lvl7pPr>
            <a:lvl8pPr>
              <a:defRPr sz="1500" b="1">
                <a:solidFill>
                  <a:srgbClr val="FFFFFF"/>
                </a:solidFill>
              </a:defRPr>
            </a:lvl8pPr>
            <a:lvl9pPr>
              <a:defRPr sz="1500" b="1">
                <a:solidFill>
                  <a:srgbClr val="FFFFFF"/>
                </a:solidFill>
              </a:defRPr>
            </a:lvl9pPr>
          </a:lstStyle>
          <a:p>
            <a:pPr>
              <a:defRPr sz="1500" b="1">
                <a:solidFill>
                  <a:srgbClr val="FFFFFF"/>
                </a:solidFill>
              </a:defRPr>
            </a:pPr>
            <a:r>
              <a:rPr sz="1500" b="1">
                <a:solidFill>
                  <a:srgbClr val="FFFFFF"/>
                </a:solidFill>
              </a:rPr>
              <a:t>Nity G</a:t>
            </a:r>
          </a:p>
        </p:txBody>
      </p:sp>
      <p:sp>
        <p:nvSpPr>
          <p:cNvPr id="9107" name="presenter-2-role">
            <a:extLst>
              <a:ext uri="{FF2B5EF4-FFF2-40B4-BE49-F238E27FC236}">
                <a16:creationId xmlns:a16="http://schemas.microsoft.com/office/drawing/2014/main" id="{861A62EF-782D-474E-8FE7-0D9B36817769}"/>
              </a:ext>
            </a:extLst>
          </p:cNvPr>
          <p:cNvSpPr>
            <a:spLocks noGrp="1"/>
          </p:cNvSpPr>
          <p:nvPr/>
        </p:nvSpPr>
        <p:spPr>
          <a:xfrm>
            <a:off x="8105775" y="5829300"/>
            <a:ext cx="3429000" cy="228600"/>
          </a:xfrm>
          <a:prstGeom prst="rect">
            <a:avLst/>
          </a:prstGeom>
          <a:noFill/>
          <a:ln w="0">
            <a:noFill/>
          </a:ln>
        </p:spPr>
        <p:txBody>
          <a:bodyPr anchor="ctr"/>
          <a:lstStyle>
            <a:defPPr>
              <a:defRPr sz="1275" b="0">
                <a:solidFill>
                  <a:srgbClr val="BFBFBF"/>
                </a:solidFill>
              </a:defRPr>
            </a:defPPr>
            <a:lvl1pPr>
              <a:defRPr sz="1275" b="0">
                <a:solidFill>
                  <a:srgbClr val="BFBFBF"/>
                </a:solidFill>
              </a:defRPr>
            </a:lvl1pPr>
            <a:lvl2pPr>
              <a:defRPr sz="1275" b="0">
                <a:solidFill>
                  <a:srgbClr val="BFBFBF"/>
                </a:solidFill>
              </a:defRPr>
            </a:lvl2pPr>
            <a:lvl3pPr>
              <a:defRPr sz="1275" b="0">
                <a:solidFill>
                  <a:srgbClr val="BFBFBF"/>
                </a:solidFill>
              </a:defRPr>
            </a:lvl3pPr>
            <a:lvl4pPr>
              <a:defRPr sz="1275" b="0">
                <a:solidFill>
                  <a:srgbClr val="BFBFBF"/>
                </a:solidFill>
              </a:defRPr>
            </a:lvl4pPr>
            <a:lvl5pPr>
              <a:defRPr sz="1275" b="0">
                <a:solidFill>
                  <a:srgbClr val="BFBFBF"/>
                </a:solidFill>
              </a:defRPr>
            </a:lvl5pPr>
            <a:lvl6pPr>
              <a:defRPr sz="1275" b="0">
                <a:solidFill>
                  <a:srgbClr val="BFBFBF"/>
                </a:solidFill>
              </a:defRPr>
            </a:lvl6pPr>
            <a:lvl7pPr>
              <a:defRPr sz="1275" b="0">
                <a:solidFill>
                  <a:srgbClr val="BFBFBF"/>
                </a:solidFill>
              </a:defRPr>
            </a:lvl7pPr>
            <a:lvl8pPr>
              <a:defRPr sz="1275" b="0">
                <a:solidFill>
                  <a:srgbClr val="BFBFBF"/>
                </a:solidFill>
              </a:defRPr>
            </a:lvl8pPr>
            <a:lvl9pPr>
              <a:defRPr sz="1275" b="0">
                <a:solidFill>
                  <a:srgbClr val="BFBFBF"/>
                </a:solidFill>
              </a:defRPr>
            </a:lvl9pPr>
          </a:lstStyle>
          <a:p>
            <a:pPr>
              <a:defRPr sz="1275" b="0">
                <a:solidFill>
                  <a:srgbClr val="BFBFBF"/>
                </a:solidFill>
              </a:defRPr>
            </a:pPr>
            <a:r>
              <a:rPr sz="1275" b="0">
                <a:solidFill>
                  <a:srgbClr val="BFBFBF"/>
                </a:solidFill>
              </a:rPr>
              <a:t>ST5 Urology Registrar</a:t>
            </a:r>
          </a:p>
        </p:txBody>
      </p:sp>
      <p:sp>
        <p:nvSpPr>
          <p:cNvPr id="9108" name="presenter-2-institution">
            <a:extLst>
              <a:ext uri="{FF2B5EF4-FFF2-40B4-BE49-F238E27FC236}">
                <a16:creationId xmlns:a16="http://schemas.microsoft.com/office/drawing/2014/main" id="{4C6D888B-E5A9-4F79-B937-681F82F53836}"/>
              </a:ext>
            </a:extLst>
          </p:cNvPr>
          <p:cNvSpPr>
            <a:spLocks noGrp="1"/>
          </p:cNvSpPr>
          <p:nvPr/>
        </p:nvSpPr>
        <p:spPr>
          <a:xfrm>
            <a:off x="8105775" y="6096000"/>
            <a:ext cx="3429000" cy="247650"/>
          </a:xfrm>
          <a:prstGeom prst="rect">
            <a:avLst/>
          </a:prstGeom>
          <a:noFill/>
          <a:ln w="0">
            <a:noFill/>
          </a:ln>
        </p:spPr>
        <p:txBody>
          <a:bodyPr anchor="ctr"/>
          <a:lstStyle>
            <a:defPPr>
              <a:defRPr sz="1125" b="0">
                <a:solidFill>
                  <a:srgbClr val="BFBFBF"/>
                </a:solidFill>
              </a:defRPr>
            </a:defPPr>
            <a:lvl1pPr>
              <a:defRPr sz="1125" b="0">
                <a:solidFill>
                  <a:srgbClr val="BFBFBF"/>
                </a:solidFill>
              </a:defRPr>
            </a:lvl1pPr>
            <a:lvl2pPr>
              <a:defRPr sz="1125" b="0">
                <a:solidFill>
                  <a:srgbClr val="BFBFBF"/>
                </a:solidFill>
              </a:defRPr>
            </a:lvl2pPr>
            <a:lvl3pPr>
              <a:defRPr sz="1125" b="0">
                <a:solidFill>
                  <a:srgbClr val="BFBFBF"/>
                </a:solidFill>
              </a:defRPr>
            </a:lvl3pPr>
            <a:lvl4pPr>
              <a:defRPr sz="1125" b="0">
                <a:solidFill>
                  <a:srgbClr val="BFBFBF"/>
                </a:solidFill>
              </a:defRPr>
            </a:lvl4pPr>
            <a:lvl5pPr>
              <a:defRPr sz="1125" b="0">
                <a:solidFill>
                  <a:srgbClr val="BFBFBF"/>
                </a:solidFill>
              </a:defRPr>
            </a:lvl5pPr>
            <a:lvl6pPr>
              <a:defRPr sz="1125" b="0">
                <a:solidFill>
                  <a:srgbClr val="BFBFBF"/>
                </a:solidFill>
              </a:defRPr>
            </a:lvl6pPr>
            <a:lvl7pPr>
              <a:defRPr sz="1125" b="0">
                <a:solidFill>
                  <a:srgbClr val="BFBFBF"/>
                </a:solidFill>
              </a:defRPr>
            </a:lvl7pPr>
            <a:lvl8pPr>
              <a:defRPr sz="1125" b="0">
                <a:solidFill>
                  <a:srgbClr val="BFBFBF"/>
                </a:solidFill>
              </a:defRPr>
            </a:lvl8pPr>
            <a:lvl9pPr>
              <a:defRPr sz="1125" b="0">
                <a:solidFill>
                  <a:srgbClr val="BFBFBF"/>
                </a:solidFill>
              </a:defRPr>
            </a:lvl9pPr>
          </a:lstStyle>
          <a:p>
            <a:pPr>
              <a:defRPr sz="1125" b="0">
                <a:solidFill>
                  <a:srgbClr val="BFBFBF"/>
                </a:solidFill>
              </a:defRPr>
            </a:pPr>
            <a:r>
              <a:rPr sz="1125" b="0">
                <a:solidFill>
                  <a:srgbClr val="BFBFBF"/>
                </a:solidFill>
              </a:rPr>
              <a:t>Northwest (Mersey)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616"/>
        </a:solidFill>
        <a:effectLst/>
      </p:bgPr>
    </p:bg>
    <p:spTree>
      <p:nvGrpSpPr>
        <p:cNvPr id="1" name=""/>
        <p:cNvGrpSpPr/>
        <p:nvPr/>
      </p:nvGrpSpPr>
      <p:grpSpPr>
        <a:xfrm>
          <a:off x="0" y="0"/>
          <a:ext cx="0" cy="0"/>
          <a:chOff x="0" y="0"/>
          <a:chExt cx="0" cy="0"/>
        </a:xfrm>
      </p:grpSpPr>
      <p:sp>
        <p:nvSpPr>
          <p:cNvPr id="4" name="Text 2"/>
          <p:cNvSpPr txBox="1"/>
          <p:nvPr/>
        </p:nvSpPr>
        <p:spPr>
          <a:xfrm>
            <a:off x="640080" y="3457575"/>
            <a:ext cx="5476875" cy="1285875"/>
          </a:xfrm>
          <a:prstGeom prst="rect">
            <a:avLst/>
          </a:prstGeom>
          <a:noFill/>
          <a:ln/>
        </p:spPr>
        <p:txBody>
          <a:bodyPr wrap="square" lIns="0" tIns="0" rIns="0" bIns="0" rtlCol="0" anchor="t"/>
          <a:lstStyle/>
          <a:p>
            <a:pPr algn="l" indent="0" marL="0">
              <a:lnSpc>
                <a:spcPct val="120000"/>
              </a:lnSpc>
              <a:buNone/>
            </a:pPr>
            <a:r>
              <a:rPr lang="en-US" sz="1500" dirty="0">
                <a:solidFill>
                  <a:srgbClr val="BFBFBF"/>
                </a:solidFill>
                <a:latin typeface="Plus Jakarta Sans" pitchFamily="34" charset="0"/>
                <a:ea typeface="Segoe UI" pitchFamily="34" charset="-122"/>
                <a:cs typeface="Segoe UI" pitchFamily="34" charset="-120"/>
              </a:rPr>
              <a:t>Can this patient obtain useful continence while storing and emptying safely and operating the device?</a:t>
            </a:r>
            <a:endParaRPr lang="en-US" sz="1500" dirty="0">
              <a:solidFill>
                <a:srgbClr val="BFBFBF"/>
              </a:solidFill>
              <a:latin typeface="Plus Jakarta Sans"/>
            </a:endParaRPr>
          </a:p>
        </p:txBody>
      </p:sp>
      <p:sp>
        <p:nvSpPr>
          <p:cNvPr id="5" name="Text 3"/>
          <p:cNvSpPr txBox="1"/>
          <p:nvPr/>
        </p:nvSpPr>
        <p:spPr>
          <a:xfrm>
            <a:off x="7223760" y="1188720"/>
            <a:ext cx="4327855" cy="274320"/>
          </a:xfrm>
          <a:prstGeom prst="rect">
            <a:avLst/>
          </a:prstGeom>
          <a:noFill/>
          <a:ln/>
        </p:spPr>
        <p:txBody>
          <a:bodyPr wrap="square" lIns="0" tIns="0" rIns="0" bIns="0" rtlCol="0" anchor="t"/>
          <a:lstStyle/>
          <a:p>
            <a:pPr algn="l" indent="0" marL="0">
              <a:buNone/>
            </a:pPr>
            <a:r>
              <a:rPr lang="en-US" sz="1000" b="1" spc="200" kern="0" dirty="0">
                <a:solidFill>
                  <a:srgbClr val="BFBFBF"/>
                </a:solidFill>
                <a:latin typeface="Plus Jakarta Sans" pitchFamily="34" charset="0"/>
                <a:ea typeface="Segoe UI" pitchFamily="34" charset="-122"/>
                <a:cs typeface="Segoe UI" pitchFamily="34" charset="-120"/>
              </a:rPr>
              <a:t>IN THIS SECTION</a:t>
            </a:r>
            <a:endParaRPr lang="en-US" sz="1000" dirty="0">
              <a:latin typeface="Plus Jakarta Sans"/>
            </a:endParaRPr>
          </a:p>
        </p:txBody>
      </p:sp>
      <p:sp>
        <p:nvSpPr>
          <p:cNvPr id="6" name="Text 4"/>
          <p:cNvSpPr txBox="1"/>
          <p:nvPr/>
        </p:nvSpPr>
        <p:spPr>
          <a:xfrm>
            <a:off x="7223760" y="1645920"/>
            <a:ext cx="457200" cy="426720"/>
          </a:xfrm>
          <a:prstGeom prst="rect">
            <a:avLst/>
          </a:prstGeom>
          <a:noFill/>
          <a:ln/>
        </p:spPr>
        <p:txBody>
          <a:bodyPr wrap="square" lIns="0" tIns="0" rIns="0" bIns="0" rtlCol="0" anchor="ctr"/>
          <a:lstStyle/>
          <a:p>
            <a:pPr algn="l" indent="0" marL="0">
              <a:buNone/>
            </a:pPr>
            <a:r>
              <a:rPr lang="en-US" sz="1100" b="1" dirty="0">
                <a:solidFill>
                  <a:srgbClr val="89FF00"/>
                </a:solidFill>
                <a:latin typeface="Plus Jakarta Sans" pitchFamily="34" charset="0"/>
                <a:ea typeface="Segoe UI" pitchFamily="34" charset="-122"/>
                <a:cs typeface="Segoe UI" pitchFamily="34" charset="-120"/>
              </a:rPr>
              <a:t>01</a:t>
            </a:r>
            <a:endParaRPr lang="en-US" sz="1100" dirty="0">
              <a:solidFill>
                <a:srgbClr val="89FF00"/>
              </a:solidFill>
              <a:latin typeface="Plus Jakarta Sans"/>
            </a:endParaRPr>
          </a:p>
        </p:txBody>
      </p:sp>
      <p:sp>
        <p:nvSpPr>
          <p:cNvPr id="7" name="Text 5"/>
          <p:cNvSpPr txBox="1"/>
          <p:nvPr/>
        </p:nvSpPr>
        <p:spPr>
          <a:xfrm>
            <a:off x="7680960" y="1645920"/>
            <a:ext cx="3870655" cy="426720"/>
          </a:xfrm>
          <a:prstGeom prst="rect">
            <a:avLst/>
          </a:prstGeom>
          <a:noFill/>
          <a:ln/>
        </p:spPr>
        <p:txBody>
          <a:bodyPr wrap="square" lIns="0" tIns="0" rIns="0" bIns="0" rtlCol="0" anchor="ctr"/>
          <a:lstStyle/>
          <a:p>
            <a:pPr algn="l" indent="0" marL="0">
              <a:buNone/>
            </a:pPr>
            <a:r>
              <a:rPr lang="en-US" sz="1300" dirty="0">
                <a:solidFill>
                  <a:srgbClr val="F4F5F7"/>
                </a:solidFill>
                <a:latin typeface="Plus Jakarta Sans" pitchFamily="34" charset="0"/>
                <a:ea typeface="Segoe UI" pitchFamily="34" charset="-122"/>
                <a:cs typeface="Segoe UI" pitchFamily="34" charset="-120"/>
              </a:rPr>
              <a:t>The decision before theatre</a:t>
            </a:r>
            <a:endParaRPr lang="en-US" sz="1300" dirty="0">
              <a:latin typeface="Plus Jakarta Sans"/>
            </a:endParaRPr>
          </a:p>
        </p:txBody>
      </p:sp>
      <p:sp>
        <p:nvSpPr>
          <p:cNvPr id="8" name="Text 6"/>
          <p:cNvSpPr txBox="1"/>
          <p:nvPr/>
        </p:nvSpPr>
        <p:spPr>
          <a:xfrm>
            <a:off x="7223760" y="2072640"/>
            <a:ext cx="457200" cy="426720"/>
          </a:xfrm>
          <a:prstGeom prst="rect">
            <a:avLst/>
          </a:prstGeom>
          <a:noFill/>
          <a:ln/>
        </p:spPr>
        <p:txBody>
          <a:bodyPr wrap="square" lIns="0" tIns="0" rIns="0" bIns="0" rtlCol="0" anchor="ctr"/>
          <a:lstStyle/>
          <a:p>
            <a:pPr algn="l" indent="0" marL="0">
              <a:buNone/>
            </a:pPr>
            <a:r>
              <a:rPr lang="en-US" sz="1100" b="1" dirty="0">
                <a:solidFill>
                  <a:srgbClr val="89FF00"/>
                </a:solidFill>
                <a:latin typeface="Plus Jakarta Sans" pitchFamily="34" charset="0"/>
                <a:ea typeface="Segoe UI" pitchFamily="34" charset="-122"/>
                <a:cs typeface="Segoe UI" pitchFamily="34" charset="-120"/>
              </a:rPr>
              <a:t>02</a:t>
            </a:r>
            <a:endParaRPr lang="en-US" sz="1100" dirty="0">
              <a:solidFill>
                <a:srgbClr val="89FF00"/>
              </a:solidFill>
              <a:latin typeface="Plus Jakarta Sans"/>
            </a:endParaRPr>
          </a:p>
        </p:txBody>
      </p:sp>
      <p:sp>
        <p:nvSpPr>
          <p:cNvPr id="9" name="Text 7"/>
          <p:cNvSpPr txBox="1"/>
          <p:nvPr/>
        </p:nvSpPr>
        <p:spPr>
          <a:xfrm>
            <a:off x="7680960" y="2072640"/>
            <a:ext cx="3870655" cy="426720"/>
          </a:xfrm>
          <a:prstGeom prst="rect">
            <a:avLst/>
          </a:prstGeom>
          <a:noFill/>
          <a:ln/>
        </p:spPr>
        <p:txBody>
          <a:bodyPr wrap="square" lIns="0" tIns="0" rIns="0" bIns="0" rtlCol="0" anchor="ctr"/>
          <a:lstStyle/>
          <a:p>
            <a:pPr algn="l" indent="0" marL="0">
              <a:buNone/>
            </a:pPr>
            <a:r>
              <a:rPr lang="en-US" sz="1300" dirty="0">
                <a:solidFill>
                  <a:srgbClr val="F4F5F7"/>
                </a:solidFill>
                <a:latin typeface="Plus Jakarta Sans" pitchFamily="34" charset="0"/>
                <a:ea typeface="Segoe UI" pitchFamily="34" charset="-122"/>
                <a:cs typeface="Segoe UI" pitchFamily="34" charset="-120"/>
              </a:rPr>
              <a:t>Evidence and device boundaries</a:t>
            </a:r>
            <a:endParaRPr lang="en-US" sz="1300" dirty="0">
              <a:latin typeface="Plus Jakarta Sans"/>
            </a:endParaRPr>
          </a:p>
        </p:txBody>
      </p:sp>
      <p:sp>
        <p:nvSpPr>
          <p:cNvPr id="10" name="Text 8"/>
          <p:cNvSpPr txBox="1"/>
          <p:nvPr/>
        </p:nvSpPr>
        <p:spPr>
          <a:xfrm>
            <a:off x="7223760" y="2499360"/>
            <a:ext cx="457200" cy="426720"/>
          </a:xfrm>
          <a:prstGeom prst="rect">
            <a:avLst/>
          </a:prstGeom>
          <a:noFill/>
          <a:ln/>
        </p:spPr>
        <p:txBody>
          <a:bodyPr wrap="square" lIns="0" tIns="0" rIns="0" bIns="0" rtlCol="0" anchor="ctr"/>
          <a:lstStyle/>
          <a:p>
            <a:pPr algn="l" indent="0" marL="0">
              <a:buNone/>
            </a:pPr>
            <a:r>
              <a:rPr lang="en-US" sz="1100" b="1" dirty="0">
                <a:solidFill>
                  <a:srgbClr val="89FF00"/>
                </a:solidFill>
                <a:latin typeface="Plus Jakarta Sans" pitchFamily="34" charset="0"/>
                <a:ea typeface="Segoe UI" pitchFamily="34" charset="-122"/>
                <a:cs typeface="Segoe UI" pitchFamily="34" charset="-120"/>
              </a:rPr>
              <a:t>03</a:t>
            </a:r>
            <a:endParaRPr lang="en-US" sz="1100" dirty="0">
              <a:solidFill>
                <a:srgbClr val="89FF00"/>
              </a:solidFill>
              <a:latin typeface="Plus Jakarta Sans"/>
            </a:endParaRPr>
          </a:p>
        </p:txBody>
      </p:sp>
      <p:sp>
        <p:nvSpPr>
          <p:cNvPr id="11" name="Text 9"/>
          <p:cNvSpPr txBox="1"/>
          <p:nvPr/>
        </p:nvSpPr>
        <p:spPr>
          <a:xfrm>
            <a:off x="7680960" y="2499360"/>
            <a:ext cx="3870655" cy="426720"/>
          </a:xfrm>
          <a:prstGeom prst="rect">
            <a:avLst/>
          </a:prstGeom>
          <a:noFill/>
          <a:ln/>
        </p:spPr>
        <p:txBody>
          <a:bodyPr wrap="square" lIns="0" tIns="0" rIns="0" bIns="0" rtlCol="0" anchor="ctr"/>
          <a:lstStyle/>
          <a:p>
            <a:pPr algn="l" indent="0" marL="0">
              <a:buNone/>
            </a:pPr>
            <a:r>
              <a:rPr lang="en-US" sz="1300" dirty="0">
                <a:solidFill>
                  <a:srgbClr val="F4F5F7"/>
                </a:solidFill>
                <a:latin typeface="Plus Jakarta Sans" pitchFamily="34" charset="0"/>
                <a:ea typeface="Segoe UI" pitchFamily="34" charset="-122"/>
                <a:cs typeface="Segoe UI" pitchFamily="34" charset="-120"/>
              </a:rPr>
              <a:t>Leakage mechanism and patient goals</a:t>
            </a:r>
            <a:endParaRPr lang="en-US" sz="1300" dirty="0">
              <a:latin typeface="Plus Jakarta Sans"/>
            </a:endParaRPr>
          </a:p>
        </p:txBody>
      </p:sp>
      <p:sp>
        <p:nvSpPr>
          <p:cNvPr id="12" name="Text 10"/>
          <p:cNvSpPr txBox="1"/>
          <p:nvPr/>
        </p:nvSpPr>
        <p:spPr>
          <a:xfrm>
            <a:off x="7223760" y="2926080"/>
            <a:ext cx="457200" cy="426720"/>
          </a:xfrm>
          <a:prstGeom prst="rect">
            <a:avLst/>
          </a:prstGeom>
          <a:noFill/>
          <a:ln/>
        </p:spPr>
        <p:txBody>
          <a:bodyPr wrap="square" lIns="0" tIns="0" rIns="0" bIns="0" rtlCol="0" anchor="ctr"/>
          <a:lstStyle/>
          <a:p>
            <a:pPr algn="l" indent="0" marL="0">
              <a:buNone/>
            </a:pPr>
            <a:r>
              <a:rPr lang="en-US" sz="1100" b="1" dirty="0">
                <a:solidFill>
                  <a:srgbClr val="89FF00"/>
                </a:solidFill>
                <a:latin typeface="Plus Jakarta Sans" pitchFamily="34" charset="0"/>
                <a:ea typeface="Segoe UI" pitchFamily="34" charset="-122"/>
                <a:cs typeface="Segoe UI" pitchFamily="34" charset="-120"/>
              </a:rPr>
              <a:t>04</a:t>
            </a:r>
            <a:endParaRPr lang="en-US" sz="1100" dirty="0">
              <a:solidFill>
                <a:srgbClr val="89FF00"/>
              </a:solidFill>
              <a:latin typeface="Plus Jakarta Sans"/>
            </a:endParaRPr>
          </a:p>
        </p:txBody>
      </p:sp>
      <p:sp>
        <p:nvSpPr>
          <p:cNvPr id="13" name="Text 11"/>
          <p:cNvSpPr txBox="1"/>
          <p:nvPr/>
        </p:nvSpPr>
        <p:spPr>
          <a:xfrm>
            <a:off x="7680960" y="2926080"/>
            <a:ext cx="3870655" cy="426720"/>
          </a:xfrm>
          <a:prstGeom prst="rect">
            <a:avLst/>
          </a:prstGeom>
          <a:noFill/>
          <a:ln/>
        </p:spPr>
        <p:txBody>
          <a:bodyPr wrap="square" lIns="0" tIns="0" rIns="0" bIns="0" rtlCol="0" anchor="ctr"/>
          <a:lstStyle/>
          <a:p>
            <a:pPr algn="l" indent="0" marL="0">
              <a:buNone/>
            </a:pPr>
            <a:r>
              <a:rPr lang="en-US" sz="1300" dirty="0">
                <a:solidFill>
                  <a:srgbClr val="F4F5F7"/>
                </a:solidFill>
                <a:latin typeface="Plus Jakarta Sans" pitchFamily="34" charset="0"/>
                <a:ea typeface="Segoe UI" pitchFamily="34" charset="-122"/>
                <a:cs typeface="Segoe UI" pitchFamily="34" charset="-120"/>
              </a:rPr>
              <a:t>Timing after prostate treatment</a:t>
            </a:r>
            <a:endParaRPr lang="en-US" sz="1300" dirty="0">
              <a:latin typeface="Plus Jakarta Sans"/>
            </a:endParaRPr>
          </a:p>
        </p:txBody>
      </p:sp>
      <p:sp>
        <p:nvSpPr>
          <p:cNvPr id="14" name="Text 12"/>
          <p:cNvSpPr txBox="1"/>
          <p:nvPr/>
        </p:nvSpPr>
        <p:spPr>
          <a:xfrm>
            <a:off x="7223760" y="3352800"/>
            <a:ext cx="457200" cy="426720"/>
          </a:xfrm>
          <a:prstGeom prst="rect">
            <a:avLst/>
          </a:prstGeom>
          <a:noFill/>
          <a:ln/>
        </p:spPr>
        <p:txBody>
          <a:bodyPr wrap="square" lIns="0" tIns="0" rIns="0" bIns="0" rtlCol="0" anchor="ctr"/>
          <a:lstStyle/>
          <a:p>
            <a:pPr algn="l" indent="0" marL="0">
              <a:buNone/>
            </a:pPr>
            <a:r>
              <a:rPr lang="en-US" sz="1100" b="1" dirty="0">
                <a:solidFill>
                  <a:srgbClr val="89FF00"/>
                </a:solidFill>
                <a:latin typeface="Plus Jakarta Sans" pitchFamily="34" charset="0"/>
                <a:ea typeface="Segoe UI" pitchFamily="34" charset="-122"/>
                <a:cs typeface="Segoe UI" pitchFamily="34" charset="-120"/>
              </a:rPr>
              <a:t>05</a:t>
            </a:r>
            <a:endParaRPr lang="en-US" sz="1100" dirty="0">
              <a:solidFill>
                <a:srgbClr val="89FF00"/>
              </a:solidFill>
              <a:latin typeface="Plus Jakarta Sans"/>
            </a:endParaRPr>
          </a:p>
        </p:txBody>
      </p:sp>
      <p:sp>
        <p:nvSpPr>
          <p:cNvPr id="15" name="Text 13"/>
          <p:cNvSpPr txBox="1"/>
          <p:nvPr/>
        </p:nvSpPr>
        <p:spPr>
          <a:xfrm>
            <a:off x="7680960" y="3352800"/>
            <a:ext cx="3870655" cy="426720"/>
          </a:xfrm>
          <a:prstGeom prst="rect">
            <a:avLst/>
          </a:prstGeom>
          <a:noFill/>
          <a:ln/>
        </p:spPr>
        <p:txBody>
          <a:bodyPr wrap="square" lIns="0" tIns="0" rIns="0" bIns="0" rtlCol="0" anchor="ctr"/>
          <a:lstStyle/>
          <a:p>
            <a:pPr algn="l" indent="0" marL="0">
              <a:buNone/>
            </a:pPr>
            <a:r>
              <a:rPr lang="en-US" sz="1300" dirty="0">
                <a:solidFill>
                  <a:srgbClr val="F4F5F7"/>
                </a:solidFill>
                <a:latin typeface="Plus Jakarta Sans" pitchFamily="34" charset="0"/>
                <a:ea typeface="Segoe UI" pitchFamily="34" charset="-122"/>
                <a:cs typeface="Segoe UI" pitchFamily="34" charset="-120"/>
              </a:rPr>
              <a:t>Pump use over time</a:t>
            </a:r>
            <a:endParaRPr lang="en-US" sz="1300" dirty="0">
              <a:latin typeface="Plus Jakarta Sans"/>
            </a:endParaRPr>
          </a:p>
        </p:txBody>
      </p:sp>
      <p:sp>
        <p:nvSpPr>
          <p:cNvPr id="16" name="Text 14"/>
          <p:cNvSpPr txBox="1"/>
          <p:nvPr/>
        </p:nvSpPr>
        <p:spPr>
          <a:xfrm>
            <a:off x="7223760" y="3779520"/>
            <a:ext cx="457200" cy="426720"/>
          </a:xfrm>
          <a:prstGeom prst="rect">
            <a:avLst/>
          </a:prstGeom>
          <a:noFill/>
          <a:ln/>
        </p:spPr>
        <p:txBody>
          <a:bodyPr wrap="square" lIns="0" tIns="0" rIns="0" bIns="0" rtlCol="0" anchor="ctr"/>
          <a:lstStyle/>
          <a:p>
            <a:pPr algn="l" indent="0" marL="0">
              <a:buNone/>
            </a:pPr>
            <a:r>
              <a:rPr lang="en-US" sz="1100" b="1" dirty="0">
                <a:solidFill>
                  <a:srgbClr val="89FF00"/>
                </a:solidFill>
                <a:latin typeface="Plus Jakarta Sans" pitchFamily="34" charset="0"/>
                <a:ea typeface="Segoe UI" pitchFamily="34" charset="-122"/>
                <a:cs typeface="Segoe UI" pitchFamily="34" charset="-120"/>
              </a:rPr>
              <a:t>06</a:t>
            </a:r>
            <a:endParaRPr lang="en-US" sz="1100" dirty="0">
              <a:solidFill>
                <a:srgbClr val="89FF00"/>
              </a:solidFill>
              <a:latin typeface="Plus Jakarta Sans"/>
            </a:endParaRPr>
          </a:p>
        </p:txBody>
      </p:sp>
      <p:sp>
        <p:nvSpPr>
          <p:cNvPr id="17" name="Text 15"/>
          <p:cNvSpPr txBox="1"/>
          <p:nvPr/>
        </p:nvSpPr>
        <p:spPr>
          <a:xfrm>
            <a:off x="7680960" y="3779520"/>
            <a:ext cx="3870655" cy="426720"/>
          </a:xfrm>
          <a:prstGeom prst="rect">
            <a:avLst/>
          </a:prstGeom>
          <a:noFill/>
          <a:ln/>
        </p:spPr>
        <p:txBody>
          <a:bodyPr wrap="square" lIns="0" tIns="0" rIns="0" bIns="0" rtlCol="0" anchor="ctr"/>
          <a:lstStyle/>
          <a:p>
            <a:pPr algn="l" indent="0" marL="0">
              <a:buNone/>
            </a:pPr>
            <a:r>
              <a:rPr lang="en-US" sz="1300" dirty="0">
                <a:solidFill>
                  <a:srgbClr val="F4F5F7"/>
                </a:solidFill>
                <a:latin typeface="Plus Jakarta Sans" pitchFamily="34" charset="0"/>
                <a:ea typeface="Segoe UI" pitchFamily="34" charset="-122"/>
                <a:cs typeface="Segoe UI" pitchFamily="34" charset="-120"/>
              </a:rPr>
              <a:t>Flexible cystoscopy before implantation</a:t>
            </a:r>
            <a:endParaRPr lang="en-US" sz="1300" dirty="0">
              <a:latin typeface="Plus Jakarta Sans"/>
            </a:endParaRPr>
          </a:p>
        </p:txBody>
      </p:sp>
      <p:sp>
        <p:nvSpPr>
          <p:cNvPr id="18" name="Text 16"/>
          <p:cNvSpPr txBox="1"/>
          <p:nvPr/>
        </p:nvSpPr>
        <p:spPr>
          <a:xfrm>
            <a:off x="7223760" y="4206240"/>
            <a:ext cx="457200" cy="426720"/>
          </a:xfrm>
          <a:prstGeom prst="rect">
            <a:avLst/>
          </a:prstGeom>
          <a:noFill/>
          <a:ln/>
        </p:spPr>
        <p:txBody>
          <a:bodyPr wrap="square" lIns="0" tIns="0" rIns="0" bIns="0" rtlCol="0" anchor="ctr"/>
          <a:lstStyle/>
          <a:p>
            <a:pPr algn="l" indent="0" marL="0">
              <a:buNone/>
            </a:pPr>
            <a:r>
              <a:rPr lang="en-US" sz="1100" b="1" dirty="0">
                <a:solidFill>
                  <a:srgbClr val="89FF00"/>
                </a:solidFill>
                <a:latin typeface="Plus Jakarta Sans" pitchFamily="34" charset="0"/>
                <a:ea typeface="Segoe UI" pitchFamily="34" charset="-122"/>
                <a:cs typeface="Segoe UI" pitchFamily="34" charset="-120"/>
              </a:rPr>
              <a:t>07</a:t>
            </a:r>
            <a:endParaRPr lang="en-US" sz="1100" dirty="0">
              <a:solidFill>
                <a:srgbClr val="89FF00"/>
              </a:solidFill>
              <a:latin typeface="Plus Jakarta Sans"/>
            </a:endParaRPr>
          </a:p>
        </p:txBody>
      </p:sp>
      <p:sp>
        <p:nvSpPr>
          <p:cNvPr id="19" name="Text 17"/>
          <p:cNvSpPr txBox="1"/>
          <p:nvPr/>
        </p:nvSpPr>
        <p:spPr>
          <a:xfrm>
            <a:off x="7680960" y="4206240"/>
            <a:ext cx="3870655" cy="426720"/>
          </a:xfrm>
          <a:prstGeom prst="rect">
            <a:avLst/>
          </a:prstGeom>
          <a:noFill/>
          <a:ln/>
        </p:spPr>
        <p:txBody>
          <a:bodyPr wrap="square" lIns="0" tIns="0" rIns="0" bIns="0" rtlCol="0" anchor="ctr"/>
          <a:lstStyle/>
          <a:p>
            <a:pPr algn="l" indent="0" marL="0">
              <a:buNone/>
            </a:pPr>
            <a:r>
              <a:rPr lang="en-US" sz="1300" dirty="0">
                <a:solidFill>
                  <a:srgbClr val="F4F5F7"/>
                </a:solidFill>
                <a:latin typeface="Plus Jakarta Sans" pitchFamily="34" charset="0"/>
                <a:ea typeface="Segoe UI" pitchFamily="34" charset="-122"/>
                <a:cs typeface="Segoe UI" pitchFamily="34" charset="-120"/>
              </a:rPr>
              <a:t>Urodynamics: BAUS, EAU and AUA</a:t>
            </a:r>
            <a:endParaRPr lang="en-US" sz="1300" dirty="0">
              <a:latin typeface="Plus Jakarta Sans"/>
            </a:endParaRPr>
          </a:p>
        </p:txBody>
      </p:sp>
      <p:sp>
        <p:nvSpPr>
          <p:cNvPr id="20" name="Text 18"/>
          <p:cNvSpPr txBox="1"/>
          <p:nvPr/>
        </p:nvSpPr>
        <p:spPr>
          <a:xfrm>
            <a:off x="7223760" y="4632960"/>
            <a:ext cx="457200" cy="426720"/>
          </a:xfrm>
          <a:prstGeom prst="rect">
            <a:avLst/>
          </a:prstGeom>
          <a:noFill/>
          <a:ln/>
        </p:spPr>
        <p:txBody>
          <a:bodyPr wrap="square" lIns="0" tIns="0" rIns="0" bIns="0" rtlCol="0" anchor="ctr"/>
          <a:lstStyle/>
          <a:p>
            <a:pPr algn="l" indent="0" marL="0">
              <a:buNone/>
            </a:pPr>
            <a:r>
              <a:rPr lang="en-US" sz="1100" b="1" dirty="0">
                <a:solidFill>
                  <a:srgbClr val="89FF00"/>
                </a:solidFill>
                <a:latin typeface="Plus Jakarta Sans" pitchFamily="34" charset="0"/>
                <a:ea typeface="Segoe UI" pitchFamily="34" charset="-122"/>
                <a:cs typeface="Segoe UI" pitchFamily="34" charset="-120"/>
              </a:rPr>
              <a:t>08</a:t>
            </a:r>
            <a:endParaRPr lang="en-US" sz="1100" dirty="0">
              <a:solidFill>
                <a:srgbClr val="89FF00"/>
              </a:solidFill>
              <a:latin typeface="Plus Jakarta Sans"/>
            </a:endParaRPr>
          </a:p>
        </p:txBody>
      </p:sp>
      <p:sp>
        <p:nvSpPr>
          <p:cNvPr id="21" name="Text 19"/>
          <p:cNvSpPr txBox="1"/>
          <p:nvPr/>
        </p:nvSpPr>
        <p:spPr>
          <a:xfrm>
            <a:off x="7680960" y="4632960"/>
            <a:ext cx="3870655" cy="426720"/>
          </a:xfrm>
          <a:prstGeom prst="rect">
            <a:avLst/>
          </a:prstGeom>
          <a:noFill/>
          <a:ln/>
        </p:spPr>
        <p:txBody>
          <a:bodyPr wrap="square" lIns="0" tIns="0" rIns="0" bIns="0" rtlCol="0" anchor="ctr"/>
          <a:lstStyle/>
          <a:p>
            <a:pPr algn="l" indent="0" marL="0">
              <a:buNone/>
            </a:pPr>
            <a:r>
              <a:rPr lang="en-US" sz="1300" dirty="0">
                <a:solidFill>
                  <a:srgbClr val="F4F5F7"/>
                </a:solidFill>
                <a:latin typeface="Plus Jakarta Sans" pitchFamily="34" charset="0"/>
                <a:ea typeface="Segoe UI" pitchFamily="34" charset="-122"/>
                <a:cs typeface="Segoe UI" pitchFamily="34" charset="-120"/>
              </a:rPr>
              <a:t>Interpreting an imperfect study</a:t>
            </a:r>
            <a:endParaRPr lang="en-US" sz="1300" dirty="0">
              <a:latin typeface="Plus Jakarta Sans"/>
            </a:endParaRPr>
          </a:p>
        </p:txBody>
      </p:sp>
      <p:sp>
        <p:nvSpPr>
          <p:cNvPr id="22" name="Text 20"/>
          <p:cNvSpPr txBox="1"/>
          <p:nvPr/>
        </p:nvSpPr>
        <p:spPr>
          <a:xfrm>
            <a:off x="7223760" y="5059680"/>
            <a:ext cx="457200" cy="426720"/>
          </a:xfrm>
          <a:prstGeom prst="rect">
            <a:avLst/>
          </a:prstGeom>
          <a:noFill/>
          <a:ln/>
        </p:spPr>
        <p:txBody>
          <a:bodyPr wrap="square" lIns="0" tIns="0" rIns="0" bIns="0" rtlCol="0" anchor="ctr"/>
          <a:lstStyle/>
          <a:p>
            <a:pPr algn="l" indent="0" marL="0">
              <a:buNone/>
            </a:pPr>
            <a:r>
              <a:rPr lang="en-US" sz="1100" b="1" dirty="0">
                <a:solidFill>
                  <a:srgbClr val="89FF00"/>
                </a:solidFill>
                <a:latin typeface="Plus Jakarta Sans" pitchFamily="34" charset="0"/>
                <a:ea typeface="Segoe UI" pitchFamily="34" charset="-122"/>
                <a:cs typeface="Segoe UI" pitchFamily="34" charset="-120"/>
              </a:rPr>
              <a:t>09</a:t>
            </a:r>
            <a:endParaRPr lang="en-US" sz="1100" dirty="0">
              <a:solidFill>
                <a:srgbClr val="89FF00"/>
              </a:solidFill>
              <a:latin typeface="Plus Jakarta Sans"/>
            </a:endParaRPr>
          </a:p>
        </p:txBody>
      </p:sp>
      <p:sp>
        <p:nvSpPr>
          <p:cNvPr id="23" name="Text 21"/>
          <p:cNvSpPr txBox="1"/>
          <p:nvPr/>
        </p:nvSpPr>
        <p:spPr>
          <a:xfrm>
            <a:off x="7680960" y="5059680"/>
            <a:ext cx="3870655" cy="426720"/>
          </a:xfrm>
          <a:prstGeom prst="rect">
            <a:avLst/>
          </a:prstGeom>
          <a:noFill/>
          <a:ln/>
        </p:spPr>
        <p:txBody>
          <a:bodyPr wrap="square" lIns="0" tIns="0" rIns="0" bIns="0" rtlCol="0" anchor="ctr"/>
          <a:lstStyle/>
          <a:p>
            <a:pPr algn="l" indent="0" marL="0">
              <a:buNone/>
            </a:pPr>
            <a:r>
              <a:rPr lang="en-US" sz="1300" dirty="0">
                <a:solidFill>
                  <a:srgbClr val="F4F5F7"/>
                </a:solidFill>
                <a:latin typeface="Plus Jakarta Sans" pitchFamily="34" charset="0"/>
                <a:ea typeface="Segoe UI" pitchFamily="34" charset="-122"/>
                <a:cs typeface="Segoe UI" pitchFamily="34" charset="-120"/>
              </a:rPr>
              <a:t>Consent: improvement and lifetime burden</a:t>
            </a:r>
            <a:endParaRPr lang="en-US" sz="1300" dirty="0">
              <a:latin typeface="Plus Jakarta Sans"/>
            </a:endParaRPr>
          </a:p>
        </p:txBody>
      </p:sp>
      <p:sp>
        <p:nvSpPr>
          <p:cNvPr id="24" name="Shape 22"/>
          <p:cNvSpPr/>
          <p:nvPr/>
        </p:nvSpPr>
        <p:spPr>
          <a:xfrm>
            <a:off x="640080" y="5989320"/>
            <a:ext cx="1727149" cy="82296"/>
          </a:xfrm>
          <a:prstGeom prst="roundRect">
            <a:avLst>
              <a:gd name="adj" fmla="val 44444"/>
            </a:avLst>
          </a:prstGeom>
          <a:solidFill>
            <a:srgbClr val="89FF00"/>
          </a:solidFill>
          <a:ln/>
        </p:spPr>
      </p:sp>
      <p:sp>
        <p:nvSpPr>
          <p:cNvPr id="25" name="Text 23"/>
          <p:cNvSpPr txBox="1"/>
          <p:nvPr/>
        </p:nvSpPr>
        <p:spPr>
          <a:xfrm>
            <a:off x="640080" y="6126480"/>
            <a:ext cx="1727149" cy="274320"/>
          </a:xfrm>
          <a:prstGeom prst="rect">
            <a:avLst/>
          </a:prstGeom>
          <a:noFill/>
          <a:ln/>
        </p:spPr>
        <p:txBody>
          <a:bodyPr wrap="square" lIns="0" tIns="0" rIns="0" bIns="0" rtlCol="0" anchor="t"/>
          <a:lstStyle/>
          <a:p>
            <a:pPr algn="l" indent="0" marL="0">
              <a:buNone/>
            </a:pPr>
            <a:r>
              <a:rPr lang="en-US" sz="850" dirty="0">
                <a:solidFill>
                  <a:srgbClr val="F4F5F7"/>
                </a:solidFill>
                <a:latin typeface="Plus Jakarta Sans" pitchFamily="34" charset="0"/>
                <a:ea typeface="Segoe UI" pitchFamily="34" charset="-122"/>
                <a:cs typeface="Segoe UI" pitchFamily="34" charset="-120"/>
              </a:rPr>
              <a:t>Decide before theatre</a:t>
            </a:r>
            <a:endParaRPr lang="en-US" sz="850" dirty="0">
              <a:latin typeface="Plus Jakarta Sans"/>
            </a:endParaRPr>
          </a:p>
        </p:txBody>
      </p:sp>
      <p:sp>
        <p:nvSpPr>
          <p:cNvPr id="26" name="Shape 24"/>
          <p:cNvSpPr/>
          <p:nvPr/>
        </p:nvSpPr>
        <p:spPr>
          <a:xfrm>
            <a:off x="2476957" y="5989320"/>
            <a:ext cx="1727149" cy="82296"/>
          </a:xfrm>
          <a:prstGeom prst="roundRect">
            <a:avLst>
              <a:gd name="adj" fmla="val 44444"/>
            </a:avLst>
          </a:prstGeom>
          <a:solidFill>
            <a:srgbClr val="2D2D2D"/>
          </a:solidFill>
          <a:ln/>
        </p:spPr>
      </p:sp>
      <p:sp>
        <p:nvSpPr>
          <p:cNvPr id="27" name="Text 25"/>
          <p:cNvSpPr txBox="1"/>
          <p:nvPr/>
        </p:nvSpPr>
        <p:spPr>
          <a:xfrm>
            <a:off x="2476957" y="6126480"/>
            <a:ext cx="1727149" cy="274320"/>
          </a:xfrm>
          <a:prstGeom prst="rect">
            <a:avLst/>
          </a:prstGeom>
          <a:noFill/>
          <a:ln/>
        </p:spPr>
        <p:txBody>
          <a:bodyPr wrap="square" lIns="0" tIns="0" rIns="0" bIns="0" rtlCol="0" anchor="t"/>
          <a:lstStyle/>
          <a:p>
            <a:pPr algn="l" indent="0" marL="0">
              <a:buNone/>
            </a:pPr>
            <a:r>
              <a:rPr lang="en-US" sz="850" dirty="0">
                <a:solidFill>
                  <a:srgbClr val="AFAFAF"/>
                </a:solidFill>
                <a:latin typeface="Plus Jakarta Sans" pitchFamily="34" charset="0"/>
                <a:ea typeface="Segoe UI" pitchFamily="34" charset="-122"/>
                <a:cs typeface="Segoe UI" pitchFamily="34" charset="-120"/>
              </a:rPr>
              <a:t>The bladder</a:t>
            </a:r>
            <a:endParaRPr lang="en-US" sz="850" dirty="0">
              <a:latin typeface="Plus Jakarta Sans"/>
            </a:endParaRPr>
          </a:p>
        </p:txBody>
      </p:sp>
      <p:sp>
        <p:nvSpPr>
          <p:cNvPr id="28" name="Shape 26"/>
          <p:cNvSpPr/>
          <p:nvPr/>
        </p:nvSpPr>
        <p:spPr>
          <a:xfrm>
            <a:off x="4313834" y="5989320"/>
            <a:ext cx="1727149" cy="82296"/>
          </a:xfrm>
          <a:prstGeom prst="roundRect">
            <a:avLst>
              <a:gd name="adj" fmla="val 44444"/>
            </a:avLst>
          </a:prstGeom>
          <a:solidFill>
            <a:srgbClr val="2D2D2D"/>
          </a:solidFill>
          <a:ln/>
        </p:spPr>
      </p:sp>
      <p:sp>
        <p:nvSpPr>
          <p:cNvPr id="29" name="Text 27"/>
          <p:cNvSpPr txBox="1"/>
          <p:nvPr/>
        </p:nvSpPr>
        <p:spPr>
          <a:xfrm>
            <a:off x="4313834" y="6126480"/>
            <a:ext cx="1727149" cy="274320"/>
          </a:xfrm>
          <a:prstGeom prst="rect">
            <a:avLst/>
          </a:prstGeom>
          <a:noFill/>
          <a:ln/>
        </p:spPr>
        <p:txBody>
          <a:bodyPr wrap="square" lIns="0" tIns="0" rIns="0" bIns="0" rtlCol="0" anchor="t"/>
          <a:lstStyle/>
          <a:p>
            <a:pPr algn="l" indent="0" marL="0">
              <a:buNone/>
            </a:pPr>
            <a:r>
              <a:rPr lang="en-US" sz="850" dirty="0">
                <a:solidFill>
                  <a:srgbClr val="AFAFAF"/>
                </a:solidFill>
                <a:latin typeface="Plus Jakarta Sans" pitchFamily="34" charset="0"/>
                <a:ea typeface="Segoe UI" pitchFamily="34" charset="-122"/>
                <a:cs typeface="Segoe UI" pitchFamily="34" charset="-120"/>
              </a:rPr>
              <a:t>The urethra</a:t>
            </a:r>
            <a:endParaRPr lang="en-US" sz="850" dirty="0">
              <a:latin typeface="Plus Jakarta Sans"/>
            </a:endParaRPr>
          </a:p>
        </p:txBody>
      </p:sp>
      <p:sp>
        <p:nvSpPr>
          <p:cNvPr id="30" name="Shape 28"/>
          <p:cNvSpPr/>
          <p:nvPr/>
        </p:nvSpPr>
        <p:spPr>
          <a:xfrm>
            <a:off x="6150712" y="5989320"/>
            <a:ext cx="1727149" cy="82296"/>
          </a:xfrm>
          <a:prstGeom prst="roundRect">
            <a:avLst>
              <a:gd name="adj" fmla="val 44444"/>
            </a:avLst>
          </a:prstGeom>
          <a:solidFill>
            <a:srgbClr val="2D2D2D"/>
          </a:solidFill>
          <a:ln/>
        </p:spPr>
      </p:sp>
      <p:sp>
        <p:nvSpPr>
          <p:cNvPr id="31" name="Text 29"/>
          <p:cNvSpPr txBox="1"/>
          <p:nvPr/>
        </p:nvSpPr>
        <p:spPr>
          <a:xfrm>
            <a:off x="6150712" y="6126480"/>
            <a:ext cx="1727149" cy="274320"/>
          </a:xfrm>
          <a:prstGeom prst="rect">
            <a:avLst/>
          </a:prstGeom>
          <a:noFill/>
          <a:ln/>
        </p:spPr>
        <p:txBody>
          <a:bodyPr wrap="square" lIns="0" tIns="0" rIns="0" bIns="0" rtlCol="0" anchor="t"/>
          <a:lstStyle/>
          <a:p>
            <a:pPr algn="l" indent="0" marL="0">
              <a:buNone/>
            </a:pPr>
            <a:r>
              <a:rPr lang="en-US" sz="850" dirty="0">
                <a:solidFill>
                  <a:srgbClr val="AFAFAF"/>
                </a:solidFill>
                <a:latin typeface="Plus Jakarta Sans" pitchFamily="34" charset="0"/>
                <a:ea typeface="Segoe UI" pitchFamily="34" charset="-122"/>
                <a:cs typeface="Segoe UI" pitchFamily="34" charset="-120"/>
              </a:rPr>
              <a:t>Preparation without ritual</a:t>
            </a:r>
            <a:endParaRPr lang="en-US" sz="850" dirty="0">
              <a:latin typeface="Plus Jakarta Sans"/>
            </a:endParaRPr>
          </a:p>
        </p:txBody>
      </p:sp>
      <p:sp>
        <p:nvSpPr>
          <p:cNvPr id="32" name="Shape 30"/>
          <p:cNvSpPr/>
          <p:nvPr/>
        </p:nvSpPr>
        <p:spPr>
          <a:xfrm>
            <a:off x="7987589" y="5989320"/>
            <a:ext cx="1727149" cy="82296"/>
          </a:xfrm>
          <a:prstGeom prst="roundRect">
            <a:avLst>
              <a:gd name="adj" fmla="val 44444"/>
            </a:avLst>
          </a:prstGeom>
          <a:solidFill>
            <a:srgbClr val="2D2D2D"/>
          </a:solidFill>
          <a:ln/>
        </p:spPr>
      </p:sp>
      <p:sp>
        <p:nvSpPr>
          <p:cNvPr id="33" name="Text 31"/>
          <p:cNvSpPr txBox="1"/>
          <p:nvPr/>
        </p:nvSpPr>
        <p:spPr>
          <a:xfrm>
            <a:off x="7987589" y="6126480"/>
            <a:ext cx="1727149" cy="274320"/>
          </a:xfrm>
          <a:prstGeom prst="rect">
            <a:avLst/>
          </a:prstGeom>
          <a:noFill/>
          <a:ln/>
        </p:spPr>
        <p:txBody>
          <a:bodyPr wrap="square" lIns="0" tIns="0" rIns="0" bIns="0" rtlCol="0" anchor="t"/>
          <a:lstStyle/>
          <a:p>
            <a:pPr algn="l" indent="0" marL="0">
              <a:buNone/>
            </a:pPr>
            <a:r>
              <a:rPr lang="en-US" sz="850" dirty="0">
                <a:solidFill>
                  <a:srgbClr val="AFAFAF"/>
                </a:solidFill>
                <a:latin typeface="Plus Jakarta Sans" pitchFamily="34" charset="0"/>
                <a:ea typeface="Segoe UI" pitchFamily="34" charset="-122"/>
                <a:cs typeface="Segoe UI" pitchFamily="34" charset="-120"/>
              </a:rPr>
              <a:t>The operation</a:t>
            </a:r>
            <a:endParaRPr lang="en-US" sz="850" dirty="0">
              <a:latin typeface="Plus Jakarta Sans"/>
            </a:endParaRPr>
          </a:p>
        </p:txBody>
      </p:sp>
      <p:sp>
        <p:nvSpPr>
          <p:cNvPr id="34" name="Shape 32"/>
          <p:cNvSpPr/>
          <p:nvPr/>
        </p:nvSpPr>
        <p:spPr>
          <a:xfrm>
            <a:off x="9824466" y="5989320"/>
            <a:ext cx="1727149" cy="82296"/>
          </a:xfrm>
          <a:prstGeom prst="roundRect">
            <a:avLst>
              <a:gd name="adj" fmla="val 44444"/>
            </a:avLst>
          </a:prstGeom>
          <a:solidFill>
            <a:srgbClr val="2D2D2D"/>
          </a:solidFill>
          <a:ln/>
        </p:spPr>
      </p:sp>
      <p:sp>
        <p:nvSpPr>
          <p:cNvPr id="35" name="Text 33"/>
          <p:cNvSpPr txBox="1"/>
          <p:nvPr/>
        </p:nvSpPr>
        <p:spPr>
          <a:xfrm>
            <a:off x="9824466" y="6126480"/>
            <a:ext cx="1727149" cy="274320"/>
          </a:xfrm>
          <a:prstGeom prst="rect">
            <a:avLst/>
          </a:prstGeom>
          <a:noFill/>
          <a:ln/>
        </p:spPr>
        <p:txBody>
          <a:bodyPr wrap="square" lIns="0" tIns="0" rIns="0" bIns="0" rtlCol="0" anchor="t"/>
          <a:lstStyle/>
          <a:p>
            <a:pPr algn="l" indent="0" marL="0">
              <a:buNone/>
            </a:pPr>
            <a:r>
              <a:rPr lang="en-US" sz="850" dirty="0">
                <a:solidFill>
                  <a:srgbClr val="AFAFAF"/>
                </a:solidFill>
                <a:latin typeface="Plus Jakarta Sans" pitchFamily="34" charset="0"/>
                <a:ea typeface="Segoe UI" pitchFamily="34" charset="-122"/>
                <a:cs typeface="Segoe UI" pitchFamily="34" charset="-120"/>
              </a:rPr>
              <a:t>After the implant</a:t>
            </a:r>
            <a:endParaRPr lang="en-US" sz="850" dirty="0">
              <a:latin typeface="Plus Jakarta Sans"/>
            </a:endParaRPr>
          </a:p>
        </p:txBody>
      </p:sp>
      <p:sp>
        <p:nvSpPr>
          <p:cNvPr id="9001" name="replacement-title">
            <a:extLst>
              <a:ext uri="{FF2B5EF4-FFF2-40B4-BE49-F238E27FC236}">
                <a16:creationId xmlns:a16="http://schemas.microsoft.com/office/drawing/2014/main" id="{CED84160-9C8B-4B49-9A83-1285FCD1FA10}"/>
              </a:ext>
            </a:extLst>
          </p:cNvPr>
          <p:cNvSpPr>
            <a:spLocks noGrp="1"/>
          </p:cNvSpPr>
          <p:nvPr/>
        </p:nvSpPr>
        <p:spPr>
          <a:xfrm>
            <a:off x="638175" y="1905000"/>
            <a:ext cx="5476875" cy="1314450"/>
          </a:xfrm>
          <a:prstGeom prst="rect">
            <a:avLst/>
          </a:prstGeom>
          <a:noFill/>
          <a:ln w="0">
            <a:noFill/>
          </a:ln>
        </p:spPr>
        <p:txBody>
          <a:bodyPr anchor="ctr"/>
          <a:lstStyle>
            <a:defPPr>
              <a:defRPr sz="3600" b="1">
                <a:solidFill>
                  <a:srgbClr val="FFFFFF"/>
                </a:solidFill>
                <a:latin typeface="Plus Jakarta Sans"/>
              </a:defRPr>
            </a:defPPr>
            <a:lvl1pPr>
              <a:defRPr sz="3600" b="1">
                <a:solidFill>
                  <a:srgbClr val="FFFFFF"/>
                </a:solidFill>
                <a:latin typeface="Plus Jakarta Sans"/>
              </a:defRPr>
            </a:lvl1pPr>
            <a:lvl2pPr>
              <a:defRPr sz="3600" b="1">
                <a:solidFill>
                  <a:srgbClr val="FFFFFF"/>
                </a:solidFill>
                <a:latin typeface="Plus Jakarta Sans"/>
              </a:defRPr>
            </a:lvl2pPr>
            <a:lvl3pPr>
              <a:defRPr sz="3600" b="1">
                <a:solidFill>
                  <a:srgbClr val="FFFFFF"/>
                </a:solidFill>
                <a:latin typeface="Plus Jakarta Sans"/>
              </a:defRPr>
            </a:lvl3pPr>
            <a:lvl4pPr>
              <a:defRPr sz="3600" b="1">
                <a:solidFill>
                  <a:srgbClr val="FFFFFF"/>
                </a:solidFill>
                <a:latin typeface="Plus Jakarta Sans"/>
              </a:defRPr>
            </a:lvl4pPr>
            <a:lvl5pPr>
              <a:defRPr sz="3600" b="1">
                <a:solidFill>
                  <a:srgbClr val="FFFFFF"/>
                </a:solidFill>
                <a:latin typeface="Plus Jakarta Sans"/>
              </a:defRPr>
            </a:lvl5pPr>
            <a:lvl6pPr>
              <a:defRPr sz="3600" b="1">
                <a:solidFill>
                  <a:srgbClr val="FFFFFF"/>
                </a:solidFill>
                <a:latin typeface="Plus Jakarta Sans"/>
              </a:defRPr>
            </a:lvl6pPr>
            <a:lvl7pPr>
              <a:defRPr sz="3600" b="1">
                <a:solidFill>
                  <a:srgbClr val="FFFFFF"/>
                </a:solidFill>
                <a:latin typeface="Plus Jakarta Sans"/>
              </a:defRPr>
            </a:lvl7pPr>
            <a:lvl8pPr>
              <a:defRPr sz="3600" b="1">
                <a:solidFill>
                  <a:srgbClr val="FFFFFF"/>
                </a:solidFill>
                <a:latin typeface="Plus Jakarta Sans"/>
              </a:defRPr>
            </a:lvl8pPr>
            <a:lvl9pPr>
              <a:defRPr sz="3600" b="1">
                <a:solidFill>
                  <a:srgbClr val="FFFFFF"/>
                </a:solidFill>
                <a:latin typeface="Plus Jakarta Sans"/>
              </a:defRPr>
            </a:lvl9pPr>
          </a:lstStyle>
          <a:p>
            <a:pPr>
              <a:defRPr sz="3600" b="1">
                <a:solidFill>
                  <a:srgbClr val="FFFFFF"/>
                </a:solidFill>
                <a:latin typeface="Plus Jakarta Sans"/>
              </a:defRPr>
            </a:pPr>
            <a:r>
              <a:rPr sz="3600" b="1">
                <a:solidFill>
                  <a:srgbClr val="FFFFFF"/>
                </a:solidFill>
                <a:latin typeface="Plus Jakarta Sans"/>
              </a:rPr>
              <a:t>Decide before theatre</a:t>
            </a:r>
          </a:p>
        </p:txBody>
      </p:sp>
      <p:sp>
        <p:nvSpPr>
          <p:cNvPr id="9010" name="Google Shape;50;p7"/>
          <p:cNvSpPr/>
          <p:nvPr/>
        </p:nvSpPr>
        <p:spPr>
          <a:xfrm>
            <a:off x="5810250" y="1581150"/>
            <a:ext cx="314325" cy="314325"/>
          </a:xfrm>
          <a:custGeom>
            <a:avLst/>
            <a:gdLst/>
            <a:ahLst/>
            <a:cxnLst/>
            <a:rect l="l" t="t" r="r" b="b"/>
            <a:pathLst>
              <a:path w="615314" h="615315" extrusionOk="0">
                <a:moveTo>
                  <a:pt x="307372" y="0"/>
                </a:moveTo>
                <a:lnTo>
                  <a:pt x="295063" y="64094"/>
                </a:lnTo>
                <a:lnTo>
                  <a:pt x="281976" y="117458"/>
                </a:lnTo>
                <a:lnTo>
                  <a:pt x="266867" y="161336"/>
                </a:lnTo>
                <a:lnTo>
                  <a:pt x="248493" y="196971"/>
                </a:lnTo>
                <a:lnTo>
                  <a:pt x="196971" y="248493"/>
                </a:lnTo>
                <a:lnTo>
                  <a:pt x="161336" y="266867"/>
                </a:lnTo>
                <a:lnTo>
                  <a:pt x="117458" y="281976"/>
                </a:lnTo>
                <a:lnTo>
                  <a:pt x="64094" y="295063"/>
                </a:lnTo>
                <a:lnTo>
                  <a:pt x="0" y="307372"/>
                </a:lnTo>
                <a:lnTo>
                  <a:pt x="64094" y="319682"/>
                </a:lnTo>
                <a:lnTo>
                  <a:pt x="117458" y="332769"/>
                </a:lnTo>
                <a:lnTo>
                  <a:pt x="161336" y="347878"/>
                </a:lnTo>
                <a:lnTo>
                  <a:pt x="196971" y="366252"/>
                </a:lnTo>
                <a:lnTo>
                  <a:pt x="248493" y="417773"/>
                </a:lnTo>
                <a:lnTo>
                  <a:pt x="266867" y="453409"/>
                </a:lnTo>
                <a:lnTo>
                  <a:pt x="281976" y="497287"/>
                </a:lnTo>
                <a:lnTo>
                  <a:pt x="295063" y="550651"/>
                </a:lnTo>
                <a:lnTo>
                  <a:pt x="307372" y="614745"/>
                </a:lnTo>
                <a:lnTo>
                  <a:pt x="319682" y="550651"/>
                </a:lnTo>
                <a:lnTo>
                  <a:pt x="332769" y="497287"/>
                </a:lnTo>
                <a:lnTo>
                  <a:pt x="347878" y="453409"/>
                </a:lnTo>
                <a:lnTo>
                  <a:pt x="366252" y="417773"/>
                </a:lnTo>
                <a:lnTo>
                  <a:pt x="417773" y="366252"/>
                </a:lnTo>
                <a:lnTo>
                  <a:pt x="453409" y="347878"/>
                </a:lnTo>
                <a:lnTo>
                  <a:pt x="497287" y="332769"/>
                </a:lnTo>
                <a:lnTo>
                  <a:pt x="550651" y="319682"/>
                </a:lnTo>
                <a:lnTo>
                  <a:pt x="614745" y="307372"/>
                </a:lnTo>
                <a:lnTo>
                  <a:pt x="550651" y="295063"/>
                </a:lnTo>
                <a:lnTo>
                  <a:pt x="497287" y="281976"/>
                </a:lnTo>
                <a:lnTo>
                  <a:pt x="453409" y="266867"/>
                </a:lnTo>
                <a:lnTo>
                  <a:pt x="417773" y="248493"/>
                </a:lnTo>
                <a:lnTo>
                  <a:pt x="366252" y="196971"/>
                </a:lnTo>
                <a:lnTo>
                  <a:pt x="347878" y="161336"/>
                </a:lnTo>
                <a:lnTo>
                  <a:pt x="332769" y="117458"/>
                </a:lnTo>
                <a:lnTo>
                  <a:pt x="319682" y="64094"/>
                </a:lnTo>
                <a:lnTo>
                  <a:pt x="307372" y="0"/>
                </a:lnTo>
                <a:close/>
              </a:path>
            </a:pathLst>
          </a:custGeom>
          <a:solidFill>
            <a:srgbClr val="89FF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011" name="Google Shape;49;p7"/>
          <p:cNvSpPr/>
          <p:nvPr/>
        </p:nvSpPr>
        <p:spPr>
          <a:xfrm>
            <a:off x="638175" y="1676400"/>
            <a:ext cx="552450" cy="85725"/>
          </a:xfrm>
          <a:custGeom>
            <a:avLst/>
            <a:gdLst/>
            <a:ahLst/>
            <a:cxnLst/>
            <a:rect l="l" t="t" r="r" b="b"/>
            <a:pathLst>
              <a:path w="2339340" h="539115" extrusionOk="0">
                <a:moveTo>
                  <a:pt x="2129736" y="0"/>
                </a:moveTo>
                <a:lnTo>
                  <a:pt x="209417" y="0"/>
                </a:lnTo>
                <a:lnTo>
                  <a:pt x="161399" y="5531"/>
                </a:lnTo>
                <a:lnTo>
                  <a:pt x="117319" y="21286"/>
                </a:lnTo>
                <a:lnTo>
                  <a:pt x="78436" y="46009"/>
                </a:lnTo>
                <a:lnTo>
                  <a:pt x="46005" y="78440"/>
                </a:lnTo>
                <a:lnTo>
                  <a:pt x="21284" y="117324"/>
                </a:lnTo>
                <a:lnTo>
                  <a:pt x="5530" y="161402"/>
                </a:lnTo>
                <a:lnTo>
                  <a:pt x="0" y="209417"/>
                </a:lnTo>
                <a:lnTo>
                  <a:pt x="0" y="329089"/>
                </a:lnTo>
                <a:lnTo>
                  <a:pt x="5530" y="377108"/>
                </a:lnTo>
                <a:lnTo>
                  <a:pt x="21284" y="421187"/>
                </a:lnTo>
                <a:lnTo>
                  <a:pt x="46005" y="460070"/>
                </a:lnTo>
                <a:lnTo>
                  <a:pt x="78436" y="492501"/>
                </a:lnTo>
                <a:lnTo>
                  <a:pt x="117319" y="517222"/>
                </a:lnTo>
                <a:lnTo>
                  <a:pt x="161399" y="532976"/>
                </a:lnTo>
                <a:lnTo>
                  <a:pt x="209417" y="538507"/>
                </a:lnTo>
                <a:lnTo>
                  <a:pt x="2129736" y="538507"/>
                </a:lnTo>
                <a:lnTo>
                  <a:pt x="2177754" y="532976"/>
                </a:lnTo>
                <a:lnTo>
                  <a:pt x="2221834" y="517222"/>
                </a:lnTo>
                <a:lnTo>
                  <a:pt x="2260717" y="492501"/>
                </a:lnTo>
                <a:lnTo>
                  <a:pt x="2293148" y="460070"/>
                </a:lnTo>
                <a:lnTo>
                  <a:pt x="2317869" y="421187"/>
                </a:lnTo>
                <a:lnTo>
                  <a:pt x="2333623" y="377108"/>
                </a:lnTo>
                <a:lnTo>
                  <a:pt x="2339153" y="329089"/>
                </a:lnTo>
                <a:lnTo>
                  <a:pt x="2339153" y="209417"/>
                </a:lnTo>
                <a:lnTo>
                  <a:pt x="2333623" y="161402"/>
                </a:lnTo>
                <a:lnTo>
                  <a:pt x="2317869" y="117324"/>
                </a:lnTo>
                <a:lnTo>
                  <a:pt x="2293148" y="78440"/>
                </a:lnTo>
                <a:lnTo>
                  <a:pt x="2260717" y="46009"/>
                </a:lnTo>
                <a:lnTo>
                  <a:pt x="2221834" y="21286"/>
                </a:lnTo>
                <a:lnTo>
                  <a:pt x="2177754" y="5531"/>
                </a:lnTo>
                <a:lnTo>
                  <a:pt x="2129736" y="0"/>
                </a:lnTo>
                <a:close/>
              </a:path>
            </a:pathLst>
          </a:custGeom>
          <a:solidFill>
            <a:srgbClr val="89FF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616"/>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05C489"/>
                </a:solidFill>
                <a:latin typeface="Plus Jakarta Sans" pitchFamily="34" charset="0"/>
                <a:ea typeface="Segoe UI" pitchFamily="34" charset="-122"/>
                <a:cs typeface="Segoe UI" pitchFamily="34" charset="-120"/>
              </a:rPr>
              <a:t>DECIDE BEFORE THEATRE</a:t>
            </a:r>
            <a:endParaRPr lang="en-US" sz="950" dirty="0">
              <a:latin typeface="Plus Jakarta Sans"/>
            </a:endParaRPr>
          </a:p>
        </p:txBody>
      </p:sp>
      <p:sp>
        <p:nvSpPr>
          <p:cNvPr id="3" name="Text 1"/>
          <p:cNvSpPr txBox="1"/>
          <p:nvPr/>
        </p:nvSpPr>
        <p:spPr>
          <a:xfrm>
            <a:off x="6979615" y="384048"/>
            <a:ext cx="4572000" cy="274320"/>
          </a:xfrm>
          <a:prstGeom prst="rect">
            <a:avLst/>
          </a:prstGeom>
          <a:noFill/>
          <a:ln/>
        </p:spPr>
        <p:txBody>
          <a:bodyPr wrap="square" lIns="0" tIns="0" rIns="0" bIns="0" rtlCol="0" anchor="t"/>
          <a:lstStyle/>
          <a:p>
            <a:pPr algn="r" indent="0" marL="0">
              <a:buNone/>
            </a:pPr>
            <a:r>
              <a:rPr lang="en-US" sz="950" spc="100" kern="0" dirty="0">
                <a:solidFill>
                  <a:srgbClr val="BFBFBF"/>
                </a:solidFill>
                <a:latin typeface="Plus Jakarta Sans" pitchFamily="34" charset="0"/>
                <a:ea typeface="Segoe UI" pitchFamily="34" charset="-122"/>
                <a:cs typeface="Segoe UI" pitchFamily="34" charset="-120"/>
              </a:rPr>
              <a:t>01 / 36</a:t>
            </a:r>
            <a:endParaRPr lang="en-US" sz="950" dirty="0">
              <a:latin typeface="Plus Jakarta Sans"/>
            </a:endParaRPr>
          </a:p>
        </p:txBody>
      </p:sp>
      <p:sp>
        <p:nvSpPr>
          <p:cNvPr id="5" name="Text 3"/>
          <p:cNvSpPr txBox="1"/>
          <p:nvPr/>
        </p:nvSpPr>
        <p:spPr>
          <a:xfrm>
            <a:off x="640080" y="6345936"/>
            <a:ext cx="9997135" cy="228600"/>
          </a:xfrm>
          <a:prstGeom prst="rect">
            <a:avLst/>
          </a:prstGeom>
          <a:noFill/>
          <a:ln/>
        </p:spPr>
        <p:txBody>
          <a:bodyPr wrap="square" lIns="0" tIns="0" rIns="0" bIns="0" rtlCol="0" anchor="t"/>
          <a:lstStyle/>
          <a:p>
            <a:pPr algn="l" indent="0" marL="0">
              <a:buNone/>
            </a:pPr>
            <a:r>
              <a:rPr lang="en-US" sz="800" spc="50" kern="0" dirty="0">
                <a:solidFill>
                  <a:srgbClr val="BFBFBF"/>
                </a:solidFill>
                <a:latin typeface="Plus Jakarta Sans" pitchFamily="34" charset="0"/>
                <a:ea typeface="Segoe UI" pitchFamily="34" charset="-122"/>
                <a:cs typeface="Segoe UI" pitchFamily="34" charset="-120"/>
              </a:rPr>
              <a:t>BAUS25  ·  AUA24  ·  ICS16</a:t>
            </a:r>
            <a:endParaRPr lang="en-US" sz="800" dirty="0">
              <a:latin typeface="Plus Jakarta Sans"/>
            </a:endParaRPr>
          </a:p>
        </p:txBody>
      </p:sp>
      <p:sp>
        <p:nvSpPr>
          <p:cNvPr id="6" name="Text 4"/>
          <p:cNvSpPr txBox="1"/>
          <p:nvPr/>
        </p:nvSpPr>
        <p:spPr>
          <a:xfrm>
            <a:off x="640080" y="1737360"/>
            <a:ext cx="10911535" cy="457200"/>
          </a:xfrm>
          <a:prstGeom prst="rect">
            <a:avLst/>
          </a:prstGeom>
          <a:noFill/>
          <a:ln/>
        </p:spPr>
        <p:txBody>
          <a:bodyPr wrap="square" lIns="0" tIns="0" rIns="0" bIns="0" rtlCol="0" anchor="t"/>
          <a:lstStyle/>
          <a:p>
            <a:pPr algn="l" indent="0" marL="0">
              <a:buNone/>
            </a:pPr>
            <a:r>
              <a:rPr lang="en-US" sz="1800" dirty="0">
                <a:solidFill>
                  <a:srgbClr val="BFBFBF"/>
                </a:solidFill>
                <a:latin typeface="Plus Jakarta Sans" pitchFamily="34" charset="0"/>
                <a:ea typeface="Segoe UI" pitchFamily="34" charset="-122"/>
                <a:cs typeface="Segoe UI" pitchFamily="34" charset="-120"/>
              </a:rPr>
              <a:t>Severe leakage is only the starting point</a:t>
            </a:r>
            <a:endParaRPr lang="en-US" sz="1800" dirty="0">
              <a:latin typeface="Plus Jakarta Sans"/>
            </a:endParaRPr>
          </a:p>
        </p:txBody>
      </p:sp>
      <p:sp>
        <p:nvSpPr>
          <p:cNvPr id="7" name="Shape 5"/>
          <p:cNvSpPr/>
          <p:nvPr/>
        </p:nvSpPr>
        <p:spPr>
          <a:xfrm>
            <a:off x="640080" y="2514600"/>
            <a:ext cx="2522144" cy="2788920"/>
          </a:xfrm>
          <a:prstGeom prst="roundRect">
            <a:avLst>
              <a:gd name="adj" fmla="val 5076"/>
            </a:avLst>
          </a:prstGeom>
          <a:solidFill>
            <a:srgbClr val="05C489"/>
          </a:solidFill>
          <a:ln/>
        </p:spPr>
      </p:sp>
      <p:sp>
        <p:nvSpPr>
          <p:cNvPr id="8" name="Shape 6"/>
          <p:cNvSpPr/>
          <p:nvPr/>
        </p:nvSpPr>
        <p:spPr>
          <a:xfrm>
            <a:off x="932688" y="2880360"/>
            <a:ext cx="182880" cy="182880"/>
          </a:xfrm>
          <a:prstGeom prst="ellipse">
            <a:avLst/>
          </a:prstGeom>
          <a:solidFill>
            <a:srgbClr val="05C489"/>
          </a:solidFill>
          <a:ln/>
        </p:spPr>
      </p:sp>
      <p:sp>
        <p:nvSpPr>
          <p:cNvPr id="9" name="Text 7"/>
          <p:cNvSpPr txBox="1"/>
          <p:nvPr/>
        </p:nvSpPr>
        <p:spPr>
          <a:xfrm>
            <a:off x="914400" y="3200400"/>
            <a:ext cx="1973504" cy="502920"/>
          </a:xfrm>
          <a:prstGeom prst="rect">
            <a:avLst/>
          </a:prstGeom>
          <a:noFill/>
          <a:ln/>
        </p:spPr>
        <p:txBody>
          <a:bodyPr wrap="square" lIns="0" tIns="0" rIns="0" bIns="0" rtlCol="0" anchor="t"/>
          <a:lstStyle/>
          <a:p>
            <a:pPr algn="l" indent="0" marL="0">
              <a:buNone/>
            </a:pPr>
            <a:r>
              <a:rPr lang="en-US" sz="2400" dirty="0">
                <a:solidFill>
                  <a:srgbClr val="161616"/>
                </a:solidFill>
                <a:latin typeface="Plus Jakarta Sans" pitchFamily="34" charset="0"/>
                <a:ea typeface="Segoe UI Semibold" pitchFamily="34" charset="-122"/>
                <a:cs typeface="Segoe UI Semibold" pitchFamily="34" charset="-120"/>
              </a:rPr>
              <a:t>Implant</a:t>
            </a:r>
            <a:endParaRPr lang="en-US" sz="2400" dirty="0">
              <a:solidFill>
                <a:srgbClr val="161616"/>
              </a:solidFill>
              <a:latin typeface="Plus Jakarta Sans"/>
            </a:endParaRPr>
          </a:p>
        </p:txBody>
      </p:sp>
      <p:sp>
        <p:nvSpPr>
          <p:cNvPr id="10" name="Text 8"/>
          <p:cNvSpPr txBox="1"/>
          <p:nvPr/>
        </p:nvSpPr>
        <p:spPr>
          <a:xfrm>
            <a:off x="914400" y="3794760"/>
            <a:ext cx="1973504" cy="1280160"/>
          </a:xfrm>
          <a:prstGeom prst="rect">
            <a:avLst/>
          </a:prstGeom>
          <a:noFill/>
          <a:ln/>
        </p:spPr>
        <p:txBody>
          <a:bodyPr wrap="square" lIns="0" tIns="0" rIns="0" bIns="0" rtlCol="0" anchor="t"/>
          <a:lstStyle/>
          <a:p>
            <a:pPr algn="l" indent="0" marL="0">
              <a:lnSpc>
                <a:spcPct val="115000"/>
              </a:lnSpc>
              <a:buNone/>
            </a:pPr>
            <a:r>
              <a:rPr lang="en-US" sz="1550" dirty="0">
                <a:solidFill>
                  <a:srgbClr val="161616"/>
                </a:solidFill>
                <a:latin typeface="Plus Jakarta Sans" pitchFamily="34" charset="0"/>
                <a:ea typeface="Segoe UI" pitchFamily="34" charset="-122"/>
                <a:cs typeface="Segoe UI" pitchFamily="34" charset="-120"/>
              </a:rPr>
              <a:t>Stress leak shown, safe bladder, good emptying, can work the pump</a:t>
            </a:r>
            <a:endParaRPr lang="en-US" sz="1550" dirty="0">
              <a:solidFill>
                <a:srgbClr val="161616"/>
              </a:solidFill>
              <a:latin typeface="Plus Jakarta Sans"/>
            </a:endParaRPr>
          </a:p>
        </p:txBody>
      </p:sp>
      <p:sp>
        <p:nvSpPr>
          <p:cNvPr id="11" name="Shape 9"/>
          <p:cNvSpPr/>
          <p:nvPr/>
        </p:nvSpPr>
        <p:spPr>
          <a:xfrm>
            <a:off x="3436544" y="2514600"/>
            <a:ext cx="2522144" cy="2788920"/>
          </a:xfrm>
          <a:prstGeom prst="roundRect">
            <a:avLst>
              <a:gd name="adj" fmla="val 5076"/>
            </a:avLst>
          </a:prstGeom>
          <a:solidFill>
            <a:srgbClr val="2D2D2D"/>
          </a:solidFill>
          <a:ln/>
        </p:spPr>
      </p:sp>
      <p:sp>
        <p:nvSpPr>
          <p:cNvPr id="12" name="Shape 10"/>
          <p:cNvSpPr/>
          <p:nvPr/>
        </p:nvSpPr>
        <p:spPr>
          <a:xfrm>
            <a:off x="3729152" y="2880360"/>
            <a:ext cx="182880" cy="182880"/>
          </a:xfrm>
          <a:prstGeom prst="ellipse">
            <a:avLst/>
          </a:prstGeom>
          <a:solidFill>
            <a:srgbClr val="89FF00"/>
          </a:solidFill>
          <a:ln/>
        </p:spPr>
      </p:sp>
      <p:sp>
        <p:nvSpPr>
          <p:cNvPr id="13" name="Text 11"/>
          <p:cNvSpPr txBox="1"/>
          <p:nvPr/>
        </p:nvSpPr>
        <p:spPr>
          <a:xfrm>
            <a:off x="3710864" y="3200400"/>
            <a:ext cx="1973504" cy="502920"/>
          </a:xfrm>
          <a:prstGeom prst="rect">
            <a:avLst/>
          </a:prstGeom>
          <a:noFill/>
          <a:ln/>
        </p:spPr>
        <p:txBody>
          <a:bodyPr wrap="square" lIns="0" tIns="0" rIns="0" bIns="0" rtlCol="0" anchor="t"/>
          <a:lstStyle/>
          <a:p>
            <a:pPr algn="l" indent="0" marL="0">
              <a:buNone/>
            </a:pPr>
            <a:r>
              <a:rPr lang="en-US" sz="2400" dirty="0">
                <a:solidFill>
                  <a:srgbClr val="89FF00"/>
                </a:solidFill>
                <a:latin typeface="Plus Jakarta Sans" pitchFamily="34" charset="0"/>
                <a:ea typeface="Segoe UI Semibold" pitchFamily="34" charset="-122"/>
                <a:cs typeface="Segoe UI Semibold" pitchFamily="34" charset="-120"/>
              </a:rPr>
              <a:t>Optimise</a:t>
            </a:r>
            <a:endParaRPr lang="en-US" sz="2400" dirty="0">
              <a:solidFill>
                <a:srgbClr val="89FF00"/>
              </a:solidFill>
              <a:latin typeface="Plus Jakarta Sans"/>
            </a:endParaRPr>
          </a:p>
        </p:txBody>
      </p:sp>
      <p:sp>
        <p:nvSpPr>
          <p:cNvPr id="14" name="Text 12"/>
          <p:cNvSpPr txBox="1"/>
          <p:nvPr/>
        </p:nvSpPr>
        <p:spPr>
          <a:xfrm>
            <a:off x="3710864" y="3794760"/>
            <a:ext cx="1973504" cy="1280160"/>
          </a:xfrm>
          <a:prstGeom prst="rect">
            <a:avLst/>
          </a:prstGeom>
          <a:noFill/>
          <a:ln/>
        </p:spPr>
        <p:txBody>
          <a:bodyPr wrap="square" lIns="0" tIns="0" rIns="0" bIns="0" rtlCol="0" anchor="t"/>
          <a:lstStyle/>
          <a:p>
            <a:pPr algn="l" indent="0" marL="0">
              <a:lnSpc>
                <a:spcPct val="115000"/>
              </a:lnSpc>
              <a:buNone/>
            </a:pPr>
            <a:r>
              <a:rPr lang="en-US" sz="1550" dirty="0">
                <a:solidFill>
                  <a:srgbClr val="FFFFFF"/>
                </a:solidFill>
                <a:latin typeface="Plus Jakarta Sans" pitchFamily="34" charset="0"/>
                <a:ea typeface="Segoe UI" pitchFamily="34" charset="-122"/>
                <a:cs typeface="Segoe UI" pitchFamily="34" charset="-120"/>
              </a:rPr>
              <a:t>A treatable bladder or emptying problem is the bigger issue</a:t>
            </a:r>
            <a:endParaRPr lang="en-US" sz="1550" dirty="0">
              <a:latin typeface="Plus Jakarta Sans"/>
            </a:endParaRPr>
          </a:p>
        </p:txBody>
      </p:sp>
      <p:sp>
        <p:nvSpPr>
          <p:cNvPr id="15" name="Shape 13"/>
          <p:cNvSpPr/>
          <p:nvPr/>
        </p:nvSpPr>
        <p:spPr>
          <a:xfrm>
            <a:off x="6233008" y="2514600"/>
            <a:ext cx="2522144" cy="2788920"/>
          </a:xfrm>
          <a:prstGeom prst="roundRect">
            <a:avLst>
              <a:gd name="adj" fmla="val 5076"/>
            </a:avLst>
          </a:prstGeom>
          <a:solidFill>
            <a:srgbClr val="2D2D2D"/>
          </a:solidFill>
          <a:ln/>
        </p:spPr>
      </p:sp>
      <p:sp>
        <p:nvSpPr>
          <p:cNvPr id="16" name="Shape 14"/>
          <p:cNvSpPr/>
          <p:nvPr/>
        </p:nvSpPr>
        <p:spPr>
          <a:xfrm>
            <a:off x="6525616" y="2880360"/>
            <a:ext cx="182880" cy="182880"/>
          </a:xfrm>
          <a:prstGeom prst="ellipse">
            <a:avLst/>
          </a:prstGeom>
          <a:solidFill>
            <a:srgbClr val="FFFFFF"/>
          </a:solidFill>
          <a:ln/>
        </p:spPr>
      </p:sp>
      <p:sp>
        <p:nvSpPr>
          <p:cNvPr id="17" name="Text 15"/>
          <p:cNvSpPr txBox="1"/>
          <p:nvPr/>
        </p:nvSpPr>
        <p:spPr>
          <a:xfrm>
            <a:off x="6507328" y="3200400"/>
            <a:ext cx="1973504" cy="502920"/>
          </a:xfrm>
          <a:prstGeom prst="rect">
            <a:avLst/>
          </a:prstGeom>
          <a:noFill/>
          <a:ln/>
        </p:spPr>
        <p:txBody>
          <a:bodyPr wrap="square" lIns="0" tIns="0" rIns="0" bIns="0" rtlCol="0" anchor="t"/>
          <a:lstStyle/>
          <a:p>
            <a:pPr algn="l" indent="0" marL="0">
              <a:buNone/>
            </a:pPr>
            <a:r>
              <a:rPr lang="en-US" sz="2400" dirty="0">
                <a:solidFill>
                  <a:srgbClr val="FFFFFF"/>
                </a:solidFill>
                <a:latin typeface="Plus Jakarta Sans" pitchFamily="34" charset="0"/>
                <a:ea typeface="Segoe UI Semibold" pitchFamily="34" charset="-122"/>
                <a:cs typeface="Segoe UI Semibold" pitchFamily="34" charset="-120"/>
              </a:rPr>
              <a:t>Investigate</a:t>
            </a:r>
            <a:endParaRPr lang="en-US" sz="2400" dirty="0">
              <a:solidFill>
                <a:srgbClr val="FFFFFF"/>
              </a:solidFill>
              <a:latin typeface="Plus Jakarta Sans"/>
            </a:endParaRPr>
          </a:p>
        </p:txBody>
      </p:sp>
      <p:sp>
        <p:nvSpPr>
          <p:cNvPr id="18" name="Text 16"/>
          <p:cNvSpPr txBox="1"/>
          <p:nvPr/>
        </p:nvSpPr>
        <p:spPr>
          <a:xfrm>
            <a:off x="6507328" y="3794760"/>
            <a:ext cx="1973504" cy="1280160"/>
          </a:xfrm>
          <a:prstGeom prst="rect">
            <a:avLst/>
          </a:prstGeom>
          <a:noFill/>
          <a:ln/>
        </p:spPr>
        <p:txBody>
          <a:bodyPr wrap="square" lIns="0" tIns="0" rIns="0" bIns="0" rtlCol="0" anchor="t"/>
          <a:lstStyle/>
          <a:p>
            <a:pPr algn="l" indent="0" marL="0">
              <a:lnSpc>
                <a:spcPct val="115000"/>
              </a:lnSpc>
              <a:buNone/>
            </a:pPr>
            <a:r>
              <a:rPr lang="en-US" sz="1550" dirty="0">
                <a:solidFill>
                  <a:srgbClr val="FFFFFF"/>
                </a:solidFill>
                <a:latin typeface="Plus Jakarta Sans" pitchFamily="34" charset="0"/>
                <a:ea typeface="Segoe UI" pitchFamily="34" charset="-122"/>
                <a:cs typeface="Segoe UI" pitchFamily="34" charset="-120"/>
              </a:rPr>
              <a:t>Not sure why he leaks, what the tests mean, or the anatomy</a:t>
            </a:r>
            <a:endParaRPr lang="en-US" sz="1550" dirty="0">
              <a:latin typeface="Plus Jakarta Sans"/>
            </a:endParaRPr>
          </a:p>
        </p:txBody>
      </p:sp>
      <p:sp>
        <p:nvSpPr>
          <p:cNvPr id="19" name="Shape 17"/>
          <p:cNvSpPr/>
          <p:nvPr/>
        </p:nvSpPr>
        <p:spPr>
          <a:xfrm>
            <a:off x="9029471" y="2514600"/>
            <a:ext cx="2522144" cy="2788920"/>
          </a:xfrm>
          <a:prstGeom prst="roundRect">
            <a:avLst>
              <a:gd name="adj" fmla="val 5076"/>
            </a:avLst>
          </a:prstGeom>
          <a:solidFill>
            <a:srgbClr val="2D2D2D"/>
          </a:solidFill>
          <a:ln/>
        </p:spPr>
      </p:sp>
      <p:sp>
        <p:nvSpPr>
          <p:cNvPr id="20" name="Shape 18"/>
          <p:cNvSpPr/>
          <p:nvPr/>
        </p:nvSpPr>
        <p:spPr>
          <a:xfrm>
            <a:off x="9322079" y="2880360"/>
            <a:ext cx="182880" cy="182880"/>
          </a:xfrm>
          <a:prstGeom prst="ellipse">
            <a:avLst/>
          </a:prstGeom>
          <a:solidFill>
            <a:srgbClr val="FF8500"/>
          </a:solidFill>
          <a:ln/>
        </p:spPr>
      </p:sp>
      <p:sp>
        <p:nvSpPr>
          <p:cNvPr id="21" name="Text 19"/>
          <p:cNvSpPr txBox="1"/>
          <p:nvPr/>
        </p:nvSpPr>
        <p:spPr>
          <a:xfrm>
            <a:off x="9303791" y="3200400"/>
            <a:ext cx="1973504" cy="502920"/>
          </a:xfrm>
          <a:prstGeom prst="rect">
            <a:avLst/>
          </a:prstGeom>
          <a:noFill/>
          <a:ln/>
        </p:spPr>
        <p:txBody>
          <a:bodyPr wrap="square" lIns="0" tIns="0" rIns="0" bIns="0" rtlCol="0" anchor="t"/>
          <a:lstStyle/>
          <a:p>
            <a:pPr algn="l" indent="0" marL="0">
              <a:buNone/>
            </a:pPr>
            <a:r>
              <a:rPr lang="en-US" sz="2400" dirty="0">
                <a:solidFill>
                  <a:srgbClr val="FF8500"/>
                </a:solidFill>
                <a:latin typeface="Plus Jakarta Sans" pitchFamily="34" charset="0"/>
                <a:ea typeface="Segoe UI Semibold" pitchFamily="34" charset="-122"/>
                <a:cs typeface="Segoe UI Semibold" pitchFamily="34" charset="-120"/>
              </a:rPr>
              <a:t>Reconsider</a:t>
            </a:r>
            <a:endParaRPr lang="en-US" sz="2400" dirty="0">
              <a:solidFill>
                <a:srgbClr val="FF8500"/>
              </a:solidFill>
              <a:latin typeface="Plus Jakarta Sans"/>
            </a:endParaRPr>
          </a:p>
        </p:txBody>
      </p:sp>
      <p:sp>
        <p:nvSpPr>
          <p:cNvPr id="22" name="Text 20"/>
          <p:cNvSpPr txBox="1"/>
          <p:nvPr/>
        </p:nvSpPr>
        <p:spPr>
          <a:xfrm>
            <a:off x="9303791" y="3794760"/>
            <a:ext cx="1973504" cy="1280160"/>
          </a:xfrm>
          <a:prstGeom prst="rect">
            <a:avLst/>
          </a:prstGeom>
          <a:noFill/>
          <a:ln/>
        </p:spPr>
        <p:txBody>
          <a:bodyPr wrap="square" lIns="0" tIns="0" rIns="0" bIns="0" rtlCol="0" anchor="t"/>
          <a:lstStyle/>
          <a:p>
            <a:pPr algn="l" indent="0" marL="0">
              <a:lnSpc>
                <a:spcPct val="115000"/>
              </a:lnSpc>
              <a:buNone/>
            </a:pPr>
            <a:r>
              <a:rPr lang="en-US" sz="1550" dirty="0">
                <a:solidFill>
                  <a:srgbClr val="FFFFFF"/>
                </a:solidFill>
                <a:latin typeface="Plus Jakarta Sans" pitchFamily="34" charset="0"/>
                <a:ea typeface="Segoe UI" pitchFamily="34" charset="-122"/>
                <a:cs typeface="Segoe UI" pitchFamily="34" charset="-120"/>
              </a:rPr>
              <a:t>Safe bladder function or using the device alone is unlikely</a:t>
            </a:r>
            <a:endParaRPr lang="en-US" sz="1550" dirty="0">
              <a:latin typeface="Plus Jakarta Sans"/>
            </a:endParaRPr>
          </a:p>
        </p:txBody>
      </p:sp>
      <p:sp>
        <p:nvSpPr>
          <p:cNvPr id="9001" name="replacement-title">
            <a:extLst>
              <a:ext uri="{FF2B5EF4-FFF2-40B4-BE49-F238E27FC236}">
                <a16:creationId xmlns:a16="http://schemas.microsoft.com/office/drawing/2014/main" id="{145B6E10-69F7-4702-B4D3-D1F4027C9E6D}"/>
              </a:ext>
            </a:extLst>
          </p:cNvPr>
          <p:cNvSpPr>
            <a:spLocks noGrp="1"/>
          </p:cNvSpPr>
          <p:nvPr/>
        </p:nvSpPr>
        <p:spPr>
          <a:xfrm>
            <a:off x="638175" y="752475"/>
            <a:ext cx="10915650" cy="800100"/>
          </a:xfrm>
          <a:prstGeom prst="rect">
            <a:avLst/>
          </a:prstGeom>
          <a:noFill/>
          <a:ln w="0">
            <a:noFill/>
          </a:ln>
        </p:spPr>
        <p:txBody>
          <a:bodyPr anchor="ctr"/>
          <a:lstStyle>
            <a:defPPr>
              <a:defRPr sz="2625" b="1">
                <a:solidFill>
                  <a:srgbClr val="FFFFFF"/>
                </a:solidFill>
                <a:latin typeface="Plus Jakarta Sans"/>
              </a:defRPr>
            </a:defPPr>
            <a:lvl1pPr>
              <a:defRPr sz="2625" b="1">
                <a:solidFill>
                  <a:srgbClr val="FFFFFF"/>
                </a:solidFill>
                <a:latin typeface="Plus Jakarta Sans"/>
              </a:defRPr>
            </a:lvl1pPr>
            <a:lvl2pPr>
              <a:defRPr sz="2625" b="1">
                <a:solidFill>
                  <a:srgbClr val="FFFFFF"/>
                </a:solidFill>
                <a:latin typeface="Plus Jakarta Sans"/>
              </a:defRPr>
            </a:lvl2pPr>
            <a:lvl3pPr>
              <a:defRPr sz="2625" b="1">
                <a:solidFill>
                  <a:srgbClr val="FFFFFF"/>
                </a:solidFill>
                <a:latin typeface="Plus Jakarta Sans"/>
              </a:defRPr>
            </a:lvl3pPr>
            <a:lvl4pPr>
              <a:defRPr sz="2625" b="1">
                <a:solidFill>
                  <a:srgbClr val="FFFFFF"/>
                </a:solidFill>
                <a:latin typeface="Plus Jakarta Sans"/>
              </a:defRPr>
            </a:lvl4pPr>
            <a:lvl5pPr>
              <a:defRPr sz="2625" b="1">
                <a:solidFill>
                  <a:srgbClr val="FFFFFF"/>
                </a:solidFill>
                <a:latin typeface="Plus Jakarta Sans"/>
              </a:defRPr>
            </a:lvl5pPr>
            <a:lvl6pPr>
              <a:defRPr sz="2625" b="1">
                <a:solidFill>
                  <a:srgbClr val="FFFFFF"/>
                </a:solidFill>
                <a:latin typeface="Plus Jakarta Sans"/>
              </a:defRPr>
            </a:lvl6pPr>
            <a:lvl7pPr>
              <a:defRPr sz="2625" b="1">
                <a:solidFill>
                  <a:srgbClr val="FFFFFF"/>
                </a:solidFill>
                <a:latin typeface="Plus Jakarta Sans"/>
              </a:defRPr>
            </a:lvl7pPr>
            <a:lvl8pPr>
              <a:defRPr sz="2625" b="1">
                <a:solidFill>
                  <a:srgbClr val="FFFFFF"/>
                </a:solidFill>
                <a:latin typeface="Plus Jakarta Sans"/>
              </a:defRPr>
            </a:lvl8pPr>
            <a:lvl9pPr>
              <a:defRPr sz="2625" b="1">
                <a:solidFill>
                  <a:srgbClr val="FFFFFF"/>
                </a:solidFill>
                <a:latin typeface="Plus Jakarta Sans"/>
              </a:defRPr>
            </a:lvl9pPr>
          </a:lstStyle>
          <a:p>
            <a:pPr>
              <a:defRPr sz="2625" b="1">
                <a:solidFill>
                  <a:srgbClr val="FFFFFF"/>
                </a:solidFill>
                <a:latin typeface="Plus Jakarta Sans"/>
              </a:defRPr>
            </a:pPr>
            <a:r>
              <a:rPr sz="2625" b="1">
                <a:solidFill>
                  <a:srgbClr val="FFFFFF"/>
                </a:solidFill>
                <a:latin typeface="Plus Jakarta Sans"/>
              </a:rPr>
              <a:t>The decision before theatre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616"/>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05C489"/>
                </a:solidFill>
                <a:latin typeface="Plus Jakarta Sans" pitchFamily="34" charset="0"/>
                <a:ea typeface="Segoe UI" pitchFamily="34" charset="-122"/>
                <a:cs typeface="Segoe UI" pitchFamily="34" charset="-120"/>
              </a:rPr>
              <a:t>DECIDE BEFORE THEATRE</a:t>
            </a:r>
            <a:endParaRPr lang="en-US" sz="950" dirty="0">
              <a:latin typeface="Plus Jakarta Sans"/>
            </a:endParaRPr>
          </a:p>
        </p:txBody>
      </p:sp>
      <p:sp>
        <p:nvSpPr>
          <p:cNvPr id="3" name="Text 1"/>
          <p:cNvSpPr txBox="1"/>
          <p:nvPr/>
        </p:nvSpPr>
        <p:spPr>
          <a:xfrm>
            <a:off x="6979615" y="384048"/>
            <a:ext cx="4572000" cy="274320"/>
          </a:xfrm>
          <a:prstGeom prst="rect">
            <a:avLst/>
          </a:prstGeom>
          <a:noFill/>
          <a:ln/>
        </p:spPr>
        <p:txBody>
          <a:bodyPr wrap="square" lIns="0" tIns="0" rIns="0" bIns="0" rtlCol="0" anchor="t"/>
          <a:lstStyle/>
          <a:p>
            <a:pPr algn="r" indent="0" marL="0">
              <a:buNone/>
            </a:pPr>
            <a:r>
              <a:rPr lang="en-US" sz="950" spc="100" kern="0" dirty="0">
                <a:solidFill>
                  <a:srgbClr val="BFBFBF"/>
                </a:solidFill>
                <a:latin typeface="Plus Jakarta Sans" pitchFamily="34" charset="0"/>
                <a:ea typeface="Segoe UI" pitchFamily="34" charset="-122"/>
                <a:cs typeface="Segoe UI" pitchFamily="34" charset="-120"/>
              </a:rPr>
              <a:t>02 / 36</a:t>
            </a:r>
            <a:endParaRPr lang="en-US" sz="950" dirty="0">
              <a:latin typeface="Plus Jakarta Sans"/>
            </a:endParaRPr>
          </a:p>
        </p:txBody>
      </p:sp>
      <p:sp>
        <p:nvSpPr>
          <p:cNvPr id="5" name="Text 3"/>
          <p:cNvSpPr txBox="1"/>
          <p:nvPr/>
        </p:nvSpPr>
        <p:spPr>
          <a:xfrm>
            <a:off x="640080" y="6345936"/>
            <a:ext cx="9997135" cy="228600"/>
          </a:xfrm>
          <a:prstGeom prst="rect">
            <a:avLst/>
          </a:prstGeom>
          <a:noFill/>
          <a:ln/>
        </p:spPr>
        <p:txBody>
          <a:bodyPr wrap="square" lIns="0" tIns="0" rIns="0" bIns="0" rtlCol="0" anchor="t"/>
          <a:lstStyle/>
          <a:p>
            <a:pPr algn="l" indent="0" marL="0">
              <a:buNone/>
            </a:pPr>
            <a:r>
              <a:rPr lang="en-US" sz="800" spc="50" kern="0" dirty="0">
                <a:solidFill>
                  <a:srgbClr val="BFBFBF"/>
                </a:solidFill>
                <a:latin typeface="Plus Jakarta Sans" pitchFamily="34" charset="0"/>
                <a:ea typeface="Segoe UI" pitchFamily="34" charset="-122"/>
                <a:cs typeface="Segoe UI" pitchFamily="34" charset="-120"/>
              </a:rPr>
              <a:t>BAUS25  ·  EAU26  ·  AUA24  ·  ICS16  ·  AP23  ·  CCIFU  ·  AUASTATUS26  ·  DEVICE26</a:t>
            </a:r>
            <a:endParaRPr lang="en-US" sz="800" dirty="0">
              <a:latin typeface="Plus Jakarta Sans"/>
            </a:endParaRPr>
          </a:p>
        </p:txBody>
      </p:sp>
      <p:sp>
        <p:nvSpPr>
          <p:cNvPr id="6" name="Text 4"/>
          <p:cNvSpPr txBox="1"/>
          <p:nvPr/>
        </p:nvSpPr>
        <p:spPr>
          <a:xfrm>
            <a:off x="640080" y="5669280"/>
            <a:ext cx="10911535" cy="566928"/>
          </a:xfrm>
          <a:prstGeom prst="rect">
            <a:avLst/>
          </a:prstGeom>
          <a:noFill/>
          <a:ln/>
        </p:spPr>
        <p:txBody>
          <a:bodyPr wrap="square" lIns="0" tIns="0" rIns="0" bIns="0" rtlCol="0" anchor="b"/>
          <a:lstStyle/>
          <a:p>
            <a:pPr algn="l" indent="0" marL="0">
              <a:buNone/>
            </a:pPr>
            <a:r>
              <a:rPr lang="en-US" sz="1200" i="1" dirty="0">
                <a:solidFill>
                  <a:srgbClr val="BFBFBF"/>
                </a:solidFill>
                <a:latin typeface="Plus Jakarta Sans" pitchFamily="34" charset="0"/>
                <a:ea typeface="Segoe UI" pitchFamily="34" charset="-122"/>
                <a:cs typeface="Segoe UI" pitchFamily="34" charset="-120"/>
              </a:rPr>
              <a:t>BAUS 2025 · AUA amendment 2024 · EAU 2026. Meeting abstracts are not guidelines. One device’s results do not transfer to another.</a:t>
            </a:r>
            <a:endParaRPr lang="en-US" sz="1200" dirty="0">
              <a:latin typeface="Plus Jakarta Sans"/>
            </a:endParaRPr>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911535" cy="914400"/>
        </p:xfrm>
        <a:graphic>
          <a:graphicData uri="http://schemas.openxmlformats.org/drawingml/2006/table">
            <a:tbl>
              <a:tblPr/>
              <a:tblGrid>
                <a:gridCol w="3840480"/>
                <a:gridCol w="7071055"/>
              </a:tblGrid>
              <a:tr h="411480">
                <a:tc>
                  <a:txBody>
                    <a:bodyPr/>
                    <a:lstStyle/>
                    <a:p>
                      <a:pPr indent="0" marL="0">
                        <a:buNone/>
                      </a:pPr>
                      <a:r>
                        <a:rPr lang="en-US" sz="1250" b="1" dirty="0">
                          <a:solidFill>
                            <a:srgbClr val="161616"/>
                          </a:solidFill>
                          <a:latin typeface="Plus Jakarta Sans" pitchFamily="34" charset="0"/>
                          <a:ea typeface="Segoe UI Semibold" pitchFamily="34" charset="-122"/>
                          <a:cs typeface="Segoe UI Semibold" pitchFamily="34" charset="-120"/>
                        </a:rPr>
                        <a:t>Source</a:t>
                      </a:r>
                      <a:endParaRPr lang="en-US" sz="1250" dirty="0">
                        <a:solidFill>
                          <a:srgbClr val="161616"/>
                        </a:solidFill>
                        <a:latin typeface="Plus Jakarta Sans" charset="0"/>
                        <a:ea typeface="Segoe UI Semibold" charset="0"/>
                        <a:cs typeface="Segoe UI Semibold" charset="0"/>
                      </a:endParaRPr>
                    </a:p>
                  </a:txBody>
                  <a:tcPr marL="146304" marR="146304" marT="91440" marB="91440"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05C489"/>
                    </a:solidFill>
                  </a:tcPr>
                </a:tc>
                <a:tc>
                  <a:txBody>
                    <a:bodyPr/>
                    <a:lstStyle/>
                    <a:p>
                      <a:pPr indent="0" marL="0">
                        <a:buNone/>
                      </a:pPr>
                      <a:r>
                        <a:rPr lang="en-US" sz="1250" b="1" dirty="0">
                          <a:solidFill>
                            <a:srgbClr val="161616"/>
                          </a:solidFill>
                          <a:latin typeface="Plus Jakarta Sans" pitchFamily="34" charset="0"/>
                          <a:ea typeface="Segoe UI Semibold" pitchFamily="34" charset="-122"/>
                          <a:cs typeface="Segoe UI Semibold" pitchFamily="34" charset="-120"/>
                        </a:rPr>
                        <a:t>What it can tell us</a:t>
                      </a:r>
                      <a:endParaRPr lang="en-US" sz="1250" dirty="0">
                        <a:solidFill>
                          <a:srgbClr val="161616"/>
                        </a:solidFill>
                        <a:latin typeface="Plus Jakarta Sans" charset="0"/>
                        <a:ea typeface="Segoe UI Semibold" charset="0"/>
                        <a:cs typeface="Segoe UI Semibold" charset="0"/>
                      </a:endParaRPr>
                    </a:p>
                  </a:txBody>
                  <a:tcPr marL="146304" marR="146304" marT="91440" marB="91440"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05C489"/>
                    </a:solidFill>
                  </a:tcPr>
                </a:tc>
              </a:tr>
              <a:tr h="845820">
                <a:tc>
                  <a:txBody>
                    <a:bodyPr/>
                    <a:lstStyle/>
                    <a:p>
                      <a:pPr indent="0" marL="0">
                        <a:buNone/>
                      </a:pPr>
                      <a:r>
                        <a:rPr lang="en-US" sz="1350" b="1" dirty="0">
                          <a:solidFill>
                            <a:srgbClr val="FFFFFF"/>
                          </a:solidFill>
                          <a:latin typeface="Plus Jakarta Sans" pitchFamily="34" charset="0"/>
                          <a:ea typeface="Segoe UI" pitchFamily="34" charset="-122"/>
                          <a:cs typeface="Segoe UI" pitchFamily="34" charset="-120"/>
                        </a:rPr>
                        <a:t>Guidelines and consensus</a:t>
                      </a:r>
                      <a:endParaRPr lang="en-US" sz="1350" dirty="0">
                        <a:solidFill>
                          <a:srgbClr val="FFFFFF"/>
                        </a:solidFill>
                        <a:latin typeface="Plus Jakarta Sans" charset="0"/>
                        <a:ea typeface="Segoe UI" charset="0"/>
                        <a:cs typeface="Segoe UI" charset="0"/>
                      </a:endParaRPr>
                    </a:p>
                  </a:txBody>
                  <a:tcPr marL="146304" marR="146304" marT="109728" marB="109728"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242424"/>
                    </a:solidFill>
                  </a:tcPr>
                </a:tc>
                <a:tc>
                  <a:txBody>
                    <a:bodyPr/>
                    <a:lstStyle/>
                    <a:p>
                      <a:pPr indent="0" marL="0">
                        <a:buNone/>
                      </a:pPr>
                      <a:r>
                        <a:rPr lang="en-US" sz="1350" dirty="0">
                          <a:solidFill>
                            <a:srgbClr val="FFFFFF"/>
                          </a:solidFill>
                          <a:latin typeface="Plus Jakarta Sans" pitchFamily="34" charset="0"/>
                          <a:ea typeface="Segoe UI" pitchFamily="34" charset="-122"/>
                          <a:cs typeface="Segoe UI" pitchFamily="34" charset="-120"/>
                        </a:rPr>
                        <a:t>A recommended clinical pathway</a:t>
                      </a:r>
                      <a:endParaRPr lang="en-US" sz="1350" dirty="0">
                        <a:solidFill>
                          <a:srgbClr val="FFFFFF"/>
                        </a:solidFill>
                        <a:latin typeface="Plus Jakarta Sans" charset="0"/>
                        <a:ea typeface="Segoe UI" charset="0"/>
                        <a:cs typeface="Segoe UI" charset="0"/>
                      </a:endParaRPr>
                    </a:p>
                  </a:txBody>
                  <a:tcPr marL="146304" marR="146304" marT="109728" marB="109728"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242424"/>
                    </a:solidFill>
                  </a:tcPr>
                </a:tc>
              </a:tr>
              <a:tr h="845820">
                <a:tc>
                  <a:txBody>
                    <a:bodyPr/>
                    <a:lstStyle/>
                    <a:p>
                      <a:pPr indent="0" marL="0">
                        <a:buNone/>
                      </a:pPr>
                      <a:r>
                        <a:rPr lang="en-US" sz="1350" b="1" dirty="0">
                          <a:solidFill>
                            <a:srgbClr val="FFFFFF"/>
                          </a:solidFill>
                          <a:latin typeface="Plus Jakarta Sans" pitchFamily="34" charset="0"/>
                          <a:ea typeface="Segoe UI" pitchFamily="34" charset="-122"/>
                          <a:cs typeface="Segoe UI" pitchFamily="34" charset="-120"/>
                        </a:rPr>
                        <a:t>Clinical studies</a:t>
                      </a:r>
                      <a:endParaRPr lang="en-US" sz="1350" dirty="0">
                        <a:solidFill>
                          <a:srgbClr val="FFFFFF"/>
                        </a:solidFill>
                        <a:latin typeface="Plus Jakarta Sans" charset="0"/>
                        <a:ea typeface="Segoe UI" charset="0"/>
                        <a:cs typeface="Segoe UI" charset="0"/>
                      </a:endParaRPr>
                    </a:p>
                  </a:txBody>
                  <a:tcPr marL="146304" marR="146304" marT="109728" marB="109728"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2D2D2D"/>
                    </a:solidFill>
                  </a:tcPr>
                </a:tc>
                <a:tc>
                  <a:txBody>
                    <a:bodyPr/>
                    <a:lstStyle/>
                    <a:p>
                      <a:pPr indent="0" marL="0">
                        <a:buNone/>
                      </a:pPr>
                      <a:r>
                        <a:rPr lang="en-US" sz="1350" dirty="0">
                          <a:solidFill>
                            <a:srgbClr val="FFFFFF"/>
                          </a:solidFill>
                          <a:latin typeface="Plus Jakarta Sans" pitchFamily="34" charset="0"/>
                          <a:ea typeface="Segoe UI" pitchFamily="34" charset="-122"/>
                          <a:cs typeface="Segoe UI" pitchFamily="34" charset="-120"/>
                        </a:rPr>
                        <a:t>Results in one group of patients</a:t>
                      </a:r>
                      <a:endParaRPr lang="en-US" sz="1350" dirty="0">
                        <a:solidFill>
                          <a:srgbClr val="FFFFFF"/>
                        </a:solidFill>
                        <a:latin typeface="Plus Jakarta Sans" charset="0"/>
                        <a:ea typeface="Segoe UI" charset="0"/>
                        <a:cs typeface="Segoe UI" charset="0"/>
                      </a:endParaRPr>
                    </a:p>
                  </a:txBody>
                  <a:tcPr marL="146304" marR="146304" marT="109728" marB="109728"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2D2D2D"/>
                    </a:solidFill>
                  </a:tcPr>
                </a:tc>
              </a:tr>
              <a:tr h="845820">
                <a:tc>
                  <a:txBody>
                    <a:bodyPr/>
                    <a:lstStyle/>
                    <a:p>
                      <a:pPr indent="0" marL="0">
                        <a:buNone/>
                      </a:pPr>
                      <a:r>
                        <a:rPr lang="en-US" sz="1350" b="1" dirty="0">
                          <a:solidFill>
                            <a:srgbClr val="FFFFFF"/>
                          </a:solidFill>
                          <a:latin typeface="Plus Jakarta Sans" pitchFamily="34" charset="0"/>
                          <a:ea typeface="Segoe UI" pitchFamily="34" charset="-122"/>
                          <a:cs typeface="Segoe UI" pitchFamily="34" charset="-120"/>
                        </a:rPr>
                        <a:t>Manufacturer IFU</a:t>
                      </a:r>
                      <a:endParaRPr lang="en-US" sz="1350" dirty="0">
                        <a:solidFill>
                          <a:srgbClr val="FFFFFF"/>
                        </a:solidFill>
                        <a:latin typeface="Plus Jakarta Sans" charset="0"/>
                        <a:ea typeface="Segoe UI" charset="0"/>
                        <a:cs typeface="Segoe UI" charset="0"/>
                      </a:endParaRPr>
                    </a:p>
                  </a:txBody>
                  <a:tcPr marL="146304" marR="146304" marT="109728" marB="109728"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242424"/>
                    </a:solidFill>
                  </a:tcPr>
                </a:tc>
                <a:tc>
                  <a:txBody>
                    <a:bodyPr/>
                    <a:lstStyle/>
                    <a:p>
                      <a:pPr indent="0" marL="0">
                        <a:buNone/>
                      </a:pPr>
                      <a:r>
                        <a:rPr lang="en-US" sz="1350" dirty="0">
                          <a:solidFill>
                            <a:srgbClr val="FFFFFF"/>
                          </a:solidFill>
                          <a:latin typeface="Plus Jakarta Sans" pitchFamily="34" charset="0"/>
                          <a:ea typeface="Segoe UI" pitchFamily="34" charset="-122"/>
                          <a:cs typeface="Segoe UI" pitchFamily="34" charset="-120"/>
                        </a:rPr>
                        <a:t>How the device may be used, and its warnings</a:t>
                      </a:r>
                      <a:endParaRPr lang="en-US" sz="1350" dirty="0">
                        <a:solidFill>
                          <a:srgbClr val="FFFFFF"/>
                        </a:solidFill>
                        <a:latin typeface="Plus Jakarta Sans" charset="0"/>
                        <a:ea typeface="Segoe UI" charset="0"/>
                        <a:cs typeface="Segoe UI" charset="0"/>
                      </a:endParaRPr>
                    </a:p>
                  </a:txBody>
                  <a:tcPr marL="146304" marR="146304" marT="109728" marB="109728"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242424"/>
                    </a:solidFill>
                  </a:tcPr>
                </a:tc>
              </a:tr>
              <a:tr h="845820">
                <a:tc>
                  <a:txBody>
                    <a:bodyPr/>
                    <a:lstStyle/>
                    <a:p>
                      <a:pPr indent="0" marL="0">
                        <a:buNone/>
                      </a:pPr>
                      <a:r>
                        <a:rPr lang="en-US" sz="1350" b="1" dirty="0">
                          <a:solidFill>
                            <a:srgbClr val="FFFFFF"/>
                          </a:solidFill>
                          <a:latin typeface="Plus Jakarta Sans" pitchFamily="34" charset="0"/>
                          <a:ea typeface="Segoe UI" pitchFamily="34" charset="-122"/>
                          <a:cs typeface="Segoe UI" pitchFamily="34" charset="-120"/>
                        </a:rPr>
                        <a:t>Expert or local practice</a:t>
                      </a:r>
                      <a:endParaRPr lang="en-US" sz="1350" dirty="0">
                        <a:solidFill>
                          <a:srgbClr val="FFFFFF"/>
                        </a:solidFill>
                        <a:latin typeface="Plus Jakarta Sans" charset="0"/>
                        <a:ea typeface="Segoe UI" charset="0"/>
                        <a:cs typeface="Segoe UI" charset="0"/>
                      </a:endParaRPr>
                    </a:p>
                  </a:txBody>
                  <a:tcPr marL="146304" marR="146304" marT="109728" marB="109728"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2D2D2D"/>
                    </a:solidFill>
                  </a:tcPr>
                </a:tc>
                <a:tc>
                  <a:txBody>
                    <a:bodyPr/>
                    <a:lstStyle/>
                    <a:p>
                      <a:pPr indent="0" marL="0">
                        <a:buNone/>
                      </a:pPr>
                      <a:r>
                        <a:rPr lang="en-US" sz="1350" dirty="0">
                          <a:solidFill>
                            <a:srgbClr val="FFFFFF"/>
                          </a:solidFill>
                          <a:latin typeface="Plus Jakarta Sans" pitchFamily="34" charset="0"/>
                          <a:ea typeface="Segoe UI" pitchFamily="34" charset="-122"/>
                          <a:cs typeface="Segoe UI" pitchFamily="34" charset="-120"/>
                        </a:rPr>
                        <a:t>A practical choice, with the uncertainty stated</a:t>
                      </a:r>
                      <a:endParaRPr lang="en-US" sz="1350" dirty="0">
                        <a:solidFill>
                          <a:srgbClr val="FFFFFF"/>
                        </a:solidFill>
                        <a:latin typeface="Plus Jakarta Sans" charset="0"/>
                        <a:ea typeface="Segoe UI" charset="0"/>
                        <a:cs typeface="Segoe UI" charset="0"/>
                      </a:endParaRPr>
                    </a:p>
                  </a:txBody>
                  <a:tcPr marL="146304" marR="146304" marT="109728" marB="109728"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2D2D2D"/>
                    </a:solidFill>
                  </a:tcPr>
                </a:tc>
              </a:tr>
            </a:tbl>
          </a:graphicData>
        </a:graphic>
      </p:graphicFrame>
      <p:sp>
        <p:nvSpPr>
          <p:cNvPr id="9001" name="replacement-title">
            <a:extLst>
              <a:ext uri="{FF2B5EF4-FFF2-40B4-BE49-F238E27FC236}">
                <a16:creationId xmlns:a16="http://schemas.microsoft.com/office/drawing/2014/main" id="{567AD18D-2439-4929-8F7E-9D0A33195443}"/>
              </a:ext>
            </a:extLst>
          </p:cNvPr>
          <p:cNvSpPr>
            <a:spLocks noGrp="1"/>
          </p:cNvSpPr>
          <p:nvPr/>
        </p:nvSpPr>
        <p:spPr>
          <a:xfrm>
            <a:off x="638175" y="752475"/>
            <a:ext cx="10915650" cy="800100"/>
          </a:xfrm>
          <a:prstGeom prst="rect">
            <a:avLst/>
          </a:prstGeom>
          <a:noFill/>
          <a:ln w="0">
            <a:noFill/>
          </a:ln>
        </p:spPr>
        <p:txBody>
          <a:bodyPr anchor="ctr"/>
          <a:lstStyle>
            <a:defPPr>
              <a:defRPr sz="2625" b="1">
                <a:solidFill>
                  <a:srgbClr val="FFFFFF"/>
                </a:solidFill>
                <a:latin typeface="Plus Jakarta Sans"/>
              </a:defRPr>
            </a:defPPr>
            <a:lvl1pPr>
              <a:defRPr sz="2625" b="1">
                <a:solidFill>
                  <a:srgbClr val="FFFFFF"/>
                </a:solidFill>
                <a:latin typeface="Plus Jakarta Sans"/>
              </a:defRPr>
            </a:lvl1pPr>
            <a:lvl2pPr>
              <a:defRPr sz="2625" b="1">
                <a:solidFill>
                  <a:srgbClr val="FFFFFF"/>
                </a:solidFill>
                <a:latin typeface="Plus Jakarta Sans"/>
              </a:defRPr>
            </a:lvl2pPr>
            <a:lvl3pPr>
              <a:defRPr sz="2625" b="1">
                <a:solidFill>
                  <a:srgbClr val="FFFFFF"/>
                </a:solidFill>
                <a:latin typeface="Plus Jakarta Sans"/>
              </a:defRPr>
            </a:lvl3pPr>
            <a:lvl4pPr>
              <a:defRPr sz="2625" b="1">
                <a:solidFill>
                  <a:srgbClr val="FFFFFF"/>
                </a:solidFill>
                <a:latin typeface="Plus Jakarta Sans"/>
              </a:defRPr>
            </a:lvl4pPr>
            <a:lvl5pPr>
              <a:defRPr sz="2625" b="1">
                <a:solidFill>
                  <a:srgbClr val="FFFFFF"/>
                </a:solidFill>
                <a:latin typeface="Plus Jakarta Sans"/>
              </a:defRPr>
            </a:lvl5pPr>
            <a:lvl6pPr>
              <a:defRPr sz="2625" b="1">
                <a:solidFill>
                  <a:srgbClr val="FFFFFF"/>
                </a:solidFill>
                <a:latin typeface="Plus Jakarta Sans"/>
              </a:defRPr>
            </a:lvl6pPr>
            <a:lvl7pPr>
              <a:defRPr sz="2625" b="1">
                <a:solidFill>
                  <a:srgbClr val="FFFFFF"/>
                </a:solidFill>
                <a:latin typeface="Plus Jakarta Sans"/>
              </a:defRPr>
            </a:lvl7pPr>
            <a:lvl8pPr>
              <a:defRPr sz="2625" b="1">
                <a:solidFill>
                  <a:srgbClr val="FFFFFF"/>
                </a:solidFill>
                <a:latin typeface="Plus Jakarta Sans"/>
              </a:defRPr>
            </a:lvl8pPr>
            <a:lvl9pPr>
              <a:defRPr sz="2625" b="1">
                <a:solidFill>
                  <a:srgbClr val="FFFFFF"/>
                </a:solidFill>
                <a:latin typeface="Plus Jakarta Sans"/>
              </a:defRPr>
            </a:lvl9pPr>
          </a:lstStyle>
          <a:p>
            <a:pPr>
              <a:defRPr sz="2625" b="1">
                <a:solidFill>
                  <a:srgbClr val="FFFFFF"/>
                </a:solidFill>
                <a:latin typeface="Plus Jakarta Sans"/>
              </a:defRPr>
            </a:pPr>
            <a:r>
              <a:rPr sz="2625" b="1">
                <a:solidFill>
                  <a:srgbClr val="FFFFFF"/>
                </a:solidFill>
                <a:latin typeface="Plus Jakarta Sans"/>
              </a:rPr>
              <a:t>Evidence and device boundaries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616"/>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05C489"/>
                </a:solidFill>
                <a:latin typeface="Plus Jakarta Sans" pitchFamily="34" charset="0"/>
                <a:ea typeface="Segoe UI" pitchFamily="34" charset="-122"/>
                <a:cs typeface="Segoe UI" pitchFamily="34" charset="-120"/>
              </a:rPr>
              <a:t>DECIDE BEFORE THEATRE</a:t>
            </a:r>
            <a:endParaRPr lang="en-US" sz="950" dirty="0">
              <a:latin typeface="Plus Jakarta Sans"/>
            </a:endParaRPr>
          </a:p>
        </p:txBody>
      </p:sp>
      <p:sp>
        <p:nvSpPr>
          <p:cNvPr id="3" name="Text 1"/>
          <p:cNvSpPr txBox="1"/>
          <p:nvPr/>
        </p:nvSpPr>
        <p:spPr>
          <a:xfrm>
            <a:off x="6979615" y="384048"/>
            <a:ext cx="4572000" cy="274320"/>
          </a:xfrm>
          <a:prstGeom prst="rect">
            <a:avLst/>
          </a:prstGeom>
          <a:noFill/>
          <a:ln/>
        </p:spPr>
        <p:txBody>
          <a:bodyPr wrap="square" lIns="0" tIns="0" rIns="0" bIns="0" rtlCol="0" anchor="t"/>
          <a:lstStyle/>
          <a:p>
            <a:pPr algn="r" indent="0" marL="0">
              <a:buNone/>
            </a:pPr>
            <a:r>
              <a:rPr lang="en-US" sz="950" spc="100" kern="0" dirty="0">
                <a:solidFill>
                  <a:srgbClr val="BFBFBF"/>
                </a:solidFill>
                <a:latin typeface="Plus Jakarta Sans" pitchFamily="34" charset="0"/>
                <a:ea typeface="Segoe UI" pitchFamily="34" charset="-122"/>
                <a:cs typeface="Segoe UI" pitchFamily="34" charset="-120"/>
              </a:rPr>
              <a:t>03 / 36</a:t>
            </a:r>
            <a:endParaRPr lang="en-US" sz="950" dirty="0">
              <a:latin typeface="Plus Jakarta Sans"/>
            </a:endParaRPr>
          </a:p>
        </p:txBody>
      </p:sp>
      <p:sp>
        <p:nvSpPr>
          <p:cNvPr id="5" name="Text 3"/>
          <p:cNvSpPr txBox="1"/>
          <p:nvPr/>
        </p:nvSpPr>
        <p:spPr>
          <a:xfrm>
            <a:off x="640080" y="6345936"/>
            <a:ext cx="9997135" cy="228600"/>
          </a:xfrm>
          <a:prstGeom prst="rect">
            <a:avLst/>
          </a:prstGeom>
          <a:noFill/>
          <a:ln/>
        </p:spPr>
        <p:txBody>
          <a:bodyPr wrap="square" lIns="0" tIns="0" rIns="0" bIns="0" rtlCol="0" anchor="t"/>
          <a:lstStyle/>
          <a:p>
            <a:pPr algn="l" indent="0" marL="0">
              <a:buNone/>
            </a:pPr>
            <a:r>
              <a:rPr lang="en-US" sz="800" spc="50" kern="0" dirty="0">
                <a:solidFill>
                  <a:srgbClr val="BFBFBF"/>
                </a:solidFill>
                <a:latin typeface="Plus Jakarta Sans" pitchFamily="34" charset="0"/>
                <a:ea typeface="Segoe UI" pitchFamily="34" charset="-122"/>
                <a:cs typeface="Segoe UI" pitchFamily="34" charset="-120"/>
              </a:rPr>
              <a:t>BAUS25  ·  EAU26  ·  AUA24  ·  PAD26</a:t>
            </a:r>
            <a:endParaRPr lang="en-US" sz="800" dirty="0">
              <a:latin typeface="Plus Jakarta Sans"/>
            </a:endParaRPr>
          </a:p>
        </p:txBody>
      </p:sp>
      <p:sp>
        <p:nvSpPr>
          <p:cNvPr id="6" name="Text 4"/>
          <p:cNvSpPr txBox="1"/>
          <p:nvPr/>
        </p:nvSpPr>
        <p:spPr>
          <a:xfrm>
            <a:off x="640080" y="5669280"/>
            <a:ext cx="10911535" cy="566928"/>
          </a:xfrm>
          <a:prstGeom prst="rect">
            <a:avLst/>
          </a:prstGeom>
          <a:noFill/>
          <a:ln/>
        </p:spPr>
        <p:txBody>
          <a:bodyPr wrap="square" lIns="0" tIns="0" rIns="0" bIns="0" rtlCol="0" anchor="b"/>
          <a:lstStyle/>
          <a:p>
            <a:pPr algn="l" indent="0" marL="0">
              <a:buNone/>
            </a:pPr>
            <a:r>
              <a:rPr lang="en-US" sz="1200" i="1" dirty="0">
                <a:solidFill>
                  <a:srgbClr val="BFBFBF"/>
                </a:solidFill>
                <a:latin typeface="Plus Jakarta Sans" pitchFamily="34" charset="0"/>
                <a:ea typeface="Segoe UI" pitchFamily="34" charset="-122"/>
                <a:cs typeface="Segoe UI" pitchFamily="34" charset="-120"/>
              </a:rPr>
              <a:t>Pad count is useful, but 2–4 pads a day covers a wide range of weights (2026 data). Weigh the pads when unsure.</a:t>
            </a:r>
            <a:endParaRPr lang="en-US" sz="1200" dirty="0">
              <a:latin typeface="Plus Jakarta Sans"/>
            </a:endParaRPr>
          </a:p>
        </p:txBody>
      </p:sp>
      <p:sp>
        <p:nvSpPr>
          <p:cNvPr id="7" name="Shape 5"/>
          <p:cNvSpPr/>
          <p:nvPr/>
        </p:nvSpPr>
        <p:spPr>
          <a:xfrm>
            <a:off x="640080" y="1783080"/>
            <a:ext cx="5295748" cy="3749040"/>
          </a:xfrm>
          <a:prstGeom prst="roundRect">
            <a:avLst>
              <a:gd name="adj" fmla="val 3415"/>
            </a:avLst>
          </a:prstGeom>
          <a:solidFill>
            <a:srgbClr val="2D2D2D"/>
          </a:solidFill>
          <a:ln/>
        </p:spPr>
      </p:sp>
      <p:sp>
        <p:nvSpPr>
          <p:cNvPr id="8" name="Text 6"/>
          <p:cNvSpPr txBox="1"/>
          <p:nvPr/>
        </p:nvSpPr>
        <p:spPr>
          <a:xfrm>
            <a:off x="960120" y="2075688"/>
            <a:ext cx="4655668" cy="365760"/>
          </a:xfrm>
          <a:prstGeom prst="rect">
            <a:avLst/>
          </a:prstGeom>
          <a:noFill/>
          <a:ln/>
        </p:spPr>
        <p:txBody>
          <a:bodyPr wrap="square" lIns="0" tIns="0" rIns="0" bIns="0" rtlCol="0" anchor="t"/>
          <a:lstStyle/>
          <a:p>
            <a:pPr algn="l" indent="0" marL="0">
              <a:buNone/>
            </a:pPr>
            <a:r>
              <a:rPr lang="en-US" sz="1500" dirty="0">
                <a:solidFill>
                  <a:srgbClr val="05C489"/>
                </a:solidFill>
                <a:latin typeface="Plus Jakarta Sans" pitchFamily="34" charset="0"/>
                <a:ea typeface="Segoe UI Semibold" pitchFamily="34" charset="-122"/>
                <a:cs typeface="Segoe UI Semibold" pitchFamily="34" charset="-120"/>
              </a:rPr>
              <a:t>Describe the leak</a:t>
            </a:r>
            <a:endParaRPr lang="en-US" sz="1500" dirty="0">
              <a:latin typeface="Plus Jakarta Sans"/>
            </a:endParaRPr>
          </a:p>
        </p:txBody>
      </p:sp>
      <p:sp>
        <p:nvSpPr>
          <p:cNvPr id="9" name="Shape 7"/>
          <p:cNvSpPr/>
          <p:nvPr/>
        </p:nvSpPr>
        <p:spPr>
          <a:xfrm>
            <a:off x="960120" y="2734056"/>
            <a:ext cx="100584" cy="100584"/>
          </a:xfrm>
          <a:prstGeom prst="ellipse">
            <a:avLst/>
          </a:prstGeom>
          <a:solidFill>
            <a:srgbClr val="05C489"/>
          </a:solidFill>
          <a:ln/>
        </p:spPr>
      </p:sp>
      <p:sp>
        <p:nvSpPr>
          <p:cNvPr id="10" name="Text 8"/>
          <p:cNvSpPr txBox="1"/>
          <p:nvPr/>
        </p:nvSpPr>
        <p:spPr>
          <a:xfrm>
            <a:off x="1207008" y="2651760"/>
            <a:ext cx="4408780" cy="777240"/>
          </a:xfrm>
          <a:prstGeom prst="rect">
            <a:avLst/>
          </a:prstGeom>
          <a:noFill/>
          <a:ln/>
        </p:spPr>
        <p:txBody>
          <a:bodyPr wrap="square" lIns="0" tIns="0" rIns="0" bIns="0" rtlCol="0" anchor="t"/>
          <a:lstStyle/>
          <a:p>
            <a:pPr algn="l" indent="0" marL="0">
              <a:lnSpc>
                <a:spcPct val="110000"/>
              </a:lnSpc>
              <a:buNone/>
            </a:pPr>
            <a:r>
              <a:rPr lang="en-US" sz="1550" dirty="0">
                <a:solidFill>
                  <a:srgbClr val="FFFFFF"/>
                </a:solidFill>
                <a:latin typeface="Plus Jakarta Sans" pitchFamily="34" charset="0"/>
                <a:ea typeface="Segoe UI" pitchFamily="34" charset="-122"/>
                <a:cs typeface="Segoe UI" pitchFamily="34" charset="-120"/>
              </a:rPr>
              <a:t>Stress leak shown on examination</a:t>
            </a:r>
            <a:endParaRPr lang="en-US" sz="1550" dirty="0">
              <a:latin typeface="Plus Jakarta Sans"/>
            </a:endParaRPr>
          </a:p>
        </p:txBody>
      </p:sp>
      <p:sp>
        <p:nvSpPr>
          <p:cNvPr id="11" name="Shape 9"/>
          <p:cNvSpPr/>
          <p:nvPr/>
        </p:nvSpPr>
        <p:spPr>
          <a:xfrm>
            <a:off x="960120" y="3557016"/>
            <a:ext cx="100584" cy="100584"/>
          </a:xfrm>
          <a:prstGeom prst="ellipse">
            <a:avLst/>
          </a:prstGeom>
          <a:solidFill>
            <a:srgbClr val="05C489"/>
          </a:solidFill>
          <a:ln/>
        </p:spPr>
      </p:sp>
      <p:sp>
        <p:nvSpPr>
          <p:cNvPr id="12" name="Text 10"/>
          <p:cNvSpPr txBox="1"/>
          <p:nvPr/>
        </p:nvSpPr>
        <p:spPr>
          <a:xfrm>
            <a:off x="1207008" y="3474720"/>
            <a:ext cx="4408780" cy="777240"/>
          </a:xfrm>
          <a:prstGeom prst="rect">
            <a:avLst/>
          </a:prstGeom>
          <a:noFill/>
          <a:ln/>
        </p:spPr>
        <p:txBody>
          <a:bodyPr wrap="square" lIns="0" tIns="0" rIns="0" bIns="0" rtlCol="0" anchor="t"/>
          <a:lstStyle/>
          <a:p>
            <a:pPr algn="l" indent="0" marL="0">
              <a:lnSpc>
                <a:spcPct val="110000"/>
              </a:lnSpc>
              <a:buNone/>
            </a:pPr>
            <a:r>
              <a:rPr lang="en-US" sz="1550" dirty="0">
                <a:solidFill>
                  <a:srgbClr val="FFFFFF"/>
                </a:solidFill>
                <a:latin typeface="Plus Jakarta Sans" pitchFamily="34" charset="0"/>
                <a:ea typeface="Segoe UI" pitchFamily="34" charset="-122"/>
                <a:cs typeface="Segoe UI" pitchFamily="34" charset="-120"/>
              </a:rPr>
              <a:t>Urgency, night-time symptoms and emptying</a:t>
            </a:r>
            <a:endParaRPr lang="en-US" sz="1550" dirty="0">
              <a:latin typeface="Plus Jakarta Sans"/>
            </a:endParaRPr>
          </a:p>
        </p:txBody>
      </p:sp>
      <p:sp>
        <p:nvSpPr>
          <p:cNvPr id="13" name="Shape 11"/>
          <p:cNvSpPr/>
          <p:nvPr/>
        </p:nvSpPr>
        <p:spPr>
          <a:xfrm>
            <a:off x="960120" y="4379976"/>
            <a:ext cx="100584" cy="100584"/>
          </a:xfrm>
          <a:prstGeom prst="ellipse">
            <a:avLst/>
          </a:prstGeom>
          <a:solidFill>
            <a:srgbClr val="05C489"/>
          </a:solidFill>
          <a:ln/>
        </p:spPr>
      </p:sp>
      <p:sp>
        <p:nvSpPr>
          <p:cNvPr id="14" name="Text 12"/>
          <p:cNvSpPr txBox="1"/>
          <p:nvPr/>
        </p:nvSpPr>
        <p:spPr>
          <a:xfrm>
            <a:off x="1207008" y="4297680"/>
            <a:ext cx="4408780" cy="777240"/>
          </a:xfrm>
          <a:prstGeom prst="rect">
            <a:avLst/>
          </a:prstGeom>
          <a:noFill/>
          <a:ln/>
        </p:spPr>
        <p:txBody>
          <a:bodyPr wrap="square" lIns="0" tIns="0" rIns="0" bIns="0" rtlCol="0" anchor="t"/>
          <a:lstStyle/>
          <a:p>
            <a:pPr algn="l" indent="0" marL="0">
              <a:lnSpc>
                <a:spcPct val="110000"/>
              </a:lnSpc>
              <a:buNone/>
            </a:pPr>
            <a:r>
              <a:rPr lang="en-US" sz="1550" dirty="0">
                <a:solidFill>
                  <a:srgbClr val="FFFFFF"/>
                </a:solidFill>
                <a:latin typeface="Plus Jakarta Sans" pitchFamily="34" charset="0"/>
                <a:ea typeface="Segoe UI" pitchFamily="34" charset="-122"/>
                <a:cs typeface="Segoe UI" pitchFamily="34" charset="-120"/>
              </a:rPr>
              <a:t>Pad use, pad weight and activity</a:t>
            </a:r>
            <a:endParaRPr lang="en-US" sz="1550" dirty="0">
              <a:latin typeface="Plus Jakarta Sans"/>
            </a:endParaRPr>
          </a:p>
        </p:txBody>
      </p:sp>
      <p:sp>
        <p:nvSpPr>
          <p:cNvPr id="15" name="Shape 13"/>
          <p:cNvSpPr/>
          <p:nvPr/>
        </p:nvSpPr>
        <p:spPr>
          <a:xfrm>
            <a:off x="6255868" y="1783080"/>
            <a:ext cx="5295748" cy="3749040"/>
          </a:xfrm>
          <a:prstGeom prst="roundRect">
            <a:avLst>
              <a:gd name="adj" fmla="val 3415"/>
            </a:avLst>
          </a:prstGeom>
          <a:solidFill>
            <a:srgbClr val="2D2D2D"/>
          </a:solidFill>
          <a:ln/>
        </p:spPr>
      </p:sp>
      <p:sp>
        <p:nvSpPr>
          <p:cNvPr id="16" name="Text 14"/>
          <p:cNvSpPr txBox="1"/>
          <p:nvPr/>
        </p:nvSpPr>
        <p:spPr>
          <a:xfrm>
            <a:off x="6575908" y="2075688"/>
            <a:ext cx="4655668" cy="365760"/>
          </a:xfrm>
          <a:prstGeom prst="rect">
            <a:avLst/>
          </a:prstGeom>
          <a:noFill/>
          <a:ln/>
        </p:spPr>
        <p:txBody>
          <a:bodyPr wrap="square" lIns="0" tIns="0" rIns="0" bIns="0" rtlCol="0" anchor="t"/>
          <a:lstStyle/>
          <a:p>
            <a:pPr algn="l" indent="0" marL="0">
              <a:buNone/>
            </a:pPr>
            <a:r>
              <a:rPr lang="en-US" sz="1500" dirty="0">
                <a:solidFill>
                  <a:srgbClr val="FFFFFF"/>
                </a:solidFill>
                <a:latin typeface="Plus Jakarta Sans" pitchFamily="34" charset="0"/>
                <a:ea typeface="Segoe UI Semibold" pitchFamily="34" charset="-122"/>
                <a:cs typeface="Segoe UI Semibold" pitchFamily="34" charset="-120"/>
              </a:rPr>
              <a:t>Agree what improvement is worth it</a:t>
            </a:r>
            <a:endParaRPr lang="en-US" sz="1500" dirty="0">
              <a:latin typeface="Plus Jakarta Sans"/>
            </a:endParaRPr>
          </a:p>
        </p:txBody>
      </p:sp>
      <p:sp>
        <p:nvSpPr>
          <p:cNvPr id="17" name="Shape 15"/>
          <p:cNvSpPr/>
          <p:nvPr/>
        </p:nvSpPr>
        <p:spPr>
          <a:xfrm>
            <a:off x="6575908" y="2734056"/>
            <a:ext cx="100584" cy="100584"/>
          </a:xfrm>
          <a:prstGeom prst="ellipse">
            <a:avLst/>
          </a:prstGeom>
          <a:solidFill>
            <a:srgbClr val="FFFFFF"/>
          </a:solidFill>
          <a:ln/>
        </p:spPr>
      </p:sp>
      <p:sp>
        <p:nvSpPr>
          <p:cNvPr id="18" name="Text 16"/>
          <p:cNvSpPr txBox="1"/>
          <p:nvPr/>
        </p:nvSpPr>
        <p:spPr>
          <a:xfrm>
            <a:off x="6822796" y="2651760"/>
            <a:ext cx="4408780" cy="777240"/>
          </a:xfrm>
          <a:prstGeom prst="rect">
            <a:avLst/>
          </a:prstGeom>
          <a:noFill/>
          <a:ln/>
        </p:spPr>
        <p:txBody>
          <a:bodyPr wrap="square" lIns="0" tIns="0" rIns="0" bIns="0" rtlCol="0" anchor="t"/>
          <a:lstStyle/>
          <a:p>
            <a:pPr algn="l" indent="0" marL="0">
              <a:lnSpc>
                <a:spcPct val="110000"/>
              </a:lnSpc>
              <a:buNone/>
            </a:pPr>
            <a:r>
              <a:rPr lang="en-US" sz="1550" dirty="0">
                <a:solidFill>
                  <a:srgbClr val="FFFFFF"/>
                </a:solidFill>
                <a:latin typeface="Plus Jakarta Sans" pitchFamily="34" charset="0"/>
                <a:ea typeface="Segoe UI" pitchFamily="34" charset="-122"/>
                <a:cs typeface="Segoe UI" pitchFamily="34" charset="-120"/>
              </a:rPr>
              <a:t>Is it still improving? What has been tried?</a:t>
            </a:r>
            <a:endParaRPr lang="en-US" sz="1550" dirty="0">
              <a:latin typeface="Plus Jakarta Sans"/>
            </a:endParaRPr>
          </a:p>
        </p:txBody>
      </p:sp>
      <p:sp>
        <p:nvSpPr>
          <p:cNvPr id="19" name="Shape 17"/>
          <p:cNvSpPr/>
          <p:nvPr/>
        </p:nvSpPr>
        <p:spPr>
          <a:xfrm>
            <a:off x="6575908" y="3557016"/>
            <a:ext cx="100584" cy="100584"/>
          </a:xfrm>
          <a:prstGeom prst="ellipse">
            <a:avLst/>
          </a:prstGeom>
          <a:solidFill>
            <a:srgbClr val="FFFFFF"/>
          </a:solidFill>
          <a:ln/>
        </p:spPr>
      </p:sp>
      <p:sp>
        <p:nvSpPr>
          <p:cNvPr id="20" name="Text 18"/>
          <p:cNvSpPr txBox="1"/>
          <p:nvPr/>
        </p:nvSpPr>
        <p:spPr>
          <a:xfrm>
            <a:off x="6822796" y="3474720"/>
            <a:ext cx="4408780" cy="777240"/>
          </a:xfrm>
          <a:prstGeom prst="rect">
            <a:avLst/>
          </a:prstGeom>
          <a:noFill/>
          <a:ln/>
        </p:spPr>
        <p:txBody>
          <a:bodyPr wrap="square" lIns="0" tIns="0" rIns="0" bIns="0" rtlCol="0" anchor="t"/>
          <a:lstStyle/>
          <a:p>
            <a:pPr algn="l" indent="0" marL="0">
              <a:lnSpc>
                <a:spcPct val="110000"/>
              </a:lnSpc>
              <a:buNone/>
            </a:pPr>
            <a:r>
              <a:rPr lang="en-US" sz="1550" dirty="0">
                <a:solidFill>
                  <a:srgbClr val="FFFFFF"/>
                </a:solidFill>
                <a:latin typeface="Plus Jakarta Sans" pitchFamily="34" charset="0"/>
                <a:ea typeface="Segoe UI" pitchFamily="34" charset="-122"/>
                <a:cs typeface="Segoe UI" pitchFamily="34" charset="-120"/>
              </a:rPr>
              <a:t>A validated symptom score</a:t>
            </a:r>
            <a:endParaRPr lang="en-US" sz="1550" dirty="0">
              <a:latin typeface="Plus Jakarta Sans"/>
            </a:endParaRPr>
          </a:p>
        </p:txBody>
      </p:sp>
      <p:sp>
        <p:nvSpPr>
          <p:cNvPr id="21" name="Shape 19"/>
          <p:cNvSpPr/>
          <p:nvPr/>
        </p:nvSpPr>
        <p:spPr>
          <a:xfrm>
            <a:off x="6575908" y="4379976"/>
            <a:ext cx="100584" cy="100584"/>
          </a:xfrm>
          <a:prstGeom prst="ellipse">
            <a:avLst/>
          </a:prstGeom>
          <a:solidFill>
            <a:srgbClr val="FFFFFF"/>
          </a:solidFill>
          <a:ln/>
        </p:spPr>
      </p:sp>
      <p:sp>
        <p:nvSpPr>
          <p:cNvPr id="22" name="Text 20"/>
          <p:cNvSpPr txBox="1"/>
          <p:nvPr/>
        </p:nvSpPr>
        <p:spPr>
          <a:xfrm>
            <a:off x="6822796" y="4297680"/>
            <a:ext cx="4408780" cy="777240"/>
          </a:xfrm>
          <a:prstGeom prst="rect">
            <a:avLst/>
          </a:prstGeom>
          <a:noFill/>
          <a:ln/>
        </p:spPr>
        <p:txBody>
          <a:bodyPr wrap="square" lIns="0" tIns="0" rIns="0" bIns="0" rtlCol="0" anchor="t"/>
          <a:lstStyle/>
          <a:p>
            <a:pPr algn="l" indent="0" marL="0">
              <a:lnSpc>
                <a:spcPct val="110000"/>
              </a:lnSpc>
              <a:buNone/>
            </a:pPr>
            <a:r>
              <a:rPr lang="en-US" sz="1550" dirty="0">
                <a:solidFill>
                  <a:srgbClr val="FFFFFF"/>
                </a:solidFill>
                <a:latin typeface="Plus Jakarta Sans" pitchFamily="34" charset="0"/>
                <a:ea typeface="Segoe UI" pitchFamily="34" charset="-122"/>
                <a:cs typeface="Segoe UI" pitchFamily="34" charset="-120"/>
              </a:rPr>
              <a:t>The activity the patient wants back</a:t>
            </a:r>
            <a:endParaRPr lang="en-US" sz="1550" dirty="0">
              <a:latin typeface="Plus Jakarta Sans"/>
            </a:endParaRPr>
          </a:p>
        </p:txBody>
      </p:sp>
      <p:sp>
        <p:nvSpPr>
          <p:cNvPr id="9001" name="replacement-title">
            <a:extLst>
              <a:ext uri="{FF2B5EF4-FFF2-40B4-BE49-F238E27FC236}">
                <a16:creationId xmlns:a16="http://schemas.microsoft.com/office/drawing/2014/main" id="{0575D0CE-4238-4654-8A15-030C6BA9EEAA}"/>
              </a:ext>
            </a:extLst>
          </p:cNvPr>
          <p:cNvSpPr>
            <a:spLocks noGrp="1"/>
          </p:cNvSpPr>
          <p:nvPr/>
        </p:nvSpPr>
        <p:spPr>
          <a:xfrm>
            <a:off x="638175" y="752475"/>
            <a:ext cx="10915650" cy="800100"/>
          </a:xfrm>
          <a:prstGeom prst="rect">
            <a:avLst/>
          </a:prstGeom>
          <a:noFill/>
          <a:ln w="0">
            <a:noFill/>
          </a:ln>
        </p:spPr>
        <p:txBody>
          <a:bodyPr anchor="ctr"/>
          <a:lstStyle>
            <a:defPPr>
              <a:defRPr sz="2625" b="1">
                <a:solidFill>
                  <a:srgbClr val="FFFFFF"/>
                </a:solidFill>
                <a:latin typeface="Plus Jakarta Sans"/>
              </a:defRPr>
            </a:defPPr>
            <a:lvl1pPr>
              <a:defRPr sz="2625" b="1">
                <a:solidFill>
                  <a:srgbClr val="FFFFFF"/>
                </a:solidFill>
                <a:latin typeface="Plus Jakarta Sans"/>
              </a:defRPr>
            </a:lvl1pPr>
            <a:lvl2pPr>
              <a:defRPr sz="2625" b="1">
                <a:solidFill>
                  <a:srgbClr val="FFFFFF"/>
                </a:solidFill>
                <a:latin typeface="Plus Jakarta Sans"/>
              </a:defRPr>
            </a:lvl2pPr>
            <a:lvl3pPr>
              <a:defRPr sz="2625" b="1">
                <a:solidFill>
                  <a:srgbClr val="FFFFFF"/>
                </a:solidFill>
                <a:latin typeface="Plus Jakarta Sans"/>
              </a:defRPr>
            </a:lvl3pPr>
            <a:lvl4pPr>
              <a:defRPr sz="2625" b="1">
                <a:solidFill>
                  <a:srgbClr val="FFFFFF"/>
                </a:solidFill>
                <a:latin typeface="Plus Jakarta Sans"/>
              </a:defRPr>
            </a:lvl4pPr>
            <a:lvl5pPr>
              <a:defRPr sz="2625" b="1">
                <a:solidFill>
                  <a:srgbClr val="FFFFFF"/>
                </a:solidFill>
                <a:latin typeface="Plus Jakarta Sans"/>
              </a:defRPr>
            </a:lvl5pPr>
            <a:lvl6pPr>
              <a:defRPr sz="2625" b="1">
                <a:solidFill>
                  <a:srgbClr val="FFFFFF"/>
                </a:solidFill>
                <a:latin typeface="Plus Jakarta Sans"/>
              </a:defRPr>
            </a:lvl6pPr>
            <a:lvl7pPr>
              <a:defRPr sz="2625" b="1">
                <a:solidFill>
                  <a:srgbClr val="FFFFFF"/>
                </a:solidFill>
                <a:latin typeface="Plus Jakarta Sans"/>
              </a:defRPr>
            </a:lvl7pPr>
            <a:lvl8pPr>
              <a:defRPr sz="2625" b="1">
                <a:solidFill>
                  <a:srgbClr val="FFFFFF"/>
                </a:solidFill>
                <a:latin typeface="Plus Jakarta Sans"/>
              </a:defRPr>
            </a:lvl8pPr>
            <a:lvl9pPr>
              <a:defRPr sz="2625" b="1">
                <a:solidFill>
                  <a:srgbClr val="FFFFFF"/>
                </a:solidFill>
                <a:latin typeface="Plus Jakarta Sans"/>
              </a:defRPr>
            </a:lvl9pPr>
          </a:lstStyle>
          <a:p>
            <a:pPr>
              <a:defRPr sz="2625" b="1">
                <a:solidFill>
                  <a:srgbClr val="FFFFFF"/>
                </a:solidFill>
                <a:latin typeface="Plus Jakarta Sans"/>
              </a:defRPr>
            </a:pPr>
            <a:r>
              <a:rPr sz="2625" b="1">
                <a:solidFill>
                  <a:srgbClr val="FFFFFF"/>
                </a:solidFill>
                <a:latin typeface="Plus Jakarta Sans"/>
              </a:rPr>
              <a:t>Leakage mechanism and patient goals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616"/>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05C489"/>
                </a:solidFill>
                <a:latin typeface="Plus Jakarta Sans" pitchFamily="34" charset="0"/>
                <a:ea typeface="Segoe UI" pitchFamily="34" charset="-122"/>
                <a:cs typeface="Segoe UI" pitchFamily="34" charset="-120"/>
              </a:rPr>
              <a:t>DECIDE BEFORE THEATRE</a:t>
            </a:r>
            <a:endParaRPr lang="en-US" sz="950" dirty="0">
              <a:latin typeface="Plus Jakarta Sans"/>
            </a:endParaRPr>
          </a:p>
        </p:txBody>
      </p:sp>
      <p:sp>
        <p:nvSpPr>
          <p:cNvPr id="3" name="Text 1"/>
          <p:cNvSpPr txBox="1"/>
          <p:nvPr/>
        </p:nvSpPr>
        <p:spPr>
          <a:xfrm>
            <a:off x="6979615" y="384048"/>
            <a:ext cx="4572000" cy="274320"/>
          </a:xfrm>
          <a:prstGeom prst="rect">
            <a:avLst/>
          </a:prstGeom>
          <a:noFill/>
          <a:ln/>
        </p:spPr>
        <p:txBody>
          <a:bodyPr wrap="square" lIns="0" tIns="0" rIns="0" bIns="0" rtlCol="0" anchor="t"/>
          <a:lstStyle/>
          <a:p>
            <a:pPr algn="r" indent="0" marL="0">
              <a:buNone/>
            </a:pPr>
            <a:r>
              <a:rPr lang="en-US" sz="950" spc="100" kern="0" dirty="0">
                <a:solidFill>
                  <a:srgbClr val="BFBFBF"/>
                </a:solidFill>
                <a:latin typeface="Plus Jakarta Sans" pitchFamily="34" charset="0"/>
                <a:ea typeface="Segoe UI" pitchFamily="34" charset="-122"/>
                <a:cs typeface="Segoe UI" pitchFamily="34" charset="-120"/>
              </a:rPr>
              <a:t>04 / 36</a:t>
            </a:r>
            <a:endParaRPr lang="en-US" sz="950" dirty="0">
              <a:latin typeface="Plus Jakarta Sans"/>
            </a:endParaRPr>
          </a:p>
        </p:txBody>
      </p:sp>
      <p:sp>
        <p:nvSpPr>
          <p:cNvPr id="5" name="Text 3"/>
          <p:cNvSpPr txBox="1"/>
          <p:nvPr/>
        </p:nvSpPr>
        <p:spPr>
          <a:xfrm>
            <a:off x="640080" y="6345936"/>
            <a:ext cx="9997135" cy="228600"/>
          </a:xfrm>
          <a:prstGeom prst="rect">
            <a:avLst/>
          </a:prstGeom>
          <a:noFill/>
          <a:ln/>
        </p:spPr>
        <p:txBody>
          <a:bodyPr wrap="square" lIns="0" tIns="0" rIns="0" bIns="0" rtlCol="0" anchor="t"/>
          <a:lstStyle/>
          <a:p>
            <a:pPr algn="l" indent="0" marL="0">
              <a:buNone/>
            </a:pPr>
            <a:r>
              <a:rPr lang="en-US" sz="800" spc="50" kern="0" dirty="0">
                <a:solidFill>
                  <a:srgbClr val="BFBFBF"/>
                </a:solidFill>
                <a:latin typeface="Plus Jakarta Sans" pitchFamily="34" charset="0"/>
                <a:ea typeface="Segoe UI" pitchFamily="34" charset="-122"/>
                <a:cs typeface="Segoe UI" pitchFamily="34" charset="-120"/>
              </a:rPr>
              <a:t>AUA24  ·  BAUS25  ·  EAU26  ·  MASTER22  ·  MASTER26</a:t>
            </a:r>
            <a:endParaRPr lang="en-US" sz="800" dirty="0">
              <a:latin typeface="Plus Jakarta Sans"/>
            </a:endParaRPr>
          </a:p>
        </p:txBody>
      </p:sp>
      <p:sp>
        <p:nvSpPr>
          <p:cNvPr id="6" name="Text 4"/>
          <p:cNvSpPr txBox="1"/>
          <p:nvPr/>
        </p:nvSpPr>
        <p:spPr>
          <a:xfrm>
            <a:off x="640080" y="5669280"/>
            <a:ext cx="10911535" cy="566928"/>
          </a:xfrm>
          <a:prstGeom prst="rect">
            <a:avLst/>
          </a:prstGeom>
          <a:noFill/>
          <a:ln/>
        </p:spPr>
        <p:txBody>
          <a:bodyPr wrap="square" lIns="0" tIns="0" rIns="0" bIns="0" rtlCol="0" anchor="b"/>
          <a:lstStyle/>
          <a:p>
            <a:pPr algn="l" indent="0" marL="0">
              <a:buNone/>
            </a:pPr>
            <a:r>
              <a:rPr lang="en-US" sz="1200" i="1" dirty="0">
                <a:solidFill>
                  <a:srgbClr val="BFBFBF"/>
                </a:solidFill>
                <a:latin typeface="Plus Jakarta Sans" pitchFamily="34" charset="0"/>
                <a:ea typeface="Segoe UI" pitchFamily="34" charset="-122"/>
                <a:cs typeface="Segoe UI" pitchFamily="34" charset="-120"/>
              </a:rPr>
              <a:t>MASTER 2026: at 24 months the sling was still non-inferior, but further surgery was 11% after sling vs 2% after AUS. Selected patients.</a:t>
            </a:r>
            <a:endParaRPr lang="en-US" sz="1200" dirty="0">
              <a:latin typeface="Plus Jakarta Sans"/>
            </a:endParaRPr>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911535" cy="914400"/>
        </p:xfrm>
        <a:graphic>
          <a:graphicData uri="http://schemas.openxmlformats.org/drawingml/2006/table">
            <a:tbl>
              <a:tblPr/>
              <a:tblGrid>
                <a:gridCol w="2377440"/>
                <a:gridCol w="4069080"/>
                <a:gridCol w="4465015"/>
              </a:tblGrid>
              <a:tr h="411480">
                <a:tc>
                  <a:txBody>
                    <a:bodyPr/>
                    <a:lstStyle/>
                    <a:p>
                      <a:pPr indent="0" marL="0">
                        <a:buNone/>
                      </a:pPr>
                      <a:r>
                        <a:rPr lang="en-US" sz="1400" b="1" dirty="0">
                          <a:solidFill>
                            <a:srgbClr val="161616"/>
                          </a:solidFill>
                          <a:latin typeface="Plus Jakarta Sans" pitchFamily="34" charset="0"/>
                          <a:ea typeface="Segoe UI Semibold" pitchFamily="34" charset="-122"/>
                          <a:cs typeface="Segoe UI Semibold" pitchFamily="34" charset="-120"/>
                        </a:rPr>
                        <a:t>Guidance</a:t>
                      </a:r>
                      <a:endParaRPr lang="en-US" sz="1400" dirty="0">
                        <a:solidFill>
                          <a:srgbClr val="161616"/>
                        </a:solidFill>
                        <a:latin typeface="Plus Jakarta Sans" charset="0"/>
                        <a:ea typeface="Segoe UI Semibold" charset="0"/>
                        <a:cs typeface="Segoe UI Semibold" charset="0"/>
                      </a:endParaRPr>
                    </a:p>
                  </a:txBody>
                  <a:tcPr marL="146304" marR="146304" marT="91440" marB="91440"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05C489"/>
                    </a:solidFill>
                  </a:tcPr>
                </a:tc>
                <a:tc>
                  <a:txBody>
                    <a:bodyPr/>
                    <a:lstStyle/>
                    <a:p>
                      <a:pPr indent="0" marL="0">
                        <a:buNone/>
                      </a:pPr>
                      <a:r>
                        <a:rPr lang="en-US" sz="1400" b="1" dirty="0">
                          <a:solidFill>
                            <a:srgbClr val="161616"/>
                          </a:solidFill>
                          <a:latin typeface="Plus Jakarta Sans" pitchFamily="34" charset="0"/>
                          <a:ea typeface="Segoe UI Semibold" pitchFamily="34" charset="-122"/>
                          <a:cs typeface="Segoe UI Semibold" pitchFamily="34" charset="-120"/>
                        </a:rPr>
                        <a:t>At six months</a:t>
                      </a:r>
                      <a:endParaRPr lang="en-US" sz="1400" dirty="0">
                        <a:solidFill>
                          <a:srgbClr val="161616"/>
                        </a:solidFill>
                        <a:latin typeface="Plus Jakarta Sans" charset="0"/>
                        <a:ea typeface="Segoe UI Semibold" charset="0"/>
                        <a:cs typeface="Segoe UI Semibold" charset="0"/>
                      </a:endParaRPr>
                    </a:p>
                  </a:txBody>
                  <a:tcPr marL="146304" marR="146304" marT="91440" marB="91440"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05C489"/>
                    </a:solidFill>
                  </a:tcPr>
                </a:tc>
                <a:tc>
                  <a:txBody>
                    <a:bodyPr/>
                    <a:lstStyle/>
                    <a:p>
                      <a:pPr indent="0" marL="0">
                        <a:buNone/>
                      </a:pPr>
                      <a:r>
                        <a:rPr lang="en-US" sz="1400" b="1" dirty="0">
                          <a:solidFill>
                            <a:srgbClr val="161616"/>
                          </a:solidFill>
                          <a:latin typeface="Plus Jakarta Sans" pitchFamily="34" charset="0"/>
                          <a:ea typeface="Segoe UI Semibold" pitchFamily="34" charset="-122"/>
                          <a:cs typeface="Segoe UI Semibold" pitchFamily="34" charset="-120"/>
                        </a:rPr>
                        <a:t>At twelve months</a:t>
                      </a:r>
                      <a:endParaRPr lang="en-US" sz="1400" dirty="0">
                        <a:solidFill>
                          <a:srgbClr val="161616"/>
                        </a:solidFill>
                        <a:latin typeface="Plus Jakarta Sans" charset="0"/>
                        <a:ea typeface="Segoe UI Semibold" charset="0"/>
                        <a:cs typeface="Segoe UI Semibold" charset="0"/>
                      </a:endParaRPr>
                    </a:p>
                  </a:txBody>
                  <a:tcPr marL="146304" marR="146304" marT="91440" marB="91440"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05C489"/>
                    </a:solidFill>
                  </a:tcPr>
                </a:tc>
              </a:tr>
              <a:tr h="777240">
                <a:tc>
                  <a:txBody>
                    <a:bodyPr/>
                    <a:lstStyle/>
                    <a:p>
                      <a:pPr indent="0" marL="0">
                        <a:buNone/>
                      </a:pPr>
                      <a:r>
                        <a:rPr lang="en-US" sz="1500" b="1" dirty="0">
                          <a:solidFill>
                            <a:srgbClr val="FFFFFF"/>
                          </a:solidFill>
                          <a:latin typeface="Plus Jakarta Sans" pitchFamily="34" charset="0"/>
                          <a:ea typeface="Segoe UI" pitchFamily="34" charset="-122"/>
                          <a:cs typeface="Segoe UI" pitchFamily="34" charset="-120"/>
                        </a:rPr>
                        <a:t>BAUS</a:t>
                      </a:r>
                      <a:endParaRPr lang="en-US" sz="1500" dirty="0">
                        <a:solidFill>
                          <a:srgbClr val="FFFFFF"/>
                        </a:solidFill>
                        <a:latin typeface="Plus Jakarta Sans" charset="0"/>
                        <a:ea typeface="Segoe UI" charset="0"/>
                        <a:cs typeface="Segoe UI" charset="0"/>
                      </a:endParaRPr>
                    </a:p>
                  </a:txBody>
                  <a:tcPr marL="146304" marR="146304" marT="109728" marB="109728"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242424"/>
                    </a:solidFill>
                  </a:tcPr>
                </a:tc>
                <a:tc>
                  <a:txBody>
                    <a:bodyPr/>
                    <a:lstStyle/>
                    <a:p>
                      <a:pPr indent="0" marL="0">
                        <a:buNone/>
                      </a:pPr>
                      <a:r>
                        <a:rPr lang="en-US" sz="1500" dirty="0">
                          <a:solidFill>
                            <a:srgbClr val="FFFFFF"/>
                          </a:solidFill>
                          <a:latin typeface="Plus Jakarta Sans" pitchFamily="34" charset="0"/>
                          <a:ea typeface="Segoe UI" pitchFamily="34" charset="-122"/>
                          <a:cs typeface="Segoe UI" pitchFamily="34" charset="-120"/>
                        </a:rPr>
                        <a:t>At least six months’ recovery for severe SUI</a:t>
                      </a:r>
                      <a:endParaRPr lang="en-US" sz="1500" dirty="0">
                        <a:solidFill>
                          <a:srgbClr val="FFFFFF"/>
                        </a:solidFill>
                        <a:latin typeface="Plus Jakarta Sans" charset="0"/>
                        <a:ea typeface="Segoe UI" charset="0"/>
                        <a:cs typeface="Segoe UI" charset="0"/>
                      </a:endParaRPr>
                    </a:p>
                  </a:txBody>
                  <a:tcPr marL="146304" marR="146304" marT="109728" marB="109728"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242424"/>
                    </a:solidFill>
                  </a:tcPr>
                </a:tc>
                <a:tc>
                  <a:txBody>
                    <a:bodyPr/>
                    <a:lstStyle/>
                    <a:p>
                      <a:pPr indent="0" marL="0">
                        <a:buNone/>
                      </a:pPr>
                      <a:r>
                        <a:rPr lang="en-US" sz="1500" dirty="0">
                          <a:solidFill>
                            <a:srgbClr val="FFFFFF"/>
                          </a:solidFill>
                          <a:latin typeface="Plus Jakarta Sans" pitchFamily="34" charset="0"/>
                          <a:ea typeface="Segoe UI" pitchFamily="34" charset="-122"/>
                          <a:cs typeface="Segoe UI" pitchFamily="34" charset="-120"/>
                        </a:rPr>
                        <a:t>At least twelve months for mild–moderate SUI</a:t>
                      </a:r>
                      <a:endParaRPr lang="en-US" sz="1500" dirty="0">
                        <a:solidFill>
                          <a:srgbClr val="FFFFFF"/>
                        </a:solidFill>
                        <a:latin typeface="Plus Jakarta Sans" charset="0"/>
                        <a:ea typeface="Segoe UI" charset="0"/>
                        <a:cs typeface="Segoe UI" charset="0"/>
                      </a:endParaRPr>
                    </a:p>
                  </a:txBody>
                  <a:tcPr marL="146304" marR="146304" marT="109728" marB="109728"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242424"/>
                    </a:solidFill>
                  </a:tcPr>
                </a:tc>
              </a:tr>
              <a:tr h="777240">
                <a:tc>
                  <a:txBody>
                    <a:bodyPr/>
                    <a:lstStyle/>
                    <a:p>
                      <a:pPr indent="0" marL="0">
                        <a:buNone/>
                      </a:pPr>
                      <a:r>
                        <a:rPr lang="en-US" sz="1500" b="1" dirty="0">
                          <a:solidFill>
                            <a:srgbClr val="FFFFFF"/>
                          </a:solidFill>
                          <a:latin typeface="Plus Jakarta Sans" pitchFamily="34" charset="0"/>
                          <a:ea typeface="Segoe UI" pitchFamily="34" charset="-122"/>
                          <a:cs typeface="Segoe UI" pitchFamily="34" charset="-120"/>
                        </a:rPr>
                        <a:t>AUA</a:t>
                      </a:r>
                      <a:endParaRPr lang="en-US" sz="1500" dirty="0">
                        <a:solidFill>
                          <a:srgbClr val="FFFFFF"/>
                        </a:solidFill>
                        <a:latin typeface="Plus Jakarta Sans" charset="0"/>
                        <a:ea typeface="Segoe UI" charset="0"/>
                        <a:cs typeface="Segoe UI" charset="0"/>
                      </a:endParaRPr>
                    </a:p>
                  </a:txBody>
                  <a:tcPr marL="146304" marR="146304" marT="109728" marB="109728"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2D2D2D"/>
                    </a:solidFill>
                  </a:tcPr>
                </a:tc>
                <a:tc>
                  <a:txBody>
                    <a:bodyPr/>
                    <a:lstStyle/>
                    <a:p>
                      <a:pPr indent="0" marL="0">
                        <a:buNone/>
                      </a:pPr>
                      <a:r>
                        <a:rPr lang="en-US" sz="1500" dirty="0">
                          <a:solidFill>
                            <a:srgbClr val="FFFFFF"/>
                          </a:solidFill>
                          <a:latin typeface="Plus Jakarta Sans" pitchFamily="34" charset="0"/>
                          <a:ea typeface="Segoe UI" pitchFamily="34" charset="-122"/>
                          <a:cs typeface="Segoe UI" pitchFamily="34" charset="-120"/>
                        </a:rPr>
                        <a:t>Surgery may be offered for bothersome, non-improving SUI despite conservative care</a:t>
                      </a:r>
                      <a:endParaRPr lang="en-US" sz="1500" dirty="0">
                        <a:solidFill>
                          <a:srgbClr val="FFFFFF"/>
                        </a:solidFill>
                        <a:latin typeface="Plus Jakarta Sans" charset="0"/>
                        <a:ea typeface="Segoe UI" charset="0"/>
                        <a:cs typeface="Segoe UI" charset="0"/>
                      </a:endParaRPr>
                    </a:p>
                  </a:txBody>
                  <a:tcPr marL="146304" marR="146304" marT="109728" marB="109728"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2D2D2D"/>
                    </a:solidFill>
                  </a:tcPr>
                </a:tc>
                <a:tc>
                  <a:txBody>
                    <a:bodyPr/>
                    <a:lstStyle/>
                    <a:p>
                      <a:pPr indent="0" marL="0">
                        <a:buNone/>
                      </a:pPr>
                      <a:r>
                        <a:rPr lang="en-US" sz="1500" dirty="0">
                          <a:solidFill>
                            <a:srgbClr val="FFFFFF"/>
                          </a:solidFill>
                          <a:latin typeface="Plus Jakarta Sans" pitchFamily="34" charset="0"/>
                          <a:ea typeface="Segoe UI" pitchFamily="34" charset="-122"/>
                          <a:cs typeface="Segoe UI" pitchFamily="34" charset="-120"/>
                        </a:rPr>
                        <a:t>Offer surgery for persisting bothersome SUI</a:t>
                      </a:r>
                      <a:endParaRPr lang="en-US" sz="1500" dirty="0">
                        <a:solidFill>
                          <a:srgbClr val="FFFFFF"/>
                        </a:solidFill>
                        <a:latin typeface="Plus Jakarta Sans" charset="0"/>
                        <a:ea typeface="Segoe UI" charset="0"/>
                        <a:cs typeface="Segoe UI" charset="0"/>
                      </a:endParaRPr>
                    </a:p>
                  </a:txBody>
                  <a:tcPr marL="146304" marR="146304" marT="109728" marB="109728"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2D2D2D"/>
                    </a:solidFill>
                  </a:tcPr>
                </a:tc>
              </a:tr>
            </a:tbl>
          </a:graphicData>
        </a:graphic>
      </p:graphicFrame>
      <p:sp>
        <p:nvSpPr>
          <p:cNvPr id="8" name="Text 5"/>
          <p:cNvSpPr txBox="1"/>
          <p:nvPr/>
        </p:nvSpPr>
        <p:spPr>
          <a:xfrm>
            <a:off x="640080" y="4069080"/>
            <a:ext cx="10911535" cy="320040"/>
          </a:xfrm>
          <a:prstGeom prst="rect">
            <a:avLst/>
          </a:prstGeom>
          <a:noFill/>
          <a:ln/>
        </p:spPr>
        <p:txBody>
          <a:bodyPr wrap="square" lIns="0" tIns="0" rIns="0" bIns="0" rtlCol="0" anchor="t"/>
          <a:lstStyle/>
          <a:p>
            <a:pPr algn="l" indent="0" marL="0">
              <a:buNone/>
            </a:pPr>
            <a:r>
              <a:rPr lang="en-US" sz="1300" dirty="0">
                <a:solidFill>
                  <a:srgbClr val="05C489"/>
                </a:solidFill>
                <a:latin typeface="Plus Jakarta Sans" pitchFamily="34" charset="0"/>
                <a:ea typeface="Segoe UI Semibold" pitchFamily="34" charset="-122"/>
                <a:cs typeface="Segoe UI Semibold" pitchFamily="34" charset="-120"/>
              </a:rPr>
              <a:t>Severity by 24-hour pad weight: the Nitti classification BAUS uses</a:t>
            </a:r>
            <a:endParaRPr lang="en-US" sz="1300" dirty="0">
              <a:latin typeface="Plus Jakarta Sans"/>
            </a:endParaRPr>
          </a:p>
        </p:txBody>
      </p:sp>
      <p:sp>
        <p:nvSpPr>
          <p:cNvPr id="9" name="Shape 6"/>
          <p:cNvSpPr/>
          <p:nvPr/>
        </p:nvSpPr>
        <p:spPr>
          <a:xfrm>
            <a:off x="640080" y="4480560"/>
            <a:ext cx="3454298" cy="1005840"/>
          </a:xfrm>
          <a:prstGeom prst="roundRect">
            <a:avLst>
              <a:gd name="adj" fmla="val 12727"/>
            </a:avLst>
          </a:prstGeom>
          <a:solidFill>
            <a:srgbClr val="2D2D2D"/>
          </a:solidFill>
          <a:ln/>
        </p:spPr>
      </p:sp>
      <p:sp>
        <p:nvSpPr>
          <p:cNvPr id="10" name="Shape 7"/>
          <p:cNvSpPr/>
          <p:nvPr/>
        </p:nvSpPr>
        <p:spPr>
          <a:xfrm>
            <a:off x="914400" y="4754880"/>
            <a:ext cx="164592" cy="164592"/>
          </a:xfrm>
          <a:prstGeom prst="ellipse">
            <a:avLst/>
          </a:prstGeom>
          <a:solidFill>
            <a:srgbClr val="05C489"/>
          </a:solidFill>
          <a:ln/>
        </p:spPr>
      </p:sp>
      <p:sp>
        <p:nvSpPr>
          <p:cNvPr id="11" name="Text 8"/>
          <p:cNvSpPr txBox="1"/>
          <p:nvPr/>
        </p:nvSpPr>
        <p:spPr>
          <a:xfrm>
            <a:off x="1188720" y="4636008"/>
            <a:ext cx="2631338" cy="411480"/>
          </a:xfrm>
          <a:prstGeom prst="rect">
            <a:avLst/>
          </a:prstGeom>
          <a:noFill/>
          <a:ln/>
        </p:spPr>
        <p:txBody>
          <a:bodyPr wrap="square" lIns="0" tIns="0" rIns="0" bIns="0" rtlCol="0" anchor="ctr"/>
          <a:lstStyle/>
          <a:p>
            <a:pPr algn="l" indent="0" marL="0">
              <a:buNone/>
            </a:pPr>
            <a:r>
              <a:rPr lang="en-US" sz="2000" dirty="0">
                <a:solidFill>
                  <a:srgbClr val="05C489"/>
                </a:solidFill>
                <a:latin typeface="Plus Jakarta Sans" pitchFamily="34" charset="0"/>
                <a:ea typeface="Segoe UI Semibold" pitchFamily="34" charset="-122"/>
                <a:cs typeface="Segoe UI Semibold" pitchFamily="34" charset="-120"/>
              </a:rPr>
              <a:t>Mild</a:t>
            </a:r>
            <a:endParaRPr lang="en-US" sz="2000" dirty="0">
              <a:latin typeface="Plus Jakarta Sans"/>
            </a:endParaRPr>
          </a:p>
        </p:txBody>
      </p:sp>
      <p:sp>
        <p:nvSpPr>
          <p:cNvPr id="12" name="Text 9"/>
          <p:cNvSpPr txBox="1"/>
          <p:nvPr/>
        </p:nvSpPr>
        <p:spPr>
          <a:xfrm>
            <a:off x="1188720" y="5047488"/>
            <a:ext cx="2631338" cy="365760"/>
          </a:xfrm>
          <a:prstGeom prst="rect">
            <a:avLst/>
          </a:prstGeom>
          <a:noFill/>
          <a:ln/>
        </p:spPr>
        <p:txBody>
          <a:bodyPr wrap="square" lIns="0" tIns="0" rIns="0" bIns="0" rtlCol="0" anchor="ctr"/>
          <a:lstStyle/>
          <a:p>
            <a:pPr algn="l" indent="0" marL="0">
              <a:buNone/>
            </a:pPr>
            <a:r>
              <a:rPr lang="en-US" sz="1400" dirty="0">
                <a:solidFill>
                  <a:srgbClr val="FFFFFF"/>
                </a:solidFill>
                <a:latin typeface="Plus Jakarta Sans" pitchFamily="34" charset="0"/>
                <a:ea typeface="Segoe UI" pitchFamily="34" charset="-122"/>
                <a:cs typeface="Segoe UI" pitchFamily="34" charset="-120"/>
              </a:rPr>
              <a:t>Under 100 g in 24 hours</a:t>
            </a:r>
            <a:endParaRPr lang="en-US" sz="1400" dirty="0">
              <a:latin typeface="Plus Jakarta Sans"/>
            </a:endParaRPr>
          </a:p>
        </p:txBody>
      </p:sp>
      <p:sp>
        <p:nvSpPr>
          <p:cNvPr id="13" name="Shape 10"/>
          <p:cNvSpPr/>
          <p:nvPr/>
        </p:nvSpPr>
        <p:spPr>
          <a:xfrm>
            <a:off x="4368698" y="4480560"/>
            <a:ext cx="3454298" cy="1005840"/>
          </a:xfrm>
          <a:prstGeom prst="roundRect">
            <a:avLst>
              <a:gd name="adj" fmla="val 12727"/>
            </a:avLst>
          </a:prstGeom>
          <a:solidFill>
            <a:srgbClr val="2D2D2D"/>
          </a:solidFill>
          <a:ln/>
        </p:spPr>
      </p:sp>
      <p:sp>
        <p:nvSpPr>
          <p:cNvPr id="14" name="Shape 11"/>
          <p:cNvSpPr/>
          <p:nvPr/>
        </p:nvSpPr>
        <p:spPr>
          <a:xfrm>
            <a:off x="4643018" y="4754880"/>
            <a:ext cx="164592" cy="164592"/>
          </a:xfrm>
          <a:prstGeom prst="ellipse">
            <a:avLst/>
          </a:prstGeom>
          <a:solidFill>
            <a:srgbClr val="89FF00"/>
          </a:solidFill>
          <a:ln/>
        </p:spPr>
      </p:sp>
      <p:sp>
        <p:nvSpPr>
          <p:cNvPr id="15" name="Text 12"/>
          <p:cNvSpPr txBox="1"/>
          <p:nvPr/>
        </p:nvSpPr>
        <p:spPr>
          <a:xfrm>
            <a:off x="4917338" y="4636008"/>
            <a:ext cx="2631338" cy="411480"/>
          </a:xfrm>
          <a:prstGeom prst="rect">
            <a:avLst/>
          </a:prstGeom>
          <a:noFill/>
          <a:ln/>
        </p:spPr>
        <p:txBody>
          <a:bodyPr wrap="square" lIns="0" tIns="0" rIns="0" bIns="0" rtlCol="0" anchor="ctr"/>
          <a:lstStyle/>
          <a:p>
            <a:pPr algn="l" indent="0" marL="0">
              <a:buNone/>
            </a:pPr>
            <a:r>
              <a:rPr lang="en-US" sz="2000" dirty="0">
                <a:solidFill>
                  <a:srgbClr val="89FF00"/>
                </a:solidFill>
                <a:latin typeface="Plus Jakarta Sans" pitchFamily="34" charset="0"/>
                <a:ea typeface="Segoe UI Semibold" pitchFamily="34" charset="-122"/>
                <a:cs typeface="Segoe UI Semibold" pitchFamily="34" charset="-120"/>
              </a:rPr>
              <a:t>Moderate</a:t>
            </a:r>
            <a:endParaRPr lang="en-US" sz="2000" dirty="0">
              <a:latin typeface="Plus Jakarta Sans"/>
            </a:endParaRPr>
          </a:p>
        </p:txBody>
      </p:sp>
      <p:sp>
        <p:nvSpPr>
          <p:cNvPr id="16" name="Text 13"/>
          <p:cNvSpPr txBox="1"/>
          <p:nvPr/>
        </p:nvSpPr>
        <p:spPr>
          <a:xfrm>
            <a:off x="4917338" y="5047488"/>
            <a:ext cx="2631338" cy="365760"/>
          </a:xfrm>
          <a:prstGeom prst="rect">
            <a:avLst/>
          </a:prstGeom>
          <a:noFill/>
          <a:ln/>
        </p:spPr>
        <p:txBody>
          <a:bodyPr wrap="square" lIns="0" tIns="0" rIns="0" bIns="0" rtlCol="0" anchor="ctr"/>
          <a:lstStyle/>
          <a:p>
            <a:pPr algn="l" indent="0" marL="0">
              <a:buNone/>
            </a:pPr>
            <a:r>
              <a:rPr lang="en-US" sz="1400" dirty="0">
                <a:solidFill>
                  <a:srgbClr val="FFFFFF"/>
                </a:solidFill>
                <a:latin typeface="Plus Jakarta Sans" pitchFamily="34" charset="0"/>
                <a:ea typeface="Segoe UI" pitchFamily="34" charset="-122"/>
                <a:cs typeface="Segoe UI" pitchFamily="34" charset="-120"/>
              </a:rPr>
              <a:t>100 to 400 g in 24 hours</a:t>
            </a:r>
            <a:endParaRPr lang="en-US" sz="1400" dirty="0">
              <a:latin typeface="Plus Jakarta Sans"/>
            </a:endParaRPr>
          </a:p>
        </p:txBody>
      </p:sp>
      <p:sp>
        <p:nvSpPr>
          <p:cNvPr id="17" name="Shape 14"/>
          <p:cNvSpPr/>
          <p:nvPr/>
        </p:nvSpPr>
        <p:spPr>
          <a:xfrm>
            <a:off x="8097317" y="4480560"/>
            <a:ext cx="3454298" cy="1005840"/>
          </a:xfrm>
          <a:prstGeom prst="roundRect">
            <a:avLst>
              <a:gd name="adj" fmla="val 12727"/>
            </a:avLst>
          </a:prstGeom>
          <a:solidFill>
            <a:srgbClr val="2D2D2D"/>
          </a:solidFill>
          <a:ln/>
        </p:spPr>
      </p:sp>
      <p:sp>
        <p:nvSpPr>
          <p:cNvPr id="18" name="Shape 15"/>
          <p:cNvSpPr/>
          <p:nvPr/>
        </p:nvSpPr>
        <p:spPr>
          <a:xfrm>
            <a:off x="8371637" y="4754880"/>
            <a:ext cx="164592" cy="164592"/>
          </a:xfrm>
          <a:prstGeom prst="ellipse">
            <a:avLst/>
          </a:prstGeom>
          <a:solidFill>
            <a:srgbClr val="FF8500"/>
          </a:solidFill>
          <a:ln/>
        </p:spPr>
      </p:sp>
      <p:sp>
        <p:nvSpPr>
          <p:cNvPr id="19" name="Text 16"/>
          <p:cNvSpPr txBox="1"/>
          <p:nvPr/>
        </p:nvSpPr>
        <p:spPr>
          <a:xfrm>
            <a:off x="8645957" y="4636008"/>
            <a:ext cx="2631338" cy="411480"/>
          </a:xfrm>
          <a:prstGeom prst="rect">
            <a:avLst/>
          </a:prstGeom>
          <a:noFill/>
          <a:ln/>
        </p:spPr>
        <p:txBody>
          <a:bodyPr wrap="square" lIns="0" tIns="0" rIns="0" bIns="0" rtlCol="0" anchor="ctr"/>
          <a:lstStyle/>
          <a:p>
            <a:pPr algn="l" indent="0" marL="0">
              <a:buNone/>
            </a:pPr>
            <a:r>
              <a:rPr lang="en-US" sz="2000" dirty="0">
                <a:solidFill>
                  <a:srgbClr val="FF8500"/>
                </a:solidFill>
                <a:latin typeface="Plus Jakarta Sans" pitchFamily="34" charset="0"/>
                <a:ea typeface="Segoe UI Semibold" pitchFamily="34" charset="-122"/>
                <a:cs typeface="Segoe UI Semibold" pitchFamily="34" charset="-120"/>
              </a:rPr>
              <a:t>Severe</a:t>
            </a:r>
            <a:endParaRPr lang="en-US" sz="2000" dirty="0">
              <a:latin typeface="Plus Jakarta Sans"/>
            </a:endParaRPr>
          </a:p>
        </p:txBody>
      </p:sp>
      <p:sp>
        <p:nvSpPr>
          <p:cNvPr id="20" name="Text 17"/>
          <p:cNvSpPr txBox="1"/>
          <p:nvPr/>
        </p:nvSpPr>
        <p:spPr>
          <a:xfrm>
            <a:off x="8645957" y="5047488"/>
            <a:ext cx="2631338" cy="365760"/>
          </a:xfrm>
          <a:prstGeom prst="rect">
            <a:avLst/>
          </a:prstGeom>
          <a:noFill/>
          <a:ln/>
        </p:spPr>
        <p:txBody>
          <a:bodyPr wrap="square" lIns="0" tIns="0" rIns="0" bIns="0" rtlCol="0" anchor="ctr"/>
          <a:lstStyle/>
          <a:p>
            <a:pPr algn="l" indent="0" marL="0">
              <a:buNone/>
            </a:pPr>
            <a:r>
              <a:rPr lang="en-US" sz="1400" dirty="0">
                <a:solidFill>
                  <a:srgbClr val="FFFFFF"/>
                </a:solidFill>
                <a:latin typeface="Plus Jakarta Sans" pitchFamily="34" charset="0"/>
                <a:ea typeface="Segoe UI" pitchFamily="34" charset="-122"/>
                <a:cs typeface="Segoe UI" pitchFamily="34" charset="-120"/>
              </a:rPr>
              <a:t>Over 400 g in 24 hours</a:t>
            </a:r>
            <a:endParaRPr lang="en-US" sz="1400" dirty="0">
              <a:latin typeface="Plus Jakarta Sans"/>
            </a:endParaRPr>
          </a:p>
        </p:txBody>
      </p:sp>
      <p:sp>
        <p:nvSpPr>
          <p:cNvPr id="9001" name="replacement-title">
            <a:extLst>
              <a:ext uri="{FF2B5EF4-FFF2-40B4-BE49-F238E27FC236}">
                <a16:creationId xmlns:a16="http://schemas.microsoft.com/office/drawing/2014/main" id="{99F3E1D9-23F9-48DE-A6C6-2A1B2B546CF4}"/>
              </a:ext>
            </a:extLst>
          </p:cNvPr>
          <p:cNvSpPr>
            <a:spLocks noGrp="1"/>
          </p:cNvSpPr>
          <p:nvPr/>
        </p:nvSpPr>
        <p:spPr>
          <a:xfrm>
            <a:off x="638175" y="752475"/>
            <a:ext cx="10915650" cy="800100"/>
          </a:xfrm>
          <a:prstGeom prst="rect">
            <a:avLst/>
          </a:prstGeom>
          <a:noFill/>
          <a:ln w="0">
            <a:noFill/>
          </a:ln>
        </p:spPr>
        <p:txBody>
          <a:bodyPr anchor="ctr"/>
          <a:lstStyle>
            <a:defPPr>
              <a:defRPr sz="2625" b="1">
                <a:solidFill>
                  <a:srgbClr val="FFFFFF"/>
                </a:solidFill>
                <a:latin typeface="Plus Jakarta Sans"/>
              </a:defRPr>
            </a:defPPr>
            <a:lvl1pPr>
              <a:defRPr sz="2625" b="1">
                <a:solidFill>
                  <a:srgbClr val="FFFFFF"/>
                </a:solidFill>
                <a:latin typeface="Plus Jakarta Sans"/>
              </a:defRPr>
            </a:lvl1pPr>
            <a:lvl2pPr>
              <a:defRPr sz="2625" b="1">
                <a:solidFill>
                  <a:srgbClr val="FFFFFF"/>
                </a:solidFill>
                <a:latin typeface="Plus Jakarta Sans"/>
              </a:defRPr>
            </a:lvl2pPr>
            <a:lvl3pPr>
              <a:defRPr sz="2625" b="1">
                <a:solidFill>
                  <a:srgbClr val="FFFFFF"/>
                </a:solidFill>
                <a:latin typeface="Plus Jakarta Sans"/>
              </a:defRPr>
            </a:lvl3pPr>
            <a:lvl4pPr>
              <a:defRPr sz="2625" b="1">
                <a:solidFill>
                  <a:srgbClr val="FFFFFF"/>
                </a:solidFill>
                <a:latin typeface="Plus Jakarta Sans"/>
              </a:defRPr>
            </a:lvl4pPr>
            <a:lvl5pPr>
              <a:defRPr sz="2625" b="1">
                <a:solidFill>
                  <a:srgbClr val="FFFFFF"/>
                </a:solidFill>
                <a:latin typeface="Plus Jakarta Sans"/>
              </a:defRPr>
            </a:lvl5pPr>
            <a:lvl6pPr>
              <a:defRPr sz="2625" b="1">
                <a:solidFill>
                  <a:srgbClr val="FFFFFF"/>
                </a:solidFill>
                <a:latin typeface="Plus Jakarta Sans"/>
              </a:defRPr>
            </a:lvl6pPr>
            <a:lvl7pPr>
              <a:defRPr sz="2625" b="1">
                <a:solidFill>
                  <a:srgbClr val="FFFFFF"/>
                </a:solidFill>
                <a:latin typeface="Plus Jakarta Sans"/>
              </a:defRPr>
            </a:lvl7pPr>
            <a:lvl8pPr>
              <a:defRPr sz="2625" b="1">
                <a:solidFill>
                  <a:srgbClr val="FFFFFF"/>
                </a:solidFill>
                <a:latin typeface="Plus Jakarta Sans"/>
              </a:defRPr>
            </a:lvl8pPr>
            <a:lvl9pPr>
              <a:defRPr sz="2625" b="1">
                <a:solidFill>
                  <a:srgbClr val="FFFFFF"/>
                </a:solidFill>
                <a:latin typeface="Plus Jakarta Sans"/>
              </a:defRPr>
            </a:lvl9pPr>
          </a:lstStyle>
          <a:p>
            <a:pPr>
              <a:defRPr sz="2625" b="1">
                <a:solidFill>
                  <a:srgbClr val="FFFFFF"/>
                </a:solidFill>
                <a:latin typeface="Plus Jakarta Sans"/>
              </a:defRPr>
            </a:pPr>
            <a:r>
              <a:rPr sz="2625" b="1">
                <a:solidFill>
                  <a:srgbClr val="FFFFFF"/>
                </a:solidFill>
                <a:latin typeface="Plus Jakarta Sans"/>
              </a:rPr>
              <a:t>Timing after prostate treatment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616"/>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89FF00"/>
                </a:solidFill>
                <a:latin typeface="Plus Jakarta Sans" pitchFamily="34" charset="0"/>
                <a:ea typeface="Segoe UI" pitchFamily="34" charset="-122"/>
                <a:cs typeface="Segoe UI" pitchFamily="34" charset="-120"/>
              </a:rPr>
              <a:t>DECIDE BEFORE THEATRE</a:t>
            </a:r>
            <a:endParaRPr lang="en-US" sz="950" dirty="0">
              <a:latin typeface="Plus Jakarta Sans"/>
            </a:endParaRPr>
          </a:p>
        </p:txBody>
      </p:sp>
      <p:sp>
        <p:nvSpPr>
          <p:cNvPr id="3" name="Text 1"/>
          <p:cNvSpPr txBox="1"/>
          <p:nvPr/>
        </p:nvSpPr>
        <p:spPr>
          <a:xfrm>
            <a:off x="6979615" y="384048"/>
            <a:ext cx="4572000" cy="274320"/>
          </a:xfrm>
          <a:prstGeom prst="rect">
            <a:avLst/>
          </a:prstGeom>
          <a:noFill/>
          <a:ln/>
        </p:spPr>
        <p:txBody>
          <a:bodyPr wrap="square" lIns="0" tIns="0" rIns="0" bIns="0" rtlCol="0" anchor="t"/>
          <a:lstStyle/>
          <a:p>
            <a:pPr algn="r" indent="0" marL="0">
              <a:buNone/>
            </a:pPr>
            <a:r>
              <a:rPr lang="en-US" sz="950" spc="100" kern="0" dirty="0">
                <a:solidFill>
                  <a:srgbClr val="BFBFBF"/>
                </a:solidFill>
                <a:latin typeface="Plus Jakarta Sans" pitchFamily="34" charset="0"/>
                <a:ea typeface="Segoe UI" pitchFamily="34" charset="-122"/>
                <a:cs typeface="Segoe UI" pitchFamily="34" charset="-120"/>
              </a:rPr>
              <a:t>05 / 36</a:t>
            </a:r>
            <a:endParaRPr lang="en-US" sz="950" dirty="0">
              <a:latin typeface="Plus Jakarta Sans"/>
            </a:endParaRPr>
          </a:p>
        </p:txBody>
      </p:sp>
      <p:sp>
        <p:nvSpPr>
          <p:cNvPr id="5" name="Text 3"/>
          <p:cNvSpPr txBox="1"/>
          <p:nvPr/>
        </p:nvSpPr>
        <p:spPr>
          <a:xfrm>
            <a:off x="640080" y="6345936"/>
            <a:ext cx="9997135" cy="228600"/>
          </a:xfrm>
          <a:prstGeom prst="rect">
            <a:avLst/>
          </a:prstGeom>
          <a:noFill/>
          <a:ln/>
        </p:spPr>
        <p:txBody>
          <a:bodyPr wrap="square" lIns="0" tIns="0" rIns="0" bIns="0" rtlCol="0" anchor="t"/>
          <a:lstStyle/>
          <a:p>
            <a:pPr algn="l" indent="0" marL="0">
              <a:buNone/>
            </a:pPr>
            <a:r>
              <a:rPr lang="en-US" sz="800" spc="50" kern="0" dirty="0">
                <a:solidFill>
                  <a:srgbClr val="AFAFAF"/>
                </a:solidFill>
                <a:latin typeface="Plus Jakarta Sans" pitchFamily="34" charset="0"/>
                <a:ea typeface="Segoe UI" pitchFamily="34" charset="-122"/>
                <a:cs typeface="Segoe UI" pitchFamily="34" charset="-120"/>
              </a:rPr>
              <a:t>AUA24  ·  ICS16  ·  CCIFU  ·  FRAIL26</a:t>
            </a:r>
            <a:endParaRPr lang="en-US" sz="800" dirty="0">
              <a:latin typeface="Plus Jakarta Sans"/>
            </a:endParaRPr>
          </a:p>
        </p:txBody>
      </p:sp>
      <p:pic>
        <p:nvPicPr>
          <p:cNvPr id="6" name="Image 0" descr="C:\NityProjects\AUS-Presentation\repo\presentation\design\build\conticlassic-dark.png">    </p:cNvPr>
          <p:cNvPicPr>
            <a:picLocks noChangeAspect="1"/>
          </p:cNvPicPr>
          <p:nvPr/>
        </p:nvPicPr>
        <p:blipFill>
          <a:blip r:embed="rId1"/>
          <a:stretch>
            <a:fillRect/>
          </a:stretch>
        </p:blipFill>
        <p:spPr>
          <a:xfrm>
            <a:off x="2606040" y="1828800"/>
            <a:ext cx="3291840" cy="3291840"/>
          </a:xfrm>
          <a:prstGeom prst="rect">
            <a:avLst/>
          </a:prstGeom>
        </p:spPr>
      </p:pic>
      <p:sp>
        <p:nvSpPr>
          <p:cNvPr id="7" name="Text 4"/>
          <p:cNvSpPr txBox="1"/>
          <p:nvPr/>
        </p:nvSpPr>
        <p:spPr>
          <a:xfrm>
            <a:off x="640080" y="5230368"/>
            <a:ext cx="7223760" cy="274320"/>
          </a:xfrm>
          <a:prstGeom prst="rect">
            <a:avLst/>
          </a:prstGeom>
          <a:noFill/>
          <a:ln/>
        </p:spPr>
        <p:txBody>
          <a:bodyPr wrap="square" lIns="0" tIns="0" rIns="0" bIns="0" rtlCol="0" anchor="t"/>
          <a:lstStyle/>
          <a:p>
            <a:pPr algn="l" indent="0" marL="0">
              <a:buNone/>
            </a:pPr>
            <a:r>
              <a:rPr lang="en-US" sz="1100" dirty="0">
                <a:solidFill>
                  <a:srgbClr val="AFAFAF"/>
                </a:solidFill>
                <a:latin typeface="Plus Jakarta Sans" pitchFamily="34" charset="0"/>
                <a:ea typeface="Segoe UI" pitchFamily="34" charset="-122"/>
                <a:cs typeface="Segoe UI" pitchFamily="34" charset="-120"/>
              </a:rPr>
              <a:t>Rigicon ContiClassic, manufacturer illustration.</a:t>
            </a:r>
            <a:endParaRPr lang="en-US" sz="1100" dirty="0">
              <a:latin typeface="Plus Jakarta Sans"/>
            </a:endParaRPr>
          </a:p>
        </p:txBody>
      </p:sp>
      <p:sp>
        <p:nvSpPr>
          <p:cNvPr id="8" name="Text 5"/>
          <p:cNvSpPr txBox="1"/>
          <p:nvPr/>
        </p:nvSpPr>
        <p:spPr>
          <a:xfrm>
            <a:off x="8321040" y="1828800"/>
            <a:ext cx="3230575" cy="365760"/>
          </a:xfrm>
          <a:prstGeom prst="rect">
            <a:avLst/>
          </a:prstGeom>
          <a:noFill/>
          <a:ln/>
        </p:spPr>
        <p:txBody>
          <a:bodyPr wrap="square" lIns="0" tIns="0" rIns="0" bIns="0" rtlCol="0" anchor="t"/>
          <a:lstStyle/>
          <a:p>
            <a:pPr algn="l" indent="0" marL="0">
              <a:buNone/>
            </a:pPr>
            <a:r>
              <a:rPr lang="en-US" sz="1500" dirty="0">
                <a:solidFill>
                  <a:srgbClr val="89FF00"/>
                </a:solidFill>
                <a:latin typeface="Plus Jakarta Sans" pitchFamily="34" charset="0"/>
                <a:ea typeface="Segoe UI Semibold" pitchFamily="34" charset="-122"/>
                <a:cs typeface="Segoe UI Semibold" pitchFamily="34" charset="-120"/>
              </a:rPr>
              <a:t>Pump assessment</a:t>
            </a:r>
            <a:endParaRPr lang="en-US" sz="1500" dirty="0">
              <a:latin typeface="Plus Jakarta Sans"/>
            </a:endParaRPr>
          </a:p>
        </p:txBody>
      </p:sp>
      <p:sp>
        <p:nvSpPr>
          <p:cNvPr id="9" name="Shape 6"/>
          <p:cNvSpPr/>
          <p:nvPr/>
        </p:nvSpPr>
        <p:spPr>
          <a:xfrm>
            <a:off x="8321040" y="2459736"/>
            <a:ext cx="100584" cy="100584"/>
          </a:xfrm>
          <a:prstGeom prst="ellipse">
            <a:avLst/>
          </a:prstGeom>
          <a:solidFill>
            <a:srgbClr val="89FF00"/>
          </a:solidFill>
          <a:ln/>
        </p:spPr>
      </p:sp>
      <p:sp>
        <p:nvSpPr>
          <p:cNvPr id="10" name="Text 7"/>
          <p:cNvSpPr txBox="1"/>
          <p:nvPr/>
        </p:nvSpPr>
        <p:spPr>
          <a:xfrm>
            <a:off x="8567928" y="2377440"/>
            <a:ext cx="2983687" cy="662940"/>
          </a:xfrm>
          <a:prstGeom prst="rect">
            <a:avLst/>
          </a:prstGeom>
          <a:noFill/>
          <a:ln/>
        </p:spPr>
        <p:txBody>
          <a:bodyPr wrap="square" lIns="0" tIns="0" rIns="0" bIns="0" rtlCol="0" anchor="t"/>
          <a:lstStyle/>
          <a:p>
            <a:pPr algn="l" indent="0" marL="0">
              <a:lnSpc>
                <a:spcPct val="112000"/>
              </a:lnSpc>
              <a:buNone/>
            </a:pPr>
            <a:r>
              <a:rPr lang="en-US" sz="1400" dirty="0">
                <a:solidFill>
                  <a:srgbClr val="F4F5F7"/>
                </a:solidFill>
                <a:latin typeface="Plus Jakarta Sans" pitchFamily="34" charset="0"/>
                <a:ea typeface="Segoe UI" pitchFamily="34" charset="-122"/>
                <a:cs typeface="Segoe UI" pitchFamily="34" charset="-120"/>
              </a:rPr>
              <a:t>Watch the patient operate a demonstration pump</a:t>
            </a:r>
            <a:endParaRPr lang="en-US" sz="1400" dirty="0">
              <a:latin typeface="Plus Jakarta Sans"/>
            </a:endParaRPr>
          </a:p>
        </p:txBody>
      </p:sp>
      <p:sp>
        <p:nvSpPr>
          <p:cNvPr id="11" name="Shape 8"/>
          <p:cNvSpPr/>
          <p:nvPr/>
        </p:nvSpPr>
        <p:spPr>
          <a:xfrm>
            <a:off x="8321040" y="3168396"/>
            <a:ext cx="100584" cy="100584"/>
          </a:xfrm>
          <a:prstGeom prst="ellipse">
            <a:avLst/>
          </a:prstGeom>
          <a:solidFill>
            <a:srgbClr val="89FF00"/>
          </a:solidFill>
          <a:ln/>
        </p:spPr>
      </p:sp>
      <p:sp>
        <p:nvSpPr>
          <p:cNvPr id="12" name="Text 9"/>
          <p:cNvSpPr txBox="1"/>
          <p:nvPr/>
        </p:nvSpPr>
        <p:spPr>
          <a:xfrm>
            <a:off x="8567928" y="3086100"/>
            <a:ext cx="2983687" cy="662940"/>
          </a:xfrm>
          <a:prstGeom prst="rect">
            <a:avLst/>
          </a:prstGeom>
          <a:noFill/>
          <a:ln/>
        </p:spPr>
        <p:txBody>
          <a:bodyPr wrap="square" lIns="0" tIns="0" rIns="0" bIns="0" rtlCol="0" anchor="t"/>
          <a:lstStyle/>
          <a:p>
            <a:pPr algn="l" indent="0" marL="0">
              <a:lnSpc>
                <a:spcPct val="112000"/>
              </a:lnSpc>
              <a:buNone/>
            </a:pPr>
            <a:r>
              <a:rPr lang="en-US" sz="1400" dirty="0">
                <a:solidFill>
                  <a:srgbClr val="F4F5F7"/>
                </a:solidFill>
                <a:latin typeface="Plus Jakarta Sans" pitchFamily="34" charset="0"/>
                <a:ea typeface="Segoe UI" pitchFamily="34" charset="-122"/>
                <a:cs typeface="Segoe UI" pitchFamily="34" charset="-120"/>
              </a:rPr>
              <a:t>Check reach, strength and understanding</a:t>
            </a:r>
            <a:endParaRPr lang="en-US" sz="1400" dirty="0">
              <a:latin typeface="Plus Jakarta Sans"/>
            </a:endParaRPr>
          </a:p>
        </p:txBody>
      </p:sp>
      <p:sp>
        <p:nvSpPr>
          <p:cNvPr id="13" name="Shape 10"/>
          <p:cNvSpPr/>
          <p:nvPr/>
        </p:nvSpPr>
        <p:spPr>
          <a:xfrm>
            <a:off x="8321040" y="3877056"/>
            <a:ext cx="100584" cy="100584"/>
          </a:xfrm>
          <a:prstGeom prst="ellipse">
            <a:avLst/>
          </a:prstGeom>
          <a:solidFill>
            <a:srgbClr val="89FF00"/>
          </a:solidFill>
          <a:ln/>
        </p:spPr>
      </p:sp>
      <p:sp>
        <p:nvSpPr>
          <p:cNvPr id="14" name="Text 11"/>
          <p:cNvSpPr txBox="1"/>
          <p:nvPr/>
        </p:nvSpPr>
        <p:spPr>
          <a:xfrm>
            <a:off x="8567928" y="3794760"/>
            <a:ext cx="2983687" cy="662940"/>
          </a:xfrm>
          <a:prstGeom prst="rect">
            <a:avLst/>
          </a:prstGeom>
          <a:noFill/>
          <a:ln/>
        </p:spPr>
        <p:txBody>
          <a:bodyPr wrap="square" lIns="0" tIns="0" rIns="0" bIns="0" rtlCol="0" anchor="t"/>
          <a:lstStyle/>
          <a:p>
            <a:pPr algn="l" indent="0" marL="0">
              <a:lnSpc>
                <a:spcPct val="112000"/>
              </a:lnSpc>
              <a:buNone/>
            </a:pPr>
            <a:r>
              <a:rPr lang="en-US" sz="1400" dirty="0">
                <a:solidFill>
                  <a:srgbClr val="F4F5F7"/>
                </a:solidFill>
                <a:latin typeface="Plus Jakarta Sans" pitchFamily="34" charset="0"/>
                <a:ea typeface="Segoe UI" pitchFamily="34" charset="-122"/>
                <a:cs typeface="Segoe UI" pitchFamily="34" charset="-120"/>
              </a:rPr>
              <a:t>Agree a position he can reach before surgery</a:t>
            </a:r>
            <a:endParaRPr lang="en-US" sz="1400" dirty="0">
              <a:latin typeface="Plus Jakarta Sans"/>
            </a:endParaRPr>
          </a:p>
        </p:txBody>
      </p:sp>
      <p:sp>
        <p:nvSpPr>
          <p:cNvPr id="15" name="Shape 12"/>
          <p:cNvSpPr/>
          <p:nvPr/>
        </p:nvSpPr>
        <p:spPr>
          <a:xfrm>
            <a:off x="8321040" y="4585716"/>
            <a:ext cx="100584" cy="100584"/>
          </a:xfrm>
          <a:prstGeom prst="ellipse">
            <a:avLst/>
          </a:prstGeom>
          <a:solidFill>
            <a:srgbClr val="89FF00"/>
          </a:solidFill>
          <a:ln/>
        </p:spPr>
      </p:sp>
      <p:sp>
        <p:nvSpPr>
          <p:cNvPr id="16" name="Text 13"/>
          <p:cNvSpPr txBox="1"/>
          <p:nvPr/>
        </p:nvSpPr>
        <p:spPr>
          <a:xfrm>
            <a:off x="8567928" y="4503420"/>
            <a:ext cx="2983687" cy="662940"/>
          </a:xfrm>
          <a:prstGeom prst="rect">
            <a:avLst/>
          </a:prstGeom>
          <a:noFill/>
          <a:ln/>
        </p:spPr>
        <p:txBody>
          <a:bodyPr wrap="square" lIns="0" tIns="0" rIns="0" bIns="0" rtlCol="0" anchor="t"/>
          <a:lstStyle/>
          <a:p>
            <a:pPr algn="l" indent="0" marL="0">
              <a:lnSpc>
                <a:spcPct val="112000"/>
              </a:lnSpc>
              <a:buNone/>
            </a:pPr>
            <a:r>
              <a:rPr lang="en-US" sz="1400" dirty="0">
                <a:solidFill>
                  <a:srgbClr val="F4F5F7"/>
                </a:solidFill>
                <a:latin typeface="Plus Jakarta Sans" pitchFamily="34" charset="0"/>
                <a:ea typeface="Segoe UI" pitchFamily="34" charset="-122"/>
                <a:cs typeface="Segoe UI" pitchFamily="34" charset="-120"/>
              </a:rPr>
              <a:t>Assess frailty as well as future pump use</a:t>
            </a:r>
            <a:endParaRPr lang="en-US" sz="1400" dirty="0">
              <a:latin typeface="Plus Jakarta Sans"/>
            </a:endParaRPr>
          </a:p>
        </p:txBody>
      </p:sp>
      <p:sp>
        <p:nvSpPr>
          <p:cNvPr id="9001" name="replacement-title">
            <a:extLst>
              <a:ext uri="{FF2B5EF4-FFF2-40B4-BE49-F238E27FC236}">
                <a16:creationId xmlns:a16="http://schemas.microsoft.com/office/drawing/2014/main" id="{8C36BB0F-D7ED-4BE2-8DCC-5C210C01A4CA}"/>
              </a:ext>
            </a:extLst>
          </p:cNvPr>
          <p:cNvSpPr>
            <a:spLocks noGrp="1"/>
          </p:cNvSpPr>
          <p:nvPr/>
        </p:nvSpPr>
        <p:spPr>
          <a:xfrm>
            <a:off x="638175" y="752475"/>
            <a:ext cx="10915650" cy="800100"/>
          </a:xfrm>
          <a:prstGeom prst="rect">
            <a:avLst/>
          </a:prstGeom>
          <a:noFill/>
          <a:ln w="0">
            <a:noFill/>
          </a:ln>
        </p:spPr>
        <p:txBody>
          <a:bodyPr anchor="ctr"/>
          <a:lstStyle>
            <a:defPPr>
              <a:defRPr sz="2625" b="1">
                <a:solidFill>
                  <a:srgbClr val="FFFFFF"/>
                </a:solidFill>
                <a:latin typeface="Plus Jakarta Sans"/>
              </a:defRPr>
            </a:defPPr>
            <a:lvl1pPr>
              <a:defRPr sz="2625" b="1">
                <a:solidFill>
                  <a:srgbClr val="FFFFFF"/>
                </a:solidFill>
                <a:latin typeface="Plus Jakarta Sans"/>
              </a:defRPr>
            </a:lvl1pPr>
            <a:lvl2pPr>
              <a:defRPr sz="2625" b="1">
                <a:solidFill>
                  <a:srgbClr val="FFFFFF"/>
                </a:solidFill>
                <a:latin typeface="Plus Jakarta Sans"/>
              </a:defRPr>
            </a:lvl2pPr>
            <a:lvl3pPr>
              <a:defRPr sz="2625" b="1">
                <a:solidFill>
                  <a:srgbClr val="FFFFFF"/>
                </a:solidFill>
                <a:latin typeface="Plus Jakarta Sans"/>
              </a:defRPr>
            </a:lvl3pPr>
            <a:lvl4pPr>
              <a:defRPr sz="2625" b="1">
                <a:solidFill>
                  <a:srgbClr val="FFFFFF"/>
                </a:solidFill>
                <a:latin typeface="Plus Jakarta Sans"/>
              </a:defRPr>
            </a:lvl4pPr>
            <a:lvl5pPr>
              <a:defRPr sz="2625" b="1">
                <a:solidFill>
                  <a:srgbClr val="FFFFFF"/>
                </a:solidFill>
                <a:latin typeface="Plus Jakarta Sans"/>
              </a:defRPr>
            </a:lvl5pPr>
            <a:lvl6pPr>
              <a:defRPr sz="2625" b="1">
                <a:solidFill>
                  <a:srgbClr val="FFFFFF"/>
                </a:solidFill>
                <a:latin typeface="Plus Jakarta Sans"/>
              </a:defRPr>
            </a:lvl6pPr>
            <a:lvl7pPr>
              <a:defRPr sz="2625" b="1">
                <a:solidFill>
                  <a:srgbClr val="FFFFFF"/>
                </a:solidFill>
                <a:latin typeface="Plus Jakarta Sans"/>
              </a:defRPr>
            </a:lvl7pPr>
            <a:lvl8pPr>
              <a:defRPr sz="2625" b="1">
                <a:solidFill>
                  <a:srgbClr val="FFFFFF"/>
                </a:solidFill>
                <a:latin typeface="Plus Jakarta Sans"/>
              </a:defRPr>
            </a:lvl8pPr>
            <a:lvl9pPr>
              <a:defRPr sz="2625" b="1">
                <a:solidFill>
                  <a:srgbClr val="FFFFFF"/>
                </a:solidFill>
                <a:latin typeface="Plus Jakarta Sans"/>
              </a:defRPr>
            </a:lvl9pPr>
          </a:lstStyle>
          <a:p>
            <a:pPr>
              <a:defRPr sz="2625" b="1">
                <a:solidFill>
                  <a:srgbClr val="FFFFFF"/>
                </a:solidFill>
                <a:latin typeface="Plus Jakarta Sans"/>
              </a:defRPr>
            </a:pPr>
            <a:r>
              <a:rPr sz="2625" b="1">
                <a:solidFill>
                  <a:srgbClr val="FFFFFF"/>
                </a:solidFill>
                <a:latin typeface="Plus Jakarta Sans"/>
              </a:rPr>
              <a:t>Pump use over time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1616"/>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05C489"/>
                </a:solidFill>
                <a:latin typeface="Plus Jakarta Sans" pitchFamily="34" charset="0"/>
                <a:ea typeface="Segoe UI" pitchFamily="34" charset="-122"/>
                <a:cs typeface="Segoe UI" pitchFamily="34" charset="-120"/>
              </a:rPr>
              <a:t>DECIDE BEFORE THEATRE</a:t>
            </a:r>
            <a:endParaRPr lang="en-US" sz="950" dirty="0">
              <a:latin typeface="Plus Jakarta Sans"/>
            </a:endParaRPr>
          </a:p>
        </p:txBody>
      </p:sp>
      <p:sp>
        <p:nvSpPr>
          <p:cNvPr id="3" name="Text 1"/>
          <p:cNvSpPr txBox="1"/>
          <p:nvPr/>
        </p:nvSpPr>
        <p:spPr>
          <a:xfrm>
            <a:off x="6979615" y="384048"/>
            <a:ext cx="4572000" cy="274320"/>
          </a:xfrm>
          <a:prstGeom prst="rect">
            <a:avLst/>
          </a:prstGeom>
          <a:noFill/>
          <a:ln/>
        </p:spPr>
        <p:txBody>
          <a:bodyPr wrap="square" lIns="0" tIns="0" rIns="0" bIns="0" rtlCol="0" anchor="t"/>
          <a:lstStyle/>
          <a:p>
            <a:pPr algn="r" indent="0" marL="0">
              <a:buNone/>
            </a:pPr>
            <a:r>
              <a:rPr lang="en-US" sz="950" spc="100" kern="0" dirty="0">
                <a:solidFill>
                  <a:srgbClr val="BFBFBF"/>
                </a:solidFill>
                <a:latin typeface="Plus Jakarta Sans" pitchFamily="34" charset="0"/>
                <a:ea typeface="Segoe UI" pitchFamily="34" charset="-122"/>
                <a:cs typeface="Segoe UI" pitchFamily="34" charset="-120"/>
              </a:rPr>
              <a:t>06 / 36</a:t>
            </a:r>
            <a:endParaRPr lang="en-US" sz="950" dirty="0">
              <a:latin typeface="Plus Jakarta Sans"/>
            </a:endParaRPr>
          </a:p>
        </p:txBody>
      </p:sp>
      <p:sp>
        <p:nvSpPr>
          <p:cNvPr id="5" name="Text 3"/>
          <p:cNvSpPr txBox="1"/>
          <p:nvPr/>
        </p:nvSpPr>
        <p:spPr>
          <a:xfrm>
            <a:off x="640080" y="6345936"/>
            <a:ext cx="9997135" cy="228600"/>
          </a:xfrm>
          <a:prstGeom prst="rect">
            <a:avLst/>
          </a:prstGeom>
          <a:noFill/>
          <a:ln/>
        </p:spPr>
        <p:txBody>
          <a:bodyPr wrap="square" lIns="0" tIns="0" rIns="0" bIns="0" rtlCol="0" anchor="t"/>
          <a:lstStyle/>
          <a:p>
            <a:pPr algn="l" indent="0" marL="0">
              <a:buNone/>
            </a:pPr>
            <a:r>
              <a:rPr lang="en-US" sz="800" spc="50" kern="0" dirty="0">
                <a:solidFill>
                  <a:srgbClr val="BFBFBF"/>
                </a:solidFill>
                <a:latin typeface="Plus Jakarta Sans" pitchFamily="34" charset="0"/>
                <a:ea typeface="Segoe UI" pitchFamily="34" charset="-122"/>
                <a:cs typeface="Segoe UI" pitchFamily="34" charset="-120"/>
              </a:rPr>
              <a:t>BAUS25  ·  AUA24  ·  EAU26  ·  EAUSTR26  ·  AUAUDS26</a:t>
            </a:r>
            <a:endParaRPr lang="en-US" sz="800" dirty="0">
              <a:latin typeface="Plus Jakarta Sans"/>
            </a:endParaRPr>
          </a:p>
        </p:txBody>
      </p:sp>
      <p:sp>
        <p:nvSpPr>
          <p:cNvPr id="6" name="Text 4"/>
          <p:cNvSpPr txBox="1"/>
          <p:nvPr/>
        </p:nvSpPr>
        <p:spPr>
          <a:xfrm>
            <a:off x="640080" y="5669280"/>
            <a:ext cx="10911535" cy="566928"/>
          </a:xfrm>
          <a:prstGeom prst="rect">
            <a:avLst/>
          </a:prstGeom>
          <a:noFill/>
          <a:ln/>
        </p:spPr>
        <p:txBody>
          <a:bodyPr wrap="square" lIns="0" tIns="0" rIns="0" bIns="0" rtlCol="0" anchor="b"/>
          <a:lstStyle/>
          <a:p>
            <a:pPr algn="l" indent="0" marL="0">
              <a:buNone/>
            </a:pPr>
            <a:r>
              <a:rPr lang="en-US" sz="1200" i="1" dirty="0">
                <a:solidFill>
                  <a:srgbClr val="BFBFBF"/>
                </a:solidFill>
                <a:latin typeface="Plus Jakarta Sans" pitchFamily="34" charset="0"/>
                <a:ea typeface="Segoe UI" pitchFamily="34" charset="-122"/>
                <a:cs typeface="Segoe UI" pitchFamily="34" charset="-120"/>
              </a:rPr>
              <a:t>A 2026 AUA abstract (IP09-22) looks at testing again; results not published. Current guidance stands.</a:t>
            </a:r>
            <a:endParaRPr lang="en-US" sz="1200" dirty="0">
              <a:latin typeface="Plus Jakarta Sans"/>
            </a:endParaRPr>
          </a:p>
        </p:txBody>
      </p:sp>
      <p:sp>
        <p:nvSpPr>
          <p:cNvPr id="7" name="Shape 5"/>
          <p:cNvSpPr/>
          <p:nvPr/>
        </p:nvSpPr>
        <p:spPr>
          <a:xfrm>
            <a:off x="640080" y="1783080"/>
            <a:ext cx="5295748" cy="3749040"/>
          </a:xfrm>
          <a:prstGeom prst="roundRect">
            <a:avLst>
              <a:gd name="adj" fmla="val 3415"/>
            </a:avLst>
          </a:prstGeom>
          <a:solidFill>
            <a:srgbClr val="2D2D2D"/>
          </a:solidFill>
          <a:ln/>
        </p:spPr>
      </p:sp>
      <p:sp>
        <p:nvSpPr>
          <p:cNvPr id="8" name="Text 6"/>
          <p:cNvSpPr txBox="1"/>
          <p:nvPr/>
        </p:nvSpPr>
        <p:spPr>
          <a:xfrm>
            <a:off x="960120" y="2075688"/>
            <a:ext cx="4655668" cy="365760"/>
          </a:xfrm>
          <a:prstGeom prst="rect">
            <a:avLst/>
          </a:prstGeom>
          <a:noFill/>
          <a:ln/>
        </p:spPr>
        <p:txBody>
          <a:bodyPr wrap="square" lIns="0" tIns="0" rIns="0" bIns="0" rtlCol="0" anchor="t"/>
          <a:lstStyle/>
          <a:p>
            <a:pPr algn="l" indent="0" marL="0">
              <a:buNone/>
            </a:pPr>
            <a:r>
              <a:rPr lang="en-US" sz="1500" dirty="0">
                <a:solidFill>
                  <a:srgbClr val="05C489"/>
                </a:solidFill>
                <a:latin typeface="Plus Jakarta Sans" pitchFamily="34" charset="0"/>
                <a:ea typeface="Segoe UI Semibold" pitchFamily="34" charset="-122"/>
                <a:cs typeface="Segoe UI Semibold" pitchFamily="34" charset="-120"/>
              </a:rPr>
              <a:t>Guidance</a:t>
            </a:r>
            <a:endParaRPr lang="en-US" sz="1500" dirty="0">
              <a:latin typeface="Plus Jakarta Sans"/>
            </a:endParaRPr>
          </a:p>
        </p:txBody>
      </p:sp>
      <p:sp>
        <p:nvSpPr>
          <p:cNvPr id="9" name="Shape 7"/>
          <p:cNvSpPr/>
          <p:nvPr/>
        </p:nvSpPr>
        <p:spPr>
          <a:xfrm>
            <a:off x="960120" y="2734056"/>
            <a:ext cx="100584" cy="100584"/>
          </a:xfrm>
          <a:prstGeom prst="ellipse">
            <a:avLst/>
          </a:prstGeom>
          <a:solidFill>
            <a:srgbClr val="05C489"/>
          </a:solidFill>
          <a:ln/>
        </p:spPr>
      </p:sp>
      <p:sp>
        <p:nvSpPr>
          <p:cNvPr id="10" name="Text 8"/>
          <p:cNvSpPr txBox="1"/>
          <p:nvPr/>
        </p:nvSpPr>
        <p:spPr>
          <a:xfrm>
            <a:off x="1207008" y="2651760"/>
            <a:ext cx="4408780" cy="777240"/>
          </a:xfrm>
          <a:prstGeom prst="rect">
            <a:avLst/>
          </a:prstGeom>
          <a:noFill/>
          <a:ln/>
        </p:spPr>
        <p:txBody>
          <a:bodyPr wrap="square" lIns="0" tIns="0" rIns="0" bIns="0" rtlCol="0" anchor="t"/>
          <a:lstStyle/>
          <a:p>
            <a:pPr algn="l" indent="0" marL="0">
              <a:lnSpc>
                <a:spcPct val="110000"/>
              </a:lnSpc>
              <a:buNone/>
            </a:pPr>
            <a:r>
              <a:rPr lang="en-US" sz="1550" dirty="0">
                <a:solidFill>
                  <a:srgbClr val="FFFFFF"/>
                </a:solidFill>
                <a:latin typeface="Plus Jakarta Sans" pitchFamily="34" charset="0"/>
                <a:ea typeface="Segoe UI" pitchFamily="34" charset="-122"/>
                <a:cs typeface="Segoe UI" pitchFamily="34" charset="-120"/>
              </a:rPr>
              <a:t>AUA recommends cystourethroscopy before SUI surgery</a:t>
            </a:r>
            <a:endParaRPr lang="en-US" sz="1550" dirty="0">
              <a:latin typeface="Plus Jakarta Sans"/>
            </a:endParaRPr>
          </a:p>
        </p:txBody>
      </p:sp>
      <p:sp>
        <p:nvSpPr>
          <p:cNvPr id="11" name="Shape 9"/>
          <p:cNvSpPr/>
          <p:nvPr/>
        </p:nvSpPr>
        <p:spPr>
          <a:xfrm>
            <a:off x="960120" y="3557016"/>
            <a:ext cx="100584" cy="100584"/>
          </a:xfrm>
          <a:prstGeom prst="ellipse">
            <a:avLst/>
          </a:prstGeom>
          <a:solidFill>
            <a:srgbClr val="05C489"/>
          </a:solidFill>
          <a:ln/>
        </p:spPr>
      </p:sp>
      <p:sp>
        <p:nvSpPr>
          <p:cNvPr id="12" name="Text 10"/>
          <p:cNvSpPr txBox="1"/>
          <p:nvPr/>
        </p:nvSpPr>
        <p:spPr>
          <a:xfrm>
            <a:off x="1207008" y="3474720"/>
            <a:ext cx="4408780" cy="777240"/>
          </a:xfrm>
          <a:prstGeom prst="rect">
            <a:avLst/>
          </a:prstGeom>
          <a:noFill/>
          <a:ln/>
        </p:spPr>
        <p:txBody>
          <a:bodyPr wrap="square" lIns="0" tIns="0" rIns="0" bIns="0" rtlCol="0" anchor="t"/>
          <a:lstStyle/>
          <a:p>
            <a:pPr algn="l" indent="0" marL="0">
              <a:lnSpc>
                <a:spcPct val="110000"/>
              </a:lnSpc>
              <a:buNone/>
            </a:pPr>
            <a:r>
              <a:rPr lang="en-US" sz="1550" dirty="0">
                <a:solidFill>
                  <a:srgbClr val="FFFFFF"/>
                </a:solidFill>
                <a:latin typeface="Plus Jakarta Sans" pitchFamily="34" charset="0"/>
                <a:ea typeface="Segoe UI" pitchFamily="34" charset="-122"/>
                <a:cs typeface="Segoe UI" pitchFamily="34" charset="-120"/>
              </a:rPr>
              <a:t>BAUS: VUDS for every candidate; cystoscopy when a narrowing is suspected, or with standard UDS where video is unavailable</a:t>
            </a:r>
            <a:endParaRPr lang="en-US" sz="1550" dirty="0">
              <a:latin typeface="Plus Jakarta Sans"/>
            </a:endParaRPr>
          </a:p>
        </p:txBody>
      </p:sp>
      <p:sp>
        <p:nvSpPr>
          <p:cNvPr id="13" name="Shape 11"/>
          <p:cNvSpPr/>
          <p:nvPr/>
        </p:nvSpPr>
        <p:spPr>
          <a:xfrm>
            <a:off x="960120" y="4379976"/>
            <a:ext cx="100584" cy="100584"/>
          </a:xfrm>
          <a:prstGeom prst="ellipse">
            <a:avLst/>
          </a:prstGeom>
          <a:solidFill>
            <a:srgbClr val="05C489"/>
          </a:solidFill>
          <a:ln/>
        </p:spPr>
      </p:sp>
      <p:sp>
        <p:nvSpPr>
          <p:cNvPr id="14" name="Text 12"/>
          <p:cNvSpPr txBox="1"/>
          <p:nvPr/>
        </p:nvSpPr>
        <p:spPr>
          <a:xfrm>
            <a:off x="1207008" y="4297680"/>
            <a:ext cx="4408780" cy="777240"/>
          </a:xfrm>
          <a:prstGeom prst="rect">
            <a:avLst/>
          </a:prstGeom>
          <a:noFill/>
          <a:ln/>
        </p:spPr>
        <p:txBody>
          <a:bodyPr wrap="square" lIns="0" tIns="0" rIns="0" bIns="0" rtlCol="0" anchor="t"/>
          <a:lstStyle/>
          <a:p>
            <a:pPr algn="l" indent="0" marL="0">
              <a:lnSpc>
                <a:spcPct val="110000"/>
              </a:lnSpc>
              <a:buNone/>
            </a:pPr>
            <a:r>
              <a:rPr lang="en-US" sz="1550" dirty="0">
                <a:solidFill>
                  <a:srgbClr val="FFFFFF"/>
                </a:solidFill>
                <a:latin typeface="Plus Jakarta Sans" pitchFamily="34" charset="0"/>
                <a:ea typeface="Segoe UI" pitchFamily="34" charset="-122"/>
                <a:cs typeface="Segoe UI" pitchFamily="34" charset="-120"/>
              </a:rPr>
              <a:t>Looking in advance is our preference, not a rule</a:t>
            </a:r>
            <a:endParaRPr lang="en-US" sz="1550" dirty="0">
              <a:latin typeface="Plus Jakarta Sans"/>
            </a:endParaRPr>
          </a:p>
        </p:txBody>
      </p:sp>
      <p:sp>
        <p:nvSpPr>
          <p:cNvPr id="15" name="Shape 13"/>
          <p:cNvSpPr/>
          <p:nvPr/>
        </p:nvSpPr>
        <p:spPr>
          <a:xfrm>
            <a:off x="6255868" y="1783080"/>
            <a:ext cx="5295748" cy="3749040"/>
          </a:xfrm>
          <a:prstGeom prst="roundRect">
            <a:avLst>
              <a:gd name="adj" fmla="val 3415"/>
            </a:avLst>
          </a:prstGeom>
          <a:solidFill>
            <a:srgbClr val="2D2D2D"/>
          </a:solidFill>
          <a:ln/>
        </p:spPr>
      </p:sp>
      <p:sp>
        <p:nvSpPr>
          <p:cNvPr id="16" name="Text 14"/>
          <p:cNvSpPr txBox="1"/>
          <p:nvPr/>
        </p:nvSpPr>
        <p:spPr>
          <a:xfrm>
            <a:off x="6575908" y="2075688"/>
            <a:ext cx="4655668" cy="365760"/>
          </a:xfrm>
          <a:prstGeom prst="rect">
            <a:avLst/>
          </a:prstGeom>
          <a:noFill/>
          <a:ln/>
        </p:spPr>
        <p:txBody>
          <a:bodyPr wrap="square" lIns="0" tIns="0" rIns="0" bIns="0" rtlCol="0" anchor="t"/>
          <a:lstStyle/>
          <a:p>
            <a:pPr algn="l" indent="0" marL="0">
              <a:buNone/>
            </a:pPr>
            <a:r>
              <a:rPr lang="en-US" sz="1500" dirty="0">
                <a:solidFill>
                  <a:srgbClr val="FFFFFF"/>
                </a:solidFill>
                <a:latin typeface="Plus Jakarta Sans" pitchFamily="34" charset="0"/>
                <a:ea typeface="Segoe UI Semibold" pitchFamily="34" charset="-122"/>
                <a:cs typeface="Segoe UI Semibold" pitchFamily="34" charset="-120"/>
              </a:rPr>
              <a:t>Findings that change the plan</a:t>
            </a:r>
            <a:endParaRPr lang="en-US" sz="1500" dirty="0">
              <a:latin typeface="Plus Jakarta Sans"/>
            </a:endParaRPr>
          </a:p>
        </p:txBody>
      </p:sp>
      <p:sp>
        <p:nvSpPr>
          <p:cNvPr id="17" name="Shape 15"/>
          <p:cNvSpPr/>
          <p:nvPr/>
        </p:nvSpPr>
        <p:spPr>
          <a:xfrm>
            <a:off x="6575908" y="2734056"/>
            <a:ext cx="100584" cy="100584"/>
          </a:xfrm>
          <a:prstGeom prst="ellipse">
            <a:avLst/>
          </a:prstGeom>
          <a:solidFill>
            <a:srgbClr val="FFFFFF"/>
          </a:solidFill>
          <a:ln/>
        </p:spPr>
      </p:sp>
      <p:sp>
        <p:nvSpPr>
          <p:cNvPr id="18" name="Text 16"/>
          <p:cNvSpPr txBox="1"/>
          <p:nvPr/>
        </p:nvSpPr>
        <p:spPr>
          <a:xfrm>
            <a:off x="6822796" y="2651760"/>
            <a:ext cx="4408780" cy="777240"/>
          </a:xfrm>
          <a:prstGeom prst="rect">
            <a:avLst/>
          </a:prstGeom>
          <a:noFill/>
          <a:ln/>
        </p:spPr>
        <p:txBody>
          <a:bodyPr wrap="square" lIns="0" tIns="0" rIns="0" bIns="0" rtlCol="0" anchor="t"/>
          <a:lstStyle/>
          <a:p>
            <a:pPr algn="l" indent="0" marL="0">
              <a:lnSpc>
                <a:spcPct val="110000"/>
              </a:lnSpc>
              <a:buNone/>
            </a:pPr>
            <a:r>
              <a:rPr lang="en-US" sz="1550" dirty="0">
                <a:solidFill>
                  <a:srgbClr val="FFFFFF"/>
                </a:solidFill>
                <a:latin typeface="Plus Jakarta Sans" pitchFamily="34" charset="0"/>
                <a:ea typeface="Segoe UI" pitchFamily="34" charset="-122"/>
                <a:cs typeface="Segoe UI" pitchFamily="34" charset="-120"/>
              </a:rPr>
              <a:t>Stricture, bladder-neck contracture or anastomotic narrowing</a:t>
            </a:r>
            <a:endParaRPr lang="en-US" sz="1550" dirty="0">
              <a:latin typeface="Plus Jakarta Sans"/>
            </a:endParaRPr>
          </a:p>
        </p:txBody>
      </p:sp>
      <p:sp>
        <p:nvSpPr>
          <p:cNvPr id="19" name="Shape 17"/>
          <p:cNvSpPr/>
          <p:nvPr/>
        </p:nvSpPr>
        <p:spPr>
          <a:xfrm>
            <a:off x="6575908" y="3557016"/>
            <a:ext cx="100584" cy="100584"/>
          </a:xfrm>
          <a:prstGeom prst="ellipse">
            <a:avLst/>
          </a:prstGeom>
          <a:solidFill>
            <a:srgbClr val="FFFFFF"/>
          </a:solidFill>
          <a:ln/>
        </p:spPr>
      </p:sp>
      <p:sp>
        <p:nvSpPr>
          <p:cNvPr id="20" name="Text 18"/>
          <p:cNvSpPr txBox="1"/>
          <p:nvPr/>
        </p:nvSpPr>
        <p:spPr>
          <a:xfrm>
            <a:off x="6822796" y="3474720"/>
            <a:ext cx="4408780" cy="777240"/>
          </a:xfrm>
          <a:prstGeom prst="rect">
            <a:avLst/>
          </a:prstGeom>
          <a:noFill/>
          <a:ln/>
        </p:spPr>
        <p:txBody>
          <a:bodyPr wrap="square" lIns="0" tIns="0" rIns="0" bIns="0" rtlCol="0" anchor="t"/>
          <a:lstStyle/>
          <a:p>
            <a:pPr algn="l" indent="0" marL="0">
              <a:lnSpc>
                <a:spcPct val="110000"/>
              </a:lnSpc>
              <a:buNone/>
            </a:pPr>
            <a:r>
              <a:rPr lang="en-US" sz="1550" dirty="0">
                <a:solidFill>
                  <a:srgbClr val="FFFFFF"/>
                </a:solidFill>
                <a:latin typeface="Plus Jakarta Sans" pitchFamily="34" charset="0"/>
                <a:ea typeface="Segoe UI" pitchFamily="34" charset="-122"/>
                <a:cs typeface="Segoe UI" pitchFamily="34" charset="-120"/>
              </a:rPr>
              <a:t>Erosion, foreign material or stones</a:t>
            </a:r>
            <a:endParaRPr lang="en-US" sz="1550" dirty="0">
              <a:latin typeface="Plus Jakarta Sans"/>
            </a:endParaRPr>
          </a:p>
        </p:txBody>
      </p:sp>
      <p:sp>
        <p:nvSpPr>
          <p:cNvPr id="21" name="Shape 19"/>
          <p:cNvSpPr/>
          <p:nvPr/>
        </p:nvSpPr>
        <p:spPr>
          <a:xfrm>
            <a:off x="6575908" y="4379976"/>
            <a:ext cx="100584" cy="100584"/>
          </a:xfrm>
          <a:prstGeom prst="ellipse">
            <a:avLst/>
          </a:prstGeom>
          <a:solidFill>
            <a:srgbClr val="FFFFFF"/>
          </a:solidFill>
          <a:ln/>
        </p:spPr>
      </p:sp>
      <p:sp>
        <p:nvSpPr>
          <p:cNvPr id="22" name="Text 20"/>
          <p:cNvSpPr txBox="1"/>
          <p:nvPr/>
        </p:nvSpPr>
        <p:spPr>
          <a:xfrm>
            <a:off x="6822796" y="4297680"/>
            <a:ext cx="4408780" cy="777240"/>
          </a:xfrm>
          <a:prstGeom prst="rect">
            <a:avLst/>
          </a:prstGeom>
          <a:noFill/>
          <a:ln/>
        </p:spPr>
        <p:txBody>
          <a:bodyPr wrap="square" lIns="0" tIns="0" rIns="0" bIns="0" rtlCol="0" anchor="t"/>
          <a:lstStyle/>
          <a:p>
            <a:pPr algn="l" indent="0" marL="0">
              <a:lnSpc>
                <a:spcPct val="110000"/>
              </a:lnSpc>
              <a:buNone/>
            </a:pPr>
            <a:r>
              <a:rPr lang="en-US" sz="1550" dirty="0">
                <a:solidFill>
                  <a:srgbClr val="FFFFFF"/>
                </a:solidFill>
                <a:latin typeface="Plus Jakarta Sans" pitchFamily="34" charset="0"/>
                <a:ea typeface="Segoe UI" pitchFamily="34" charset="-122"/>
                <a:cs typeface="Segoe UI" pitchFamily="34" charset="-120"/>
              </a:rPr>
              <a:t>Tumour, or anything that means repeated scopes</a:t>
            </a:r>
            <a:endParaRPr lang="en-US" sz="1550" dirty="0">
              <a:latin typeface="Plus Jakarta Sans"/>
            </a:endParaRPr>
          </a:p>
        </p:txBody>
      </p:sp>
      <p:sp>
        <p:nvSpPr>
          <p:cNvPr id="9001" name="replacement-title">
            <a:extLst>
              <a:ext uri="{FF2B5EF4-FFF2-40B4-BE49-F238E27FC236}">
                <a16:creationId xmlns:a16="http://schemas.microsoft.com/office/drawing/2014/main" id="{EB93A475-7961-4B98-8C0F-EBF3837D1655}"/>
              </a:ext>
            </a:extLst>
          </p:cNvPr>
          <p:cNvSpPr>
            <a:spLocks noGrp="1"/>
          </p:cNvSpPr>
          <p:nvPr/>
        </p:nvSpPr>
        <p:spPr>
          <a:xfrm>
            <a:off x="638175" y="752475"/>
            <a:ext cx="10915650" cy="800100"/>
          </a:xfrm>
          <a:prstGeom prst="rect">
            <a:avLst/>
          </a:prstGeom>
          <a:noFill/>
          <a:ln w="0">
            <a:noFill/>
          </a:ln>
        </p:spPr>
        <p:txBody>
          <a:bodyPr anchor="ctr"/>
          <a:lstStyle>
            <a:defPPr>
              <a:defRPr sz="2625" b="1">
                <a:solidFill>
                  <a:srgbClr val="FFFFFF"/>
                </a:solidFill>
                <a:latin typeface="Plus Jakarta Sans"/>
              </a:defRPr>
            </a:defPPr>
            <a:lvl1pPr>
              <a:defRPr sz="2625" b="1">
                <a:solidFill>
                  <a:srgbClr val="FFFFFF"/>
                </a:solidFill>
                <a:latin typeface="Plus Jakarta Sans"/>
              </a:defRPr>
            </a:lvl1pPr>
            <a:lvl2pPr>
              <a:defRPr sz="2625" b="1">
                <a:solidFill>
                  <a:srgbClr val="FFFFFF"/>
                </a:solidFill>
                <a:latin typeface="Plus Jakarta Sans"/>
              </a:defRPr>
            </a:lvl2pPr>
            <a:lvl3pPr>
              <a:defRPr sz="2625" b="1">
                <a:solidFill>
                  <a:srgbClr val="FFFFFF"/>
                </a:solidFill>
                <a:latin typeface="Plus Jakarta Sans"/>
              </a:defRPr>
            </a:lvl3pPr>
            <a:lvl4pPr>
              <a:defRPr sz="2625" b="1">
                <a:solidFill>
                  <a:srgbClr val="FFFFFF"/>
                </a:solidFill>
                <a:latin typeface="Plus Jakarta Sans"/>
              </a:defRPr>
            </a:lvl4pPr>
            <a:lvl5pPr>
              <a:defRPr sz="2625" b="1">
                <a:solidFill>
                  <a:srgbClr val="FFFFFF"/>
                </a:solidFill>
                <a:latin typeface="Plus Jakarta Sans"/>
              </a:defRPr>
            </a:lvl5pPr>
            <a:lvl6pPr>
              <a:defRPr sz="2625" b="1">
                <a:solidFill>
                  <a:srgbClr val="FFFFFF"/>
                </a:solidFill>
                <a:latin typeface="Plus Jakarta Sans"/>
              </a:defRPr>
            </a:lvl6pPr>
            <a:lvl7pPr>
              <a:defRPr sz="2625" b="1">
                <a:solidFill>
                  <a:srgbClr val="FFFFFF"/>
                </a:solidFill>
                <a:latin typeface="Plus Jakarta Sans"/>
              </a:defRPr>
            </a:lvl7pPr>
            <a:lvl8pPr>
              <a:defRPr sz="2625" b="1">
                <a:solidFill>
                  <a:srgbClr val="FFFFFF"/>
                </a:solidFill>
                <a:latin typeface="Plus Jakarta Sans"/>
              </a:defRPr>
            </a:lvl8pPr>
            <a:lvl9pPr>
              <a:defRPr sz="2625" b="1">
                <a:solidFill>
                  <a:srgbClr val="FFFFFF"/>
                </a:solidFill>
                <a:latin typeface="Plus Jakarta Sans"/>
              </a:defRPr>
            </a:lvl9pPr>
          </a:lstStyle>
          <a:p>
            <a:pPr>
              <a:defRPr sz="2625" b="1">
                <a:solidFill>
                  <a:srgbClr val="FFFFFF"/>
                </a:solidFill>
                <a:latin typeface="Plus Jakarta Sans"/>
              </a:defRPr>
            </a:pPr>
            <a:r>
              <a:rPr sz="2625" b="1">
                <a:solidFill>
                  <a:srgbClr val="FFFFFF"/>
                </a:solidFill>
                <a:latin typeface="Plus Jakarta Sans"/>
              </a:rPr>
              <a:t>Flexible cystoscopy before implantation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1616"/>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05C489"/>
                </a:solidFill>
                <a:latin typeface="Plus Jakarta Sans" pitchFamily="34" charset="0"/>
                <a:ea typeface="Segoe UI" pitchFamily="34" charset="-122"/>
                <a:cs typeface="Segoe UI" pitchFamily="34" charset="-120"/>
              </a:rPr>
              <a:t>DECIDE BEFORE THEATRE</a:t>
            </a:r>
            <a:endParaRPr lang="en-US" sz="950" dirty="0">
              <a:latin typeface="Plus Jakarta Sans"/>
            </a:endParaRPr>
          </a:p>
        </p:txBody>
      </p:sp>
      <p:sp>
        <p:nvSpPr>
          <p:cNvPr id="3" name="Text 1"/>
          <p:cNvSpPr txBox="1"/>
          <p:nvPr/>
        </p:nvSpPr>
        <p:spPr>
          <a:xfrm>
            <a:off x="6979615" y="384048"/>
            <a:ext cx="4572000" cy="274320"/>
          </a:xfrm>
          <a:prstGeom prst="rect">
            <a:avLst/>
          </a:prstGeom>
          <a:noFill/>
          <a:ln/>
        </p:spPr>
        <p:txBody>
          <a:bodyPr wrap="square" lIns="0" tIns="0" rIns="0" bIns="0" rtlCol="0" anchor="t"/>
          <a:lstStyle/>
          <a:p>
            <a:pPr algn="r" indent="0" marL="0">
              <a:buNone/>
            </a:pPr>
            <a:r>
              <a:rPr lang="en-US" sz="950" spc="100" kern="0" dirty="0">
                <a:solidFill>
                  <a:srgbClr val="BFBFBF"/>
                </a:solidFill>
                <a:latin typeface="Plus Jakarta Sans" pitchFamily="34" charset="0"/>
                <a:ea typeface="Segoe UI" pitchFamily="34" charset="-122"/>
                <a:cs typeface="Segoe UI" pitchFamily="34" charset="-120"/>
              </a:rPr>
              <a:t>07 / 36</a:t>
            </a:r>
            <a:endParaRPr lang="en-US" sz="950" dirty="0">
              <a:latin typeface="Plus Jakarta Sans"/>
            </a:endParaRPr>
          </a:p>
        </p:txBody>
      </p:sp>
      <p:sp>
        <p:nvSpPr>
          <p:cNvPr id="5" name="Text 3"/>
          <p:cNvSpPr txBox="1"/>
          <p:nvPr/>
        </p:nvSpPr>
        <p:spPr>
          <a:xfrm>
            <a:off x="640080" y="6345936"/>
            <a:ext cx="9997135" cy="228600"/>
          </a:xfrm>
          <a:prstGeom prst="rect">
            <a:avLst/>
          </a:prstGeom>
          <a:noFill/>
          <a:ln/>
        </p:spPr>
        <p:txBody>
          <a:bodyPr wrap="square" lIns="0" tIns="0" rIns="0" bIns="0" rtlCol="0" anchor="t"/>
          <a:lstStyle/>
          <a:p>
            <a:pPr algn="l" indent="0" marL="0">
              <a:buNone/>
            </a:pPr>
            <a:r>
              <a:rPr lang="en-US" sz="800" spc="50" kern="0" dirty="0">
                <a:solidFill>
                  <a:srgbClr val="BFBFBF"/>
                </a:solidFill>
                <a:latin typeface="Plus Jakarta Sans" pitchFamily="34" charset="0"/>
                <a:ea typeface="Segoe UI" pitchFamily="34" charset="-122"/>
                <a:cs typeface="Segoe UI" pitchFamily="34" charset="-120"/>
              </a:rPr>
              <a:t>BAUS25  ·  EAU26  ·  AUA24  ·  ICS16  ·  AUASTATUS26  ·  AUAUDS26</a:t>
            </a:r>
            <a:endParaRPr lang="en-US" sz="800" dirty="0">
              <a:latin typeface="Plus Jakarta Sans"/>
            </a:endParaRPr>
          </a:p>
        </p:txBody>
      </p:sp>
      <p:sp>
        <p:nvSpPr>
          <p:cNvPr id="6" name="Text 4"/>
          <p:cNvSpPr txBox="1"/>
          <p:nvPr/>
        </p:nvSpPr>
        <p:spPr>
          <a:xfrm>
            <a:off x="640080" y="5669280"/>
            <a:ext cx="10911535" cy="566928"/>
          </a:xfrm>
          <a:prstGeom prst="rect">
            <a:avLst/>
          </a:prstGeom>
          <a:noFill/>
          <a:ln/>
        </p:spPr>
        <p:txBody>
          <a:bodyPr wrap="square" lIns="0" tIns="0" rIns="0" bIns="0" rtlCol="0" anchor="b"/>
          <a:lstStyle/>
          <a:p>
            <a:pPr algn="l" indent="0" marL="0">
              <a:buNone/>
            </a:pPr>
            <a:r>
              <a:rPr lang="en-US" sz="1200" i="1" dirty="0">
                <a:solidFill>
                  <a:srgbClr val="BFBFBF"/>
                </a:solidFill>
                <a:latin typeface="Plus Jakarta Sans" pitchFamily="34" charset="0"/>
                <a:ea typeface="Segoe UI" pitchFamily="34" charset="-122"/>
                <a:cs typeface="Segoe UI" pitchFamily="34" charset="-120"/>
              </a:rPr>
              <a:t>The three guidelines differ. The 2026 AUA abstract (IP09-22) is conference material; results not published.</a:t>
            </a:r>
            <a:endParaRPr lang="en-US" sz="1200" dirty="0">
              <a:latin typeface="Plus Jakarta Sans"/>
            </a:endParaRPr>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911535" cy="914400"/>
        </p:xfrm>
        <a:graphic>
          <a:graphicData uri="http://schemas.openxmlformats.org/drawingml/2006/table">
            <a:tbl>
              <a:tblPr/>
              <a:tblGrid>
                <a:gridCol w="2377440"/>
                <a:gridCol w="4069080"/>
                <a:gridCol w="4465015"/>
              </a:tblGrid>
              <a:tr h="411480">
                <a:tc>
                  <a:txBody>
                    <a:bodyPr/>
                    <a:lstStyle/>
                    <a:p>
                      <a:pPr indent="0" marL="0">
                        <a:buNone/>
                      </a:pPr>
                      <a:r>
                        <a:rPr lang="en-US" sz="1400" b="1" dirty="0">
                          <a:solidFill>
                            <a:srgbClr val="161616"/>
                          </a:solidFill>
                          <a:latin typeface="Plus Jakarta Sans" pitchFamily="34" charset="0"/>
                          <a:ea typeface="Segoe UI Semibold" pitchFamily="34" charset="-122"/>
                          <a:cs typeface="Segoe UI Semibold" pitchFamily="34" charset="-120"/>
                        </a:rPr>
                        <a:t>Guideline</a:t>
                      </a:r>
                      <a:endParaRPr lang="en-US" sz="1400" dirty="0">
                        <a:solidFill>
                          <a:srgbClr val="161616"/>
                        </a:solidFill>
                        <a:latin typeface="Plus Jakarta Sans" charset="0"/>
                        <a:ea typeface="Segoe UI Semibold" charset="0"/>
                        <a:cs typeface="Segoe UI Semibold" charset="0"/>
                      </a:endParaRPr>
                    </a:p>
                  </a:txBody>
                  <a:tcPr marL="146304" marR="146304" marT="91440" marB="91440"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05C489"/>
                    </a:solidFill>
                  </a:tcPr>
                </a:tc>
                <a:tc>
                  <a:txBody>
                    <a:bodyPr/>
                    <a:lstStyle/>
                    <a:p>
                      <a:pPr indent="0" marL="0">
                        <a:buNone/>
                      </a:pPr>
                      <a:r>
                        <a:rPr lang="en-US" sz="1400" b="1" dirty="0">
                          <a:solidFill>
                            <a:srgbClr val="161616"/>
                          </a:solidFill>
                          <a:latin typeface="Plus Jakarta Sans" pitchFamily="34" charset="0"/>
                          <a:ea typeface="Segoe UI Semibold" pitchFamily="34" charset="-122"/>
                          <a:cs typeface="Segoe UI Semibold" pitchFamily="34" charset="-120"/>
                        </a:rPr>
                        <a:t>Position</a:t>
                      </a:r>
                      <a:endParaRPr lang="en-US" sz="1400" dirty="0">
                        <a:solidFill>
                          <a:srgbClr val="161616"/>
                        </a:solidFill>
                        <a:latin typeface="Plus Jakarta Sans" charset="0"/>
                        <a:ea typeface="Segoe UI Semibold" charset="0"/>
                        <a:cs typeface="Segoe UI Semibold" charset="0"/>
                      </a:endParaRPr>
                    </a:p>
                  </a:txBody>
                  <a:tcPr marL="146304" marR="146304" marT="91440" marB="91440"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05C489"/>
                    </a:solidFill>
                  </a:tcPr>
                </a:tc>
                <a:tc>
                  <a:txBody>
                    <a:bodyPr/>
                    <a:lstStyle/>
                    <a:p>
                      <a:pPr indent="0" marL="0">
                        <a:buNone/>
                      </a:pPr>
                      <a:r>
                        <a:rPr lang="en-US" sz="1400" b="1" dirty="0">
                          <a:solidFill>
                            <a:srgbClr val="161616"/>
                          </a:solidFill>
                          <a:latin typeface="Plus Jakarta Sans" pitchFamily="34" charset="0"/>
                          <a:ea typeface="Segoe UI Semibold" pitchFamily="34" charset="-122"/>
                          <a:cs typeface="Segoe UI Semibold" pitchFamily="34" charset="-120"/>
                        </a:rPr>
                        <a:t>Clinical implication</a:t>
                      </a:r>
                      <a:endParaRPr lang="en-US" sz="1400" dirty="0">
                        <a:solidFill>
                          <a:srgbClr val="161616"/>
                        </a:solidFill>
                        <a:latin typeface="Plus Jakarta Sans" charset="0"/>
                        <a:ea typeface="Segoe UI Semibold" charset="0"/>
                        <a:cs typeface="Segoe UI Semibold" charset="0"/>
                      </a:endParaRPr>
                    </a:p>
                  </a:txBody>
                  <a:tcPr marL="146304" marR="146304" marT="91440" marB="91440"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05C489"/>
                    </a:solidFill>
                  </a:tcPr>
                </a:tc>
              </a:tr>
              <a:tr h="1097280">
                <a:tc>
                  <a:txBody>
                    <a:bodyPr/>
                    <a:lstStyle/>
                    <a:p>
                      <a:pPr indent="0" marL="0">
                        <a:buNone/>
                      </a:pPr>
                      <a:r>
                        <a:rPr lang="en-US" sz="1500" b="1" dirty="0">
                          <a:solidFill>
                            <a:srgbClr val="FFFFFF"/>
                          </a:solidFill>
                          <a:latin typeface="Plus Jakarta Sans" pitchFamily="34" charset="0"/>
                          <a:ea typeface="Segoe UI" pitchFamily="34" charset="-122"/>
                          <a:cs typeface="Segoe UI" pitchFamily="34" charset="-120"/>
                        </a:rPr>
                        <a:t>BAUS</a:t>
                      </a:r>
                      <a:endParaRPr lang="en-US" sz="1500" dirty="0">
                        <a:solidFill>
                          <a:srgbClr val="FFFFFF"/>
                        </a:solidFill>
                        <a:latin typeface="Plus Jakarta Sans" charset="0"/>
                        <a:ea typeface="Segoe UI" charset="0"/>
                        <a:cs typeface="Segoe UI" charset="0"/>
                      </a:endParaRPr>
                    </a:p>
                  </a:txBody>
                  <a:tcPr marL="146304" marR="146304" marT="109728" marB="109728"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242424"/>
                    </a:solidFill>
                  </a:tcPr>
                </a:tc>
                <a:tc>
                  <a:txBody>
                    <a:bodyPr/>
                    <a:lstStyle/>
                    <a:p>
                      <a:pPr indent="0" marL="0">
                        <a:buNone/>
                      </a:pPr>
                      <a:r>
                        <a:rPr lang="en-US" sz="1500" dirty="0">
                          <a:solidFill>
                            <a:srgbClr val="FFFFFF"/>
                          </a:solidFill>
                          <a:latin typeface="Plus Jakarta Sans" pitchFamily="34" charset="0"/>
                          <a:ea typeface="Segoe UI" pitchFamily="34" charset="-122"/>
                          <a:cs typeface="Segoe UI" pitchFamily="34" charset="-120"/>
                        </a:rPr>
                        <a:t>Video-urodynamics for surgical candidates</a:t>
                      </a:r>
                      <a:endParaRPr lang="en-US" sz="1500" dirty="0">
                        <a:solidFill>
                          <a:srgbClr val="FFFFFF"/>
                        </a:solidFill>
                        <a:latin typeface="Plus Jakarta Sans" charset="0"/>
                        <a:ea typeface="Segoe UI" charset="0"/>
                        <a:cs typeface="Segoe UI" charset="0"/>
                      </a:endParaRPr>
                    </a:p>
                  </a:txBody>
                  <a:tcPr marL="146304" marR="146304" marT="109728" marB="109728"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242424"/>
                    </a:solidFill>
                  </a:tcPr>
                </a:tc>
                <a:tc>
                  <a:txBody>
                    <a:bodyPr/>
                    <a:lstStyle/>
                    <a:p>
                      <a:pPr indent="0" marL="0">
                        <a:buNone/>
                      </a:pPr>
                      <a:r>
                        <a:rPr lang="en-US" sz="1500" dirty="0">
                          <a:solidFill>
                            <a:srgbClr val="FFFFFF"/>
                          </a:solidFill>
                          <a:latin typeface="Plus Jakarta Sans" pitchFamily="34" charset="0"/>
                          <a:ea typeface="Segoe UI" pitchFamily="34" charset="-122"/>
                          <a:cs typeface="Segoe UI" pitchFamily="34" charset="-120"/>
                        </a:rPr>
                        <a:t>Follow the investigation pathway</a:t>
                      </a:r>
                      <a:endParaRPr lang="en-US" sz="1500" dirty="0">
                        <a:solidFill>
                          <a:srgbClr val="FFFFFF"/>
                        </a:solidFill>
                        <a:latin typeface="Plus Jakarta Sans" charset="0"/>
                        <a:ea typeface="Segoe UI" charset="0"/>
                        <a:cs typeface="Segoe UI" charset="0"/>
                      </a:endParaRPr>
                    </a:p>
                  </a:txBody>
                  <a:tcPr marL="146304" marR="146304" marT="109728" marB="109728"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242424"/>
                    </a:solidFill>
                  </a:tcPr>
                </a:tc>
              </a:tr>
              <a:tr h="1097280">
                <a:tc>
                  <a:txBody>
                    <a:bodyPr/>
                    <a:lstStyle/>
                    <a:p>
                      <a:pPr indent="0" marL="0">
                        <a:buNone/>
                      </a:pPr>
                      <a:r>
                        <a:rPr lang="en-US" sz="1500" b="1" dirty="0">
                          <a:solidFill>
                            <a:srgbClr val="FFFFFF"/>
                          </a:solidFill>
                          <a:latin typeface="Plus Jakarta Sans" pitchFamily="34" charset="0"/>
                          <a:ea typeface="Segoe UI" pitchFamily="34" charset="-122"/>
                          <a:cs typeface="Segoe UI" pitchFamily="34" charset="-120"/>
                        </a:rPr>
                        <a:t>EAU</a:t>
                      </a:r>
                      <a:endParaRPr lang="en-US" sz="1500" dirty="0">
                        <a:solidFill>
                          <a:srgbClr val="FFFFFF"/>
                        </a:solidFill>
                        <a:latin typeface="Plus Jakarta Sans" charset="0"/>
                        <a:ea typeface="Segoe UI" charset="0"/>
                        <a:cs typeface="Segoe UI" charset="0"/>
                      </a:endParaRPr>
                    </a:p>
                  </a:txBody>
                  <a:tcPr marL="146304" marR="146304" marT="109728" marB="109728"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2D2D2D"/>
                    </a:solidFill>
                  </a:tcPr>
                </a:tc>
                <a:tc>
                  <a:txBody>
                    <a:bodyPr/>
                    <a:lstStyle/>
                    <a:p>
                      <a:pPr indent="0" marL="0">
                        <a:buNone/>
                      </a:pPr>
                      <a:r>
                        <a:rPr lang="en-US" sz="1500" dirty="0">
                          <a:solidFill>
                            <a:srgbClr val="FFFFFF"/>
                          </a:solidFill>
                          <a:latin typeface="Plus Jakarta Sans" pitchFamily="34" charset="0"/>
                          <a:ea typeface="Segoe UI" pitchFamily="34" charset="-122"/>
                          <a:cs typeface="Segoe UI" pitchFamily="34" charset="-120"/>
                        </a:rPr>
                        <a:t>UDS before invasive treatment, weak recommendation</a:t>
                      </a:r>
                      <a:endParaRPr lang="en-US" sz="1500" dirty="0">
                        <a:solidFill>
                          <a:srgbClr val="FFFFFF"/>
                        </a:solidFill>
                        <a:latin typeface="Plus Jakarta Sans" charset="0"/>
                        <a:ea typeface="Segoe UI" charset="0"/>
                        <a:cs typeface="Segoe UI" charset="0"/>
                      </a:endParaRPr>
                    </a:p>
                  </a:txBody>
                  <a:tcPr marL="146304" marR="146304" marT="109728" marB="109728"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2D2D2D"/>
                    </a:solidFill>
                  </a:tcPr>
                </a:tc>
                <a:tc>
                  <a:txBody>
                    <a:bodyPr/>
                    <a:lstStyle/>
                    <a:p>
                      <a:pPr indent="0" marL="0">
                        <a:buNone/>
                      </a:pPr>
                      <a:r>
                        <a:rPr lang="en-US" sz="1500" dirty="0">
                          <a:solidFill>
                            <a:srgbClr val="FFFFFF"/>
                          </a:solidFill>
                          <a:latin typeface="Plus Jakarta Sans" pitchFamily="34" charset="0"/>
                          <a:ea typeface="Segoe UI" pitchFamily="34" charset="-122"/>
                          <a:cs typeface="Segoe UI" pitchFamily="34" charset="-120"/>
                        </a:rPr>
                        <a:t>Its own text still allows selective testing</a:t>
                      </a:r>
                      <a:endParaRPr lang="en-US" sz="1500" dirty="0">
                        <a:solidFill>
                          <a:srgbClr val="FFFFFF"/>
                        </a:solidFill>
                        <a:latin typeface="Plus Jakarta Sans" charset="0"/>
                        <a:ea typeface="Segoe UI" charset="0"/>
                        <a:cs typeface="Segoe UI" charset="0"/>
                      </a:endParaRPr>
                    </a:p>
                  </a:txBody>
                  <a:tcPr marL="146304" marR="146304" marT="109728" marB="109728"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2D2D2D"/>
                    </a:solidFill>
                  </a:tcPr>
                </a:tc>
              </a:tr>
              <a:tr h="1097280">
                <a:tc>
                  <a:txBody>
                    <a:bodyPr/>
                    <a:lstStyle/>
                    <a:p>
                      <a:pPr indent="0" marL="0">
                        <a:buNone/>
                      </a:pPr>
                      <a:r>
                        <a:rPr lang="en-US" sz="1500" b="1" dirty="0">
                          <a:solidFill>
                            <a:srgbClr val="FFFFFF"/>
                          </a:solidFill>
                          <a:latin typeface="Plus Jakarta Sans" pitchFamily="34" charset="0"/>
                          <a:ea typeface="Segoe UI" pitchFamily="34" charset="-122"/>
                          <a:cs typeface="Segoe UI" pitchFamily="34" charset="-120"/>
                        </a:rPr>
                        <a:t>AUA</a:t>
                      </a:r>
                      <a:endParaRPr lang="en-US" sz="1500" dirty="0">
                        <a:solidFill>
                          <a:srgbClr val="FFFFFF"/>
                        </a:solidFill>
                        <a:latin typeface="Plus Jakarta Sans" charset="0"/>
                        <a:ea typeface="Segoe UI" charset="0"/>
                        <a:cs typeface="Segoe UI" charset="0"/>
                      </a:endParaRPr>
                    </a:p>
                  </a:txBody>
                  <a:tcPr marL="146304" marR="146304" marT="109728" marB="109728"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242424"/>
                    </a:solidFill>
                  </a:tcPr>
                </a:tc>
                <a:tc>
                  <a:txBody>
                    <a:bodyPr/>
                    <a:lstStyle/>
                    <a:p>
                      <a:pPr indent="0" marL="0">
                        <a:buNone/>
                      </a:pPr>
                      <a:r>
                        <a:rPr lang="en-US" sz="1500" dirty="0">
                          <a:solidFill>
                            <a:srgbClr val="FFFFFF"/>
                          </a:solidFill>
                          <a:latin typeface="Plus Jakarta Sans" pitchFamily="34" charset="0"/>
                          <a:ea typeface="Segoe UI" pitchFamily="34" charset="-122"/>
                          <a:cs typeface="Segoe UI" pitchFamily="34" charset="-120"/>
                        </a:rPr>
                        <a:t>UDS when it would change the diagnosis or counselling</a:t>
                      </a:r>
                      <a:endParaRPr lang="en-US" sz="1500" dirty="0">
                        <a:solidFill>
                          <a:srgbClr val="FFFFFF"/>
                        </a:solidFill>
                        <a:latin typeface="Plus Jakarta Sans" charset="0"/>
                        <a:ea typeface="Segoe UI" charset="0"/>
                        <a:cs typeface="Segoe UI" charset="0"/>
                      </a:endParaRPr>
                    </a:p>
                  </a:txBody>
                  <a:tcPr marL="146304" marR="146304" marT="109728" marB="109728"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242424"/>
                    </a:solidFill>
                  </a:tcPr>
                </a:tc>
                <a:tc>
                  <a:txBody>
                    <a:bodyPr/>
                    <a:lstStyle/>
                    <a:p>
                      <a:pPr indent="0" marL="0">
                        <a:buNone/>
                      </a:pPr>
                      <a:r>
                        <a:rPr lang="en-US" sz="1500" dirty="0">
                          <a:solidFill>
                            <a:srgbClr val="FFFFFF"/>
                          </a:solidFill>
                          <a:latin typeface="Plus Jakarta Sans" pitchFamily="34" charset="0"/>
                          <a:ea typeface="Segoe UI" pitchFamily="34" charset="-122"/>
                          <a:cs typeface="Segoe UI" pitchFamily="34" charset="-120"/>
                        </a:rPr>
                        <a:t>Say what question the test should answer</a:t>
                      </a:r>
                      <a:endParaRPr lang="en-US" sz="1500" dirty="0">
                        <a:solidFill>
                          <a:srgbClr val="FFFFFF"/>
                        </a:solidFill>
                        <a:latin typeface="Plus Jakarta Sans" charset="0"/>
                        <a:ea typeface="Segoe UI" charset="0"/>
                        <a:cs typeface="Segoe UI" charset="0"/>
                      </a:endParaRPr>
                    </a:p>
                  </a:txBody>
                  <a:tcPr marL="146304" marR="146304" marT="109728" marB="109728"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242424"/>
                    </a:solidFill>
                  </a:tcPr>
                </a:tc>
              </a:tr>
            </a:tbl>
          </a:graphicData>
        </a:graphic>
      </p:graphicFrame>
      <p:sp>
        <p:nvSpPr>
          <p:cNvPr id="9001" name="replacement-title">
            <a:extLst>
              <a:ext uri="{FF2B5EF4-FFF2-40B4-BE49-F238E27FC236}">
                <a16:creationId xmlns:a16="http://schemas.microsoft.com/office/drawing/2014/main" id="{8E6102BC-3876-4ABF-A6F9-6EF3F9D0BB8A}"/>
              </a:ext>
            </a:extLst>
          </p:cNvPr>
          <p:cNvSpPr>
            <a:spLocks noGrp="1"/>
          </p:cNvSpPr>
          <p:nvPr/>
        </p:nvSpPr>
        <p:spPr>
          <a:xfrm>
            <a:off x="638175" y="752475"/>
            <a:ext cx="10915650" cy="800100"/>
          </a:xfrm>
          <a:prstGeom prst="rect">
            <a:avLst/>
          </a:prstGeom>
          <a:noFill/>
          <a:ln w="0">
            <a:noFill/>
          </a:ln>
        </p:spPr>
        <p:txBody>
          <a:bodyPr anchor="ctr"/>
          <a:lstStyle>
            <a:defPPr>
              <a:defRPr sz="2625" b="1">
                <a:solidFill>
                  <a:srgbClr val="FFFFFF"/>
                </a:solidFill>
                <a:latin typeface="Plus Jakarta Sans"/>
              </a:defRPr>
            </a:defPPr>
            <a:lvl1pPr>
              <a:defRPr sz="2625" b="1">
                <a:solidFill>
                  <a:srgbClr val="FFFFFF"/>
                </a:solidFill>
                <a:latin typeface="Plus Jakarta Sans"/>
              </a:defRPr>
            </a:lvl1pPr>
            <a:lvl2pPr>
              <a:defRPr sz="2625" b="1">
                <a:solidFill>
                  <a:srgbClr val="FFFFFF"/>
                </a:solidFill>
                <a:latin typeface="Plus Jakarta Sans"/>
              </a:defRPr>
            </a:lvl2pPr>
            <a:lvl3pPr>
              <a:defRPr sz="2625" b="1">
                <a:solidFill>
                  <a:srgbClr val="FFFFFF"/>
                </a:solidFill>
                <a:latin typeface="Plus Jakarta Sans"/>
              </a:defRPr>
            </a:lvl3pPr>
            <a:lvl4pPr>
              <a:defRPr sz="2625" b="1">
                <a:solidFill>
                  <a:srgbClr val="FFFFFF"/>
                </a:solidFill>
                <a:latin typeface="Plus Jakarta Sans"/>
              </a:defRPr>
            </a:lvl4pPr>
            <a:lvl5pPr>
              <a:defRPr sz="2625" b="1">
                <a:solidFill>
                  <a:srgbClr val="FFFFFF"/>
                </a:solidFill>
                <a:latin typeface="Plus Jakarta Sans"/>
              </a:defRPr>
            </a:lvl5pPr>
            <a:lvl6pPr>
              <a:defRPr sz="2625" b="1">
                <a:solidFill>
                  <a:srgbClr val="FFFFFF"/>
                </a:solidFill>
                <a:latin typeface="Plus Jakarta Sans"/>
              </a:defRPr>
            </a:lvl6pPr>
            <a:lvl7pPr>
              <a:defRPr sz="2625" b="1">
                <a:solidFill>
                  <a:srgbClr val="FFFFFF"/>
                </a:solidFill>
                <a:latin typeface="Plus Jakarta Sans"/>
              </a:defRPr>
            </a:lvl7pPr>
            <a:lvl8pPr>
              <a:defRPr sz="2625" b="1">
                <a:solidFill>
                  <a:srgbClr val="FFFFFF"/>
                </a:solidFill>
                <a:latin typeface="Plus Jakarta Sans"/>
              </a:defRPr>
            </a:lvl8pPr>
            <a:lvl9pPr>
              <a:defRPr sz="2625" b="1">
                <a:solidFill>
                  <a:srgbClr val="FFFFFF"/>
                </a:solidFill>
                <a:latin typeface="Plus Jakarta Sans"/>
              </a:defRPr>
            </a:lvl9pPr>
          </a:lstStyle>
          <a:p>
            <a:pPr>
              <a:defRPr sz="2625" b="1">
                <a:solidFill>
                  <a:srgbClr val="FFFFFF"/>
                </a:solidFill>
                <a:latin typeface="Plus Jakarta Sans"/>
              </a:defRPr>
            </a:pPr>
            <a:r>
              <a:rPr sz="2625" b="1">
                <a:solidFill>
                  <a:srgbClr val="FFFFFF"/>
                </a:solidFill>
                <a:latin typeface="Plus Jakarta Sans"/>
              </a:rPr>
              <a:t>Urodynamics: BAUS, EAU and AUA</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1616"/>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05C489"/>
                </a:solidFill>
                <a:latin typeface="Plus Jakarta Sans" pitchFamily="34" charset="0"/>
                <a:ea typeface="Segoe UI" pitchFamily="34" charset="-122"/>
                <a:cs typeface="Segoe UI" pitchFamily="34" charset="-120"/>
              </a:rPr>
              <a:t>DECIDE BEFORE THEATRE</a:t>
            </a:r>
            <a:endParaRPr lang="en-US" sz="950" dirty="0">
              <a:latin typeface="Plus Jakarta Sans"/>
            </a:endParaRPr>
          </a:p>
        </p:txBody>
      </p:sp>
      <p:sp>
        <p:nvSpPr>
          <p:cNvPr id="3" name="Text 1"/>
          <p:cNvSpPr txBox="1"/>
          <p:nvPr/>
        </p:nvSpPr>
        <p:spPr>
          <a:xfrm>
            <a:off x="6979615" y="384048"/>
            <a:ext cx="4572000" cy="274320"/>
          </a:xfrm>
          <a:prstGeom prst="rect">
            <a:avLst/>
          </a:prstGeom>
          <a:noFill/>
          <a:ln/>
        </p:spPr>
        <p:txBody>
          <a:bodyPr wrap="square" lIns="0" tIns="0" rIns="0" bIns="0" rtlCol="0" anchor="t"/>
          <a:lstStyle/>
          <a:p>
            <a:pPr algn="r" indent="0" marL="0">
              <a:buNone/>
            </a:pPr>
            <a:r>
              <a:rPr lang="en-US" sz="950" spc="100" kern="0" dirty="0">
                <a:solidFill>
                  <a:srgbClr val="BFBFBF"/>
                </a:solidFill>
                <a:latin typeface="Plus Jakarta Sans" pitchFamily="34" charset="0"/>
                <a:ea typeface="Segoe UI" pitchFamily="34" charset="-122"/>
                <a:cs typeface="Segoe UI" pitchFamily="34" charset="-120"/>
              </a:rPr>
              <a:t>08 / 36</a:t>
            </a:r>
            <a:endParaRPr lang="en-US" sz="950" dirty="0">
              <a:latin typeface="Plus Jakarta Sans"/>
            </a:endParaRPr>
          </a:p>
        </p:txBody>
      </p:sp>
      <p:sp>
        <p:nvSpPr>
          <p:cNvPr id="5" name="Text 3"/>
          <p:cNvSpPr txBox="1"/>
          <p:nvPr/>
        </p:nvSpPr>
        <p:spPr>
          <a:xfrm>
            <a:off x="640080" y="6345936"/>
            <a:ext cx="9997135" cy="228600"/>
          </a:xfrm>
          <a:prstGeom prst="rect">
            <a:avLst/>
          </a:prstGeom>
          <a:noFill/>
          <a:ln/>
        </p:spPr>
        <p:txBody>
          <a:bodyPr wrap="square" lIns="0" tIns="0" rIns="0" bIns="0" rtlCol="0" anchor="t"/>
          <a:lstStyle/>
          <a:p>
            <a:pPr algn="l" indent="0" marL="0">
              <a:buNone/>
            </a:pPr>
            <a:r>
              <a:rPr lang="en-US" sz="800" spc="50" kern="0" dirty="0">
                <a:solidFill>
                  <a:srgbClr val="BFBFBF"/>
                </a:solidFill>
                <a:latin typeface="Plus Jakarta Sans" pitchFamily="34" charset="0"/>
                <a:ea typeface="Segoe UI" pitchFamily="34" charset="-122"/>
                <a:cs typeface="Segoe UI" pitchFamily="34" charset="-120"/>
              </a:rPr>
              <a:t>BAUS25  ·  AUA24  ·  ICS16  ·  UDS14</a:t>
            </a:r>
            <a:endParaRPr lang="en-US" sz="800" dirty="0">
              <a:latin typeface="Plus Jakarta Sans"/>
            </a:endParaRPr>
          </a:p>
        </p:txBody>
      </p:sp>
      <p:sp>
        <p:nvSpPr>
          <p:cNvPr id="6" name="Text 4"/>
          <p:cNvSpPr txBox="1"/>
          <p:nvPr/>
        </p:nvSpPr>
        <p:spPr>
          <a:xfrm>
            <a:off x="640080" y="5669280"/>
            <a:ext cx="10911535" cy="566928"/>
          </a:xfrm>
          <a:prstGeom prst="rect">
            <a:avLst/>
          </a:prstGeom>
          <a:noFill/>
          <a:ln/>
        </p:spPr>
        <p:txBody>
          <a:bodyPr wrap="square" lIns="0" tIns="0" rIns="0" bIns="0" rtlCol="0" anchor="b"/>
          <a:lstStyle/>
          <a:p>
            <a:pPr algn="l" indent="0" marL="0">
              <a:buNone/>
            </a:pPr>
            <a:r>
              <a:rPr lang="en-US" sz="1200" i="1" dirty="0">
                <a:solidFill>
                  <a:srgbClr val="BFBFBF"/>
                </a:solidFill>
                <a:latin typeface="Plus Jakarta Sans" pitchFamily="34" charset="0"/>
                <a:ea typeface="Segoe UI" pitchFamily="34" charset="-122"/>
                <a:cs typeface="Segoe UI" pitchFamily="34" charset="-120"/>
              </a:rPr>
              <a:t>A small capacity may just be leakage. A weak contraction in the lab needs the real voiding history.</a:t>
            </a:r>
            <a:endParaRPr lang="en-US" sz="1200" dirty="0">
              <a:latin typeface="Plus Jakarta Sans"/>
            </a:endParaRPr>
          </a:p>
        </p:txBody>
      </p:sp>
      <p:sp>
        <p:nvSpPr>
          <p:cNvPr id="7" name="Shape 5"/>
          <p:cNvSpPr/>
          <p:nvPr/>
        </p:nvSpPr>
        <p:spPr>
          <a:xfrm>
            <a:off x="640080" y="1828800"/>
            <a:ext cx="457200" cy="457200"/>
          </a:xfrm>
          <a:prstGeom prst="ellipse">
            <a:avLst/>
          </a:prstGeom>
          <a:solidFill>
            <a:srgbClr val="05C489"/>
          </a:solidFill>
          <a:ln/>
        </p:spPr>
      </p:sp>
      <p:sp>
        <p:nvSpPr>
          <p:cNvPr id="8" name="Text 6"/>
          <p:cNvSpPr txBox="1"/>
          <p:nvPr/>
        </p:nvSpPr>
        <p:spPr>
          <a:xfrm>
            <a:off x="640080" y="182880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Plus Jakarta Sans" pitchFamily="34" charset="0"/>
                <a:ea typeface="Segoe UI Semibold" pitchFamily="34" charset="-122"/>
                <a:cs typeface="Segoe UI Semibold" pitchFamily="34" charset="-120"/>
              </a:rPr>
              <a:t>1</a:t>
            </a:r>
            <a:endParaRPr lang="en-US" sz="1300" dirty="0">
              <a:latin typeface="Plus Jakarta Sans"/>
            </a:endParaRPr>
          </a:p>
        </p:txBody>
      </p:sp>
      <p:sp>
        <p:nvSpPr>
          <p:cNvPr id="9" name="Text 7"/>
          <p:cNvSpPr txBox="1"/>
          <p:nvPr/>
        </p:nvSpPr>
        <p:spPr>
          <a:xfrm>
            <a:off x="1325880" y="1828800"/>
            <a:ext cx="10225735" cy="457200"/>
          </a:xfrm>
          <a:prstGeom prst="rect">
            <a:avLst/>
          </a:prstGeom>
          <a:noFill/>
          <a:ln/>
        </p:spPr>
        <p:txBody>
          <a:bodyPr wrap="square" lIns="0" tIns="0" rIns="0" bIns="0" rtlCol="0" anchor="ctr"/>
          <a:lstStyle/>
          <a:p>
            <a:pPr algn="l" indent="0" marL="0">
              <a:buNone/>
            </a:pPr>
            <a:r>
              <a:rPr lang="en-US" sz="1700" dirty="0">
                <a:solidFill>
                  <a:srgbClr val="FFFFFF"/>
                </a:solidFill>
                <a:latin typeface="Plus Jakarta Sans" pitchFamily="34" charset="0"/>
                <a:ea typeface="Segoe UI" pitchFamily="34" charset="-122"/>
                <a:cs typeface="Segoe UI" pitchFamily="34" charset="-120"/>
              </a:rPr>
              <a:t>Main symptom, and a stress leak shown</a:t>
            </a:r>
            <a:endParaRPr lang="en-US" sz="1700" dirty="0">
              <a:latin typeface="Plus Jakarta Sans"/>
            </a:endParaRPr>
          </a:p>
        </p:txBody>
      </p:sp>
      <p:sp>
        <p:nvSpPr>
          <p:cNvPr id="10" name="Shape 8"/>
          <p:cNvSpPr/>
          <p:nvPr/>
        </p:nvSpPr>
        <p:spPr>
          <a:xfrm>
            <a:off x="1325880" y="2560320"/>
            <a:ext cx="10225735" cy="0"/>
          </a:xfrm>
          <a:prstGeom prst="line">
            <a:avLst/>
          </a:prstGeom>
          <a:noFill/>
          <a:ln w="9525">
            <a:solidFill>
              <a:srgbClr val="3D3D3D"/>
            </a:solidFill>
            <a:prstDash val="solid"/>
          </a:ln>
        </p:spPr>
      </p:sp>
      <p:sp>
        <p:nvSpPr>
          <p:cNvPr id="11" name="Shape 9"/>
          <p:cNvSpPr/>
          <p:nvPr/>
        </p:nvSpPr>
        <p:spPr>
          <a:xfrm>
            <a:off x="640080" y="2578608"/>
            <a:ext cx="457200" cy="457200"/>
          </a:xfrm>
          <a:prstGeom prst="ellipse">
            <a:avLst/>
          </a:prstGeom>
          <a:solidFill>
            <a:srgbClr val="05C489"/>
          </a:solidFill>
          <a:ln/>
        </p:spPr>
      </p:sp>
      <p:sp>
        <p:nvSpPr>
          <p:cNvPr id="12" name="Text 10"/>
          <p:cNvSpPr txBox="1"/>
          <p:nvPr/>
        </p:nvSpPr>
        <p:spPr>
          <a:xfrm>
            <a:off x="640080" y="257860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Plus Jakarta Sans" pitchFamily="34" charset="0"/>
                <a:ea typeface="Segoe UI Semibold" pitchFamily="34" charset="-122"/>
                <a:cs typeface="Segoe UI Semibold" pitchFamily="34" charset="-120"/>
              </a:rPr>
              <a:t>2</a:t>
            </a:r>
            <a:endParaRPr lang="en-US" sz="1300" dirty="0">
              <a:latin typeface="Plus Jakarta Sans"/>
            </a:endParaRPr>
          </a:p>
        </p:txBody>
      </p:sp>
      <p:sp>
        <p:nvSpPr>
          <p:cNvPr id="13" name="Text 11"/>
          <p:cNvSpPr txBox="1"/>
          <p:nvPr/>
        </p:nvSpPr>
        <p:spPr>
          <a:xfrm>
            <a:off x="1325880" y="2578608"/>
            <a:ext cx="10225735" cy="457200"/>
          </a:xfrm>
          <a:prstGeom prst="rect">
            <a:avLst/>
          </a:prstGeom>
          <a:noFill/>
          <a:ln/>
        </p:spPr>
        <p:txBody>
          <a:bodyPr wrap="square" lIns="0" tIns="0" rIns="0" bIns="0" rtlCol="0" anchor="ctr"/>
          <a:lstStyle/>
          <a:p>
            <a:pPr algn="l" indent="0" marL="0">
              <a:buNone/>
            </a:pPr>
            <a:r>
              <a:rPr lang="en-US" sz="1700" dirty="0">
                <a:solidFill>
                  <a:srgbClr val="FFFFFF"/>
                </a:solidFill>
                <a:latin typeface="Plus Jakarta Sans" pitchFamily="34" charset="0"/>
                <a:ea typeface="Segoe UI" pitchFamily="34" charset="-122"/>
                <a:cs typeface="Segoe UI" pitchFamily="34" charset="-120"/>
              </a:rPr>
              <a:t>Urine, bladder diary, free flow and repeated residual</a:t>
            </a:r>
            <a:endParaRPr lang="en-US" sz="1700" dirty="0">
              <a:latin typeface="Plus Jakarta Sans"/>
            </a:endParaRPr>
          </a:p>
        </p:txBody>
      </p:sp>
      <p:sp>
        <p:nvSpPr>
          <p:cNvPr id="14" name="Shape 12"/>
          <p:cNvSpPr/>
          <p:nvPr/>
        </p:nvSpPr>
        <p:spPr>
          <a:xfrm>
            <a:off x="1325880" y="3310128"/>
            <a:ext cx="10225735" cy="0"/>
          </a:xfrm>
          <a:prstGeom prst="line">
            <a:avLst/>
          </a:prstGeom>
          <a:noFill/>
          <a:ln w="9525">
            <a:solidFill>
              <a:srgbClr val="3D3D3D"/>
            </a:solidFill>
            <a:prstDash val="solid"/>
          </a:ln>
        </p:spPr>
      </p:sp>
      <p:sp>
        <p:nvSpPr>
          <p:cNvPr id="15" name="Shape 13"/>
          <p:cNvSpPr/>
          <p:nvPr/>
        </p:nvSpPr>
        <p:spPr>
          <a:xfrm>
            <a:off x="640080" y="3328416"/>
            <a:ext cx="457200" cy="457200"/>
          </a:xfrm>
          <a:prstGeom prst="ellipse">
            <a:avLst/>
          </a:prstGeom>
          <a:solidFill>
            <a:srgbClr val="05C489"/>
          </a:solidFill>
          <a:ln/>
        </p:spPr>
      </p:sp>
      <p:sp>
        <p:nvSpPr>
          <p:cNvPr id="16" name="Text 14"/>
          <p:cNvSpPr txBox="1"/>
          <p:nvPr/>
        </p:nvSpPr>
        <p:spPr>
          <a:xfrm>
            <a:off x="640080" y="332841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Plus Jakarta Sans" pitchFamily="34" charset="0"/>
                <a:ea typeface="Segoe UI Semibold" pitchFamily="34" charset="-122"/>
                <a:cs typeface="Segoe UI Semibold" pitchFamily="34" charset="-120"/>
              </a:rPr>
              <a:t>3</a:t>
            </a:r>
            <a:endParaRPr lang="en-US" sz="1300" dirty="0">
              <a:latin typeface="Plus Jakarta Sans"/>
            </a:endParaRPr>
          </a:p>
        </p:txBody>
      </p:sp>
      <p:sp>
        <p:nvSpPr>
          <p:cNvPr id="17" name="Text 15"/>
          <p:cNvSpPr txBox="1"/>
          <p:nvPr/>
        </p:nvSpPr>
        <p:spPr>
          <a:xfrm>
            <a:off x="1325880" y="3328416"/>
            <a:ext cx="10225735" cy="457200"/>
          </a:xfrm>
          <a:prstGeom prst="rect">
            <a:avLst/>
          </a:prstGeom>
          <a:noFill/>
          <a:ln/>
        </p:spPr>
        <p:txBody>
          <a:bodyPr wrap="square" lIns="0" tIns="0" rIns="0" bIns="0" rtlCol="0" anchor="ctr"/>
          <a:lstStyle/>
          <a:p>
            <a:pPr algn="l" indent="0" marL="0">
              <a:buNone/>
            </a:pPr>
            <a:r>
              <a:rPr lang="en-US" sz="1700" dirty="0">
                <a:solidFill>
                  <a:srgbClr val="FFFFFF"/>
                </a:solidFill>
                <a:latin typeface="Plus Jakarta Sans" pitchFamily="34" charset="0"/>
                <a:ea typeface="Segoe UI" pitchFamily="34" charset="-122"/>
                <a:cs typeface="Segoe UI" pitchFamily="34" charset="-120"/>
              </a:rPr>
              <a:t>Urethral anatomy and future access</a:t>
            </a:r>
            <a:endParaRPr lang="en-US" sz="1700" dirty="0">
              <a:latin typeface="Plus Jakarta Sans"/>
            </a:endParaRPr>
          </a:p>
        </p:txBody>
      </p:sp>
      <p:sp>
        <p:nvSpPr>
          <p:cNvPr id="18" name="Shape 16"/>
          <p:cNvSpPr/>
          <p:nvPr/>
        </p:nvSpPr>
        <p:spPr>
          <a:xfrm>
            <a:off x="1325880" y="4059936"/>
            <a:ext cx="10225735" cy="0"/>
          </a:xfrm>
          <a:prstGeom prst="line">
            <a:avLst/>
          </a:prstGeom>
          <a:noFill/>
          <a:ln w="9525">
            <a:solidFill>
              <a:srgbClr val="3D3D3D"/>
            </a:solidFill>
            <a:prstDash val="solid"/>
          </a:ln>
        </p:spPr>
      </p:sp>
      <p:sp>
        <p:nvSpPr>
          <p:cNvPr id="19" name="Shape 17"/>
          <p:cNvSpPr/>
          <p:nvPr/>
        </p:nvSpPr>
        <p:spPr>
          <a:xfrm>
            <a:off x="640080" y="4078224"/>
            <a:ext cx="457200" cy="457200"/>
          </a:xfrm>
          <a:prstGeom prst="ellipse">
            <a:avLst/>
          </a:prstGeom>
          <a:solidFill>
            <a:srgbClr val="05C489"/>
          </a:solidFill>
          <a:ln/>
        </p:spPr>
      </p:sp>
      <p:sp>
        <p:nvSpPr>
          <p:cNvPr id="20" name="Text 18"/>
          <p:cNvSpPr txBox="1"/>
          <p:nvPr/>
        </p:nvSpPr>
        <p:spPr>
          <a:xfrm>
            <a:off x="640080" y="407822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Plus Jakarta Sans" pitchFamily="34" charset="0"/>
                <a:ea typeface="Segoe UI Semibold" pitchFamily="34" charset="-122"/>
                <a:cs typeface="Segoe UI Semibold" pitchFamily="34" charset="-120"/>
              </a:rPr>
              <a:t>4</a:t>
            </a:r>
            <a:endParaRPr lang="en-US" sz="1300" dirty="0">
              <a:latin typeface="Plus Jakarta Sans"/>
            </a:endParaRPr>
          </a:p>
        </p:txBody>
      </p:sp>
      <p:sp>
        <p:nvSpPr>
          <p:cNvPr id="21" name="Text 19"/>
          <p:cNvSpPr txBox="1"/>
          <p:nvPr/>
        </p:nvSpPr>
        <p:spPr>
          <a:xfrm>
            <a:off x="1325880" y="4078224"/>
            <a:ext cx="10225735" cy="457200"/>
          </a:xfrm>
          <a:prstGeom prst="rect">
            <a:avLst/>
          </a:prstGeom>
          <a:noFill/>
          <a:ln/>
        </p:spPr>
        <p:txBody>
          <a:bodyPr wrap="square" lIns="0" tIns="0" rIns="0" bIns="0" rtlCol="0" anchor="ctr"/>
          <a:lstStyle/>
          <a:p>
            <a:pPr algn="l" indent="0" marL="0">
              <a:buNone/>
            </a:pPr>
            <a:r>
              <a:rPr lang="en-US" sz="1700" dirty="0">
                <a:solidFill>
                  <a:srgbClr val="FFFFFF"/>
                </a:solidFill>
                <a:latin typeface="Plus Jakarta Sans" pitchFamily="34" charset="0"/>
                <a:ea typeface="Segoe UI" pitchFamily="34" charset="-122"/>
                <a:cs typeface="Segoe UI" pitchFamily="34" charset="-120"/>
              </a:rPr>
              <a:t>The urodynamic strategy your guideline recommends</a:t>
            </a:r>
            <a:endParaRPr lang="en-US" sz="1700" dirty="0">
              <a:latin typeface="Plus Jakarta Sans"/>
            </a:endParaRPr>
          </a:p>
        </p:txBody>
      </p:sp>
      <p:sp>
        <p:nvSpPr>
          <p:cNvPr id="22" name="Shape 20"/>
          <p:cNvSpPr/>
          <p:nvPr/>
        </p:nvSpPr>
        <p:spPr>
          <a:xfrm>
            <a:off x="1325880" y="4809744"/>
            <a:ext cx="10225735" cy="0"/>
          </a:xfrm>
          <a:prstGeom prst="line">
            <a:avLst/>
          </a:prstGeom>
          <a:noFill/>
          <a:ln w="9525">
            <a:solidFill>
              <a:srgbClr val="3D3D3D"/>
            </a:solidFill>
            <a:prstDash val="solid"/>
          </a:ln>
        </p:spPr>
      </p:sp>
      <p:sp>
        <p:nvSpPr>
          <p:cNvPr id="23" name="Shape 21"/>
          <p:cNvSpPr/>
          <p:nvPr/>
        </p:nvSpPr>
        <p:spPr>
          <a:xfrm>
            <a:off x="640080" y="4828032"/>
            <a:ext cx="457200" cy="457200"/>
          </a:xfrm>
          <a:prstGeom prst="ellipse">
            <a:avLst/>
          </a:prstGeom>
          <a:solidFill>
            <a:srgbClr val="05C489"/>
          </a:solidFill>
          <a:ln/>
        </p:spPr>
      </p:sp>
      <p:sp>
        <p:nvSpPr>
          <p:cNvPr id="24" name="Text 22"/>
          <p:cNvSpPr txBox="1"/>
          <p:nvPr/>
        </p:nvSpPr>
        <p:spPr>
          <a:xfrm>
            <a:off x="640080" y="48280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Plus Jakarta Sans" pitchFamily="34" charset="0"/>
                <a:ea typeface="Segoe UI Semibold" pitchFamily="34" charset="-122"/>
                <a:cs typeface="Segoe UI Semibold" pitchFamily="34" charset="-120"/>
              </a:rPr>
              <a:t>5</a:t>
            </a:r>
            <a:endParaRPr lang="en-US" sz="1300" dirty="0">
              <a:latin typeface="Plus Jakarta Sans"/>
            </a:endParaRPr>
          </a:p>
        </p:txBody>
      </p:sp>
      <p:sp>
        <p:nvSpPr>
          <p:cNvPr id="25" name="Text 23"/>
          <p:cNvSpPr txBox="1"/>
          <p:nvPr/>
        </p:nvSpPr>
        <p:spPr>
          <a:xfrm>
            <a:off x="1325880" y="4828032"/>
            <a:ext cx="10225735" cy="457200"/>
          </a:xfrm>
          <a:prstGeom prst="rect">
            <a:avLst/>
          </a:prstGeom>
          <a:noFill/>
          <a:ln/>
        </p:spPr>
        <p:txBody>
          <a:bodyPr wrap="square" lIns="0" tIns="0" rIns="0" bIns="0" rtlCol="0" anchor="ctr"/>
          <a:lstStyle/>
          <a:p>
            <a:pPr algn="l" indent="0" marL="0">
              <a:buNone/>
            </a:pPr>
            <a:r>
              <a:rPr lang="en-US" sz="1700" dirty="0">
                <a:solidFill>
                  <a:srgbClr val="FFFFFF"/>
                </a:solidFill>
                <a:latin typeface="Plus Jakarta Sans" pitchFamily="34" charset="0"/>
                <a:ea typeface="Segoe UI" pitchFamily="34" charset="-122"/>
                <a:cs typeface="Segoe UI" pitchFamily="34" charset="-120"/>
              </a:rPr>
              <a:t>Is storage safe? Can he empty? Is the outlet stable?</a:t>
            </a:r>
            <a:endParaRPr lang="en-US" sz="1700" dirty="0">
              <a:latin typeface="Plus Jakarta Sans"/>
            </a:endParaRPr>
          </a:p>
        </p:txBody>
      </p:sp>
      <p:sp>
        <p:nvSpPr>
          <p:cNvPr id="9001" name="replacement-title">
            <a:extLst>
              <a:ext uri="{FF2B5EF4-FFF2-40B4-BE49-F238E27FC236}">
                <a16:creationId xmlns:a16="http://schemas.microsoft.com/office/drawing/2014/main" id="{DE7AA877-61D7-4BCE-8903-EF00BE0E31CB}"/>
              </a:ext>
            </a:extLst>
          </p:cNvPr>
          <p:cNvSpPr>
            <a:spLocks noGrp="1"/>
          </p:cNvSpPr>
          <p:nvPr/>
        </p:nvSpPr>
        <p:spPr>
          <a:xfrm>
            <a:off x="638175" y="752475"/>
            <a:ext cx="10915650" cy="800100"/>
          </a:xfrm>
          <a:prstGeom prst="rect">
            <a:avLst/>
          </a:prstGeom>
          <a:noFill/>
          <a:ln w="0">
            <a:noFill/>
          </a:ln>
        </p:spPr>
        <p:txBody>
          <a:bodyPr anchor="ctr"/>
          <a:lstStyle>
            <a:defPPr>
              <a:defRPr sz="2625" b="1">
                <a:solidFill>
                  <a:srgbClr val="FFFFFF"/>
                </a:solidFill>
                <a:latin typeface="Plus Jakarta Sans"/>
              </a:defRPr>
            </a:defPPr>
            <a:lvl1pPr>
              <a:defRPr sz="2625" b="1">
                <a:solidFill>
                  <a:srgbClr val="FFFFFF"/>
                </a:solidFill>
                <a:latin typeface="Plus Jakarta Sans"/>
              </a:defRPr>
            </a:lvl1pPr>
            <a:lvl2pPr>
              <a:defRPr sz="2625" b="1">
                <a:solidFill>
                  <a:srgbClr val="FFFFFF"/>
                </a:solidFill>
                <a:latin typeface="Plus Jakarta Sans"/>
              </a:defRPr>
            </a:lvl2pPr>
            <a:lvl3pPr>
              <a:defRPr sz="2625" b="1">
                <a:solidFill>
                  <a:srgbClr val="FFFFFF"/>
                </a:solidFill>
                <a:latin typeface="Plus Jakarta Sans"/>
              </a:defRPr>
            </a:lvl3pPr>
            <a:lvl4pPr>
              <a:defRPr sz="2625" b="1">
                <a:solidFill>
                  <a:srgbClr val="FFFFFF"/>
                </a:solidFill>
                <a:latin typeface="Plus Jakarta Sans"/>
              </a:defRPr>
            </a:lvl4pPr>
            <a:lvl5pPr>
              <a:defRPr sz="2625" b="1">
                <a:solidFill>
                  <a:srgbClr val="FFFFFF"/>
                </a:solidFill>
                <a:latin typeface="Plus Jakarta Sans"/>
              </a:defRPr>
            </a:lvl5pPr>
            <a:lvl6pPr>
              <a:defRPr sz="2625" b="1">
                <a:solidFill>
                  <a:srgbClr val="FFFFFF"/>
                </a:solidFill>
                <a:latin typeface="Plus Jakarta Sans"/>
              </a:defRPr>
            </a:lvl6pPr>
            <a:lvl7pPr>
              <a:defRPr sz="2625" b="1">
                <a:solidFill>
                  <a:srgbClr val="FFFFFF"/>
                </a:solidFill>
                <a:latin typeface="Plus Jakarta Sans"/>
              </a:defRPr>
            </a:lvl7pPr>
            <a:lvl8pPr>
              <a:defRPr sz="2625" b="1">
                <a:solidFill>
                  <a:srgbClr val="FFFFFF"/>
                </a:solidFill>
                <a:latin typeface="Plus Jakarta Sans"/>
              </a:defRPr>
            </a:lvl8pPr>
            <a:lvl9pPr>
              <a:defRPr sz="2625" b="1">
                <a:solidFill>
                  <a:srgbClr val="FFFFFF"/>
                </a:solidFill>
                <a:latin typeface="Plus Jakarta Sans"/>
              </a:defRPr>
            </a:lvl9pPr>
          </a:lstStyle>
          <a:p>
            <a:pPr>
              <a:defRPr sz="2625" b="1">
                <a:solidFill>
                  <a:srgbClr val="FFFFFF"/>
                </a:solidFill>
                <a:latin typeface="Plus Jakarta Sans"/>
              </a:defRPr>
            </a:pPr>
            <a:r>
              <a:rPr sz="2625" b="1">
                <a:solidFill>
                  <a:srgbClr val="FFFFFF"/>
                </a:solidFill>
                <a:latin typeface="Plus Jakarta Sans"/>
              </a:rPr>
              <a:t>Interpreting an imperfect study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1616"/>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05C489"/>
                </a:solidFill>
                <a:latin typeface="Plus Jakarta Sans" pitchFamily="34" charset="0"/>
                <a:ea typeface="Segoe UI" pitchFamily="34" charset="-122"/>
                <a:cs typeface="Segoe UI" pitchFamily="34" charset="-120"/>
              </a:rPr>
              <a:t>DECIDE BEFORE THEATRE</a:t>
            </a:r>
            <a:endParaRPr lang="en-US" sz="950" dirty="0">
              <a:latin typeface="Plus Jakarta Sans"/>
            </a:endParaRPr>
          </a:p>
        </p:txBody>
      </p:sp>
      <p:sp>
        <p:nvSpPr>
          <p:cNvPr id="3" name="Text 1"/>
          <p:cNvSpPr txBox="1"/>
          <p:nvPr/>
        </p:nvSpPr>
        <p:spPr>
          <a:xfrm>
            <a:off x="6979615" y="384048"/>
            <a:ext cx="4572000" cy="274320"/>
          </a:xfrm>
          <a:prstGeom prst="rect">
            <a:avLst/>
          </a:prstGeom>
          <a:noFill/>
          <a:ln/>
        </p:spPr>
        <p:txBody>
          <a:bodyPr wrap="square" lIns="0" tIns="0" rIns="0" bIns="0" rtlCol="0" anchor="t"/>
          <a:lstStyle/>
          <a:p>
            <a:pPr algn="r" indent="0" marL="0">
              <a:buNone/>
            </a:pPr>
            <a:r>
              <a:rPr lang="en-US" sz="950" spc="100" kern="0" dirty="0">
                <a:solidFill>
                  <a:srgbClr val="BFBFBF"/>
                </a:solidFill>
                <a:latin typeface="Plus Jakarta Sans" pitchFamily="34" charset="0"/>
                <a:ea typeface="Segoe UI" pitchFamily="34" charset="-122"/>
                <a:cs typeface="Segoe UI" pitchFamily="34" charset="-120"/>
              </a:rPr>
              <a:t>09 / 36</a:t>
            </a:r>
            <a:endParaRPr lang="en-US" sz="950" dirty="0">
              <a:latin typeface="Plus Jakarta Sans"/>
            </a:endParaRPr>
          </a:p>
        </p:txBody>
      </p:sp>
      <p:sp>
        <p:nvSpPr>
          <p:cNvPr id="5" name="Text 3"/>
          <p:cNvSpPr txBox="1"/>
          <p:nvPr/>
        </p:nvSpPr>
        <p:spPr>
          <a:xfrm>
            <a:off x="640080" y="6345936"/>
            <a:ext cx="9997135" cy="228600"/>
          </a:xfrm>
          <a:prstGeom prst="rect">
            <a:avLst/>
          </a:prstGeom>
          <a:noFill/>
          <a:ln/>
        </p:spPr>
        <p:txBody>
          <a:bodyPr wrap="square" lIns="0" tIns="0" rIns="0" bIns="0" rtlCol="0" anchor="t"/>
          <a:lstStyle/>
          <a:p>
            <a:pPr algn="l" indent="0" marL="0">
              <a:buNone/>
            </a:pPr>
            <a:r>
              <a:rPr lang="en-US" sz="800" spc="50" kern="0" dirty="0">
                <a:solidFill>
                  <a:srgbClr val="BFBFBF"/>
                </a:solidFill>
                <a:latin typeface="Plus Jakarta Sans" pitchFamily="34" charset="0"/>
                <a:ea typeface="Segoe UI" pitchFamily="34" charset="-122"/>
                <a:cs typeface="Segoe UI" pitchFamily="34" charset="-120"/>
              </a:rPr>
              <a:t>AUSCO26  ·  CCSAFETY  ·  AUA24  ·  RT22  ·  FRAIL26  ·  REGRET26  ·  DEVICE26  ·  REPORT26</a:t>
            </a:r>
            <a:endParaRPr lang="en-US" sz="800" dirty="0">
              <a:latin typeface="Plus Jakarta Sans"/>
            </a:endParaRPr>
          </a:p>
        </p:txBody>
      </p:sp>
      <p:sp>
        <p:nvSpPr>
          <p:cNvPr id="6" name="Text 4"/>
          <p:cNvSpPr txBox="1"/>
          <p:nvPr/>
        </p:nvSpPr>
        <p:spPr>
          <a:xfrm>
            <a:off x="640080" y="5669280"/>
            <a:ext cx="10911535" cy="566928"/>
          </a:xfrm>
          <a:prstGeom prst="rect">
            <a:avLst/>
          </a:prstGeom>
          <a:noFill/>
          <a:ln/>
        </p:spPr>
        <p:txBody>
          <a:bodyPr wrap="square" lIns="0" tIns="0" rIns="0" bIns="0" rtlCol="0" anchor="b"/>
          <a:lstStyle/>
          <a:p>
            <a:pPr algn="l" indent="0" marL="0">
              <a:buNone/>
            </a:pPr>
            <a:r>
              <a:rPr lang="en-US" sz="1200" i="1" dirty="0">
                <a:solidFill>
                  <a:srgbClr val="BFBFBF"/>
                </a:solidFill>
                <a:latin typeface="Plus Jakarta Sans" pitchFamily="34" charset="0"/>
                <a:ea typeface="Segoe UI" pitchFamily="34" charset="-122"/>
                <a:cs typeface="Segoe UI" pitchFamily="34" charset="-120"/>
              </a:rPr>
              <a:t>These two numbers do not compare the devices. The regret data say: counsel about leakage and future surgery.</a:t>
            </a:r>
            <a:endParaRPr lang="en-US" sz="1200" dirty="0">
              <a:latin typeface="Plus Jakarta Sans"/>
            </a:endParaRPr>
          </a:p>
        </p:txBody>
      </p:sp>
      <p:sp>
        <p:nvSpPr>
          <p:cNvPr id="7" name="Shape 5"/>
          <p:cNvSpPr/>
          <p:nvPr/>
        </p:nvSpPr>
        <p:spPr>
          <a:xfrm>
            <a:off x="640080" y="1783080"/>
            <a:ext cx="5295748" cy="3794760"/>
          </a:xfrm>
          <a:prstGeom prst="roundRect">
            <a:avLst>
              <a:gd name="adj" fmla="val 3373"/>
            </a:avLst>
          </a:prstGeom>
          <a:solidFill>
            <a:srgbClr val="2D2D2D"/>
          </a:solidFill>
          <a:ln/>
        </p:spPr>
      </p:sp>
      <p:sp>
        <p:nvSpPr>
          <p:cNvPr id="8" name="Text 6"/>
          <p:cNvSpPr txBox="1"/>
          <p:nvPr/>
        </p:nvSpPr>
        <p:spPr>
          <a:xfrm>
            <a:off x="1005840" y="2103120"/>
            <a:ext cx="4564228" cy="365760"/>
          </a:xfrm>
          <a:prstGeom prst="rect">
            <a:avLst/>
          </a:prstGeom>
          <a:noFill/>
          <a:ln/>
        </p:spPr>
        <p:txBody>
          <a:bodyPr wrap="square" lIns="0" tIns="0" rIns="0" bIns="0" rtlCol="0" anchor="t"/>
          <a:lstStyle/>
          <a:p>
            <a:pPr algn="l" indent="0" marL="0">
              <a:buNone/>
            </a:pPr>
            <a:r>
              <a:rPr lang="en-US" sz="1500" dirty="0">
                <a:solidFill>
                  <a:srgbClr val="05C489"/>
                </a:solidFill>
                <a:latin typeface="Plus Jakarta Sans" pitchFamily="34" charset="0"/>
                <a:ea typeface="Segoe UI Semibold" pitchFamily="34" charset="-122"/>
                <a:cs typeface="Segoe UI Semibold" pitchFamily="34" charset="-120"/>
              </a:rPr>
              <a:t>AMS 800: zero-pad use</a:t>
            </a:r>
            <a:endParaRPr lang="en-US" sz="1500" dirty="0">
              <a:latin typeface="Plus Jakarta Sans"/>
            </a:endParaRPr>
          </a:p>
        </p:txBody>
      </p:sp>
      <p:sp>
        <p:nvSpPr>
          <p:cNvPr id="9" name="Text 7"/>
          <p:cNvSpPr txBox="1"/>
          <p:nvPr/>
        </p:nvSpPr>
        <p:spPr>
          <a:xfrm>
            <a:off x="1005840" y="2468880"/>
            <a:ext cx="4564228" cy="1234440"/>
          </a:xfrm>
          <a:prstGeom prst="rect">
            <a:avLst/>
          </a:prstGeom>
          <a:noFill/>
          <a:ln/>
        </p:spPr>
        <p:txBody>
          <a:bodyPr wrap="square" lIns="0" tIns="0" rIns="0" bIns="0" rtlCol="0" anchor="ctr"/>
          <a:lstStyle/>
          <a:p>
            <a:pPr algn="l" indent="0" marL="0">
              <a:buNone/>
            </a:pPr>
            <a:r>
              <a:rPr lang="en-US" sz="6600" dirty="0">
                <a:solidFill>
                  <a:srgbClr val="89FF00"/>
                </a:solidFill>
                <a:latin typeface="Plus Jakarta Sans" pitchFamily="34" charset="0"/>
                <a:ea typeface="Segoe UI Semibold" pitchFamily="34" charset="-122"/>
                <a:cs typeface="Segoe UI Semibold" pitchFamily="34" charset="-120"/>
              </a:rPr>
              <a:t>60%</a:t>
            </a:r>
            <a:endParaRPr lang="en-US" sz="6600" dirty="0">
              <a:solidFill>
                <a:srgbClr val="89FF00"/>
              </a:solidFill>
              <a:latin typeface="Plus Jakarta Sans"/>
            </a:endParaRPr>
          </a:p>
        </p:txBody>
      </p:sp>
      <p:sp>
        <p:nvSpPr>
          <p:cNvPr id="10" name="Text 8"/>
          <p:cNvSpPr txBox="1"/>
          <p:nvPr/>
        </p:nvSpPr>
        <p:spPr>
          <a:xfrm>
            <a:off x="1005840" y="3794760"/>
            <a:ext cx="4564228" cy="822960"/>
          </a:xfrm>
          <a:prstGeom prst="rect">
            <a:avLst/>
          </a:prstGeom>
          <a:noFill/>
          <a:ln/>
        </p:spPr>
        <p:txBody>
          <a:bodyPr wrap="square" lIns="0" tIns="0" rIns="0" bIns="0" rtlCol="0" anchor="t"/>
          <a:lstStyle/>
          <a:p>
            <a:pPr algn="l" indent="0" marL="0">
              <a:lnSpc>
                <a:spcPct val="120000"/>
              </a:lnSpc>
              <a:buNone/>
            </a:pPr>
            <a:r>
              <a:rPr lang="en-US" sz="1400" dirty="0">
                <a:solidFill>
                  <a:srgbClr val="FFFFFF"/>
                </a:solidFill>
                <a:latin typeface="Plus Jakarta Sans" pitchFamily="34" charset="0"/>
                <a:ea typeface="Segoe UI" pitchFamily="34" charset="-122"/>
                <a:cs typeface="Segoe UI" pitchFamily="34" charset="-120"/>
              </a:rPr>
              <a:t>61 / 101 at 12 months after activation</a:t>
            </a:r>
            <a:endParaRPr lang="en-US" sz="1400" dirty="0">
              <a:latin typeface="Plus Jakarta Sans"/>
            </a:endParaRPr>
          </a:p>
          <a:p>
            <a:pPr algn="l" indent="0" marL="0">
              <a:lnSpc>
                <a:spcPct val="120000"/>
              </a:lnSpc>
              <a:buNone/>
            </a:pPr>
            <a:r>
              <a:rPr lang="en-US" sz="1400" dirty="0">
                <a:solidFill>
                  <a:srgbClr val="FFFFFF"/>
                </a:solidFill>
                <a:latin typeface="Plus Jakarta Sans" pitchFamily="34" charset="0"/>
                <a:ea typeface="Segoe UI" pitchFamily="34" charset="-122"/>
                <a:cs typeface="Segoe UI" pitchFamily="34" charset="-120"/>
              </a:rPr>
              <a:t>AUSCO 2026: 115 primary implants</a:t>
            </a:r>
            <a:endParaRPr lang="en-US" sz="1400" dirty="0">
              <a:latin typeface="Plus Jakarta Sans"/>
            </a:endParaRPr>
          </a:p>
        </p:txBody>
      </p:sp>
      <p:sp>
        <p:nvSpPr>
          <p:cNvPr id="11" name="Text 9"/>
          <p:cNvSpPr txBox="1"/>
          <p:nvPr/>
        </p:nvSpPr>
        <p:spPr>
          <a:xfrm>
            <a:off x="1005840" y="4709160"/>
            <a:ext cx="4564228" cy="731520"/>
          </a:xfrm>
          <a:prstGeom prst="rect">
            <a:avLst/>
          </a:prstGeom>
          <a:noFill/>
          <a:ln/>
        </p:spPr>
        <p:txBody>
          <a:bodyPr wrap="square" lIns="0" tIns="0" rIns="0" bIns="0" rtlCol="0" anchor="t"/>
          <a:lstStyle/>
          <a:p>
            <a:pPr algn="l" indent="0" marL="0">
              <a:lnSpc>
                <a:spcPct val="115000"/>
              </a:lnSpc>
              <a:buNone/>
            </a:pPr>
            <a:r>
              <a:rPr lang="en-US" sz="1200" i="1" dirty="0">
                <a:solidFill>
                  <a:srgbClr val="BFBFBF"/>
                </a:solidFill>
                <a:latin typeface="Plus Jakarta Sans" pitchFamily="34" charset="0"/>
                <a:ea typeface="Segoe UI" pitchFamily="34" charset="-122"/>
                <a:cs typeface="Segoe UI" pitchFamily="34" charset="-120"/>
              </a:rPr>
              <a:t>Manufacturer-funded, no comparison group, missing data, one year of follow-up.</a:t>
            </a:r>
            <a:endParaRPr lang="en-US" sz="1200" dirty="0">
              <a:latin typeface="Plus Jakarta Sans"/>
            </a:endParaRPr>
          </a:p>
        </p:txBody>
      </p:sp>
      <p:sp>
        <p:nvSpPr>
          <p:cNvPr id="12" name="Shape 10"/>
          <p:cNvSpPr/>
          <p:nvPr/>
        </p:nvSpPr>
        <p:spPr>
          <a:xfrm>
            <a:off x="6255868" y="1783080"/>
            <a:ext cx="5295748" cy="3794760"/>
          </a:xfrm>
          <a:prstGeom prst="roundRect">
            <a:avLst>
              <a:gd name="adj" fmla="val 3373"/>
            </a:avLst>
          </a:prstGeom>
          <a:solidFill>
            <a:srgbClr val="2D2D2D"/>
          </a:solidFill>
          <a:ln/>
        </p:spPr>
      </p:sp>
      <p:sp>
        <p:nvSpPr>
          <p:cNvPr id="13" name="Text 11"/>
          <p:cNvSpPr txBox="1"/>
          <p:nvPr/>
        </p:nvSpPr>
        <p:spPr>
          <a:xfrm>
            <a:off x="6621628" y="2103120"/>
            <a:ext cx="4564228" cy="365760"/>
          </a:xfrm>
          <a:prstGeom prst="rect">
            <a:avLst/>
          </a:prstGeom>
          <a:noFill/>
          <a:ln/>
        </p:spPr>
        <p:txBody>
          <a:bodyPr wrap="square" lIns="0" tIns="0" rIns="0" bIns="0" rtlCol="0" anchor="t"/>
          <a:lstStyle/>
          <a:p>
            <a:pPr algn="l" indent="0" marL="0">
              <a:buNone/>
            </a:pPr>
            <a:r>
              <a:rPr lang="en-US" sz="1500" dirty="0">
                <a:solidFill>
                  <a:srgbClr val="05C489"/>
                </a:solidFill>
                <a:latin typeface="Plus Jakarta Sans" pitchFamily="34" charset="0"/>
                <a:ea typeface="Segoe UI Semibold" pitchFamily="34" charset="-122"/>
                <a:cs typeface="Segoe UI Semibold" pitchFamily="34" charset="-120"/>
              </a:rPr>
              <a:t>ContiClassic: device survival</a:t>
            </a:r>
            <a:endParaRPr lang="en-US" sz="1500" dirty="0">
              <a:latin typeface="Plus Jakarta Sans"/>
            </a:endParaRPr>
          </a:p>
        </p:txBody>
      </p:sp>
      <p:sp>
        <p:nvSpPr>
          <p:cNvPr id="14" name="Text 12"/>
          <p:cNvSpPr txBox="1"/>
          <p:nvPr/>
        </p:nvSpPr>
        <p:spPr>
          <a:xfrm>
            <a:off x="6621628" y="2468880"/>
            <a:ext cx="4564228" cy="1234440"/>
          </a:xfrm>
          <a:prstGeom prst="rect">
            <a:avLst/>
          </a:prstGeom>
          <a:noFill/>
          <a:ln/>
        </p:spPr>
        <p:txBody>
          <a:bodyPr wrap="square" lIns="0" tIns="0" rIns="0" bIns="0" rtlCol="0" anchor="ctr"/>
          <a:lstStyle/>
          <a:p>
            <a:pPr algn="l" indent="0" marL="0">
              <a:buNone/>
            </a:pPr>
            <a:r>
              <a:rPr lang="en-US" sz="6600" dirty="0">
                <a:solidFill>
                  <a:srgbClr val="89FF00"/>
                </a:solidFill>
                <a:latin typeface="Plus Jakarta Sans" pitchFamily="34" charset="0"/>
                <a:ea typeface="Segoe UI Semibold" pitchFamily="34" charset="-122"/>
                <a:cs typeface="Segoe UI Semibold" pitchFamily="34" charset="-120"/>
              </a:rPr>
              <a:t>93.2%</a:t>
            </a:r>
            <a:endParaRPr lang="en-US" sz="6600" dirty="0">
              <a:solidFill>
                <a:srgbClr val="89FF00"/>
              </a:solidFill>
              <a:latin typeface="Plus Jakarta Sans"/>
            </a:endParaRPr>
          </a:p>
        </p:txBody>
      </p:sp>
      <p:sp>
        <p:nvSpPr>
          <p:cNvPr id="15" name="Text 13"/>
          <p:cNvSpPr txBox="1"/>
          <p:nvPr/>
        </p:nvSpPr>
        <p:spPr>
          <a:xfrm>
            <a:off x="6621628" y="3794760"/>
            <a:ext cx="4564228" cy="822960"/>
          </a:xfrm>
          <a:prstGeom prst="rect">
            <a:avLst/>
          </a:prstGeom>
          <a:noFill/>
          <a:ln/>
        </p:spPr>
        <p:txBody>
          <a:bodyPr wrap="square" lIns="0" tIns="0" rIns="0" bIns="0" rtlCol="0" anchor="t"/>
          <a:lstStyle/>
          <a:p>
            <a:pPr algn="l" indent="0" marL="0">
              <a:lnSpc>
                <a:spcPct val="120000"/>
              </a:lnSpc>
              <a:buNone/>
            </a:pPr>
            <a:r>
              <a:rPr lang="en-US" sz="1400" dirty="0">
                <a:solidFill>
                  <a:srgbClr val="FFFFFF"/>
                </a:solidFill>
                <a:latin typeface="Plus Jakarta Sans" pitchFamily="34" charset="0"/>
                <a:ea typeface="Segoe UI" pitchFamily="34" charset="-122"/>
                <a:cs typeface="Segoe UI" pitchFamily="34" charset="-120"/>
              </a:rPr>
              <a:t>12-month Kaplan–Meier estimate</a:t>
            </a:r>
            <a:endParaRPr lang="en-US" sz="1400" dirty="0">
              <a:latin typeface="Plus Jakarta Sans"/>
            </a:endParaRPr>
          </a:p>
          <a:p>
            <a:pPr algn="l" indent="0" marL="0">
              <a:lnSpc>
                <a:spcPct val="120000"/>
              </a:lnSpc>
              <a:buNone/>
            </a:pPr>
            <a:r>
              <a:rPr lang="en-US" sz="1400" dirty="0">
                <a:solidFill>
                  <a:srgbClr val="FFFFFF"/>
                </a:solidFill>
                <a:latin typeface="Plus Jakarta Sans" pitchFamily="34" charset="0"/>
                <a:ea typeface="Segoe UI" pitchFamily="34" charset="-122"/>
                <a:cs typeface="Segoe UI" pitchFamily="34" charset="-120"/>
              </a:rPr>
              <a:t>First 116 recipients, mixed indications</a:t>
            </a:r>
            <a:endParaRPr lang="en-US" sz="1400" dirty="0">
              <a:latin typeface="Plus Jakarta Sans"/>
            </a:endParaRPr>
          </a:p>
        </p:txBody>
      </p:sp>
      <p:sp>
        <p:nvSpPr>
          <p:cNvPr id="16" name="Text 14"/>
          <p:cNvSpPr txBox="1"/>
          <p:nvPr/>
        </p:nvSpPr>
        <p:spPr>
          <a:xfrm>
            <a:off x="6621628" y="4709160"/>
            <a:ext cx="4564228" cy="731520"/>
          </a:xfrm>
          <a:prstGeom prst="rect">
            <a:avLst/>
          </a:prstGeom>
          <a:noFill/>
          <a:ln/>
        </p:spPr>
        <p:txBody>
          <a:bodyPr wrap="square" lIns="0" tIns="0" rIns="0" bIns="0" rtlCol="0" anchor="t"/>
          <a:lstStyle/>
          <a:p>
            <a:pPr algn="l" indent="0" marL="0">
              <a:lnSpc>
                <a:spcPct val="115000"/>
              </a:lnSpc>
              <a:buNone/>
            </a:pPr>
            <a:r>
              <a:rPr lang="en-US" sz="1200" i="1" dirty="0">
                <a:solidFill>
                  <a:srgbClr val="BFBFBF"/>
                </a:solidFill>
                <a:latin typeface="Plus Jakarta Sans" pitchFamily="34" charset="0"/>
                <a:ea typeface="Segoe UI" pitchFamily="34" charset="-122"/>
                <a:cs typeface="Segoe UI" pitchFamily="34" charset="-120"/>
              </a:rPr>
              <a:t>Abstract only, no comparison group. A working device is not the same as a dry patient.</a:t>
            </a:r>
            <a:endParaRPr lang="en-US" sz="1200" dirty="0">
              <a:latin typeface="Plus Jakarta Sans"/>
            </a:endParaRPr>
          </a:p>
        </p:txBody>
      </p:sp>
      <p:sp>
        <p:nvSpPr>
          <p:cNvPr id="9001" name="replacement-title">
            <a:extLst>
              <a:ext uri="{FF2B5EF4-FFF2-40B4-BE49-F238E27FC236}">
                <a16:creationId xmlns:a16="http://schemas.microsoft.com/office/drawing/2014/main" id="{C53A2B93-F8DD-41C2-B4BC-17FFCFF8130C}"/>
              </a:ext>
            </a:extLst>
          </p:cNvPr>
          <p:cNvSpPr>
            <a:spLocks noGrp="1"/>
          </p:cNvSpPr>
          <p:nvPr/>
        </p:nvSpPr>
        <p:spPr>
          <a:xfrm>
            <a:off x="638175" y="752475"/>
            <a:ext cx="10915650" cy="800100"/>
          </a:xfrm>
          <a:prstGeom prst="rect">
            <a:avLst/>
          </a:prstGeom>
          <a:noFill/>
          <a:ln w="0">
            <a:noFill/>
          </a:ln>
        </p:spPr>
        <p:txBody>
          <a:bodyPr anchor="ctr"/>
          <a:lstStyle>
            <a:defPPr>
              <a:defRPr sz="2625" b="1">
                <a:solidFill>
                  <a:srgbClr val="FFFFFF"/>
                </a:solidFill>
                <a:latin typeface="Plus Jakarta Sans"/>
              </a:defRPr>
            </a:defPPr>
            <a:lvl1pPr>
              <a:defRPr sz="2625" b="1">
                <a:solidFill>
                  <a:srgbClr val="FFFFFF"/>
                </a:solidFill>
                <a:latin typeface="Plus Jakarta Sans"/>
              </a:defRPr>
            </a:lvl1pPr>
            <a:lvl2pPr>
              <a:defRPr sz="2625" b="1">
                <a:solidFill>
                  <a:srgbClr val="FFFFFF"/>
                </a:solidFill>
                <a:latin typeface="Plus Jakarta Sans"/>
              </a:defRPr>
            </a:lvl2pPr>
            <a:lvl3pPr>
              <a:defRPr sz="2625" b="1">
                <a:solidFill>
                  <a:srgbClr val="FFFFFF"/>
                </a:solidFill>
                <a:latin typeface="Plus Jakarta Sans"/>
              </a:defRPr>
            </a:lvl3pPr>
            <a:lvl4pPr>
              <a:defRPr sz="2625" b="1">
                <a:solidFill>
                  <a:srgbClr val="FFFFFF"/>
                </a:solidFill>
                <a:latin typeface="Plus Jakarta Sans"/>
              </a:defRPr>
            </a:lvl4pPr>
            <a:lvl5pPr>
              <a:defRPr sz="2625" b="1">
                <a:solidFill>
                  <a:srgbClr val="FFFFFF"/>
                </a:solidFill>
                <a:latin typeface="Plus Jakarta Sans"/>
              </a:defRPr>
            </a:lvl5pPr>
            <a:lvl6pPr>
              <a:defRPr sz="2625" b="1">
                <a:solidFill>
                  <a:srgbClr val="FFFFFF"/>
                </a:solidFill>
                <a:latin typeface="Plus Jakarta Sans"/>
              </a:defRPr>
            </a:lvl6pPr>
            <a:lvl7pPr>
              <a:defRPr sz="2625" b="1">
                <a:solidFill>
                  <a:srgbClr val="FFFFFF"/>
                </a:solidFill>
                <a:latin typeface="Plus Jakarta Sans"/>
              </a:defRPr>
            </a:lvl7pPr>
            <a:lvl8pPr>
              <a:defRPr sz="2625" b="1">
                <a:solidFill>
                  <a:srgbClr val="FFFFFF"/>
                </a:solidFill>
                <a:latin typeface="Plus Jakarta Sans"/>
              </a:defRPr>
            </a:lvl8pPr>
            <a:lvl9pPr>
              <a:defRPr sz="2625" b="1">
                <a:solidFill>
                  <a:srgbClr val="FFFFFF"/>
                </a:solidFill>
                <a:latin typeface="Plus Jakarta Sans"/>
              </a:defRPr>
            </a:lvl9pPr>
          </a:lstStyle>
          <a:p>
            <a:pPr>
              <a:defRPr sz="2625" b="1">
                <a:solidFill>
                  <a:srgbClr val="FFFFFF"/>
                </a:solidFill>
                <a:latin typeface="Plus Jakarta Sans"/>
              </a:defRPr>
            </a:pPr>
            <a:r>
              <a:rPr sz="2625" b="1">
                <a:solidFill>
                  <a:srgbClr val="FFFFFF"/>
                </a:solidFill>
                <a:latin typeface="Plus Jakarta Sans"/>
              </a:rPr>
              <a:t>Consent: improvement and lifetime burden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1616"/>
        </a:solidFill>
        <a:effectLst/>
      </p:bgPr>
    </p:bg>
    <p:spTree>
      <p:nvGrpSpPr>
        <p:cNvPr id="1" name=""/>
        <p:cNvGrpSpPr/>
        <p:nvPr/>
      </p:nvGrpSpPr>
      <p:grpSpPr>
        <a:xfrm>
          <a:off x="0" y="0"/>
          <a:ext cx="0" cy="0"/>
          <a:chOff x="0" y="0"/>
          <a:chExt cx="0" cy="0"/>
        </a:xfrm>
      </p:grpSpPr>
      <p:sp>
        <p:nvSpPr>
          <p:cNvPr id="4" name="Text 2"/>
          <p:cNvSpPr txBox="1"/>
          <p:nvPr/>
        </p:nvSpPr>
        <p:spPr>
          <a:xfrm>
            <a:off x="640080" y="3457575"/>
            <a:ext cx="5476875" cy="1285875"/>
          </a:xfrm>
          <a:prstGeom prst="rect">
            <a:avLst/>
          </a:prstGeom>
          <a:noFill/>
          <a:ln/>
        </p:spPr>
        <p:txBody>
          <a:bodyPr wrap="square" lIns="0" tIns="0" rIns="0" bIns="0" rtlCol="0" anchor="t"/>
          <a:lstStyle/>
          <a:p>
            <a:pPr algn="l" indent="0" marL="0">
              <a:lnSpc>
                <a:spcPct val="120000"/>
              </a:lnSpc>
              <a:buNone/>
            </a:pPr>
            <a:r>
              <a:rPr lang="en-US" sz="1500" dirty="0">
                <a:solidFill>
                  <a:srgbClr val="BFBFBF"/>
                </a:solidFill>
                <a:latin typeface="Plus Jakarta Sans" pitchFamily="34" charset="0"/>
                <a:ea typeface="Segoe UI" pitchFamily="34" charset="-122"/>
                <a:cs typeface="Segoe UI" pitchFamily="34" charset="-120"/>
              </a:rPr>
              <a:t>Separate overactivity, weak contraction and poor compliance, because each leads to a different decision.</a:t>
            </a:r>
            <a:endParaRPr lang="en-US" sz="1500" dirty="0">
              <a:solidFill>
                <a:srgbClr val="BFBFBF"/>
              </a:solidFill>
              <a:latin typeface="Plus Jakarta Sans"/>
            </a:endParaRPr>
          </a:p>
        </p:txBody>
      </p:sp>
      <p:sp>
        <p:nvSpPr>
          <p:cNvPr id="5" name="Text 3"/>
          <p:cNvSpPr txBox="1"/>
          <p:nvPr/>
        </p:nvSpPr>
        <p:spPr>
          <a:xfrm>
            <a:off x="7223760" y="1188720"/>
            <a:ext cx="4327855" cy="274320"/>
          </a:xfrm>
          <a:prstGeom prst="rect">
            <a:avLst/>
          </a:prstGeom>
          <a:noFill/>
          <a:ln/>
        </p:spPr>
        <p:txBody>
          <a:bodyPr wrap="square" lIns="0" tIns="0" rIns="0" bIns="0" rtlCol="0" anchor="t"/>
          <a:lstStyle/>
          <a:p>
            <a:pPr algn="l" indent="0" marL="0">
              <a:buNone/>
            </a:pPr>
            <a:r>
              <a:rPr lang="en-US" sz="1000" b="1" spc="200" kern="0" dirty="0">
                <a:solidFill>
                  <a:srgbClr val="BFBFBF"/>
                </a:solidFill>
                <a:latin typeface="Plus Jakarta Sans" pitchFamily="34" charset="0"/>
                <a:ea typeface="Segoe UI" pitchFamily="34" charset="-122"/>
                <a:cs typeface="Segoe UI" pitchFamily="34" charset="-120"/>
              </a:rPr>
              <a:t>IN THIS SECTION</a:t>
            </a:r>
            <a:endParaRPr lang="en-US" sz="1000" dirty="0">
              <a:latin typeface="Plus Jakarta Sans"/>
            </a:endParaRPr>
          </a:p>
        </p:txBody>
      </p:sp>
      <p:sp>
        <p:nvSpPr>
          <p:cNvPr id="6" name="Text 4"/>
          <p:cNvSpPr txBox="1"/>
          <p:nvPr/>
        </p:nvSpPr>
        <p:spPr>
          <a:xfrm>
            <a:off x="7223760" y="1645920"/>
            <a:ext cx="457200" cy="457200"/>
          </a:xfrm>
          <a:prstGeom prst="rect">
            <a:avLst/>
          </a:prstGeom>
          <a:noFill/>
          <a:ln/>
        </p:spPr>
        <p:txBody>
          <a:bodyPr wrap="square" lIns="0" tIns="0" rIns="0" bIns="0" rtlCol="0" anchor="ctr"/>
          <a:lstStyle/>
          <a:p>
            <a:pPr algn="l" indent="0" marL="0">
              <a:buNone/>
            </a:pPr>
            <a:r>
              <a:rPr lang="en-US" sz="1100" b="1" dirty="0">
                <a:solidFill>
                  <a:srgbClr val="89FF00"/>
                </a:solidFill>
                <a:latin typeface="Plus Jakarta Sans" pitchFamily="34" charset="0"/>
                <a:ea typeface="Segoe UI" pitchFamily="34" charset="-122"/>
                <a:cs typeface="Segoe UI" pitchFamily="34" charset="-120"/>
              </a:rPr>
              <a:t>10</a:t>
            </a:r>
            <a:endParaRPr lang="en-US" sz="1100" dirty="0">
              <a:solidFill>
                <a:srgbClr val="89FF00"/>
              </a:solidFill>
              <a:latin typeface="Plus Jakarta Sans"/>
            </a:endParaRPr>
          </a:p>
        </p:txBody>
      </p:sp>
      <p:sp>
        <p:nvSpPr>
          <p:cNvPr id="7" name="Text 5"/>
          <p:cNvSpPr txBox="1"/>
          <p:nvPr/>
        </p:nvSpPr>
        <p:spPr>
          <a:xfrm>
            <a:off x="7680960" y="1645920"/>
            <a:ext cx="3870655" cy="457200"/>
          </a:xfrm>
          <a:prstGeom prst="rect">
            <a:avLst/>
          </a:prstGeom>
          <a:noFill/>
          <a:ln/>
        </p:spPr>
        <p:txBody>
          <a:bodyPr wrap="square" lIns="0" tIns="0" rIns="0" bIns="0" rtlCol="0" anchor="ctr"/>
          <a:lstStyle/>
          <a:p>
            <a:pPr algn="l" indent="0" marL="0">
              <a:buNone/>
            </a:pPr>
            <a:r>
              <a:rPr lang="en-US" sz="1300" dirty="0">
                <a:solidFill>
                  <a:srgbClr val="F4F5F7"/>
                </a:solidFill>
                <a:latin typeface="Plus Jakarta Sans" pitchFamily="34" charset="0"/>
                <a:ea typeface="Segoe UI" pitchFamily="34" charset="-122"/>
                <a:cs typeface="Segoe UI" pitchFamily="34" charset="-120"/>
              </a:rPr>
              <a:t>Case 1: six pads and urgency</a:t>
            </a:r>
            <a:endParaRPr lang="en-US" sz="1300" dirty="0">
              <a:latin typeface="Plus Jakarta Sans"/>
            </a:endParaRPr>
          </a:p>
        </p:txBody>
      </p:sp>
      <p:sp>
        <p:nvSpPr>
          <p:cNvPr id="8" name="Text 6"/>
          <p:cNvSpPr txBox="1"/>
          <p:nvPr/>
        </p:nvSpPr>
        <p:spPr>
          <a:xfrm>
            <a:off x="7223760" y="2103120"/>
            <a:ext cx="457200" cy="457200"/>
          </a:xfrm>
          <a:prstGeom prst="rect">
            <a:avLst/>
          </a:prstGeom>
          <a:noFill/>
          <a:ln/>
        </p:spPr>
        <p:txBody>
          <a:bodyPr wrap="square" lIns="0" tIns="0" rIns="0" bIns="0" rtlCol="0" anchor="ctr"/>
          <a:lstStyle/>
          <a:p>
            <a:pPr algn="l" indent="0" marL="0">
              <a:buNone/>
            </a:pPr>
            <a:r>
              <a:rPr lang="en-US" sz="1100" b="1" dirty="0">
                <a:solidFill>
                  <a:srgbClr val="89FF00"/>
                </a:solidFill>
                <a:latin typeface="Plus Jakarta Sans" pitchFamily="34" charset="0"/>
                <a:ea typeface="Segoe UI" pitchFamily="34" charset="-122"/>
                <a:cs typeface="Segoe UI" pitchFamily="34" charset="-120"/>
              </a:rPr>
              <a:t>11</a:t>
            </a:r>
            <a:endParaRPr lang="en-US" sz="1100" dirty="0">
              <a:solidFill>
                <a:srgbClr val="89FF00"/>
              </a:solidFill>
              <a:latin typeface="Plus Jakarta Sans"/>
            </a:endParaRPr>
          </a:p>
        </p:txBody>
      </p:sp>
      <p:sp>
        <p:nvSpPr>
          <p:cNvPr id="9" name="Text 7"/>
          <p:cNvSpPr txBox="1"/>
          <p:nvPr/>
        </p:nvSpPr>
        <p:spPr>
          <a:xfrm>
            <a:off x="7680960" y="2103120"/>
            <a:ext cx="3870655" cy="457200"/>
          </a:xfrm>
          <a:prstGeom prst="rect">
            <a:avLst/>
          </a:prstGeom>
          <a:noFill/>
          <a:ln/>
        </p:spPr>
        <p:txBody>
          <a:bodyPr wrap="square" lIns="0" tIns="0" rIns="0" bIns="0" rtlCol="0" anchor="ctr"/>
          <a:lstStyle/>
          <a:p>
            <a:pPr algn="l" indent="0" marL="0">
              <a:buNone/>
            </a:pPr>
            <a:r>
              <a:rPr lang="en-US" sz="1300" dirty="0">
                <a:solidFill>
                  <a:srgbClr val="F4F5F7"/>
                </a:solidFill>
                <a:latin typeface="Plus Jakarta Sans" pitchFamily="34" charset="0"/>
                <a:ea typeface="Segoe UI" pitchFamily="34" charset="-122"/>
                <a:cs typeface="Segoe UI" pitchFamily="34" charset="-120"/>
              </a:rPr>
              <a:t>Urgency treatment and emptying</a:t>
            </a:r>
            <a:endParaRPr lang="en-US" sz="1300" dirty="0">
              <a:latin typeface="Plus Jakarta Sans"/>
            </a:endParaRPr>
          </a:p>
        </p:txBody>
      </p:sp>
      <p:sp>
        <p:nvSpPr>
          <p:cNvPr id="10" name="Text 8"/>
          <p:cNvSpPr txBox="1"/>
          <p:nvPr/>
        </p:nvSpPr>
        <p:spPr>
          <a:xfrm>
            <a:off x="7223760" y="2560320"/>
            <a:ext cx="457200" cy="457200"/>
          </a:xfrm>
          <a:prstGeom prst="rect">
            <a:avLst/>
          </a:prstGeom>
          <a:noFill/>
          <a:ln/>
        </p:spPr>
        <p:txBody>
          <a:bodyPr wrap="square" lIns="0" tIns="0" rIns="0" bIns="0" rtlCol="0" anchor="ctr"/>
          <a:lstStyle/>
          <a:p>
            <a:pPr algn="l" indent="0" marL="0">
              <a:buNone/>
            </a:pPr>
            <a:r>
              <a:rPr lang="en-US" sz="1100" b="1" dirty="0">
                <a:solidFill>
                  <a:srgbClr val="89FF00"/>
                </a:solidFill>
                <a:latin typeface="Plus Jakarta Sans" pitchFamily="34" charset="0"/>
                <a:ea typeface="Segoe UI" pitchFamily="34" charset="-122"/>
                <a:cs typeface="Segoe UI" pitchFamily="34" charset="-120"/>
              </a:rPr>
              <a:t>12</a:t>
            </a:r>
            <a:endParaRPr lang="en-US" sz="1100" dirty="0">
              <a:solidFill>
                <a:srgbClr val="89FF00"/>
              </a:solidFill>
              <a:latin typeface="Plus Jakarta Sans"/>
            </a:endParaRPr>
          </a:p>
        </p:txBody>
      </p:sp>
      <p:sp>
        <p:nvSpPr>
          <p:cNvPr id="11" name="Text 9"/>
          <p:cNvSpPr txBox="1"/>
          <p:nvPr/>
        </p:nvSpPr>
        <p:spPr>
          <a:xfrm>
            <a:off x="7680960" y="2560320"/>
            <a:ext cx="3870655" cy="457200"/>
          </a:xfrm>
          <a:prstGeom prst="rect">
            <a:avLst/>
          </a:prstGeom>
          <a:noFill/>
          <a:ln/>
        </p:spPr>
        <p:txBody>
          <a:bodyPr wrap="square" lIns="0" tIns="0" rIns="0" bIns="0" rtlCol="0" anchor="ctr"/>
          <a:lstStyle/>
          <a:p>
            <a:pPr algn="l" indent="0" marL="0">
              <a:buNone/>
            </a:pPr>
            <a:r>
              <a:rPr lang="en-US" sz="1300" dirty="0">
                <a:solidFill>
                  <a:srgbClr val="F4F5F7"/>
                </a:solidFill>
                <a:latin typeface="Plus Jakarta Sans" pitchFamily="34" charset="0"/>
                <a:ea typeface="Segoe UI" pitchFamily="34" charset="-122"/>
                <a:cs typeface="Segoe UI" pitchFamily="34" charset="-120"/>
              </a:rPr>
              <a:t>Case 2: weak contraction and residual urine</a:t>
            </a:r>
            <a:endParaRPr lang="en-US" sz="1300" dirty="0">
              <a:latin typeface="Plus Jakarta Sans"/>
            </a:endParaRPr>
          </a:p>
        </p:txBody>
      </p:sp>
      <p:sp>
        <p:nvSpPr>
          <p:cNvPr id="12" name="Text 10"/>
          <p:cNvSpPr txBox="1"/>
          <p:nvPr/>
        </p:nvSpPr>
        <p:spPr>
          <a:xfrm>
            <a:off x="7223760" y="3017520"/>
            <a:ext cx="457200" cy="457200"/>
          </a:xfrm>
          <a:prstGeom prst="rect">
            <a:avLst/>
          </a:prstGeom>
          <a:noFill/>
          <a:ln/>
        </p:spPr>
        <p:txBody>
          <a:bodyPr wrap="square" lIns="0" tIns="0" rIns="0" bIns="0" rtlCol="0" anchor="ctr"/>
          <a:lstStyle/>
          <a:p>
            <a:pPr algn="l" indent="0" marL="0">
              <a:buNone/>
            </a:pPr>
            <a:r>
              <a:rPr lang="en-US" sz="1100" b="1" dirty="0">
                <a:solidFill>
                  <a:srgbClr val="89FF00"/>
                </a:solidFill>
                <a:latin typeface="Plus Jakarta Sans" pitchFamily="34" charset="0"/>
                <a:ea typeface="Segoe UI" pitchFamily="34" charset="-122"/>
                <a:cs typeface="Segoe UI" pitchFamily="34" charset="-120"/>
              </a:rPr>
              <a:t>13</a:t>
            </a:r>
            <a:endParaRPr lang="en-US" sz="1100" dirty="0">
              <a:solidFill>
                <a:srgbClr val="89FF00"/>
              </a:solidFill>
              <a:latin typeface="Plus Jakarta Sans"/>
            </a:endParaRPr>
          </a:p>
        </p:txBody>
      </p:sp>
      <p:sp>
        <p:nvSpPr>
          <p:cNvPr id="13" name="Text 11"/>
          <p:cNvSpPr txBox="1"/>
          <p:nvPr/>
        </p:nvSpPr>
        <p:spPr>
          <a:xfrm>
            <a:off x="7680960" y="3017520"/>
            <a:ext cx="3870655" cy="457200"/>
          </a:xfrm>
          <a:prstGeom prst="rect">
            <a:avLst/>
          </a:prstGeom>
          <a:noFill/>
          <a:ln/>
        </p:spPr>
        <p:txBody>
          <a:bodyPr wrap="square" lIns="0" tIns="0" rIns="0" bIns="0" rtlCol="0" anchor="ctr"/>
          <a:lstStyle/>
          <a:p>
            <a:pPr algn="l" indent="0" marL="0">
              <a:buNone/>
            </a:pPr>
            <a:r>
              <a:rPr lang="en-US" sz="1300" dirty="0">
                <a:solidFill>
                  <a:srgbClr val="F4F5F7"/>
                </a:solidFill>
                <a:latin typeface="Plus Jakarta Sans" pitchFamily="34" charset="0"/>
                <a:ea typeface="Segoe UI" pitchFamily="34" charset="-122"/>
                <a:cs typeface="Segoe UI" pitchFamily="34" charset="-120"/>
              </a:rPr>
              <a:t>Catheterisation with a cuff in place</a:t>
            </a:r>
            <a:endParaRPr lang="en-US" sz="1300" dirty="0">
              <a:latin typeface="Plus Jakarta Sans"/>
            </a:endParaRPr>
          </a:p>
        </p:txBody>
      </p:sp>
      <p:sp>
        <p:nvSpPr>
          <p:cNvPr id="14" name="Text 12"/>
          <p:cNvSpPr txBox="1"/>
          <p:nvPr/>
        </p:nvSpPr>
        <p:spPr>
          <a:xfrm>
            <a:off x="7223760" y="3474720"/>
            <a:ext cx="457200" cy="457200"/>
          </a:xfrm>
          <a:prstGeom prst="rect">
            <a:avLst/>
          </a:prstGeom>
          <a:noFill/>
          <a:ln/>
        </p:spPr>
        <p:txBody>
          <a:bodyPr wrap="square" lIns="0" tIns="0" rIns="0" bIns="0" rtlCol="0" anchor="ctr"/>
          <a:lstStyle/>
          <a:p>
            <a:pPr algn="l" indent="0" marL="0">
              <a:buNone/>
            </a:pPr>
            <a:r>
              <a:rPr lang="en-US" sz="1100" b="1" dirty="0">
                <a:solidFill>
                  <a:srgbClr val="89FF00"/>
                </a:solidFill>
                <a:latin typeface="Plus Jakarta Sans" pitchFamily="34" charset="0"/>
                <a:ea typeface="Segoe UI" pitchFamily="34" charset="-122"/>
                <a:cs typeface="Segoe UI" pitchFamily="34" charset="-120"/>
              </a:rPr>
              <a:t>14</a:t>
            </a:r>
            <a:endParaRPr lang="en-US" sz="1100" dirty="0">
              <a:solidFill>
                <a:srgbClr val="89FF00"/>
              </a:solidFill>
              <a:latin typeface="Plus Jakarta Sans"/>
            </a:endParaRPr>
          </a:p>
        </p:txBody>
      </p:sp>
      <p:sp>
        <p:nvSpPr>
          <p:cNvPr id="15" name="Text 13"/>
          <p:cNvSpPr txBox="1"/>
          <p:nvPr/>
        </p:nvSpPr>
        <p:spPr>
          <a:xfrm>
            <a:off x="7680960" y="3474720"/>
            <a:ext cx="3870655" cy="457200"/>
          </a:xfrm>
          <a:prstGeom prst="rect">
            <a:avLst/>
          </a:prstGeom>
          <a:noFill/>
          <a:ln/>
        </p:spPr>
        <p:txBody>
          <a:bodyPr wrap="square" lIns="0" tIns="0" rIns="0" bIns="0" rtlCol="0" anchor="ctr"/>
          <a:lstStyle/>
          <a:p>
            <a:pPr algn="l" indent="0" marL="0">
              <a:buNone/>
            </a:pPr>
            <a:r>
              <a:rPr lang="en-US" sz="1300" dirty="0">
                <a:solidFill>
                  <a:srgbClr val="F4F5F7"/>
                </a:solidFill>
                <a:latin typeface="Plus Jakarta Sans" pitchFamily="34" charset="0"/>
                <a:ea typeface="Segoe UI" pitchFamily="34" charset="-122"/>
                <a:cs typeface="Segoe UI" pitchFamily="34" charset="-120"/>
              </a:rPr>
              <a:t>Detrusor overactivity and poor compliance</a:t>
            </a:r>
            <a:endParaRPr lang="en-US" sz="1300" dirty="0">
              <a:latin typeface="Plus Jakarta Sans"/>
            </a:endParaRPr>
          </a:p>
        </p:txBody>
      </p:sp>
      <p:sp>
        <p:nvSpPr>
          <p:cNvPr id="16" name="Shape 14"/>
          <p:cNvSpPr/>
          <p:nvPr/>
        </p:nvSpPr>
        <p:spPr>
          <a:xfrm>
            <a:off x="640080" y="5989320"/>
            <a:ext cx="1727149" cy="82296"/>
          </a:xfrm>
          <a:prstGeom prst="roundRect">
            <a:avLst>
              <a:gd name="adj" fmla="val 44444"/>
            </a:avLst>
          </a:prstGeom>
          <a:solidFill>
            <a:srgbClr val="89FF00"/>
          </a:solidFill>
          <a:ln/>
        </p:spPr>
      </p:sp>
      <p:sp>
        <p:nvSpPr>
          <p:cNvPr id="17" name="Text 15"/>
          <p:cNvSpPr txBox="1"/>
          <p:nvPr/>
        </p:nvSpPr>
        <p:spPr>
          <a:xfrm>
            <a:off x="640080" y="6126480"/>
            <a:ext cx="1727149" cy="274320"/>
          </a:xfrm>
          <a:prstGeom prst="rect">
            <a:avLst/>
          </a:prstGeom>
          <a:noFill/>
          <a:ln/>
        </p:spPr>
        <p:txBody>
          <a:bodyPr wrap="square" lIns="0" tIns="0" rIns="0" bIns="0" rtlCol="0" anchor="t"/>
          <a:lstStyle/>
          <a:p>
            <a:pPr algn="l" indent="0" marL="0">
              <a:buNone/>
            </a:pPr>
            <a:r>
              <a:rPr lang="en-US" sz="850" dirty="0">
                <a:solidFill>
                  <a:srgbClr val="AFAFAF"/>
                </a:solidFill>
                <a:latin typeface="Plus Jakarta Sans" pitchFamily="34" charset="0"/>
                <a:ea typeface="Segoe UI" pitchFamily="34" charset="-122"/>
                <a:cs typeface="Segoe UI" pitchFamily="34" charset="-120"/>
              </a:rPr>
              <a:t>Decide before theatre</a:t>
            </a:r>
            <a:endParaRPr lang="en-US" sz="850" dirty="0">
              <a:latin typeface="Plus Jakarta Sans"/>
            </a:endParaRPr>
          </a:p>
        </p:txBody>
      </p:sp>
      <p:sp>
        <p:nvSpPr>
          <p:cNvPr id="18" name="Shape 16"/>
          <p:cNvSpPr/>
          <p:nvPr/>
        </p:nvSpPr>
        <p:spPr>
          <a:xfrm>
            <a:off x="2476957" y="5989320"/>
            <a:ext cx="1727149" cy="82296"/>
          </a:xfrm>
          <a:prstGeom prst="roundRect">
            <a:avLst>
              <a:gd name="adj" fmla="val 44444"/>
            </a:avLst>
          </a:prstGeom>
          <a:solidFill>
            <a:srgbClr val="89FF00"/>
          </a:solidFill>
          <a:ln/>
        </p:spPr>
      </p:sp>
      <p:sp>
        <p:nvSpPr>
          <p:cNvPr id="19" name="Text 17"/>
          <p:cNvSpPr txBox="1"/>
          <p:nvPr/>
        </p:nvSpPr>
        <p:spPr>
          <a:xfrm>
            <a:off x="2476957" y="6126480"/>
            <a:ext cx="1727149" cy="274320"/>
          </a:xfrm>
          <a:prstGeom prst="rect">
            <a:avLst/>
          </a:prstGeom>
          <a:noFill/>
          <a:ln/>
        </p:spPr>
        <p:txBody>
          <a:bodyPr wrap="square" lIns="0" tIns="0" rIns="0" bIns="0" rtlCol="0" anchor="t"/>
          <a:lstStyle/>
          <a:p>
            <a:pPr algn="l" indent="0" marL="0">
              <a:buNone/>
            </a:pPr>
            <a:r>
              <a:rPr lang="en-US" sz="850" dirty="0">
                <a:solidFill>
                  <a:srgbClr val="F4F5F7"/>
                </a:solidFill>
                <a:latin typeface="Plus Jakarta Sans" pitchFamily="34" charset="0"/>
                <a:ea typeface="Segoe UI" pitchFamily="34" charset="-122"/>
                <a:cs typeface="Segoe UI" pitchFamily="34" charset="-120"/>
              </a:rPr>
              <a:t>The bladder</a:t>
            </a:r>
            <a:endParaRPr lang="en-US" sz="850" dirty="0">
              <a:latin typeface="Plus Jakarta Sans"/>
            </a:endParaRPr>
          </a:p>
        </p:txBody>
      </p:sp>
      <p:sp>
        <p:nvSpPr>
          <p:cNvPr id="20" name="Shape 18"/>
          <p:cNvSpPr/>
          <p:nvPr/>
        </p:nvSpPr>
        <p:spPr>
          <a:xfrm>
            <a:off x="4313834" y="5989320"/>
            <a:ext cx="1727149" cy="82296"/>
          </a:xfrm>
          <a:prstGeom prst="roundRect">
            <a:avLst>
              <a:gd name="adj" fmla="val 44444"/>
            </a:avLst>
          </a:prstGeom>
          <a:solidFill>
            <a:srgbClr val="2D2D2D"/>
          </a:solidFill>
          <a:ln/>
        </p:spPr>
      </p:sp>
      <p:sp>
        <p:nvSpPr>
          <p:cNvPr id="21" name="Text 19"/>
          <p:cNvSpPr txBox="1"/>
          <p:nvPr/>
        </p:nvSpPr>
        <p:spPr>
          <a:xfrm>
            <a:off x="4313834" y="6126480"/>
            <a:ext cx="1727149" cy="274320"/>
          </a:xfrm>
          <a:prstGeom prst="rect">
            <a:avLst/>
          </a:prstGeom>
          <a:noFill/>
          <a:ln/>
        </p:spPr>
        <p:txBody>
          <a:bodyPr wrap="square" lIns="0" tIns="0" rIns="0" bIns="0" rtlCol="0" anchor="t"/>
          <a:lstStyle/>
          <a:p>
            <a:pPr algn="l" indent="0" marL="0">
              <a:buNone/>
            </a:pPr>
            <a:r>
              <a:rPr lang="en-US" sz="850" dirty="0">
                <a:solidFill>
                  <a:srgbClr val="AFAFAF"/>
                </a:solidFill>
                <a:latin typeface="Plus Jakarta Sans" pitchFamily="34" charset="0"/>
                <a:ea typeface="Segoe UI" pitchFamily="34" charset="-122"/>
                <a:cs typeface="Segoe UI" pitchFamily="34" charset="-120"/>
              </a:rPr>
              <a:t>The urethra</a:t>
            </a:r>
            <a:endParaRPr lang="en-US" sz="850" dirty="0">
              <a:latin typeface="Plus Jakarta Sans"/>
            </a:endParaRPr>
          </a:p>
        </p:txBody>
      </p:sp>
      <p:sp>
        <p:nvSpPr>
          <p:cNvPr id="22" name="Shape 20"/>
          <p:cNvSpPr/>
          <p:nvPr/>
        </p:nvSpPr>
        <p:spPr>
          <a:xfrm>
            <a:off x="6150712" y="5989320"/>
            <a:ext cx="1727149" cy="82296"/>
          </a:xfrm>
          <a:prstGeom prst="roundRect">
            <a:avLst>
              <a:gd name="adj" fmla="val 44444"/>
            </a:avLst>
          </a:prstGeom>
          <a:solidFill>
            <a:srgbClr val="2D2D2D"/>
          </a:solidFill>
          <a:ln/>
        </p:spPr>
      </p:sp>
      <p:sp>
        <p:nvSpPr>
          <p:cNvPr id="23" name="Text 21"/>
          <p:cNvSpPr txBox="1"/>
          <p:nvPr/>
        </p:nvSpPr>
        <p:spPr>
          <a:xfrm>
            <a:off x="6150712" y="6126480"/>
            <a:ext cx="1727149" cy="274320"/>
          </a:xfrm>
          <a:prstGeom prst="rect">
            <a:avLst/>
          </a:prstGeom>
          <a:noFill/>
          <a:ln/>
        </p:spPr>
        <p:txBody>
          <a:bodyPr wrap="square" lIns="0" tIns="0" rIns="0" bIns="0" rtlCol="0" anchor="t"/>
          <a:lstStyle/>
          <a:p>
            <a:pPr algn="l" indent="0" marL="0">
              <a:buNone/>
            </a:pPr>
            <a:r>
              <a:rPr lang="en-US" sz="850" dirty="0">
                <a:solidFill>
                  <a:srgbClr val="AFAFAF"/>
                </a:solidFill>
                <a:latin typeface="Plus Jakarta Sans" pitchFamily="34" charset="0"/>
                <a:ea typeface="Segoe UI" pitchFamily="34" charset="-122"/>
                <a:cs typeface="Segoe UI" pitchFamily="34" charset="-120"/>
              </a:rPr>
              <a:t>Preparation without ritual</a:t>
            </a:r>
            <a:endParaRPr lang="en-US" sz="850" dirty="0">
              <a:latin typeface="Plus Jakarta Sans"/>
            </a:endParaRPr>
          </a:p>
        </p:txBody>
      </p:sp>
      <p:sp>
        <p:nvSpPr>
          <p:cNvPr id="24" name="Shape 22"/>
          <p:cNvSpPr/>
          <p:nvPr/>
        </p:nvSpPr>
        <p:spPr>
          <a:xfrm>
            <a:off x="7987589" y="5989320"/>
            <a:ext cx="1727149" cy="82296"/>
          </a:xfrm>
          <a:prstGeom prst="roundRect">
            <a:avLst>
              <a:gd name="adj" fmla="val 44444"/>
            </a:avLst>
          </a:prstGeom>
          <a:solidFill>
            <a:srgbClr val="2D2D2D"/>
          </a:solidFill>
          <a:ln/>
        </p:spPr>
      </p:sp>
      <p:sp>
        <p:nvSpPr>
          <p:cNvPr id="25" name="Text 23"/>
          <p:cNvSpPr txBox="1"/>
          <p:nvPr/>
        </p:nvSpPr>
        <p:spPr>
          <a:xfrm>
            <a:off x="7987589" y="6126480"/>
            <a:ext cx="1727149" cy="274320"/>
          </a:xfrm>
          <a:prstGeom prst="rect">
            <a:avLst/>
          </a:prstGeom>
          <a:noFill/>
          <a:ln/>
        </p:spPr>
        <p:txBody>
          <a:bodyPr wrap="square" lIns="0" tIns="0" rIns="0" bIns="0" rtlCol="0" anchor="t"/>
          <a:lstStyle/>
          <a:p>
            <a:pPr algn="l" indent="0" marL="0">
              <a:buNone/>
            </a:pPr>
            <a:r>
              <a:rPr lang="en-US" sz="850" dirty="0">
                <a:solidFill>
                  <a:srgbClr val="AFAFAF"/>
                </a:solidFill>
                <a:latin typeface="Plus Jakarta Sans" pitchFamily="34" charset="0"/>
                <a:ea typeface="Segoe UI" pitchFamily="34" charset="-122"/>
                <a:cs typeface="Segoe UI" pitchFamily="34" charset="-120"/>
              </a:rPr>
              <a:t>The operation</a:t>
            </a:r>
            <a:endParaRPr lang="en-US" sz="850" dirty="0">
              <a:latin typeface="Plus Jakarta Sans"/>
            </a:endParaRPr>
          </a:p>
        </p:txBody>
      </p:sp>
      <p:sp>
        <p:nvSpPr>
          <p:cNvPr id="26" name="Shape 24"/>
          <p:cNvSpPr/>
          <p:nvPr/>
        </p:nvSpPr>
        <p:spPr>
          <a:xfrm>
            <a:off x="9824466" y="5989320"/>
            <a:ext cx="1727149" cy="82296"/>
          </a:xfrm>
          <a:prstGeom prst="roundRect">
            <a:avLst>
              <a:gd name="adj" fmla="val 44444"/>
            </a:avLst>
          </a:prstGeom>
          <a:solidFill>
            <a:srgbClr val="2D2D2D"/>
          </a:solidFill>
          <a:ln/>
        </p:spPr>
      </p:sp>
      <p:sp>
        <p:nvSpPr>
          <p:cNvPr id="27" name="Text 25"/>
          <p:cNvSpPr txBox="1"/>
          <p:nvPr/>
        </p:nvSpPr>
        <p:spPr>
          <a:xfrm>
            <a:off x="9824466" y="6126480"/>
            <a:ext cx="1727149" cy="274320"/>
          </a:xfrm>
          <a:prstGeom prst="rect">
            <a:avLst/>
          </a:prstGeom>
          <a:noFill/>
          <a:ln/>
        </p:spPr>
        <p:txBody>
          <a:bodyPr wrap="square" lIns="0" tIns="0" rIns="0" bIns="0" rtlCol="0" anchor="t"/>
          <a:lstStyle/>
          <a:p>
            <a:pPr algn="l" indent="0" marL="0">
              <a:buNone/>
            </a:pPr>
            <a:r>
              <a:rPr lang="en-US" sz="850" dirty="0">
                <a:solidFill>
                  <a:srgbClr val="AFAFAF"/>
                </a:solidFill>
                <a:latin typeface="Plus Jakarta Sans" pitchFamily="34" charset="0"/>
                <a:ea typeface="Segoe UI" pitchFamily="34" charset="-122"/>
                <a:cs typeface="Segoe UI" pitchFamily="34" charset="-120"/>
              </a:rPr>
              <a:t>After the implant</a:t>
            </a:r>
            <a:endParaRPr lang="en-US" sz="850" dirty="0">
              <a:latin typeface="Plus Jakarta Sans"/>
            </a:endParaRPr>
          </a:p>
        </p:txBody>
      </p:sp>
      <p:sp>
        <p:nvSpPr>
          <p:cNvPr id="9001" name="replacement-title">
            <a:extLst>
              <a:ext uri="{FF2B5EF4-FFF2-40B4-BE49-F238E27FC236}">
                <a16:creationId xmlns:a16="http://schemas.microsoft.com/office/drawing/2014/main" id="{C1CFB1B5-303A-44BB-BD5F-5E0A0C5032EC}"/>
              </a:ext>
            </a:extLst>
          </p:cNvPr>
          <p:cNvSpPr>
            <a:spLocks noGrp="1"/>
          </p:cNvSpPr>
          <p:nvPr/>
        </p:nvSpPr>
        <p:spPr>
          <a:xfrm>
            <a:off x="638175" y="1905000"/>
            <a:ext cx="5476875" cy="1314450"/>
          </a:xfrm>
          <a:prstGeom prst="rect">
            <a:avLst/>
          </a:prstGeom>
          <a:noFill/>
          <a:ln w="0">
            <a:noFill/>
          </a:ln>
        </p:spPr>
        <p:txBody>
          <a:bodyPr anchor="ctr"/>
          <a:lstStyle>
            <a:defPPr>
              <a:defRPr sz="3600" b="1">
                <a:solidFill>
                  <a:srgbClr val="FFFFFF"/>
                </a:solidFill>
                <a:latin typeface="Plus Jakarta Sans"/>
              </a:defRPr>
            </a:defPPr>
            <a:lvl1pPr>
              <a:defRPr sz="3600" b="1">
                <a:solidFill>
                  <a:srgbClr val="FFFFFF"/>
                </a:solidFill>
                <a:latin typeface="Plus Jakarta Sans"/>
              </a:defRPr>
            </a:lvl1pPr>
            <a:lvl2pPr>
              <a:defRPr sz="3600" b="1">
                <a:solidFill>
                  <a:srgbClr val="FFFFFF"/>
                </a:solidFill>
                <a:latin typeface="Plus Jakarta Sans"/>
              </a:defRPr>
            </a:lvl2pPr>
            <a:lvl3pPr>
              <a:defRPr sz="3600" b="1">
                <a:solidFill>
                  <a:srgbClr val="FFFFFF"/>
                </a:solidFill>
                <a:latin typeface="Plus Jakarta Sans"/>
              </a:defRPr>
            </a:lvl3pPr>
            <a:lvl4pPr>
              <a:defRPr sz="3600" b="1">
                <a:solidFill>
                  <a:srgbClr val="FFFFFF"/>
                </a:solidFill>
                <a:latin typeface="Plus Jakarta Sans"/>
              </a:defRPr>
            </a:lvl4pPr>
            <a:lvl5pPr>
              <a:defRPr sz="3600" b="1">
                <a:solidFill>
                  <a:srgbClr val="FFFFFF"/>
                </a:solidFill>
                <a:latin typeface="Plus Jakarta Sans"/>
              </a:defRPr>
            </a:lvl5pPr>
            <a:lvl6pPr>
              <a:defRPr sz="3600" b="1">
                <a:solidFill>
                  <a:srgbClr val="FFFFFF"/>
                </a:solidFill>
                <a:latin typeface="Plus Jakarta Sans"/>
              </a:defRPr>
            </a:lvl6pPr>
            <a:lvl7pPr>
              <a:defRPr sz="3600" b="1">
                <a:solidFill>
                  <a:srgbClr val="FFFFFF"/>
                </a:solidFill>
                <a:latin typeface="Plus Jakarta Sans"/>
              </a:defRPr>
            </a:lvl7pPr>
            <a:lvl8pPr>
              <a:defRPr sz="3600" b="1">
                <a:solidFill>
                  <a:srgbClr val="FFFFFF"/>
                </a:solidFill>
                <a:latin typeface="Plus Jakarta Sans"/>
              </a:defRPr>
            </a:lvl8pPr>
            <a:lvl9pPr>
              <a:defRPr sz="3600" b="1">
                <a:solidFill>
                  <a:srgbClr val="FFFFFF"/>
                </a:solidFill>
                <a:latin typeface="Plus Jakarta Sans"/>
              </a:defRPr>
            </a:lvl9pPr>
          </a:lstStyle>
          <a:p>
            <a:pPr>
              <a:defRPr sz="3600" b="1">
                <a:solidFill>
                  <a:srgbClr val="FFFFFF"/>
                </a:solidFill>
                <a:latin typeface="Plus Jakarta Sans"/>
              </a:defRPr>
            </a:pPr>
            <a:r>
              <a:rPr sz="3600" b="1">
                <a:solidFill>
                  <a:srgbClr val="FFFFFF"/>
                </a:solidFill>
                <a:latin typeface="Plus Jakarta Sans"/>
              </a:rPr>
              <a:t>The bladder</a:t>
            </a:r>
          </a:p>
        </p:txBody>
      </p:sp>
      <p:sp>
        <p:nvSpPr>
          <p:cNvPr id="9010" name="Google Shape;50;p7"/>
          <p:cNvSpPr/>
          <p:nvPr/>
        </p:nvSpPr>
        <p:spPr>
          <a:xfrm>
            <a:off x="5810250" y="1581150"/>
            <a:ext cx="314325" cy="314325"/>
          </a:xfrm>
          <a:custGeom>
            <a:avLst/>
            <a:gdLst/>
            <a:ahLst/>
            <a:cxnLst/>
            <a:rect l="l" t="t" r="r" b="b"/>
            <a:pathLst>
              <a:path w="615314" h="615315" extrusionOk="0">
                <a:moveTo>
                  <a:pt x="307372" y="0"/>
                </a:moveTo>
                <a:lnTo>
                  <a:pt x="295063" y="64094"/>
                </a:lnTo>
                <a:lnTo>
                  <a:pt x="281976" y="117458"/>
                </a:lnTo>
                <a:lnTo>
                  <a:pt x="266867" y="161336"/>
                </a:lnTo>
                <a:lnTo>
                  <a:pt x="248493" y="196971"/>
                </a:lnTo>
                <a:lnTo>
                  <a:pt x="196971" y="248493"/>
                </a:lnTo>
                <a:lnTo>
                  <a:pt x="161336" y="266867"/>
                </a:lnTo>
                <a:lnTo>
                  <a:pt x="117458" y="281976"/>
                </a:lnTo>
                <a:lnTo>
                  <a:pt x="64094" y="295063"/>
                </a:lnTo>
                <a:lnTo>
                  <a:pt x="0" y="307372"/>
                </a:lnTo>
                <a:lnTo>
                  <a:pt x="64094" y="319682"/>
                </a:lnTo>
                <a:lnTo>
                  <a:pt x="117458" y="332769"/>
                </a:lnTo>
                <a:lnTo>
                  <a:pt x="161336" y="347878"/>
                </a:lnTo>
                <a:lnTo>
                  <a:pt x="196971" y="366252"/>
                </a:lnTo>
                <a:lnTo>
                  <a:pt x="248493" y="417773"/>
                </a:lnTo>
                <a:lnTo>
                  <a:pt x="266867" y="453409"/>
                </a:lnTo>
                <a:lnTo>
                  <a:pt x="281976" y="497287"/>
                </a:lnTo>
                <a:lnTo>
                  <a:pt x="295063" y="550651"/>
                </a:lnTo>
                <a:lnTo>
                  <a:pt x="307372" y="614745"/>
                </a:lnTo>
                <a:lnTo>
                  <a:pt x="319682" y="550651"/>
                </a:lnTo>
                <a:lnTo>
                  <a:pt x="332769" y="497287"/>
                </a:lnTo>
                <a:lnTo>
                  <a:pt x="347878" y="453409"/>
                </a:lnTo>
                <a:lnTo>
                  <a:pt x="366252" y="417773"/>
                </a:lnTo>
                <a:lnTo>
                  <a:pt x="417773" y="366252"/>
                </a:lnTo>
                <a:lnTo>
                  <a:pt x="453409" y="347878"/>
                </a:lnTo>
                <a:lnTo>
                  <a:pt x="497287" y="332769"/>
                </a:lnTo>
                <a:lnTo>
                  <a:pt x="550651" y="319682"/>
                </a:lnTo>
                <a:lnTo>
                  <a:pt x="614745" y="307372"/>
                </a:lnTo>
                <a:lnTo>
                  <a:pt x="550651" y="295063"/>
                </a:lnTo>
                <a:lnTo>
                  <a:pt x="497287" y="281976"/>
                </a:lnTo>
                <a:lnTo>
                  <a:pt x="453409" y="266867"/>
                </a:lnTo>
                <a:lnTo>
                  <a:pt x="417773" y="248493"/>
                </a:lnTo>
                <a:lnTo>
                  <a:pt x="366252" y="196971"/>
                </a:lnTo>
                <a:lnTo>
                  <a:pt x="347878" y="161336"/>
                </a:lnTo>
                <a:lnTo>
                  <a:pt x="332769" y="117458"/>
                </a:lnTo>
                <a:lnTo>
                  <a:pt x="319682" y="64094"/>
                </a:lnTo>
                <a:lnTo>
                  <a:pt x="307372" y="0"/>
                </a:lnTo>
                <a:close/>
              </a:path>
            </a:pathLst>
          </a:custGeom>
          <a:solidFill>
            <a:srgbClr val="89FF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011" name="Google Shape;49;p7"/>
          <p:cNvSpPr/>
          <p:nvPr/>
        </p:nvSpPr>
        <p:spPr>
          <a:xfrm>
            <a:off x="638175" y="1676400"/>
            <a:ext cx="552450" cy="85725"/>
          </a:xfrm>
          <a:custGeom>
            <a:avLst/>
            <a:gdLst/>
            <a:ahLst/>
            <a:cxnLst/>
            <a:rect l="l" t="t" r="r" b="b"/>
            <a:pathLst>
              <a:path w="2339340" h="539115" extrusionOk="0">
                <a:moveTo>
                  <a:pt x="2129736" y="0"/>
                </a:moveTo>
                <a:lnTo>
                  <a:pt x="209417" y="0"/>
                </a:lnTo>
                <a:lnTo>
                  <a:pt x="161399" y="5531"/>
                </a:lnTo>
                <a:lnTo>
                  <a:pt x="117319" y="21286"/>
                </a:lnTo>
                <a:lnTo>
                  <a:pt x="78436" y="46009"/>
                </a:lnTo>
                <a:lnTo>
                  <a:pt x="46005" y="78440"/>
                </a:lnTo>
                <a:lnTo>
                  <a:pt x="21284" y="117324"/>
                </a:lnTo>
                <a:lnTo>
                  <a:pt x="5530" y="161402"/>
                </a:lnTo>
                <a:lnTo>
                  <a:pt x="0" y="209417"/>
                </a:lnTo>
                <a:lnTo>
                  <a:pt x="0" y="329089"/>
                </a:lnTo>
                <a:lnTo>
                  <a:pt x="5530" y="377108"/>
                </a:lnTo>
                <a:lnTo>
                  <a:pt x="21284" y="421187"/>
                </a:lnTo>
                <a:lnTo>
                  <a:pt x="46005" y="460070"/>
                </a:lnTo>
                <a:lnTo>
                  <a:pt x="78436" y="492501"/>
                </a:lnTo>
                <a:lnTo>
                  <a:pt x="117319" y="517222"/>
                </a:lnTo>
                <a:lnTo>
                  <a:pt x="161399" y="532976"/>
                </a:lnTo>
                <a:lnTo>
                  <a:pt x="209417" y="538507"/>
                </a:lnTo>
                <a:lnTo>
                  <a:pt x="2129736" y="538507"/>
                </a:lnTo>
                <a:lnTo>
                  <a:pt x="2177754" y="532976"/>
                </a:lnTo>
                <a:lnTo>
                  <a:pt x="2221834" y="517222"/>
                </a:lnTo>
                <a:lnTo>
                  <a:pt x="2260717" y="492501"/>
                </a:lnTo>
                <a:lnTo>
                  <a:pt x="2293148" y="460070"/>
                </a:lnTo>
                <a:lnTo>
                  <a:pt x="2317869" y="421187"/>
                </a:lnTo>
                <a:lnTo>
                  <a:pt x="2333623" y="377108"/>
                </a:lnTo>
                <a:lnTo>
                  <a:pt x="2339153" y="329089"/>
                </a:lnTo>
                <a:lnTo>
                  <a:pt x="2339153" y="209417"/>
                </a:lnTo>
                <a:lnTo>
                  <a:pt x="2333623" y="161402"/>
                </a:lnTo>
                <a:lnTo>
                  <a:pt x="2317869" y="117324"/>
                </a:lnTo>
                <a:lnTo>
                  <a:pt x="2293148" y="78440"/>
                </a:lnTo>
                <a:lnTo>
                  <a:pt x="2260717" y="46009"/>
                </a:lnTo>
                <a:lnTo>
                  <a:pt x="2221834" y="21286"/>
                </a:lnTo>
                <a:lnTo>
                  <a:pt x="2177754" y="5531"/>
                </a:lnTo>
                <a:lnTo>
                  <a:pt x="2129736" y="0"/>
                </a:lnTo>
                <a:close/>
              </a:path>
            </a:pathLst>
          </a:custGeom>
          <a:solidFill>
            <a:srgbClr val="89FF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61616"/>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05C489"/>
                </a:solidFill>
                <a:latin typeface="Plus Jakarta Sans" pitchFamily="34" charset="0"/>
                <a:ea typeface="Segoe UI" pitchFamily="34" charset="-122"/>
                <a:cs typeface="Segoe UI" pitchFamily="34" charset="-120"/>
              </a:rPr>
              <a:t>THE BLADDER</a:t>
            </a:r>
            <a:endParaRPr lang="en-US" sz="950" dirty="0">
              <a:latin typeface="Plus Jakarta Sans"/>
            </a:endParaRPr>
          </a:p>
        </p:txBody>
      </p:sp>
      <p:sp>
        <p:nvSpPr>
          <p:cNvPr id="3" name="Text 1"/>
          <p:cNvSpPr txBox="1"/>
          <p:nvPr/>
        </p:nvSpPr>
        <p:spPr>
          <a:xfrm>
            <a:off x="6979615" y="384048"/>
            <a:ext cx="4572000" cy="274320"/>
          </a:xfrm>
          <a:prstGeom prst="rect">
            <a:avLst/>
          </a:prstGeom>
          <a:noFill/>
          <a:ln/>
        </p:spPr>
        <p:txBody>
          <a:bodyPr wrap="square" lIns="0" tIns="0" rIns="0" bIns="0" rtlCol="0" anchor="t"/>
          <a:lstStyle/>
          <a:p>
            <a:pPr algn="r" indent="0" marL="0">
              <a:buNone/>
            </a:pPr>
            <a:r>
              <a:rPr lang="en-US" sz="950" spc="100" kern="0" dirty="0">
                <a:solidFill>
                  <a:srgbClr val="BFBFBF"/>
                </a:solidFill>
                <a:latin typeface="Plus Jakarta Sans" pitchFamily="34" charset="0"/>
                <a:ea typeface="Segoe UI" pitchFamily="34" charset="-122"/>
                <a:cs typeface="Segoe UI" pitchFamily="34" charset="-120"/>
              </a:rPr>
              <a:t>10 / 36</a:t>
            </a:r>
            <a:endParaRPr lang="en-US" sz="950" dirty="0">
              <a:latin typeface="Plus Jakarta Sans"/>
            </a:endParaRPr>
          </a:p>
        </p:txBody>
      </p:sp>
      <p:sp>
        <p:nvSpPr>
          <p:cNvPr id="5" name="Text 3"/>
          <p:cNvSpPr txBox="1"/>
          <p:nvPr/>
        </p:nvSpPr>
        <p:spPr>
          <a:xfrm>
            <a:off x="640080" y="6345936"/>
            <a:ext cx="9997135" cy="228600"/>
          </a:xfrm>
          <a:prstGeom prst="rect">
            <a:avLst/>
          </a:prstGeom>
          <a:noFill/>
          <a:ln/>
        </p:spPr>
        <p:txBody>
          <a:bodyPr wrap="square" lIns="0" tIns="0" rIns="0" bIns="0" rtlCol="0" anchor="t"/>
          <a:lstStyle/>
          <a:p>
            <a:pPr algn="l" indent="0" marL="0">
              <a:buNone/>
            </a:pPr>
            <a:r>
              <a:rPr lang="en-US" sz="800" spc="50" kern="0" dirty="0">
                <a:solidFill>
                  <a:srgbClr val="BFBFBF"/>
                </a:solidFill>
                <a:latin typeface="Plus Jakarta Sans" pitchFamily="34" charset="0"/>
                <a:ea typeface="Segoe UI" pitchFamily="34" charset="-122"/>
                <a:cs typeface="Segoe UI" pitchFamily="34" charset="-120"/>
              </a:rPr>
              <a:t>DO24  ·  OAB11  ·  DOFAIL23  ·  CCIFU</a:t>
            </a:r>
            <a:endParaRPr lang="en-US" sz="800" dirty="0">
              <a:latin typeface="Plus Jakarta Sans"/>
            </a:endParaRPr>
          </a:p>
        </p:txBody>
      </p:sp>
      <p:sp>
        <p:nvSpPr>
          <p:cNvPr id="6" name="Text 4"/>
          <p:cNvSpPr txBox="1"/>
          <p:nvPr/>
        </p:nvSpPr>
        <p:spPr>
          <a:xfrm>
            <a:off x="640080" y="5669280"/>
            <a:ext cx="10911535" cy="566928"/>
          </a:xfrm>
          <a:prstGeom prst="rect">
            <a:avLst/>
          </a:prstGeom>
          <a:noFill/>
          <a:ln/>
        </p:spPr>
        <p:txBody>
          <a:bodyPr wrap="square" lIns="0" tIns="0" rIns="0" bIns="0" rtlCol="0" anchor="b"/>
          <a:lstStyle/>
          <a:p>
            <a:pPr algn="l" indent="0" marL="0">
              <a:buNone/>
            </a:pPr>
            <a:r>
              <a:rPr lang="en-US" sz="1200" i="1" dirty="0">
                <a:solidFill>
                  <a:srgbClr val="BFBFBF"/>
                </a:solidFill>
                <a:latin typeface="Plus Jakarta Sans" pitchFamily="34" charset="0"/>
                <a:ea typeface="Segoe UI" pitchFamily="34" charset="-122"/>
                <a:cs typeface="Segoe UI" pitchFamily="34" charset="-120"/>
              </a:rPr>
              <a:t>DO alone does not rule out an AUS. The ContiClassic label requires bladder problems to be controlled or resolved first.</a:t>
            </a:r>
            <a:endParaRPr lang="en-US" sz="1200" dirty="0">
              <a:latin typeface="Plus Jakarta Sans"/>
            </a:endParaRPr>
          </a:p>
        </p:txBody>
      </p:sp>
      <p:sp>
        <p:nvSpPr>
          <p:cNvPr id="7" name="Shape 5"/>
          <p:cNvSpPr/>
          <p:nvPr/>
        </p:nvSpPr>
        <p:spPr>
          <a:xfrm>
            <a:off x="640080" y="1783080"/>
            <a:ext cx="2103120" cy="310896"/>
          </a:xfrm>
          <a:prstGeom prst="roundRect">
            <a:avLst>
              <a:gd name="adj" fmla="val 50000"/>
            </a:avLst>
          </a:prstGeom>
          <a:solidFill>
            <a:srgbClr val="89FF00"/>
          </a:solidFill>
          <a:ln/>
        </p:spPr>
      </p:sp>
      <p:sp>
        <p:nvSpPr>
          <p:cNvPr id="8" name="Text 6"/>
          <p:cNvSpPr txBox="1"/>
          <p:nvPr/>
        </p:nvSpPr>
        <p:spPr>
          <a:xfrm>
            <a:off x="640080" y="1783080"/>
            <a:ext cx="2103120" cy="310896"/>
          </a:xfrm>
          <a:prstGeom prst="rect">
            <a:avLst/>
          </a:prstGeom>
          <a:noFill/>
          <a:ln/>
        </p:spPr>
        <p:txBody>
          <a:bodyPr wrap="square" lIns="0" tIns="0" rIns="0" bIns="0" rtlCol="0" anchor="ctr"/>
          <a:lstStyle/>
          <a:p>
            <a:pPr algn="ctr" indent="0" marL="0">
              <a:buNone/>
            </a:pPr>
            <a:r>
              <a:rPr lang="en-US" sz="900" b="1" spc="100" kern="0" dirty="0">
                <a:solidFill>
                  <a:srgbClr val="161616"/>
                </a:solidFill>
                <a:latin typeface="Plus Jakarta Sans" pitchFamily="34" charset="0"/>
                <a:ea typeface="Segoe UI" pitchFamily="34" charset="-122"/>
                <a:cs typeface="Segoe UI" pitchFamily="34" charset="-120"/>
              </a:rPr>
              <a:t>FICTIONAL CASE 01</a:t>
            </a:r>
            <a:endParaRPr lang="en-US" sz="900" dirty="0">
              <a:solidFill>
                <a:srgbClr val="161616"/>
              </a:solidFill>
              <a:latin typeface="Plus Jakarta Sans"/>
            </a:endParaRPr>
          </a:p>
        </p:txBody>
      </p:sp>
      <p:sp>
        <p:nvSpPr>
          <p:cNvPr id="9" name="Shape 7"/>
          <p:cNvSpPr/>
          <p:nvPr/>
        </p:nvSpPr>
        <p:spPr>
          <a:xfrm>
            <a:off x="640080" y="2423160"/>
            <a:ext cx="100584" cy="100584"/>
          </a:xfrm>
          <a:prstGeom prst="ellipse">
            <a:avLst/>
          </a:prstGeom>
          <a:solidFill>
            <a:srgbClr val="05C489"/>
          </a:solidFill>
          <a:ln/>
        </p:spPr>
      </p:sp>
      <p:sp>
        <p:nvSpPr>
          <p:cNvPr id="10" name="Text 8"/>
          <p:cNvSpPr txBox="1"/>
          <p:nvPr/>
        </p:nvSpPr>
        <p:spPr>
          <a:xfrm>
            <a:off x="914400" y="2331720"/>
            <a:ext cx="5760720" cy="685800"/>
          </a:xfrm>
          <a:prstGeom prst="rect">
            <a:avLst/>
          </a:prstGeom>
          <a:noFill/>
          <a:ln/>
        </p:spPr>
        <p:txBody>
          <a:bodyPr wrap="square" lIns="0" tIns="0" rIns="0" bIns="0" rtlCol="0" anchor="t"/>
          <a:lstStyle/>
          <a:p>
            <a:pPr algn="l" indent="0" marL="0">
              <a:lnSpc>
                <a:spcPct val="110000"/>
              </a:lnSpc>
              <a:buNone/>
            </a:pPr>
            <a:r>
              <a:rPr lang="en-US" sz="1550" dirty="0">
                <a:solidFill>
                  <a:srgbClr val="FFFFFF"/>
                </a:solidFill>
                <a:latin typeface="Plus Jakarta Sans" pitchFamily="34" charset="0"/>
                <a:ea typeface="Segoe UI" pitchFamily="34" charset="-122"/>
                <a:cs typeface="Segoe UI" pitchFamily="34" charset="-120"/>
              </a:rPr>
              <a:t>Stress leak after prostatectomy, shown on examination</a:t>
            </a:r>
            <a:endParaRPr lang="en-US" sz="1550" dirty="0">
              <a:latin typeface="Plus Jakarta Sans"/>
            </a:endParaRPr>
          </a:p>
        </p:txBody>
      </p:sp>
      <p:sp>
        <p:nvSpPr>
          <p:cNvPr id="11" name="Shape 9"/>
          <p:cNvSpPr/>
          <p:nvPr/>
        </p:nvSpPr>
        <p:spPr>
          <a:xfrm>
            <a:off x="640080" y="3172968"/>
            <a:ext cx="100584" cy="100584"/>
          </a:xfrm>
          <a:prstGeom prst="ellipse">
            <a:avLst/>
          </a:prstGeom>
          <a:solidFill>
            <a:srgbClr val="05C489"/>
          </a:solidFill>
          <a:ln/>
        </p:spPr>
      </p:sp>
      <p:sp>
        <p:nvSpPr>
          <p:cNvPr id="12" name="Text 10"/>
          <p:cNvSpPr txBox="1"/>
          <p:nvPr/>
        </p:nvSpPr>
        <p:spPr>
          <a:xfrm>
            <a:off x="914400" y="3081528"/>
            <a:ext cx="5760720" cy="685800"/>
          </a:xfrm>
          <a:prstGeom prst="rect">
            <a:avLst/>
          </a:prstGeom>
          <a:noFill/>
          <a:ln/>
        </p:spPr>
        <p:txBody>
          <a:bodyPr wrap="square" lIns="0" tIns="0" rIns="0" bIns="0" rtlCol="0" anchor="t"/>
          <a:lstStyle/>
          <a:p>
            <a:pPr algn="l" indent="0" marL="0">
              <a:lnSpc>
                <a:spcPct val="110000"/>
              </a:lnSpc>
              <a:buNone/>
            </a:pPr>
            <a:r>
              <a:rPr lang="en-US" sz="1550" dirty="0">
                <a:solidFill>
                  <a:srgbClr val="FFFFFF"/>
                </a:solidFill>
                <a:latin typeface="Plus Jakarta Sans" pitchFamily="34" charset="0"/>
                <a:ea typeface="Segoe UI" pitchFamily="34" charset="-122"/>
                <a:cs typeface="Segoe UI" pitchFamily="34" charset="-120"/>
              </a:rPr>
              <a:t>Urgency leakage and detrusor overactivity</a:t>
            </a:r>
            <a:endParaRPr lang="en-US" sz="1550" dirty="0">
              <a:latin typeface="Plus Jakarta Sans"/>
            </a:endParaRPr>
          </a:p>
        </p:txBody>
      </p:sp>
      <p:sp>
        <p:nvSpPr>
          <p:cNvPr id="13" name="Shape 11"/>
          <p:cNvSpPr/>
          <p:nvPr/>
        </p:nvSpPr>
        <p:spPr>
          <a:xfrm>
            <a:off x="640080" y="3922776"/>
            <a:ext cx="100584" cy="100584"/>
          </a:xfrm>
          <a:prstGeom prst="ellipse">
            <a:avLst/>
          </a:prstGeom>
          <a:solidFill>
            <a:srgbClr val="05C489"/>
          </a:solidFill>
          <a:ln/>
        </p:spPr>
      </p:sp>
      <p:sp>
        <p:nvSpPr>
          <p:cNvPr id="14" name="Text 12"/>
          <p:cNvSpPr txBox="1"/>
          <p:nvPr/>
        </p:nvSpPr>
        <p:spPr>
          <a:xfrm>
            <a:off x="914400" y="3831336"/>
            <a:ext cx="5760720" cy="685800"/>
          </a:xfrm>
          <a:prstGeom prst="rect">
            <a:avLst/>
          </a:prstGeom>
          <a:noFill/>
          <a:ln/>
        </p:spPr>
        <p:txBody>
          <a:bodyPr wrap="square" lIns="0" tIns="0" rIns="0" bIns="0" rtlCol="0" anchor="t"/>
          <a:lstStyle/>
          <a:p>
            <a:pPr algn="l" indent="0" marL="0">
              <a:lnSpc>
                <a:spcPct val="110000"/>
              </a:lnSpc>
              <a:buNone/>
            </a:pPr>
            <a:r>
              <a:rPr lang="en-US" sz="1550" dirty="0">
                <a:solidFill>
                  <a:srgbClr val="FFFFFF"/>
                </a:solidFill>
                <a:latin typeface="Plus Jakarta Sans" pitchFamily="34" charset="0"/>
                <a:ea typeface="Segoe UI" pitchFamily="34" charset="-122"/>
                <a:cs typeface="Segoe UI" pitchFamily="34" charset="-120"/>
              </a:rPr>
              <a:t>Safe storage pressures and good emptying</a:t>
            </a:r>
            <a:endParaRPr lang="en-US" sz="1550" dirty="0">
              <a:latin typeface="Plus Jakarta Sans"/>
            </a:endParaRPr>
          </a:p>
        </p:txBody>
      </p:sp>
      <p:sp>
        <p:nvSpPr>
          <p:cNvPr id="15" name="Shape 13"/>
          <p:cNvSpPr/>
          <p:nvPr/>
        </p:nvSpPr>
        <p:spPr>
          <a:xfrm>
            <a:off x="640080" y="4672584"/>
            <a:ext cx="100584" cy="100584"/>
          </a:xfrm>
          <a:prstGeom prst="ellipse">
            <a:avLst/>
          </a:prstGeom>
          <a:solidFill>
            <a:srgbClr val="05C489"/>
          </a:solidFill>
          <a:ln/>
        </p:spPr>
      </p:sp>
      <p:sp>
        <p:nvSpPr>
          <p:cNvPr id="16" name="Text 14"/>
          <p:cNvSpPr txBox="1"/>
          <p:nvPr/>
        </p:nvSpPr>
        <p:spPr>
          <a:xfrm>
            <a:off x="914400" y="4581144"/>
            <a:ext cx="5760720" cy="685800"/>
          </a:xfrm>
          <a:prstGeom prst="rect">
            <a:avLst/>
          </a:prstGeom>
          <a:noFill/>
          <a:ln/>
        </p:spPr>
        <p:txBody>
          <a:bodyPr wrap="square" lIns="0" tIns="0" rIns="0" bIns="0" rtlCol="0" anchor="t"/>
          <a:lstStyle/>
          <a:p>
            <a:pPr algn="l" indent="0" marL="0">
              <a:lnSpc>
                <a:spcPct val="110000"/>
              </a:lnSpc>
              <a:buNone/>
            </a:pPr>
            <a:r>
              <a:rPr lang="en-US" sz="1550" dirty="0">
                <a:solidFill>
                  <a:srgbClr val="FFFFFF"/>
                </a:solidFill>
                <a:latin typeface="Plus Jakarta Sans" pitchFamily="34" charset="0"/>
                <a:ea typeface="Segoe UI" pitchFamily="34" charset="-122"/>
                <a:cs typeface="Segoe UI" pitchFamily="34" charset="-120"/>
              </a:rPr>
              <a:t>Goal: walk without soaking his clothes</a:t>
            </a:r>
            <a:endParaRPr lang="en-US" sz="1550" dirty="0">
              <a:latin typeface="Plus Jakarta Sans"/>
            </a:endParaRPr>
          </a:p>
        </p:txBody>
      </p:sp>
      <p:sp>
        <p:nvSpPr>
          <p:cNvPr id="17" name="Shape 15"/>
          <p:cNvSpPr/>
          <p:nvPr/>
        </p:nvSpPr>
        <p:spPr>
          <a:xfrm>
            <a:off x="7132320" y="1783080"/>
            <a:ext cx="4419295" cy="3611880"/>
          </a:xfrm>
          <a:prstGeom prst="roundRect">
            <a:avLst>
              <a:gd name="adj" fmla="val 3544"/>
            </a:avLst>
          </a:prstGeom>
          <a:solidFill>
            <a:srgbClr val="2D2D2D"/>
          </a:solidFill>
          <a:ln/>
        </p:spPr>
      </p:sp>
      <p:sp>
        <p:nvSpPr>
          <p:cNvPr id="18" name="Text 16"/>
          <p:cNvSpPr txBox="1"/>
          <p:nvPr/>
        </p:nvSpPr>
        <p:spPr>
          <a:xfrm>
            <a:off x="7498080" y="2057400"/>
            <a:ext cx="3687775" cy="1463040"/>
          </a:xfrm>
          <a:prstGeom prst="rect">
            <a:avLst/>
          </a:prstGeom>
          <a:noFill/>
          <a:ln/>
        </p:spPr>
        <p:txBody>
          <a:bodyPr wrap="square" lIns="0" tIns="0" rIns="0" bIns="0" rtlCol="0" anchor="t"/>
          <a:lstStyle/>
          <a:p>
            <a:pPr algn="l" indent="0" marL="0">
              <a:lnSpc>
                <a:spcPct val="105000"/>
              </a:lnSpc>
              <a:buNone/>
            </a:pPr>
            <a:r>
              <a:rPr lang="en-US" sz="2400" dirty="0">
                <a:solidFill>
                  <a:srgbClr val="FFFFFF"/>
                </a:solidFill>
                <a:latin typeface="Plus Jakarta Sans" pitchFamily="34" charset="0"/>
                <a:ea typeface="Segoe UI Semibold" pitchFamily="34" charset="-122"/>
                <a:cs typeface="Segoe UI Semibold" pitchFamily="34" charset="-120"/>
              </a:rPr>
              <a:t>Implant now or optimise first?</a:t>
            </a:r>
            <a:endParaRPr lang="en-US" sz="2400" dirty="0">
              <a:latin typeface="Plus Jakarta Sans"/>
            </a:endParaRPr>
          </a:p>
        </p:txBody>
      </p:sp>
      <p:sp>
        <p:nvSpPr>
          <p:cNvPr id="19" name="Text 17"/>
          <p:cNvSpPr txBox="1"/>
          <p:nvPr/>
        </p:nvSpPr>
        <p:spPr>
          <a:xfrm>
            <a:off x="7498080" y="3611880"/>
            <a:ext cx="3687775" cy="274320"/>
          </a:xfrm>
          <a:prstGeom prst="rect">
            <a:avLst/>
          </a:prstGeom>
          <a:noFill/>
          <a:ln/>
        </p:spPr>
        <p:txBody>
          <a:bodyPr wrap="square" lIns="0" tIns="0" rIns="0" bIns="0" rtlCol="0" anchor="t"/>
          <a:lstStyle/>
          <a:p>
            <a:pPr algn="l" indent="0" marL="0">
              <a:buNone/>
            </a:pPr>
            <a:r>
              <a:rPr lang="en-US" sz="900" b="1" spc="250" kern="0" dirty="0">
                <a:solidFill>
                  <a:srgbClr val="BFBFBF"/>
                </a:solidFill>
                <a:latin typeface="Plus Jakarta Sans" pitchFamily="34" charset="0"/>
                <a:ea typeface="Segoe UI" pitchFamily="34" charset="-122"/>
                <a:cs typeface="Segoe UI" pitchFamily="34" charset="-120"/>
              </a:rPr>
              <a:t>YOUR CALL</a:t>
            </a:r>
            <a:endParaRPr lang="en-US" sz="900" dirty="0">
              <a:latin typeface="Plus Jakarta Sans"/>
            </a:endParaRPr>
          </a:p>
        </p:txBody>
      </p:sp>
      <p:sp>
        <p:nvSpPr>
          <p:cNvPr id="20" name="Shape 18"/>
          <p:cNvSpPr/>
          <p:nvPr/>
        </p:nvSpPr>
        <p:spPr>
          <a:xfrm>
            <a:off x="7498080" y="3950208"/>
            <a:ext cx="1002182" cy="365760"/>
          </a:xfrm>
          <a:prstGeom prst="roundRect">
            <a:avLst>
              <a:gd name="adj" fmla="val 50000"/>
            </a:avLst>
          </a:prstGeom>
          <a:solidFill>
            <a:srgbClr val="05C489"/>
          </a:solidFill>
          <a:ln/>
        </p:spPr>
      </p:sp>
      <p:sp>
        <p:nvSpPr>
          <p:cNvPr id="21" name="Text 19"/>
          <p:cNvSpPr txBox="1"/>
          <p:nvPr/>
        </p:nvSpPr>
        <p:spPr>
          <a:xfrm>
            <a:off x="7498080" y="3950208"/>
            <a:ext cx="1002182" cy="365760"/>
          </a:xfrm>
          <a:prstGeom prst="rect">
            <a:avLst/>
          </a:prstGeom>
          <a:noFill/>
          <a:ln/>
        </p:spPr>
        <p:txBody>
          <a:bodyPr wrap="square" lIns="0" tIns="0" rIns="0" bIns="0" rtlCol="0" anchor="ctr"/>
          <a:lstStyle/>
          <a:p>
            <a:pPr algn="ctr" indent="0" marL="0">
              <a:buNone/>
            </a:pPr>
            <a:r>
              <a:rPr lang="en-US" sz="1000" b="1" spc="100" kern="0" dirty="0">
                <a:solidFill>
                  <a:srgbClr val="161616"/>
                </a:solidFill>
                <a:latin typeface="Plus Jakarta Sans" pitchFamily="34" charset="0"/>
                <a:ea typeface="Segoe UI" pitchFamily="34" charset="-122"/>
                <a:cs typeface="Segoe UI" pitchFamily="34" charset="-120"/>
              </a:rPr>
              <a:t>IMPLANT</a:t>
            </a:r>
            <a:endParaRPr lang="en-US" sz="1000" dirty="0">
              <a:solidFill>
                <a:srgbClr val="161616"/>
              </a:solidFill>
              <a:latin typeface="Plus Jakarta Sans"/>
            </a:endParaRPr>
          </a:p>
        </p:txBody>
      </p:sp>
      <p:sp>
        <p:nvSpPr>
          <p:cNvPr id="22" name="Shape 20"/>
          <p:cNvSpPr/>
          <p:nvPr/>
        </p:nvSpPr>
        <p:spPr>
          <a:xfrm>
            <a:off x="8628278" y="3950208"/>
            <a:ext cx="1100938" cy="365760"/>
          </a:xfrm>
          <a:prstGeom prst="roundRect">
            <a:avLst>
              <a:gd name="adj" fmla="val 50000"/>
            </a:avLst>
          </a:prstGeom>
          <a:solidFill>
            <a:srgbClr val="89FF00"/>
          </a:solidFill>
          <a:ln/>
        </p:spPr>
      </p:sp>
      <p:sp>
        <p:nvSpPr>
          <p:cNvPr id="23" name="Text 21"/>
          <p:cNvSpPr txBox="1"/>
          <p:nvPr/>
        </p:nvSpPr>
        <p:spPr>
          <a:xfrm>
            <a:off x="8628278" y="3950208"/>
            <a:ext cx="1100938" cy="365760"/>
          </a:xfrm>
          <a:prstGeom prst="rect">
            <a:avLst/>
          </a:prstGeom>
          <a:noFill/>
          <a:ln/>
        </p:spPr>
        <p:txBody>
          <a:bodyPr wrap="square" lIns="0" tIns="0" rIns="0" bIns="0" rtlCol="0" anchor="ctr"/>
          <a:lstStyle/>
          <a:p>
            <a:pPr algn="ctr" indent="0" marL="0">
              <a:buNone/>
            </a:pPr>
            <a:r>
              <a:rPr lang="en-US" sz="1000" b="1" spc="100" kern="0" dirty="0">
                <a:solidFill>
                  <a:srgbClr val="161616"/>
                </a:solidFill>
                <a:latin typeface="Plus Jakarta Sans" pitchFamily="34" charset="0"/>
                <a:ea typeface="Segoe UI" pitchFamily="34" charset="-122"/>
                <a:cs typeface="Segoe UI" pitchFamily="34" charset="-120"/>
              </a:rPr>
              <a:t>OPTIMISE</a:t>
            </a:r>
            <a:endParaRPr lang="en-US" sz="1000" dirty="0">
              <a:solidFill>
                <a:srgbClr val="161616"/>
              </a:solidFill>
              <a:latin typeface="Plus Jakarta Sans"/>
            </a:endParaRPr>
          </a:p>
        </p:txBody>
      </p:sp>
      <p:sp>
        <p:nvSpPr>
          <p:cNvPr id="24" name="Shape 22"/>
          <p:cNvSpPr/>
          <p:nvPr/>
        </p:nvSpPr>
        <p:spPr>
          <a:xfrm>
            <a:off x="7498080" y="4425696"/>
            <a:ext cx="1397203" cy="365760"/>
          </a:xfrm>
          <a:prstGeom prst="roundRect">
            <a:avLst>
              <a:gd name="adj" fmla="val 50000"/>
            </a:avLst>
          </a:prstGeom>
          <a:solidFill>
            <a:srgbClr val="FFFFFF"/>
          </a:solidFill>
          <a:ln/>
        </p:spPr>
      </p:sp>
      <p:sp>
        <p:nvSpPr>
          <p:cNvPr id="25" name="Text 23"/>
          <p:cNvSpPr txBox="1"/>
          <p:nvPr/>
        </p:nvSpPr>
        <p:spPr>
          <a:xfrm>
            <a:off x="7498080" y="4425696"/>
            <a:ext cx="1397203" cy="365760"/>
          </a:xfrm>
          <a:prstGeom prst="rect">
            <a:avLst/>
          </a:prstGeom>
          <a:noFill/>
          <a:ln/>
        </p:spPr>
        <p:txBody>
          <a:bodyPr wrap="square" lIns="0" tIns="0" rIns="0" bIns="0" rtlCol="0" anchor="ctr"/>
          <a:lstStyle/>
          <a:p>
            <a:pPr algn="ctr" indent="0" marL="0">
              <a:buNone/>
            </a:pPr>
            <a:r>
              <a:rPr lang="en-US" sz="1000" b="1" spc="100" kern="0" dirty="0">
                <a:solidFill>
                  <a:srgbClr val="161616"/>
                </a:solidFill>
                <a:latin typeface="Plus Jakarta Sans" pitchFamily="34" charset="0"/>
                <a:ea typeface="Segoe UI" pitchFamily="34" charset="-122"/>
                <a:cs typeface="Segoe UI" pitchFamily="34" charset="-120"/>
              </a:rPr>
              <a:t>INVESTIGATE</a:t>
            </a:r>
            <a:endParaRPr lang="en-US" sz="1000" dirty="0">
              <a:solidFill>
                <a:srgbClr val="161616"/>
              </a:solidFill>
              <a:latin typeface="Plus Jakarta Sans"/>
            </a:endParaRPr>
          </a:p>
        </p:txBody>
      </p:sp>
      <p:sp>
        <p:nvSpPr>
          <p:cNvPr id="26" name="Shape 24"/>
          <p:cNvSpPr/>
          <p:nvPr/>
        </p:nvSpPr>
        <p:spPr>
          <a:xfrm>
            <a:off x="9023299" y="4425696"/>
            <a:ext cx="1298448" cy="365760"/>
          </a:xfrm>
          <a:prstGeom prst="roundRect">
            <a:avLst>
              <a:gd name="adj" fmla="val 50000"/>
            </a:avLst>
          </a:prstGeom>
          <a:solidFill>
            <a:srgbClr val="FF8500"/>
          </a:solidFill>
          <a:ln/>
        </p:spPr>
      </p:sp>
      <p:sp>
        <p:nvSpPr>
          <p:cNvPr id="27" name="Text 25"/>
          <p:cNvSpPr txBox="1"/>
          <p:nvPr/>
        </p:nvSpPr>
        <p:spPr>
          <a:xfrm>
            <a:off x="9023299" y="4425696"/>
            <a:ext cx="1298448" cy="365760"/>
          </a:xfrm>
          <a:prstGeom prst="rect">
            <a:avLst/>
          </a:prstGeom>
          <a:noFill/>
          <a:ln/>
        </p:spPr>
        <p:txBody>
          <a:bodyPr wrap="square" lIns="0" tIns="0" rIns="0" bIns="0" rtlCol="0" anchor="ctr"/>
          <a:lstStyle/>
          <a:p>
            <a:pPr algn="ctr" indent="0" marL="0">
              <a:buNone/>
            </a:pPr>
            <a:r>
              <a:rPr lang="en-US" sz="1000" b="1" spc="100" kern="0" dirty="0">
                <a:solidFill>
                  <a:srgbClr val="161616"/>
                </a:solidFill>
                <a:latin typeface="Plus Jakarta Sans" pitchFamily="34" charset="0"/>
                <a:ea typeface="Segoe UI" pitchFamily="34" charset="-122"/>
                <a:cs typeface="Segoe UI" pitchFamily="34" charset="-120"/>
              </a:rPr>
              <a:t>RECONSIDER</a:t>
            </a:r>
            <a:endParaRPr lang="en-US" sz="1000" dirty="0">
              <a:solidFill>
                <a:srgbClr val="161616"/>
              </a:solidFill>
              <a:latin typeface="Plus Jakarta Sans"/>
            </a:endParaRPr>
          </a:p>
        </p:txBody>
      </p:sp>
      <p:sp>
        <p:nvSpPr>
          <p:cNvPr id="9001" name="replacement-title">
            <a:extLst>
              <a:ext uri="{FF2B5EF4-FFF2-40B4-BE49-F238E27FC236}">
                <a16:creationId xmlns:a16="http://schemas.microsoft.com/office/drawing/2014/main" id="{D0A0E2FF-D0EE-4560-BA16-B59354F20728}"/>
              </a:ext>
            </a:extLst>
          </p:cNvPr>
          <p:cNvSpPr>
            <a:spLocks noGrp="1"/>
          </p:cNvSpPr>
          <p:nvPr/>
        </p:nvSpPr>
        <p:spPr>
          <a:xfrm>
            <a:off x="638175" y="752475"/>
            <a:ext cx="10915650" cy="800100"/>
          </a:xfrm>
          <a:prstGeom prst="rect">
            <a:avLst/>
          </a:prstGeom>
          <a:noFill/>
          <a:ln w="0">
            <a:noFill/>
          </a:ln>
        </p:spPr>
        <p:txBody>
          <a:bodyPr anchor="ctr"/>
          <a:lstStyle>
            <a:defPPr>
              <a:defRPr sz="2625" b="1">
                <a:solidFill>
                  <a:srgbClr val="FFFFFF"/>
                </a:solidFill>
                <a:latin typeface="Plus Jakarta Sans"/>
              </a:defRPr>
            </a:defPPr>
            <a:lvl1pPr>
              <a:defRPr sz="2625" b="1">
                <a:solidFill>
                  <a:srgbClr val="FFFFFF"/>
                </a:solidFill>
                <a:latin typeface="Plus Jakarta Sans"/>
              </a:defRPr>
            </a:lvl1pPr>
            <a:lvl2pPr>
              <a:defRPr sz="2625" b="1">
                <a:solidFill>
                  <a:srgbClr val="FFFFFF"/>
                </a:solidFill>
                <a:latin typeface="Plus Jakarta Sans"/>
              </a:defRPr>
            </a:lvl2pPr>
            <a:lvl3pPr>
              <a:defRPr sz="2625" b="1">
                <a:solidFill>
                  <a:srgbClr val="FFFFFF"/>
                </a:solidFill>
                <a:latin typeface="Plus Jakarta Sans"/>
              </a:defRPr>
            </a:lvl3pPr>
            <a:lvl4pPr>
              <a:defRPr sz="2625" b="1">
                <a:solidFill>
                  <a:srgbClr val="FFFFFF"/>
                </a:solidFill>
                <a:latin typeface="Plus Jakarta Sans"/>
              </a:defRPr>
            </a:lvl4pPr>
            <a:lvl5pPr>
              <a:defRPr sz="2625" b="1">
                <a:solidFill>
                  <a:srgbClr val="FFFFFF"/>
                </a:solidFill>
                <a:latin typeface="Plus Jakarta Sans"/>
              </a:defRPr>
            </a:lvl5pPr>
            <a:lvl6pPr>
              <a:defRPr sz="2625" b="1">
                <a:solidFill>
                  <a:srgbClr val="FFFFFF"/>
                </a:solidFill>
                <a:latin typeface="Plus Jakarta Sans"/>
              </a:defRPr>
            </a:lvl6pPr>
            <a:lvl7pPr>
              <a:defRPr sz="2625" b="1">
                <a:solidFill>
                  <a:srgbClr val="FFFFFF"/>
                </a:solidFill>
                <a:latin typeface="Plus Jakarta Sans"/>
              </a:defRPr>
            </a:lvl7pPr>
            <a:lvl8pPr>
              <a:defRPr sz="2625" b="1">
                <a:solidFill>
                  <a:srgbClr val="FFFFFF"/>
                </a:solidFill>
                <a:latin typeface="Plus Jakarta Sans"/>
              </a:defRPr>
            </a:lvl8pPr>
            <a:lvl9pPr>
              <a:defRPr sz="2625" b="1">
                <a:solidFill>
                  <a:srgbClr val="FFFFFF"/>
                </a:solidFill>
                <a:latin typeface="Plus Jakarta Sans"/>
              </a:defRPr>
            </a:lvl9pPr>
          </a:lstStyle>
          <a:p>
            <a:pPr>
              <a:defRPr sz="2625" b="1">
                <a:solidFill>
                  <a:srgbClr val="FFFFFF"/>
                </a:solidFill>
                <a:latin typeface="Plus Jakarta Sans"/>
              </a:defRPr>
            </a:pPr>
            <a:r>
              <a:rPr sz="2625" b="1">
                <a:solidFill>
                  <a:srgbClr val="FFFFFF"/>
                </a:solidFill>
                <a:latin typeface="Plus Jakarta Sans"/>
              </a:rPr>
              <a:t>Case 1: six pads and urgency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61616"/>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05C489"/>
                </a:solidFill>
                <a:latin typeface="Plus Jakarta Sans" pitchFamily="34" charset="0"/>
                <a:ea typeface="Segoe UI" pitchFamily="34" charset="-122"/>
                <a:cs typeface="Segoe UI" pitchFamily="34" charset="-120"/>
              </a:rPr>
              <a:t>THE BLADDER</a:t>
            </a:r>
            <a:endParaRPr lang="en-US" sz="950" dirty="0">
              <a:latin typeface="Plus Jakarta Sans"/>
            </a:endParaRPr>
          </a:p>
        </p:txBody>
      </p:sp>
      <p:sp>
        <p:nvSpPr>
          <p:cNvPr id="3" name="Text 1"/>
          <p:cNvSpPr txBox="1"/>
          <p:nvPr/>
        </p:nvSpPr>
        <p:spPr>
          <a:xfrm>
            <a:off x="6979615" y="384048"/>
            <a:ext cx="4572000" cy="274320"/>
          </a:xfrm>
          <a:prstGeom prst="rect">
            <a:avLst/>
          </a:prstGeom>
          <a:noFill/>
          <a:ln/>
        </p:spPr>
        <p:txBody>
          <a:bodyPr wrap="square" lIns="0" tIns="0" rIns="0" bIns="0" rtlCol="0" anchor="t"/>
          <a:lstStyle/>
          <a:p>
            <a:pPr algn="r" indent="0" marL="0">
              <a:buNone/>
            </a:pPr>
            <a:r>
              <a:rPr lang="en-US" sz="950" spc="100" kern="0" dirty="0">
                <a:solidFill>
                  <a:srgbClr val="BFBFBF"/>
                </a:solidFill>
                <a:latin typeface="Plus Jakarta Sans" pitchFamily="34" charset="0"/>
                <a:ea typeface="Segoe UI" pitchFamily="34" charset="-122"/>
                <a:cs typeface="Segoe UI" pitchFamily="34" charset="-120"/>
              </a:rPr>
              <a:t>11 / 36</a:t>
            </a:r>
            <a:endParaRPr lang="en-US" sz="950" dirty="0">
              <a:latin typeface="Plus Jakarta Sans"/>
            </a:endParaRPr>
          </a:p>
        </p:txBody>
      </p:sp>
      <p:sp>
        <p:nvSpPr>
          <p:cNvPr id="5" name="Text 3"/>
          <p:cNvSpPr txBox="1"/>
          <p:nvPr/>
        </p:nvSpPr>
        <p:spPr>
          <a:xfrm>
            <a:off x="640080" y="6345936"/>
            <a:ext cx="9997135" cy="228600"/>
          </a:xfrm>
          <a:prstGeom prst="rect">
            <a:avLst/>
          </a:prstGeom>
          <a:noFill/>
          <a:ln/>
        </p:spPr>
        <p:txBody>
          <a:bodyPr wrap="square" lIns="0" tIns="0" rIns="0" bIns="0" rtlCol="0" anchor="t"/>
          <a:lstStyle/>
          <a:p>
            <a:pPr algn="l" indent="0" marL="0">
              <a:buNone/>
            </a:pPr>
            <a:r>
              <a:rPr lang="en-US" sz="800" spc="50" kern="0" dirty="0">
                <a:solidFill>
                  <a:srgbClr val="BFBFBF"/>
                </a:solidFill>
                <a:latin typeface="Plus Jakarta Sans" pitchFamily="34" charset="0"/>
                <a:ea typeface="Segoe UI" pitchFamily="34" charset="-122"/>
                <a:cs typeface="Segoe UI" pitchFamily="34" charset="-120"/>
              </a:rPr>
              <a:t>BAUS25  ·  AUAOAB24  ·  OAB11  ·  CCIFU</a:t>
            </a:r>
            <a:endParaRPr lang="en-US" sz="800" dirty="0">
              <a:latin typeface="Plus Jakarta Sans"/>
            </a:endParaRPr>
          </a:p>
        </p:txBody>
      </p:sp>
      <p:sp>
        <p:nvSpPr>
          <p:cNvPr id="6" name="Text 4"/>
          <p:cNvSpPr txBox="1"/>
          <p:nvPr/>
        </p:nvSpPr>
        <p:spPr>
          <a:xfrm>
            <a:off x="640080" y="5669280"/>
            <a:ext cx="10911535" cy="566928"/>
          </a:xfrm>
          <a:prstGeom prst="rect">
            <a:avLst/>
          </a:prstGeom>
          <a:noFill/>
          <a:ln/>
        </p:spPr>
        <p:txBody>
          <a:bodyPr wrap="square" lIns="0" tIns="0" rIns="0" bIns="0" rtlCol="0" anchor="b"/>
          <a:lstStyle/>
          <a:p>
            <a:pPr algn="l" indent="0" marL="0">
              <a:buNone/>
            </a:pPr>
            <a:r>
              <a:rPr lang="en-US" sz="1200" i="1" dirty="0">
                <a:solidFill>
                  <a:srgbClr val="BFBFBF"/>
                </a:solidFill>
                <a:latin typeface="Plus Jakarta Sans" pitchFamily="34" charset="0"/>
                <a:ea typeface="Segoe UI" pitchFamily="34" charset="-122"/>
                <a:cs typeface="Segoe UI" pitchFamily="34" charset="-120"/>
              </a:rPr>
              <a:t>No one order of treatments has been shown to be best around a cuff.</a:t>
            </a:r>
            <a:endParaRPr lang="en-US" sz="1200" dirty="0">
              <a:latin typeface="Plus Jakarta Sans"/>
            </a:endParaRPr>
          </a:p>
        </p:txBody>
      </p:sp>
      <p:sp>
        <p:nvSpPr>
          <p:cNvPr id="7" name="Shape 5"/>
          <p:cNvSpPr/>
          <p:nvPr/>
        </p:nvSpPr>
        <p:spPr>
          <a:xfrm>
            <a:off x="640080" y="1828800"/>
            <a:ext cx="457200" cy="457200"/>
          </a:xfrm>
          <a:prstGeom prst="ellipse">
            <a:avLst/>
          </a:prstGeom>
          <a:solidFill>
            <a:srgbClr val="05C489"/>
          </a:solidFill>
          <a:ln/>
        </p:spPr>
      </p:sp>
      <p:sp>
        <p:nvSpPr>
          <p:cNvPr id="8" name="Text 6"/>
          <p:cNvSpPr txBox="1"/>
          <p:nvPr/>
        </p:nvSpPr>
        <p:spPr>
          <a:xfrm>
            <a:off x="640080" y="182880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Plus Jakarta Sans" pitchFamily="34" charset="0"/>
                <a:ea typeface="Segoe UI Semibold" pitchFamily="34" charset="-122"/>
                <a:cs typeface="Segoe UI Semibold" pitchFamily="34" charset="-120"/>
              </a:rPr>
              <a:t>1</a:t>
            </a:r>
            <a:endParaRPr lang="en-US" sz="1300" dirty="0">
              <a:latin typeface="Plus Jakarta Sans"/>
            </a:endParaRPr>
          </a:p>
        </p:txBody>
      </p:sp>
      <p:sp>
        <p:nvSpPr>
          <p:cNvPr id="9" name="Text 7"/>
          <p:cNvSpPr txBox="1"/>
          <p:nvPr/>
        </p:nvSpPr>
        <p:spPr>
          <a:xfrm>
            <a:off x="1325880" y="1828800"/>
            <a:ext cx="10225735" cy="457200"/>
          </a:xfrm>
          <a:prstGeom prst="rect">
            <a:avLst/>
          </a:prstGeom>
          <a:noFill/>
          <a:ln/>
        </p:spPr>
        <p:txBody>
          <a:bodyPr wrap="square" lIns="0" tIns="0" rIns="0" bIns="0" rtlCol="0" anchor="ctr"/>
          <a:lstStyle/>
          <a:p>
            <a:pPr algn="l" indent="0" marL="0">
              <a:buNone/>
            </a:pPr>
            <a:r>
              <a:rPr lang="en-US" sz="1700" dirty="0">
                <a:solidFill>
                  <a:srgbClr val="FFFFFF"/>
                </a:solidFill>
                <a:latin typeface="Plus Jakarta Sans" pitchFamily="34" charset="0"/>
                <a:ea typeface="Segoe UI" pitchFamily="34" charset="-122"/>
                <a:cs typeface="Segoe UI" pitchFamily="34" charset="-120"/>
              </a:rPr>
              <a:t>Fix the reversible causes first</a:t>
            </a:r>
            <a:endParaRPr lang="en-US" sz="1700" dirty="0">
              <a:latin typeface="Plus Jakarta Sans"/>
            </a:endParaRPr>
          </a:p>
        </p:txBody>
      </p:sp>
      <p:sp>
        <p:nvSpPr>
          <p:cNvPr id="10" name="Shape 8"/>
          <p:cNvSpPr/>
          <p:nvPr/>
        </p:nvSpPr>
        <p:spPr>
          <a:xfrm>
            <a:off x="1325880" y="2679192"/>
            <a:ext cx="10225735" cy="0"/>
          </a:xfrm>
          <a:prstGeom prst="line">
            <a:avLst/>
          </a:prstGeom>
          <a:noFill/>
          <a:ln w="9525">
            <a:solidFill>
              <a:srgbClr val="3D3D3D"/>
            </a:solidFill>
            <a:prstDash val="solid"/>
          </a:ln>
        </p:spPr>
      </p:sp>
      <p:sp>
        <p:nvSpPr>
          <p:cNvPr id="11" name="Shape 9"/>
          <p:cNvSpPr/>
          <p:nvPr/>
        </p:nvSpPr>
        <p:spPr>
          <a:xfrm>
            <a:off x="640080" y="2697480"/>
            <a:ext cx="457200" cy="457200"/>
          </a:xfrm>
          <a:prstGeom prst="ellipse">
            <a:avLst/>
          </a:prstGeom>
          <a:solidFill>
            <a:srgbClr val="05C489"/>
          </a:solidFill>
          <a:ln/>
        </p:spPr>
      </p:sp>
      <p:sp>
        <p:nvSpPr>
          <p:cNvPr id="12" name="Text 10"/>
          <p:cNvSpPr txBox="1"/>
          <p:nvPr/>
        </p:nvSpPr>
        <p:spPr>
          <a:xfrm>
            <a:off x="640080" y="26974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Plus Jakarta Sans" pitchFamily="34" charset="0"/>
                <a:ea typeface="Segoe UI Semibold" pitchFamily="34" charset="-122"/>
                <a:cs typeface="Segoe UI Semibold" pitchFamily="34" charset="-120"/>
              </a:rPr>
              <a:t>2</a:t>
            </a:r>
            <a:endParaRPr lang="en-US" sz="1300" dirty="0">
              <a:latin typeface="Plus Jakarta Sans"/>
            </a:endParaRPr>
          </a:p>
        </p:txBody>
      </p:sp>
      <p:sp>
        <p:nvSpPr>
          <p:cNvPr id="13" name="Text 11"/>
          <p:cNvSpPr txBox="1"/>
          <p:nvPr/>
        </p:nvSpPr>
        <p:spPr>
          <a:xfrm>
            <a:off x="1325880" y="2697480"/>
            <a:ext cx="10225735" cy="457200"/>
          </a:xfrm>
          <a:prstGeom prst="rect">
            <a:avLst/>
          </a:prstGeom>
          <a:noFill/>
          <a:ln/>
        </p:spPr>
        <p:txBody>
          <a:bodyPr wrap="square" lIns="0" tIns="0" rIns="0" bIns="0" rtlCol="0" anchor="ctr"/>
          <a:lstStyle/>
          <a:p>
            <a:pPr algn="l" indent="0" marL="0">
              <a:buNone/>
            </a:pPr>
            <a:r>
              <a:rPr lang="en-US" sz="1700" dirty="0">
                <a:solidFill>
                  <a:srgbClr val="FFFFFF"/>
                </a:solidFill>
                <a:latin typeface="Plus Jakarta Sans" pitchFamily="34" charset="0"/>
                <a:ea typeface="Segoe UI" pitchFamily="34" charset="-122"/>
                <a:cs typeface="Segoe UI" pitchFamily="34" charset="-120"/>
              </a:rPr>
              <a:t>Choose the drug with his memory and his residual in mind</a:t>
            </a:r>
            <a:endParaRPr lang="en-US" sz="1700" dirty="0">
              <a:latin typeface="Plus Jakarta Sans"/>
            </a:endParaRPr>
          </a:p>
        </p:txBody>
      </p:sp>
      <p:sp>
        <p:nvSpPr>
          <p:cNvPr id="14" name="Shape 12"/>
          <p:cNvSpPr/>
          <p:nvPr/>
        </p:nvSpPr>
        <p:spPr>
          <a:xfrm>
            <a:off x="1325880" y="3547872"/>
            <a:ext cx="10225735" cy="0"/>
          </a:xfrm>
          <a:prstGeom prst="line">
            <a:avLst/>
          </a:prstGeom>
          <a:noFill/>
          <a:ln w="9525">
            <a:solidFill>
              <a:srgbClr val="3D3D3D"/>
            </a:solidFill>
            <a:prstDash val="solid"/>
          </a:ln>
        </p:spPr>
      </p:sp>
      <p:sp>
        <p:nvSpPr>
          <p:cNvPr id="15" name="Shape 13"/>
          <p:cNvSpPr/>
          <p:nvPr/>
        </p:nvSpPr>
        <p:spPr>
          <a:xfrm>
            <a:off x="640080" y="3566160"/>
            <a:ext cx="457200" cy="457200"/>
          </a:xfrm>
          <a:prstGeom prst="ellipse">
            <a:avLst/>
          </a:prstGeom>
          <a:solidFill>
            <a:srgbClr val="05C489"/>
          </a:solidFill>
          <a:ln/>
        </p:spPr>
      </p:sp>
      <p:sp>
        <p:nvSpPr>
          <p:cNvPr id="16" name="Text 14"/>
          <p:cNvSpPr txBox="1"/>
          <p:nvPr/>
        </p:nvSpPr>
        <p:spPr>
          <a:xfrm>
            <a:off x="640080" y="356616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Plus Jakarta Sans" pitchFamily="34" charset="0"/>
                <a:ea typeface="Segoe UI Semibold" pitchFamily="34" charset="-122"/>
                <a:cs typeface="Segoe UI Semibold" pitchFamily="34" charset="-120"/>
              </a:rPr>
              <a:t>3</a:t>
            </a:r>
            <a:endParaRPr lang="en-US" sz="1300" dirty="0">
              <a:latin typeface="Plus Jakarta Sans"/>
            </a:endParaRPr>
          </a:p>
        </p:txBody>
      </p:sp>
      <p:sp>
        <p:nvSpPr>
          <p:cNvPr id="17" name="Text 15"/>
          <p:cNvSpPr txBox="1"/>
          <p:nvPr/>
        </p:nvSpPr>
        <p:spPr>
          <a:xfrm>
            <a:off x="1325880" y="3566160"/>
            <a:ext cx="10225735" cy="457200"/>
          </a:xfrm>
          <a:prstGeom prst="rect">
            <a:avLst/>
          </a:prstGeom>
          <a:noFill/>
          <a:ln/>
        </p:spPr>
        <p:txBody>
          <a:bodyPr wrap="square" lIns="0" tIns="0" rIns="0" bIns="0" rtlCol="0" anchor="ctr"/>
          <a:lstStyle/>
          <a:p>
            <a:pPr algn="l" indent="0" marL="0">
              <a:buNone/>
            </a:pPr>
            <a:r>
              <a:rPr lang="en-US" sz="1700" dirty="0">
                <a:solidFill>
                  <a:srgbClr val="FFFFFF"/>
                </a:solidFill>
                <a:latin typeface="Plus Jakarta Sans" pitchFamily="34" charset="0"/>
                <a:ea typeface="Segoe UI" pitchFamily="34" charset="-122"/>
                <a:cs typeface="Segoe UI" pitchFamily="34" charset="-120"/>
              </a:rPr>
              <a:t>Before botulinum toxin, plan for retention and for repeat injections through a cuff</a:t>
            </a:r>
            <a:endParaRPr lang="en-US" sz="1700" dirty="0">
              <a:latin typeface="Plus Jakarta Sans"/>
            </a:endParaRPr>
          </a:p>
        </p:txBody>
      </p:sp>
      <p:sp>
        <p:nvSpPr>
          <p:cNvPr id="18" name="Shape 16"/>
          <p:cNvSpPr/>
          <p:nvPr/>
        </p:nvSpPr>
        <p:spPr>
          <a:xfrm>
            <a:off x="1325880" y="4416552"/>
            <a:ext cx="10225735" cy="0"/>
          </a:xfrm>
          <a:prstGeom prst="line">
            <a:avLst/>
          </a:prstGeom>
          <a:noFill/>
          <a:ln w="9525">
            <a:solidFill>
              <a:srgbClr val="3D3D3D"/>
            </a:solidFill>
            <a:prstDash val="solid"/>
          </a:ln>
        </p:spPr>
      </p:sp>
      <p:sp>
        <p:nvSpPr>
          <p:cNvPr id="19" name="Shape 17"/>
          <p:cNvSpPr/>
          <p:nvPr/>
        </p:nvSpPr>
        <p:spPr>
          <a:xfrm>
            <a:off x="640080" y="4434840"/>
            <a:ext cx="457200" cy="457200"/>
          </a:xfrm>
          <a:prstGeom prst="ellipse">
            <a:avLst/>
          </a:prstGeom>
          <a:solidFill>
            <a:srgbClr val="05C489"/>
          </a:solidFill>
          <a:ln/>
        </p:spPr>
      </p:sp>
      <p:sp>
        <p:nvSpPr>
          <p:cNvPr id="20" name="Text 18"/>
          <p:cNvSpPr txBox="1"/>
          <p:nvPr/>
        </p:nvSpPr>
        <p:spPr>
          <a:xfrm>
            <a:off x="640080" y="443484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Plus Jakarta Sans" pitchFamily="34" charset="0"/>
                <a:ea typeface="Segoe UI Semibold" pitchFamily="34" charset="-122"/>
                <a:cs typeface="Segoe UI Semibold" pitchFamily="34" charset="-120"/>
              </a:rPr>
              <a:t>4</a:t>
            </a:r>
            <a:endParaRPr lang="en-US" sz="1300" dirty="0">
              <a:latin typeface="Plus Jakarta Sans"/>
            </a:endParaRPr>
          </a:p>
        </p:txBody>
      </p:sp>
      <p:sp>
        <p:nvSpPr>
          <p:cNvPr id="21" name="Text 19"/>
          <p:cNvSpPr txBox="1"/>
          <p:nvPr/>
        </p:nvSpPr>
        <p:spPr>
          <a:xfrm>
            <a:off x="1325880" y="4434840"/>
            <a:ext cx="10225735" cy="457200"/>
          </a:xfrm>
          <a:prstGeom prst="rect">
            <a:avLst/>
          </a:prstGeom>
          <a:noFill/>
          <a:ln/>
        </p:spPr>
        <p:txBody>
          <a:bodyPr wrap="square" lIns="0" tIns="0" rIns="0" bIns="0" rtlCol="0" anchor="ctr"/>
          <a:lstStyle/>
          <a:p>
            <a:pPr algn="l" indent="0" marL="0">
              <a:buNone/>
            </a:pPr>
            <a:r>
              <a:rPr lang="en-US" sz="1700" dirty="0">
                <a:solidFill>
                  <a:srgbClr val="FFFFFF"/>
                </a:solidFill>
                <a:latin typeface="Plus Jakarta Sans" pitchFamily="34" charset="0"/>
                <a:ea typeface="Segoe UI" pitchFamily="34" charset="-122"/>
                <a:cs typeface="Segoe UI" pitchFamily="34" charset="-120"/>
              </a:rPr>
              <a:t>Urgency after an AUS is a separate outcome; agree that beforehand</a:t>
            </a:r>
            <a:endParaRPr lang="en-US" sz="1700" dirty="0">
              <a:latin typeface="Plus Jakarta Sans"/>
            </a:endParaRPr>
          </a:p>
        </p:txBody>
      </p:sp>
      <p:sp>
        <p:nvSpPr>
          <p:cNvPr id="9001" name="replacement-title">
            <a:extLst>
              <a:ext uri="{FF2B5EF4-FFF2-40B4-BE49-F238E27FC236}">
                <a16:creationId xmlns:a16="http://schemas.microsoft.com/office/drawing/2014/main" id="{9958CA30-63EF-442C-B899-D7BF50C89BD4}"/>
              </a:ext>
            </a:extLst>
          </p:cNvPr>
          <p:cNvSpPr>
            <a:spLocks noGrp="1"/>
          </p:cNvSpPr>
          <p:nvPr/>
        </p:nvSpPr>
        <p:spPr>
          <a:xfrm>
            <a:off x="638175" y="752475"/>
            <a:ext cx="10915650" cy="800100"/>
          </a:xfrm>
          <a:prstGeom prst="rect">
            <a:avLst/>
          </a:prstGeom>
          <a:noFill/>
          <a:ln w="0">
            <a:noFill/>
          </a:ln>
        </p:spPr>
        <p:txBody>
          <a:bodyPr anchor="ctr"/>
          <a:lstStyle>
            <a:defPPr>
              <a:defRPr sz="2625" b="1">
                <a:solidFill>
                  <a:srgbClr val="FFFFFF"/>
                </a:solidFill>
                <a:latin typeface="Plus Jakarta Sans"/>
              </a:defRPr>
            </a:defPPr>
            <a:lvl1pPr>
              <a:defRPr sz="2625" b="1">
                <a:solidFill>
                  <a:srgbClr val="FFFFFF"/>
                </a:solidFill>
                <a:latin typeface="Plus Jakarta Sans"/>
              </a:defRPr>
            </a:lvl1pPr>
            <a:lvl2pPr>
              <a:defRPr sz="2625" b="1">
                <a:solidFill>
                  <a:srgbClr val="FFFFFF"/>
                </a:solidFill>
                <a:latin typeface="Plus Jakarta Sans"/>
              </a:defRPr>
            </a:lvl2pPr>
            <a:lvl3pPr>
              <a:defRPr sz="2625" b="1">
                <a:solidFill>
                  <a:srgbClr val="FFFFFF"/>
                </a:solidFill>
                <a:latin typeface="Plus Jakarta Sans"/>
              </a:defRPr>
            </a:lvl3pPr>
            <a:lvl4pPr>
              <a:defRPr sz="2625" b="1">
                <a:solidFill>
                  <a:srgbClr val="FFFFFF"/>
                </a:solidFill>
                <a:latin typeface="Plus Jakarta Sans"/>
              </a:defRPr>
            </a:lvl4pPr>
            <a:lvl5pPr>
              <a:defRPr sz="2625" b="1">
                <a:solidFill>
                  <a:srgbClr val="FFFFFF"/>
                </a:solidFill>
                <a:latin typeface="Plus Jakarta Sans"/>
              </a:defRPr>
            </a:lvl5pPr>
            <a:lvl6pPr>
              <a:defRPr sz="2625" b="1">
                <a:solidFill>
                  <a:srgbClr val="FFFFFF"/>
                </a:solidFill>
                <a:latin typeface="Plus Jakarta Sans"/>
              </a:defRPr>
            </a:lvl6pPr>
            <a:lvl7pPr>
              <a:defRPr sz="2625" b="1">
                <a:solidFill>
                  <a:srgbClr val="FFFFFF"/>
                </a:solidFill>
                <a:latin typeface="Plus Jakarta Sans"/>
              </a:defRPr>
            </a:lvl7pPr>
            <a:lvl8pPr>
              <a:defRPr sz="2625" b="1">
                <a:solidFill>
                  <a:srgbClr val="FFFFFF"/>
                </a:solidFill>
                <a:latin typeface="Plus Jakarta Sans"/>
              </a:defRPr>
            </a:lvl8pPr>
            <a:lvl9pPr>
              <a:defRPr sz="2625" b="1">
                <a:solidFill>
                  <a:srgbClr val="FFFFFF"/>
                </a:solidFill>
                <a:latin typeface="Plus Jakarta Sans"/>
              </a:defRPr>
            </a:lvl9pPr>
          </a:lstStyle>
          <a:p>
            <a:pPr>
              <a:defRPr sz="2625" b="1">
                <a:solidFill>
                  <a:srgbClr val="FFFFFF"/>
                </a:solidFill>
                <a:latin typeface="Plus Jakarta Sans"/>
              </a:defRPr>
            </a:pPr>
            <a:r>
              <a:rPr sz="2625" b="1">
                <a:solidFill>
                  <a:srgbClr val="FFFFFF"/>
                </a:solidFill>
                <a:latin typeface="Plus Jakarta Sans"/>
              </a:rPr>
              <a:t>Urgency treatment and emptying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61616"/>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05C489"/>
                </a:solidFill>
                <a:latin typeface="Plus Jakarta Sans" pitchFamily="34" charset="0"/>
                <a:ea typeface="Segoe UI" pitchFamily="34" charset="-122"/>
                <a:cs typeface="Segoe UI" pitchFamily="34" charset="-120"/>
              </a:rPr>
              <a:t>THE BLADDER</a:t>
            </a:r>
            <a:endParaRPr lang="en-US" sz="950" dirty="0">
              <a:latin typeface="Plus Jakarta Sans"/>
            </a:endParaRPr>
          </a:p>
        </p:txBody>
      </p:sp>
      <p:sp>
        <p:nvSpPr>
          <p:cNvPr id="3" name="Text 1"/>
          <p:cNvSpPr txBox="1"/>
          <p:nvPr/>
        </p:nvSpPr>
        <p:spPr>
          <a:xfrm>
            <a:off x="6979615" y="384048"/>
            <a:ext cx="4572000" cy="274320"/>
          </a:xfrm>
          <a:prstGeom prst="rect">
            <a:avLst/>
          </a:prstGeom>
          <a:noFill/>
          <a:ln/>
        </p:spPr>
        <p:txBody>
          <a:bodyPr wrap="square" lIns="0" tIns="0" rIns="0" bIns="0" rtlCol="0" anchor="t"/>
          <a:lstStyle/>
          <a:p>
            <a:pPr algn="r" indent="0" marL="0">
              <a:buNone/>
            </a:pPr>
            <a:r>
              <a:rPr lang="en-US" sz="950" spc="100" kern="0" dirty="0">
                <a:solidFill>
                  <a:srgbClr val="BFBFBF"/>
                </a:solidFill>
                <a:latin typeface="Plus Jakarta Sans" pitchFamily="34" charset="0"/>
                <a:ea typeface="Segoe UI" pitchFamily="34" charset="-122"/>
                <a:cs typeface="Segoe UI" pitchFamily="34" charset="-120"/>
              </a:rPr>
              <a:t>12 / 36</a:t>
            </a:r>
            <a:endParaRPr lang="en-US" sz="950" dirty="0">
              <a:latin typeface="Plus Jakarta Sans"/>
            </a:endParaRPr>
          </a:p>
        </p:txBody>
      </p:sp>
      <p:sp>
        <p:nvSpPr>
          <p:cNvPr id="5" name="Text 3"/>
          <p:cNvSpPr txBox="1"/>
          <p:nvPr/>
        </p:nvSpPr>
        <p:spPr>
          <a:xfrm>
            <a:off x="640080" y="6345936"/>
            <a:ext cx="9997135" cy="228600"/>
          </a:xfrm>
          <a:prstGeom prst="rect">
            <a:avLst/>
          </a:prstGeom>
          <a:noFill/>
          <a:ln/>
        </p:spPr>
        <p:txBody>
          <a:bodyPr wrap="square" lIns="0" tIns="0" rIns="0" bIns="0" rtlCol="0" anchor="t"/>
          <a:lstStyle/>
          <a:p>
            <a:pPr algn="l" indent="0" marL="0">
              <a:buNone/>
            </a:pPr>
            <a:r>
              <a:rPr lang="en-US" sz="800" spc="50" kern="0" dirty="0">
                <a:solidFill>
                  <a:srgbClr val="BFBFBF"/>
                </a:solidFill>
                <a:latin typeface="Plus Jakarta Sans" pitchFamily="34" charset="0"/>
                <a:ea typeface="Segoe UI" pitchFamily="34" charset="-122"/>
                <a:cs typeface="Segoe UI" pitchFamily="34" charset="-120"/>
              </a:rPr>
              <a:t>DU23  ·  AUA24  ·  ICSUDS17  ·  CCIFU</a:t>
            </a:r>
            <a:endParaRPr lang="en-US" sz="800" dirty="0">
              <a:latin typeface="Plus Jakarta Sans"/>
            </a:endParaRPr>
          </a:p>
        </p:txBody>
      </p:sp>
      <p:sp>
        <p:nvSpPr>
          <p:cNvPr id="6" name="Text 4"/>
          <p:cNvSpPr txBox="1"/>
          <p:nvPr/>
        </p:nvSpPr>
        <p:spPr>
          <a:xfrm>
            <a:off x="640080" y="5669280"/>
            <a:ext cx="10911535" cy="566928"/>
          </a:xfrm>
          <a:prstGeom prst="rect">
            <a:avLst/>
          </a:prstGeom>
          <a:noFill/>
          <a:ln/>
        </p:spPr>
        <p:txBody>
          <a:bodyPr wrap="square" lIns="0" tIns="0" rIns="0" bIns="0" rtlCol="0" anchor="b"/>
          <a:lstStyle/>
          <a:p>
            <a:pPr algn="l" indent="0" marL="0">
              <a:buNone/>
            </a:pPr>
            <a:r>
              <a:rPr lang="en-US" sz="1200" i="1" dirty="0">
                <a:solidFill>
                  <a:srgbClr val="BFBFBF"/>
                </a:solidFill>
                <a:latin typeface="Plus Jakarta Sans" pitchFamily="34" charset="0"/>
                <a:ea typeface="Segoe UI" pitchFamily="34" charset="-122"/>
                <a:cs typeface="Segoe UI" pitchFamily="34" charset="-120"/>
              </a:rPr>
              <a:t>The weak-bladder studies do not prove safety in unresolved retention. No residual number decides it.</a:t>
            </a:r>
            <a:endParaRPr lang="en-US" sz="1200" dirty="0">
              <a:latin typeface="Plus Jakarta Sans"/>
            </a:endParaRPr>
          </a:p>
        </p:txBody>
      </p:sp>
      <p:sp>
        <p:nvSpPr>
          <p:cNvPr id="7" name="Shape 5"/>
          <p:cNvSpPr/>
          <p:nvPr/>
        </p:nvSpPr>
        <p:spPr>
          <a:xfrm>
            <a:off x="640080" y="1783080"/>
            <a:ext cx="2103120" cy="310896"/>
          </a:xfrm>
          <a:prstGeom prst="roundRect">
            <a:avLst>
              <a:gd name="adj" fmla="val 50000"/>
            </a:avLst>
          </a:prstGeom>
          <a:solidFill>
            <a:srgbClr val="89FF00"/>
          </a:solidFill>
          <a:ln/>
        </p:spPr>
      </p:sp>
      <p:sp>
        <p:nvSpPr>
          <p:cNvPr id="8" name="Text 6"/>
          <p:cNvSpPr txBox="1"/>
          <p:nvPr/>
        </p:nvSpPr>
        <p:spPr>
          <a:xfrm>
            <a:off x="640080" y="1783080"/>
            <a:ext cx="2103120" cy="310896"/>
          </a:xfrm>
          <a:prstGeom prst="rect">
            <a:avLst/>
          </a:prstGeom>
          <a:noFill/>
          <a:ln/>
        </p:spPr>
        <p:txBody>
          <a:bodyPr wrap="square" lIns="0" tIns="0" rIns="0" bIns="0" rtlCol="0" anchor="ctr"/>
          <a:lstStyle/>
          <a:p>
            <a:pPr algn="ctr" indent="0" marL="0">
              <a:buNone/>
            </a:pPr>
            <a:r>
              <a:rPr lang="en-US" sz="900" b="1" spc="100" kern="0" dirty="0">
                <a:solidFill>
                  <a:srgbClr val="161616"/>
                </a:solidFill>
                <a:latin typeface="Plus Jakarta Sans" pitchFamily="34" charset="0"/>
                <a:ea typeface="Segoe UI" pitchFamily="34" charset="-122"/>
                <a:cs typeface="Segoe UI" pitchFamily="34" charset="-120"/>
              </a:rPr>
              <a:t>FICTIONAL CASE 02</a:t>
            </a:r>
            <a:endParaRPr lang="en-US" sz="900" dirty="0">
              <a:solidFill>
                <a:srgbClr val="161616"/>
              </a:solidFill>
              <a:latin typeface="Plus Jakarta Sans"/>
            </a:endParaRPr>
          </a:p>
        </p:txBody>
      </p:sp>
      <p:sp>
        <p:nvSpPr>
          <p:cNvPr id="9" name="Shape 7"/>
          <p:cNvSpPr/>
          <p:nvPr/>
        </p:nvSpPr>
        <p:spPr>
          <a:xfrm>
            <a:off x="640080" y="2423160"/>
            <a:ext cx="100584" cy="100584"/>
          </a:xfrm>
          <a:prstGeom prst="ellipse">
            <a:avLst/>
          </a:prstGeom>
          <a:solidFill>
            <a:srgbClr val="05C489"/>
          </a:solidFill>
          <a:ln/>
        </p:spPr>
      </p:sp>
      <p:sp>
        <p:nvSpPr>
          <p:cNvPr id="10" name="Text 8"/>
          <p:cNvSpPr txBox="1"/>
          <p:nvPr/>
        </p:nvSpPr>
        <p:spPr>
          <a:xfrm>
            <a:off x="914400" y="2331720"/>
            <a:ext cx="5760720" cy="685800"/>
          </a:xfrm>
          <a:prstGeom prst="rect">
            <a:avLst/>
          </a:prstGeom>
          <a:noFill/>
          <a:ln/>
        </p:spPr>
        <p:txBody>
          <a:bodyPr wrap="square" lIns="0" tIns="0" rIns="0" bIns="0" rtlCol="0" anchor="t"/>
          <a:lstStyle/>
          <a:p>
            <a:pPr algn="l" indent="0" marL="0">
              <a:lnSpc>
                <a:spcPct val="110000"/>
              </a:lnSpc>
              <a:buNone/>
            </a:pPr>
            <a:r>
              <a:rPr lang="en-US" sz="1550" dirty="0">
                <a:solidFill>
                  <a:srgbClr val="FFFFFF"/>
                </a:solidFill>
                <a:latin typeface="Plus Jakarta Sans" pitchFamily="34" charset="0"/>
                <a:ea typeface="Segoe UI" pitchFamily="34" charset="-122"/>
                <a:cs typeface="Segoe UI" pitchFamily="34" charset="-120"/>
              </a:rPr>
              <a:t>Stress leakage with slow voiding</a:t>
            </a:r>
            <a:endParaRPr lang="en-US" sz="1550" dirty="0">
              <a:latin typeface="Plus Jakarta Sans"/>
            </a:endParaRPr>
          </a:p>
        </p:txBody>
      </p:sp>
      <p:sp>
        <p:nvSpPr>
          <p:cNvPr id="11" name="Shape 9"/>
          <p:cNvSpPr/>
          <p:nvPr/>
        </p:nvSpPr>
        <p:spPr>
          <a:xfrm>
            <a:off x="640080" y="3172968"/>
            <a:ext cx="100584" cy="100584"/>
          </a:xfrm>
          <a:prstGeom prst="ellipse">
            <a:avLst/>
          </a:prstGeom>
          <a:solidFill>
            <a:srgbClr val="05C489"/>
          </a:solidFill>
          <a:ln/>
        </p:spPr>
      </p:sp>
      <p:sp>
        <p:nvSpPr>
          <p:cNvPr id="12" name="Text 10"/>
          <p:cNvSpPr txBox="1"/>
          <p:nvPr/>
        </p:nvSpPr>
        <p:spPr>
          <a:xfrm>
            <a:off x="914400" y="3081528"/>
            <a:ext cx="5760720" cy="685800"/>
          </a:xfrm>
          <a:prstGeom prst="rect">
            <a:avLst/>
          </a:prstGeom>
          <a:noFill/>
          <a:ln/>
        </p:spPr>
        <p:txBody>
          <a:bodyPr wrap="square" lIns="0" tIns="0" rIns="0" bIns="0" rtlCol="0" anchor="t"/>
          <a:lstStyle/>
          <a:p>
            <a:pPr algn="l" indent="0" marL="0">
              <a:lnSpc>
                <a:spcPct val="110000"/>
              </a:lnSpc>
              <a:buNone/>
            </a:pPr>
            <a:r>
              <a:rPr lang="en-US" sz="1550" dirty="0">
                <a:solidFill>
                  <a:srgbClr val="FFFFFF"/>
                </a:solidFill>
                <a:latin typeface="Plus Jakarta Sans" pitchFamily="34" charset="0"/>
                <a:ea typeface="Segoe UI" pitchFamily="34" charset="-122"/>
                <a:cs typeface="Segoe UI" pitchFamily="34" charset="-120"/>
              </a:rPr>
              <a:t>Urine left behind, again and again</a:t>
            </a:r>
            <a:endParaRPr lang="en-US" sz="1550" dirty="0">
              <a:latin typeface="Plus Jakarta Sans"/>
            </a:endParaRPr>
          </a:p>
        </p:txBody>
      </p:sp>
      <p:sp>
        <p:nvSpPr>
          <p:cNvPr id="13" name="Shape 11"/>
          <p:cNvSpPr/>
          <p:nvPr/>
        </p:nvSpPr>
        <p:spPr>
          <a:xfrm>
            <a:off x="640080" y="3922776"/>
            <a:ext cx="100584" cy="100584"/>
          </a:xfrm>
          <a:prstGeom prst="ellipse">
            <a:avLst/>
          </a:prstGeom>
          <a:solidFill>
            <a:srgbClr val="05C489"/>
          </a:solidFill>
          <a:ln/>
        </p:spPr>
      </p:sp>
      <p:sp>
        <p:nvSpPr>
          <p:cNvPr id="14" name="Text 12"/>
          <p:cNvSpPr txBox="1"/>
          <p:nvPr/>
        </p:nvSpPr>
        <p:spPr>
          <a:xfrm>
            <a:off x="914400" y="3831336"/>
            <a:ext cx="5760720" cy="685800"/>
          </a:xfrm>
          <a:prstGeom prst="rect">
            <a:avLst/>
          </a:prstGeom>
          <a:noFill/>
          <a:ln/>
        </p:spPr>
        <p:txBody>
          <a:bodyPr wrap="square" lIns="0" tIns="0" rIns="0" bIns="0" rtlCol="0" anchor="t"/>
          <a:lstStyle/>
          <a:p>
            <a:pPr algn="l" indent="0" marL="0">
              <a:lnSpc>
                <a:spcPct val="110000"/>
              </a:lnSpc>
              <a:buNone/>
            </a:pPr>
            <a:r>
              <a:rPr lang="en-US" sz="1550" dirty="0">
                <a:solidFill>
                  <a:srgbClr val="FFFFFF"/>
                </a:solidFill>
                <a:latin typeface="Plus Jakarta Sans" pitchFamily="34" charset="0"/>
                <a:ea typeface="Segoe UI" pitchFamily="34" charset="-122"/>
                <a:cs typeface="Segoe UI" pitchFamily="34" charset="-120"/>
              </a:rPr>
              <a:t>Weak contraction and abdominal straining</a:t>
            </a:r>
            <a:endParaRPr lang="en-US" sz="1550" dirty="0">
              <a:latin typeface="Plus Jakarta Sans"/>
            </a:endParaRPr>
          </a:p>
        </p:txBody>
      </p:sp>
      <p:sp>
        <p:nvSpPr>
          <p:cNvPr id="15" name="Shape 13"/>
          <p:cNvSpPr/>
          <p:nvPr/>
        </p:nvSpPr>
        <p:spPr>
          <a:xfrm>
            <a:off x="640080" y="4672584"/>
            <a:ext cx="100584" cy="100584"/>
          </a:xfrm>
          <a:prstGeom prst="ellipse">
            <a:avLst/>
          </a:prstGeom>
          <a:solidFill>
            <a:srgbClr val="05C489"/>
          </a:solidFill>
          <a:ln/>
        </p:spPr>
      </p:sp>
      <p:sp>
        <p:nvSpPr>
          <p:cNvPr id="16" name="Text 14"/>
          <p:cNvSpPr txBox="1"/>
          <p:nvPr/>
        </p:nvSpPr>
        <p:spPr>
          <a:xfrm>
            <a:off x="914400" y="4581144"/>
            <a:ext cx="5760720" cy="685800"/>
          </a:xfrm>
          <a:prstGeom prst="rect">
            <a:avLst/>
          </a:prstGeom>
          <a:noFill/>
          <a:ln/>
        </p:spPr>
        <p:txBody>
          <a:bodyPr wrap="square" lIns="0" tIns="0" rIns="0" bIns="0" rtlCol="0" anchor="t"/>
          <a:lstStyle/>
          <a:p>
            <a:pPr algn="l" indent="0" marL="0">
              <a:lnSpc>
                <a:spcPct val="110000"/>
              </a:lnSpc>
              <a:buNone/>
            </a:pPr>
            <a:r>
              <a:rPr lang="en-US" sz="1550" dirty="0">
                <a:solidFill>
                  <a:srgbClr val="FFFFFF"/>
                </a:solidFill>
                <a:latin typeface="Plus Jakarta Sans" pitchFamily="34" charset="0"/>
                <a:ea typeface="Segoe UI" pitchFamily="34" charset="-122"/>
                <a:cs typeface="Segoe UI" pitchFamily="34" charset="-120"/>
              </a:rPr>
              <a:t>Could still be a narrowing, or a test that inhibited him</a:t>
            </a:r>
            <a:endParaRPr lang="en-US" sz="1550" dirty="0">
              <a:latin typeface="Plus Jakarta Sans"/>
            </a:endParaRPr>
          </a:p>
        </p:txBody>
      </p:sp>
      <p:sp>
        <p:nvSpPr>
          <p:cNvPr id="17" name="Shape 15"/>
          <p:cNvSpPr/>
          <p:nvPr/>
        </p:nvSpPr>
        <p:spPr>
          <a:xfrm>
            <a:off x="7132320" y="1783080"/>
            <a:ext cx="4419295" cy="3611880"/>
          </a:xfrm>
          <a:prstGeom prst="roundRect">
            <a:avLst>
              <a:gd name="adj" fmla="val 3544"/>
            </a:avLst>
          </a:prstGeom>
          <a:solidFill>
            <a:srgbClr val="2D2D2D"/>
          </a:solidFill>
          <a:ln/>
        </p:spPr>
      </p:sp>
      <p:sp>
        <p:nvSpPr>
          <p:cNvPr id="18" name="Text 16"/>
          <p:cNvSpPr txBox="1"/>
          <p:nvPr/>
        </p:nvSpPr>
        <p:spPr>
          <a:xfrm>
            <a:off x="7498080" y="2057400"/>
            <a:ext cx="3687775" cy="1463040"/>
          </a:xfrm>
          <a:prstGeom prst="rect">
            <a:avLst/>
          </a:prstGeom>
          <a:noFill/>
          <a:ln/>
        </p:spPr>
        <p:txBody>
          <a:bodyPr wrap="square" lIns="0" tIns="0" rIns="0" bIns="0" rtlCol="0" anchor="t"/>
          <a:lstStyle/>
          <a:p>
            <a:pPr algn="l" indent="0" marL="0">
              <a:lnSpc>
                <a:spcPct val="105000"/>
              </a:lnSpc>
              <a:buNone/>
            </a:pPr>
            <a:r>
              <a:rPr lang="en-US" sz="2400" dirty="0">
                <a:solidFill>
                  <a:srgbClr val="FFFFFF"/>
                </a:solidFill>
                <a:latin typeface="Plus Jakarta Sans" pitchFamily="34" charset="0"/>
                <a:ea typeface="Segoe UI Semibold" pitchFamily="34" charset="-122"/>
                <a:cs typeface="Segoe UI Semibold" pitchFamily="34" charset="-120"/>
              </a:rPr>
              <a:t>Would a reliable emptying plan change your answer?</a:t>
            </a:r>
            <a:endParaRPr lang="en-US" sz="2400" dirty="0">
              <a:latin typeface="Plus Jakarta Sans"/>
            </a:endParaRPr>
          </a:p>
        </p:txBody>
      </p:sp>
      <p:sp>
        <p:nvSpPr>
          <p:cNvPr id="19" name="Text 17"/>
          <p:cNvSpPr txBox="1"/>
          <p:nvPr/>
        </p:nvSpPr>
        <p:spPr>
          <a:xfrm>
            <a:off x="7498080" y="3611880"/>
            <a:ext cx="3687775" cy="274320"/>
          </a:xfrm>
          <a:prstGeom prst="rect">
            <a:avLst/>
          </a:prstGeom>
          <a:noFill/>
          <a:ln/>
        </p:spPr>
        <p:txBody>
          <a:bodyPr wrap="square" lIns="0" tIns="0" rIns="0" bIns="0" rtlCol="0" anchor="t"/>
          <a:lstStyle/>
          <a:p>
            <a:pPr algn="l" indent="0" marL="0">
              <a:buNone/>
            </a:pPr>
            <a:r>
              <a:rPr lang="en-US" sz="900" b="1" spc="250" kern="0" dirty="0">
                <a:solidFill>
                  <a:srgbClr val="BFBFBF"/>
                </a:solidFill>
                <a:latin typeface="Plus Jakarta Sans" pitchFamily="34" charset="0"/>
                <a:ea typeface="Segoe UI" pitchFamily="34" charset="-122"/>
                <a:cs typeface="Segoe UI" pitchFamily="34" charset="-120"/>
              </a:rPr>
              <a:t>YOUR CALL</a:t>
            </a:r>
            <a:endParaRPr lang="en-US" sz="900" dirty="0">
              <a:latin typeface="Plus Jakarta Sans"/>
            </a:endParaRPr>
          </a:p>
        </p:txBody>
      </p:sp>
      <p:sp>
        <p:nvSpPr>
          <p:cNvPr id="20" name="Shape 18"/>
          <p:cNvSpPr/>
          <p:nvPr/>
        </p:nvSpPr>
        <p:spPr>
          <a:xfrm>
            <a:off x="7498080" y="3950208"/>
            <a:ext cx="1002182" cy="365760"/>
          </a:xfrm>
          <a:prstGeom prst="roundRect">
            <a:avLst>
              <a:gd name="adj" fmla="val 50000"/>
            </a:avLst>
          </a:prstGeom>
          <a:solidFill>
            <a:srgbClr val="05C489"/>
          </a:solidFill>
          <a:ln/>
        </p:spPr>
      </p:sp>
      <p:sp>
        <p:nvSpPr>
          <p:cNvPr id="21" name="Text 19"/>
          <p:cNvSpPr txBox="1"/>
          <p:nvPr/>
        </p:nvSpPr>
        <p:spPr>
          <a:xfrm>
            <a:off x="7498080" y="3950208"/>
            <a:ext cx="1002182" cy="365760"/>
          </a:xfrm>
          <a:prstGeom prst="rect">
            <a:avLst/>
          </a:prstGeom>
          <a:noFill/>
          <a:ln/>
        </p:spPr>
        <p:txBody>
          <a:bodyPr wrap="square" lIns="0" tIns="0" rIns="0" bIns="0" rtlCol="0" anchor="ctr"/>
          <a:lstStyle/>
          <a:p>
            <a:pPr algn="ctr" indent="0" marL="0">
              <a:buNone/>
            </a:pPr>
            <a:r>
              <a:rPr lang="en-US" sz="1000" b="1" spc="100" kern="0" dirty="0">
                <a:solidFill>
                  <a:srgbClr val="161616"/>
                </a:solidFill>
                <a:latin typeface="Plus Jakarta Sans" pitchFamily="34" charset="0"/>
                <a:ea typeface="Segoe UI" pitchFamily="34" charset="-122"/>
                <a:cs typeface="Segoe UI" pitchFamily="34" charset="-120"/>
              </a:rPr>
              <a:t>IMPLANT</a:t>
            </a:r>
            <a:endParaRPr lang="en-US" sz="1000" dirty="0">
              <a:solidFill>
                <a:srgbClr val="161616"/>
              </a:solidFill>
              <a:latin typeface="Plus Jakarta Sans"/>
            </a:endParaRPr>
          </a:p>
        </p:txBody>
      </p:sp>
      <p:sp>
        <p:nvSpPr>
          <p:cNvPr id="22" name="Shape 20"/>
          <p:cNvSpPr/>
          <p:nvPr/>
        </p:nvSpPr>
        <p:spPr>
          <a:xfrm>
            <a:off x="8628278" y="3950208"/>
            <a:ext cx="1397203" cy="365760"/>
          </a:xfrm>
          <a:prstGeom prst="roundRect">
            <a:avLst>
              <a:gd name="adj" fmla="val 50000"/>
            </a:avLst>
          </a:prstGeom>
          <a:solidFill>
            <a:srgbClr val="FFFFFF"/>
          </a:solidFill>
          <a:ln/>
        </p:spPr>
      </p:sp>
      <p:sp>
        <p:nvSpPr>
          <p:cNvPr id="23" name="Text 21"/>
          <p:cNvSpPr txBox="1"/>
          <p:nvPr/>
        </p:nvSpPr>
        <p:spPr>
          <a:xfrm>
            <a:off x="8628278" y="3950208"/>
            <a:ext cx="1397203" cy="365760"/>
          </a:xfrm>
          <a:prstGeom prst="rect">
            <a:avLst/>
          </a:prstGeom>
          <a:noFill/>
          <a:ln/>
        </p:spPr>
        <p:txBody>
          <a:bodyPr wrap="square" lIns="0" tIns="0" rIns="0" bIns="0" rtlCol="0" anchor="ctr"/>
          <a:lstStyle/>
          <a:p>
            <a:pPr algn="ctr" indent="0" marL="0">
              <a:buNone/>
            </a:pPr>
            <a:r>
              <a:rPr lang="en-US" sz="1000" b="1" spc="100" kern="0" dirty="0">
                <a:solidFill>
                  <a:srgbClr val="161616"/>
                </a:solidFill>
                <a:latin typeface="Plus Jakarta Sans" pitchFamily="34" charset="0"/>
                <a:ea typeface="Segoe UI" pitchFamily="34" charset="-122"/>
                <a:cs typeface="Segoe UI" pitchFamily="34" charset="-120"/>
              </a:rPr>
              <a:t>INVESTIGATE</a:t>
            </a:r>
            <a:endParaRPr lang="en-US" sz="1000" dirty="0">
              <a:solidFill>
                <a:srgbClr val="161616"/>
              </a:solidFill>
              <a:latin typeface="Plus Jakarta Sans"/>
            </a:endParaRPr>
          </a:p>
        </p:txBody>
      </p:sp>
      <p:sp>
        <p:nvSpPr>
          <p:cNvPr id="24" name="Shape 22"/>
          <p:cNvSpPr/>
          <p:nvPr/>
        </p:nvSpPr>
        <p:spPr>
          <a:xfrm>
            <a:off x="7498080" y="4425696"/>
            <a:ext cx="1298448" cy="365760"/>
          </a:xfrm>
          <a:prstGeom prst="roundRect">
            <a:avLst>
              <a:gd name="adj" fmla="val 50000"/>
            </a:avLst>
          </a:prstGeom>
          <a:solidFill>
            <a:srgbClr val="FF8500"/>
          </a:solidFill>
          <a:ln/>
        </p:spPr>
      </p:sp>
      <p:sp>
        <p:nvSpPr>
          <p:cNvPr id="25" name="Text 23"/>
          <p:cNvSpPr txBox="1"/>
          <p:nvPr/>
        </p:nvSpPr>
        <p:spPr>
          <a:xfrm>
            <a:off x="7498080" y="4425696"/>
            <a:ext cx="1298448" cy="365760"/>
          </a:xfrm>
          <a:prstGeom prst="rect">
            <a:avLst/>
          </a:prstGeom>
          <a:noFill/>
          <a:ln/>
        </p:spPr>
        <p:txBody>
          <a:bodyPr wrap="square" lIns="0" tIns="0" rIns="0" bIns="0" rtlCol="0" anchor="ctr"/>
          <a:lstStyle/>
          <a:p>
            <a:pPr algn="ctr" indent="0" marL="0">
              <a:buNone/>
            </a:pPr>
            <a:r>
              <a:rPr lang="en-US" sz="1000" b="1" spc="100" kern="0" dirty="0">
                <a:solidFill>
                  <a:srgbClr val="161616"/>
                </a:solidFill>
                <a:latin typeface="Plus Jakarta Sans" pitchFamily="34" charset="0"/>
                <a:ea typeface="Segoe UI" pitchFamily="34" charset="-122"/>
                <a:cs typeface="Segoe UI" pitchFamily="34" charset="-120"/>
              </a:rPr>
              <a:t>RECONSIDER</a:t>
            </a:r>
            <a:endParaRPr lang="en-US" sz="1000" dirty="0">
              <a:solidFill>
                <a:srgbClr val="161616"/>
              </a:solidFill>
              <a:latin typeface="Plus Jakarta Sans"/>
            </a:endParaRPr>
          </a:p>
        </p:txBody>
      </p:sp>
      <p:sp>
        <p:nvSpPr>
          <p:cNvPr id="9001" name="replacement-title">
            <a:extLst>
              <a:ext uri="{FF2B5EF4-FFF2-40B4-BE49-F238E27FC236}">
                <a16:creationId xmlns:a16="http://schemas.microsoft.com/office/drawing/2014/main" id="{A6BADFD9-7AE0-49AF-B45E-787DB6C887A6}"/>
              </a:ext>
            </a:extLst>
          </p:cNvPr>
          <p:cNvSpPr>
            <a:spLocks noGrp="1"/>
          </p:cNvSpPr>
          <p:nvPr/>
        </p:nvSpPr>
        <p:spPr>
          <a:xfrm>
            <a:off x="638175" y="752475"/>
            <a:ext cx="10915650" cy="800100"/>
          </a:xfrm>
          <a:prstGeom prst="rect">
            <a:avLst/>
          </a:prstGeom>
          <a:noFill/>
          <a:ln w="0">
            <a:noFill/>
          </a:ln>
        </p:spPr>
        <p:txBody>
          <a:bodyPr anchor="ctr"/>
          <a:lstStyle>
            <a:defPPr>
              <a:defRPr sz="2625" b="1">
                <a:solidFill>
                  <a:srgbClr val="FFFFFF"/>
                </a:solidFill>
                <a:latin typeface="Plus Jakarta Sans"/>
              </a:defRPr>
            </a:defPPr>
            <a:lvl1pPr>
              <a:defRPr sz="2625" b="1">
                <a:solidFill>
                  <a:srgbClr val="FFFFFF"/>
                </a:solidFill>
                <a:latin typeface="Plus Jakarta Sans"/>
              </a:defRPr>
            </a:lvl1pPr>
            <a:lvl2pPr>
              <a:defRPr sz="2625" b="1">
                <a:solidFill>
                  <a:srgbClr val="FFFFFF"/>
                </a:solidFill>
                <a:latin typeface="Plus Jakarta Sans"/>
              </a:defRPr>
            </a:lvl2pPr>
            <a:lvl3pPr>
              <a:defRPr sz="2625" b="1">
                <a:solidFill>
                  <a:srgbClr val="FFFFFF"/>
                </a:solidFill>
                <a:latin typeface="Plus Jakarta Sans"/>
              </a:defRPr>
            </a:lvl3pPr>
            <a:lvl4pPr>
              <a:defRPr sz="2625" b="1">
                <a:solidFill>
                  <a:srgbClr val="FFFFFF"/>
                </a:solidFill>
                <a:latin typeface="Plus Jakarta Sans"/>
              </a:defRPr>
            </a:lvl4pPr>
            <a:lvl5pPr>
              <a:defRPr sz="2625" b="1">
                <a:solidFill>
                  <a:srgbClr val="FFFFFF"/>
                </a:solidFill>
                <a:latin typeface="Plus Jakarta Sans"/>
              </a:defRPr>
            </a:lvl5pPr>
            <a:lvl6pPr>
              <a:defRPr sz="2625" b="1">
                <a:solidFill>
                  <a:srgbClr val="FFFFFF"/>
                </a:solidFill>
                <a:latin typeface="Plus Jakarta Sans"/>
              </a:defRPr>
            </a:lvl6pPr>
            <a:lvl7pPr>
              <a:defRPr sz="2625" b="1">
                <a:solidFill>
                  <a:srgbClr val="FFFFFF"/>
                </a:solidFill>
                <a:latin typeface="Plus Jakarta Sans"/>
              </a:defRPr>
            </a:lvl7pPr>
            <a:lvl8pPr>
              <a:defRPr sz="2625" b="1">
                <a:solidFill>
                  <a:srgbClr val="FFFFFF"/>
                </a:solidFill>
                <a:latin typeface="Plus Jakarta Sans"/>
              </a:defRPr>
            </a:lvl8pPr>
            <a:lvl9pPr>
              <a:defRPr sz="2625" b="1">
                <a:solidFill>
                  <a:srgbClr val="FFFFFF"/>
                </a:solidFill>
                <a:latin typeface="Plus Jakarta Sans"/>
              </a:defRPr>
            </a:lvl9pPr>
          </a:lstStyle>
          <a:p>
            <a:pPr>
              <a:defRPr sz="2625" b="1">
                <a:solidFill>
                  <a:srgbClr val="FFFFFF"/>
                </a:solidFill>
                <a:latin typeface="Plus Jakarta Sans"/>
              </a:defRPr>
            </a:pPr>
            <a:r>
              <a:rPr sz="2625" b="1">
                <a:solidFill>
                  <a:srgbClr val="FFFFFF"/>
                </a:solidFill>
                <a:latin typeface="Plus Jakarta Sans"/>
              </a:rPr>
              <a:t>Case 2: weak contraction and residual urine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61616"/>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05C489"/>
                </a:solidFill>
                <a:latin typeface="Plus Jakarta Sans" pitchFamily="34" charset="0"/>
                <a:ea typeface="Segoe UI" pitchFamily="34" charset="-122"/>
                <a:cs typeface="Segoe UI" pitchFamily="34" charset="-120"/>
              </a:rPr>
              <a:t>THE BLADDER</a:t>
            </a:r>
            <a:endParaRPr lang="en-US" sz="950" dirty="0">
              <a:latin typeface="Plus Jakarta Sans"/>
            </a:endParaRPr>
          </a:p>
        </p:txBody>
      </p:sp>
      <p:sp>
        <p:nvSpPr>
          <p:cNvPr id="3" name="Text 1"/>
          <p:cNvSpPr txBox="1"/>
          <p:nvPr/>
        </p:nvSpPr>
        <p:spPr>
          <a:xfrm>
            <a:off x="6979615" y="384048"/>
            <a:ext cx="4572000" cy="274320"/>
          </a:xfrm>
          <a:prstGeom prst="rect">
            <a:avLst/>
          </a:prstGeom>
          <a:noFill/>
          <a:ln/>
        </p:spPr>
        <p:txBody>
          <a:bodyPr wrap="square" lIns="0" tIns="0" rIns="0" bIns="0" rtlCol="0" anchor="t"/>
          <a:lstStyle/>
          <a:p>
            <a:pPr algn="r" indent="0" marL="0">
              <a:buNone/>
            </a:pPr>
            <a:r>
              <a:rPr lang="en-US" sz="950" spc="100" kern="0" dirty="0">
                <a:solidFill>
                  <a:srgbClr val="BFBFBF"/>
                </a:solidFill>
                <a:latin typeface="Plus Jakarta Sans" pitchFamily="34" charset="0"/>
                <a:ea typeface="Segoe UI" pitchFamily="34" charset="-122"/>
                <a:cs typeface="Segoe UI" pitchFamily="34" charset="-120"/>
              </a:rPr>
              <a:t>13 / 36</a:t>
            </a:r>
            <a:endParaRPr lang="en-US" sz="950" dirty="0">
              <a:latin typeface="Plus Jakarta Sans"/>
            </a:endParaRPr>
          </a:p>
        </p:txBody>
      </p:sp>
      <p:sp>
        <p:nvSpPr>
          <p:cNvPr id="5" name="Text 3"/>
          <p:cNvSpPr txBox="1"/>
          <p:nvPr/>
        </p:nvSpPr>
        <p:spPr>
          <a:xfrm>
            <a:off x="640080" y="6345936"/>
            <a:ext cx="9997135" cy="228600"/>
          </a:xfrm>
          <a:prstGeom prst="rect">
            <a:avLst/>
          </a:prstGeom>
          <a:noFill/>
          <a:ln/>
        </p:spPr>
        <p:txBody>
          <a:bodyPr wrap="square" lIns="0" tIns="0" rIns="0" bIns="0" rtlCol="0" anchor="t"/>
          <a:lstStyle/>
          <a:p>
            <a:pPr algn="l" indent="0" marL="0">
              <a:buNone/>
            </a:pPr>
            <a:r>
              <a:rPr lang="en-US" sz="800" spc="50" kern="0" dirty="0">
                <a:solidFill>
                  <a:srgbClr val="BFBFBF"/>
                </a:solidFill>
                <a:latin typeface="Plus Jakarta Sans" pitchFamily="34" charset="0"/>
                <a:ea typeface="Segoe UI" pitchFamily="34" charset="-122"/>
                <a:cs typeface="Segoe UI" pitchFamily="34" charset="-120"/>
              </a:rPr>
              <a:t>CIC23  ·  CATH13  ·  CCIFU  ·  ICS16  ·  BAUSSCI26  ·  INSTR26</a:t>
            </a:r>
            <a:endParaRPr lang="en-US" sz="800" dirty="0">
              <a:latin typeface="Plus Jakarta Sans"/>
            </a:endParaRPr>
          </a:p>
        </p:txBody>
      </p:sp>
      <p:sp>
        <p:nvSpPr>
          <p:cNvPr id="6" name="Text 4"/>
          <p:cNvSpPr txBox="1"/>
          <p:nvPr/>
        </p:nvSpPr>
        <p:spPr>
          <a:xfrm>
            <a:off x="640080" y="5669280"/>
            <a:ext cx="10911535" cy="566928"/>
          </a:xfrm>
          <a:prstGeom prst="rect">
            <a:avLst/>
          </a:prstGeom>
          <a:noFill/>
          <a:ln/>
        </p:spPr>
        <p:txBody>
          <a:bodyPr wrap="square" lIns="0" tIns="0" rIns="0" bIns="0" rtlCol="0" anchor="b"/>
          <a:lstStyle/>
          <a:p>
            <a:pPr algn="l" indent="0" marL="0">
              <a:buNone/>
            </a:pPr>
            <a:r>
              <a:rPr lang="en-US" sz="1200" i="1" dirty="0">
                <a:solidFill>
                  <a:srgbClr val="BFBFBF"/>
                </a:solidFill>
                <a:latin typeface="Plus Jakarta Sans" pitchFamily="34" charset="0"/>
                <a:ea typeface="Segoe UI" pitchFamily="34" charset="-122"/>
                <a:cs typeface="Segoe UI" pitchFamily="34" charset="-120"/>
              </a:rPr>
              <a:t>A 2026 survey found gaps in deactivation training. Follow the device instructions; there is no universal catheter size.</a:t>
            </a:r>
            <a:endParaRPr lang="en-US" sz="1200" dirty="0">
              <a:latin typeface="Plus Jakarta Sans"/>
            </a:endParaRPr>
          </a:p>
        </p:txBody>
      </p:sp>
      <p:sp>
        <p:nvSpPr>
          <p:cNvPr id="7" name="Text 5"/>
          <p:cNvSpPr txBox="1"/>
          <p:nvPr/>
        </p:nvSpPr>
        <p:spPr>
          <a:xfrm>
            <a:off x="640080" y="1737360"/>
            <a:ext cx="6638544" cy="685800"/>
          </a:xfrm>
          <a:prstGeom prst="rect">
            <a:avLst/>
          </a:prstGeom>
          <a:noFill/>
          <a:ln/>
        </p:spPr>
        <p:txBody>
          <a:bodyPr wrap="square" lIns="0" tIns="0" rIns="0" bIns="0" rtlCol="0" anchor="ctr"/>
          <a:lstStyle/>
          <a:p>
            <a:pPr algn="l" indent="0" marL="0">
              <a:buNone/>
            </a:pPr>
            <a:r>
              <a:rPr lang="en-US" sz="2400" dirty="0">
                <a:solidFill>
                  <a:srgbClr val="05C489"/>
                </a:solidFill>
                <a:latin typeface="Plus Jakarta Sans" pitchFamily="34" charset="0"/>
                <a:ea typeface="Segoe UI Semibold" pitchFamily="34" charset="-122"/>
                <a:cs typeface="Segoe UI Semibold" pitchFamily="34" charset="-120"/>
              </a:rPr>
              <a:t>Cuff fully deflated. Device deactivated.</a:t>
            </a:r>
            <a:endParaRPr lang="en-US" sz="2400" dirty="0">
              <a:latin typeface="Plus Jakarta Sans"/>
            </a:endParaRPr>
          </a:p>
        </p:txBody>
      </p:sp>
      <p:pic>
        <p:nvPicPr>
          <p:cNvPr id="8" name="Image 0" descr="C:\NityProjects\AUS-Presentation\repo\presentation\assets\cuff-bore-schematic.png">    </p:cNvPr>
          <p:cNvPicPr>
            <a:picLocks noChangeAspect="1"/>
          </p:cNvPicPr>
          <p:nvPr/>
        </p:nvPicPr>
        <p:blipFill>
          <a:blip r:embed="rId1"/>
          <a:stretch>
            <a:fillRect/>
          </a:stretch>
        </p:blipFill>
        <p:spPr>
          <a:xfrm>
            <a:off x="640080" y="2514600"/>
            <a:ext cx="6638544" cy="3017520"/>
          </a:xfrm>
          <a:prstGeom prst="rect">
            <a:avLst/>
          </a:prstGeom>
        </p:spPr>
      </p:pic>
      <p:sp>
        <p:nvSpPr>
          <p:cNvPr id="9" name="Shape 6"/>
          <p:cNvSpPr/>
          <p:nvPr/>
        </p:nvSpPr>
        <p:spPr>
          <a:xfrm>
            <a:off x="7598664" y="1737360"/>
            <a:ext cx="3952951" cy="3794760"/>
          </a:xfrm>
          <a:prstGeom prst="roundRect">
            <a:avLst>
              <a:gd name="adj" fmla="val 3373"/>
            </a:avLst>
          </a:prstGeom>
          <a:solidFill>
            <a:srgbClr val="2D2D2D"/>
          </a:solidFill>
          <a:ln/>
        </p:spPr>
      </p:sp>
      <p:sp>
        <p:nvSpPr>
          <p:cNvPr id="10" name="Shape 7"/>
          <p:cNvSpPr/>
          <p:nvPr/>
        </p:nvSpPr>
        <p:spPr>
          <a:xfrm>
            <a:off x="7872984" y="2057400"/>
            <a:ext cx="365760" cy="365760"/>
          </a:xfrm>
          <a:prstGeom prst="ellipse">
            <a:avLst/>
          </a:prstGeom>
          <a:solidFill>
            <a:srgbClr val="05C489"/>
          </a:solidFill>
          <a:ln/>
        </p:spPr>
      </p:sp>
      <p:sp>
        <p:nvSpPr>
          <p:cNvPr id="11" name="Text 8"/>
          <p:cNvSpPr txBox="1"/>
          <p:nvPr/>
        </p:nvSpPr>
        <p:spPr>
          <a:xfrm>
            <a:off x="7872984" y="20574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Plus Jakarta Sans" pitchFamily="34" charset="0"/>
                <a:ea typeface="Segoe UI Semibold" pitchFamily="34" charset="-122"/>
                <a:cs typeface="Segoe UI Semibold" pitchFamily="34" charset="-120"/>
              </a:rPr>
              <a:t>1</a:t>
            </a:r>
            <a:endParaRPr lang="en-US" sz="1200" dirty="0">
              <a:latin typeface="Plus Jakarta Sans"/>
            </a:endParaRPr>
          </a:p>
        </p:txBody>
      </p:sp>
      <p:sp>
        <p:nvSpPr>
          <p:cNvPr id="12" name="Text 9"/>
          <p:cNvSpPr txBox="1"/>
          <p:nvPr/>
        </p:nvSpPr>
        <p:spPr>
          <a:xfrm>
            <a:off x="8375904" y="2039112"/>
            <a:ext cx="2947111" cy="1005840"/>
          </a:xfrm>
          <a:prstGeom prst="rect">
            <a:avLst/>
          </a:prstGeom>
          <a:noFill/>
          <a:ln/>
        </p:spPr>
        <p:txBody>
          <a:bodyPr wrap="square" lIns="0" tIns="0" rIns="0" bIns="0" rtlCol="0" anchor="t"/>
          <a:lstStyle/>
          <a:p>
            <a:pPr algn="l" indent="0" marL="0">
              <a:lnSpc>
                <a:spcPct val="112000"/>
              </a:lnSpc>
              <a:buNone/>
            </a:pPr>
            <a:r>
              <a:rPr lang="en-US" sz="1350" dirty="0">
                <a:solidFill>
                  <a:srgbClr val="FFFFFF"/>
                </a:solidFill>
                <a:latin typeface="Plus Jakarta Sans" pitchFamily="34" charset="0"/>
                <a:ea typeface="Segoe UI" pitchFamily="34" charset="-122"/>
                <a:cs typeface="Segoe UI" pitchFamily="34" charset="-120"/>
              </a:rPr>
              <a:t>Why does he catheterise, and how often?</a:t>
            </a:r>
            <a:endParaRPr lang="en-US" sz="1350" dirty="0">
              <a:latin typeface="Plus Jakarta Sans"/>
            </a:endParaRPr>
          </a:p>
        </p:txBody>
      </p:sp>
      <p:sp>
        <p:nvSpPr>
          <p:cNvPr id="13" name="Shape 10"/>
          <p:cNvSpPr/>
          <p:nvPr/>
        </p:nvSpPr>
        <p:spPr>
          <a:xfrm>
            <a:off x="7872984" y="3246120"/>
            <a:ext cx="365760" cy="365760"/>
          </a:xfrm>
          <a:prstGeom prst="ellipse">
            <a:avLst/>
          </a:prstGeom>
          <a:solidFill>
            <a:srgbClr val="05C489"/>
          </a:solidFill>
          <a:ln/>
        </p:spPr>
      </p:sp>
      <p:sp>
        <p:nvSpPr>
          <p:cNvPr id="14" name="Text 11"/>
          <p:cNvSpPr txBox="1"/>
          <p:nvPr/>
        </p:nvSpPr>
        <p:spPr>
          <a:xfrm>
            <a:off x="7872984" y="324612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Plus Jakarta Sans" pitchFamily="34" charset="0"/>
                <a:ea typeface="Segoe UI Semibold" pitchFamily="34" charset="-122"/>
                <a:cs typeface="Segoe UI Semibold" pitchFamily="34" charset="-120"/>
              </a:rPr>
              <a:t>2</a:t>
            </a:r>
            <a:endParaRPr lang="en-US" sz="1200" dirty="0">
              <a:latin typeface="Plus Jakarta Sans"/>
            </a:endParaRPr>
          </a:p>
        </p:txBody>
      </p:sp>
      <p:sp>
        <p:nvSpPr>
          <p:cNvPr id="15" name="Text 12"/>
          <p:cNvSpPr txBox="1"/>
          <p:nvPr/>
        </p:nvSpPr>
        <p:spPr>
          <a:xfrm>
            <a:off x="8375904" y="3227832"/>
            <a:ext cx="2947111" cy="1005840"/>
          </a:xfrm>
          <a:prstGeom prst="rect">
            <a:avLst/>
          </a:prstGeom>
          <a:noFill/>
          <a:ln/>
        </p:spPr>
        <p:txBody>
          <a:bodyPr wrap="square" lIns="0" tIns="0" rIns="0" bIns="0" rtlCol="0" anchor="t"/>
          <a:lstStyle/>
          <a:p>
            <a:pPr algn="l" indent="0" marL="0">
              <a:lnSpc>
                <a:spcPct val="112000"/>
              </a:lnSpc>
              <a:buNone/>
            </a:pPr>
            <a:r>
              <a:rPr lang="en-US" sz="1350" dirty="0">
                <a:solidFill>
                  <a:srgbClr val="FFFFFF"/>
                </a:solidFill>
                <a:latin typeface="Plus Jakarta Sans" pitchFamily="34" charset="0"/>
                <a:ea typeface="Segoe UI" pitchFamily="34" charset="-122"/>
                <a:cs typeface="Segoe UI" pitchFamily="34" charset="-120"/>
              </a:rPr>
              <a:t>Check he can really do it, and agree the drainage route before the implant</a:t>
            </a:r>
            <a:endParaRPr lang="en-US" sz="1350" dirty="0">
              <a:latin typeface="Plus Jakarta Sans"/>
            </a:endParaRPr>
          </a:p>
        </p:txBody>
      </p:sp>
      <p:sp>
        <p:nvSpPr>
          <p:cNvPr id="16" name="Shape 13"/>
          <p:cNvSpPr/>
          <p:nvPr/>
        </p:nvSpPr>
        <p:spPr>
          <a:xfrm>
            <a:off x="7872984" y="4434840"/>
            <a:ext cx="365760" cy="365760"/>
          </a:xfrm>
          <a:prstGeom prst="ellipse">
            <a:avLst/>
          </a:prstGeom>
          <a:solidFill>
            <a:srgbClr val="05C489"/>
          </a:solidFill>
          <a:ln/>
        </p:spPr>
      </p:sp>
      <p:sp>
        <p:nvSpPr>
          <p:cNvPr id="17" name="Text 14"/>
          <p:cNvSpPr txBox="1"/>
          <p:nvPr/>
        </p:nvSpPr>
        <p:spPr>
          <a:xfrm>
            <a:off x="7872984" y="4434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Plus Jakarta Sans" pitchFamily="34" charset="0"/>
                <a:ea typeface="Segoe UI Semibold" pitchFamily="34" charset="-122"/>
                <a:cs typeface="Segoe UI Semibold" pitchFamily="34" charset="-120"/>
              </a:rPr>
              <a:t>3</a:t>
            </a:r>
            <a:endParaRPr lang="en-US" sz="1200" dirty="0">
              <a:latin typeface="Plus Jakarta Sans"/>
            </a:endParaRPr>
          </a:p>
        </p:txBody>
      </p:sp>
      <p:sp>
        <p:nvSpPr>
          <p:cNvPr id="18" name="Text 15"/>
          <p:cNvSpPr txBox="1"/>
          <p:nvPr/>
        </p:nvSpPr>
        <p:spPr>
          <a:xfrm>
            <a:off x="8375904" y="4416552"/>
            <a:ext cx="2947111" cy="1005840"/>
          </a:xfrm>
          <a:prstGeom prst="rect">
            <a:avLst/>
          </a:prstGeom>
          <a:noFill/>
          <a:ln/>
        </p:spPr>
        <p:txBody>
          <a:bodyPr wrap="square" lIns="0" tIns="0" rIns="0" bIns="0" rtlCol="0" anchor="t"/>
          <a:lstStyle/>
          <a:p>
            <a:pPr algn="l" indent="0" marL="0">
              <a:lnSpc>
                <a:spcPct val="112000"/>
              </a:lnSpc>
              <a:buNone/>
            </a:pPr>
            <a:r>
              <a:rPr lang="en-US" sz="1350" dirty="0">
                <a:solidFill>
                  <a:srgbClr val="FFFFFF"/>
                </a:solidFill>
                <a:latin typeface="Plus Jakarta Sans" pitchFamily="34" charset="0"/>
                <a:ea typeface="Segoe UI" pitchFamily="34" charset="-122"/>
                <a:cs typeface="Segoe UI" pitchFamily="34" charset="-120"/>
              </a:rPr>
              <a:t>Repeated or long-term catheters need a specialist plan</a:t>
            </a:r>
            <a:endParaRPr lang="en-US" sz="1350" dirty="0">
              <a:latin typeface="Plus Jakarta Sans"/>
            </a:endParaRPr>
          </a:p>
        </p:txBody>
      </p:sp>
      <p:sp>
        <p:nvSpPr>
          <p:cNvPr id="9001" name="replacement-title">
            <a:extLst>
              <a:ext uri="{FF2B5EF4-FFF2-40B4-BE49-F238E27FC236}">
                <a16:creationId xmlns:a16="http://schemas.microsoft.com/office/drawing/2014/main" id="{E7086DBE-E582-4843-AEA1-346B51BFCA2B}"/>
              </a:ext>
            </a:extLst>
          </p:cNvPr>
          <p:cNvSpPr>
            <a:spLocks noGrp="1"/>
          </p:cNvSpPr>
          <p:nvPr/>
        </p:nvSpPr>
        <p:spPr>
          <a:xfrm>
            <a:off x="638175" y="752475"/>
            <a:ext cx="10915650" cy="800100"/>
          </a:xfrm>
          <a:prstGeom prst="rect">
            <a:avLst/>
          </a:prstGeom>
          <a:noFill/>
          <a:ln w="0">
            <a:noFill/>
          </a:ln>
        </p:spPr>
        <p:txBody>
          <a:bodyPr anchor="ctr"/>
          <a:lstStyle>
            <a:defPPr>
              <a:defRPr sz="2625" b="1">
                <a:solidFill>
                  <a:srgbClr val="FFFFFF"/>
                </a:solidFill>
                <a:latin typeface="Plus Jakarta Sans"/>
              </a:defRPr>
            </a:defPPr>
            <a:lvl1pPr>
              <a:defRPr sz="2625" b="1">
                <a:solidFill>
                  <a:srgbClr val="FFFFFF"/>
                </a:solidFill>
                <a:latin typeface="Plus Jakarta Sans"/>
              </a:defRPr>
            </a:lvl1pPr>
            <a:lvl2pPr>
              <a:defRPr sz="2625" b="1">
                <a:solidFill>
                  <a:srgbClr val="FFFFFF"/>
                </a:solidFill>
                <a:latin typeface="Plus Jakarta Sans"/>
              </a:defRPr>
            </a:lvl2pPr>
            <a:lvl3pPr>
              <a:defRPr sz="2625" b="1">
                <a:solidFill>
                  <a:srgbClr val="FFFFFF"/>
                </a:solidFill>
                <a:latin typeface="Plus Jakarta Sans"/>
              </a:defRPr>
            </a:lvl3pPr>
            <a:lvl4pPr>
              <a:defRPr sz="2625" b="1">
                <a:solidFill>
                  <a:srgbClr val="FFFFFF"/>
                </a:solidFill>
                <a:latin typeface="Plus Jakarta Sans"/>
              </a:defRPr>
            </a:lvl4pPr>
            <a:lvl5pPr>
              <a:defRPr sz="2625" b="1">
                <a:solidFill>
                  <a:srgbClr val="FFFFFF"/>
                </a:solidFill>
                <a:latin typeface="Plus Jakarta Sans"/>
              </a:defRPr>
            </a:lvl5pPr>
            <a:lvl6pPr>
              <a:defRPr sz="2625" b="1">
                <a:solidFill>
                  <a:srgbClr val="FFFFFF"/>
                </a:solidFill>
                <a:latin typeface="Plus Jakarta Sans"/>
              </a:defRPr>
            </a:lvl6pPr>
            <a:lvl7pPr>
              <a:defRPr sz="2625" b="1">
                <a:solidFill>
                  <a:srgbClr val="FFFFFF"/>
                </a:solidFill>
                <a:latin typeface="Plus Jakarta Sans"/>
              </a:defRPr>
            </a:lvl7pPr>
            <a:lvl8pPr>
              <a:defRPr sz="2625" b="1">
                <a:solidFill>
                  <a:srgbClr val="FFFFFF"/>
                </a:solidFill>
                <a:latin typeface="Plus Jakarta Sans"/>
              </a:defRPr>
            </a:lvl8pPr>
            <a:lvl9pPr>
              <a:defRPr sz="2625" b="1">
                <a:solidFill>
                  <a:srgbClr val="FFFFFF"/>
                </a:solidFill>
                <a:latin typeface="Plus Jakarta Sans"/>
              </a:defRPr>
            </a:lvl9pPr>
          </a:lstStyle>
          <a:p>
            <a:pPr>
              <a:defRPr sz="2625" b="1">
                <a:solidFill>
                  <a:srgbClr val="FFFFFF"/>
                </a:solidFill>
                <a:latin typeface="Plus Jakarta Sans"/>
              </a:defRPr>
            </a:pPr>
            <a:r>
              <a:rPr sz="2625" b="1">
                <a:solidFill>
                  <a:srgbClr val="FFFFFF"/>
                </a:solidFill>
                <a:latin typeface="Plus Jakarta Sans"/>
              </a:rPr>
              <a:t>Catheterisation with a cuff in place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61616"/>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05C489"/>
                </a:solidFill>
                <a:latin typeface="Plus Jakarta Sans" pitchFamily="34" charset="0"/>
                <a:ea typeface="Segoe UI" pitchFamily="34" charset="-122"/>
                <a:cs typeface="Segoe UI" pitchFamily="34" charset="-120"/>
              </a:rPr>
              <a:t>THE BLADDER</a:t>
            </a:r>
            <a:endParaRPr lang="en-US" sz="950" dirty="0">
              <a:latin typeface="Plus Jakarta Sans"/>
            </a:endParaRPr>
          </a:p>
        </p:txBody>
      </p:sp>
      <p:sp>
        <p:nvSpPr>
          <p:cNvPr id="3" name="Text 1"/>
          <p:cNvSpPr txBox="1"/>
          <p:nvPr/>
        </p:nvSpPr>
        <p:spPr>
          <a:xfrm>
            <a:off x="6979615" y="384048"/>
            <a:ext cx="4572000" cy="274320"/>
          </a:xfrm>
          <a:prstGeom prst="rect">
            <a:avLst/>
          </a:prstGeom>
          <a:noFill/>
          <a:ln/>
        </p:spPr>
        <p:txBody>
          <a:bodyPr wrap="square" lIns="0" tIns="0" rIns="0" bIns="0" rtlCol="0" anchor="t"/>
          <a:lstStyle/>
          <a:p>
            <a:pPr algn="r" indent="0" marL="0">
              <a:buNone/>
            </a:pPr>
            <a:r>
              <a:rPr lang="en-US" sz="950" spc="100" kern="0" dirty="0">
                <a:solidFill>
                  <a:srgbClr val="BFBFBF"/>
                </a:solidFill>
                <a:latin typeface="Plus Jakarta Sans" pitchFamily="34" charset="0"/>
                <a:ea typeface="Segoe UI" pitchFamily="34" charset="-122"/>
                <a:cs typeface="Segoe UI" pitchFamily="34" charset="-120"/>
              </a:rPr>
              <a:t>14 / 36</a:t>
            </a:r>
            <a:endParaRPr lang="en-US" sz="950" dirty="0">
              <a:latin typeface="Plus Jakarta Sans"/>
            </a:endParaRPr>
          </a:p>
        </p:txBody>
      </p:sp>
      <p:sp>
        <p:nvSpPr>
          <p:cNvPr id="5" name="Text 3"/>
          <p:cNvSpPr txBox="1"/>
          <p:nvPr/>
        </p:nvSpPr>
        <p:spPr>
          <a:xfrm>
            <a:off x="640080" y="6345936"/>
            <a:ext cx="9997135" cy="228600"/>
          </a:xfrm>
          <a:prstGeom prst="rect">
            <a:avLst/>
          </a:prstGeom>
          <a:noFill/>
          <a:ln/>
        </p:spPr>
        <p:txBody>
          <a:bodyPr wrap="square" lIns="0" tIns="0" rIns="0" bIns="0" rtlCol="0" anchor="t"/>
          <a:lstStyle/>
          <a:p>
            <a:pPr algn="l" indent="0" marL="0">
              <a:buNone/>
            </a:pPr>
            <a:r>
              <a:rPr lang="en-US" sz="800" spc="50" kern="0" dirty="0">
                <a:solidFill>
                  <a:srgbClr val="BFBFBF"/>
                </a:solidFill>
                <a:latin typeface="Plus Jakarta Sans" pitchFamily="34" charset="0"/>
                <a:ea typeface="Segoe UI" pitchFamily="34" charset="-122"/>
                <a:cs typeface="Segoe UI" pitchFamily="34" charset="-120"/>
              </a:rPr>
              <a:t>UDS09  ·  ICS16  ·  BAUS25  ·  CCIFU  ·  BAUSSCI26</a:t>
            </a:r>
            <a:endParaRPr lang="en-US" sz="800" dirty="0">
              <a:latin typeface="Plus Jakarta Sans"/>
            </a:endParaRPr>
          </a:p>
        </p:txBody>
      </p:sp>
      <p:sp>
        <p:nvSpPr>
          <p:cNvPr id="6" name="Text 4"/>
          <p:cNvSpPr txBox="1"/>
          <p:nvPr/>
        </p:nvSpPr>
        <p:spPr>
          <a:xfrm>
            <a:off x="640080" y="5669280"/>
            <a:ext cx="10911535" cy="566928"/>
          </a:xfrm>
          <a:prstGeom prst="rect">
            <a:avLst/>
          </a:prstGeom>
          <a:noFill/>
          <a:ln/>
        </p:spPr>
        <p:txBody>
          <a:bodyPr wrap="square" lIns="0" tIns="0" rIns="0" bIns="0" rtlCol="0" anchor="b"/>
          <a:lstStyle/>
          <a:p>
            <a:pPr algn="l" indent="0" marL="0">
              <a:buNone/>
            </a:pPr>
            <a:r>
              <a:rPr lang="en-US" sz="1200" i="1" dirty="0">
                <a:solidFill>
                  <a:srgbClr val="BFBFBF"/>
                </a:solidFill>
                <a:latin typeface="Plus Jakarta Sans" pitchFamily="34" charset="0"/>
                <a:ea typeface="Segoe UI" pitchFamily="34" charset="-122"/>
                <a:cs typeface="Segoe UI" pitchFamily="34" charset="-120"/>
              </a:rPr>
              <a:t>Schematic traces, arbitrary units. Check the trace quality; check kidneys and upper tracts when storage pressure worries you.</a:t>
            </a:r>
            <a:endParaRPr lang="en-US" sz="1200" dirty="0">
              <a:latin typeface="Plus Jakarta Sans"/>
            </a:endParaRPr>
          </a:p>
        </p:txBody>
      </p:sp>
      <p:sp>
        <p:nvSpPr>
          <p:cNvPr id="7" name="Shape 5"/>
          <p:cNvSpPr/>
          <p:nvPr/>
        </p:nvSpPr>
        <p:spPr>
          <a:xfrm>
            <a:off x="640080" y="1783080"/>
            <a:ext cx="5295748" cy="3794760"/>
          </a:xfrm>
          <a:prstGeom prst="roundRect">
            <a:avLst>
              <a:gd name="adj" fmla="val 3373"/>
            </a:avLst>
          </a:prstGeom>
          <a:solidFill>
            <a:srgbClr val="2D2D2D"/>
          </a:solidFill>
          <a:ln/>
        </p:spPr>
      </p:sp>
      <p:sp>
        <p:nvSpPr>
          <p:cNvPr id="8" name="Text 6"/>
          <p:cNvSpPr txBox="1"/>
          <p:nvPr/>
        </p:nvSpPr>
        <p:spPr>
          <a:xfrm>
            <a:off x="960120" y="2057400"/>
            <a:ext cx="4655668" cy="365760"/>
          </a:xfrm>
          <a:prstGeom prst="rect">
            <a:avLst/>
          </a:prstGeom>
          <a:noFill/>
          <a:ln/>
        </p:spPr>
        <p:txBody>
          <a:bodyPr wrap="square" lIns="0" tIns="0" rIns="0" bIns="0" rtlCol="0" anchor="t"/>
          <a:lstStyle/>
          <a:p>
            <a:pPr algn="l" indent="0" marL="0">
              <a:buNone/>
            </a:pPr>
            <a:r>
              <a:rPr lang="en-US" sz="1500" dirty="0">
                <a:solidFill>
                  <a:srgbClr val="05C489"/>
                </a:solidFill>
                <a:latin typeface="Plus Jakarta Sans" pitchFamily="34" charset="0"/>
                <a:ea typeface="Segoe UI Semibold" pitchFamily="34" charset="-122"/>
                <a:cs typeface="Segoe UI Semibold" pitchFamily="34" charset="-120"/>
              </a:rPr>
              <a:t>DO: transient contraction</a:t>
            </a:r>
            <a:endParaRPr lang="en-US" sz="1500" dirty="0">
              <a:latin typeface="Plus Jakarta Sans"/>
            </a:endParaRPr>
          </a:p>
        </p:txBody>
      </p:sp>
      <p:sp>
        <p:nvSpPr>
          <p:cNvPr id="9" name="Shape 7"/>
          <p:cNvSpPr/>
          <p:nvPr/>
        </p:nvSpPr>
        <p:spPr>
          <a:xfrm>
            <a:off x="914400" y="2514600"/>
            <a:ext cx="4747108" cy="2377440"/>
          </a:xfrm>
          <a:prstGeom prst="roundRect">
            <a:avLst>
              <a:gd name="adj" fmla="val 3077"/>
            </a:avLst>
          </a:prstGeom>
          <a:solidFill>
            <a:srgbClr val="161616"/>
          </a:solidFill>
          <a:ln/>
        </p:spPr>
      </p:sp>
      <p:graphicFrame>
        <p:nvGraphicFramePr>
          <p:cNvPr id="10" name="Chart 0" descr=""/>
          <p:cNvGraphicFramePr/>
          <p:nvPr/>
        </p:nvGraphicFramePr>
        <p:xfrm>
          <a:off x="960120" y="2560320"/>
          <a:ext cx="4655668" cy="2286000"/>
        </p:xfrm>
        <a:graphic xmlns:a="http://schemas.openxmlformats.org/drawingml/2006/main">
          <a:graphicData uri="http://schemas.openxmlformats.org/drawingml/2006/chart">
            <c:chart xmlns:c="http://schemas.openxmlformats.org/drawingml/2006/chart" r:id="rId1"/>
          </a:graphicData>
        </a:graphic>
      </p:graphicFrame>
      <p:sp>
        <p:nvSpPr>
          <p:cNvPr id="11" name="Text 8"/>
          <p:cNvSpPr txBox="1"/>
          <p:nvPr/>
        </p:nvSpPr>
        <p:spPr>
          <a:xfrm>
            <a:off x="960120" y="5029200"/>
            <a:ext cx="4655668" cy="365760"/>
          </a:xfrm>
          <a:prstGeom prst="rect">
            <a:avLst/>
          </a:prstGeom>
          <a:noFill/>
          <a:ln/>
        </p:spPr>
        <p:txBody>
          <a:bodyPr wrap="square" lIns="0" tIns="0" rIns="0" bIns="0" rtlCol="0" anchor="t"/>
          <a:lstStyle/>
          <a:p>
            <a:pPr algn="l" indent="0" marL="0">
              <a:buNone/>
            </a:pPr>
            <a:r>
              <a:rPr lang="en-US" sz="1400" b="1" dirty="0">
                <a:solidFill>
                  <a:srgbClr val="FFFFFF"/>
                </a:solidFill>
                <a:latin typeface="Plus Jakarta Sans" pitchFamily="34" charset="0"/>
                <a:ea typeface="Segoe UI" pitchFamily="34" charset="-122"/>
                <a:cs typeface="Segoe UI" pitchFamily="34" charset="-120"/>
              </a:rPr>
              <a:t>Involuntary filling contraction</a:t>
            </a:r>
            <a:endParaRPr lang="en-US" sz="1400" dirty="0">
              <a:latin typeface="Plus Jakarta Sans"/>
            </a:endParaRPr>
          </a:p>
        </p:txBody>
      </p:sp>
      <p:sp>
        <p:nvSpPr>
          <p:cNvPr id="12" name="Shape 9"/>
          <p:cNvSpPr/>
          <p:nvPr/>
        </p:nvSpPr>
        <p:spPr>
          <a:xfrm>
            <a:off x="6255868" y="1783080"/>
            <a:ext cx="5295748" cy="3794760"/>
          </a:xfrm>
          <a:prstGeom prst="roundRect">
            <a:avLst>
              <a:gd name="adj" fmla="val 3373"/>
            </a:avLst>
          </a:prstGeom>
          <a:solidFill>
            <a:srgbClr val="2D2D2D"/>
          </a:solidFill>
          <a:ln/>
        </p:spPr>
      </p:sp>
      <p:sp>
        <p:nvSpPr>
          <p:cNvPr id="13" name="Text 10"/>
          <p:cNvSpPr txBox="1"/>
          <p:nvPr/>
        </p:nvSpPr>
        <p:spPr>
          <a:xfrm>
            <a:off x="6575908" y="2057400"/>
            <a:ext cx="4655668" cy="365760"/>
          </a:xfrm>
          <a:prstGeom prst="rect">
            <a:avLst/>
          </a:prstGeom>
          <a:noFill/>
          <a:ln/>
        </p:spPr>
        <p:txBody>
          <a:bodyPr wrap="square" lIns="0" tIns="0" rIns="0" bIns="0" rtlCol="0" anchor="t"/>
          <a:lstStyle/>
          <a:p>
            <a:pPr algn="l" indent="0" marL="0">
              <a:buNone/>
            </a:pPr>
            <a:r>
              <a:rPr lang="en-US" sz="1500" dirty="0">
                <a:solidFill>
                  <a:srgbClr val="FF8500"/>
                </a:solidFill>
                <a:latin typeface="Plus Jakarta Sans" pitchFamily="34" charset="0"/>
                <a:ea typeface="Segoe UI Semibold" pitchFamily="34" charset="-122"/>
                <a:cs typeface="Segoe UI Semibold" pitchFamily="34" charset="-120"/>
              </a:rPr>
              <a:t>Poor compliance: sustained rise</a:t>
            </a:r>
            <a:endParaRPr lang="en-US" sz="1500" dirty="0">
              <a:latin typeface="Plus Jakarta Sans"/>
            </a:endParaRPr>
          </a:p>
        </p:txBody>
      </p:sp>
      <p:sp>
        <p:nvSpPr>
          <p:cNvPr id="14" name="Shape 11"/>
          <p:cNvSpPr/>
          <p:nvPr/>
        </p:nvSpPr>
        <p:spPr>
          <a:xfrm>
            <a:off x="6530188" y="2514600"/>
            <a:ext cx="4747108" cy="2377440"/>
          </a:xfrm>
          <a:prstGeom prst="roundRect">
            <a:avLst>
              <a:gd name="adj" fmla="val 3077"/>
            </a:avLst>
          </a:prstGeom>
          <a:solidFill>
            <a:srgbClr val="161616"/>
          </a:solidFill>
          <a:ln/>
        </p:spPr>
      </p:sp>
      <p:graphicFrame>
        <p:nvGraphicFramePr>
          <p:cNvPr id="15" name="Chart 1" descr=""/>
          <p:cNvGraphicFramePr/>
          <p:nvPr/>
        </p:nvGraphicFramePr>
        <p:xfrm>
          <a:off x="6575908" y="2560320"/>
          <a:ext cx="4655668" cy="2286000"/>
        </p:xfrm>
        <a:graphic xmlns:a="http://schemas.openxmlformats.org/drawingml/2006/main">
          <a:graphicData uri="http://schemas.openxmlformats.org/drawingml/2006/chart">
            <c:chart xmlns:c="http://schemas.openxmlformats.org/drawingml/2006/chart" r:id="rId2"/>
          </a:graphicData>
        </a:graphic>
      </p:graphicFrame>
      <p:sp>
        <p:nvSpPr>
          <p:cNvPr id="16" name="Text 12"/>
          <p:cNvSpPr txBox="1"/>
          <p:nvPr/>
        </p:nvSpPr>
        <p:spPr>
          <a:xfrm>
            <a:off x="6575908" y="5029200"/>
            <a:ext cx="4655668" cy="365760"/>
          </a:xfrm>
          <a:prstGeom prst="rect">
            <a:avLst/>
          </a:prstGeom>
          <a:noFill/>
          <a:ln/>
        </p:spPr>
        <p:txBody>
          <a:bodyPr wrap="square" lIns="0" tIns="0" rIns="0" bIns="0" rtlCol="0" anchor="t"/>
          <a:lstStyle/>
          <a:p>
            <a:pPr algn="l" indent="0" marL="0">
              <a:buNone/>
            </a:pPr>
            <a:r>
              <a:rPr lang="en-US" sz="1400" b="1" dirty="0">
                <a:solidFill>
                  <a:srgbClr val="FFFFFF"/>
                </a:solidFill>
                <a:latin typeface="Plus Jakarta Sans" pitchFamily="34" charset="0"/>
                <a:ea typeface="Segoe UI" pitchFamily="34" charset="-122"/>
                <a:cs typeface="Segoe UI" pitchFamily="34" charset="-120"/>
              </a:rPr>
              <a:t>A separate storage-safety problem</a:t>
            </a:r>
            <a:endParaRPr lang="en-US" sz="1400" dirty="0">
              <a:latin typeface="Plus Jakarta Sans"/>
            </a:endParaRPr>
          </a:p>
        </p:txBody>
      </p:sp>
      <p:sp>
        <p:nvSpPr>
          <p:cNvPr id="9001" name="replacement-title">
            <a:extLst>
              <a:ext uri="{FF2B5EF4-FFF2-40B4-BE49-F238E27FC236}">
                <a16:creationId xmlns:a16="http://schemas.microsoft.com/office/drawing/2014/main" id="{46D6DA20-A383-4447-A9B7-F5AA397F52EC}"/>
              </a:ext>
            </a:extLst>
          </p:cNvPr>
          <p:cNvSpPr>
            <a:spLocks noGrp="1"/>
          </p:cNvSpPr>
          <p:nvPr/>
        </p:nvSpPr>
        <p:spPr>
          <a:xfrm>
            <a:off x="638175" y="752475"/>
            <a:ext cx="10915650" cy="800100"/>
          </a:xfrm>
          <a:prstGeom prst="rect">
            <a:avLst/>
          </a:prstGeom>
          <a:noFill/>
          <a:ln w="0">
            <a:noFill/>
          </a:ln>
        </p:spPr>
        <p:txBody>
          <a:bodyPr anchor="ctr"/>
          <a:lstStyle>
            <a:defPPr>
              <a:defRPr sz="2625" b="1">
                <a:solidFill>
                  <a:srgbClr val="FFFFFF"/>
                </a:solidFill>
                <a:latin typeface="Plus Jakarta Sans"/>
              </a:defRPr>
            </a:defPPr>
            <a:lvl1pPr>
              <a:defRPr sz="2625" b="1">
                <a:solidFill>
                  <a:srgbClr val="FFFFFF"/>
                </a:solidFill>
                <a:latin typeface="Plus Jakarta Sans"/>
              </a:defRPr>
            </a:lvl1pPr>
            <a:lvl2pPr>
              <a:defRPr sz="2625" b="1">
                <a:solidFill>
                  <a:srgbClr val="FFFFFF"/>
                </a:solidFill>
                <a:latin typeface="Plus Jakarta Sans"/>
              </a:defRPr>
            </a:lvl2pPr>
            <a:lvl3pPr>
              <a:defRPr sz="2625" b="1">
                <a:solidFill>
                  <a:srgbClr val="FFFFFF"/>
                </a:solidFill>
                <a:latin typeface="Plus Jakarta Sans"/>
              </a:defRPr>
            </a:lvl3pPr>
            <a:lvl4pPr>
              <a:defRPr sz="2625" b="1">
                <a:solidFill>
                  <a:srgbClr val="FFFFFF"/>
                </a:solidFill>
                <a:latin typeface="Plus Jakarta Sans"/>
              </a:defRPr>
            </a:lvl4pPr>
            <a:lvl5pPr>
              <a:defRPr sz="2625" b="1">
                <a:solidFill>
                  <a:srgbClr val="FFFFFF"/>
                </a:solidFill>
                <a:latin typeface="Plus Jakarta Sans"/>
              </a:defRPr>
            </a:lvl5pPr>
            <a:lvl6pPr>
              <a:defRPr sz="2625" b="1">
                <a:solidFill>
                  <a:srgbClr val="FFFFFF"/>
                </a:solidFill>
                <a:latin typeface="Plus Jakarta Sans"/>
              </a:defRPr>
            </a:lvl6pPr>
            <a:lvl7pPr>
              <a:defRPr sz="2625" b="1">
                <a:solidFill>
                  <a:srgbClr val="FFFFFF"/>
                </a:solidFill>
                <a:latin typeface="Plus Jakarta Sans"/>
              </a:defRPr>
            </a:lvl7pPr>
            <a:lvl8pPr>
              <a:defRPr sz="2625" b="1">
                <a:solidFill>
                  <a:srgbClr val="FFFFFF"/>
                </a:solidFill>
                <a:latin typeface="Plus Jakarta Sans"/>
              </a:defRPr>
            </a:lvl8pPr>
            <a:lvl9pPr>
              <a:defRPr sz="2625" b="1">
                <a:solidFill>
                  <a:srgbClr val="FFFFFF"/>
                </a:solidFill>
                <a:latin typeface="Plus Jakarta Sans"/>
              </a:defRPr>
            </a:lvl9pPr>
          </a:lstStyle>
          <a:p>
            <a:pPr>
              <a:defRPr sz="2625" b="1">
                <a:solidFill>
                  <a:srgbClr val="FFFFFF"/>
                </a:solidFill>
                <a:latin typeface="Plus Jakarta Sans"/>
              </a:defRPr>
            </a:pPr>
            <a:r>
              <a:rPr sz="2625" b="1">
                <a:solidFill>
                  <a:srgbClr val="FFFFFF"/>
                </a:solidFill>
                <a:latin typeface="Plus Jakarta Sans"/>
              </a:rPr>
              <a:t>Detrusor overactivity and poor compliance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61616"/>
        </a:solidFill>
        <a:effectLst/>
      </p:bgPr>
    </p:bg>
    <p:spTree>
      <p:nvGrpSpPr>
        <p:cNvPr id="1" name=""/>
        <p:cNvGrpSpPr/>
        <p:nvPr/>
      </p:nvGrpSpPr>
      <p:grpSpPr>
        <a:xfrm>
          <a:off x="0" y="0"/>
          <a:ext cx="0" cy="0"/>
          <a:chOff x="0" y="0"/>
          <a:chExt cx="0" cy="0"/>
        </a:xfrm>
      </p:grpSpPr>
      <p:sp>
        <p:nvSpPr>
          <p:cNvPr id="4" name="Text 2"/>
          <p:cNvSpPr txBox="1"/>
          <p:nvPr/>
        </p:nvSpPr>
        <p:spPr>
          <a:xfrm>
            <a:off x="640080" y="3457575"/>
            <a:ext cx="5476875" cy="1285875"/>
          </a:xfrm>
          <a:prstGeom prst="rect">
            <a:avLst/>
          </a:prstGeom>
          <a:noFill/>
          <a:ln/>
        </p:spPr>
        <p:txBody>
          <a:bodyPr wrap="square" lIns="0" tIns="0" rIns="0" bIns="0" rtlCol="0" anchor="t"/>
          <a:lstStyle/>
          <a:p>
            <a:pPr algn="l" indent="0" marL="0">
              <a:lnSpc>
                <a:spcPct val="120000"/>
              </a:lnSpc>
              <a:buNone/>
            </a:pPr>
            <a:r>
              <a:rPr lang="en-US" sz="1500" dirty="0">
                <a:solidFill>
                  <a:srgbClr val="BFBFBF"/>
                </a:solidFill>
                <a:latin typeface="Plus Jakarta Sans" pitchFamily="34" charset="0"/>
                <a:ea typeface="Segoe UI" pitchFamily="34" charset="-122"/>
                <a:cs typeface="Segoe UI" pitchFamily="34" charset="-120"/>
              </a:rPr>
              <a:t>Name the narrowing, prove the outlet is stable, and plan the tissue the cuff will need.</a:t>
            </a:r>
            <a:endParaRPr lang="en-US" sz="1500" dirty="0">
              <a:solidFill>
                <a:srgbClr val="BFBFBF"/>
              </a:solidFill>
              <a:latin typeface="Plus Jakarta Sans"/>
            </a:endParaRPr>
          </a:p>
        </p:txBody>
      </p:sp>
      <p:sp>
        <p:nvSpPr>
          <p:cNvPr id="5" name="Text 3"/>
          <p:cNvSpPr txBox="1"/>
          <p:nvPr/>
        </p:nvSpPr>
        <p:spPr>
          <a:xfrm>
            <a:off x="7223760" y="1188720"/>
            <a:ext cx="4327855" cy="274320"/>
          </a:xfrm>
          <a:prstGeom prst="rect">
            <a:avLst/>
          </a:prstGeom>
          <a:noFill/>
          <a:ln/>
        </p:spPr>
        <p:txBody>
          <a:bodyPr wrap="square" lIns="0" tIns="0" rIns="0" bIns="0" rtlCol="0" anchor="t"/>
          <a:lstStyle/>
          <a:p>
            <a:pPr algn="l" indent="0" marL="0">
              <a:buNone/>
            </a:pPr>
            <a:r>
              <a:rPr lang="en-US" sz="1000" b="1" spc="200" kern="0" dirty="0">
                <a:solidFill>
                  <a:srgbClr val="BFBFBF"/>
                </a:solidFill>
                <a:latin typeface="Plus Jakarta Sans" pitchFamily="34" charset="0"/>
                <a:ea typeface="Segoe UI" pitchFamily="34" charset="-122"/>
                <a:cs typeface="Segoe UI" pitchFamily="34" charset="-120"/>
              </a:rPr>
              <a:t>IN THIS SECTION</a:t>
            </a:r>
            <a:endParaRPr lang="en-US" sz="1000" dirty="0">
              <a:latin typeface="Plus Jakarta Sans"/>
            </a:endParaRPr>
          </a:p>
        </p:txBody>
      </p:sp>
      <p:sp>
        <p:nvSpPr>
          <p:cNvPr id="6" name="Text 4"/>
          <p:cNvSpPr txBox="1"/>
          <p:nvPr/>
        </p:nvSpPr>
        <p:spPr>
          <a:xfrm>
            <a:off x="7223760" y="1645920"/>
            <a:ext cx="457200" cy="457200"/>
          </a:xfrm>
          <a:prstGeom prst="rect">
            <a:avLst/>
          </a:prstGeom>
          <a:noFill/>
          <a:ln/>
        </p:spPr>
        <p:txBody>
          <a:bodyPr wrap="square" lIns="0" tIns="0" rIns="0" bIns="0" rtlCol="0" anchor="ctr"/>
          <a:lstStyle/>
          <a:p>
            <a:pPr algn="l" indent="0" marL="0">
              <a:buNone/>
            </a:pPr>
            <a:r>
              <a:rPr lang="en-US" sz="1100" b="1" dirty="0">
                <a:solidFill>
                  <a:srgbClr val="89FF00"/>
                </a:solidFill>
                <a:latin typeface="Plus Jakarta Sans" pitchFamily="34" charset="0"/>
                <a:ea typeface="Segoe UI" pitchFamily="34" charset="-122"/>
                <a:cs typeface="Segoe UI" pitchFamily="34" charset="-120"/>
              </a:rPr>
              <a:t>15</a:t>
            </a:r>
            <a:endParaRPr lang="en-US" sz="1100" dirty="0">
              <a:solidFill>
                <a:srgbClr val="89FF00"/>
              </a:solidFill>
              <a:latin typeface="Plus Jakarta Sans"/>
            </a:endParaRPr>
          </a:p>
        </p:txBody>
      </p:sp>
      <p:sp>
        <p:nvSpPr>
          <p:cNvPr id="7" name="Text 5"/>
          <p:cNvSpPr txBox="1"/>
          <p:nvPr/>
        </p:nvSpPr>
        <p:spPr>
          <a:xfrm>
            <a:off x="7680960" y="1645920"/>
            <a:ext cx="3870655" cy="457200"/>
          </a:xfrm>
          <a:prstGeom prst="rect">
            <a:avLst/>
          </a:prstGeom>
          <a:noFill/>
          <a:ln/>
        </p:spPr>
        <p:txBody>
          <a:bodyPr wrap="square" lIns="0" tIns="0" rIns="0" bIns="0" rtlCol="0" anchor="ctr"/>
          <a:lstStyle/>
          <a:p>
            <a:pPr algn="l" indent="0" marL="0">
              <a:buNone/>
            </a:pPr>
            <a:r>
              <a:rPr lang="en-US" sz="1300" dirty="0">
                <a:solidFill>
                  <a:srgbClr val="F4F5F7"/>
                </a:solidFill>
                <a:latin typeface="Plus Jakarta Sans" pitchFamily="34" charset="0"/>
                <a:ea typeface="Segoe UI" pitchFamily="34" charset="-122"/>
                <a:cs typeface="Segoe UI" pitchFamily="34" charset="-120"/>
              </a:rPr>
              <a:t>Reassessment and urethral stability</a:t>
            </a:r>
            <a:endParaRPr lang="en-US" sz="1300" dirty="0">
              <a:latin typeface="Plus Jakarta Sans"/>
            </a:endParaRPr>
          </a:p>
        </p:txBody>
      </p:sp>
      <p:sp>
        <p:nvSpPr>
          <p:cNvPr id="8" name="Text 6"/>
          <p:cNvSpPr txBox="1"/>
          <p:nvPr/>
        </p:nvSpPr>
        <p:spPr>
          <a:xfrm>
            <a:off x="7223760" y="2103120"/>
            <a:ext cx="457200" cy="457200"/>
          </a:xfrm>
          <a:prstGeom prst="rect">
            <a:avLst/>
          </a:prstGeom>
          <a:noFill/>
          <a:ln/>
        </p:spPr>
        <p:txBody>
          <a:bodyPr wrap="square" lIns="0" tIns="0" rIns="0" bIns="0" rtlCol="0" anchor="ctr"/>
          <a:lstStyle/>
          <a:p>
            <a:pPr algn="l" indent="0" marL="0">
              <a:buNone/>
            </a:pPr>
            <a:r>
              <a:rPr lang="en-US" sz="1100" b="1" dirty="0">
                <a:solidFill>
                  <a:srgbClr val="89FF00"/>
                </a:solidFill>
                <a:latin typeface="Plus Jakarta Sans" pitchFamily="34" charset="0"/>
                <a:ea typeface="Segoe UI" pitchFamily="34" charset="-122"/>
                <a:cs typeface="Segoe UI" pitchFamily="34" charset="-120"/>
              </a:rPr>
              <a:t>16</a:t>
            </a:r>
            <a:endParaRPr lang="en-US" sz="1100" dirty="0">
              <a:solidFill>
                <a:srgbClr val="89FF00"/>
              </a:solidFill>
              <a:latin typeface="Plus Jakarta Sans"/>
            </a:endParaRPr>
          </a:p>
        </p:txBody>
      </p:sp>
      <p:sp>
        <p:nvSpPr>
          <p:cNvPr id="9" name="Text 7"/>
          <p:cNvSpPr txBox="1"/>
          <p:nvPr/>
        </p:nvSpPr>
        <p:spPr>
          <a:xfrm>
            <a:off x="7680960" y="2103120"/>
            <a:ext cx="3870655" cy="457200"/>
          </a:xfrm>
          <a:prstGeom prst="rect">
            <a:avLst/>
          </a:prstGeom>
          <a:noFill/>
          <a:ln/>
        </p:spPr>
        <p:txBody>
          <a:bodyPr wrap="square" lIns="0" tIns="0" rIns="0" bIns="0" rtlCol="0" anchor="ctr"/>
          <a:lstStyle/>
          <a:p>
            <a:pPr algn="l" indent="0" marL="0">
              <a:buNone/>
            </a:pPr>
            <a:r>
              <a:rPr lang="en-US" sz="1300" dirty="0">
                <a:solidFill>
                  <a:srgbClr val="F4F5F7"/>
                </a:solidFill>
                <a:latin typeface="Plus Jakarta Sans" pitchFamily="34" charset="0"/>
                <a:ea typeface="Segoe UI" pitchFamily="34" charset="-122"/>
                <a:cs typeface="Segoe UI" pitchFamily="34" charset="-120"/>
              </a:rPr>
              <a:t>Case 3: radiation and recurrent VUAS</a:t>
            </a:r>
            <a:endParaRPr lang="en-US" sz="1300" dirty="0">
              <a:latin typeface="Plus Jakarta Sans"/>
            </a:endParaRPr>
          </a:p>
        </p:txBody>
      </p:sp>
      <p:sp>
        <p:nvSpPr>
          <p:cNvPr id="10" name="Text 8"/>
          <p:cNvSpPr txBox="1"/>
          <p:nvPr/>
        </p:nvSpPr>
        <p:spPr>
          <a:xfrm>
            <a:off x="7223760" y="2560320"/>
            <a:ext cx="457200" cy="457200"/>
          </a:xfrm>
          <a:prstGeom prst="rect">
            <a:avLst/>
          </a:prstGeom>
          <a:noFill/>
          <a:ln/>
        </p:spPr>
        <p:txBody>
          <a:bodyPr wrap="square" lIns="0" tIns="0" rIns="0" bIns="0" rtlCol="0" anchor="ctr"/>
          <a:lstStyle/>
          <a:p>
            <a:pPr algn="l" indent="0" marL="0">
              <a:buNone/>
            </a:pPr>
            <a:r>
              <a:rPr lang="en-US" sz="1100" b="1" dirty="0">
                <a:solidFill>
                  <a:srgbClr val="89FF00"/>
                </a:solidFill>
                <a:latin typeface="Plus Jakarta Sans" pitchFamily="34" charset="0"/>
                <a:ea typeface="Segoe UI" pitchFamily="34" charset="-122"/>
                <a:cs typeface="Segoe UI" pitchFamily="34" charset="-120"/>
              </a:rPr>
              <a:t>17</a:t>
            </a:r>
            <a:endParaRPr lang="en-US" sz="1100" dirty="0">
              <a:solidFill>
                <a:srgbClr val="89FF00"/>
              </a:solidFill>
              <a:latin typeface="Plus Jakarta Sans"/>
            </a:endParaRPr>
          </a:p>
        </p:txBody>
      </p:sp>
      <p:sp>
        <p:nvSpPr>
          <p:cNvPr id="11" name="Text 9"/>
          <p:cNvSpPr txBox="1"/>
          <p:nvPr/>
        </p:nvSpPr>
        <p:spPr>
          <a:xfrm>
            <a:off x="7680960" y="2560320"/>
            <a:ext cx="3870655" cy="457200"/>
          </a:xfrm>
          <a:prstGeom prst="rect">
            <a:avLst/>
          </a:prstGeom>
          <a:noFill/>
          <a:ln/>
        </p:spPr>
        <p:txBody>
          <a:bodyPr wrap="square" lIns="0" tIns="0" rIns="0" bIns="0" rtlCol="0" anchor="ctr"/>
          <a:lstStyle/>
          <a:p>
            <a:pPr algn="l" indent="0" marL="0">
              <a:buNone/>
            </a:pPr>
            <a:r>
              <a:rPr lang="en-US" sz="1300" dirty="0">
                <a:solidFill>
                  <a:srgbClr val="F4F5F7"/>
                </a:solidFill>
                <a:latin typeface="Plus Jakarta Sans" pitchFamily="34" charset="0"/>
                <a:ea typeface="Segoe UI" pitchFamily="34" charset="-122"/>
                <a:cs typeface="Segoe UI" pitchFamily="34" charset="-120"/>
              </a:rPr>
              <a:t>AUS after urethral reconstruction</a:t>
            </a:r>
            <a:endParaRPr lang="en-US" sz="1300" dirty="0">
              <a:latin typeface="Plus Jakarta Sans"/>
            </a:endParaRPr>
          </a:p>
        </p:txBody>
      </p:sp>
      <p:sp>
        <p:nvSpPr>
          <p:cNvPr id="12" name="Text 10"/>
          <p:cNvSpPr txBox="1"/>
          <p:nvPr/>
        </p:nvSpPr>
        <p:spPr>
          <a:xfrm>
            <a:off x="7223760" y="3017520"/>
            <a:ext cx="457200" cy="457200"/>
          </a:xfrm>
          <a:prstGeom prst="rect">
            <a:avLst/>
          </a:prstGeom>
          <a:noFill/>
          <a:ln/>
        </p:spPr>
        <p:txBody>
          <a:bodyPr wrap="square" lIns="0" tIns="0" rIns="0" bIns="0" rtlCol="0" anchor="ctr"/>
          <a:lstStyle/>
          <a:p>
            <a:pPr algn="l" indent="0" marL="0">
              <a:buNone/>
            </a:pPr>
            <a:r>
              <a:rPr lang="en-US" sz="1100" b="1" dirty="0">
                <a:solidFill>
                  <a:srgbClr val="89FF00"/>
                </a:solidFill>
                <a:latin typeface="Plus Jakarta Sans" pitchFamily="34" charset="0"/>
                <a:ea typeface="Segoe UI" pitchFamily="34" charset="-122"/>
                <a:cs typeface="Segoe UI" pitchFamily="34" charset="-120"/>
              </a:rPr>
              <a:t>18</a:t>
            </a:r>
            <a:endParaRPr lang="en-US" sz="1100" dirty="0">
              <a:solidFill>
                <a:srgbClr val="89FF00"/>
              </a:solidFill>
              <a:latin typeface="Plus Jakarta Sans"/>
            </a:endParaRPr>
          </a:p>
        </p:txBody>
      </p:sp>
      <p:sp>
        <p:nvSpPr>
          <p:cNvPr id="13" name="Text 11"/>
          <p:cNvSpPr txBox="1"/>
          <p:nvPr/>
        </p:nvSpPr>
        <p:spPr>
          <a:xfrm>
            <a:off x="7680960" y="3017520"/>
            <a:ext cx="3870655" cy="457200"/>
          </a:xfrm>
          <a:prstGeom prst="rect">
            <a:avLst/>
          </a:prstGeom>
          <a:noFill/>
          <a:ln/>
        </p:spPr>
        <p:txBody>
          <a:bodyPr wrap="square" lIns="0" tIns="0" rIns="0" bIns="0" rtlCol="0" anchor="ctr"/>
          <a:lstStyle/>
          <a:p>
            <a:pPr algn="l" indent="0" marL="0">
              <a:buNone/>
            </a:pPr>
            <a:r>
              <a:rPr lang="en-US" sz="1300" dirty="0">
                <a:solidFill>
                  <a:srgbClr val="F4F5F7"/>
                </a:solidFill>
                <a:latin typeface="Plus Jakarta Sans" pitchFamily="34" charset="0"/>
                <a:ea typeface="Segoe UI" pitchFamily="34" charset="-122"/>
                <a:cs typeface="Segoe UI" pitchFamily="34" charset="-120"/>
              </a:rPr>
              <a:t>Transcorporal placement: role and costs</a:t>
            </a:r>
            <a:endParaRPr lang="en-US" sz="1300" dirty="0">
              <a:latin typeface="Plus Jakarta Sans"/>
            </a:endParaRPr>
          </a:p>
        </p:txBody>
      </p:sp>
      <p:sp>
        <p:nvSpPr>
          <p:cNvPr id="14" name="Shape 12"/>
          <p:cNvSpPr/>
          <p:nvPr/>
        </p:nvSpPr>
        <p:spPr>
          <a:xfrm>
            <a:off x="640080" y="5989320"/>
            <a:ext cx="1727149" cy="82296"/>
          </a:xfrm>
          <a:prstGeom prst="roundRect">
            <a:avLst>
              <a:gd name="adj" fmla="val 44444"/>
            </a:avLst>
          </a:prstGeom>
          <a:solidFill>
            <a:srgbClr val="89FF00"/>
          </a:solidFill>
          <a:ln/>
        </p:spPr>
      </p:sp>
      <p:sp>
        <p:nvSpPr>
          <p:cNvPr id="15" name="Text 13"/>
          <p:cNvSpPr txBox="1"/>
          <p:nvPr/>
        </p:nvSpPr>
        <p:spPr>
          <a:xfrm>
            <a:off x="640080" y="6126480"/>
            <a:ext cx="1727149" cy="274320"/>
          </a:xfrm>
          <a:prstGeom prst="rect">
            <a:avLst/>
          </a:prstGeom>
          <a:noFill/>
          <a:ln/>
        </p:spPr>
        <p:txBody>
          <a:bodyPr wrap="square" lIns="0" tIns="0" rIns="0" bIns="0" rtlCol="0" anchor="t"/>
          <a:lstStyle/>
          <a:p>
            <a:pPr algn="l" indent="0" marL="0">
              <a:buNone/>
            </a:pPr>
            <a:r>
              <a:rPr lang="en-US" sz="850" dirty="0">
                <a:solidFill>
                  <a:srgbClr val="AFAFAF"/>
                </a:solidFill>
                <a:latin typeface="Plus Jakarta Sans" pitchFamily="34" charset="0"/>
                <a:ea typeface="Segoe UI" pitchFamily="34" charset="-122"/>
                <a:cs typeface="Segoe UI" pitchFamily="34" charset="-120"/>
              </a:rPr>
              <a:t>Decide before theatre</a:t>
            </a:r>
            <a:endParaRPr lang="en-US" sz="850" dirty="0">
              <a:latin typeface="Plus Jakarta Sans"/>
            </a:endParaRPr>
          </a:p>
        </p:txBody>
      </p:sp>
      <p:sp>
        <p:nvSpPr>
          <p:cNvPr id="16" name="Shape 14"/>
          <p:cNvSpPr/>
          <p:nvPr/>
        </p:nvSpPr>
        <p:spPr>
          <a:xfrm>
            <a:off x="2476957" y="5989320"/>
            <a:ext cx="1727149" cy="82296"/>
          </a:xfrm>
          <a:prstGeom prst="roundRect">
            <a:avLst>
              <a:gd name="adj" fmla="val 44444"/>
            </a:avLst>
          </a:prstGeom>
          <a:solidFill>
            <a:srgbClr val="89FF00"/>
          </a:solidFill>
          <a:ln/>
        </p:spPr>
      </p:sp>
      <p:sp>
        <p:nvSpPr>
          <p:cNvPr id="17" name="Text 15"/>
          <p:cNvSpPr txBox="1"/>
          <p:nvPr/>
        </p:nvSpPr>
        <p:spPr>
          <a:xfrm>
            <a:off x="2476957" y="6126480"/>
            <a:ext cx="1727149" cy="274320"/>
          </a:xfrm>
          <a:prstGeom prst="rect">
            <a:avLst/>
          </a:prstGeom>
          <a:noFill/>
          <a:ln/>
        </p:spPr>
        <p:txBody>
          <a:bodyPr wrap="square" lIns="0" tIns="0" rIns="0" bIns="0" rtlCol="0" anchor="t"/>
          <a:lstStyle/>
          <a:p>
            <a:pPr algn="l" indent="0" marL="0">
              <a:buNone/>
            </a:pPr>
            <a:r>
              <a:rPr lang="en-US" sz="850" dirty="0">
                <a:solidFill>
                  <a:srgbClr val="AFAFAF"/>
                </a:solidFill>
                <a:latin typeface="Plus Jakarta Sans" pitchFamily="34" charset="0"/>
                <a:ea typeface="Segoe UI" pitchFamily="34" charset="-122"/>
                <a:cs typeface="Segoe UI" pitchFamily="34" charset="-120"/>
              </a:rPr>
              <a:t>The bladder</a:t>
            </a:r>
            <a:endParaRPr lang="en-US" sz="850" dirty="0">
              <a:latin typeface="Plus Jakarta Sans"/>
            </a:endParaRPr>
          </a:p>
        </p:txBody>
      </p:sp>
      <p:sp>
        <p:nvSpPr>
          <p:cNvPr id="18" name="Shape 16"/>
          <p:cNvSpPr/>
          <p:nvPr/>
        </p:nvSpPr>
        <p:spPr>
          <a:xfrm>
            <a:off x="4313834" y="5989320"/>
            <a:ext cx="1727149" cy="82296"/>
          </a:xfrm>
          <a:prstGeom prst="roundRect">
            <a:avLst>
              <a:gd name="adj" fmla="val 44444"/>
            </a:avLst>
          </a:prstGeom>
          <a:solidFill>
            <a:srgbClr val="89FF00"/>
          </a:solidFill>
          <a:ln/>
        </p:spPr>
      </p:sp>
      <p:sp>
        <p:nvSpPr>
          <p:cNvPr id="19" name="Text 17"/>
          <p:cNvSpPr txBox="1"/>
          <p:nvPr/>
        </p:nvSpPr>
        <p:spPr>
          <a:xfrm>
            <a:off x="4313834" y="6126480"/>
            <a:ext cx="1727149" cy="274320"/>
          </a:xfrm>
          <a:prstGeom prst="rect">
            <a:avLst/>
          </a:prstGeom>
          <a:noFill/>
          <a:ln/>
        </p:spPr>
        <p:txBody>
          <a:bodyPr wrap="square" lIns="0" tIns="0" rIns="0" bIns="0" rtlCol="0" anchor="t"/>
          <a:lstStyle/>
          <a:p>
            <a:pPr algn="l" indent="0" marL="0">
              <a:buNone/>
            </a:pPr>
            <a:r>
              <a:rPr lang="en-US" sz="850" dirty="0">
                <a:solidFill>
                  <a:srgbClr val="F4F5F7"/>
                </a:solidFill>
                <a:latin typeface="Plus Jakarta Sans" pitchFamily="34" charset="0"/>
                <a:ea typeface="Segoe UI" pitchFamily="34" charset="-122"/>
                <a:cs typeface="Segoe UI" pitchFamily="34" charset="-120"/>
              </a:rPr>
              <a:t>The urethra</a:t>
            </a:r>
            <a:endParaRPr lang="en-US" sz="850" dirty="0">
              <a:latin typeface="Plus Jakarta Sans"/>
            </a:endParaRPr>
          </a:p>
        </p:txBody>
      </p:sp>
      <p:sp>
        <p:nvSpPr>
          <p:cNvPr id="20" name="Shape 18"/>
          <p:cNvSpPr/>
          <p:nvPr/>
        </p:nvSpPr>
        <p:spPr>
          <a:xfrm>
            <a:off x="6150712" y="5989320"/>
            <a:ext cx="1727149" cy="82296"/>
          </a:xfrm>
          <a:prstGeom prst="roundRect">
            <a:avLst>
              <a:gd name="adj" fmla="val 44444"/>
            </a:avLst>
          </a:prstGeom>
          <a:solidFill>
            <a:srgbClr val="2D2D2D"/>
          </a:solidFill>
          <a:ln/>
        </p:spPr>
      </p:sp>
      <p:sp>
        <p:nvSpPr>
          <p:cNvPr id="21" name="Text 19"/>
          <p:cNvSpPr txBox="1"/>
          <p:nvPr/>
        </p:nvSpPr>
        <p:spPr>
          <a:xfrm>
            <a:off x="6150712" y="6126480"/>
            <a:ext cx="1727149" cy="274320"/>
          </a:xfrm>
          <a:prstGeom prst="rect">
            <a:avLst/>
          </a:prstGeom>
          <a:noFill/>
          <a:ln/>
        </p:spPr>
        <p:txBody>
          <a:bodyPr wrap="square" lIns="0" tIns="0" rIns="0" bIns="0" rtlCol="0" anchor="t"/>
          <a:lstStyle/>
          <a:p>
            <a:pPr algn="l" indent="0" marL="0">
              <a:buNone/>
            </a:pPr>
            <a:r>
              <a:rPr lang="en-US" sz="850" dirty="0">
                <a:solidFill>
                  <a:srgbClr val="AFAFAF"/>
                </a:solidFill>
                <a:latin typeface="Plus Jakarta Sans" pitchFamily="34" charset="0"/>
                <a:ea typeface="Segoe UI" pitchFamily="34" charset="-122"/>
                <a:cs typeface="Segoe UI" pitchFamily="34" charset="-120"/>
              </a:rPr>
              <a:t>Preparation without ritual</a:t>
            </a:r>
            <a:endParaRPr lang="en-US" sz="850" dirty="0">
              <a:latin typeface="Plus Jakarta Sans"/>
            </a:endParaRPr>
          </a:p>
        </p:txBody>
      </p:sp>
      <p:sp>
        <p:nvSpPr>
          <p:cNvPr id="22" name="Shape 20"/>
          <p:cNvSpPr/>
          <p:nvPr/>
        </p:nvSpPr>
        <p:spPr>
          <a:xfrm>
            <a:off x="7987589" y="5989320"/>
            <a:ext cx="1727149" cy="82296"/>
          </a:xfrm>
          <a:prstGeom prst="roundRect">
            <a:avLst>
              <a:gd name="adj" fmla="val 44444"/>
            </a:avLst>
          </a:prstGeom>
          <a:solidFill>
            <a:srgbClr val="2D2D2D"/>
          </a:solidFill>
          <a:ln/>
        </p:spPr>
      </p:sp>
      <p:sp>
        <p:nvSpPr>
          <p:cNvPr id="23" name="Text 21"/>
          <p:cNvSpPr txBox="1"/>
          <p:nvPr/>
        </p:nvSpPr>
        <p:spPr>
          <a:xfrm>
            <a:off x="7987589" y="6126480"/>
            <a:ext cx="1727149" cy="274320"/>
          </a:xfrm>
          <a:prstGeom prst="rect">
            <a:avLst/>
          </a:prstGeom>
          <a:noFill/>
          <a:ln/>
        </p:spPr>
        <p:txBody>
          <a:bodyPr wrap="square" lIns="0" tIns="0" rIns="0" bIns="0" rtlCol="0" anchor="t"/>
          <a:lstStyle/>
          <a:p>
            <a:pPr algn="l" indent="0" marL="0">
              <a:buNone/>
            </a:pPr>
            <a:r>
              <a:rPr lang="en-US" sz="850" dirty="0">
                <a:solidFill>
                  <a:srgbClr val="AFAFAF"/>
                </a:solidFill>
                <a:latin typeface="Plus Jakarta Sans" pitchFamily="34" charset="0"/>
                <a:ea typeface="Segoe UI" pitchFamily="34" charset="-122"/>
                <a:cs typeface="Segoe UI" pitchFamily="34" charset="-120"/>
              </a:rPr>
              <a:t>The operation</a:t>
            </a:r>
            <a:endParaRPr lang="en-US" sz="850" dirty="0">
              <a:latin typeface="Plus Jakarta Sans"/>
            </a:endParaRPr>
          </a:p>
        </p:txBody>
      </p:sp>
      <p:sp>
        <p:nvSpPr>
          <p:cNvPr id="24" name="Shape 22"/>
          <p:cNvSpPr/>
          <p:nvPr/>
        </p:nvSpPr>
        <p:spPr>
          <a:xfrm>
            <a:off x="9824466" y="5989320"/>
            <a:ext cx="1727149" cy="82296"/>
          </a:xfrm>
          <a:prstGeom prst="roundRect">
            <a:avLst>
              <a:gd name="adj" fmla="val 44444"/>
            </a:avLst>
          </a:prstGeom>
          <a:solidFill>
            <a:srgbClr val="2D2D2D"/>
          </a:solidFill>
          <a:ln/>
        </p:spPr>
      </p:sp>
      <p:sp>
        <p:nvSpPr>
          <p:cNvPr id="25" name="Text 23"/>
          <p:cNvSpPr txBox="1"/>
          <p:nvPr/>
        </p:nvSpPr>
        <p:spPr>
          <a:xfrm>
            <a:off x="9824466" y="6126480"/>
            <a:ext cx="1727149" cy="274320"/>
          </a:xfrm>
          <a:prstGeom prst="rect">
            <a:avLst/>
          </a:prstGeom>
          <a:noFill/>
          <a:ln/>
        </p:spPr>
        <p:txBody>
          <a:bodyPr wrap="square" lIns="0" tIns="0" rIns="0" bIns="0" rtlCol="0" anchor="t"/>
          <a:lstStyle/>
          <a:p>
            <a:pPr algn="l" indent="0" marL="0">
              <a:buNone/>
            </a:pPr>
            <a:r>
              <a:rPr lang="en-US" sz="850" dirty="0">
                <a:solidFill>
                  <a:srgbClr val="AFAFAF"/>
                </a:solidFill>
                <a:latin typeface="Plus Jakarta Sans" pitchFamily="34" charset="0"/>
                <a:ea typeface="Segoe UI" pitchFamily="34" charset="-122"/>
                <a:cs typeface="Segoe UI" pitchFamily="34" charset="-120"/>
              </a:rPr>
              <a:t>After the implant</a:t>
            </a:r>
            <a:endParaRPr lang="en-US" sz="850" dirty="0">
              <a:latin typeface="Plus Jakarta Sans"/>
            </a:endParaRPr>
          </a:p>
        </p:txBody>
      </p:sp>
      <p:sp>
        <p:nvSpPr>
          <p:cNvPr id="9001" name="replacement-title">
            <a:extLst>
              <a:ext uri="{FF2B5EF4-FFF2-40B4-BE49-F238E27FC236}">
                <a16:creationId xmlns:a16="http://schemas.microsoft.com/office/drawing/2014/main" id="{85931943-D4BD-4EC2-ADD5-A703B8753B42}"/>
              </a:ext>
            </a:extLst>
          </p:cNvPr>
          <p:cNvSpPr>
            <a:spLocks noGrp="1"/>
          </p:cNvSpPr>
          <p:nvPr/>
        </p:nvSpPr>
        <p:spPr>
          <a:xfrm>
            <a:off x="638175" y="1905000"/>
            <a:ext cx="5476875" cy="1314450"/>
          </a:xfrm>
          <a:prstGeom prst="rect">
            <a:avLst/>
          </a:prstGeom>
          <a:noFill/>
          <a:ln w="0">
            <a:noFill/>
          </a:ln>
        </p:spPr>
        <p:txBody>
          <a:bodyPr anchor="ctr"/>
          <a:lstStyle>
            <a:defPPr>
              <a:defRPr sz="3600" b="1">
                <a:solidFill>
                  <a:srgbClr val="FFFFFF"/>
                </a:solidFill>
                <a:latin typeface="Plus Jakarta Sans"/>
              </a:defRPr>
            </a:defPPr>
            <a:lvl1pPr>
              <a:defRPr sz="3600" b="1">
                <a:solidFill>
                  <a:srgbClr val="FFFFFF"/>
                </a:solidFill>
                <a:latin typeface="Plus Jakarta Sans"/>
              </a:defRPr>
            </a:lvl1pPr>
            <a:lvl2pPr>
              <a:defRPr sz="3600" b="1">
                <a:solidFill>
                  <a:srgbClr val="FFFFFF"/>
                </a:solidFill>
                <a:latin typeface="Plus Jakarta Sans"/>
              </a:defRPr>
            </a:lvl2pPr>
            <a:lvl3pPr>
              <a:defRPr sz="3600" b="1">
                <a:solidFill>
                  <a:srgbClr val="FFFFFF"/>
                </a:solidFill>
                <a:latin typeface="Plus Jakarta Sans"/>
              </a:defRPr>
            </a:lvl3pPr>
            <a:lvl4pPr>
              <a:defRPr sz="3600" b="1">
                <a:solidFill>
                  <a:srgbClr val="FFFFFF"/>
                </a:solidFill>
                <a:latin typeface="Plus Jakarta Sans"/>
              </a:defRPr>
            </a:lvl4pPr>
            <a:lvl5pPr>
              <a:defRPr sz="3600" b="1">
                <a:solidFill>
                  <a:srgbClr val="FFFFFF"/>
                </a:solidFill>
                <a:latin typeface="Plus Jakarta Sans"/>
              </a:defRPr>
            </a:lvl5pPr>
            <a:lvl6pPr>
              <a:defRPr sz="3600" b="1">
                <a:solidFill>
                  <a:srgbClr val="FFFFFF"/>
                </a:solidFill>
                <a:latin typeface="Plus Jakarta Sans"/>
              </a:defRPr>
            </a:lvl6pPr>
            <a:lvl7pPr>
              <a:defRPr sz="3600" b="1">
                <a:solidFill>
                  <a:srgbClr val="FFFFFF"/>
                </a:solidFill>
                <a:latin typeface="Plus Jakarta Sans"/>
              </a:defRPr>
            </a:lvl7pPr>
            <a:lvl8pPr>
              <a:defRPr sz="3600" b="1">
                <a:solidFill>
                  <a:srgbClr val="FFFFFF"/>
                </a:solidFill>
                <a:latin typeface="Plus Jakarta Sans"/>
              </a:defRPr>
            </a:lvl8pPr>
            <a:lvl9pPr>
              <a:defRPr sz="3600" b="1">
                <a:solidFill>
                  <a:srgbClr val="FFFFFF"/>
                </a:solidFill>
                <a:latin typeface="Plus Jakarta Sans"/>
              </a:defRPr>
            </a:lvl9pPr>
          </a:lstStyle>
          <a:p>
            <a:pPr>
              <a:defRPr sz="3600" b="1">
                <a:solidFill>
                  <a:srgbClr val="FFFFFF"/>
                </a:solidFill>
                <a:latin typeface="Plus Jakarta Sans"/>
              </a:defRPr>
            </a:pPr>
            <a:r>
              <a:rPr sz="3600" b="1">
                <a:solidFill>
                  <a:srgbClr val="FFFFFF"/>
                </a:solidFill>
                <a:latin typeface="Plus Jakarta Sans"/>
              </a:rPr>
              <a:t>The urethra</a:t>
            </a:r>
          </a:p>
        </p:txBody>
      </p:sp>
      <p:sp>
        <p:nvSpPr>
          <p:cNvPr id="9010" name="Google Shape;50;p7"/>
          <p:cNvSpPr/>
          <p:nvPr/>
        </p:nvSpPr>
        <p:spPr>
          <a:xfrm>
            <a:off x="5810250" y="1581150"/>
            <a:ext cx="314325" cy="314325"/>
          </a:xfrm>
          <a:custGeom>
            <a:avLst/>
            <a:gdLst/>
            <a:ahLst/>
            <a:cxnLst/>
            <a:rect l="l" t="t" r="r" b="b"/>
            <a:pathLst>
              <a:path w="615314" h="615315" extrusionOk="0">
                <a:moveTo>
                  <a:pt x="307372" y="0"/>
                </a:moveTo>
                <a:lnTo>
                  <a:pt x="295063" y="64094"/>
                </a:lnTo>
                <a:lnTo>
                  <a:pt x="281976" y="117458"/>
                </a:lnTo>
                <a:lnTo>
                  <a:pt x="266867" y="161336"/>
                </a:lnTo>
                <a:lnTo>
                  <a:pt x="248493" y="196971"/>
                </a:lnTo>
                <a:lnTo>
                  <a:pt x="196971" y="248493"/>
                </a:lnTo>
                <a:lnTo>
                  <a:pt x="161336" y="266867"/>
                </a:lnTo>
                <a:lnTo>
                  <a:pt x="117458" y="281976"/>
                </a:lnTo>
                <a:lnTo>
                  <a:pt x="64094" y="295063"/>
                </a:lnTo>
                <a:lnTo>
                  <a:pt x="0" y="307372"/>
                </a:lnTo>
                <a:lnTo>
                  <a:pt x="64094" y="319682"/>
                </a:lnTo>
                <a:lnTo>
                  <a:pt x="117458" y="332769"/>
                </a:lnTo>
                <a:lnTo>
                  <a:pt x="161336" y="347878"/>
                </a:lnTo>
                <a:lnTo>
                  <a:pt x="196971" y="366252"/>
                </a:lnTo>
                <a:lnTo>
                  <a:pt x="248493" y="417773"/>
                </a:lnTo>
                <a:lnTo>
                  <a:pt x="266867" y="453409"/>
                </a:lnTo>
                <a:lnTo>
                  <a:pt x="281976" y="497287"/>
                </a:lnTo>
                <a:lnTo>
                  <a:pt x="295063" y="550651"/>
                </a:lnTo>
                <a:lnTo>
                  <a:pt x="307372" y="614745"/>
                </a:lnTo>
                <a:lnTo>
                  <a:pt x="319682" y="550651"/>
                </a:lnTo>
                <a:lnTo>
                  <a:pt x="332769" y="497287"/>
                </a:lnTo>
                <a:lnTo>
                  <a:pt x="347878" y="453409"/>
                </a:lnTo>
                <a:lnTo>
                  <a:pt x="366252" y="417773"/>
                </a:lnTo>
                <a:lnTo>
                  <a:pt x="417773" y="366252"/>
                </a:lnTo>
                <a:lnTo>
                  <a:pt x="453409" y="347878"/>
                </a:lnTo>
                <a:lnTo>
                  <a:pt x="497287" y="332769"/>
                </a:lnTo>
                <a:lnTo>
                  <a:pt x="550651" y="319682"/>
                </a:lnTo>
                <a:lnTo>
                  <a:pt x="614745" y="307372"/>
                </a:lnTo>
                <a:lnTo>
                  <a:pt x="550651" y="295063"/>
                </a:lnTo>
                <a:lnTo>
                  <a:pt x="497287" y="281976"/>
                </a:lnTo>
                <a:lnTo>
                  <a:pt x="453409" y="266867"/>
                </a:lnTo>
                <a:lnTo>
                  <a:pt x="417773" y="248493"/>
                </a:lnTo>
                <a:lnTo>
                  <a:pt x="366252" y="196971"/>
                </a:lnTo>
                <a:lnTo>
                  <a:pt x="347878" y="161336"/>
                </a:lnTo>
                <a:lnTo>
                  <a:pt x="332769" y="117458"/>
                </a:lnTo>
                <a:lnTo>
                  <a:pt x="319682" y="64094"/>
                </a:lnTo>
                <a:lnTo>
                  <a:pt x="307372" y="0"/>
                </a:lnTo>
                <a:close/>
              </a:path>
            </a:pathLst>
          </a:custGeom>
          <a:solidFill>
            <a:srgbClr val="89FF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011" name="Google Shape;49;p7"/>
          <p:cNvSpPr/>
          <p:nvPr/>
        </p:nvSpPr>
        <p:spPr>
          <a:xfrm>
            <a:off x="638175" y="1676400"/>
            <a:ext cx="552450" cy="85725"/>
          </a:xfrm>
          <a:custGeom>
            <a:avLst/>
            <a:gdLst/>
            <a:ahLst/>
            <a:cxnLst/>
            <a:rect l="l" t="t" r="r" b="b"/>
            <a:pathLst>
              <a:path w="2339340" h="539115" extrusionOk="0">
                <a:moveTo>
                  <a:pt x="2129736" y="0"/>
                </a:moveTo>
                <a:lnTo>
                  <a:pt x="209417" y="0"/>
                </a:lnTo>
                <a:lnTo>
                  <a:pt x="161399" y="5531"/>
                </a:lnTo>
                <a:lnTo>
                  <a:pt x="117319" y="21286"/>
                </a:lnTo>
                <a:lnTo>
                  <a:pt x="78436" y="46009"/>
                </a:lnTo>
                <a:lnTo>
                  <a:pt x="46005" y="78440"/>
                </a:lnTo>
                <a:lnTo>
                  <a:pt x="21284" y="117324"/>
                </a:lnTo>
                <a:lnTo>
                  <a:pt x="5530" y="161402"/>
                </a:lnTo>
                <a:lnTo>
                  <a:pt x="0" y="209417"/>
                </a:lnTo>
                <a:lnTo>
                  <a:pt x="0" y="329089"/>
                </a:lnTo>
                <a:lnTo>
                  <a:pt x="5530" y="377108"/>
                </a:lnTo>
                <a:lnTo>
                  <a:pt x="21284" y="421187"/>
                </a:lnTo>
                <a:lnTo>
                  <a:pt x="46005" y="460070"/>
                </a:lnTo>
                <a:lnTo>
                  <a:pt x="78436" y="492501"/>
                </a:lnTo>
                <a:lnTo>
                  <a:pt x="117319" y="517222"/>
                </a:lnTo>
                <a:lnTo>
                  <a:pt x="161399" y="532976"/>
                </a:lnTo>
                <a:lnTo>
                  <a:pt x="209417" y="538507"/>
                </a:lnTo>
                <a:lnTo>
                  <a:pt x="2129736" y="538507"/>
                </a:lnTo>
                <a:lnTo>
                  <a:pt x="2177754" y="532976"/>
                </a:lnTo>
                <a:lnTo>
                  <a:pt x="2221834" y="517222"/>
                </a:lnTo>
                <a:lnTo>
                  <a:pt x="2260717" y="492501"/>
                </a:lnTo>
                <a:lnTo>
                  <a:pt x="2293148" y="460070"/>
                </a:lnTo>
                <a:lnTo>
                  <a:pt x="2317869" y="421187"/>
                </a:lnTo>
                <a:lnTo>
                  <a:pt x="2333623" y="377108"/>
                </a:lnTo>
                <a:lnTo>
                  <a:pt x="2339153" y="329089"/>
                </a:lnTo>
                <a:lnTo>
                  <a:pt x="2339153" y="209417"/>
                </a:lnTo>
                <a:lnTo>
                  <a:pt x="2333623" y="161402"/>
                </a:lnTo>
                <a:lnTo>
                  <a:pt x="2317869" y="117324"/>
                </a:lnTo>
                <a:lnTo>
                  <a:pt x="2293148" y="78440"/>
                </a:lnTo>
                <a:lnTo>
                  <a:pt x="2260717" y="46009"/>
                </a:lnTo>
                <a:lnTo>
                  <a:pt x="2221834" y="21286"/>
                </a:lnTo>
                <a:lnTo>
                  <a:pt x="2177754" y="5531"/>
                </a:lnTo>
                <a:lnTo>
                  <a:pt x="2129736" y="0"/>
                </a:lnTo>
                <a:close/>
              </a:path>
            </a:pathLst>
          </a:custGeom>
          <a:solidFill>
            <a:srgbClr val="89FF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61616"/>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05C489"/>
                </a:solidFill>
                <a:latin typeface="Plus Jakarta Sans" pitchFamily="34" charset="0"/>
                <a:ea typeface="Segoe UI" pitchFamily="34" charset="-122"/>
                <a:cs typeface="Segoe UI" pitchFamily="34" charset="-120"/>
              </a:rPr>
              <a:t>THE URETHRA</a:t>
            </a:r>
            <a:endParaRPr lang="en-US" sz="950" dirty="0">
              <a:latin typeface="Plus Jakarta Sans"/>
            </a:endParaRPr>
          </a:p>
        </p:txBody>
      </p:sp>
      <p:sp>
        <p:nvSpPr>
          <p:cNvPr id="3" name="Text 1"/>
          <p:cNvSpPr txBox="1"/>
          <p:nvPr/>
        </p:nvSpPr>
        <p:spPr>
          <a:xfrm>
            <a:off x="6979615" y="384048"/>
            <a:ext cx="4572000" cy="274320"/>
          </a:xfrm>
          <a:prstGeom prst="rect">
            <a:avLst/>
          </a:prstGeom>
          <a:noFill/>
          <a:ln/>
        </p:spPr>
        <p:txBody>
          <a:bodyPr wrap="square" lIns="0" tIns="0" rIns="0" bIns="0" rtlCol="0" anchor="t"/>
          <a:lstStyle/>
          <a:p>
            <a:pPr algn="r" indent="0" marL="0">
              <a:buNone/>
            </a:pPr>
            <a:r>
              <a:rPr lang="en-US" sz="950" spc="100" kern="0" dirty="0">
                <a:solidFill>
                  <a:srgbClr val="BFBFBF"/>
                </a:solidFill>
                <a:latin typeface="Plus Jakarta Sans" pitchFamily="34" charset="0"/>
                <a:ea typeface="Segoe UI" pitchFamily="34" charset="-122"/>
                <a:cs typeface="Segoe UI" pitchFamily="34" charset="-120"/>
              </a:rPr>
              <a:t>15 / 36</a:t>
            </a:r>
            <a:endParaRPr lang="en-US" sz="950" dirty="0">
              <a:latin typeface="Plus Jakarta Sans"/>
            </a:endParaRPr>
          </a:p>
        </p:txBody>
      </p:sp>
      <p:sp>
        <p:nvSpPr>
          <p:cNvPr id="5" name="Text 3"/>
          <p:cNvSpPr txBox="1"/>
          <p:nvPr/>
        </p:nvSpPr>
        <p:spPr>
          <a:xfrm>
            <a:off x="640080" y="6345936"/>
            <a:ext cx="9997135" cy="228600"/>
          </a:xfrm>
          <a:prstGeom prst="rect">
            <a:avLst/>
          </a:prstGeom>
          <a:noFill/>
          <a:ln/>
        </p:spPr>
        <p:txBody>
          <a:bodyPr wrap="square" lIns="0" tIns="0" rIns="0" bIns="0" rtlCol="0" anchor="t"/>
          <a:lstStyle/>
          <a:p>
            <a:pPr algn="l" indent="0" marL="0">
              <a:buNone/>
            </a:pPr>
            <a:r>
              <a:rPr lang="en-US" sz="800" spc="50" kern="0" dirty="0">
                <a:solidFill>
                  <a:srgbClr val="BFBFBF"/>
                </a:solidFill>
                <a:latin typeface="Plus Jakarta Sans" pitchFamily="34" charset="0"/>
                <a:ea typeface="Segoe UI" pitchFamily="34" charset="-122"/>
                <a:cs typeface="Segoe UI" pitchFamily="34" charset="-120"/>
              </a:rPr>
              <a:t>BAUS25  ·  AUA24  ·  EAUSTR26  ·  ICS16</a:t>
            </a:r>
            <a:endParaRPr lang="en-US" sz="800" dirty="0">
              <a:latin typeface="Plus Jakarta Sans"/>
            </a:endParaRPr>
          </a:p>
        </p:txBody>
      </p:sp>
      <p:sp>
        <p:nvSpPr>
          <p:cNvPr id="6" name="Text 4"/>
          <p:cNvSpPr txBox="1"/>
          <p:nvPr/>
        </p:nvSpPr>
        <p:spPr>
          <a:xfrm>
            <a:off x="640080" y="5669280"/>
            <a:ext cx="10911535" cy="566928"/>
          </a:xfrm>
          <a:prstGeom prst="rect">
            <a:avLst/>
          </a:prstGeom>
          <a:noFill/>
          <a:ln/>
        </p:spPr>
        <p:txBody>
          <a:bodyPr wrap="square" lIns="0" tIns="0" rIns="0" bIns="0" rtlCol="0" anchor="b"/>
          <a:lstStyle/>
          <a:p>
            <a:pPr algn="l" indent="0" marL="0">
              <a:buNone/>
            </a:pPr>
            <a:r>
              <a:rPr lang="en-US" sz="1200" i="1" dirty="0">
                <a:solidFill>
                  <a:srgbClr val="BFBFBF"/>
                </a:solidFill>
                <a:latin typeface="Plus Jakarta Sans" pitchFamily="34" charset="0"/>
                <a:ea typeface="Segoe UI" pitchFamily="34" charset="-122"/>
                <a:cs typeface="Segoe UI" pitchFamily="34" charset="-120"/>
              </a:rPr>
              <a:t>Three intervals for three situations. The pattern of recurrence, the tissue and future access decide.</a:t>
            </a:r>
            <a:endParaRPr lang="en-US" sz="1200" dirty="0">
              <a:latin typeface="Plus Jakarta Sans"/>
            </a:endParaRPr>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911535" cy="914400"/>
        </p:xfrm>
        <a:graphic>
          <a:graphicData uri="http://schemas.openxmlformats.org/drawingml/2006/table">
            <a:tbl>
              <a:tblPr/>
              <a:tblGrid>
                <a:gridCol w="2377440"/>
                <a:gridCol w="4069080"/>
                <a:gridCol w="4465015"/>
              </a:tblGrid>
              <a:tr h="411480">
                <a:tc>
                  <a:txBody>
                    <a:bodyPr/>
                    <a:lstStyle/>
                    <a:p>
                      <a:pPr indent="0" marL="0">
                        <a:buNone/>
                      </a:pPr>
                      <a:r>
                        <a:rPr lang="en-US" sz="1400" b="1" dirty="0">
                          <a:solidFill>
                            <a:srgbClr val="161616"/>
                          </a:solidFill>
                          <a:latin typeface="Plus Jakarta Sans" pitchFamily="34" charset="0"/>
                          <a:ea typeface="Segoe UI Semibold" pitchFamily="34" charset="-122"/>
                          <a:cs typeface="Segoe UI Semibold" pitchFamily="34" charset="-120"/>
                        </a:rPr>
                        <a:t>Guideline</a:t>
                      </a:r>
                      <a:endParaRPr lang="en-US" sz="1400" dirty="0">
                        <a:solidFill>
                          <a:srgbClr val="161616"/>
                        </a:solidFill>
                        <a:latin typeface="Plus Jakarta Sans" charset="0"/>
                        <a:ea typeface="Segoe UI Semibold" charset="0"/>
                        <a:cs typeface="Segoe UI Semibold" charset="0"/>
                      </a:endParaRPr>
                    </a:p>
                  </a:txBody>
                  <a:tcPr marL="146304" marR="146304" marT="91440" marB="91440"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05C489"/>
                    </a:solidFill>
                  </a:tcPr>
                </a:tc>
                <a:tc>
                  <a:txBody>
                    <a:bodyPr/>
                    <a:lstStyle/>
                    <a:p>
                      <a:pPr indent="0" marL="0">
                        <a:buNone/>
                      </a:pPr>
                      <a:r>
                        <a:rPr lang="en-US" sz="1400" b="1" dirty="0">
                          <a:solidFill>
                            <a:srgbClr val="161616"/>
                          </a:solidFill>
                          <a:latin typeface="Plus Jakarta Sans" pitchFamily="34" charset="0"/>
                          <a:ea typeface="Segoe UI Semibold" pitchFamily="34" charset="-122"/>
                          <a:cs typeface="Segoe UI Semibold" pitchFamily="34" charset="-120"/>
                        </a:rPr>
                        <a:t>Interval</a:t>
                      </a:r>
                      <a:endParaRPr lang="en-US" sz="1400" dirty="0">
                        <a:solidFill>
                          <a:srgbClr val="161616"/>
                        </a:solidFill>
                        <a:latin typeface="Plus Jakarta Sans" charset="0"/>
                        <a:ea typeface="Segoe UI Semibold" charset="0"/>
                        <a:cs typeface="Segoe UI Semibold" charset="0"/>
                      </a:endParaRPr>
                    </a:p>
                  </a:txBody>
                  <a:tcPr marL="146304" marR="146304" marT="91440" marB="91440"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05C489"/>
                    </a:solidFill>
                  </a:tcPr>
                </a:tc>
                <a:tc>
                  <a:txBody>
                    <a:bodyPr/>
                    <a:lstStyle/>
                    <a:p>
                      <a:pPr indent="0" marL="0">
                        <a:buNone/>
                      </a:pPr>
                      <a:r>
                        <a:rPr lang="en-US" sz="1400" b="1" dirty="0">
                          <a:solidFill>
                            <a:srgbClr val="161616"/>
                          </a:solidFill>
                          <a:latin typeface="Plus Jakarta Sans" pitchFamily="34" charset="0"/>
                          <a:ea typeface="Segoe UI Semibold" pitchFamily="34" charset="-122"/>
                          <a:cs typeface="Segoe UI Semibold" pitchFamily="34" charset="-120"/>
                        </a:rPr>
                        <a:t>The relevant pathway</a:t>
                      </a:r>
                      <a:endParaRPr lang="en-US" sz="1400" dirty="0">
                        <a:solidFill>
                          <a:srgbClr val="161616"/>
                        </a:solidFill>
                        <a:latin typeface="Plus Jakarta Sans" charset="0"/>
                        <a:ea typeface="Segoe UI Semibold" charset="0"/>
                        <a:cs typeface="Segoe UI Semibold" charset="0"/>
                      </a:endParaRPr>
                    </a:p>
                  </a:txBody>
                  <a:tcPr marL="146304" marR="146304" marT="91440" marB="91440"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05C489"/>
                    </a:solidFill>
                  </a:tcPr>
                </a:tc>
              </a:tr>
              <a:tr h="1097280">
                <a:tc>
                  <a:txBody>
                    <a:bodyPr/>
                    <a:lstStyle/>
                    <a:p>
                      <a:pPr indent="0" marL="0">
                        <a:buNone/>
                      </a:pPr>
                      <a:r>
                        <a:rPr lang="en-US" sz="1500" b="1" dirty="0">
                          <a:solidFill>
                            <a:srgbClr val="FFFFFF"/>
                          </a:solidFill>
                          <a:latin typeface="Plus Jakarta Sans" pitchFamily="34" charset="0"/>
                          <a:ea typeface="Segoe UI" pitchFamily="34" charset="-122"/>
                          <a:cs typeface="Segoe UI" pitchFamily="34" charset="-120"/>
                        </a:rPr>
                        <a:t>AUA</a:t>
                      </a:r>
                      <a:endParaRPr lang="en-US" sz="1500" dirty="0">
                        <a:solidFill>
                          <a:srgbClr val="FFFFFF"/>
                        </a:solidFill>
                        <a:latin typeface="Plus Jakarta Sans" charset="0"/>
                        <a:ea typeface="Segoe UI" charset="0"/>
                        <a:cs typeface="Segoe UI" charset="0"/>
                      </a:endParaRPr>
                    </a:p>
                  </a:txBody>
                  <a:tcPr marL="146304" marR="146304" marT="109728" marB="109728"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242424"/>
                    </a:solidFill>
                  </a:tcPr>
                </a:tc>
                <a:tc>
                  <a:txBody>
                    <a:bodyPr/>
                    <a:lstStyle/>
                    <a:p>
                      <a:pPr indent="0" marL="0">
                        <a:buNone/>
                      </a:pPr>
                      <a:r>
                        <a:rPr lang="en-US" sz="1500" dirty="0">
                          <a:solidFill>
                            <a:srgbClr val="FFFFFF"/>
                          </a:solidFill>
                          <a:latin typeface="Plus Jakarta Sans" pitchFamily="34" charset="0"/>
                          <a:ea typeface="Segoe UI" pitchFamily="34" charset="-122"/>
                          <a:cs typeface="Segoe UI" pitchFamily="34" charset="-120"/>
                        </a:rPr>
                        <a:t>At least 4–6 weeks</a:t>
                      </a:r>
                      <a:endParaRPr lang="en-US" sz="1500" dirty="0">
                        <a:solidFill>
                          <a:srgbClr val="FFFFFF"/>
                        </a:solidFill>
                        <a:latin typeface="Plus Jakarta Sans" charset="0"/>
                        <a:ea typeface="Segoe UI" charset="0"/>
                        <a:cs typeface="Segoe UI" charset="0"/>
                      </a:endParaRPr>
                    </a:p>
                  </a:txBody>
                  <a:tcPr marL="146304" marR="146304" marT="109728" marB="109728"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242424"/>
                    </a:solidFill>
                  </a:tcPr>
                </a:tc>
                <a:tc>
                  <a:txBody>
                    <a:bodyPr/>
                    <a:lstStyle/>
                    <a:p>
                      <a:pPr indent="0" marL="0">
                        <a:buNone/>
                      </a:pPr>
                      <a:r>
                        <a:rPr lang="en-US" sz="1500" dirty="0">
                          <a:solidFill>
                            <a:srgbClr val="FFFFFF"/>
                          </a:solidFill>
                          <a:latin typeface="Plus Jakarta Sans" pitchFamily="34" charset="0"/>
                          <a:ea typeface="Segoe UI" pitchFamily="34" charset="-122"/>
                          <a:cs typeface="Segoe UI" pitchFamily="34" charset="-120"/>
                        </a:rPr>
                        <a:t>A check scope after treating a symptomatic bladder-neck or anastomotic narrowing</a:t>
                      </a:r>
                      <a:endParaRPr lang="en-US" sz="1500" dirty="0">
                        <a:solidFill>
                          <a:srgbClr val="FFFFFF"/>
                        </a:solidFill>
                        <a:latin typeface="Plus Jakarta Sans" charset="0"/>
                        <a:ea typeface="Segoe UI" charset="0"/>
                        <a:cs typeface="Segoe UI" charset="0"/>
                      </a:endParaRPr>
                    </a:p>
                  </a:txBody>
                  <a:tcPr marL="146304" marR="146304" marT="109728" marB="109728"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242424"/>
                    </a:solidFill>
                  </a:tcPr>
                </a:tc>
              </a:tr>
              <a:tr h="1097280">
                <a:tc>
                  <a:txBody>
                    <a:bodyPr/>
                    <a:lstStyle/>
                    <a:p>
                      <a:pPr indent="0" marL="0">
                        <a:buNone/>
                      </a:pPr>
                      <a:r>
                        <a:rPr lang="en-US" sz="1500" b="1" dirty="0">
                          <a:solidFill>
                            <a:srgbClr val="FFFFFF"/>
                          </a:solidFill>
                          <a:latin typeface="Plus Jakarta Sans" pitchFamily="34" charset="0"/>
                          <a:ea typeface="Segoe UI" pitchFamily="34" charset="-122"/>
                          <a:cs typeface="Segoe UI" pitchFamily="34" charset="-120"/>
                        </a:rPr>
                        <a:t>EAU</a:t>
                      </a:r>
                      <a:endParaRPr lang="en-US" sz="1500" dirty="0">
                        <a:solidFill>
                          <a:srgbClr val="FFFFFF"/>
                        </a:solidFill>
                        <a:latin typeface="Plus Jakarta Sans" charset="0"/>
                        <a:ea typeface="Segoe UI" charset="0"/>
                        <a:cs typeface="Segoe UI" charset="0"/>
                      </a:endParaRPr>
                    </a:p>
                  </a:txBody>
                  <a:tcPr marL="146304" marR="146304" marT="109728" marB="109728"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2D2D2D"/>
                    </a:solidFill>
                  </a:tcPr>
                </a:tc>
                <a:tc>
                  <a:txBody>
                    <a:bodyPr/>
                    <a:lstStyle/>
                    <a:p>
                      <a:pPr indent="0" marL="0">
                        <a:buNone/>
                      </a:pPr>
                      <a:r>
                        <a:rPr lang="en-US" sz="1500" dirty="0">
                          <a:solidFill>
                            <a:srgbClr val="FFFFFF"/>
                          </a:solidFill>
                          <a:latin typeface="Plus Jakarta Sans" pitchFamily="34" charset="0"/>
                          <a:ea typeface="Segoe UI" pitchFamily="34" charset="-122"/>
                          <a:cs typeface="Segoe UI" pitchFamily="34" charset="-120"/>
                        </a:rPr>
                        <a:t>3–6 months</a:t>
                      </a:r>
                      <a:endParaRPr lang="en-US" sz="1500" dirty="0">
                        <a:solidFill>
                          <a:srgbClr val="FFFFFF"/>
                        </a:solidFill>
                        <a:latin typeface="Plus Jakarta Sans" charset="0"/>
                        <a:ea typeface="Segoe UI" charset="0"/>
                        <a:cs typeface="Segoe UI" charset="0"/>
                      </a:endParaRPr>
                    </a:p>
                  </a:txBody>
                  <a:tcPr marL="146304" marR="146304" marT="109728" marB="109728"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2D2D2D"/>
                    </a:solidFill>
                  </a:tcPr>
                </a:tc>
                <a:tc>
                  <a:txBody>
                    <a:bodyPr/>
                    <a:lstStyle/>
                    <a:p>
                      <a:pPr indent="0" marL="0">
                        <a:buNone/>
                      </a:pPr>
                      <a:r>
                        <a:rPr lang="en-US" sz="1500" dirty="0">
                          <a:solidFill>
                            <a:srgbClr val="FFFFFF"/>
                          </a:solidFill>
                          <a:latin typeface="Plus Jakarta Sans" pitchFamily="34" charset="0"/>
                          <a:ea typeface="Segoe UI" pitchFamily="34" charset="-122"/>
                          <a:cs typeface="Segoe UI" pitchFamily="34" charset="-120"/>
                        </a:rPr>
                        <a:t>After a redo bladder–urethra anastomosis</a:t>
                      </a:r>
                      <a:endParaRPr lang="en-US" sz="1500" dirty="0">
                        <a:solidFill>
                          <a:srgbClr val="FFFFFF"/>
                        </a:solidFill>
                        <a:latin typeface="Plus Jakarta Sans" charset="0"/>
                        <a:ea typeface="Segoe UI" charset="0"/>
                        <a:cs typeface="Segoe UI" charset="0"/>
                      </a:endParaRPr>
                    </a:p>
                  </a:txBody>
                  <a:tcPr marL="146304" marR="146304" marT="109728" marB="109728"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2D2D2D"/>
                    </a:solidFill>
                  </a:tcPr>
                </a:tc>
              </a:tr>
              <a:tr h="1097280">
                <a:tc>
                  <a:txBody>
                    <a:bodyPr/>
                    <a:lstStyle/>
                    <a:p>
                      <a:pPr indent="0" marL="0">
                        <a:buNone/>
                      </a:pPr>
                      <a:r>
                        <a:rPr lang="en-US" sz="1500" b="1" dirty="0">
                          <a:solidFill>
                            <a:srgbClr val="FFFFFF"/>
                          </a:solidFill>
                          <a:latin typeface="Plus Jakarta Sans" pitchFamily="34" charset="0"/>
                          <a:ea typeface="Segoe UI" pitchFamily="34" charset="-122"/>
                          <a:cs typeface="Segoe UI" pitchFamily="34" charset="-120"/>
                        </a:rPr>
                        <a:t>BAUS</a:t>
                      </a:r>
                      <a:endParaRPr lang="en-US" sz="1500" dirty="0">
                        <a:solidFill>
                          <a:srgbClr val="FFFFFF"/>
                        </a:solidFill>
                        <a:latin typeface="Plus Jakarta Sans" charset="0"/>
                        <a:ea typeface="Segoe UI" charset="0"/>
                        <a:cs typeface="Segoe UI" charset="0"/>
                      </a:endParaRPr>
                    </a:p>
                  </a:txBody>
                  <a:tcPr marL="146304" marR="146304" marT="109728" marB="109728"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242424"/>
                    </a:solidFill>
                  </a:tcPr>
                </a:tc>
                <a:tc>
                  <a:txBody>
                    <a:bodyPr/>
                    <a:lstStyle/>
                    <a:p>
                      <a:pPr indent="0" marL="0">
                        <a:buNone/>
                      </a:pPr>
                      <a:r>
                        <a:rPr lang="en-US" sz="1500" dirty="0">
                          <a:solidFill>
                            <a:srgbClr val="FFFFFF"/>
                          </a:solidFill>
                          <a:latin typeface="Plus Jakarta Sans" pitchFamily="34" charset="0"/>
                          <a:ea typeface="Segoe UI" pitchFamily="34" charset="-122"/>
                          <a:cs typeface="Segoe UI" pitchFamily="34" charset="-120"/>
                        </a:rPr>
                        <a:t>At least six months without recurrence</a:t>
                      </a:r>
                      <a:endParaRPr lang="en-US" sz="1500" dirty="0">
                        <a:solidFill>
                          <a:srgbClr val="FFFFFF"/>
                        </a:solidFill>
                        <a:latin typeface="Plus Jakarta Sans" charset="0"/>
                        <a:ea typeface="Segoe UI" charset="0"/>
                        <a:cs typeface="Segoe UI" charset="0"/>
                      </a:endParaRPr>
                    </a:p>
                  </a:txBody>
                  <a:tcPr marL="146304" marR="146304" marT="109728" marB="109728"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242424"/>
                    </a:solidFill>
                  </a:tcPr>
                </a:tc>
                <a:tc>
                  <a:txBody>
                    <a:bodyPr/>
                    <a:lstStyle/>
                    <a:p>
                      <a:pPr indent="0" marL="0">
                        <a:buNone/>
                      </a:pPr>
                      <a:r>
                        <a:rPr lang="en-US" sz="1500" dirty="0">
                          <a:solidFill>
                            <a:srgbClr val="FFFFFF"/>
                          </a:solidFill>
                          <a:latin typeface="Plus Jakarta Sans" pitchFamily="34" charset="0"/>
                          <a:ea typeface="Segoe UI" pitchFamily="34" charset="-122"/>
                          <a:cs typeface="Segoe UI" pitchFamily="34" charset="-120"/>
                        </a:rPr>
                        <a:t>After treatment of post-prostatectomy narrowing</a:t>
                      </a:r>
                      <a:endParaRPr lang="en-US" sz="1500" dirty="0">
                        <a:solidFill>
                          <a:srgbClr val="FFFFFF"/>
                        </a:solidFill>
                        <a:latin typeface="Plus Jakarta Sans" charset="0"/>
                        <a:ea typeface="Segoe UI" charset="0"/>
                        <a:cs typeface="Segoe UI" charset="0"/>
                      </a:endParaRPr>
                    </a:p>
                  </a:txBody>
                  <a:tcPr marL="146304" marR="146304" marT="109728" marB="109728"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242424"/>
                    </a:solidFill>
                  </a:tcPr>
                </a:tc>
              </a:tr>
            </a:tbl>
          </a:graphicData>
        </a:graphic>
      </p:graphicFrame>
      <p:sp>
        <p:nvSpPr>
          <p:cNvPr id="9001" name="replacement-title">
            <a:extLst>
              <a:ext uri="{FF2B5EF4-FFF2-40B4-BE49-F238E27FC236}">
                <a16:creationId xmlns:a16="http://schemas.microsoft.com/office/drawing/2014/main" id="{72CDCA97-D639-4AE3-B276-DA355CA405CF}"/>
              </a:ext>
            </a:extLst>
          </p:cNvPr>
          <p:cNvSpPr>
            <a:spLocks noGrp="1"/>
          </p:cNvSpPr>
          <p:nvPr/>
        </p:nvSpPr>
        <p:spPr>
          <a:xfrm>
            <a:off x="638175" y="752475"/>
            <a:ext cx="10915650" cy="800100"/>
          </a:xfrm>
          <a:prstGeom prst="rect">
            <a:avLst/>
          </a:prstGeom>
          <a:noFill/>
          <a:ln w="0">
            <a:noFill/>
          </a:ln>
        </p:spPr>
        <p:txBody>
          <a:bodyPr anchor="ctr"/>
          <a:lstStyle>
            <a:defPPr>
              <a:defRPr sz="2625" b="1">
                <a:solidFill>
                  <a:srgbClr val="FFFFFF"/>
                </a:solidFill>
                <a:latin typeface="Plus Jakarta Sans"/>
              </a:defRPr>
            </a:defPPr>
            <a:lvl1pPr>
              <a:defRPr sz="2625" b="1">
                <a:solidFill>
                  <a:srgbClr val="FFFFFF"/>
                </a:solidFill>
                <a:latin typeface="Plus Jakarta Sans"/>
              </a:defRPr>
            </a:lvl1pPr>
            <a:lvl2pPr>
              <a:defRPr sz="2625" b="1">
                <a:solidFill>
                  <a:srgbClr val="FFFFFF"/>
                </a:solidFill>
                <a:latin typeface="Plus Jakarta Sans"/>
              </a:defRPr>
            </a:lvl2pPr>
            <a:lvl3pPr>
              <a:defRPr sz="2625" b="1">
                <a:solidFill>
                  <a:srgbClr val="FFFFFF"/>
                </a:solidFill>
                <a:latin typeface="Plus Jakarta Sans"/>
              </a:defRPr>
            </a:lvl3pPr>
            <a:lvl4pPr>
              <a:defRPr sz="2625" b="1">
                <a:solidFill>
                  <a:srgbClr val="FFFFFF"/>
                </a:solidFill>
                <a:latin typeface="Plus Jakarta Sans"/>
              </a:defRPr>
            </a:lvl4pPr>
            <a:lvl5pPr>
              <a:defRPr sz="2625" b="1">
                <a:solidFill>
                  <a:srgbClr val="FFFFFF"/>
                </a:solidFill>
                <a:latin typeface="Plus Jakarta Sans"/>
              </a:defRPr>
            </a:lvl5pPr>
            <a:lvl6pPr>
              <a:defRPr sz="2625" b="1">
                <a:solidFill>
                  <a:srgbClr val="FFFFFF"/>
                </a:solidFill>
                <a:latin typeface="Plus Jakarta Sans"/>
              </a:defRPr>
            </a:lvl6pPr>
            <a:lvl7pPr>
              <a:defRPr sz="2625" b="1">
                <a:solidFill>
                  <a:srgbClr val="FFFFFF"/>
                </a:solidFill>
                <a:latin typeface="Plus Jakarta Sans"/>
              </a:defRPr>
            </a:lvl7pPr>
            <a:lvl8pPr>
              <a:defRPr sz="2625" b="1">
                <a:solidFill>
                  <a:srgbClr val="FFFFFF"/>
                </a:solidFill>
                <a:latin typeface="Plus Jakarta Sans"/>
              </a:defRPr>
            </a:lvl8pPr>
            <a:lvl9pPr>
              <a:defRPr sz="2625" b="1">
                <a:solidFill>
                  <a:srgbClr val="FFFFFF"/>
                </a:solidFill>
                <a:latin typeface="Plus Jakarta Sans"/>
              </a:defRPr>
            </a:lvl9pPr>
          </a:lstStyle>
          <a:p>
            <a:pPr>
              <a:defRPr sz="2625" b="1">
                <a:solidFill>
                  <a:srgbClr val="FFFFFF"/>
                </a:solidFill>
                <a:latin typeface="Plus Jakarta Sans"/>
              </a:defRPr>
            </a:pPr>
            <a:r>
              <a:rPr sz="2625" b="1">
                <a:solidFill>
                  <a:srgbClr val="FFFFFF"/>
                </a:solidFill>
                <a:latin typeface="Plus Jakarta Sans"/>
              </a:rPr>
              <a:t>Reassessment and urethral stability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61616"/>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05C489"/>
                </a:solidFill>
                <a:latin typeface="Plus Jakarta Sans" pitchFamily="34" charset="0"/>
                <a:ea typeface="Segoe UI" pitchFamily="34" charset="-122"/>
                <a:cs typeface="Segoe UI" pitchFamily="34" charset="-120"/>
              </a:rPr>
              <a:t>THE URETHRA</a:t>
            </a:r>
            <a:endParaRPr lang="en-US" sz="950" dirty="0">
              <a:latin typeface="Plus Jakarta Sans"/>
            </a:endParaRPr>
          </a:p>
        </p:txBody>
      </p:sp>
      <p:sp>
        <p:nvSpPr>
          <p:cNvPr id="3" name="Text 1"/>
          <p:cNvSpPr txBox="1"/>
          <p:nvPr/>
        </p:nvSpPr>
        <p:spPr>
          <a:xfrm>
            <a:off x="6979615" y="384048"/>
            <a:ext cx="4572000" cy="274320"/>
          </a:xfrm>
          <a:prstGeom prst="rect">
            <a:avLst/>
          </a:prstGeom>
          <a:noFill/>
          <a:ln/>
        </p:spPr>
        <p:txBody>
          <a:bodyPr wrap="square" lIns="0" tIns="0" rIns="0" bIns="0" rtlCol="0" anchor="t"/>
          <a:lstStyle/>
          <a:p>
            <a:pPr algn="r" indent="0" marL="0">
              <a:buNone/>
            </a:pPr>
            <a:r>
              <a:rPr lang="en-US" sz="950" spc="100" kern="0" dirty="0">
                <a:solidFill>
                  <a:srgbClr val="BFBFBF"/>
                </a:solidFill>
                <a:latin typeface="Plus Jakarta Sans" pitchFamily="34" charset="0"/>
                <a:ea typeface="Segoe UI" pitchFamily="34" charset="-122"/>
                <a:cs typeface="Segoe UI" pitchFamily="34" charset="-120"/>
              </a:rPr>
              <a:t>16 / 36</a:t>
            </a:r>
            <a:endParaRPr lang="en-US" sz="950" dirty="0">
              <a:latin typeface="Plus Jakarta Sans"/>
            </a:endParaRPr>
          </a:p>
        </p:txBody>
      </p:sp>
      <p:sp>
        <p:nvSpPr>
          <p:cNvPr id="5" name="Text 3"/>
          <p:cNvSpPr txBox="1"/>
          <p:nvPr/>
        </p:nvSpPr>
        <p:spPr>
          <a:xfrm>
            <a:off x="640080" y="6345936"/>
            <a:ext cx="9997135" cy="228600"/>
          </a:xfrm>
          <a:prstGeom prst="rect">
            <a:avLst/>
          </a:prstGeom>
          <a:noFill/>
          <a:ln/>
        </p:spPr>
        <p:txBody>
          <a:bodyPr wrap="square" lIns="0" tIns="0" rIns="0" bIns="0" rtlCol="0" anchor="t"/>
          <a:lstStyle/>
          <a:p>
            <a:pPr algn="l" indent="0" marL="0">
              <a:buNone/>
            </a:pPr>
            <a:r>
              <a:rPr lang="en-US" sz="800" spc="50" kern="0" dirty="0">
                <a:solidFill>
                  <a:srgbClr val="BFBFBF"/>
                </a:solidFill>
                <a:latin typeface="Plus Jakarta Sans" pitchFamily="34" charset="0"/>
                <a:ea typeface="Segoe UI" pitchFamily="34" charset="-122"/>
                <a:cs typeface="Segoe UI" pitchFamily="34" charset="-120"/>
              </a:rPr>
              <a:t>RT22  ·  BAUS25  ·  EAUSTR26  ·  AUA24  ·  RTTIME25</a:t>
            </a:r>
            <a:endParaRPr lang="en-US" sz="800" dirty="0">
              <a:latin typeface="Plus Jakarta Sans"/>
            </a:endParaRPr>
          </a:p>
        </p:txBody>
      </p:sp>
      <p:sp>
        <p:nvSpPr>
          <p:cNvPr id="6" name="Text 4"/>
          <p:cNvSpPr txBox="1"/>
          <p:nvPr/>
        </p:nvSpPr>
        <p:spPr>
          <a:xfrm>
            <a:off x="640080" y="5669280"/>
            <a:ext cx="10911535" cy="566928"/>
          </a:xfrm>
          <a:prstGeom prst="rect">
            <a:avLst/>
          </a:prstGeom>
          <a:noFill/>
          <a:ln/>
        </p:spPr>
        <p:txBody>
          <a:bodyPr wrap="square" lIns="0" tIns="0" rIns="0" bIns="0" rtlCol="0" anchor="b"/>
          <a:lstStyle/>
          <a:p>
            <a:pPr algn="l" indent="0" marL="0">
              <a:buNone/>
            </a:pPr>
            <a:r>
              <a:rPr lang="en-US" sz="1200" i="1" dirty="0">
                <a:solidFill>
                  <a:srgbClr val="BFBFBF"/>
                </a:solidFill>
                <a:latin typeface="Plus Jakarta Sans" pitchFamily="34" charset="0"/>
                <a:ea typeface="Segoe UI" pitchFamily="34" charset="-122"/>
                <a:cs typeface="Segoe UI" pitchFamily="34" charset="-120"/>
              </a:rPr>
              <a:t>Radiotherapy raises the risk. A 2025 study sets no waiting rule; a stable outlet and reconstruction come first.</a:t>
            </a:r>
            <a:endParaRPr lang="en-US" sz="1200" dirty="0">
              <a:latin typeface="Plus Jakarta Sans"/>
            </a:endParaRPr>
          </a:p>
        </p:txBody>
      </p:sp>
      <p:sp>
        <p:nvSpPr>
          <p:cNvPr id="7" name="Shape 5"/>
          <p:cNvSpPr/>
          <p:nvPr/>
        </p:nvSpPr>
        <p:spPr>
          <a:xfrm>
            <a:off x="640080" y="1783080"/>
            <a:ext cx="2103120" cy="310896"/>
          </a:xfrm>
          <a:prstGeom prst="roundRect">
            <a:avLst>
              <a:gd name="adj" fmla="val 50000"/>
            </a:avLst>
          </a:prstGeom>
          <a:solidFill>
            <a:srgbClr val="89FF00"/>
          </a:solidFill>
          <a:ln/>
        </p:spPr>
      </p:sp>
      <p:sp>
        <p:nvSpPr>
          <p:cNvPr id="8" name="Text 6"/>
          <p:cNvSpPr txBox="1"/>
          <p:nvPr/>
        </p:nvSpPr>
        <p:spPr>
          <a:xfrm>
            <a:off x="640080" y="1783080"/>
            <a:ext cx="2103120" cy="310896"/>
          </a:xfrm>
          <a:prstGeom prst="rect">
            <a:avLst/>
          </a:prstGeom>
          <a:noFill/>
          <a:ln/>
        </p:spPr>
        <p:txBody>
          <a:bodyPr wrap="square" lIns="0" tIns="0" rIns="0" bIns="0" rtlCol="0" anchor="ctr"/>
          <a:lstStyle/>
          <a:p>
            <a:pPr algn="ctr" indent="0" marL="0">
              <a:buNone/>
            </a:pPr>
            <a:r>
              <a:rPr lang="en-US" sz="900" b="1" spc="100" kern="0" dirty="0">
                <a:solidFill>
                  <a:srgbClr val="161616"/>
                </a:solidFill>
                <a:latin typeface="Plus Jakarta Sans" pitchFamily="34" charset="0"/>
                <a:ea typeface="Segoe UI" pitchFamily="34" charset="-122"/>
                <a:cs typeface="Segoe UI" pitchFamily="34" charset="-120"/>
              </a:rPr>
              <a:t>FICTIONAL CASE 03</a:t>
            </a:r>
            <a:endParaRPr lang="en-US" sz="900" dirty="0">
              <a:solidFill>
                <a:srgbClr val="161616"/>
              </a:solidFill>
              <a:latin typeface="Plus Jakarta Sans"/>
            </a:endParaRPr>
          </a:p>
        </p:txBody>
      </p:sp>
      <p:sp>
        <p:nvSpPr>
          <p:cNvPr id="9" name="Shape 7"/>
          <p:cNvSpPr/>
          <p:nvPr/>
        </p:nvSpPr>
        <p:spPr>
          <a:xfrm>
            <a:off x="640080" y="2423160"/>
            <a:ext cx="100584" cy="100584"/>
          </a:xfrm>
          <a:prstGeom prst="ellipse">
            <a:avLst/>
          </a:prstGeom>
          <a:solidFill>
            <a:srgbClr val="05C489"/>
          </a:solidFill>
          <a:ln/>
        </p:spPr>
      </p:sp>
      <p:sp>
        <p:nvSpPr>
          <p:cNvPr id="10" name="Text 8"/>
          <p:cNvSpPr txBox="1"/>
          <p:nvPr/>
        </p:nvSpPr>
        <p:spPr>
          <a:xfrm>
            <a:off x="914400" y="2331720"/>
            <a:ext cx="5760720" cy="685800"/>
          </a:xfrm>
          <a:prstGeom prst="rect">
            <a:avLst/>
          </a:prstGeom>
          <a:noFill/>
          <a:ln/>
        </p:spPr>
        <p:txBody>
          <a:bodyPr wrap="square" lIns="0" tIns="0" rIns="0" bIns="0" rtlCol="0" anchor="t"/>
          <a:lstStyle/>
          <a:p>
            <a:pPr algn="l" indent="0" marL="0">
              <a:lnSpc>
                <a:spcPct val="110000"/>
              </a:lnSpc>
              <a:buNone/>
            </a:pPr>
            <a:r>
              <a:rPr lang="en-US" sz="1550" dirty="0">
                <a:solidFill>
                  <a:srgbClr val="FFFFFF"/>
                </a:solidFill>
                <a:latin typeface="Plus Jakarta Sans" pitchFamily="34" charset="0"/>
                <a:ea typeface="Segoe UI" pitchFamily="34" charset="-122"/>
                <a:cs typeface="Segoe UI" pitchFamily="34" charset="-120"/>
              </a:rPr>
              <a:t>Radical prostatectomy and salvage radiotherapy</a:t>
            </a:r>
            <a:endParaRPr lang="en-US" sz="1550" dirty="0">
              <a:latin typeface="Plus Jakarta Sans"/>
            </a:endParaRPr>
          </a:p>
        </p:txBody>
      </p:sp>
      <p:sp>
        <p:nvSpPr>
          <p:cNvPr id="11" name="Shape 9"/>
          <p:cNvSpPr/>
          <p:nvPr/>
        </p:nvSpPr>
        <p:spPr>
          <a:xfrm>
            <a:off x="640080" y="3172968"/>
            <a:ext cx="100584" cy="100584"/>
          </a:xfrm>
          <a:prstGeom prst="ellipse">
            <a:avLst/>
          </a:prstGeom>
          <a:solidFill>
            <a:srgbClr val="05C489"/>
          </a:solidFill>
          <a:ln/>
        </p:spPr>
      </p:sp>
      <p:sp>
        <p:nvSpPr>
          <p:cNvPr id="12" name="Text 10"/>
          <p:cNvSpPr txBox="1"/>
          <p:nvPr/>
        </p:nvSpPr>
        <p:spPr>
          <a:xfrm>
            <a:off x="914400" y="3081528"/>
            <a:ext cx="5760720" cy="685800"/>
          </a:xfrm>
          <a:prstGeom prst="rect">
            <a:avLst/>
          </a:prstGeom>
          <a:noFill/>
          <a:ln/>
        </p:spPr>
        <p:txBody>
          <a:bodyPr wrap="square" lIns="0" tIns="0" rIns="0" bIns="0" rtlCol="0" anchor="t"/>
          <a:lstStyle/>
          <a:p>
            <a:pPr algn="l" indent="0" marL="0">
              <a:lnSpc>
                <a:spcPct val="110000"/>
              </a:lnSpc>
              <a:buNone/>
            </a:pPr>
            <a:r>
              <a:rPr lang="en-US" sz="1550" dirty="0">
                <a:solidFill>
                  <a:srgbClr val="FFFFFF"/>
                </a:solidFill>
                <a:latin typeface="Plus Jakarta Sans" pitchFamily="34" charset="0"/>
                <a:ea typeface="Segoe UI" pitchFamily="34" charset="-122"/>
                <a:cs typeface="Segoe UI" pitchFamily="34" charset="-120"/>
              </a:rPr>
              <a:t>Severe leak whenever the narrowing is open</a:t>
            </a:r>
            <a:endParaRPr lang="en-US" sz="1550" dirty="0">
              <a:latin typeface="Plus Jakarta Sans"/>
            </a:endParaRPr>
          </a:p>
        </p:txBody>
      </p:sp>
      <p:sp>
        <p:nvSpPr>
          <p:cNvPr id="13" name="Shape 11"/>
          <p:cNvSpPr/>
          <p:nvPr/>
        </p:nvSpPr>
        <p:spPr>
          <a:xfrm>
            <a:off x="640080" y="3922776"/>
            <a:ext cx="100584" cy="100584"/>
          </a:xfrm>
          <a:prstGeom prst="ellipse">
            <a:avLst/>
          </a:prstGeom>
          <a:solidFill>
            <a:srgbClr val="05C489"/>
          </a:solidFill>
          <a:ln/>
        </p:spPr>
      </p:sp>
      <p:sp>
        <p:nvSpPr>
          <p:cNvPr id="14" name="Text 12"/>
          <p:cNvSpPr txBox="1"/>
          <p:nvPr/>
        </p:nvSpPr>
        <p:spPr>
          <a:xfrm>
            <a:off x="914400" y="3831336"/>
            <a:ext cx="5760720" cy="685800"/>
          </a:xfrm>
          <a:prstGeom prst="rect">
            <a:avLst/>
          </a:prstGeom>
          <a:noFill/>
          <a:ln/>
        </p:spPr>
        <p:txBody>
          <a:bodyPr wrap="square" lIns="0" tIns="0" rIns="0" bIns="0" rtlCol="0" anchor="t"/>
          <a:lstStyle/>
          <a:p>
            <a:pPr algn="l" indent="0" marL="0">
              <a:lnSpc>
                <a:spcPct val="110000"/>
              </a:lnSpc>
              <a:buNone/>
            </a:pPr>
            <a:r>
              <a:rPr lang="en-US" sz="1550" dirty="0">
                <a:solidFill>
                  <a:srgbClr val="FFFFFF"/>
                </a:solidFill>
                <a:latin typeface="Plus Jakarta Sans" pitchFamily="34" charset="0"/>
                <a:ea typeface="Segoe UI" pitchFamily="34" charset="-122"/>
                <a:cs typeface="Segoe UI" pitchFamily="34" charset="-120"/>
              </a:rPr>
              <a:t>The anastomosis keeps narrowing</a:t>
            </a:r>
            <a:endParaRPr lang="en-US" sz="1550" dirty="0">
              <a:latin typeface="Plus Jakarta Sans"/>
            </a:endParaRPr>
          </a:p>
        </p:txBody>
      </p:sp>
      <p:sp>
        <p:nvSpPr>
          <p:cNvPr id="15" name="Shape 13"/>
          <p:cNvSpPr/>
          <p:nvPr/>
        </p:nvSpPr>
        <p:spPr>
          <a:xfrm>
            <a:off x="640080" y="4672584"/>
            <a:ext cx="100584" cy="100584"/>
          </a:xfrm>
          <a:prstGeom prst="ellipse">
            <a:avLst/>
          </a:prstGeom>
          <a:solidFill>
            <a:srgbClr val="05C489"/>
          </a:solidFill>
          <a:ln/>
        </p:spPr>
      </p:sp>
      <p:sp>
        <p:nvSpPr>
          <p:cNvPr id="16" name="Text 14"/>
          <p:cNvSpPr txBox="1"/>
          <p:nvPr/>
        </p:nvSpPr>
        <p:spPr>
          <a:xfrm>
            <a:off x="914400" y="4581144"/>
            <a:ext cx="5760720" cy="685800"/>
          </a:xfrm>
          <a:prstGeom prst="rect">
            <a:avLst/>
          </a:prstGeom>
          <a:noFill/>
          <a:ln/>
        </p:spPr>
        <p:txBody>
          <a:bodyPr wrap="square" lIns="0" tIns="0" rIns="0" bIns="0" rtlCol="0" anchor="t"/>
          <a:lstStyle/>
          <a:p>
            <a:pPr algn="l" indent="0" marL="0">
              <a:lnSpc>
                <a:spcPct val="110000"/>
              </a:lnSpc>
              <a:buNone/>
            </a:pPr>
            <a:r>
              <a:rPr lang="en-US" sz="1550" dirty="0">
                <a:solidFill>
                  <a:srgbClr val="FFFFFF"/>
                </a:solidFill>
                <a:latin typeface="Plus Jakarta Sans" pitchFamily="34" charset="0"/>
                <a:ea typeface="Segoe UI" pitchFamily="34" charset="-122"/>
                <a:cs typeface="Segoe UI" pitchFamily="34" charset="-120"/>
              </a:rPr>
              <a:t>It only stays open because we keep treating it</a:t>
            </a:r>
            <a:endParaRPr lang="en-US" sz="1550" dirty="0">
              <a:latin typeface="Plus Jakarta Sans"/>
            </a:endParaRPr>
          </a:p>
        </p:txBody>
      </p:sp>
      <p:sp>
        <p:nvSpPr>
          <p:cNvPr id="17" name="Shape 15"/>
          <p:cNvSpPr/>
          <p:nvPr/>
        </p:nvSpPr>
        <p:spPr>
          <a:xfrm>
            <a:off x="7132320" y="1783080"/>
            <a:ext cx="4419295" cy="3611880"/>
          </a:xfrm>
          <a:prstGeom prst="roundRect">
            <a:avLst>
              <a:gd name="adj" fmla="val 3544"/>
            </a:avLst>
          </a:prstGeom>
          <a:solidFill>
            <a:srgbClr val="2D2D2D"/>
          </a:solidFill>
          <a:ln/>
        </p:spPr>
      </p:sp>
      <p:sp>
        <p:nvSpPr>
          <p:cNvPr id="18" name="Text 16"/>
          <p:cNvSpPr txBox="1"/>
          <p:nvPr/>
        </p:nvSpPr>
        <p:spPr>
          <a:xfrm>
            <a:off x="7498080" y="2057400"/>
            <a:ext cx="3687775" cy="1463040"/>
          </a:xfrm>
          <a:prstGeom prst="rect">
            <a:avLst/>
          </a:prstGeom>
          <a:noFill/>
          <a:ln/>
        </p:spPr>
        <p:txBody>
          <a:bodyPr wrap="square" lIns="0" tIns="0" rIns="0" bIns="0" rtlCol="0" anchor="t"/>
          <a:lstStyle/>
          <a:p>
            <a:pPr algn="l" indent="0" marL="0">
              <a:lnSpc>
                <a:spcPct val="105000"/>
              </a:lnSpc>
              <a:buNone/>
            </a:pPr>
            <a:r>
              <a:rPr lang="en-US" sz="2400" dirty="0">
                <a:solidFill>
                  <a:srgbClr val="FFFFFF"/>
                </a:solidFill>
                <a:latin typeface="Plus Jakarta Sans" pitchFamily="34" charset="0"/>
                <a:ea typeface="Segoe UI Semibold" pitchFamily="34" charset="-122"/>
                <a:cs typeface="Segoe UI Semibold" pitchFamily="34" charset="-120"/>
              </a:rPr>
              <a:t>Implant, stage reconstruction or reconsider the endpoint?</a:t>
            </a:r>
            <a:endParaRPr lang="en-US" sz="2400" dirty="0">
              <a:latin typeface="Plus Jakarta Sans"/>
            </a:endParaRPr>
          </a:p>
        </p:txBody>
      </p:sp>
      <p:sp>
        <p:nvSpPr>
          <p:cNvPr id="19" name="Text 17"/>
          <p:cNvSpPr txBox="1"/>
          <p:nvPr/>
        </p:nvSpPr>
        <p:spPr>
          <a:xfrm>
            <a:off x="7498080" y="3611880"/>
            <a:ext cx="3687775" cy="274320"/>
          </a:xfrm>
          <a:prstGeom prst="rect">
            <a:avLst/>
          </a:prstGeom>
          <a:noFill/>
          <a:ln/>
        </p:spPr>
        <p:txBody>
          <a:bodyPr wrap="square" lIns="0" tIns="0" rIns="0" bIns="0" rtlCol="0" anchor="t"/>
          <a:lstStyle/>
          <a:p>
            <a:pPr algn="l" indent="0" marL="0">
              <a:buNone/>
            </a:pPr>
            <a:r>
              <a:rPr lang="en-US" sz="900" b="1" spc="250" kern="0" dirty="0">
                <a:solidFill>
                  <a:srgbClr val="BFBFBF"/>
                </a:solidFill>
                <a:latin typeface="Plus Jakarta Sans" pitchFamily="34" charset="0"/>
                <a:ea typeface="Segoe UI" pitchFamily="34" charset="-122"/>
                <a:cs typeface="Segoe UI" pitchFamily="34" charset="-120"/>
              </a:rPr>
              <a:t>YOUR CALL</a:t>
            </a:r>
            <a:endParaRPr lang="en-US" sz="900" dirty="0">
              <a:latin typeface="Plus Jakarta Sans"/>
            </a:endParaRPr>
          </a:p>
        </p:txBody>
      </p:sp>
      <p:sp>
        <p:nvSpPr>
          <p:cNvPr id="20" name="Shape 18"/>
          <p:cNvSpPr/>
          <p:nvPr/>
        </p:nvSpPr>
        <p:spPr>
          <a:xfrm>
            <a:off x="7498080" y="3950208"/>
            <a:ext cx="1002182" cy="365760"/>
          </a:xfrm>
          <a:prstGeom prst="roundRect">
            <a:avLst>
              <a:gd name="adj" fmla="val 50000"/>
            </a:avLst>
          </a:prstGeom>
          <a:solidFill>
            <a:srgbClr val="05C489"/>
          </a:solidFill>
          <a:ln/>
        </p:spPr>
      </p:sp>
      <p:sp>
        <p:nvSpPr>
          <p:cNvPr id="21" name="Text 19"/>
          <p:cNvSpPr txBox="1"/>
          <p:nvPr/>
        </p:nvSpPr>
        <p:spPr>
          <a:xfrm>
            <a:off x="7498080" y="3950208"/>
            <a:ext cx="1002182" cy="365760"/>
          </a:xfrm>
          <a:prstGeom prst="rect">
            <a:avLst/>
          </a:prstGeom>
          <a:noFill/>
          <a:ln/>
        </p:spPr>
        <p:txBody>
          <a:bodyPr wrap="square" lIns="0" tIns="0" rIns="0" bIns="0" rtlCol="0" anchor="ctr"/>
          <a:lstStyle/>
          <a:p>
            <a:pPr algn="ctr" indent="0" marL="0">
              <a:buNone/>
            </a:pPr>
            <a:r>
              <a:rPr lang="en-US" sz="1000" b="1" spc="100" kern="0" dirty="0">
                <a:solidFill>
                  <a:srgbClr val="161616"/>
                </a:solidFill>
                <a:latin typeface="Plus Jakarta Sans" pitchFamily="34" charset="0"/>
                <a:ea typeface="Segoe UI" pitchFamily="34" charset="-122"/>
                <a:cs typeface="Segoe UI" pitchFamily="34" charset="-120"/>
              </a:rPr>
              <a:t>IMPLANT</a:t>
            </a:r>
            <a:endParaRPr lang="en-US" sz="1000" dirty="0">
              <a:solidFill>
                <a:srgbClr val="161616"/>
              </a:solidFill>
              <a:latin typeface="Plus Jakarta Sans"/>
            </a:endParaRPr>
          </a:p>
        </p:txBody>
      </p:sp>
      <p:sp>
        <p:nvSpPr>
          <p:cNvPr id="22" name="Shape 20"/>
          <p:cNvSpPr/>
          <p:nvPr/>
        </p:nvSpPr>
        <p:spPr>
          <a:xfrm>
            <a:off x="8628278" y="3950208"/>
            <a:ext cx="804672" cy="365760"/>
          </a:xfrm>
          <a:prstGeom prst="roundRect">
            <a:avLst>
              <a:gd name="adj" fmla="val 50000"/>
            </a:avLst>
          </a:prstGeom>
          <a:solidFill>
            <a:srgbClr val="FFFFFF"/>
          </a:solidFill>
          <a:ln/>
        </p:spPr>
      </p:sp>
      <p:sp>
        <p:nvSpPr>
          <p:cNvPr id="23" name="Text 21"/>
          <p:cNvSpPr txBox="1"/>
          <p:nvPr/>
        </p:nvSpPr>
        <p:spPr>
          <a:xfrm>
            <a:off x="8628278" y="3950208"/>
            <a:ext cx="804672" cy="365760"/>
          </a:xfrm>
          <a:prstGeom prst="rect">
            <a:avLst/>
          </a:prstGeom>
          <a:noFill/>
          <a:ln/>
        </p:spPr>
        <p:txBody>
          <a:bodyPr wrap="square" lIns="0" tIns="0" rIns="0" bIns="0" rtlCol="0" anchor="ctr"/>
          <a:lstStyle/>
          <a:p>
            <a:pPr algn="ctr" indent="0" marL="0">
              <a:buNone/>
            </a:pPr>
            <a:r>
              <a:rPr lang="en-US" sz="1000" b="1" spc="100" kern="0" dirty="0">
                <a:solidFill>
                  <a:srgbClr val="161616"/>
                </a:solidFill>
                <a:latin typeface="Plus Jakarta Sans" pitchFamily="34" charset="0"/>
                <a:ea typeface="Segoe UI" pitchFamily="34" charset="-122"/>
                <a:cs typeface="Segoe UI" pitchFamily="34" charset="-120"/>
              </a:rPr>
              <a:t>STAGE</a:t>
            </a:r>
            <a:endParaRPr lang="en-US" sz="1000" dirty="0">
              <a:solidFill>
                <a:srgbClr val="161616"/>
              </a:solidFill>
              <a:latin typeface="Plus Jakarta Sans"/>
            </a:endParaRPr>
          </a:p>
        </p:txBody>
      </p:sp>
      <p:sp>
        <p:nvSpPr>
          <p:cNvPr id="24" name="Shape 22"/>
          <p:cNvSpPr/>
          <p:nvPr/>
        </p:nvSpPr>
        <p:spPr>
          <a:xfrm>
            <a:off x="9560966" y="3950208"/>
            <a:ext cx="1298448" cy="365760"/>
          </a:xfrm>
          <a:prstGeom prst="roundRect">
            <a:avLst>
              <a:gd name="adj" fmla="val 50000"/>
            </a:avLst>
          </a:prstGeom>
          <a:solidFill>
            <a:srgbClr val="FF8500"/>
          </a:solidFill>
          <a:ln/>
        </p:spPr>
      </p:sp>
      <p:sp>
        <p:nvSpPr>
          <p:cNvPr id="25" name="Text 23"/>
          <p:cNvSpPr txBox="1"/>
          <p:nvPr/>
        </p:nvSpPr>
        <p:spPr>
          <a:xfrm>
            <a:off x="9560966" y="3950208"/>
            <a:ext cx="1298448" cy="365760"/>
          </a:xfrm>
          <a:prstGeom prst="rect">
            <a:avLst/>
          </a:prstGeom>
          <a:noFill/>
          <a:ln/>
        </p:spPr>
        <p:txBody>
          <a:bodyPr wrap="square" lIns="0" tIns="0" rIns="0" bIns="0" rtlCol="0" anchor="ctr"/>
          <a:lstStyle/>
          <a:p>
            <a:pPr algn="ctr" indent="0" marL="0">
              <a:buNone/>
            </a:pPr>
            <a:r>
              <a:rPr lang="en-US" sz="1000" b="1" spc="100" kern="0" dirty="0">
                <a:solidFill>
                  <a:srgbClr val="161616"/>
                </a:solidFill>
                <a:latin typeface="Plus Jakarta Sans" pitchFamily="34" charset="0"/>
                <a:ea typeface="Segoe UI" pitchFamily="34" charset="-122"/>
                <a:cs typeface="Segoe UI" pitchFamily="34" charset="-120"/>
              </a:rPr>
              <a:t>RECONSIDER</a:t>
            </a:r>
            <a:endParaRPr lang="en-US" sz="1000" dirty="0">
              <a:solidFill>
                <a:srgbClr val="161616"/>
              </a:solidFill>
              <a:latin typeface="Plus Jakarta Sans"/>
            </a:endParaRPr>
          </a:p>
        </p:txBody>
      </p:sp>
      <p:sp>
        <p:nvSpPr>
          <p:cNvPr id="9001" name="replacement-title">
            <a:extLst>
              <a:ext uri="{FF2B5EF4-FFF2-40B4-BE49-F238E27FC236}">
                <a16:creationId xmlns:a16="http://schemas.microsoft.com/office/drawing/2014/main" id="{C16403E4-646A-42F4-9C92-2F1F03AA575B}"/>
              </a:ext>
            </a:extLst>
          </p:cNvPr>
          <p:cNvSpPr>
            <a:spLocks noGrp="1"/>
          </p:cNvSpPr>
          <p:nvPr/>
        </p:nvSpPr>
        <p:spPr>
          <a:xfrm>
            <a:off x="638175" y="752475"/>
            <a:ext cx="10915650" cy="800100"/>
          </a:xfrm>
          <a:prstGeom prst="rect">
            <a:avLst/>
          </a:prstGeom>
          <a:noFill/>
          <a:ln w="0">
            <a:noFill/>
          </a:ln>
        </p:spPr>
        <p:txBody>
          <a:bodyPr anchor="ctr"/>
          <a:lstStyle>
            <a:defPPr>
              <a:defRPr sz="2625" b="1">
                <a:solidFill>
                  <a:srgbClr val="FFFFFF"/>
                </a:solidFill>
                <a:latin typeface="Plus Jakarta Sans"/>
              </a:defRPr>
            </a:defPPr>
            <a:lvl1pPr>
              <a:defRPr sz="2625" b="1">
                <a:solidFill>
                  <a:srgbClr val="FFFFFF"/>
                </a:solidFill>
                <a:latin typeface="Plus Jakarta Sans"/>
              </a:defRPr>
            </a:lvl1pPr>
            <a:lvl2pPr>
              <a:defRPr sz="2625" b="1">
                <a:solidFill>
                  <a:srgbClr val="FFFFFF"/>
                </a:solidFill>
                <a:latin typeface="Plus Jakarta Sans"/>
              </a:defRPr>
            </a:lvl2pPr>
            <a:lvl3pPr>
              <a:defRPr sz="2625" b="1">
                <a:solidFill>
                  <a:srgbClr val="FFFFFF"/>
                </a:solidFill>
                <a:latin typeface="Plus Jakarta Sans"/>
              </a:defRPr>
            </a:lvl3pPr>
            <a:lvl4pPr>
              <a:defRPr sz="2625" b="1">
                <a:solidFill>
                  <a:srgbClr val="FFFFFF"/>
                </a:solidFill>
                <a:latin typeface="Plus Jakarta Sans"/>
              </a:defRPr>
            </a:lvl4pPr>
            <a:lvl5pPr>
              <a:defRPr sz="2625" b="1">
                <a:solidFill>
                  <a:srgbClr val="FFFFFF"/>
                </a:solidFill>
                <a:latin typeface="Plus Jakarta Sans"/>
              </a:defRPr>
            </a:lvl5pPr>
            <a:lvl6pPr>
              <a:defRPr sz="2625" b="1">
                <a:solidFill>
                  <a:srgbClr val="FFFFFF"/>
                </a:solidFill>
                <a:latin typeface="Plus Jakarta Sans"/>
              </a:defRPr>
            </a:lvl6pPr>
            <a:lvl7pPr>
              <a:defRPr sz="2625" b="1">
                <a:solidFill>
                  <a:srgbClr val="FFFFFF"/>
                </a:solidFill>
                <a:latin typeface="Plus Jakarta Sans"/>
              </a:defRPr>
            </a:lvl7pPr>
            <a:lvl8pPr>
              <a:defRPr sz="2625" b="1">
                <a:solidFill>
                  <a:srgbClr val="FFFFFF"/>
                </a:solidFill>
                <a:latin typeface="Plus Jakarta Sans"/>
              </a:defRPr>
            </a:lvl8pPr>
            <a:lvl9pPr>
              <a:defRPr sz="2625" b="1">
                <a:solidFill>
                  <a:srgbClr val="FFFFFF"/>
                </a:solidFill>
                <a:latin typeface="Plus Jakarta Sans"/>
              </a:defRPr>
            </a:lvl9pPr>
          </a:lstStyle>
          <a:p>
            <a:pPr>
              <a:defRPr sz="2625" b="1">
                <a:solidFill>
                  <a:srgbClr val="FFFFFF"/>
                </a:solidFill>
                <a:latin typeface="Plus Jakarta Sans"/>
              </a:defRPr>
            </a:pPr>
            <a:r>
              <a:rPr sz="2625" b="1">
                <a:solidFill>
                  <a:srgbClr val="FFFFFF"/>
                </a:solidFill>
                <a:latin typeface="Plus Jakarta Sans"/>
              </a:rPr>
              <a:t>Case 3: radiation and recurrent VUAS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61616"/>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05C489"/>
                </a:solidFill>
                <a:latin typeface="Plus Jakarta Sans" pitchFamily="34" charset="0"/>
                <a:ea typeface="Segoe UI" pitchFamily="34" charset="-122"/>
                <a:cs typeface="Segoe UI" pitchFamily="34" charset="-120"/>
              </a:rPr>
              <a:t>THE URETHRA</a:t>
            </a:r>
            <a:endParaRPr lang="en-US" sz="950" dirty="0">
              <a:latin typeface="Plus Jakarta Sans"/>
            </a:endParaRPr>
          </a:p>
        </p:txBody>
      </p:sp>
      <p:sp>
        <p:nvSpPr>
          <p:cNvPr id="3" name="Text 1"/>
          <p:cNvSpPr txBox="1"/>
          <p:nvPr/>
        </p:nvSpPr>
        <p:spPr>
          <a:xfrm>
            <a:off x="6979615" y="384048"/>
            <a:ext cx="4572000" cy="274320"/>
          </a:xfrm>
          <a:prstGeom prst="rect">
            <a:avLst/>
          </a:prstGeom>
          <a:noFill/>
          <a:ln/>
        </p:spPr>
        <p:txBody>
          <a:bodyPr wrap="square" lIns="0" tIns="0" rIns="0" bIns="0" rtlCol="0" anchor="t"/>
          <a:lstStyle/>
          <a:p>
            <a:pPr algn="r" indent="0" marL="0">
              <a:buNone/>
            </a:pPr>
            <a:r>
              <a:rPr lang="en-US" sz="950" spc="100" kern="0" dirty="0">
                <a:solidFill>
                  <a:srgbClr val="BFBFBF"/>
                </a:solidFill>
                <a:latin typeface="Plus Jakarta Sans" pitchFamily="34" charset="0"/>
                <a:ea typeface="Segoe UI" pitchFamily="34" charset="-122"/>
                <a:cs typeface="Segoe UI" pitchFamily="34" charset="-120"/>
              </a:rPr>
              <a:t>17 / 36</a:t>
            </a:r>
            <a:endParaRPr lang="en-US" sz="950" dirty="0">
              <a:latin typeface="Plus Jakarta Sans"/>
            </a:endParaRPr>
          </a:p>
        </p:txBody>
      </p:sp>
      <p:sp>
        <p:nvSpPr>
          <p:cNvPr id="5" name="Text 3"/>
          <p:cNvSpPr txBox="1"/>
          <p:nvPr/>
        </p:nvSpPr>
        <p:spPr>
          <a:xfrm>
            <a:off x="640080" y="6345936"/>
            <a:ext cx="9997135" cy="228600"/>
          </a:xfrm>
          <a:prstGeom prst="rect">
            <a:avLst/>
          </a:prstGeom>
          <a:noFill/>
          <a:ln/>
        </p:spPr>
        <p:txBody>
          <a:bodyPr wrap="square" lIns="0" tIns="0" rIns="0" bIns="0" rtlCol="0" anchor="t"/>
          <a:lstStyle/>
          <a:p>
            <a:pPr algn="l" indent="0" marL="0">
              <a:buNone/>
            </a:pPr>
            <a:r>
              <a:rPr lang="en-US" sz="800" spc="50" kern="0" dirty="0">
                <a:solidFill>
                  <a:srgbClr val="BFBFBF"/>
                </a:solidFill>
                <a:latin typeface="Plus Jakarta Sans" pitchFamily="34" charset="0"/>
                <a:ea typeface="Segoe UI" pitchFamily="34" charset="-122"/>
                <a:cs typeface="Segoe UI" pitchFamily="34" charset="-120"/>
              </a:rPr>
              <a:t>URETH26  ·  BAUS25  ·  AUA24  ·  ICS16  ·  URETHMETA26</a:t>
            </a:r>
            <a:endParaRPr lang="en-US" sz="800" dirty="0">
              <a:latin typeface="Plus Jakarta Sans"/>
            </a:endParaRPr>
          </a:p>
        </p:txBody>
      </p:sp>
      <p:sp>
        <p:nvSpPr>
          <p:cNvPr id="6" name="Text 4"/>
          <p:cNvSpPr txBox="1"/>
          <p:nvPr/>
        </p:nvSpPr>
        <p:spPr>
          <a:xfrm>
            <a:off x="640080" y="5669280"/>
            <a:ext cx="10911535" cy="566928"/>
          </a:xfrm>
          <a:prstGeom prst="rect">
            <a:avLst/>
          </a:prstGeom>
          <a:noFill/>
          <a:ln/>
        </p:spPr>
        <p:txBody>
          <a:bodyPr wrap="square" lIns="0" tIns="0" rIns="0" bIns="0" rtlCol="0" anchor="b"/>
          <a:lstStyle/>
          <a:p>
            <a:pPr algn="l" indent="0" marL="0">
              <a:buNone/>
            </a:pPr>
            <a:r>
              <a:rPr lang="en-US" sz="1200" i="1" dirty="0">
                <a:solidFill>
                  <a:srgbClr val="BFBFBF"/>
                </a:solidFill>
                <a:latin typeface="Plus Jakarta Sans" pitchFamily="34" charset="0"/>
                <a:ea typeface="Segoe UI" pitchFamily="34" charset="-122"/>
                <a:cs typeface="Segoe UI" pitchFamily="34" charset="-120"/>
              </a:rPr>
              <a:t>2026 meta-analysis: a previous urethroplasty means more removals; repairs that cut the urethra across carry more erosion. Observational data.</a:t>
            </a:r>
            <a:endParaRPr lang="en-US" sz="1200" dirty="0">
              <a:latin typeface="Plus Jakarta Sans"/>
            </a:endParaRPr>
          </a:p>
        </p:txBody>
      </p:sp>
      <p:sp>
        <p:nvSpPr>
          <p:cNvPr id="7" name="Shape 5"/>
          <p:cNvSpPr/>
          <p:nvPr/>
        </p:nvSpPr>
        <p:spPr>
          <a:xfrm>
            <a:off x="640080" y="1783080"/>
            <a:ext cx="5295748" cy="3749040"/>
          </a:xfrm>
          <a:prstGeom prst="roundRect">
            <a:avLst>
              <a:gd name="adj" fmla="val 3415"/>
            </a:avLst>
          </a:prstGeom>
          <a:solidFill>
            <a:srgbClr val="2D2D2D"/>
          </a:solidFill>
          <a:ln/>
        </p:spPr>
      </p:sp>
      <p:sp>
        <p:nvSpPr>
          <p:cNvPr id="8" name="Text 6"/>
          <p:cNvSpPr txBox="1"/>
          <p:nvPr/>
        </p:nvSpPr>
        <p:spPr>
          <a:xfrm>
            <a:off x="960120" y="2075688"/>
            <a:ext cx="4655668" cy="365760"/>
          </a:xfrm>
          <a:prstGeom prst="rect">
            <a:avLst/>
          </a:prstGeom>
          <a:noFill/>
          <a:ln/>
        </p:spPr>
        <p:txBody>
          <a:bodyPr wrap="square" lIns="0" tIns="0" rIns="0" bIns="0" rtlCol="0" anchor="t"/>
          <a:lstStyle/>
          <a:p>
            <a:pPr algn="l" indent="0" marL="0">
              <a:buNone/>
            </a:pPr>
            <a:r>
              <a:rPr lang="en-US" sz="1500" dirty="0">
                <a:solidFill>
                  <a:srgbClr val="05C489"/>
                </a:solidFill>
                <a:latin typeface="Plus Jakarta Sans" pitchFamily="34" charset="0"/>
                <a:ea typeface="Segoe UI Semibold" pitchFamily="34" charset="-122"/>
                <a:cs typeface="Segoe UI Semibold" pitchFamily="34" charset="-120"/>
              </a:rPr>
              <a:t>The reconstruction history</a:t>
            </a:r>
            <a:endParaRPr lang="en-US" sz="1500" dirty="0">
              <a:latin typeface="Plus Jakarta Sans"/>
            </a:endParaRPr>
          </a:p>
        </p:txBody>
      </p:sp>
      <p:sp>
        <p:nvSpPr>
          <p:cNvPr id="9" name="Shape 7"/>
          <p:cNvSpPr/>
          <p:nvPr/>
        </p:nvSpPr>
        <p:spPr>
          <a:xfrm>
            <a:off x="960120" y="2734056"/>
            <a:ext cx="100584" cy="100584"/>
          </a:xfrm>
          <a:prstGeom prst="ellipse">
            <a:avLst/>
          </a:prstGeom>
          <a:solidFill>
            <a:srgbClr val="05C489"/>
          </a:solidFill>
          <a:ln/>
        </p:spPr>
      </p:sp>
      <p:sp>
        <p:nvSpPr>
          <p:cNvPr id="10" name="Text 8"/>
          <p:cNvSpPr txBox="1"/>
          <p:nvPr/>
        </p:nvSpPr>
        <p:spPr>
          <a:xfrm>
            <a:off x="1207008" y="2651760"/>
            <a:ext cx="4408780" cy="777240"/>
          </a:xfrm>
          <a:prstGeom prst="rect">
            <a:avLst/>
          </a:prstGeom>
          <a:noFill/>
          <a:ln/>
        </p:spPr>
        <p:txBody>
          <a:bodyPr wrap="square" lIns="0" tIns="0" rIns="0" bIns="0" rtlCol="0" anchor="t"/>
          <a:lstStyle/>
          <a:p>
            <a:pPr algn="l" indent="0" marL="0">
              <a:lnSpc>
                <a:spcPct val="110000"/>
              </a:lnSpc>
              <a:buNone/>
            </a:pPr>
            <a:r>
              <a:rPr lang="en-US" sz="1550" dirty="0">
                <a:solidFill>
                  <a:srgbClr val="FFFFFF"/>
                </a:solidFill>
                <a:latin typeface="Plus Jakarta Sans" pitchFamily="34" charset="0"/>
                <a:ea typeface="Segoe UI" pitchFamily="34" charset="-122"/>
                <a:cs typeface="Segoe UI" pitchFamily="34" charset="-120"/>
              </a:rPr>
              <a:t>Repair site and operative report</a:t>
            </a:r>
            <a:endParaRPr lang="en-US" sz="1550" dirty="0">
              <a:latin typeface="Plus Jakarta Sans"/>
            </a:endParaRPr>
          </a:p>
        </p:txBody>
      </p:sp>
      <p:sp>
        <p:nvSpPr>
          <p:cNvPr id="11" name="Shape 9"/>
          <p:cNvSpPr/>
          <p:nvPr/>
        </p:nvSpPr>
        <p:spPr>
          <a:xfrm>
            <a:off x="960120" y="3557016"/>
            <a:ext cx="100584" cy="100584"/>
          </a:xfrm>
          <a:prstGeom prst="ellipse">
            <a:avLst/>
          </a:prstGeom>
          <a:solidFill>
            <a:srgbClr val="05C489"/>
          </a:solidFill>
          <a:ln/>
        </p:spPr>
      </p:sp>
      <p:sp>
        <p:nvSpPr>
          <p:cNvPr id="12" name="Text 10"/>
          <p:cNvSpPr txBox="1"/>
          <p:nvPr/>
        </p:nvSpPr>
        <p:spPr>
          <a:xfrm>
            <a:off x="1207008" y="3474720"/>
            <a:ext cx="4408780" cy="777240"/>
          </a:xfrm>
          <a:prstGeom prst="rect">
            <a:avLst/>
          </a:prstGeom>
          <a:noFill/>
          <a:ln/>
        </p:spPr>
        <p:txBody>
          <a:bodyPr wrap="square" lIns="0" tIns="0" rIns="0" bIns="0" rtlCol="0" anchor="t"/>
          <a:lstStyle/>
          <a:p>
            <a:pPr algn="l" indent="0" marL="0">
              <a:lnSpc>
                <a:spcPct val="110000"/>
              </a:lnSpc>
              <a:buNone/>
            </a:pPr>
            <a:r>
              <a:rPr lang="en-US" sz="1550" dirty="0">
                <a:solidFill>
                  <a:srgbClr val="FFFFFF"/>
                </a:solidFill>
                <a:latin typeface="Plus Jakarta Sans" pitchFamily="34" charset="0"/>
                <a:ea typeface="Segoe UI" pitchFamily="34" charset="-122"/>
                <a:cs typeface="Segoe UI" pitchFamily="34" charset="-120"/>
              </a:rPr>
              <a:t>Was the urethra cut across, or not?</a:t>
            </a:r>
            <a:endParaRPr lang="en-US" sz="1550" dirty="0">
              <a:latin typeface="Plus Jakarta Sans"/>
            </a:endParaRPr>
          </a:p>
        </p:txBody>
      </p:sp>
      <p:sp>
        <p:nvSpPr>
          <p:cNvPr id="13" name="Shape 11"/>
          <p:cNvSpPr/>
          <p:nvPr/>
        </p:nvSpPr>
        <p:spPr>
          <a:xfrm>
            <a:off x="960120" y="4379976"/>
            <a:ext cx="100584" cy="100584"/>
          </a:xfrm>
          <a:prstGeom prst="ellipse">
            <a:avLst/>
          </a:prstGeom>
          <a:solidFill>
            <a:srgbClr val="05C489"/>
          </a:solidFill>
          <a:ln/>
        </p:spPr>
      </p:sp>
      <p:sp>
        <p:nvSpPr>
          <p:cNvPr id="14" name="Text 12"/>
          <p:cNvSpPr txBox="1"/>
          <p:nvPr/>
        </p:nvSpPr>
        <p:spPr>
          <a:xfrm>
            <a:off x="1207008" y="4297680"/>
            <a:ext cx="4408780" cy="777240"/>
          </a:xfrm>
          <a:prstGeom prst="rect">
            <a:avLst/>
          </a:prstGeom>
          <a:noFill/>
          <a:ln/>
        </p:spPr>
        <p:txBody>
          <a:bodyPr wrap="square" lIns="0" tIns="0" rIns="0" bIns="0" rtlCol="0" anchor="t"/>
          <a:lstStyle/>
          <a:p>
            <a:pPr algn="l" indent="0" marL="0">
              <a:lnSpc>
                <a:spcPct val="110000"/>
              </a:lnSpc>
              <a:buNone/>
            </a:pPr>
            <a:r>
              <a:rPr lang="en-US" sz="1550" dirty="0">
                <a:solidFill>
                  <a:srgbClr val="FFFFFF"/>
                </a:solidFill>
                <a:latin typeface="Plus Jakarta Sans" pitchFamily="34" charset="0"/>
                <a:ea typeface="Segoe UI" pitchFamily="34" charset="-122"/>
                <a:cs typeface="Segoe UI" pitchFamily="34" charset="-120"/>
              </a:rPr>
              <a:t>Prior erosion, graft or posterior reconstruction</a:t>
            </a:r>
            <a:endParaRPr lang="en-US" sz="1550" dirty="0">
              <a:latin typeface="Plus Jakarta Sans"/>
            </a:endParaRPr>
          </a:p>
        </p:txBody>
      </p:sp>
      <p:sp>
        <p:nvSpPr>
          <p:cNvPr id="15" name="Shape 13"/>
          <p:cNvSpPr/>
          <p:nvPr/>
        </p:nvSpPr>
        <p:spPr>
          <a:xfrm>
            <a:off x="6255868" y="1783080"/>
            <a:ext cx="5295748" cy="3749040"/>
          </a:xfrm>
          <a:prstGeom prst="roundRect">
            <a:avLst>
              <a:gd name="adj" fmla="val 3415"/>
            </a:avLst>
          </a:prstGeom>
          <a:solidFill>
            <a:srgbClr val="2D2D2D"/>
          </a:solidFill>
          <a:ln/>
        </p:spPr>
      </p:sp>
      <p:sp>
        <p:nvSpPr>
          <p:cNvPr id="16" name="Text 14"/>
          <p:cNvSpPr txBox="1"/>
          <p:nvPr/>
        </p:nvSpPr>
        <p:spPr>
          <a:xfrm>
            <a:off x="6575908" y="2075688"/>
            <a:ext cx="4655668" cy="365760"/>
          </a:xfrm>
          <a:prstGeom prst="rect">
            <a:avLst/>
          </a:prstGeom>
          <a:noFill/>
          <a:ln/>
        </p:spPr>
        <p:txBody>
          <a:bodyPr wrap="square" lIns="0" tIns="0" rIns="0" bIns="0" rtlCol="0" anchor="t"/>
          <a:lstStyle/>
          <a:p>
            <a:pPr algn="l" indent="0" marL="0">
              <a:buNone/>
            </a:pPr>
            <a:r>
              <a:rPr lang="en-US" sz="1500" dirty="0">
                <a:solidFill>
                  <a:srgbClr val="FFFFFF"/>
                </a:solidFill>
                <a:latin typeface="Plus Jakarta Sans" pitchFamily="34" charset="0"/>
                <a:ea typeface="Segoe UI Semibold" pitchFamily="34" charset="-122"/>
                <a:cs typeface="Segoe UI Semibold" pitchFamily="34" charset="-120"/>
              </a:rPr>
              <a:t>The next operation</a:t>
            </a:r>
            <a:endParaRPr lang="en-US" sz="1500" dirty="0">
              <a:latin typeface="Plus Jakarta Sans"/>
            </a:endParaRPr>
          </a:p>
        </p:txBody>
      </p:sp>
      <p:sp>
        <p:nvSpPr>
          <p:cNvPr id="17" name="Shape 15"/>
          <p:cNvSpPr/>
          <p:nvPr/>
        </p:nvSpPr>
        <p:spPr>
          <a:xfrm>
            <a:off x="6575908" y="2734056"/>
            <a:ext cx="100584" cy="100584"/>
          </a:xfrm>
          <a:prstGeom prst="ellipse">
            <a:avLst/>
          </a:prstGeom>
          <a:solidFill>
            <a:srgbClr val="FFFFFF"/>
          </a:solidFill>
          <a:ln/>
        </p:spPr>
      </p:sp>
      <p:sp>
        <p:nvSpPr>
          <p:cNvPr id="18" name="Text 16"/>
          <p:cNvSpPr txBox="1"/>
          <p:nvPr/>
        </p:nvSpPr>
        <p:spPr>
          <a:xfrm>
            <a:off x="6822796" y="2651760"/>
            <a:ext cx="4408780" cy="777240"/>
          </a:xfrm>
          <a:prstGeom prst="rect">
            <a:avLst/>
          </a:prstGeom>
          <a:noFill/>
          <a:ln/>
        </p:spPr>
        <p:txBody>
          <a:bodyPr wrap="square" lIns="0" tIns="0" rIns="0" bIns="0" rtlCol="0" anchor="t"/>
          <a:lstStyle/>
          <a:p>
            <a:pPr algn="l" indent="0" marL="0">
              <a:lnSpc>
                <a:spcPct val="110000"/>
              </a:lnSpc>
              <a:buNone/>
            </a:pPr>
            <a:r>
              <a:rPr lang="en-US" sz="1550" dirty="0">
                <a:solidFill>
                  <a:srgbClr val="FFFFFF"/>
                </a:solidFill>
                <a:latin typeface="Plus Jakarta Sans" pitchFamily="34" charset="0"/>
                <a:ea typeface="Segoe UI" pitchFamily="34" charset="-122"/>
                <a:cs typeface="Segoe UI" pitchFamily="34" charset="-120"/>
              </a:rPr>
              <a:t>Keep the remaining tissue and its blood supply</a:t>
            </a:r>
            <a:endParaRPr lang="en-US" sz="1550" dirty="0">
              <a:latin typeface="Plus Jakarta Sans"/>
            </a:endParaRPr>
          </a:p>
        </p:txBody>
      </p:sp>
      <p:sp>
        <p:nvSpPr>
          <p:cNvPr id="19" name="Shape 17"/>
          <p:cNvSpPr/>
          <p:nvPr/>
        </p:nvSpPr>
        <p:spPr>
          <a:xfrm>
            <a:off x="6575908" y="3557016"/>
            <a:ext cx="100584" cy="100584"/>
          </a:xfrm>
          <a:prstGeom prst="ellipse">
            <a:avLst/>
          </a:prstGeom>
          <a:solidFill>
            <a:srgbClr val="FFFFFF"/>
          </a:solidFill>
          <a:ln/>
        </p:spPr>
      </p:sp>
      <p:sp>
        <p:nvSpPr>
          <p:cNvPr id="20" name="Text 18"/>
          <p:cNvSpPr txBox="1"/>
          <p:nvPr/>
        </p:nvSpPr>
        <p:spPr>
          <a:xfrm>
            <a:off x="6822796" y="3474720"/>
            <a:ext cx="4408780" cy="777240"/>
          </a:xfrm>
          <a:prstGeom prst="rect">
            <a:avLst/>
          </a:prstGeom>
          <a:noFill/>
          <a:ln/>
        </p:spPr>
        <p:txBody>
          <a:bodyPr wrap="square" lIns="0" tIns="0" rIns="0" bIns="0" rtlCol="0" anchor="t"/>
          <a:lstStyle/>
          <a:p>
            <a:pPr algn="l" indent="0" marL="0">
              <a:lnSpc>
                <a:spcPct val="110000"/>
              </a:lnSpc>
              <a:buNone/>
            </a:pPr>
            <a:r>
              <a:rPr lang="en-US" sz="1550" dirty="0">
                <a:solidFill>
                  <a:srgbClr val="FFFFFF"/>
                </a:solidFill>
                <a:latin typeface="Plus Jakarta Sans" pitchFamily="34" charset="0"/>
                <a:ea typeface="Segoe UI" pitchFamily="34" charset="-122"/>
                <a:cs typeface="Segoe UI" pitchFamily="34" charset="-120"/>
              </a:rPr>
              <a:t>Choose healthy tissue for the cuff</a:t>
            </a:r>
            <a:endParaRPr lang="en-US" sz="1550" dirty="0">
              <a:latin typeface="Plus Jakarta Sans"/>
            </a:endParaRPr>
          </a:p>
        </p:txBody>
      </p:sp>
      <p:sp>
        <p:nvSpPr>
          <p:cNvPr id="21" name="Shape 19"/>
          <p:cNvSpPr/>
          <p:nvPr/>
        </p:nvSpPr>
        <p:spPr>
          <a:xfrm>
            <a:off x="6575908" y="4379976"/>
            <a:ext cx="100584" cy="100584"/>
          </a:xfrm>
          <a:prstGeom prst="ellipse">
            <a:avLst/>
          </a:prstGeom>
          <a:solidFill>
            <a:srgbClr val="FFFFFF"/>
          </a:solidFill>
          <a:ln/>
        </p:spPr>
      </p:sp>
      <p:sp>
        <p:nvSpPr>
          <p:cNvPr id="22" name="Text 20"/>
          <p:cNvSpPr txBox="1"/>
          <p:nvPr/>
        </p:nvSpPr>
        <p:spPr>
          <a:xfrm>
            <a:off x="6822796" y="4297680"/>
            <a:ext cx="4408780" cy="777240"/>
          </a:xfrm>
          <a:prstGeom prst="rect">
            <a:avLst/>
          </a:prstGeom>
          <a:noFill/>
          <a:ln/>
        </p:spPr>
        <p:txBody>
          <a:bodyPr wrap="square" lIns="0" tIns="0" rIns="0" bIns="0" rtlCol="0" anchor="t"/>
          <a:lstStyle/>
          <a:p>
            <a:pPr algn="l" indent="0" marL="0">
              <a:lnSpc>
                <a:spcPct val="110000"/>
              </a:lnSpc>
              <a:buNone/>
            </a:pPr>
            <a:r>
              <a:rPr lang="en-US" sz="1550" dirty="0">
                <a:solidFill>
                  <a:srgbClr val="FFFFFF"/>
                </a:solidFill>
                <a:latin typeface="Plus Jakarta Sans" pitchFamily="34" charset="0"/>
                <a:ea typeface="Segoe UI" pitchFamily="34" charset="-122"/>
                <a:cs typeface="Segoe UI" pitchFamily="34" charset="-120"/>
              </a:rPr>
              <a:t>No safe plane? Reassess, or do it in stages</a:t>
            </a:r>
            <a:endParaRPr lang="en-US" sz="1550" dirty="0">
              <a:latin typeface="Plus Jakarta Sans"/>
            </a:endParaRPr>
          </a:p>
        </p:txBody>
      </p:sp>
      <p:sp>
        <p:nvSpPr>
          <p:cNvPr id="9001" name="replacement-title">
            <a:extLst>
              <a:ext uri="{FF2B5EF4-FFF2-40B4-BE49-F238E27FC236}">
                <a16:creationId xmlns:a16="http://schemas.microsoft.com/office/drawing/2014/main" id="{92C2234B-9A31-4927-A006-84594899D6F4}"/>
              </a:ext>
            </a:extLst>
          </p:cNvPr>
          <p:cNvSpPr>
            <a:spLocks noGrp="1"/>
          </p:cNvSpPr>
          <p:nvPr/>
        </p:nvSpPr>
        <p:spPr>
          <a:xfrm>
            <a:off x="638175" y="752475"/>
            <a:ext cx="10915650" cy="800100"/>
          </a:xfrm>
          <a:prstGeom prst="rect">
            <a:avLst/>
          </a:prstGeom>
          <a:noFill/>
          <a:ln w="0">
            <a:noFill/>
          </a:ln>
        </p:spPr>
        <p:txBody>
          <a:bodyPr anchor="ctr"/>
          <a:lstStyle>
            <a:defPPr>
              <a:defRPr sz="2625" b="1">
                <a:solidFill>
                  <a:srgbClr val="FFFFFF"/>
                </a:solidFill>
                <a:latin typeface="Plus Jakarta Sans"/>
              </a:defRPr>
            </a:defPPr>
            <a:lvl1pPr>
              <a:defRPr sz="2625" b="1">
                <a:solidFill>
                  <a:srgbClr val="FFFFFF"/>
                </a:solidFill>
                <a:latin typeface="Plus Jakarta Sans"/>
              </a:defRPr>
            </a:lvl1pPr>
            <a:lvl2pPr>
              <a:defRPr sz="2625" b="1">
                <a:solidFill>
                  <a:srgbClr val="FFFFFF"/>
                </a:solidFill>
                <a:latin typeface="Plus Jakarta Sans"/>
              </a:defRPr>
            </a:lvl2pPr>
            <a:lvl3pPr>
              <a:defRPr sz="2625" b="1">
                <a:solidFill>
                  <a:srgbClr val="FFFFFF"/>
                </a:solidFill>
                <a:latin typeface="Plus Jakarta Sans"/>
              </a:defRPr>
            </a:lvl3pPr>
            <a:lvl4pPr>
              <a:defRPr sz="2625" b="1">
                <a:solidFill>
                  <a:srgbClr val="FFFFFF"/>
                </a:solidFill>
                <a:latin typeface="Plus Jakarta Sans"/>
              </a:defRPr>
            </a:lvl4pPr>
            <a:lvl5pPr>
              <a:defRPr sz="2625" b="1">
                <a:solidFill>
                  <a:srgbClr val="FFFFFF"/>
                </a:solidFill>
                <a:latin typeface="Plus Jakarta Sans"/>
              </a:defRPr>
            </a:lvl5pPr>
            <a:lvl6pPr>
              <a:defRPr sz="2625" b="1">
                <a:solidFill>
                  <a:srgbClr val="FFFFFF"/>
                </a:solidFill>
                <a:latin typeface="Plus Jakarta Sans"/>
              </a:defRPr>
            </a:lvl6pPr>
            <a:lvl7pPr>
              <a:defRPr sz="2625" b="1">
                <a:solidFill>
                  <a:srgbClr val="FFFFFF"/>
                </a:solidFill>
                <a:latin typeface="Plus Jakarta Sans"/>
              </a:defRPr>
            </a:lvl7pPr>
            <a:lvl8pPr>
              <a:defRPr sz="2625" b="1">
                <a:solidFill>
                  <a:srgbClr val="FFFFFF"/>
                </a:solidFill>
                <a:latin typeface="Plus Jakarta Sans"/>
              </a:defRPr>
            </a:lvl8pPr>
            <a:lvl9pPr>
              <a:defRPr sz="2625" b="1">
                <a:solidFill>
                  <a:srgbClr val="FFFFFF"/>
                </a:solidFill>
                <a:latin typeface="Plus Jakarta Sans"/>
              </a:defRPr>
            </a:lvl9pPr>
          </a:lstStyle>
          <a:p>
            <a:pPr>
              <a:defRPr sz="2625" b="1">
                <a:solidFill>
                  <a:srgbClr val="FFFFFF"/>
                </a:solidFill>
                <a:latin typeface="Plus Jakarta Sans"/>
              </a:defRPr>
            </a:pPr>
            <a:r>
              <a:rPr sz="2625" b="1">
                <a:solidFill>
                  <a:srgbClr val="FFFFFF"/>
                </a:solidFill>
                <a:latin typeface="Plus Jakarta Sans"/>
              </a:rPr>
              <a:t>AUS after urethral reconstruction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61616"/>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05C489"/>
                </a:solidFill>
                <a:latin typeface="Plus Jakarta Sans" pitchFamily="34" charset="0"/>
                <a:ea typeface="Segoe UI" pitchFamily="34" charset="-122"/>
                <a:cs typeface="Segoe UI" pitchFamily="34" charset="-120"/>
              </a:rPr>
              <a:t>THE URETHRA</a:t>
            </a:r>
            <a:endParaRPr lang="en-US" sz="950" dirty="0">
              <a:latin typeface="Plus Jakarta Sans"/>
            </a:endParaRPr>
          </a:p>
        </p:txBody>
      </p:sp>
      <p:sp>
        <p:nvSpPr>
          <p:cNvPr id="3" name="Text 1"/>
          <p:cNvSpPr txBox="1"/>
          <p:nvPr/>
        </p:nvSpPr>
        <p:spPr>
          <a:xfrm>
            <a:off x="6979615" y="384048"/>
            <a:ext cx="4572000" cy="274320"/>
          </a:xfrm>
          <a:prstGeom prst="rect">
            <a:avLst/>
          </a:prstGeom>
          <a:noFill/>
          <a:ln/>
        </p:spPr>
        <p:txBody>
          <a:bodyPr wrap="square" lIns="0" tIns="0" rIns="0" bIns="0" rtlCol="0" anchor="t"/>
          <a:lstStyle/>
          <a:p>
            <a:pPr algn="r" indent="0" marL="0">
              <a:buNone/>
            </a:pPr>
            <a:r>
              <a:rPr lang="en-US" sz="950" spc="100" kern="0" dirty="0">
                <a:solidFill>
                  <a:srgbClr val="BFBFBF"/>
                </a:solidFill>
                <a:latin typeface="Plus Jakarta Sans" pitchFamily="34" charset="0"/>
                <a:ea typeface="Segoe UI" pitchFamily="34" charset="-122"/>
                <a:cs typeface="Segoe UI" pitchFamily="34" charset="-120"/>
              </a:rPr>
              <a:t>18 / 36</a:t>
            </a:r>
            <a:endParaRPr lang="en-US" sz="950" dirty="0">
              <a:latin typeface="Plus Jakarta Sans"/>
            </a:endParaRPr>
          </a:p>
        </p:txBody>
      </p:sp>
      <p:sp>
        <p:nvSpPr>
          <p:cNvPr id="5" name="Text 3"/>
          <p:cNvSpPr txBox="1"/>
          <p:nvPr/>
        </p:nvSpPr>
        <p:spPr>
          <a:xfrm>
            <a:off x="640080" y="6345936"/>
            <a:ext cx="9997135" cy="228600"/>
          </a:xfrm>
          <a:prstGeom prst="rect">
            <a:avLst/>
          </a:prstGeom>
          <a:noFill/>
          <a:ln/>
        </p:spPr>
        <p:txBody>
          <a:bodyPr wrap="square" lIns="0" tIns="0" rIns="0" bIns="0" rtlCol="0" anchor="t"/>
          <a:lstStyle/>
          <a:p>
            <a:pPr algn="l" indent="0" marL="0">
              <a:buNone/>
            </a:pPr>
            <a:r>
              <a:rPr lang="en-US" sz="800" spc="50" kern="0" dirty="0">
                <a:solidFill>
                  <a:srgbClr val="BFBFBF"/>
                </a:solidFill>
                <a:latin typeface="Plus Jakarta Sans" pitchFamily="34" charset="0"/>
                <a:ea typeface="Segoe UI" pitchFamily="34" charset="-122"/>
                <a:cs typeface="Segoe UI" pitchFamily="34" charset="-120"/>
              </a:rPr>
              <a:t>TC20  ·  TC23  ·  BAUS25  ·  AP23  ·  TCSYS25</a:t>
            </a:r>
            <a:endParaRPr lang="en-US" sz="800" dirty="0">
              <a:latin typeface="Plus Jakarta Sans"/>
            </a:endParaRPr>
          </a:p>
        </p:txBody>
      </p:sp>
      <p:sp>
        <p:nvSpPr>
          <p:cNvPr id="6" name="Text 4"/>
          <p:cNvSpPr txBox="1"/>
          <p:nvPr/>
        </p:nvSpPr>
        <p:spPr>
          <a:xfrm>
            <a:off x="640080" y="5669280"/>
            <a:ext cx="10911535" cy="566928"/>
          </a:xfrm>
          <a:prstGeom prst="rect">
            <a:avLst/>
          </a:prstGeom>
          <a:noFill/>
          <a:ln/>
        </p:spPr>
        <p:txBody>
          <a:bodyPr wrap="square" lIns="0" tIns="0" rIns="0" bIns="0" rtlCol="0" anchor="b"/>
          <a:lstStyle/>
          <a:p>
            <a:pPr algn="l" indent="0" marL="0">
              <a:buNone/>
            </a:pPr>
            <a:r>
              <a:rPr lang="en-US" sz="1200" i="1" dirty="0">
                <a:solidFill>
                  <a:srgbClr val="BFBFBF"/>
                </a:solidFill>
                <a:latin typeface="Plus Jakarta Sans" pitchFamily="34" charset="0"/>
                <a:ea typeface="Segoe UI" pitchFamily="34" charset="-122"/>
                <a:cs typeface="Segoe UI" pitchFamily="34" charset="-120"/>
              </a:rPr>
              <a:t>The latest review suggests less erosion but more revision. Non-randomised data cannot prove protection.</a:t>
            </a:r>
            <a:endParaRPr lang="en-US" sz="1200" dirty="0">
              <a:latin typeface="Plus Jakarta Sans"/>
            </a:endParaRPr>
          </a:p>
        </p:txBody>
      </p:sp>
      <p:sp>
        <p:nvSpPr>
          <p:cNvPr id="7" name="Shape 5"/>
          <p:cNvSpPr/>
          <p:nvPr/>
        </p:nvSpPr>
        <p:spPr>
          <a:xfrm>
            <a:off x="640080" y="1783080"/>
            <a:ext cx="5295748" cy="3749040"/>
          </a:xfrm>
          <a:prstGeom prst="roundRect">
            <a:avLst>
              <a:gd name="adj" fmla="val 3415"/>
            </a:avLst>
          </a:prstGeom>
          <a:solidFill>
            <a:srgbClr val="2D2D2D"/>
          </a:solidFill>
          <a:ln/>
        </p:spPr>
      </p:sp>
      <p:sp>
        <p:nvSpPr>
          <p:cNvPr id="8" name="Text 6"/>
          <p:cNvSpPr txBox="1"/>
          <p:nvPr/>
        </p:nvSpPr>
        <p:spPr>
          <a:xfrm>
            <a:off x="960120" y="2075688"/>
            <a:ext cx="4655668" cy="365760"/>
          </a:xfrm>
          <a:prstGeom prst="rect">
            <a:avLst/>
          </a:prstGeom>
          <a:noFill/>
          <a:ln/>
        </p:spPr>
        <p:txBody>
          <a:bodyPr wrap="square" lIns="0" tIns="0" rIns="0" bIns="0" rtlCol="0" anchor="t"/>
          <a:lstStyle/>
          <a:p>
            <a:pPr algn="l" indent="0" marL="0">
              <a:buNone/>
            </a:pPr>
            <a:r>
              <a:rPr lang="en-US" sz="1500" dirty="0">
                <a:solidFill>
                  <a:srgbClr val="05C489"/>
                </a:solidFill>
                <a:latin typeface="Plus Jakarta Sans" pitchFamily="34" charset="0"/>
                <a:ea typeface="Segoe UI Semibold" pitchFamily="34" charset="-122"/>
                <a:cs typeface="Segoe UI Semibold" pitchFamily="34" charset="-120"/>
              </a:rPr>
              <a:t>Selected role</a:t>
            </a:r>
            <a:endParaRPr lang="en-US" sz="1500" dirty="0">
              <a:latin typeface="Plus Jakarta Sans"/>
            </a:endParaRPr>
          </a:p>
        </p:txBody>
      </p:sp>
      <p:sp>
        <p:nvSpPr>
          <p:cNvPr id="9" name="Shape 7"/>
          <p:cNvSpPr/>
          <p:nvPr/>
        </p:nvSpPr>
        <p:spPr>
          <a:xfrm>
            <a:off x="960120" y="2734056"/>
            <a:ext cx="100584" cy="100584"/>
          </a:xfrm>
          <a:prstGeom prst="ellipse">
            <a:avLst/>
          </a:prstGeom>
          <a:solidFill>
            <a:srgbClr val="05C489"/>
          </a:solidFill>
          <a:ln/>
        </p:spPr>
      </p:sp>
      <p:sp>
        <p:nvSpPr>
          <p:cNvPr id="10" name="Text 8"/>
          <p:cNvSpPr txBox="1"/>
          <p:nvPr/>
        </p:nvSpPr>
        <p:spPr>
          <a:xfrm>
            <a:off x="1207008" y="2651760"/>
            <a:ext cx="4408780" cy="777240"/>
          </a:xfrm>
          <a:prstGeom prst="rect">
            <a:avLst/>
          </a:prstGeom>
          <a:noFill/>
          <a:ln/>
        </p:spPr>
        <p:txBody>
          <a:bodyPr wrap="square" lIns="0" tIns="0" rIns="0" bIns="0" rtlCol="0" anchor="t"/>
          <a:lstStyle/>
          <a:p>
            <a:pPr algn="l" indent="0" marL="0">
              <a:lnSpc>
                <a:spcPct val="110000"/>
              </a:lnSpc>
              <a:buNone/>
            </a:pPr>
            <a:r>
              <a:rPr lang="en-US" sz="1550" dirty="0">
                <a:solidFill>
                  <a:srgbClr val="FFFFFF"/>
                </a:solidFill>
                <a:latin typeface="Plus Jakarta Sans" pitchFamily="34" charset="0"/>
                <a:ea typeface="Segoe UI" pitchFamily="34" charset="-122"/>
                <a:cs typeface="Segoe UI" pitchFamily="34" charset="-120"/>
              </a:rPr>
              <a:t>A dangerous plane behind the urethra</a:t>
            </a:r>
            <a:endParaRPr lang="en-US" sz="1550" dirty="0">
              <a:latin typeface="Plus Jakarta Sans"/>
            </a:endParaRPr>
          </a:p>
        </p:txBody>
      </p:sp>
      <p:sp>
        <p:nvSpPr>
          <p:cNvPr id="11" name="Shape 9"/>
          <p:cNvSpPr/>
          <p:nvPr/>
        </p:nvSpPr>
        <p:spPr>
          <a:xfrm>
            <a:off x="960120" y="3557016"/>
            <a:ext cx="100584" cy="100584"/>
          </a:xfrm>
          <a:prstGeom prst="ellipse">
            <a:avLst/>
          </a:prstGeom>
          <a:solidFill>
            <a:srgbClr val="05C489"/>
          </a:solidFill>
          <a:ln/>
        </p:spPr>
      </p:sp>
      <p:sp>
        <p:nvSpPr>
          <p:cNvPr id="12" name="Text 10"/>
          <p:cNvSpPr txBox="1"/>
          <p:nvPr/>
        </p:nvSpPr>
        <p:spPr>
          <a:xfrm>
            <a:off x="1207008" y="3474720"/>
            <a:ext cx="4408780" cy="777240"/>
          </a:xfrm>
          <a:prstGeom prst="rect">
            <a:avLst/>
          </a:prstGeom>
          <a:noFill/>
          <a:ln/>
        </p:spPr>
        <p:txBody>
          <a:bodyPr wrap="square" lIns="0" tIns="0" rIns="0" bIns="0" rtlCol="0" anchor="t"/>
          <a:lstStyle/>
          <a:p>
            <a:pPr algn="l" indent="0" marL="0">
              <a:lnSpc>
                <a:spcPct val="110000"/>
              </a:lnSpc>
              <a:buNone/>
            </a:pPr>
            <a:r>
              <a:rPr lang="en-US" sz="1550" dirty="0">
                <a:solidFill>
                  <a:srgbClr val="FFFFFF"/>
                </a:solidFill>
                <a:latin typeface="Plus Jakarta Sans" pitchFamily="34" charset="0"/>
                <a:ea typeface="Segoe UI" pitchFamily="34" charset="-122"/>
                <a:cs typeface="Segoe UI" pitchFamily="34" charset="-120"/>
              </a:rPr>
              <a:t>A move for one specific dissection problem</a:t>
            </a:r>
            <a:endParaRPr lang="en-US" sz="1550" dirty="0">
              <a:latin typeface="Plus Jakarta Sans"/>
            </a:endParaRPr>
          </a:p>
        </p:txBody>
      </p:sp>
      <p:sp>
        <p:nvSpPr>
          <p:cNvPr id="13" name="Shape 11"/>
          <p:cNvSpPr/>
          <p:nvPr/>
        </p:nvSpPr>
        <p:spPr>
          <a:xfrm>
            <a:off x="960120" y="4379976"/>
            <a:ext cx="100584" cy="100584"/>
          </a:xfrm>
          <a:prstGeom prst="ellipse">
            <a:avLst/>
          </a:prstGeom>
          <a:solidFill>
            <a:srgbClr val="05C489"/>
          </a:solidFill>
          <a:ln/>
        </p:spPr>
      </p:sp>
      <p:sp>
        <p:nvSpPr>
          <p:cNvPr id="14" name="Text 12"/>
          <p:cNvSpPr txBox="1"/>
          <p:nvPr/>
        </p:nvSpPr>
        <p:spPr>
          <a:xfrm>
            <a:off x="1207008" y="4297680"/>
            <a:ext cx="4408780" cy="777240"/>
          </a:xfrm>
          <a:prstGeom prst="rect">
            <a:avLst/>
          </a:prstGeom>
          <a:noFill/>
          <a:ln/>
        </p:spPr>
        <p:txBody>
          <a:bodyPr wrap="square" lIns="0" tIns="0" rIns="0" bIns="0" rtlCol="0" anchor="t"/>
          <a:lstStyle/>
          <a:p>
            <a:pPr algn="l" indent="0" marL="0">
              <a:lnSpc>
                <a:spcPct val="110000"/>
              </a:lnSpc>
              <a:buNone/>
            </a:pPr>
            <a:r>
              <a:rPr lang="en-US" sz="1550" dirty="0">
                <a:solidFill>
                  <a:srgbClr val="FFFFFF"/>
                </a:solidFill>
                <a:latin typeface="Plus Jakarta Sans" pitchFamily="34" charset="0"/>
                <a:ea typeface="Segoe UI" pitchFamily="34" charset="-122"/>
                <a:cs typeface="Segoe UI" pitchFamily="34" charset="-120"/>
              </a:rPr>
              <a:t>Whether it protects from erosion is unproven</a:t>
            </a:r>
            <a:endParaRPr lang="en-US" sz="1550" dirty="0">
              <a:latin typeface="Plus Jakarta Sans"/>
            </a:endParaRPr>
          </a:p>
        </p:txBody>
      </p:sp>
      <p:sp>
        <p:nvSpPr>
          <p:cNvPr id="15" name="Shape 13"/>
          <p:cNvSpPr/>
          <p:nvPr/>
        </p:nvSpPr>
        <p:spPr>
          <a:xfrm>
            <a:off x="6255868" y="1783080"/>
            <a:ext cx="5295748" cy="3749040"/>
          </a:xfrm>
          <a:prstGeom prst="roundRect">
            <a:avLst>
              <a:gd name="adj" fmla="val 3415"/>
            </a:avLst>
          </a:prstGeom>
          <a:solidFill>
            <a:srgbClr val="2D2D2D"/>
          </a:solidFill>
          <a:ln/>
        </p:spPr>
      </p:sp>
      <p:sp>
        <p:nvSpPr>
          <p:cNvPr id="16" name="Text 14"/>
          <p:cNvSpPr txBox="1"/>
          <p:nvPr/>
        </p:nvSpPr>
        <p:spPr>
          <a:xfrm>
            <a:off x="6575908" y="2075688"/>
            <a:ext cx="4655668" cy="365760"/>
          </a:xfrm>
          <a:prstGeom prst="rect">
            <a:avLst/>
          </a:prstGeom>
          <a:noFill/>
          <a:ln/>
        </p:spPr>
        <p:txBody>
          <a:bodyPr wrap="square" lIns="0" tIns="0" rIns="0" bIns="0" rtlCol="0" anchor="t"/>
          <a:lstStyle/>
          <a:p>
            <a:pPr algn="l" indent="0" marL="0">
              <a:buNone/>
            </a:pPr>
            <a:r>
              <a:rPr lang="en-US" sz="1500" dirty="0">
                <a:solidFill>
                  <a:srgbClr val="FFFFFF"/>
                </a:solidFill>
                <a:latin typeface="Plus Jakarta Sans" pitchFamily="34" charset="0"/>
                <a:ea typeface="Segoe UI Semibold" pitchFamily="34" charset="-122"/>
                <a:cs typeface="Segoe UI Semibold" pitchFamily="34" charset="-120"/>
              </a:rPr>
              <a:t>Costs and limitations</a:t>
            </a:r>
            <a:endParaRPr lang="en-US" sz="1500" dirty="0">
              <a:latin typeface="Plus Jakarta Sans"/>
            </a:endParaRPr>
          </a:p>
        </p:txBody>
      </p:sp>
      <p:sp>
        <p:nvSpPr>
          <p:cNvPr id="17" name="Shape 15"/>
          <p:cNvSpPr/>
          <p:nvPr/>
        </p:nvSpPr>
        <p:spPr>
          <a:xfrm>
            <a:off x="6575908" y="2734056"/>
            <a:ext cx="100584" cy="100584"/>
          </a:xfrm>
          <a:prstGeom prst="ellipse">
            <a:avLst/>
          </a:prstGeom>
          <a:solidFill>
            <a:srgbClr val="FFFFFF"/>
          </a:solidFill>
          <a:ln/>
        </p:spPr>
      </p:sp>
      <p:sp>
        <p:nvSpPr>
          <p:cNvPr id="18" name="Text 16"/>
          <p:cNvSpPr txBox="1"/>
          <p:nvPr/>
        </p:nvSpPr>
        <p:spPr>
          <a:xfrm>
            <a:off x="6822796" y="2651760"/>
            <a:ext cx="4408780" cy="777240"/>
          </a:xfrm>
          <a:prstGeom prst="rect">
            <a:avLst/>
          </a:prstGeom>
          <a:noFill/>
          <a:ln/>
        </p:spPr>
        <p:txBody>
          <a:bodyPr wrap="square" lIns="0" tIns="0" rIns="0" bIns="0" rtlCol="0" anchor="t"/>
          <a:lstStyle/>
          <a:p>
            <a:pPr algn="l" indent="0" marL="0">
              <a:lnSpc>
                <a:spcPct val="110000"/>
              </a:lnSpc>
              <a:buNone/>
            </a:pPr>
            <a:r>
              <a:rPr lang="en-US" sz="1550" dirty="0">
                <a:solidFill>
                  <a:srgbClr val="FFFFFF"/>
                </a:solidFill>
                <a:latin typeface="Plus Jakarta Sans" pitchFamily="34" charset="0"/>
                <a:ea typeface="Segoe UI" pitchFamily="34" charset="-122"/>
                <a:cs typeface="Segoe UI" pitchFamily="34" charset="-120"/>
              </a:rPr>
              <a:t>Injury and bleeding from the erectile bodies</a:t>
            </a:r>
            <a:endParaRPr lang="en-US" sz="1550" dirty="0">
              <a:latin typeface="Plus Jakarta Sans"/>
            </a:endParaRPr>
          </a:p>
        </p:txBody>
      </p:sp>
      <p:sp>
        <p:nvSpPr>
          <p:cNvPr id="19" name="Shape 17"/>
          <p:cNvSpPr/>
          <p:nvPr/>
        </p:nvSpPr>
        <p:spPr>
          <a:xfrm>
            <a:off x="6575908" y="3557016"/>
            <a:ext cx="100584" cy="100584"/>
          </a:xfrm>
          <a:prstGeom prst="ellipse">
            <a:avLst/>
          </a:prstGeom>
          <a:solidFill>
            <a:srgbClr val="FFFFFF"/>
          </a:solidFill>
          <a:ln/>
        </p:spPr>
      </p:sp>
      <p:sp>
        <p:nvSpPr>
          <p:cNvPr id="20" name="Text 18"/>
          <p:cNvSpPr txBox="1"/>
          <p:nvPr/>
        </p:nvSpPr>
        <p:spPr>
          <a:xfrm>
            <a:off x="6822796" y="3474720"/>
            <a:ext cx="4408780" cy="777240"/>
          </a:xfrm>
          <a:prstGeom prst="rect">
            <a:avLst/>
          </a:prstGeom>
          <a:noFill/>
          <a:ln/>
        </p:spPr>
        <p:txBody>
          <a:bodyPr wrap="square" lIns="0" tIns="0" rIns="0" bIns="0" rtlCol="0" anchor="t"/>
          <a:lstStyle/>
          <a:p>
            <a:pPr algn="l" indent="0" marL="0">
              <a:lnSpc>
                <a:spcPct val="110000"/>
              </a:lnSpc>
              <a:buNone/>
            </a:pPr>
            <a:r>
              <a:rPr lang="en-US" sz="1550" dirty="0">
                <a:solidFill>
                  <a:srgbClr val="FFFFFF"/>
                </a:solidFill>
                <a:latin typeface="Plus Jakarta Sans" pitchFamily="34" charset="0"/>
                <a:ea typeface="Segoe UI" pitchFamily="34" charset="-122"/>
                <a:cs typeface="Segoe UI" pitchFamily="34" charset="-120"/>
              </a:rPr>
              <a:t>Effects on erections and on any future penile implant</a:t>
            </a:r>
            <a:endParaRPr lang="en-US" sz="1550" dirty="0">
              <a:latin typeface="Plus Jakarta Sans"/>
            </a:endParaRPr>
          </a:p>
        </p:txBody>
      </p:sp>
      <p:sp>
        <p:nvSpPr>
          <p:cNvPr id="21" name="Shape 19"/>
          <p:cNvSpPr/>
          <p:nvPr/>
        </p:nvSpPr>
        <p:spPr>
          <a:xfrm>
            <a:off x="6575908" y="4379976"/>
            <a:ext cx="100584" cy="100584"/>
          </a:xfrm>
          <a:prstGeom prst="ellipse">
            <a:avLst/>
          </a:prstGeom>
          <a:solidFill>
            <a:srgbClr val="FFFFFF"/>
          </a:solidFill>
          <a:ln/>
        </p:spPr>
      </p:sp>
      <p:sp>
        <p:nvSpPr>
          <p:cNvPr id="22" name="Text 20"/>
          <p:cNvSpPr txBox="1"/>
          <p:nvPr/>
        </p:nvSpPr>
        <p:spPr>
          <a:xfrm>
            <a:off x="6822796" y="4297680"/>
            <a:ext cx="4408780" cy="777240"/>
          </a:xfrm>
          <a:prstGeom prst="rect">
            <a:avLst/>
          </a:prstGeom>
          <a:noFill/>
          <a:ln/>
        </p:spPr>
        <p:txBody>
          <a:bodyPr wrap="square" lIns="0" tIns="0" rIns="0" bIns="0" rtlCol="0" anchor="t"/>
          <a:lstStyle/>
          <a:p>
            <a:pPr algn="l" indent="0" marL="0">
              <a:lnSpc>
                <a:spcPct val="110000"/>
              </a:lnSpc>
              <a:buNone/>
            </a:pPr>
            <a:r>
              <a:rPr lang="en-US" sz="1550" dirty="0">
                <a:solidFill>
                  <a:srgbClr val="FFFFFF"/>
                </a:solidFill>
                <a:latin typeface="Plus Jakarta Sans" pitchFamily="34" charset="0"/>
                <a:ea typeface="Segoe UI" pitchFamily="34" charset="-122"/>
                <a:cs typeface="Segoe UI" pitchFamily="34" charset="-120"/>
              </a:rPr>
              <a:t>The worst urethras get it, which muddies the comparisons</a:t>
            </a:r>
            <a:endParaRPr lang="en-US" sz="1550" dirty="0">
              <a:latin typeface="Plus Jakarta Sans"/>
            </a:endParaRPr>
          </a:p>
        </p:txBody>
      </p:sp>
      <p:sp>
        <p:nvSpPr>
          <p:cNvPr id="9001" name="replacement-title">
            <a:extLst>
              <a:ext uri="{FF2B5EF4-FFF2-40B4-BE49-F238E27FC236}">
                <a16:creationId xmlns:a16="http://schemas.microsoft.com/office/drawing/2014/main" id="{C4D34D64-FAE7-42F4-A95D-E276BF94926B}"/>
              </a:ext>
            </a:extLst>
          </p:cNvPr>
          <p:cNvSpPr>
            <a:spLocks noGrp="1"/>
          </p:cNvSpPr>
          <p:nvPr/>
        </p:nvSpPr>
        <p:spPr>
          <a:xfrm>
            <a:off x="638175" y="752475"/>
            <a:ext cx="10915650" cy="800100"/>
          </a:xfrm>
          <a:prstGeom prst="rect">
            <a:avLst/>
          </a:prstGeom>
          <a:noFill/>
          <a:ln w="0">
            <a:noFill/>
          </a:ln>
        </p:spPr>
        <p:txBody>
          <a:bodyPr anchor="ctr"/>
          <a:lstStyle>
            <a:defPPr>
              <a:defRPr sz="2625" b="1">
                <a:solidFill>
                  <a:srgbClr val="FFFFFF"/>
                </a:solidFill>
                <a:latin typeface="Plus Jakarta Sans"/>
              </a:defRPr>
            </a:defPPr>
            <a:lvl1pPr>
              <a:defRPr sz="2625" b="1">
                <a:solidFill>
                  <a:srgbClr val="FFFFFF"/>
                </a:solidFill>
                <a:latin typeface="Plus Jakarta Sans"/>
              </a:defRPr>
            </a:lvl1pPr>
            <a:lvl2pPr>
              <a:defRPr sz="2625" b="1">
                <a:solidFill>
                  <a:srgbClr val="FFFFFF"/>
                </a:solidFill>
                <a:latin typeface="Plus Jakarta Sans"/>
              </a:defRPr>
            </a:lvl2pPr>
            <a:lvl3pPr>
              <a:defRPr sz="2625" b="1">
                <a:solidFill>
                  <a:srgbClr val="FFFFFF"/>
                </a:solidFill>
                <a:latin typeface="Plus Jakarta Sans"/>
              </a:defRPr>
            </a:lvl3pPr>
            <a:lvl4pPr>
              <a:defRPr sz="2625" b="1">
                <a:solidFill>
                  <a:srgbClr val="FFFFFF"/>
                </a:solidFill>
                <a:latin typeface="Plus Jakarta Sans"/>
              </a:defRPr>
            </a:lvl4pPr>
            <a:lvl5pPr>
              <a:defRPr sz="2625" b="1">
                <a:solidFill>
                  <a:srgbClr val="FFFFFF"/>
                </a:solidFill>
                <a:latin typeface="Plus Jakarta Sans"/>
              </a:defRPr>
            </a:lvl5pPr>
            <a:lvl6pPr>
              <a:defRPr sz="2625" b="1">
                <a:solidFill>
                  <a:srgbClr val="FFFFFF"/>
                </a:solidFill>
                <a:latin typeface="Plus Jakarta Sans"/>
              </a:defRPr>
            </a:lvl6pPr>
            <a:lvl7pPr>
              <a:defRPr sz="2625" b="1">
                <a:solidFill>
                  <a:srgbClr val="FFFFFF"/>
                </a:solidFill>
                <a:latin typeface="Plus Jakarta Sans"/>
              </a:defRPr>
            </a:lvl7pPr>
            <a:lvl8pPr>
              <a:defRPr sz="2625" b="1">
                <a:solidFill>
                  <a:srgbClr val="FFFFFF"/>
                </a:solidFill>
                <a:latin typeface="Plus Jakarta Sans"/>
              </a:defRPr>
            </a:lvl8pPr>
            <a:lvl9pPr>
              <a:defRPr sz="2625" b="1">
                <a:solidFill>
                  <a:srgbClr val="FFFFFF"/>
                </a:solidFill>
                <a:latin typeface="Plus Jakarta Sans"/>
              </a:defRPr>
            </a:lvl9pPr>
          </a:lstStyle>
          <a:p>
            <a:pPr>
              <a:defRPr sz="2625" b="1">
                <a:solidFill>
                  <a:srgbClr val="FFFFFF"/>
                </a:solidFill>
                <a:latin typeface="Plus Jakarta Sans"/>
              </a:defRPr>
            </a:pPr>
            <a:r>
              <a:rPr sz="2625" b="1">
                <a:solidFill>
                  <a:srgbClr val="FFFFFF"/>
                </a:solidFill>
                <a:latin typeface="Plus Jakarta Sans"/>
              </a:rPr>
              <a:t>Transcorporal placement: role and costs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61616"/>
        </a:solidFill>
        <a:effectLst/>
      </p:bgPr>
    </p:bg>
    <p:spTree>
      <p:nvGrpSpPr>
        <p:cNvPr id="1" name=""/>
        <p:cNvGrpSpPr/>
        <p:nvPr/>
      </p:nvGrpSpPr>
      <p:grpSpPr>
        <a:xfrm>
          <a:off x="0" y="0"/>
          <a:ext cx="0" cy="0"/>
          <a:chOff x="0" y="0"/>
          <a:chExt cx="0" cy="0"/>
        </a:xfrm>
      </p:grpSpPr>
      <p:sp>
        <p:nvSpPr>
          <p:cNvPr id="4" name="Text 2"/>
          <p:cNvSpPr txBox="1"/>
          <p:nvPr/>
        </p:nvSpPr>
        <p:spPr>
          <a:xfrm>
            <a:off x="640080" y="3457575"/>
            <a:ext cx="5476875" cy="1285875"/>
          </a:xfrm>
          <a:prstGeom prst="rect">
            <a:avLst/>
          </a:prstGeom>
          <a:noFill/>
          <a:ln/>
        </p:spPr>
        <p:txBody>
          <a:bodyPr wrap="square" lIns="0" tIns="0" rIns="0" bIns="0" rtlCol="0" anchor="t"/>
          <a:lstStyle/>
          <a:p>
            <a:pPr algn="l" indent="0" marL="0">
              <a:lnSpc>
                <a:spcPct val="120000"/>
              </a:lnSpc>
              <a:buNone/>
            </a:pPr>
            <a:r>
              <a:rPr lang="en-US" sz="1500" dirty="0">
                <a:solidFill>
                  <a:srgbClr val="BFBFBF"/>
                </a:solidFill>
                <a:latin typeface="Plus Jakarta Sans" pitchFamily="34" charset="0"/>
                <a:ea typeface="Segoe UI" pitchFamily="34" charset="-122"/>
                <a:cs typeface="Segoe UI" pitchFamily="34" charset="-120"/>
              </a:rPr>
              <a:t>Identify the activity, the product and the evidence before debating a duration.</a:t>
            </a:r>
            <a:endParaRPr lang="en-US" sz="1500" dirty="0">
              <a:solidFill>
                <a:srgbClr val="BFBFBF"/>
              </a:solidFill>
              <a:latin typeface="Plus Jakarta Sans"/>
            </a:endParaRPr>
          </a:p>
        </p:txBody>
      </p:sp>
      <p:sp>
        <p:nvSpPr>
          <p:cNvPr id="5" name="Text 3"/>
          <p:cNvSpPr txBox="1"/>
          <p:nvPr/>
        </p:nvSpPr>
        <p:spPr>
          <a:xfrm>
            <a:off x="7223760" y="1188720"/>
            <a:ext cx="4327855" cy="274320"/>
          </a:xfrm>
          <a:prstGeom prst="rect">
            <a:avLst/>
          </a:prstGeom>
          <a:noFill/>
          <a:ln/>
        </p:spPr>
        <p:txBody>
          <a:bodyPr wrap="square" lIns="0" tIns="0" rIns="0" bIns="0" rtlCol="0" anchor="t"/>
          <a:lstStyle/>
          <a:p>
            <a:pPr algn="l" indent="0" marL="0">
              <a:buNone/>
            </a:pPr>
            <a:r>
              <a:rPr lang="en-US" sz="1000" b="1" spc="200" kern="0" dirty="0">
                <a:solidFill>
                  <a:srgbClr val="BFBFBF"/>
                </a:solidFill>
                <a:latin typeface="Plus Jakarta Sans" pitchFamily="34" charset="0"/>
                <a:ea typeface="Segoe UI" pitchFamily="34" charset="-122"/>
                <a:cs typeface="Segoe UI" pitchFamily="34" charset="-120"/>
              </a:rPr>
              <a:t>IN THIS SECTION</a:t>
            </a:r>
            <a:endParaRPr lang="en-US" sz="1000" dirty="0">
              <a:latin typeface="Plus Jakarta Sans"/>
            </a:endParaRPr>
          </a:p>
        </p:txBody>
      </p:sp>
      <p:sp>
        <p:nvSpPr>
          <p:cNvPr id="6" name="Text 4"/>
          <p:cNvSpPr txBox="1"/>
          <p:nvPr/>
        </p:nvSpPr>
        <p:spPr>
          <a:xfrm>
            <a:off x="7223760" y="1645920"/>
            <a:ext cx="457200" cy="457200"/>
          </a:xfrm>
          <a:prstGeom prst="rect">
            <a:avLst/>
          </a:prstGeom>
          <a:noFill/>
          <a:ln/>
        </p:spPr>
        <p:txBody>
          <a:bodyPr wrap="square" lIns="0" tIns="0" rIns="0" bIns="0" rtlCol="0" anchor="ctr"/>
          <a:lstStyle/>
          <a:p>
            <a:pPr algn="l" indent="0" marL="0">
              <a:buNone/>
            </a:pPr>
            <a:r>
              <a:rPr lang="en-US" sz="1100" b="1" dirty="0">
                <a:solidFill>
                  <a:srgbClr val="89FF00"/>
                </a:solidFill>
                <a:latin typeface="Plus Jakarta Sans" pitchFamily="34" charset="0"/>
                <a:ea typeface="Segoe UI" pitchFamily="34" charset="-122"/>
                <a:cs typeface="Segoe UI" pitchFamily="34" charset="-120"/>
              </a:rPr>
              <a:t>19</a:t>
            </a:r>
            <a:endParaRPr lang="en-US" sz="1100" dirty="0">
              <a:solidFill>
                <a:srgbClr val="89FF00"/>
              </a:solidFill>
              <a:latin typeface="Plus Jakarta Sans"/>
            </a:endParaRPr>
          </a:p>
        </p:txBody>
      </p:sp>
      <p:sp>
        <p:nvSpPr>
          <p:cNvPr id="7" name="Text 5"/>
          <p:cNvSpPr txBox="1"/>
          <p:nvPr/>
        </p:nvSpPr>
        <p:spPr>
          <a:xfrm>
            <a:off x="7680960" y="1645920"/>
            <a:ext cx="3870655" cy="457200"/>
          </a:xfrm>
          <a:prstGeom prst="rect">
            <a:avLst/>
          </a:prstGeom>
          <a:noFill/>
          <a:ln/>
        </p:spPr>
        <p:txBody>
          <a:bodyPr wrap="square" lIns="0" tIns="0" rIns="0" bIns="0" rtlCol="0" anchor="ctr"/>
          <a:lstStyle/>
          <a:p>
            <a:pPr algn="l" indent="0" marL="0">
              <a:buNone/>
            </a:pPr>
            <a:r>
              <a:rPr lang="en-US" sz="1300" dirty="0">
                <a:solidFill>
                  <a:srgbClr val="F4F5F7"/>
                </a:solidFill>
                <a:latin typeface="Plus Jakarta Sans" pitchFamily="34" charset="0"/>
                <a:ea typeface="Segoe UI" pitchFamily="34" charset="-122"/>
                <a:cs typeface="Segoe UI" pitchFamily="34" charset="-120"/>
              </a:rPr>
              <a:t>The fifteen-minute wash question</a:t>
            </a:r>
            <a:endParaRPr lang="en-US" sz="1300" dirty="0">
              <a:latin typeface="Plus Jakarta Sans"/>
            </a:endParaRPr>
          </a:p>
        </p:txBody>
      </p:sp>
      <p:sp>
        <p:nvSpPr>
          <p:cNvPr id="8" name="Text 6"/>
          <p:cNvSpPr txBox="1"/>
          <p:nvPr/>
        </p:nvSpPr>
        <p:spPr>
          <a:xfrm>
            <a:off x="7223760" y="2103120"/>
            <a:ext cx="457200" cy="457200"/>
          </a:xfrm>
          <a:prstGeom prst="rect">
            <a:avLst/>
          </a:prstGeom>
          <a:noFill/>
          <a:ln/>
        </p:spPr>
        <p:txBody>
          <a:bodyPr wrap="square" lIns="0" tIns="0" rIns="0" bIns="0" rtlCol="0" anchor="ctr"/>
          <a:lstStyle/>
          <a:p>
            <a:pPr algn="l" indent="0" marL="0">
              <a:buNone/>
            </a:pPr>
            <a:r>
              <a:rPr lang="en-US" sz="1100" b="1" dirty="0">
                <a:solidFill>
                  <a:srgbClr val="89FF00"/>
                </a:solidFill>
                <a:latin typeface="Plus Jakarta Sans" pitchFamily="34" charset="0"/>
                <a:ea typeface="Segoe UI" pitchFamily="34" charset="-122"/>
                <a:cs typeface="Segoe UI" pitchFamily="34" charset="-120"/>
              </a:rPr>
              <a:t>20</a:t>
            </a:r>
            <a:endParaRPr lang="en-US" sz="1100" dirty="0">
              <a:solidFill>
                <a:srgbClr val="89FF00"/>
              </a:solidFill>
              <a:latin typeface="Plus Jakarta Sans"/>
            </a:endParaRPr>
          </a:p>
        </p:txBody>
      </p:sp>
      <p:sp>
        <p:nvSpPr>
          <p:cNvPr id="9" name="Text 7"/>
          <p:cNvSpPr txBox="1"/>
          <p:nvPr/>
        </p:nvSpPr>
        <p:spPr>
          <a:xfrm>
            <a:off x="7680960" y="2103120"/>
            <a:ext cx="3870655" cy="457200"/>
          </a:xfrm>
          <a:prstGeom prst="rect">
            <a:avLst/>
          </a:prstGeom>
          <a:noFill/>
          <a:ln/>
        </p:spPr>
        <p:txBody>
          <a:bodyPr wrap="square" lIns="0" tIns="0" rIns="0" bIns="0" rtlCol="0" anchor="ctr"/>
          <a:lstStyle/>
          <a:p>
            <a:pPr algn="l" indent="0" marL="0">
              <a:buNone/>
            </a:pPr>
            <a:r>
              <a:rPr lang="en-US" sz="1300" dirty="0">
                <a:solidFill>
                  <a:srgbClr val="F4F5F7"/>
                </a:solidFill>
                <a:latin typeface="Plus Jakarta Sans" pitchFamily="34" charset="0"/>
                <a:ea typeface="Segoe UI" pitchFamily="34" charset="-122"/>
                <a:cs typeface="Segoe UI" pitchFamily="34" charset="-120"/>
              </a:rPr>
              <a:t>Skin culture reduction and clinical infection</a:t>
            </a:r>
            <a:endParaRPr lang="en-US" sz="1300" dirty="0">
              <a:latin typeface="Plus Jakarta Sans"/>
            </a:endParaRPr>
          </a:p>
        </p:txBody>
      </p:sp>
      <p:sp>
        <p:nvSpPr>
          <p:cNvPr id="10" name="Text 8"/>
          <p:cNvSpPr txBox="1"/>
          <p:nvPr/>
        </p:nvSpPr>
        <p:spPr>
          <a:xfrm>
            <a:off x="7223760" y="2560320"/>
            <a:ext cx="457200" cy="457200"/>
          </a:xfrm>
          <a:prstGeom prst="rect">
            <a:avLst/>
          </a:prstGeom>
          <a:noFill/>
          <a:ln/>
        </p:spPr>
        <p:txBody>
          <a:bodyPr wrap="square" lIns="0" tIns="0" rIns="0" bIns="0" rtlCol="0" anchor="ctr"/>
          <a:lstStyle/>
          <a:p>
            <a:pPr algn="l" indent="0" marL="0">
              <a:buNone/>
            </a:pPr>
            <a:r>
              <a:rPr lang="en-US" sz="1100" b="1" dirty="0">
                <a:solidFill>
                  <a:srgbClr val="89FF00"/>
                </a:solidFill>
                <a:latin typeface="Plus Jakarta Sans" pitchFamily="34" charset="0"/>
                <a:ea typeface="Segoe UI" pitchFamily="34" charset="-122"/>
                <a:cs typeface="Segoe UI" pitchFamily="34" charset="-120"/>
              </a:rPr>
              <a:t>21</a:t>
            </a:r>
            <a:endParaRPr lang="en-US" sz="1100" dirty="0">
              <a:solidFill>
                <a:srgbClr val="89FF00"/>
              </a:solidFill>
              <a:latin typeface="Plus Jakarta Sans"/>
            </a:endParaRPr>
          </a:p>
        </p:txBody>
      </p:sp>
      <p:sp>
        <p:nvSpPr>
          <p:cNvPr id="11" name="Text 9"/>
          <p:cNvSpPr txBox="1"/>
          <p:nvPr/>
        </p:nvSpPr>
        <p:spPr>
          <a:xfrm>
            <a:off x="7680960" y="2560320"/>
            <a:ext cx="3870655" cy="457200"/>
          </a:xfrm>
          <a:prstGeom prst="rect">
            <a:avLst/>
          </a:prstGeom>
          <a:noFill/>
          <a:ln/>
        </p:spPr>
        <p:txBody>
          <a:bodyPr wrap="square" lIns="0" tIns="0" rIns="0" bIns="0" rtlCol="0" anchor="ctr"/>
          <a:lstStyle/>
          <a:p>
            <a:pPr algn="l" indent="0" marL="0">
              <a:buNone/>
            </a:pPr>
            <a:r>
              <a:rPr lang="en-US" sz="1300" dirty="0">
                <a:solidFill>
                  <a:srgbClr val="F4F5F7"/>
                </a:solidFill>
                <a:latin typeface="Plus Jakarta Sans" pitchFamily="34" charset="0"/>
                <a:ea typeface="Segoe UI" pitchFamily="34" charset="-122"/>
                <a:cs typeface="Segoe UI" pitchFamily="34" charset="-120"/>
              </a:rPr>
              <a:t>Urine and antibiotic disagreements</a:t>
            </a:r>
            <a:endParaRPr lang="en-US" sz="1300" dirty="0">
              <a:latin typeface="Plus Jakarta Sans"/>
            </a:endParaRPr>
          </a:p>
        </p:txBody>
      </p:sp>
      <p:sp>
        <p:nvSpPr>
          <p:cNvPr id="12" name="Text 10"/>
          <p:cNvSpPr txBox="1"/>
          <p:nvPr/>
        </p:nvSpPr>
        <p:spPr>
          <a:xfrm>
            <a:off x="7223760" y="3017520"/>
            <a:ext cx="457200" cy="457200"/>
          </a:xfrm>
          <a:prstGeom prst="rect">
            <a:avLst/>
          </a:prstGeom>
          <a:noFill/>
          <a:ln/>
        </p:spPr>
        <p:txBody>
          <a:bodyPr wrap="square" lIns="0" tIns="0" rIns="0" bIns="0" rtlCol="0" anchor="ctr"/>
          <a:lstStyle/>
          <a:p>
            <a:pPr algn="l" indent="0" marL="0">
              <a:buNone/>
            </a:pPr>
            <a:r>
              <a:rPr lang="en-US" sz="1100" b="1" dirty="0">
                <a:solidFill>
                  <a:srgbClr val="89FF00"/>
                </a:solidFill>
                <a:latin typeface="Plus Jakarta Sans" pitchFamily="34" charset="0"/>
                <a:ea typeface="Segoe UI" pitchFamily="34" charset="-122"/>
                <a:cs typeface="Segoe UI" pitchFamily="34" charset="-120"/>
              </a:rPr>
              <a:t>22</a:t>
            </a:r>
            <a:endParaRPr lang="en-US" sz="1100" dirty="0">
              <a:solidFill>
                <a:srgbClr val="89FF00"/>
              </a:solidFill>
              <a:latin typeface="Plus Jakarta Sans"/>
            </a:endParaRPr>
          </a:p>
        </p:txBody>
      </p:sp>
      <p:sp>
        <p:nvSpPr>
          <p:cNvPr id="13" name="Text 11"/>
          <p:cNvSpPr txBox="1"/>
          <p:nvPr/>
        </p:nvSpPr>
        <p:spPr>
          <a:xfrm>
            <a:off x="7680960" y="3017520"/>
            <a:ext cx="3870655" cy="457200"/>
          </a:xfrm>
          <a:prstGeom prst="rect">
            <a:avLst/>
          </a:prstGeom>
          <a:noFill/>
          <a:ln/>
        </p:spPr>
        <p:txBody>
          <a:bodyPr wrap="square" lIns="0" tIns="0" rIns="0" bIns="0" rtlCol="0" anchor="ctr"/>
          <a:lstStyle/>
          <a:p>
            <a:pPr algn="l" indent="0" marL="0">
              <a:buNone/>
            </a:pPr>
            <a:r>
              <a:rPr lang="en-US" sz="1300" dirty="0">
                <a:solidFill>
                  <a:srgbClr val="F4F5F7"/>
                </a:solidFill>
                <a:latin typeface="Plus Jakarta Sans" pitchFamily="34" charset="0"/>
                <a:ea typeface="Segoe UI" pitchFamily="34" charset="-122"/>
                <a:cs typeface="Segoe UI" pitchFamily="34" charset="-120"/>
              </a:rPr>
              <a:t>Contamination control during implantation</a:t>
            </a:r>
            <a:endParaRPr lang="en-US" sz="1300" dirty="0">
              <a:latin typeface="Plus Jakarta Sans"/>
            </a:endParaRPr>
          </a:p>
        </p:txBody>
      </p:sp>
      <p:sp>
        <p:nvSpPr>
          <p:cNvPr id="14" name="Text 12"/>
          <p:cNvSpPr txBox="1"/>
          <p:nvPr/>
        </p:nvSpPr>
        <p:spPr>
          <a:xfrm>
            <a:off x="7223760" y="3474720"/>
            <a:ext cx="457200" cy="457200"/>
          </a:xfrm>
          <a:prstGeom prst="rect">
            <a:avLst/>
          </a:prstGeom>
          <a:noFill/>
          <a:ln/>
        </p:spPr>
        <p:txBody>
          <a:bodyPr wrap="square" lIns="0" tIns="0" rIns="0" bIns="0" rtlCol="0" anchor="ctr"/>
          <a:lstStyle/>
          <a:p>
            <a:pPr algn="l" indent="0" marL="0">
              <a:buNone/>
            </a:pPr>
            <a:r>
              <a:rPr lang="en-US" sz="1100" b="1" dirty="0">
                <a:solidFill>
                  <a:srgbClr val="89FF00"/>
                </a:solidFill>
                <a:latin typeface="Plus Jakarta Sans" pitchFamily="34" charset="0"/>
                <a:ea typeface="Segoe UI" pitchFamily="34" charset="-122"/>
                <a:cs typeface="Segoe UI" pitchFamily="34" charset="-120"/>
              </a:rPr>
              <a:t>23</a:t>
            </a:r>
            <a:endParaRPr lang="en-US" sz="1100" dirty="0">
              <a:solidFill>
                <a:srgbClr val="89FF00"/>
              </a:solidFill>
              <a:latin typeface="Plus Jakarta Sans"/>
            </a:endParaRPr>
          </a:p>
        </p:txBody>
      </p:sp>
      <p:sp>
        <p:nvSpPr>
          <p:cNvPr id="15" name="Text 13"/>
          <p:cNvSpPr txBox="1"/>
          <p:nvPr/>
        </p:nvSpPr>
        <p:spPr>
          <a:xfrm>
            <a:off x="7680960" y="3474720"/>
            <a:ext cx="3870655" cy="457200"/>
          </a:xfrm>
          <a:prstGeom prst="rect">
            <a:avLst/>
          </a:prstGeom>
          <a:noFill/>
          <a:ln/>
        </p:spPr>
        <p:txBody>
          <a:bodyPr wrap="square" lIns="0" tIns="0" rIns="0" bIns="0" rtlCol="0" anchor="ctr"/>
          <a:lstStyle/>
          <a:p>
            <a:pPr algn="l" indent="0" marL="0">
              <a:buNone/>
            </a:pPr>
            <a:r>
              <a:rPr lang="en-US" sz="1300" dirty="0">
                <a:solidFill>
                  <a:srgbClr val="F4F5F7"/>
                </a:solidFill>
                <a:latin typeface="Plus Jakarta Sans" pitchFamily="34" charset="0"/>
                <a:ea typeface="Segoe UI" pitchFamily="34" charset="-122"/>
                <a:cs typeface="Segoe UI" pitchFamily="34" charset="-120"/>
              </a:rPr>
              <a:t>The pre-implant theatre checklist</a:t>
            </a:r>
            <a:endParaRPr lang="en-US" sz="1300" dirty="0">
              <a:latin typeface="Plus Jakarta Sans"/>
            </a:endParaRPr>
          </a:p>
        </p:txBody>
      </p:sp>
      <p:sp>
        <p:nvSpPr>
          <p:cNvPr id="16" name="Shape 14"/>
          <p:cNvSpPr/>
          <p:nvPr/>
        </p:nvSpPr>
        <p:spPr>
          <a:xfrm>
            <a:off x="640080" y="5989320"/>
            <a:ext cx="1727149" cy="82296"/>
          </a:xfrm>
          <a:prstGeom prst="roundRect">
            <a:avLst>
              <a:gd name="adj" fmla="val 44444"/>
            </a:avLst>
          </a:prstGeom>
          <a:solidFill>
            <a:srgbClr val="89FF00"/>
          </a:solidFill>
          <a:ln/>
        </p:spPr>
      </p:sp>
      <p:sp>
        <p:nvSpPr>
          <p:cNvPr id="17" name="Text 15"/>
          <p:cNvSpPr txBox="1"/>
          <p:nvPr/>
        </p:nvSpPr>
        <p:spPr>
          <a:xfrm>
            <a:off x="640080" y="6126480"/>
            <a:ext cx="1727149" cy="274320"/>
          </a:xfrm>
          <a:prstGeom prst="rect">
            <a:avLst/>
          </a:prstGeom>
          <a:noFill/>
          <a:ln/>
        </p:spPr>
        <p:txBody>
          <a:bodyPr wrap="square" lIns="0" tIns="0" rIns="0" bIns="0" rtlCol="0" anchor="t"/>
          <a:lstStyle/>
          <a:p>
            <a:pPr algn="l" indent="0" marL="0">
              <a:buNone/>
            </a:pPr>
            <a:r>
              <a:rPr lang="en-US" sz="850" dirty="0">
                <a:solidFill>
                  <a:srgbClr val="AFAFAF"/>
                </a:solidFill>
                <a:latin typeface="Plus Jakarta Sans" pitchFamily="34" charset="0"/>
                <a:ea typeface="Segoe UI" pitchFamily="34" charset="-122"/>
                <a:cs typeface="Segoe UI" pitchFamily="34" charset="-120"/>
              </a:rPr>
              <a:t>Decide before theatre</a:t>
            </a:r>
            <a:endParaRPr lang="en-US" sz="850" dirty="0">
              <a:latin typeface="Plus Jakarta Sans"/>
            </a:endParaRPr>
          </a:p>
        </p:txBody>
      </p:sp>
      <p:sp>
        <p:nvSpPr>
          <p:cNvPr id="18" name="Shape 16"/>
          <p:cNvSpPr/>
          <p:nvPr/>
        </p:nvSpPr>
        <p:spPr>
          <a:xfrm>
            <a:off x="2476957" y="5989320"/>
            <a:ext cx="1727149" cy="82296"/>
          </a:xfrm>
          <a:prstGeom prst="roundRect">
            <a:avLst>
              <a:gd name="adj" fmla="val 44444"/>
            </a:avLst>
          </a:prstGeom>
          <a:solidFill>
            <a:srgbClr val="89FF00"/>
          </a:solidFill>
          <a:ln/>
        </p:spPr>
      </p:sp>
      <p:sp>
        <p:nvSpPr>
          <p:cNvPr id="19" name="Text 17"/>
          <p:cNvSpPr txBox="1"/>
          <p:nvPr/>
        </p:nvSpPr>
        <p:spPr>
          <a:xfrm>
            <a:off x="2476957" y="6126480"/>
            <a:ext cx="1727149" cy="274320"/>
          </a:xfrm>
          <a:prstGeom prst="rect">
            <a:avLst/>
          </a:prstGeom>
          <a:noFill/>
          <a:ln/>
        </p:spPr>
        <p:txBody>
          <a:bodyPr wrap="square" lIns="0" tIns="0" rIns="0" bIns="0" rtlCol="0" anchor="t"/>
          <a:lstStyle/>
          <a:p>
            <a:pPr algn="l" indent="0" marL="0">
              <a:buNone/>
            </a:pPr>
            <a:r>
              <a:rPr lang="en-US" sz="850" dirty="0">
                <a:solidFill>
                  <a:srgbClr val="AFAFAF"/>
                </a:solidFill>
                <a:latin typeface="Plus Jakarta Sans" pitchFamily="34" charset="0"/>
                <a:ea typeface="Segoe UI" pitchFamily="34" charset="-122"/>
                <a:cs typeface="Segoe UI" pitchFamily="34" charset="-120"/>
              </a:rPr>
              <a:t>The bladder</a:t>
            </a:r>
            <a:endParaRPr lang="en-US" sz="850" dirty="0">
              <a:latin typeface="Plus Jakarta Sans"/>
            </a:endParaRPr>
          </a:p>
        </p:txBody>
      </p:sp>
      <p:sp>
        <p:nvSpPr>
          <p:cNvPr id="20" name="Shape 18"/>
          <p:cNvSpPr/>
          <p:nvPr/>
        </p:nvSpPr>
        <p:spPr>
          <a:xfrm>
            <a:off x="4313834" y="5989320"/>
            <a:ext cx="1727149" cy="82296"/>
          </a:xfrm>
          <a:prstGeom prst="roundRect">
            <a:avLst>
              <a:gd name="adj" fmla="val 44444"/>
            </a:avLst>
          </a:prstGeom>
          <a:solidFill>
            <a:srgbClr val="89FF00"/>
          </a:solidFill>
          <a:ln/>
        </p:spPr>
      </p:sp>
      <p:sp>
        <p:nvSpPr>
          <p:cNvPr id="21" name="Text 19"/>
          <p:cNvSpPr txBox="1"/>
          <p:nvPr/>
        </p:nvSpPr>
        <p:spPr>
          <a:xfrm>
            <a:off x="4313834" y="6126480"/>
            <a:ext cx="1727149" cy="274320"/>
          </a:xfrm>
          <a:prstGeom prst="rect">
            <a:avLst/>
          </a:prstGeom>
          <a:noFill/>
          <a:ln/>
        </p:spPr>
        <p:txBody>
          <a:bodyPr wrap="square" lIns="0" tIns="0" rIns="0" bIns="0" rtlCol="0" anchor="t"/>
          <a:lstStyle/>
          <a:p>
            <a:pPr algn="l" indent="0" marL="0">
              <a:buNone/>
            </a:pPr>
            <a:r>
              <a:rPr lang="en-US" sz="850" dirty="0">
                <a:solidFill>
                  <a:srgbClr val="AFAFAF"/>
                </a:solidFill>
                <a:latin typeface="Plus Jakarta Sans" pitchFamily="34" charset="0"/>
                <a:ea typeface="Segoe UI" pitchFamily="34" charset="-122"/>
                <a:cs typeface="Segoe UI" pitchFamily="34" charset="-120"/>
              </a:rPr>
              <a:t>The urethra</a:t>
            </a:r>
            <a:endParaRPr lang="en-US" sz="850" dirty="0">
              <a:latin typeface="Plus Jakarta Sans"/>
            </a:endParaRPr>
          </a:p>
        </p:txBody>
      </p:sp>
      <p:sp>
        <p:nvSpPr>
          <p:cNvPr id="22" name="Shape 20"/>
          <p:cNvSpPr/>
          <p:nvPr/>
        </p:nvSpPr>
        <p:spPr>
          <a:xfrm>
            <a:off x="6150712" y="5989320"/>
            <a:ext cx="1727149" cy="82296"/>
          </a:xfrm>
          <a:prstGeom prst="roundRect">
            <a:avLst>
              <a:gd name="adj" fmla="val 44444"/>
            </a:avLst>
          </a:prstGeom>
          <a:solidFill>
            <a:srgbClr val="89FF00"/>
          </a:solidFill>
          <a:ln/>
        </p:spPr>
      </p:sp>
      <p:sp>
        <p:nvSpPr>
          <p:cNvPr id="23" name="Text 21"/>
          <p:cNvSpPr txBox="1"/>
          <p:nvPr/>
        </p:nvSpPr>
        <p:spPr>
          <a:xfrm>
            <a:off x="6150712" y="6126480"/>
            <a:ext cx="1727149" cy="274320"/>
          </a:xfrm>
          <a:prstGeom prst="rect">
            <a:avLst/>
          </a:prstGeom>
          <a:noFill/>
          <a:ln/>
        </p:spPr>
        <p:txBody>
          <a:bodyPr wrap="square" lIns="0" tIns="0" rIns="0" bIns="0" rtlCol="0" anchor="t"/>
          <a:lstStyle/>
          <a:p>
            <a:pPr algn="l" indent="0" marL="0">
              <a:buNone/>
            </a:pPr>
            <a:r>
              <a:rPr lang="en-US" sz="850" dirty="0">
                <a:solidFill>
                  <a:srgbClr val="F4F5F7"/>
                </a:solidFill>
                <a:latin typeface="Plus Jakarta Sans" pitchFamily="34" charset="0"/>
                <a:ea typeface="Segoe UI" pitchFamily="34" charset="-122"/>
                <a:cs typeface="Segoe UI" pitchFamily="34" charset="-120"/>
              </a:rPr>
              <a:t>Preparation without ritual</a:t>
            </a:r>
            <a:endParaRPr lang="en-US" sz="850" dirty="0">
              <a:latin typeface="Plus Jakarta Sans"/>
            </a:endParaRPr>
          </a:p>
        </p:txBody>
      </p:sp>
      <p:sp>
        <p:nvSpPr>
          <p:cNvPr id="24" name="Shape 22"/>
          <p:cNvSpPr/>
          <p:nvPr/>
        </p:nvSpPr>
        <p:spPr>
          <a:xfrm>
            <a:off x="7987589" y="5989320"/>
            <a:ext cx="1727149" cy="82296"/>
          </a:xfrm>
          <a:prstGeom prst="roundRect">
            <a:avLst>
              <a:gd name="adj" fmla="val 44444"/>
            </a:avLst>
          </a:prstGeom>
          <a:solidFill>
            <a:srgbClr val="2D2D2D"/>
          </a:solidFill>
          <a:ln/>
        </p:spPr>
      </p:sp>
      <p:sp>
        <p:nvSpPr>
          <p:cNvPr id="25" name="Text 23"/>
          <p:cNvSpPr txBox="1"/>
          <p:nvPr/>
        </p:nvSpPr>
        <p:spPr>
          <a:xfrm>
            <a:off x="7987589" y="6126480"/>
            <a:ext cx="1727149" cy="274320"/>
          </a:xfrm>
          <a:prstGeom prst="rect">
            <a:avLst/>
          </a:prstGeom>
          <a:noFill/>
          <a:ln/>
        </p:spPr>
        <p:txBody>
          <a:bodyPr wrap="square" lIns="0" tIns="0" rIns="0" bIns="0" rtlCol="0" anchor="t"/>
          <a:lstStyle/>
          <a:p>
            <a:pPr algn="l" indent="0" marL="0">
              <a:buNone/>
            </a:pPr>
            <a:r>
              <a:rPr lang="en-US" sz="850" dirty="0">
                <a:solidFill>
                  <a:srgbClr val="AFAFAF"/>
                </a:solidFill>
                <a:latin typeface="Plus Jakarta Sans" pitchFamily="34" charset="0"/>
                <a:ea typeface="Segoe UI" pitchFamily="34" charset="-122"/>
                <a:cs typeface="Segoe UI" pitchFamily="34" charset="-120"/>
              </a:rPr>
              <a:t>The operation</a:t>
            </a:r>
            <a:endParaRPr lang="en-US" sz="850" dirty="0">
              <a:latin typeface="Plus Jakarta Sans"/>
            </a:endParaRPr>
          </a:p>
        </p:txBody>
      </p:sp>
      <p:sp>
        <p:nvSpPr>
          <p:cNvPr id="26" name="Shape 24"/>
          <p:cNvSpPr/>
          <p:nvPr/>
        </p:nvSpPr>
        <p:spPr>
          <a:xfrm>
            <a:off x="9824466" y="5989320"/>
            <a:ext cx="1727149" cy="82296"/>
          </a:xfrm>
          <a:prstGeom prst="roundRect">
            <a:avLst>
              <a:gd name="adj" fmla="val 44444"/>
            </a:avLst>
          </a:prstGeom>
          <a:solidFill>
            <a:srgbClr val="2D2D2D"/>
          </a:solidFill>
          <a:ln/>
        </p:spPr>
      </p:sp>
      <p:sp>
        <p:nvSpPr>
          <p:cNvPr id="27" name="Text 25"/>
          <p:cNvSpPr txBox="1"/>
          <p:nvPr/>
        </p:nvSpPr>
        <p:spPr>
          <a:xfrm>
            <a:off x="9824466" y="6126480"/>
            <a:ext cx="1727149" cy="274320"/>
          </a:xfrm>
          <a:prstGeom prst="rect">
            <a:avLst/>
          </a:prstGeom>
          <a:noFill/>
          <a:ln/>
        </p:spPr>
        <p:txBody>
          <a:bodyPr wrap="square" lIns="0" tIns="0" rIns="0" bIns="0" rtlCol="0" anchor="t"/>
          <a:lstStyle/>
          <a:p>
            <a:pPr algn="l" indent="0" marL="0">
              <a:buNone/>
            </a:pPr>
            <a:r>
              <a:rPr lang="en-US" sz="850" dirty="0">
                <a:solidFill>
                  <a:srgbClr val="AFAFAF"/>
                </a:solidFill>
                <a:latin typeface="Plus Jakarta Sans" pitchFamily="34" charset="0"/>
                <a:ea typeface="Segoe UI" pitchFamily="34" charset="-122"/>
                <a:cs typeface="Segoe UI" pitchFamily="34" charset="-120"/>
              </a:rPr>
              <a:t>After the implant</a:t>
            </a:r>
            <a:endParaRPr lang="en-US" sz="850" dirty="0">
              <a:latin typeface="Plus Jakarta Sans"/>
            </a:endParaRPr>
          </a:p>
        </p:txBody>
      </p:sp>
      <p:sp>
        <p:nvSpPr>
          <p:cNvPr id="9001" name="replacement-title">
            <a:extLst>
              <a:ext uri="{FF2B5EF4-FFF2-40B4-BE49-F238E27FC236}">
                <a16:creationId xmlns:a16="http://schemas.microsoft.com/office/drawing/2014/main" id="{A78B9711-5F8F-4349-9C6C-DF7F3CDEB36D}"/>
              </a:ext>
            </a:extLst>
          </p:cNvPr>
          <p:cNvSpPr>
            <a:spLocks noGrp="1"/>
          </p:cNvSpPr>
          <p:nvPr/>
        </p:nvSpPr>
        <p:spPr>
          <a:xfrm>
            <a:off x="638175" y="1905000"/>
            <a:ext cx="5476875" cy="1314450"/>
          </a:xfrm>
          <a:prstGeom prst="rect">
            <a:avLst/>
          </a:prstGeom>
          <a:noFill/>
          <a:ln w="0">
            <a:noFill/>
          </a:ln>
        </p:spPr>
        <p:txBody>
          <a:bodyPr anchor="ctr"/>
          <a:lstStyle>
            <a:defPPr>
              <a:defRPr sz="3600" b="1">
                <a:solidFill>
                  <a:srgbClr val="FFFFFF"/>
                </a:solidFill>
                <a:latin typeface="Plus Jakarta Sans"/>
              </a:defRPr>
            </a:defPPr>
            <a:lvl1pPr>
              <a:defRPr sz="3600" b="1">
                <a:solidFill>
                  <a:srgbClr val="FFFFFF"/>
                </a:solidFill>
                <a:latin typeface="Plus Jakarta Sans"/>
              </a:defRPr>
            </a:lvl1pPr>
            <a:lvl2pPr>
              <a:defRPr sz="3600" b="1">
                <a:solidFill>
                  <a:srgbClr val="FFFFFF"/>
                </a:solidFill>
                <a:latin typeface="Plus Jakarta Sans"/>
              </a:defRPr>
            </a:lvl2pPr>
            <a:lvl3pPr>
              <a:defRPr sz="3600" b="1">
                <a:solidFill>
                  <a:srgbClr val="FFFFFF"/>
                </a:solidFill>
                <a:latin typeface="Plus Jakarta Sans"/>
              </a:defRPr>
            </a:lvl3pPr>
            <a:lvl4pPr>
              <a:defRPr sz="3600" b="1">
                <a:solidFill>
                  <a:srgbClr val="FFFFFF"/>
                </a:solidFill>
                <a:latin typeface="Plus Jakarta Sans"/>
              </a:defRPr>
            </a:lvl4pPr>
            <a:lvl5pPr>
              <a:defRPr sz="3600" b="1">
                <a:solidFill>
                  <a:srgbClr val="FFFFFF"/>
                </a:solidFill>
                <a:latin typeface="Plus Jakarta Sans"/>
              </a:defRPr>
            </a:lvl5pPr>
            <a:lvl6pPr>
              <a:defRPr sz="3600" b="1">
                <a:solidFill>
                  <a:srgbClr val="FFFFFF"/>
                </a:solidFill>
                <a:latin typeface="Plus Jakarta Sans"/>
              </a:defRPr>
            </a:lvl6pPr>
            <a:lvl7pPr>
              <a:defRPr sz="3600" b="1">
                <a:solidFill>
                  <a:srgbClr val="FFFFFF"/>
                </a:solidFill>
                <a:latin typeface="Plus Jakarta Sans"/>
              </a:defRPr>
            </a:lvl7pPr>
            <a:lvl8pPr>
              <a:defRPr sz="3600" b="1">
                <a:solidFill>
                  <a:srgbClr val="FFFFFF"/>
                </a:solidFill>
                <a:latin typeface="Plus Jakarta Sans"/>
              </a:defRPr>
            </a:lvl8pPr>
            <a:lvl9pPr>
              <a:defRPr sz="3600" b="1">
                <a:solidFill>
                  <a:srgbClr val="FFFFFF"/>
                </a:solidFill>
                <a:latin typeface="Plus Jakarta Sans"/>
              </a:defRPr>
            </a:lvl9pPr>
          </a:lstStyle>
          <a:p>
            <a:pPr>
              <a:defRPr sz="3600" b="1">
                <a:solidFill>
                  <a:srgbClr val="FFFFFF"/>
                </a:solidFill>
                <a:latin typeface="Plus Jakarta Sans"/>
              </a:defRPr>
            </a:pPr>
            <a:r>
              <a:rPr sz="3600" b="1">
                <a:solidFill>
                  <a:srgbClr val="FFFFFF"/>
                </a:solidFill>
                <a:latin typeface="Plus Jakarta Sans"/>
              </a:rPr>
              <a:t>Preparation without ritual</a:t>
            </a:r>
          </a:p>
        </p:txBody>
      </p:sp>
      <p:sp>
        <p:nvSpPr>
          <p:cNvPr id="9010" name="Google Shape;50;p7"/>
          <p:cNvSpPr/>
          <p:nvPr/>
        </p:nvSpPr>
        <p:spPr>
          <a:xfrm>
            <a:off x="5810250" y="1581150"/>
            <a:ext cx="314325" cy="314325"/>
          </a:xfrm>
          <a:custGeom>
            <a:avLst/>
            <a:gdLst/>
            <a:ahLst/>
            <a:cxnLst/>
            <a:rect l="l" t="t" r="r" b="b"/>
            <a:pathLst>
              <a:path w="615314" h="615315" extrusionOk="0">
                <a:moveTo>
                  <a:pt x="307372" y="0"/>
                </a:moveTo>
                <a:lnTo>
                  <a:pt x="295063" y="64094"/>
                </a:lnTo>
                <a:lnTo>
                  <a:pt x="281976" y="117458"/>
                </a:lnTo>
                <a:lnTo>
                  <a:pt x="266867" y="161336"/>
                </a:lnTo>
                <a:lnTo>
                  <a:pt x="248493" y="196971"/>
                </a:lnTo>
                <a:lnTo>
                  <a:pt x="196971" y="248493"/>
                </a:lnTo>
                <a:lnTo>
                  <a:pt x="161336" y="266867"/>
                </a:lnTo>
                <a:lnTo>
                  <a:pt x="117458" y="281976"/>
                </a:lnTo>
                <a:lnTo>
                  <a:pt x="64094" y="295063"/>
                </a:lnTo>
                <a:lnTo>
                  <a:pt x="0" y="307372"/>
                </a:lnTo>
                <a:lnTo>
                  <a:pt x="64094" y="319682"/>
                </a:lnTo>
                <a:lnTo>
                  <a:pt x="117458" y="332769"/>
                </a:lnTo>
                <a:lnTo>
                  <a:pt x="161336" y="347878"/>
                </a:lnTo>
                <a:lnTo>
                  <a:pt x="196971" y="366252"/>
                </a:lnTo>
                <a:lnTo>
                  <a:pt x="248493" y="417773"/>
                </a:lnTo>
                <a:lnTo>
                  <a:pt x="266867" y="453409"/>
                </a:lnTo>
                <a:lnTo>
                  <a:pt x="281976" y="497287"/>
                </a:lnTo>
                <a:lnTo>
                  <a:pt x="295063" y="550651"/>
                </a:lnTo>
                <a:lnTo>
                  <a:pt x="307372" y="614745"/>
                </a:lnTo>
                <a:lnTo>
                  <a:pt x="319682" y="550651"/>
                </a:lnTo>
                <a:lnTo>
                  <a:pt x="332769" y="497287"/>
                </a:lnTo>
                <a:lnTo>
                  <a:pt x="347878" y="453409"/>
                </a:lnTo>
                <a:lnTo>
                  <a:pt x="366252" y="417773"/>
                </a:lnTo>
                <a:lnTo>
                  <a:pt x="417773" y="366252"/>
                </a:lnTo>
                <a:lnTo>
                  <a:pt x="453409" y="347878"/>
                </a:lnTo>
                <a:lnTo>
                  <a:pt x="497287" y="332769"/>
                </a:lnTo>
                <a:lnTo>
                  <a:pt x="550651" y="319682"/>
                </a:lnTo>
                <a:lnTo>
                  <a:pt x="614745" y="307372"/>
                </a:lnTo>
                <a:lnTo>
                  <a:pt x="550651" y="295063"/>
                </a:lnTo>
                <a:lnTo>
                  <a:pt x="497287" y="281976"/>
                </a:lnTo>
                <a:lnTo>
                  <a:pt x="453409" y="266867"/>
                </a:lnTo>
                <a:lnTo>
                  <a:pt x="417773" y="248493"/>
                </a:lnTo>
                <a:lnTo>
                  <a:pt x="366252" y="196971"/>
                </a:lnTo>
                <a:lnTo>
                  <a:pt x="347878" y="161336"/>
                </a:lnTo>
                <a:lnTo>
                  <a:pt x="332769" y="117458"/>
                </a:lnTo>
                <a:lnTo>
                  <a:pt x="319682" y="64094"/>
                </a:lnTo>
                <a:lnTo>
                  <a:pt x="307372" y="0"/>
                </a:lnTo>
                <a:close/>
              </a:path>
            </a:pathLst>
          </a:custGeom>
          <a:solidFill>
            <a:srgbClr val="89FF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011" name="Google Shape;49;p7"/>
          <p:cNvSpPr/>
          <p:nvPr/>
        </p:nvSpPr>
        <p:spPr>
          <a:xfrm>
            <a:off x="638175" y="1676400"/>
            <a:ext cx="552450" cy="85725"/>
          </a:xfrm>
          <a:custGeom>
            <a:avLst/>
            <a:gdLst/>
            <a:ahLst/>
            <a:cxnLst/>
            <a:rect l="l" t="t" r="r" b="b"/>
            <a:pathLst>
              <a:path w="2339340" h="539115" extrusionOk="0">
                <a:moveTo>
                  <a:pt x="2129736" y="0"/>
                </a:moveTo>
                <a:lnTo>
                  <a:pt x="209417" y="0"/>
                </a:lnTo>
                <a:lnTo>
                  <a:pt x="161399" y="5531"/>
                </a:lnTo>
                <a:lnTo>
                  <a:pt x="117319" y="21286"/>
                </a:lnTo>
                <a:lnTo>
                  <a:pt x="78436" y="46009"/>
                </a:lnTo>
                <a:lnTo>
                  <a:pt x="46005" y="78440"/>
                </a:lnTo>
                <a:lnTo>
                  <a:pt x="21284" y="117324"/>
                </a:lnTo>
                <a:lnTo>
                  <a:pt x="5530" y="161402"/>
                </a:lnTo>
                <a:lnTo>
                  <a:pt x="0" y="209417"/>
                </a:lnTo>
                <a:lnTo>
                  <a:pt x="0" y="329089"/>
                </a:lnTo>
                <a:lnTo>
                  <a:pt x="5530" y="377108"/>
                </a:lnTo>
                <a:lnTo>
                  <a:pt x="21284" y="421187"/>
                </a:lnTo>
                <a:lnTo>
                  <a:pt x="46005" y="460070"/>
                </a:lnTo>
                <a:lnTo>
                  <a:pt x="78436" y="492501"/>
                </a:lnTo>
                <a:lnTo>
                  <a:pt x="117319" y="517222"/>
                </a:lnTo>
                <a:lnTo>
                  <a:pt x="161399" y="532976"/>
                </a:lnTo>
                <a:lnTo>
                  <a:pt x="209417" y="538507"/>
                </a:lnTo>
                <a:lnTo>
                  <a:pt x="2129736" y="538507"/>
                </a:lnTo>
                <a:lnTo>
                  <a:pt x="2177754" y="532976"/>
                </a:lnTo>
                <a:lnTo>
                  <a:pt x="2221834" y="517222"/>
                </a:lnTo>
                <a:lnTo>
                  <a:pt x="2260717" y="492501"/>
                </a:lnTo>
                <a:lnTo>
                  <a:pt x="2293148" y="460070"/>
                </a:lnTo>
                <a:lnTo>
                  <a:pt x="2317869" y="421187"/>
                </a:lnTo>
                <a:lnTo>
                  <a:pt x="2333623" y="377108"/>
                </a:lnTo>
                <a:lnTo>
                  <a:pt x="2339153" y="329089"/>
                </a:lnTo>
                <a:lnTo>
                  <a:pt x="2339153" y="209417"/>
                </a:lnTo>
                <a:lnTo>
                  <a:pt x="2333623" y="161402"/>
                </a:lnTo>
                <a:lnTo>
                  <a:pt x="2317869" y="117324"/>
                </a:lnTo>
                <a:lnTo>
                  <a:pt x="2293148" y="78440"/>
                </a:lnTo>
                <a:lnTo>
                  <a:pt x="2260717" y="46009"/>
                </a:lnTo>
                <a:lnTo>
                  <a:pt x="2221834" y="21286"/>
                </a:lnTo>
                <a:lnTo>
                  <a:pt x="2177754" y="5531"/>
                </a:lnTo>
                <a:lnTo>
                  <a:pt x="2129736" y="0"/>
                </a:lnTo>
                <a:close/>
              </a:path>
            </a:pathLst>
          </a:custGeom>
          <a:solidFill>
            <a:srgbClr val="89FF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61616"/>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05C489"/>
                </a:solidFill>
                <a:latin typeface="Plus Jakarta Sans" pitchFamily="34" charset="0"/>
                <a:ea typeface="Segoe UI" pitchFamily="34" charset="-122"/>
                <a:cs typeface="Segoe UI" pitchFamily="34" charset="-120"/>
              </a:rPr>
              <a:t>PREPARATION WITHOUT RITUAL</a:t>
            </a:r>
            <a:endParaRPr lang="en-US" sz="950" dirty="0">
              <a:latin typeface="Plus Jakarta Sans"/>
            </a:endParaRPr>
          </a:p>
        </p:txBody>
      </p:sp>
      <p:sp>
        <p:nvSpPr>
          <p:cNvPr id="3" name="Text 1"/>
          <p:cNvSpPr txBox="1"/>
          <p:nvPr/>
        </p:nvSpPr>
        <p:spPr>
          <a:xfrm>
            <a:off x="6979615" y="384048"/>
            <a:ext cx="4572000" cy="274320"/>
          </a:xfrm>
          <a:prstGeom prst="rect">
            <a:avLst/>
          </a:prstGeom>
          <a:noFill/>
          <a:ln/>
        </p:spPr>
        <p:txBody>
          <a:bodyPr wrap="square" lIns="0" tIns="0" rIns="0" bIns="0" rtlCol="0" anchor="t"/>
          <a:lstStyle/>
          <a:p>
            <a:pPr algn="r" indent="0" marL="0">
              <a:buNone/>
            </a:pPr>
            <a:r>
              <a:rPr lang="en-US" sz="950" spc="100" kern="0" dirty="0">
                <a:solidFill>
                  <a:srgbClr val="BFBFBF"/>
                </a:solidFill>
                <a:latin typeface="Plus Jakarta Sans" pitchFamily="34" charset="0"/>
                <a:ea typeface="Segoe UI" pitchFamily="34" charset="-122"/>
                <a:cs typeface="Segoe UI" pitchFamily="34" charset="-120"/>
              </a:rPr>
              <a:t>19 / 36</a:t>
            </a:r>
            <a:endParaRPr lang="en-US" sz="950" dirty="0">
              <a:latin typeface="Plus Jakarta Sans"/>
            </a:endParaRPr>
          </a:p>
        </p:txBody>
      </p:sp>
      <p:sp>
        <p:nvSpPr>
          <p:cNvPr id="5" name="Text 3"/>
          <p:cNvSpPr txBox="1"/>
          <p:nvPr/>
        </p:nvSpPr>
        <p:spPr>
          <a:xfrm>
            <a:off x="640080" y="6345936"/>
            <a:ext cx="9997135" cy="228600"/>
          </a:xfrm>
          <a:prstGeom prst="rect">
            <a:avLst/>
          </a:prstGeom>
          <a:noFill/>
          <a:ln/>
        </p:spPr>
        <p:txBody>
          <a:bodyPr wrap="square" lIns="0" tIns="0" rIns="0" bIns="0" rtlCol="0" anchor="t"/>
          <a:lstStyle/>
          <a:p>
            <a:pPr algn="l" indent="0" marL="0">
              <a:buNone/>
            </a:pPr>
            <a:r>
              <a:rPr lang="en-US" sz="800" spc="50" kern="0" dirty="0">
                <a:solidFill>
                  <a:srgbClr val="BFBFBF"/>
                </a:solidFill>
                <a:latin typeface="Plus Jakarta Sans" pitchFamily="34" charset="0"/>
                <a:ea typeface="Segoe UI" pitchFamily="34" charset="-122"/>
                <a:cs typeface="Segoe UI" pitchFamily="34" charset="-120"/>
              </a:rPr>
              <a:t>BAUS25  ·  NICE  ·  WHO09  ·  PREP24  ·  IRRIG26</a:t>
            </a:r>
            <a:endParaRPr lang="en-US" sz="800" dirty="0">
              <a:latin typeface="Plus Jakarta Sans"/>
            </a:endParaRPr>
          </a:p>
        </p:txBody>
      </p:sp>
      <p:sp>
        <p:nvSpPr>
          <p:cNvPr id="6" name="Text 4"/>
          <p:cNvSpPr txBox="1"/>
          <p:nvPr/>
        </p:nvSpPr>
        <p:spPr>
          <a:xfrm>
            <a:off x="640080" y="5669280"/>
            <a:ext cx="10911535" cy="566928"/>
          </a:xfrm>
          <a:prstGeom prst="rect">
            <a:avLst/>
          </a:prstGeom>
          <a:noFill/>
          <a:ln/>
        </p:spPr>
        <p:txBody>
          <a:bodyPr wrap="square" lIns="0" tIns="0" rIns="0" bIns="0" rtlCol="0" anchor="b"/>
          <a:lstStyle/>
          <a:p>
            <a:pPr algn="l" indent="0" marL="0">
              <a:buNone/>
            </a:pPr>
            <a:r>
              <a:rPr lang="en-US" sz="1200" i="1" dirty="0">
                <a:solidFill>
                  <a:srgbClr val="BFBFBF"/>
                </a:solidFill>
                <a:latin typeface="Plus Jakarta Sans" pitchFamily="34" charset="0"/>
                <a:ea typeface="Segoe UI" pitchFamily="34" charset="-122"/>
                <a:cs typeface="Segoe UI" pitchFamily="34" charset="-120"/>
              </a:rPr>
              <a:t>BAUS’s five-minute field scrub is consensus, borrowed from other implants. Product timings are for different activities.</a:t>
            </a:r>
            <a:endParaRPr lang="en-US" sz="1200" dirty="0">
              <a:latin typeface="Plus Jakarta Sans"/>
            </a:endParaRPr>
          </a:p>
        </p:txBody>
      </p:sp>
      <p:sp>
        <p:nvSpPr>
          <p:cNvPr id="7" name="Text 5"/>
          <p:cNvSpPr txBox="1"/>
          <p:nvPr/>
        </p:nvSpPr>
        <p:spPr>
          <a:xfrm>
            <a:off x="640080" y="1737360"/>
            <a:ext cx="10911535" cy="640080"/>
          </a:xfrm>
          <a:prstGeom prst="rect">
            <a:avLst/>
          </a:prstGeom>
          <a:noFill/>
          <a:ln/>
        </p:spPr>
        <p:txBody>
          <a:bodyPr wrap="square" lIns="0" tIns="0" rIns="0" bIns="0" rtlCol="0" anchor="t"/>
          <a:lstStyle/>
          <a:p>
            <a:pPr algn="l" indent="0" marL="0">
              <a:lnSpc>
                <a:spcPct val="105000"/>
              </a:lnSpc>
              <a:buNone/>
            </a:pPr>
            <a:r>
              <a:rPr lang="en-US" sz="1900" dirty="0">
                <a:solidFill>
                  <a:srgbClr val="FFFFFF"/>
                </a:solidFill>
                <a:latin typeface="Plus Jakarta Sans" pitchFamily="34" charset="0"/>
                <a:ea typeface="Segoe UI Semibold" pitchFamily="34" charset="-122"/>
                <a:cs typeface="Segoe UI Semibold" pitchFamily="34" charset="-120"/>
              </a:rPr>
              <a:t>No AUS evidence supports a fixed 15-minute preparation</a:t>
            </a:r>
            <a:endParaRPr lang="en-US" sz="1900" dirty="0">
              <a:latin typeface="Plus Jakarta Sans"/>
            </a:endParaRPr>
          </a:p>
        </p:txBody>
      </p:sp>
      <p:sp>
        <p:nvSpPr>
          <p:cNvPr id="8" name="Shape 6"/>
          <p:cNvSpPr/>
          <p:nvPr/>
        </p:nvSpPr>
        <p:spPr>
          <a:xfrm>
            <a:off x="640080" y="2606040"/>
            <a:ext cx="5318608" cy="1325880"/>
          </a:xfrm>
          <a:prstGeom prst="roundRect">
            <a:avLst>
              <a:gd name="adj" fmla="val 9655"/>
            </a:avLst>
          </a:prstGeom>
          <a:solidFill>
            <a:srgbClr val="2D2D2D"/>
          </a:solidFill>
          <a:ln/>
        </p:spPr>
      </p:sp>
      <p:sp>
        <p:nvSpPr>
          <p:cNvPr id="9" name="Shape 7"/>
          <p:cNvSpPr/>
          <p:nvPr/>
        </p:nvSpPr>
        <p:spPr>
          <a:xfrm>
            <a:off x="914400" y="2898648"/>
            <a:ext cx="384048" cy="384048"/>
          </a:xfrm>
          <a:prstGeom prst="ellipse">
            <a:avLst/>
          </a:prstGeom>
          <a:solidFill>
            <a:srgbClr val="05C489"/>
          </a:solidFill>
          <a:ln/>
        </p:spPr>
      </p:sp>
      <p:sp>
        <p:nvSpPr>
          <p:cNvPr id="10" name="Text 8"/>
          <p:cNvSpPr txBox="1"/>
          <p:nvPr/>
        </p:nvSpPr>
        <p:spPr>
          <a:xfrm>
            <a:off x="914400" y="289864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Plus Jakarta Sans" pitchFamily="34" charset="0"/>
                <a:ea typeface="Segoe UI Semibold" pitchFamily="34" charset="-122"/>
                <a:cs typeface="Segoe UI Semibold" pitchFamily="34" charset="-120"/>
              </a:rPr>
              <a:t>1</a:t>
            </a:r>
            <a:endParaRPr lang="en-US" sz="1200" dirty="0">
              <a:latin typeface="Plus Jakarta Sans"/>
            </a:endParaRPr>
          </a:p>
        </p:txBody>
      </p:sp>
      <p:sp>
        <p:nvSpPr>
          <p:cNvPr id="11" name="Text 9"/>
          <p:cNvSpPr txBox="1"/>
          <p:nvPr/>
        </p:nvSpPr>
        <p:spPr>
          <a:xfrm>
            <a:off x="1463040" y="2880360"/>
            <a:ext cx="4221328" cy="365760"/>
          </a:xfrm>
          <a:prstGeom prst="rect">
            <a:avLst/>
          </a:prstGeom>
          <a:noFill/>
          <a:ln/>
        </p:spPr>
        <p:txBody>
          <a:bodyPr wrap="square" lIns="0" tIns="0" rIns="0" bIns="0" rtlCol="0" anchor="t"/>
          <a:lstStyle/>
          <a:p>
            <a:pPr algn="l" indent="0" marL="0">
              <a:buNone/>
            </a:pPr>
            <a:r>
              <a:rPr lang="en-US" sz="1500" dirty="0">
                <a:solidFill>
                  <a:srgbClr val="05C489"/>
                </a:solidFill>
                <a:latin typeface="Plus Jakarta Sans" pitchFamily="34" charset="0"/>
                <a:ea typeface="Segoe UI Semibold" pitchFamily="34" charset="-122"/>
                <a:cs typeface="Segoe UI Semibold" pitchFamily="34" charset="-120"/>
              </a:rPr>
              <a:t>Washing at home</a:t>
            </a:r>
            <a:endParaRPr lang="en-US" sz="1500" dirty="0">
              <a:latin typeface="Plus Jakarta Sans"/>
            </a:endParaRPr>
          </a:p>
        </p:txBody>
      </p:sp>
      <p:sp>
        <p:nvSpPr>
          <p:cNvPr id="12" name="Text 10"/>
          <p:cNvSpPr txBox="1"/>
          <p:nvPr/>
        </p:nvSpPr>
        <p:spPr>
          <a:xfrm>
            <a:off x="1463040" y="3264408"/>
            <a:ext cx="4221328" cy="548640"/>
          </a:xfrm>
          <a:prstGeom prst="rect">
            <a:avLst/>
          </a:prstGeom>
          <a:noFill/>
          <a:ln/>
        </p:spPr>
        <p:txBody>
          <a:bodyPr wrap="square" lIns="0" tIns="0" rIns="0" bIns="0" rtlCol="0" anchor="t"/>
          <a:lstStyle/>
          <a:p>
            <a:pPr algn="l" indent="0" marL="0">
              <a:buNone/>
            </a:pPr>
            <a:r>
              <a:rPr lang="en-US" sz="1400" dirty="0">
                <a:solidFill>
                  <a:srgbClr val="FFFFFF"/>
                </a:solidFill>
                <a:latin typeface="Plus Jakarta Sans" pitchFamily="34" charset="0"/>
                <a:ea typeface="Segoe UI" pitchFamily="34" charset="-122"/>
                <a:cs typeface="Segoe UI" pitchFamily="34" charset="-120"/>
              </a:rPr>
              <a:t>Soap, the day before or the day of surgery</a:t>
            </a:r>
            <a:endParaRPr lang="en-US" sz="1400" dirty="0">
              <a:latin typeface="Plus Jakarta Sans"/>
            </a:endParaRPr>
          </a:p>
        </p:txBody>
      </p:sp>
      <p:sp>
        <p:nvSpPr>
          <p:cNvPr id="13" name="Shape 11"/>
          <p:cNvSpPr/>
          <p:nvPr/>
        </p:nvSpPr>
        <p:spPr>
          <a:xfrm>
            <a:off x="6233008" y="2606040"/>
            <a:ext cx="5318608" cy="1325880"/>
          </a:xfrm>
          <a:prstGeom prst="roundRect">
            <a:avLst>
              <a:gd name="adj" fmla="val 9655"/>
            </a:avLst>
          </a:prstGeom>
          <a:solidFill>
            <a:srgbClr val="2D2D2D"/>
          </a:solidFill>
          <a:ln/>
        </p:spPr>
      </p:sp>
      <p:sp>
        <p:nvSpPr>
          <p:cNvPr id="14" name="Shape 12"/>
          <p:cNvSpPr/>
          <p:nvPr/>
        </p:nvSpPr>
        <p:spPr>
          <a:xfrm>
            <a:off x="6507328" y="2898648"/>
            <a:ext cx="384048" cy="384048"/>
          </a:xfrm>
          <a:prstGeom prst="ellipse">
            <a:avLst/>
          </a:prstGeom>
          <a:solidFill>
            <a:srgbClr val="05C489"/>
          </a:solidFill>
          <a:ln/>
        </p:spPr>
      </p:sp>
      <p:sp>
        <p:nvSpPr>
          <p:cNvPr id="15" name="Text 13"/>
          <p:cNvSpPr txBox="1"/>
          <p:nvPr/>
        </p:nvSpPr>
        <p:spPr>
          <a:xfrm>
            <a:off x="6507328" y="289864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Plus Jakarta Sans" pitchFamily="34" charset="0"/>
                <a:ea typeface="Segoe UI Semibold" pitchFamily="34" charset="-122"/>
                <a:cs typeface="Segoe UI Semibold" pitchFamily="34" charset="-120"/>
              </a:rPr>
              <a:t>2</a:t>
            </a:r>
            <a:endParaRPr lang="en-US" sz="1200" dirty="0">
              <a:latin typeface="Plus Jakarta Sans"/>
            </a:endParaRPr>
          </a:p>
        </p:txBody>
      </p:sp>
      <p:sp>
        <p:nvSpPr>
          <p:cNvPr id="16" name="Text 14"/>
          <p:cNvSpPr txBox="1"/>
          <p:nvPr/>
        </p:nvSpPr>
        <p:spPr>
          <a:xfrm>
            <a:off x="7055968" y="2880360"/>
            <a:ext cx="4221328" cy="365760"/>
          </a:xfrm>
          <a:prstGeom prst="rect">
            <a:avLst/>
          </a:prstGeom>
          <a:noFill/>
          <a:ln/>
        </p:spPr>
        <p:txBody>
          <a:bodyPr wrap="square" lIns="0" tIns="0" rIns="0" bIns="0" rtlCol="0" anchor="t"/>
          <a:lstStyle/>
          <a:p>
            <a:pPr algn="l" indent="0" marL="0">
              <a:buNone/>
            </a:pPr>
            <a:r>
              <a:rPr lang="en-US" sz="1500" dirty="0">
                <a:solidFill>
                  <a:srgbClr val="05C489"/>
                </a:solidFill>
                <a:latin typeface="Plus Jakarta Sans" pitchFamily="34" charset="0"/>
                <a:ea typeface="Segoe UI Semibold" pitchFamily="34" charset="-122"/>
                <a:cs typeface="Segoe UI Semibold" pitchFamily="34" charset="-120"/>
              </a:rPr>
              <a:t>Skin preparation in theatre</a:t>
            </a:r>
            <a:endParaRPr lang="en-US" sz="1500" dirty="0">
              <a:latin typeface="Plus Jakarta Sans"/>
            </a:endParaRPr>
          </a:p>
        </p:txBody>
      </p:sp>
      <p:sp>
        <p:nvSpPr>
          <p:cNvPr id="17" name="Text 15"/>
          <p:cNvSpPr txBox="1"/>
          <p:nvPr/>
        </p:nvSpPr>
        <p:spPr>
          <a:xfrm>
            <a:off x="7055968" y="3264408"/>
            <a:ext cx="4221328" cy="548640"/>
          </a:xfrm>
          <a:prstGeom prst="rect">
            <a:avLst/>
          </a:prstGeom>
          <a:noFill/>
          <a:ln/>
        </p:spPr>
        <p:txBody>
          <a:bodyPr wrap="square" lIns="0" tIns="0" rIns="0" bIns="0" rtlCol="0" anchor="t"/>
          <a:lstStyle/>
          <a:p>
            <a:pPr algn="l" indent="0" marL="0">
              <a:buNone/>
            </a:pPr>
            <a:r>
              <a:rPr lang="en-US" sz="1400" dirty="0">
                <a:solidFill>
                  <a:srgbClr val="FFFFFF"/>
                </a:solidFill>
                <a:latin typeface="Plus Jakarta Sans" pitchFamily="34" charset="0"/>
                <a:ea typeface="Segoe UI" pitchFamily="34" charset="-122"/>
                <a:cs typeface="Segoe UI" pitchFamily="34" charset="-120"/>
              </a:rPr>
              <a:t>Right product, right site, contact time, fully dry</a:t>
            </a:r>
            <a:endParaRPr lang="en-US" sz="1400" dirty="0">
              <a:latin typeface="Plus Jakarta Sans"/>
            </a:endParaRPr>
          </a:p>
        </p:txBody>
      </p:sp>
      <p:sp>
        <p:nvSpPr>
          <p:cNvPr id="18" name="Shape 16"/>
          <p:cNvSpPr/>
          <p:nvPr/>
        </p:nvSpPr>
        <p:spPr>
          <a:xfrm>
            <a:off x="640080" y="4206240"/>
            <a:ext cx="5318608" cy="1325880"/>
          </a:xfrm>
          <a:prstGeom prst="roundRect">
            <a:avLst>
              <a:gd name="adj" fmla="val 9655"/>
            </a:avLst>
          </a:prstGeom>
          <a:solidFill>
            <a:srgbClr val="2D2D2D"/>
          </a:solidFill>
          <a:ln/>
        </p:spPr>
      </p:sp>
      <p:sp>
        <p:nvSpPr>
          <p:cNvPr id="19" name="Shape 17"/>
          <p:cNvSpPr/>
          <p:nvPr/>
        </p:nvSpPr>
        <p:spPr>
          <a:xfrm>
            <a:off x="914400" y="4498848"/>
            <a:ext cx="384048" cy="384048"/>
          </a:xfrm>
          <a:prstGeom prst="ellipse">
            <a:avLst/>
          </a:prstGeom>
          <a:solidFill>
            <a:srgbClr val="05C489"/>
          </a:solidFill>
          <a:ln/>
        </p:spPr>
      </p:sp>
      <p:sp>
        <p:nvSpPr>
          <p:cNvPr id="20" name="Text 18"/>
          <p:cNvSpPr txBox="1"/>
          <p:nvPr/>
        </p:nvSpPr>
        <p:spPr>
          <a:xfrm>
            <a:off x="914400" y="449884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Plus Jakarta Sans" pitchFamily="34" charset="0"/>
                <a:ea typeface="Segoe UI Semibold" pitchFamily="34" charset="-122"/>
                <a:cs typeface="Segoe UI Semibold" pitchFamily="34" charset="-120"/>
              </a:rPr>
              <a:t>3</a:t>
            </a:r>
            <a:endParaRPr lang="en-US" sz="1200" dirty="0">
              <a:latin typeface="Plus Jakarta Sans"/>
            </a:endParaRPr>
          </a:p>
        </p:txBody>
      </p:sp>
      <p:sp>
        <p:nvSpPr>
          <p:cNvPr id="21" name="Text 19"/>
          <p:cNvSpPr txBox="1"/>
          <p:nvPr/>
        </p:nvSpPr>
        <p:spPr>
          <a:xfrm>
            <a:off x="1463040" y="4480560"/>
            <a:ext cx="4221328" cy="365760"/>
          </a:xfrm>
          <a:prstGeom prst="rect">
            <a:avLst/>
          </a:prstGeom>
          <a:noFill/>
          <a:ln/>
        </p:spPr>
        <p:txBody>
          <a:bodyPr wrap="square" lIns="0" tIns="0" rIns="0" bIns="0" rtlCol="0" anchor="t"/>
          <a:lstStyle/>
          <a:p>
            <a:pPr algn="l" indent="0" marL="0">
              <a:buNone/>
            </a:pPr>
            <a:r>
              <a:rPr lang="en-US" sz="1500" dirty="0">
                <a:solidFill>
                  <a:srgbClr val="05C489"/>
                </a:solidFill>
                <a:latin typeface="Plus Jakarta Sans" pitchFamily="34" charset="0"/>
                <a:ea typeface="Segoe UI Semibold" pitchFamily="34" charset="-122"/>
                <a:cs typeface="Segoe UI Semibold" pitchFamily="34" charset="-120"/>
              </a:rPr>
              <a:t>Hand antisepsis</a:t>
            </a:r>
            <a:endParaRPr lang="en-US" sz="1500" dirty="0">
              <a:latin typeface="Plus Jakarta Sans"/>
            </a:endParaRPr>
          </a:p>
        </p:txBody>
      </p:sp>
      <p:sp>
        <p:nvSpPr>
          <p:cNvPr id="22" name="Text 20"/>
          <p:cNvSpPr txBox="1"/>
          <p:nvPr/>
        </p:nvSpPr>
        <p:spPr>
          <a:xfrm>
            <a:off x="1463040" y="4864608"/>
            <a:ext cx="4221328" cy="548640"/>
          </a:xfrm>
          <a:prstGeom prst="rect">
            <a:avLst/>
          </a:prstGeom>
          <a:noFill/>
          <a:ln/>
        </p:spPr>
        <p:txBody>
          <a:bodyPr wrap="square" lIns="0" tIns="0" rIns="0" bIns="0" rtlCol="0" anchor="t"/>
          <a:lstStyle/>
          <a:p>
            <a:pPr algn="l" indent="0" marL="0">
              <a:buNone/>
            </a:pPr>
            <a:r>
              <a:rPr lang="en-US" sz="1400" dirty="0">
                <a:solidFill>
                  <a:srgbClr val="FFFFFF"/>
                </a:solidFill>
                <a:latin typeface="Plus Jakarta Sans" pitchFamily="34" charset="0"/>
                <a:ea typeface="Segoe UI" pitchFamily="34" charset="-122"/>
                <a:cs typeface="Segoe UI" pitchFamily="34" charset="-120"/>
              </a:rPr>
              <a:t>The team’s hands and forearms</a:t>
            </a:r>
            <a:endParaRPr lang="en-US" sz="1400" dirty="0">
              <a:latin typeface="Plus Jakarta Sans"/>
            </a:endParaRPr>
          </a:p>
        </p:txBody>
      </p:sp>
      <p:sp>
        <p:nvSpPr>
          <p:cNvPr id="23" name="Shape 21"/>
          <p:cNvSpPr/>
          <p:nvPr/>
        </p:nvSpPr>
        <p:spPr>
          <a:xfrm>
            <a:off x="6233008" y="4206240"/>
            <a:ext cx="5318608" cy="1325880"/>
          </a:xfrm>
          <a:prstGeom prst="roundRect">
            <a:avLst>
              <a:gd name="adj" fmla="val 9655"/>
            </a:avLst>
          </a:prstGeom>
          <a:solidFill>
            <a:srgbClr val="2D2D2D"/>
          </a:solidFill>
          <a:ln/>
        </p:spPr>
      </p:sp>
      <p:sp>
        <p:nvSpPr>
          <p:cNvPr id="24" name="Shape 22"/>
          <p:cNvSpPr/>
          <p:nvPr/>
        </p:nvSpPr>
        <p:spPr>
          <a:xfrm>
            <a:off x="6507328" y="4498848"/>
            <a:ext cx="384048" cy="384048"/>
          </a:xfrm>
          <a:prstGeom prst="ellipse">
            <a:avLst/>
          </a:prstGeom>
          <a:solidFill>
            <a:srgbClr val="05C489"/>
          </a:solidFill>
          <a:ln/>
        </p:spPr>
      </p:sp>
      <p:sp>
        <p:nvSpPr>
          <p:cNvPr id="25" name="Text 23"/>
          <p:cNvSpPr txBox="1"/>
          <p:nvPr/>
        </p:nvSpPr>
        <p:spPr>
          <a:xfrm>
            <a:off x="6507328" y="449884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Plus Jakarta Sans" pitchFamily="34" charset="0"/>
                <a:ea typeface="Segoe UI Semibold" pitchFamily="34" charset="-122"/>
                <a:cs typeface="Segoe UI Semibold" pitchFamily="34" charset="-120"/>
              </a:rPr>
              <a:t>4</a:t>
            </a:r>
            <a:endParaRPr lang="en-US" sz="1200" dirty="0">
              <a:latin typeface="Plus Jakarta Sans"/>
            </a:endParaRPr>
          </a:p>
        </p:txBody>
      </p:sp>
      <p:sp>
        <p:nvSpPr>
          <p:cNvPr id="26" name="Text 24"/>
          <p:cNvSpPr txBox="1"/>
          <p:nvPr/>
        </p:nvSpPr>
        <p:spPr>
          <a:xfrm>
            <a:off x="7055968" y="4480560"/>
            <a:ext cx="4221328" cy="365760"/>
          </a:xfrm>
          <a:prstGeom prst="rect">
            <a:avLst/>
          </a:prstGeom>
          <a:noFill/>
          <a:ln/>
        </p:spPr>
        <p:txBody>
          <a:bodyPr wrap="square" lIns="0" tIns="0" rIns="0" bIns="0" rtlCol="0" anchor="t"/>
          <a:lstStyle/>
          <a:p>
            <a:pPr algn="l" indent="0" marL="0">
              <a:buNone/>
            </a:pPr>
            <a:r>
              <a:rPr lang="en-US" sz="1500" dirty="0">
                <a:solidFill>
                  <a:srgbClr val="05C489"/>
                </a:solidFill>
                <a:latin typeface="Plus Jakarta Sans" pitchFamily="34" charset="0"/>
                <a:ea typeface="Segoe UI Semibold" pitchFamily="34" charset="-122"/>
                <a:cs typeface="Segoe UI Semibold" pitchFamily="34" charset="-120"/>
              </a:rPr>
              <a:t>Washout and device preparation</a:t>
            </a:r>
            <a:endParaRPr lang="en-US" sz="1500" dirty="0">
              <a:latin typeface="Plus Jakarta Sans"/>
            </a:endParaRPr>
          </a:p>
        </p:txBody>
      </p:sp>
      <p:sp>
        <p:nvSpPr>
          <p:cNvPr id="27" name="Text 25"/>
          <p:cNvSpPr txBox="1"/>
          <p:nvPr/>
        </p:nvSpPr>
        <p:spPr>
          <a:xfrm>
            <a:off x="7055968" y="4864608"/>
            <a:ext cx="4221328" cy="548640"/>
          </a:xfrm>
          <a:prstGeom prst="rect">
            <a:avLst/>
          </a:prstGeom>
          <a:noFill/>
          <a:ln/>
        </p:spPr>
        <p:txBody>
          <a:bodyPr wrap="square" lIns="0" tIns="0" rIns="0" bIns="0" rtlCol="0" anchor="t"/>
          <a:lstStyle/>
          <a:p>
            <a:pPr algn="l" indent="0" marL="0">
              <a:buNone/>
            </a:pPr>
            <a:r>
              <a:rPr lang="en-US" sz="1400" dirty="0">
                <a:solidFill>
                  <a:srgbClr val="FFFFFF"/>
                </a:solidFill>
                <a:latin typeface="Plus Jakarta Sans" pitchFamily="34" charset="0"/>
                <a:ea typeface="Segoe UI" pitchFamily="34" charset="-122"/>
                <a:cs typeface="Segoe UI" pitchFamily="34" charset="-120"/>
              </a:rPr>
              <a:t>Separate steps, each with its own rules</a:t>
            </a:r>
            <a:endParaRPr lang="en-US" sz="1400" dirty="0">
              <a:latin typeface="Plus Jakarta Sans"/>
            </a:endParaRPr>
          </a:p>
        </p:txBody>
      </p:sp>
      <p:sp>
        <p:nvSpPr>
          <p:cNvPr id="9001" name="replacement-title">
            <a:extLst>
              <a:ext uri="{FF2B5EF4-FFF2-40B4-BE49-F238E27FC236}">
                <a16:creationId xmlns:a16="http://schemas.microsoft.com/office/drawing/2014/main" id="{041A3DC2-528B-4C0D-AAC3-5D8AB7D4C6B9}"/>
              </a:ext>
            </a:extLst>
          </p:cNvPr>
          <p:cNvSpPr>
            <a:spLocks noGrp="1"/>
          </p:cNvSpPr>
          <p:nvPr/>
        </p:nvSpPr>
        <p:spPr>
          <a:xfrm>
            <a:off x="638175" y="752475"/>
            <a:ext cx="10915650" cy="800100"/>
          </a:xfrm>
          <a:prstGeom prst="rect">
            <a:avLst/>
          </a:prstGeom>
          <a:noFill/>
          <a:ln w="0">
            <a:noFill/>
          </a:ln>
        </p:spPr>
        <p:txBody>
          <a:bodyPr anchor="ctr"/>
          <a:lstStyle>
            <a:defPPr>
              <a:defRPr sz="2625" b="1">
                <a:solidFill>
                  <a:srgbClr val="FFFFFF"/>
                </a:solidFill>
                <a:latin typeface="Plus Jakarta Sans"/>
              </a:defRPr>
            </a:defPPr>
            <a:lvl1pPr>
              <a:defRPr sz="2625" b="1">
                <a:solidFill>
                  <a:srgbClr val="FFFFFF"/>
                </a:solidFill>
                <a:latin typeface="Plus Jakarta Sans"/>
              </a:defRPr>
            </a:lvl1pPr>
            <a:lvl2pPr>
              <a:defRPr sz="2625" b="1">
                <a:solidFill>
                  <a:srgbClr val="FFFFFF"/>
                </a:solidFill>
                <a:latin typeface="Plus Jakarta Sans"/>
              </a:defRPr>
            </a:lvl2pPr>
            <a:lvl3pPr>
              <a:defRPr sz="2625" b="1">
                <a:solidFill>
                  <a:srgbClr val="FFFFFF"/>
                </a:solidFill>
                <a:latin typeface="Plus Jakarta Sans"/>
              </a:defRPr>
            </a:lvl3pPr>
            <a:lvl4pPr>
              <a:defRPr sz="2625" b="1">
                <a:solidFill>
                  <a:srgbClr val="FFFFFF"/>
                </a:solidFill>
                <a:latin typeface="Plus Jakarta Sans"/>
              </a:defRPr>
            </a:lvl4pPr>
            <a:lvl5pPr>
              <a:defRPr sz="2625" b="1">
                <a:solidFill>
                  <a:srgbClr val="FFFFFF"/>
                </a:solidFill>
                <a:latin typeface="Plus Jakarta Sans"/>
              </a:defRPr>
            </a:lvl5pPr>
            <a:lvl6pPr>
              <a:defRPr sz="2625" b="1">
                <a:solidFill>
                  <a:srgbClr val="FFFFFF"/>
                </a:solidFill>
                <a:latin typeface="Plus Jakarta Sans"/>
              </a:defRPr>
            </a:lvl6pPr>
            <a:lvl7pPr>
              <a:defRPr sz="2625" b="1">
                <a:solidFill>
                  <a:srgbClr val="FFFFFF"/>
                </a:solidFill>
                <a:latin typeface="Plus Jakarta Sans"/>
              </a:defRPr>
            </a:lvl7pPr>
            <a:lvl8pPr>
              <a:defRPr sz="2625" b="1">
                <a:solidFill>
                  <a:srgbClr val="FFFFFF"/>
                </a:solidFill>
                <a:latin typeface="Plus Jakarta Sans"/>
              </a:defRPr>
            </a:lvl8pPr>
            <a:lvl9pPr>
              <a:defRPr sz="2625" b="1">
                <a:solidFill>
                  <a:srgbClr val="FFFFFF"/>
                </a:solidFill>
                <a:latin typeface="Plus Jakarta Sans"/>
              </a:defRPr>
            </a:lvl9pPr>
          </a:lstStyle>
          <a:p>
            <a:pPr>
              <a:defRPr sz="2625" b="1">
                <a:solidFill>
                  <a:srgbClr val="FFFFFF"/>
                </a:solidFill>
                <a:latin typeface="Plus Jakarta Sans"/>
              </a:defRPr>
            </a:pPr>
            <a:r>
              <a:rPr sz="2625" b="1">
                <a:solidFill>
                  <a:srgbClr val="FFFFFF"/>
                </a:solidFill>
                <a:latin typeface="Plus Jakarta Sans"/>
              </a:rPr>
              <a:t>The fifteen-minute wash question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61616"/>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05C489"/>
                </a:solidFill>
                <a:latin typeface="Plus Jakarta Sans" pitchFamily="34" charset="0"/>
                <a:ea typeface="Segoe UI" pitchFamily="34" charset="-122"/>
                <a:cs typeface="Segoe UI" pitchFamily="34" charset="-120"/>
              </a:rPr>
              <a:t>PREPARATION WITHOUT RITUAL</a:t>
            </a:r>
            <a:endParaRPr lang="en-US" sz="950" dirty="0">
              <a:latin typeface="Plus Jakarta Sans"/>
            </a:endParaRPr>
          </a:p>
        </p:txBody>
      </p:sp>
      <p:sp>
        <p:nvSpPr>
          <p:cNvPr id="3" name="Text 1"/>
          <p:cNvSpPr txBox="1"/>
          <p:nvPr/>
        </p:nvSpPr>
        <p:spPr>
          <a:xfrm>
            <a:off x="6979615" y="384048"/>
            <a:ext cx="4572000" cy="274320"/>
          </a:xfrm>
          <a:prstGeom prst="rect">
            <a:avLst/>
          </a:prstGeom>
          <a:noFill/>
          <a:ln/>
        </p:spPr>
        <p:txBody>
          <a:bodyPr wrap="square" lIns="0" tIns="0" rIns="0" bIns="0" rtlCol="0" anchor="t"/>
          <a:lstStyle/>
          <a:p>
            <a:pPr algn="r" indent="0" marL="0">
              <a:buNone/>
            </a:pPr>
            <a:r>
              <a:rPr lang="en-US" sz="950" spc="100" kern="0" dirty="0">
                <a:solidFill>
                  <a:srgbClr val="BFBFBF"/>
                </a:solidFill>
                <a:latin typeface="Plus Jakarta Sans" pitchFamily="34" charset="0"/>
                <a:ea typeface="Segoe UI" pitchFamily="34" charset="-122"/>
                <a:cs typeface="Segoe UI" pitchFamily="34" charset="-120"/>
              </a:rPr>
              <a:t>20 / 36</a:t>
            </a:r>
            <a:endParaRPr lang="en-US" sz="950" dirty="0">
              <a:latin typeface="Plus Jakarta Sans"/>
            </a:endParaRPr>
          </a:p>
        </p:txBody>
      </p:sp>
      <p:sp>
        <p:nvSpPr>
          <p:cNvPr id="5" name="Text 3"/>
          <p:cNvSpPr txBox="1"/>
          <p:nvPr/>
        </p:nvSpPr>
        <p:spPr>
          <a:xfrm>
            <a:off x="640080" y="6345936"/>
            <a:ext cx="9997135" cy="228600"/>
          </a:xfrm>
          <a:prstGeom prst="rect">
            <a:avLst/>
          </a:prstGeom>
          <a:noFill/>
          <a:ln/>
        </p:spPr>
        <p:txBody>
          <a:bodyPr wrap="square" lIns="0" tIns="0" rIns="0" bIns="0" rtlCol="0" anchor="t"/>
          <a:lstStyle/>
          <a:p>
            <a:pPr algn="l" indent="0" marL="0">
              <a:buNone/>
            </a:pPr>
            <a:r>
              <a:rPr lang="en-US" sz="800" spc="50" kern="0" dirty="0">
                <a:solidFill>
                  <a:srgbClr val="BFBFBF"/>
                </a:solidFill>
                <a:latin typeface="Plus Jakarta Sans" pitchFamily="34" charset="0"/>
                <a:ea typeface="Segoe UI" pitchFamily="34" charset="-122"/>
                <a:cs typeface="Segoe UI" pitchFamily="34" charset="-120"/>
              </a:rPr>
              <a:t>YEUNG13  ·  PREP24  ·  NICE  ·  CHLORA26  ·  BAUS25</a:t>
            </a:r>
            <a:endParaRPr lang="en-US" sz="800" dirty="0">
              <a:latin typeface="Plus Jakarta Sans"/>
            </a:endParaRPr>
          </a:p>
        </p:txBody>
      </p:sp>
      <p:sp>
        <p:nvSpPr>
          <p:cNvPr id="6" name="Text 4"/>
          <p:cNvSpPr txBox="1"/>
          <p:nvPr/>
        </p:nvSpPr>
        <p:spPr>
          <a:xfrm>
            <a:off x="640080" y="5669280"/>
            <a:ext cx="10911535" cy="566928"/>
          </a:xfrm>
          <a:prstGeom prst="rect">
            <a:avLst/>
          </a:prstGeom>
          <a:noFill/>
          <a:ln/>
        </p:spPr>
        <p:txBody>
          <a:bodyPr wrap="square" lIns="0" tIns="0" rIns="0" bIns="0" rtlCol="0" anchor="b"/>
          <a:lstStyle/>
          <a:p>
            <a:pPr algn="l" indent="0" marL="0">
              <a:buNone/>
            </a:pPr>
            <a:r>
              <a:rPr lang="en-US" sz="1200" i="1" dirty="0">
                <a:solidFill>
                  <a:srgbClr val="BFBFBF"/>
                </a:solidFill>
                <a:latin typeface="Plus Jakarta Sans" pitchFamily="34" charset="0"/>
                <a:ea typeface="Segoe UI" pitchFamily="34" charset="-122"/>
                <a:cs typeface="Segoe UI" pitchFamily="34" charset="-120"/>
              </a:rPr>
              <a:t>Yeung 2013: 100 first genitourinary implants, 50 per arm. Skin cultures after preparation, not AUS infections; no timing tested.</a:t>
            </a:r>
            <a:endParaRPr lang="en-US" sz="1200" dirty="0">
              <a:latin typeface="Plus Jakarta Sans"/>
            </a:endParaRPr>
          </a:p>
        </p:txBody>
      </p:sp>
      <p:sp>
        <p:nvSpPr>
          <p:cNvPr id="7" name="Shape 5"/>
          <p:cNvSpPr/>
          <p:nvPr/>
        </p:nvSpPr>
        <p:spPr>
          <a:xfrm>
            <a:off x="640080" y="1783080"/>
            <a:ext cx="6035040" cy="3794760"/>
          </a:xfrm>
          <a:prstGeom prst="roundRect">
            <a:avLst>
              <a:gd name="adj" fmla="val 3373"/>
            </a:avLst>
          </a:prstGeom>
          <a:solidFill>
            <a:srgbClr val="2D2D2D"/>
          </a:solidFill>
          <a:ln/>
        </p:spPr>
      </p:sp>
      <p:sp>
        <p:nvSpPr>
          <p:cNvPr id="8" name="Text 6"/>
          <p:cNvSpPr txBox="1"/>
          <p:nvPr/>
        </p:nvSpPr>
        <p:spPr>
          <a:xfrm>
            <a:off x="960120" y="2057400"/>
            <a:ext cx="5394960" cy="320040"/>
          </a:xfrm>
          <a:prstGeom prst="rect">
            <a:avLst/>
          </a:prstGeom>
          <a:noFill/>
          <a:ln/>
        </p:spPr>
        <p:txBody>
          <a:bodyPr wrap="square" lIns="0" tIns="0" rIns="0" bIns="0" rtlCol="0" anchor="t"/>
          <a:lstStyle/>
          <a:p>
            <a:pPr algn="l" indent="0" marL="0">
              <a:buNone/>
            </a:pPr>
            <a:r>
              <a:rPr lang="en-US" sz="1300" b="1" dirty="0">
                <a:solidFill>
                  <a:srgbClr val="BFBFBF"/>
                </a:solidFill>
                <a:latin typeface="Plus Jakarta Sans" pitchFamily="34" charset="0"/>
                <a:ea typeface="Segoe UI" pitchFamily="34" charset="-122"/>
                <a:cs typeface="Segoe UI" pitchFamily="34" charset="-120"/>
              </a:rPr>
              <a:t>Positive post-preparation skin cultures</a:t>
            </a:r>
            <a:endParaRPr lang="en-US" sz="1300" dirty="0">
              <a:latin typeface="Plus Jakarta Sans"/>
            </a:endParaRPr>
          </a:p>
        </p:txBody>
      </p:sp>
      <p:graphicFrame>
        <p:nvGraphicFramePr>
          <p:cNvPr id="9" name="Chart 0" descr=""/>
          <p:cNvGraphicFramePr/>
          <p:nvPr/>
        </p:nvGraphicFramePr>
        <p:xfrm>
          <a:off x="960120" y="2423160"/>
          <a:ext cx="5394960" cy="3017520"/>
        </p:xfrm>
        <a:graphic xmlns:a="http://schemas.openxmlformats.org/drawingml/2006/main">
          <a:graphicData uri="http://schemas.openxmlformats.org/drawingml/2006/chart">
            <c:chart xmlns:c="http://schemas.openxmlformats.org/drawingml/2006/chart" r:id="rId1"/>
          </a:graphicData>
        </a:graphic>
      </p:graphicFrame>
      <p:sp>
        <p:nvSpPr>
          <p:cNvPr id="10" name="Text 7"/>
          <p:cNvSpPr txBox="1"/>
          <p:nvPr/>
        </p:nvSpPr>
        <p:spPr>
          <a:xfrm>
            <a:off x="7132320" y="1828800"/>
            <a:ext cx="4419295" cy="457200"/>
          </a:xfrm>
          <a:prstGeom prst="rect">
            <a:avLst/>
          </a:prstGeom>
          <a:noFill/>
          <a:ln/>
        </p:spPr>
        <p:txBody>
          <a:bodyPr wrap="square" lIns="0" tIns="0" rIns="0" bIns="0" rtlCol="0" anchor="t"/>
          <a:lstStyle/>
          <a:p>
            <a:pPr algn="l" indent="0" marL="0">
              <a:buNone/>
            </a:pPr>
            <a:r>
              <a:rPr lang="en-US" sz="2000" dirty="0">
                <a:solidFill>
                  <a:srgbClr val="FFFFFF"/>
                </a:solidFill>
                <a:latin typeface="Plus Jakarta Sans" pitchFamily="34" charset="0"/>
                <a:ea typeface="Segoe UI Semibold" pitchFamily="34" charset="-122"/>
                <a:cs typeface="Segoe UI Semibold" pitchFamily="34" charset="-120"/>
              </a:rPr>
              <a:t>A laboratory measure, not infections</a:t>
            </a:r>
            <a:endParaRPr lang="en-US" sz="2000" dirty="0">
              <a:latin typeface="Plus Jakarta Sans"/>
            </a:endParaRPr>
          </a:p>
        </p:txBody>
      </p:sp>
      <p:sp>
        <p:nvSpPr>
          <p:cNvPr id="11" name="Text 8"/>
          <p:cNvSpPr txBox="1"/>
          <p:nvPr/>
        </p:nvSpPr>
        <p:spPr>
          <a:xfrm>
            <a:off x="7132320" y="2468880"/>
            <a:ext cx="4419295" cy="731520"/>
          </a:xfrm>
          <a:prstGeom prst="rect">
            <a:avLst/>
          </a:prstGeom>
          <a:noFill/>
          <a:ln/>
        </p:spPr>
        <p:txBody>
          <a:bodyPr wrap="square" lIns="0" tIns="0" rIns="0" bIns="0" rtlCol="0" anchor="t"/>
          <a:lstStyle/>
          <a:p>
            <a:pPr algn="l" indent="0" marL="0">
              <a:lnSpc>
                <a:spcPct val="115000"/>
              </a:lnSpc>
              <a:buNone/>
            </a:pPr>
            <a:r>
              <a:rPr lang="en-US" sz="1500" dirty="0">
                <a:solidFill>
                  <a:srgbClr val="BFBFBF"/>
                </a:solidFill>
                <a:latin typeface="Plus Jakarta Sans" pitchFamily="34" charset="0"/>
                <a:ea typeface="Segoe UI" pitchFamily="34" charset="-122"/>
                <a:cs typeface="Segoe UI" pitchFamily="34" charset="-120"/>
              </a:rPr>
              <a:t>No study shows fewer AUS infections</a:t>
            </a:r>
            <a:endParaRPr lang="en-US" sz="1500" dirty="0">
              <a:latin typeface="Plus Jakarta Sans"/>
            </a:endParaRPr>
          </a:p>
        </p:txBody>
      </p:sp>
      <p:sp>
        <p:nvSpPr>
          <p:cNvPr id="12" name="Shape 9"/>
          <p:cNvSpPr/>
          <p:nvPr/>
        </p:nvSpPr>
        <p:spPr>
          <a:xfrm>
            <a:off x="7132320" y="3429000"/>
            <a:ext cx="4419295" cy="1188720"/>
          </a:xfrm>
          <a:prstGeom prst="roundRect">
            <a:avLst>
              <a:gd name="adj" fmla="val 10769"/>
            </a:avLst>
          </a:prstGeom>
          <a:solidFill>
            <a:srgbClr val="2D2D2D"/>
          </a:solidFill>
          <a:ln/>
        </p:spPr>
      </p:sp>
      <p:sp>
        <p:nvSpPr>
          <p:cNvPr id="13" name="Text 10"/>
          <p:cNvSpPr txBox="1"/>
          <p:nvPr/>
        </p:nvSpPr>
        <p:spPr>
          <a:xfrm>
            <a:off x="7452360" y="3611880"/>
            <a:ext cx="3779215" cy="822960"/>
          </a:xfrm>
          <a:prstGeom prst="rect">
            <a:avLst/>
          </a:prstGeom>
          <a:noFill/>
          <a:ln/>
        </p:spPr>
        <p:txBody>
          <a:bodyPr wrap="square" lIns="0" tIns="0" rIns="0" bIns="0" rtlCol="0" anchor="t"/>
          <a:lstStyle/>
          <a:p>
            <a:pPr algn="l" indent="0" marL="0">
              <a:lnSpc>
                <a:spcPct val="110000"/>
              </a:lnSpc>
              <a:buNone/>
            </a:pPr>
            <a:r>
              <a:rPr lang="en-US" sz="1500" dirty="0">
                <a:solidFill>
                  <a:srgbClr val="05C489"/>
                </a:solidFill>
                <a:latin typeface="Plus Jakarta Sans" pitchFamily="34" charset="0"/>
                <a:ea typeface="Segoe UI Semibold" pitchFamily="34" charset="-122"/>
                <a:cs typeface="Segoe UI Semibold" pitchFamily="34" charset="-120"/>
              </a:rPr>
              <a:t>The right product, the right site and full drying still matter</a:t>
            </a:r>
            <a:endParaRPr lang="en-US" sz="1500" dirty="0">
              <a:latin typeface="Plus Jakarta Sans"/>
            </a:endParaRPr>
          </a:p>
        </p:txBody>
      </p:sp>
      <p:sp>
        <p:nvSpPr>
          <p:cNvPr id="9001" name="replacement-title">
            <a:extLst>
              <a:ext uri="{FF2B5EF4-FFF2-40B4-BE49-F238E27FC236}">
                <a16:creationId xmlns:a16="http://schemas.microsoft.com/office/drawing/2014/main" id="{22F97CA1-AEA1-4392-90E2-24325544654B}"/>
              </a:ext>
            </a:extLst>
          </p:cNvPr>
          <p:cNvSpPr>
            <a:spLocks noGrp="1"/>
          </p:cNvSpPr>
          <p:nvPr/>
        </p:nvSpPr>
        <p:spPr>
          <a:xfrm>
            <a:off x="638175" y="752475"/>
            <a:ext cx="10915650" cy="800100"/>
          </a:xfrm>
          <a:prstGeom prst="rect">
            <a:avLst/>
          </a:prstGeom>
          <a:noFill/>
          <a:ln w="0">
            <a:noFill/>
          </a:ln>
        </p:spPr>
        <p:txBody>
          <a:bodyPr anchor="ctr"/>
          <a:lstStyle>
            <a:defPPr>
              <a:defRPr sz="2625" b="1">
                <a:solidFill>
                  <a:srgbClr val="FFFFFF"/>
                </a:solidFill>
                <a:latin typeface="Plus Jakarta Sans"/>
              </a:defRPr>
            </a:defPPr>
            <a:lvl1pPr>
              <a:defRPr sz="2625" b="1">
                <a:solidFill>
                  <a:srgbClr val="FFFFFF"/>
                </a:solidFill>
                <a:latin typeface="Plus Jakarta Sans"/>
              </a:defRPr>
            </a:lvl1pPr>
            <a:lvl2pPr>
              <a:defRPr sz="2625" b="1">
                <a:solidFill>
                  <a:srgbClr val="FFFFFF"/>
                </a:solidFill>
                <a:latin typeface="Plus Jakarta Sans"/>
              </a:defRPr>
            </a:lvl2pPr>
            <a:lvl3pPr>
              <a:defRPr sz="2625" b="1">
                <a:solidFill>
                  <a:srgbClr val="FFFFFF"/>
                </a:solidFill>
                <a:latin typeface="Plus Jakarta Sans"/>
              </a:defRPr>
            </a:lvl3pPr>
            <a:lvl4pPr>
              <a:defRPr sz="2625" b="1">
                <a:solidFill>
                  <a:srgbClr val="FFFFFF"/>
                </a:solidFill>
                <a:latin typeface="Plus Jakarta Sans"/>
              </a:defRPr>
            </a:lvl4pPr>
            <a:lvl5pPr>
              <a:defRPr sz="2625" b="1">
                <a:solidFill>
                  <a:srgbClr val="FFFFFF"/>
                </a:solidFill>
                <a:latin typeface="Plus Jakarta Sans"/>
              </a:defRPr>
            </a:lvl5pPr>
            <a:lvl6pPr>
              <a:defRPr sz="2625" b="1">
                <a:solidFill>
                  <a:srgbClr val="FFFFFF"/>
                </a:solidFill>
                <a:latin typeface="Plus Jakarta Sans"/>
              </a:defRPr>
            </a:lvl6pPr>
            <a:lvl7pPr>
              <a:defRPr sz="2625" b="1">
                <a:solidFill>
                  <a:srgbClr val="FFFFFF"/>
                </a:solidFill>
                <a:latin typeface="Plus Jakarta Sans"/>
              </a:defRPr>
            </a:lvl7pPr>
            <a:lvl8pPr>
              <a:defRPr sz="2625" b="1">
                <a:solidFill>
                  <a:srgbClr val="FFFFFF"/>
                </a:solidFill>
                <a:latin typeface="Plus Jakarta Sans"/>
              </a:defRPr>
            </a:lvl8pPr>
            <a:lvl9pPr>
              <a:defRPr sz="2625" b="1">
                <a:solidFill>
                  <a:srgbClr val="FFFFFF"/>
                </a:solidFill>
                <a:latin typeface="Plus Jakarta Sans"/>
              </a:defRPr>
            </a:lvl9pPr>
          </a:lstStyle>
          <a:p>
            <a:pPr>
              <a:defRPr sz="2625" b="1">
                <a:solidFill>
                  <a:srgbClr val="FFFFFF"/>
                </a:solidFill>
                <a:latin typeface="Plus Jakarta Sans"/>
              </a:defRPr>
            </a:pPr>
            <a:r>
              <a:rPr sz="2625" b="1">
                <a:solidFill>
                  <a:srgbClr val="FFFFFF"/>
                </a:solidFill>
                <a:latin typeface="Plus Jakarta Sans"/>
              </a:rPr>
              <a:t>Skin culture reduction and clinical infection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61616"/>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05C489"/>
                </a:solidFill>
                <a:latin typeface="Plus Jakarta Sans" pitchFamily="34" charset="0"/>
                <a:ea typeface="Segoe UI" pitchFamily="34" charset="-122"/>
                <a:cs typeface="Segoe UI" pitchFamily="34" charset="-120"/>
              </a:rPr>
              <a:t>PREPARATION WITHOUT RITUAL</a:t>
            </a:r>
            <a:endParaRPr lang="en-US" sz="950" dirty="0">
              <a:latin typeface="Plus Jakarta Sans"/>
            </a:endParaRPr>
          </a:p>
        </p:txBody>
      </p:sp>
      <p:sp>
        <p:nvSpPr>
          <p:cNvPr id="3" name="Text 1"/>
          <p:cNvSpPr txBox="1"/>
          <p:nvPr/>
        </p:nvSpPr>
        <p:spPr>
          <a:xfrm>
            <a:off x="6979615" y="384048"/>
            <a:ext cx="4572000" cy="274320"/>
          </a:xfrm>
          <a:prstGeom prst="rect">
            <a:avLst/>
          </a:prstGeom>
          <a:noFill/>
          <a:ln/>
        </p:spPr>
        <p:txBody>
          <a:bodyPr wrap="square" lIns="0" tIns="0" rIns="0" bIns="0" rtlCol="0" anchor="t"/>
          <a:lstStyle/>
          <a:p>
            <a:pPr algn="r" indent="0" marL="0">
              <a:buNone/>
            </a:pPr>
            <a:r>
              <a:rPr lang="en-US" sz="950" spc="100" kern="0" dirty="0">
                <a:solidFill>
                  <a:srgbClr val="BFBFBF"/>
                </a:solidFill>
                <a:latin typeface="Plus Jakarta Sans" pitchFamily="34" charset="0"/>
                <a:ea typeface="Segoe UI" pitchFamily="34" charset="-122"/>
                <a:cs typeface="Segoe UI" pitchFamily="34" charset="-120"/>
              </a:rPr>
              <a:t>21 / 36</a:t>
            </a:r>
            <a:endParaRPr lang="en-US" sz="950" dirty="0">
              <a:latin typeface="Plus Jakarta Sans"/>
            </a:endParaRPr>
          </a:p>
        </p:txBody>
      </p:sp>
      <p:sp>
        <p:nvSpPr>
          <p:cNvPr id="5" name="Text 3"/>
          <p:cNvSpPr txBox="1"/>
          <p:nvPr/>
        </p:nvSpPr>
        <p:spPr>
          <a:xfrm>
            <a:off x="640080" y="6345936"/>
            <a:ext cx="9997135" cy="228600"/>
          </a:xfrm>
          <a:prstGeom prst="rect">
            <a:avLst/>
          </a:prstGeom>
          <a:noFill/>
          <a:ln/>
        </p:spPr>
        <p:txBody>
          <a:bodyPr wrap="square" lIns="0" tIns="0" rIns="0" bIns="0" rtlCol="0" anchor="t"/>
          <a:lstStyle/>
          <a:p>
            <a:pPr algn="l" indent="0" marL="0">
              <a:buNone/>
            </a:pPr>
            <a:r>
              <a:rPr lang="en-US" sz="800" spc="50" kern="0" dirty="0">
                <a:solidFill>
                  <a:srgbClr val="BFBFBF"/>
                </a:solidFill>
                <a:latin typeface="Plus Jakarta Sans" pitchFamily="34" charset="0"/>
                <a:ea typeface="Segoe UI" pitchFamily="34" charset="-122"/>
                <a:cs typeface="Segoe UI" pitchFamily="34" charset="-120"/>
              </a:rPr>
              <a:t>IDSA19  ·  BAUS25  ·  AUAABX20  ·  ABX18  ·  CCIFU  ·  AUAABX26</a:t>
            </a:r>
            <a:endParaRPr lang="en-US" sz="800" dirty="0">
              <a:latin typeface="Plus Jakarta Sans"/>
            </a:endParaRPr>
          </a:p>
        </p:txBody>
      </p:sp>
      <p:sp>
        <p:nvSpPr>
          <p:cNvPr id="6" name="Text 4"/>
          <p:cNvSpPr txBox="1"/>
          <p:nvPr/>
        </p:nvSpPr>
        <p:spPr>
          <a:xfrm>
            <a:off x="640080" y="5669280"/>
            <a:ext cx="10911535" cy="566928"/>
          </a:xfrm>
          <a:prstGeom prst="rect">
            <a:avLst/>
          </a:prstGeom>
          <a:noFill/>
          <a:ln/>
        </p:spPr>
        <p:txBody>
          <a:bodyPr wrap="square" lIns="0" tIns="0" rIns="0" bIns="0" rtlCol="0" anchor="b"/>
          <a:lstStyle/>
          <a:p>
            <a:pPr algn="l" indent="0" marL="0">
              <a:buNone/>
            </a:pPr>
            <a:r>
              <a:rPr lang="en-US" sz="1200" i="1" dirty="0">
                <a:solidFill>
                  <a:srgbClr val="BFBFBF"/>
                </a:solidFill>
                <a:latin typeface="Plus Jakarta Sans" pitchFamily="34" charset="0"/>
                <a:ea typeface="Segoe UI" pitchFamily="34" charset="-122"/>
                <a:cs typeface="Segoe UI" pitchFamily="34" charset="-120"/>
              </a:rPr>
              <a:t>A 2026 AUA abstract (IP09-18) covers antibiotics after surgery; results not published. Agree the label with local microbiology policy.</a:t>
            </a:r>
            <a:endParaRPr lang="en-US" sz="1200" dirty="0">
              <a:latin typeface="Plus Jakarta Sans"/>
            </a:endParaRPr>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911535" cy="914400"/>
        </p:xfrm>
        <a:graphic>
          <a:graphicData uri="http://schemas.openxmlformats.org/drawingml/2006/table">
            <a:tbl>
              <a:tblPr/>
              <a:tblGrid>
                <a:gridCol w="3840480"/>
                <a:gridCol w="7071055"/>
              </a:tblGrid>
              <a:tr h="411480">
                <a:tc>
                  <a:txBody>
                    <a:bodyPr/>
                    <a:lstStyle/>
                    <a:p>
                      <a:pPr indent="0" marL="0">
                        <a:buNone/>
                      </a:pPr>
                      <a:r>
                        <a:rPr lang="en-US" sz="1250" b="1" dirty="0">
                          <a:solidFill>
                            <a:srgbClr val="161616"/>
                          </a:solidFill>
                          <a:latin typeface="Plus Jakarta Sans" pitchFamily="34" charset="0"/>
                          <a:ea typeface="Segoe UI Semibold" pitchFamily="34" charset="-122"/>
                          <a:cs typeface="Segoe UI Semibold" pitchFamily="34" charset="-120"/>
                        </a:rPr>
                        <a:t>Question</a:t>
                      </a:r>
                      <a:endParaRPr lang="en-US" sz="1250" dirty="0">
                        <a:solidFill>
                          <a:srgbClr val="161616"/>
                        </a:solidFill>
                        <a:latin typeface="Plus Jakarta Sans" charset="0"/>
                        <a:ea typeface="Segoe UI Semibold" charset="0"/>
                        <a:cs typeface="Segoe UI Semibold" charset="0"/>
                      </a:endParaRPr>
                    </a:p>
                  </a:txBody>
                  <a:tcPr marL="146304" marR="146304" marT="91440" marB="91440"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05C489"/>
                    </a:solidFill>
                  </a:tcPr>
                </a:tc>
                <a:tc>
                  <a:txBody>
                    <a:bodyPr/>
                    <a:lstStyle/>
                    <a:p>
                      <a:pPr indent="0" marL="0">
                        <a:buNone/>
                      </a:pPr>
                      <a:r>
                        <a:rPr lang="en-US" sz="1250" b="1" dirty="0">
                          <a:solidFill>
                            <a:srgbClr val="161616"/>
                          </a:solidFill>
                          <a:latin typeface="Plus Jakarta Sans" pitchFamily="34" charset="0"/>
                          <a:ea typeface="Segoe UI Semibold" pitchFamily="34" charset="-122"/>
                          <a:cs typeface="Segoe UI Semibold" pitchFamily="34" charset="-120"/>
                        </a:rPr>
                        <a:t>Evidence or instruction</a:t>
                      </a:r>
                      <a:endParaRPr lang="en-US" sz="1250" dirty="0">
                        <a:solidFill>
                          <a:srgbClr val="161616"/>
                        </a:solidFill>
                        <a:latin typeface="Plus Jakarta Sans" charset="0"/>
                        <a:ea typeface="Segoe UI Semibold" charset="0"/>
                        <a:cs typeface="Segoe UI Semibold" charset="0"/>
                      </a:endParaRPr>
                    </a:p>
                  </a:txBody>
                  <a:tcPr marL="146304" marR="146304" marT="91440" marB="91440"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05C489"/>
                    </a:solidFill>
                  </a:tcPr>
                </a:tc>
              </a:tr>
              <a:tr h="845820">
                <a:tc>
                  <a:txBody>
                    <a:bodyPr/>
                    <a:lstStyle/>
                    <a:p>
                      <a:pPr indent="0" marL="0">
                        <a:buNone/>
                      </a:pPr>
                      <a:r>
                        <a:rPr lang="en-US" sz="1350" b="1" dirty="0">
                          <a:solidFill>
                            <a:srgbClr val="FFFFFF"/>
                          </a:solidFill>
                          <a:latin typeface="Plus Jakarta Sans" pitchFamily="34" charset="0"/>
                          <a:ea typeface="Segoe UI" pitchFamily="34" charset="-122"/>
                          <a:cs typeface="Segoe UI" pitchFamily="34" charset="-120"/>
                        </a:rPr>
                        <a:t>Symptomatic infection</a:t>
                      </a:r>
                      <a:endParaRPr lang="en-US" sz="1350" dirty="0">
                        <a:solidFill>
                          <a:srgbClr val="FFFFFF"/>
                        </a:solidFill>
                        <a:latin typeface="Plus Jakarta Sans" charset="0"/>
                        <a:ea typeface="Segoe UI" charset="0"/>
                        <a:cs typeface="Segoe UI" charset="0"/>
                      </a:endParaRPr>
                    </a:p>
                  </a:txBody>
                  <a:tcPr marL="146304" marR="146304" marT="109728" marB="109728"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242424"/>
                    </a:solidFill>
                  </a:tcPr>
                </a:tc>
                <a:tc>
                  <a:txBody>
                    <a:bodyPr/>
                    <a:lstStyle/>
                    <a:p>
                      <a:pPr indent="0" marL="0">
                        <a:buNone/>
                      </a:pPr>
                      <a:r>
                        <a:rPr lang="en-US" sz="1350" dirty="0">
                          <a:solidFill>
                            <a:srgbClr val="FFFFFF"/>
                          </a:solidFill>
                          <a:latin typeface="Plus Jakarta Sans" pitchFamily="34" charset="0"/>
                          <a:ea typeface="Segoe UI" pitchFamily="34" charset="-122"/>
                          <a:cs typeface="Segoe UI" pitchFamily="34" charset="-120"/>
                        </a:rPr>
                        <a:t>Treat and reassess before implantation</a:t>
                      </a:r>
                      <a:endParaRPr lang="en-US" sz="1350" dirty="0">
                        <a:solidFill>
                          <a:srgbClr val="FFFFFF"/>
                        </a:solidFill>
                        <a:latin typeface="Plus Jakarta Sans" charset="0"/>
                        <a:ea typeface="Segoe UI" charset="0"/>
                        <a:cs typeface="Segoe UI" charset="0"/>
                      </a:endParaRPr>
                    </a:p>
                  </a:txBody>
                  <a:tcPr marL="146304" marR="146304" marT="109728" marB="109728"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242424"/>
                    </a:solidFill>
                  </a:tcPr>
                </a:tc>
              </a:tr>
              <a:tr h="845820">
                <a:tc>
                  <a:txBody>
                    <a:bodyPr/>
                    <a:lstStyle/>
                    <a:p>
                      <a:pPr indent="0" marL="0">
                        <a:buNone/>
                      </a:pPr>
                      <a:r>
                        <a:rPr lang="en-US" sz="1350" b="1" dirty="0">
                          <a:solidFill>
                            <a:srgbClr val="FFFFFF"/>
                          </a:solidFill>
                          <a:latin typeface="Plus Jakarta Sans" pitchFamily="34" charset="0"/>
                          <a:ea typeface="Segoe UI" pitchFamily="34" charset="-122"/>
                          <a:cs typeface="Segoe UI" pitchFamily="34" charset="-120"/>
                        </a:rPr>
                        <a:t>Asymptomatic bacteriuria</a:t>
                      </a:r>
                      <a:endParaRPr lang="en-US" sz="1350" dirty="0">
                        <a:solidFill>
                          <a:srgbClr val="FFFFFF"/>
                        </a:solidFill>
                        <a:latin typeface="Plus Jakarta Sans" charset="0"/>
                        <a:ea typeface="Segoe UI" charset="0"/>
                        <a:cs typeface="Segoe UI" charset="0"/>
                      </a:endParaRPr>
                    </a:p>
                  </a:txBody>
                  <a:tcPr marL="146304" marR="146304" marT="109728" marB="109728"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2D2D2D"/>
                    </a:solidFill>
                  </a:tcPr>
                </a:tc>
                <a:tc>
                  <a:txBody>
                    <a:bodyPr/>
                    <a:lstStyle/>
                    <a:p>
                      <a:pPr indent="0" marL="0">
                        <a:buNone/>
                      </a:pPr>
                      <a:r>
                        <a:rPr lang="en-US" sz="1350" dirty="0">
                          <a:solidFill>
                            <a:srgbClr val="FFFFFF"/>
                          </a:solidFill>
                          <a:latin typeface="Plus Jakarta Sans" pitchFamily="34" charset="0"/>
                          <a:ea typeface="Segoe UI" pitchFamily="34" charset="-122"/>
                          <a:cs typeface="Segoe UI" pitchFamily="34" charset="-120"/>
                        </a:rPr>
                        <a:t>BAUS says test and treat; IDSA says do not screen or treat for an AUS alone</a:t>
                      </a:r>
                      <a:endParaRPr lang="en-US" sz="1350" dirty="0">
                        <a:solidFill>
                          <a:srgbClr val="FFFFFF"/>
                        </a:solidFill>
                        <a:latin typeface="Plus Jakarta Sans" charset="0"/>
                        <a:ea typeface="Segoe UI" charset="0"/>
                        <a:cs typeface="Segoe UI" charset="0"/>
                      </a:endParaRPr>
                    </a:p>
                  </a:txBody>
                  <a:tcPr marL="146304" marR="146304" marT="109728" marB="109728"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2D2D2D"/>
                    </a:solidFill>
                  </a:tcPr>
                </a:tc>
              </a:tr>
              <a:tr h="845820">
                <a:tc>
                  <a:txBody>
                    <a:bodyPr/>
                    <a:lstStyle/>
                    <a:p>
                      <a:pPr indent="0" marL="0">
                        <a:buNone/>
                      </a:pPr>
                      <a:r>
                        <a:rPr lang="en-US" sz="1350" b="1" dirty="0">
                          <a:solidFill>
                            <a:srgbClr val="FFFFFF"/>
                          </a:solidFill>
                          <a:latin typeface="Plus Jakarta Sans" pitchFamily="34" charset="0"/>
                          <a:ea typeface="Segoe UI" pitchFamily="34" charset="-122"/>
                          <a:cs typeface="Segoe UI" pitchFamily="34" charset="-120"/>
                        </a:rPr>
                        <a:t>Prophylaxis</a:t>
                      </a:r>
                      <a:endParaRPr lang="en-US" sz="1350" dirty="0">
                        <a:solidFill>
                          <a:srgbClr val="FFFFFF"/>
                        </a:solidFill>
                        <a:latin typeface="Plus Jakarta Sans" charset="0"/>
                        <a:ea typeface="Segoe UI" charset="0"/>
                        <a:cs typeface="Segoe UI" charset="0"/>
                      </a:endParaRPr>
                    </a:p>
                  </a:txBody>
                  <a:tcPr marL="146304" marR="146304" marT="109728" marB="109728"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242424"/>
                    </a:solidFill>
                  </a:tcPr>
                </a:tc>
                <a:tc>
                  <a:txBody>
                    <a:bodyPr/>
                    <a:lstStyle/>
                    <a:p>
                      <a:pPr indent="0" marL="0">
                        <a:buNone/>
                      </a:pPr>
                      <a:r>
                        <a:rPr lang="en-US" sz="1350" dirty="0">
                          <a:solidFill>
                            <a:srgbClr val="FFFFFF"/>
                          </a:solidFill>
                          <a:latin typeface="Plus Jakarta Sans" pitchFamily="34" charset="0"/>
                          <a:ea typeface="Segoe UI" pitchFamily="34" charset="-122"/>
                          <a:cs typeface="Segoe UI" pitchFamily="34" charset="-120"/>
                        </a:rPr>
                        <a:t>Give before the incision; repeat the dose if the operation is long</a:t>
                      </a:r>
                      <a:endParaRPr lang="en-US" sz="1350" dirty="0">
                        <a:solidFill>
                          <a:srgbClr val="FFFFFF"/>
                        </a:solidFill>
                        <a:latin typeface="Plus Jakarta Sans" charset="0"/>
                        <a:ea typeface="Segoe UI" charset="0"/>
                        <a:cs typeface="Segoe UI" charset="0"/>
                      </a:endParaRPr>
                    </a:p>
                  </a:txBody>
                  <a:tcPr marL="146304" marR="146304" marT="109728" marB="109728"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242424"/>
                    </a:solidFill>
                  </a:tcPr>
                </a:tc>
              </a:tr>
              <a:tr h="845820">
                <a:tc>
                  <a:txBody>
                    <a:bodyPr/>
                    <a:lstStyle/>
                    <a:p>
                      <a:pPr indent="0" marL="0">
                        <a:buNone/>
                      </a:pPr>
                      <a:r>
                        <a:rPr lang="en-US" sz="1350" b="1" dirty="0">
                          <a:solidFill>
                            <a:srgbClr val="FFFFFF"/>
                          </a:solidFill>
                          <a:latin typeface="Plus Jakarta Sans" pitchFamily="34" charset="0"/>
                          <a:ea typeface="Segoe UI" pitchFamily="34" charset="-122"/>
                          <a:cs typeface="Segoe UI" pitchFamily="34" charset="-120"/>
                        </a:rPr>
                        <a:t>Postoperative antibiotics</a:t>
                      </a:r>
                      <a:endParaRPr lang="en-US" sz="1350" dirty="0">
                        <a:solidFill>
                          <a:srgbClr val="FFFFFF"/>
                        </a:solidFill>
                        <a:latin typeface="Plus Jakarta Sans" charset="0"/>
                        <a:ea typeface="Segoe UI" charset="0"/>
                        <a:cs typeface="Segoe UI" charset="0"/>
                      </a:endParaRPr>
                    </a:p>
                  </a:txBody>
                  <a:tcPr marL="146304" marR="146304" marT="109728" marB="109728"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2D2D2D"/>
                    </a:solidFill>
                  </a:tcPr>
                </a:tc>
                <a:tc>
                  <a:txBody>
                    <a:bodyPr/>
                    <a:lstStyle/>
                    <a:p>
                      <a:pPr indent="0" marL="0">
                        <a:buNone/>
                      </a:pPr>
                      <a:r>
                        <a:rPr lang="en-US" sz="1350" dirty="0">
                          <a:solidFill>
                            <a:srgbClr val="FFFFFF"/>
                          </a:solidFill>
                          <a:latin typeface="Plus Jakarta Sans" pitchFamily="34" charset="0"/>
                          <a:ea typeface="Segoe UI" pitchFamily="34" charset="-122"/>
                          <a:cs typeface="Segoe UI" pitchFamily="34" charset="-120"/>
                        </a:rPr>
                        <a:t>Older observational data show no clear benefit; the ContiClassic label asks for a longer course</a:t>
                      </a:r>
                      <a:endParaRPr lang="en-US" sz="1350" dirty="0">
                        <a:solidFill>
                          <a:srgbClr val="FFFFFF"/>
                        </a:solidFill>
                        <a:latin typeface="Plus Jakarta Sans" charset="0"/>
                        <a:ea typeface="Segoe UI" charset="0"/>
                        <a:cs typeface="Segoe UI" charset="0"/>
                      </a:endParaRPr>
                    </a:p>
                  </a:txBody>
                  <a:tcPr marL="146304" marR="146304" marT="109728" marB="109728"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2D2D2D"/>
                    </a:solidFill>
                  </a:tcPr>
                </a:tc>
              </a:tr>
            </a:tbl>
          </a:graphicData>
        </a:graphic>
      </p:graphicFrame>
      <p:sp>
        <p:nvSpPr>
          <p:cNvPr id="9001" name="replacement-title">
            <a:extLst>
              <a:ext uri="{FF2B5EF4-FFF2-40B4-BE49-F238E27FC236}">
                <a16:creationId xmlns:a16="http://schemas.microsoft.com/office/drawing/2014/main" id="{EC5F33C2-3C21-48C1-B2C5-4D5D149C314C}"/>
              </a:ext>
            </a:extLst>
          </p:cNvPr>
          <p:cNvSpPr>
            <a:spLocks noGrp="1"/>
          </p:cNvSpPr>
          <p:nvPr/>
        </p:nvSpPr>
        <p:spPr>
          <a:xfrm>
            <a:off x="638175" y="752475"/>
            <a:ext cx="10915650" cy="800100"/>
          </a:xfrm>
          <a:prstGeom prst="rect">
            <a:avLst/>
          </a:prstGeom>
          <a:noFill/>
          <a:ln w="0">
            <a:noFill/>
          </a:ln>
        </p:spPr>
        <p:txBody>
          <a:bodyPr anchor="ctr"/>
          <a:lstStyle>
            <a:defPPr>
              <a:defRPr sz="2625" b="1">
                <a:solidFill>
                  <a:srgbClr val="FFFFFF"/>
                </a:solidFill>
                <a:latin typeface="Plus Jakarta Sans"/>
              </a:defRPr>
            </a:defPPr>
            <a:lvl1pPr>
              <a:defRPr sz="2625" b="1">
                <a:solidFill>
                  <a:srgbClr val="FFFFFF"/>
                </a:solidFill>
                <a:latin typeface="Plus Jakarta Sans"/>
              </a:defRPr>
            </a:lvl1pPr>
            <a:lvl2pPr>
              <a:defRPr sz="2625" b="1">
                <a:solidFill>
                  <a:srgbClr val="FFFFFF"/>
                </a:solidFill>
                <a:latin typeface="Plus Jakarta Sans"/>
              </a:defRPr>
            </a:lvl2pPr>
            <a:lvl3pPr>
              <a:defRPr sz="2625" b="1">
                <a:solidFill>
                  <a:srgbClr val="FFFFFF"/>
                </a:solidFill>
                <a:latin typeface="Plus Jakarta Sans"/>
              </a:defRPr>
            </a:lvl3pPr>
            <a:lvl4pPr>
              <a:defRPr sz="2625" b="1">
                <a:solidFill>
                  <a:srgbClr val="FFFFFF"/>
                </a:solidFill>
                <a:latin typeface="Plus Jakarta Sans"/>
              </a:defRPr>
            </a:lvl4pPr>
            <a:lvl5pPr>
              <a:defRPr sz="2625" b="1">
                <a:solidFill>
                  <a:srgbClr val="FFFFFF"/>
                </a:solidFill>
                <a:latin typeface="Plus Jakarta Sans"/>
              </a:defRPr>
            </a:lvl5pPr>
            <a:lvl6pPr>
              <a:defRPr sz="2625" b="1">
                <a:solidFill>
                  <a:srgbClr val="FFFFFF"/>
                </a:solidFill>
                <a:latin typeface="Plus Jakarta Sans"/>
              </a:defRPr>
            </a:lvl6pPr>
            <a:lvl7pPr>
              <a:defRPr sz="2625" b="1">
                <a:solidFill>
                  <a:srgbClr val="FFFFFF"/>
                </a:solidFill>
                <a:latin typeface="Plus Jakarta Sans"/>
              </a:defRPr>
            </a:lvl7pPr>
            <a:lvl8pPr>
              <a:defRPr sz="2625" b="1">
                <a:solidFill>
                  <a:srgbClr val="FFFFFF"/>
                </a:solidFill>
                <a:latin typeface="Plus Jakarta Sans"/>
              </a:defRPr>
            </a:lvl8pPr>
            <a:lvl9pPr>
              <a:defRPr sz="2625" b="1">
                <a:solidFill>
                  <a:srgbClr val="FFFFFF"/>
                </a:solidFill>
                <a:latin typeface="Plus Jakarta Sans"/>
              </a:defRPr>
            </a:lvl9pPr>
          </a:lstStyle>
          <a:p>
            <a:pPr>
              <a:defRPr sz="2625" b="1">
                <a:solidFill>
                  <a:srgbClr val="FFFFFF"/>
                </a:solidFill>
                <a:latin typeface="Plus Jakarta Sans"/>
              </a:defRPr>
            </a:pPr>
            <a:r>
              <a:rPr sz="2625" b="1">
                <a:solidFill>
                  <a:srgbClr val="FFFFFF"/>
                </a:solidFill>
                <a:latin typeface="Plus Jakarta Sans"/>
              </a:rPr>
              <a:t>Urine and antibiotic disagreements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61616"/>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05C489"/>
                </a:solidFill>
                <a:latin typeface="Plus Jakarta Sans" pitchFamily="34" charset="0"/>
                <a:ea typeface="Segoe UI" pitchFamily="34" charset="-122"/>
                <a:cs typeface="Segoe UI" pitchFamily="34" charset="-120"/>
              </a:rPr>
              <a:t>PREPARATION WITHOUT RITUAL</a:t>
            </a:r>
            <a:endParaRPr lang="en-US" sz="950" dirty="0">
              <a:latin typeface="Plus Jakarta Sans"/>
            </a:endParaRPr>
          </a:p>
        </p:txBody>
      </p:sp>
      <p:sp>
        <p:nvSpPr>
          <p:cNvPr id="3" name="Text 1"/>
          <p:cNvSpPr txBox="1"/>
          <p:nvPr/>
        </p:nvSpPr>
        <p:spPr>
          <a:xfrm>
            <a:off x="6979615" y="384048"/>
            <a:ext cx="4572000" cy="274320"/>
          </a:xfrm>
          <a:prstGeom prst="rect">
            <a:avLst/>
          </a:prstGeom>
          <a:noFill/>
          <a:ln/>
        </p:spPr>
        <p:txBody>
          <a:bodyPr wrap="square" lIns="0" tIns="0" rIns="0" bIns="0" rtlCol="0" anchor="t"/>
          <a:lstStyle/>
          <a:p>
            <a:pPr algn="r" indent="0" marL="0">
              <a:buNone/>
            </a:pPr>
            <a:r>
              <a:rPr lang="en-US" sz="950" spc="100" kern="0" dirty="0">
                <a:solidFill>
                  <a:srgbClr val="BFBFBF"/>
                </a:solidFill>
                <a:latin typeface="Plus Jakarta Sans" pitchFamily="34" charset="0"/>
                <a:ea typeface="Segoe UI" pitchFamily="34" charset="-122"/>
                <a:cs typeface="Segoe UI" pitchFamily="34" charset="-120"/>
              </a:rPr>
              <a:t>22 / 36</a:t>
            </a:r>
            <a:endParaRPr lang="en-US" sz="950" dirty="0">
              <a:latin typeface="Plus Jakarta Sans"/>
            </a:endParaRPr>
          </a:p>
        </p:txBody>
      </p:sp>
      <p:sp>
        <p:nvSpPr>
          <p:cNvPr id="5" name="Text 3"/>
          <p:cNvSpPr txBox="1"/>
          <p:nvPr/>
        </p:nvSpPr>
        <p:spPr>
          <a:xfrm>
            <a:off x="640080" y="6345936"/>
            <a:ext cx="9997135" cy="228600"/>
          </a:xfrm>
          <a:prstGeom prst="rect">
            <a:avLst/>
          </a:prstGeom>
          <a:noFill/>
          <a:ln/>
        </p:spPr>
        <p:txBody>
          <a:bodyPr wrap="square" lIns="0" tIns="0" rIns="0" bIns="0" rtlCol="0" anchor="t"/>
          <a:lstStyle/>
          <a:p>
            <a:pPr algn="l" indent="0" marL="0">
              <a:buNone/>
            </a:pPr>
            <a:r>
              <a:rPr lang="en-US" sz="800" spc="50" kern="0" dirty="0">
                <a:solidFill>
                  <a:srgbClr val="BFBFBF"/>
                </a:solidFill>
                <a:latin typeface="Plus Jakarta Sans" pitchFamily="34" charset="0"/>
                <a:ea typeface="Segoe UI" pitchFamily="34" charset="-122"/>
                <a:cs typeface="Segoe UI" pitchFamily="34" charset="-120"/>
              </a:rPr>
              <a:t>TOUCH23  ·  NICE  ·  AP23  ·  CCIFU  ·  IRRIG26</a:t>
            </a:r>
            <a:endParaRPr lang="en-US" sz="800" dirty="0">
              <a:latin typeface="Plus Jakarta Sans"/>
            </a:endParaRPr>
          </a:p>
        </p:txBody>
      </p:sp>
      <p:sp>
        <p:nvSpPr>
          <p:cNvPr id="6" name="Text 4"/>
          <p:cNvSpPr txBox="1"/>
          <p:nvPr/>
        </p:nvSpPr>
        <p:spPr>
          <a:xfrm>
            <a:off x="640080" y="5669280"/>
            <a:ext cx="10911535" cy="566928"/>
          </a:xfrm>
          <a:prstGeom prst="rect">
            <a:avLst/>
          </a:prstGeom>
          <a:noFill/>
          <a:ln/>
        </p:spPr>
        <p:txBody>
          <a:bodyPr wrap="square" lIns="0" tIns="0" rIns="0" bIns="0" rtlCol="0" anchor="b"/>
          <a:lstStyle/>
          <a:p>
            <a:pPr algn="l" indent="0" marL="0">
              <a:buNone/>
            </a:pPr>
            <a:r>
              <a:rPr lang="en-US" sz="1200" i="1" dirty="0">
                <a:solidFill>
                  <a:srgbClr val="BFBFBF"/>
                </a:solidFill>
                <a:latin typeface="Plus Jakarta Sans" pitchFamily="34" charset="0"/>
                <a:ea typeface="Segoe UI" pitchFamily="34" charset="-122"/>
                <a:cs typeface="Segoe UI" pitchFamily="34" charset="-120"/>
              </a:rPr>
              <a:t>2026 AMS 800 cohort: infections 1 in 59 with gentamicin vs 2 in 114 without. Three events prove nothing either way.</a:t>
            </a:r>
            <a:endParaRPr lang="en-US" sz="1200" dirty="0">
              <a:latin typeface="Plus Jakarta Sans"/>
            </a:endParaRPr>
          </a:p>
        </p:txBody>
      </p:sp>
      <p:sp>
        <p:nvSpPr>
          <p:cNvPr id="7" name="Shape 5"/>
          <p:cNvSpPr/>
          <p:nvPr/>
        </p:nvSpPr>
        <p:spPr>
          <a:xfrm>
            <a:off x="640080" y="1828800"/>
            <a:ext cx="457200" cy="457200"/>
          </a:xfrm>
          <a:prstGeom prst="ellipse">
            <a:avLst/>
          </a:prstGeom>
          <a:solidFill>
            <a:srgbClr val="05C489"/>
          </a:solidFill>
          <a:ln/>
        </p:spPr>
      </p:sp>
      <p:sp>
        <p:nvSpPr>
          <p:cNvPr id="8" name="Text 6"/>
          <p:cNvSpPr txBox="1"/>
          <p:nvPr/>
        </p:nvSpPr>
        <p:spPr>
          <a:xfrm>
            <a:off x="640080" y="182880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Plus Jakarta Sans" pitchFamily="34" charset="0"/>
                <a:ea typeface="Segoe UI Semibold" pitchFamily="34" charset="-122"/>
                <a:cs typeface="Segoe UI Semibold" pitchFamily="34" charset="-120"/>
              </a:rPr>
              <a:t>1</a:t>
            </a:r>
            <a:endParaRPr lang="en-US" sz="1300" dirty="0">
              <a:latin typeface="Plus Jakarta Sans"/>
            </a:endParaRPr>
          </a:p>
        </p:txBody>
      </p:sp>
      <p:sp>
        <p:nvSpPr>
          <p:cNvPr id="9" name="Text 7"/>
          <p:cNvSpPr txBox="1"/>
          <p:nvPr/>
        </p:nvSpPr>
        <p:spPr>
          <a:xfrm>
            <a:off x="1325880" y="1828800"/>
            <a:ext cx="10225735" cy="457200"/>
          </a:xfrm>
          <a:prstGeom prst="rect">
            <a:avLst/>
          </a:prstGeom>
          <a:noFill/>
          <a:ln/>
        </p:spPr>
        <p:txBody>
          <a:bodyPr wrap="square" lIns="0" tIns="0" rIns="0" bIns="0" rtlCol="0" anchor="ctr"/>
          <a:lstStyle/>
          <a:p>
            <a:pPr algn="l" indent="0" marL="0">
              <a:buNone/>
            </a:pPr>
            <a:r>
              <a:rPr lang="en-US" sz="1700" dirty="0">
                <a:solidFill>
                  <a:srgbClr val="FFFFFF"/>
                </a:solidFill>
                <a:latin typeface="Plus Jakarta Sans" pitchFamily="34" charset="0"/>
                <a:ea typeface="Segoe UI" pitchFamily="34" charset="-122"/>
                <a:cs typeface="Segoe UI" pitchFamily="34" charset="-120"/>
              </a:rPr>
              <a:t>Protect the implant until the field is ready</a:t>
            </a:r>
            <a:endParaRPr lang="en-US" sz="1700" dirty="0">
              <a:latin typeface="Plus Jakarta Sans"/>
            </a:endParaRPr>
          </a:p>
        </p:txBody>
      </p:sp>
      <p:sp>
        <p:nvSpPr>
          <p:cNvPr id="10" name="Shape 8"/>
          <p:cNvSpPr/>
          <p:nvPr/>
        </p:nvSpPr>
        <p:spPr>
          <a:xfrm>
            <a:off x="1325880" y="2679192"/>
            <a:ext cx="10225735" cy="0"/>
          </a:xfrm>
          <a:prstGeom prst="line">
            <a:avLst/>
          </a:prstGeom>
          <a:noFill/>
          <a:ln w="9525">
            <a:solidFill>
              <a:srgbClr val="3D3D3D"/>
            </a:solidFill>
            <a:prstDash val="solid"/>
          </a:ln>
        </p:spPr>
      </p:sp>
      <p:sp>
        <p:nvSpPr>
          <p:cNvPr id="11" name="Shape 9"/>
          <p:cNvSpPr/>
          <p:nvPr/>
        </p:nvSpPr>
        <p:spPr>
          <a:xfrm>
            <a:off x="640080" y="2697480"/>
            <a:ext cx="457200" cy="457200"/>
          </a:xfrm>
          <a:prstGeom prst="ellipse">
            <a:avLst/>
          </a:prstGeom>
          <a:solidFill>
            <a:srgbClr val="05C489"/>
          </a:solidFill>
          <a:ln/>
        </p:spPr>
      </p:sp>
      <p:sp>
        <p:nvSpPr>
          <p:cNvPr id="12" name="Text 10"/>
          <p:cNvSpPr txBox="1"/>
          <p:nvPr/>
        </p:nvSpPr>
        <p:spPr>
          <a:xfrm>
            <a:off x="640080" y="26974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Plus Jakarta Sans" pitchFamily="34" charset="0"/>
                <a:ea typeface="Segoe UI Semibold" pitchFamily="34" charset="-122"/>
                <a:cs typeface="Segoe UI Semibold" pitchFamily="34" charset="-120"/>
              </a:rPr>
              <a:t>2</a:t>
            </a:r>
            <a:endParaRPr lang="en-US" sz="1300" dirty="0">
              <a:latin typeface="Plus Jakarta Sans"/>
            </a:endParaRPr>
          </a:p>
        </p:txBody>
      </p:sp>
      <p:sp>
        <p:nvSpPr>
          <p:cNvPr id="13" name="Text 11"/>
          <p:cNvSpPr txBox="1"/>
          <p:nvPr/>
        </p:nvSpPr>
        <p:spPr>
          <a:xfrm>
            <a:off x="1325880" y="2697480"/>
            <a:ext cx="10225735" cy="457200"/>
          </a:xfrm>
          <a:prstGeom prst="rect">
            <a:avLst/>
          </a:prstGeom>
          <a:noFill/>
          <a:ln/>
        </p:spPr>
        <p:txBody>
          <a:bodyPr wrap="square" lIns="0" tIns="0" rIns="0" bIns="0" rtlCol="0" anchor="ctr"/>
          <a:lstStyle/>
          <a:p>
            <a:pPr algn="l" indent="0" marL="0">
              <a:buNone/>
            </a:pPr>
            <a:r>
              <a:rPr lang="en-US" sz="1700" dirty="0">
                <a:solidFill>
                  <a:srgbClr val="FFFFFF"/>
                </a:solidFill>
                <a:latin typeface="Plus Jakarta Sans" pitchFamily="34" charset="0"/>
                <a:ea typeface="Segoe UI" pitchFamily="34" charset="-122"/>
                <a:cs typeface="Segoe UI" pitchFamily="34" charset="-120"/>
              </a:rPr>
              <a:t>Limit skin contact and unnecessary handling</a:t>
            </a:r>
            <a:endParaRPr lang="en-US" sz="1700" dirty="0">
              <a:latin typeface="Plus Jakarta Sans"/>
            </a:endParaRPr>
          </a:p>
        </p:txBody>
      </p:sp>
      <p:sp>
        <p:nvSpPr>
          <p:cNvPr id="14" name="Shape 12"/>
          <p:cNvSpPr/>
          <p:nvPr/>
        </p:nvSpPr>
        <p:spPr>
          <a:xfrm>
            <a:off x="1325880" y="3547872"/>
            <a:ext cx="10225735" cy="0"/>
          </a:xfrm>
          <a:prstGeom prst="line">
            <a:avLst/>
          </a:prstGeom>
          <a:noFill/>
          <a:ln w="9525">
            <a:solidFill>
              <a:srgbClr val="3D3D3D"/>
            </a:solidFill>
            <a:prstDash val="solid"/>
          </a:ln>
        </p:spPr>
      </p:sp>
      <p:sp>
        <p:nvSpPr>
          <p:cNvPr id="15" name="Shape 13"/>
          <p:cNvSpPr/>
          <p:nvPr/>
        </p:nvSpPr>
        <p:spPr>
          <a:xfrm>
            <a:off x="640080" y="3566160"/>
            <a:ext cx="457200" cy="457200"/>
          </a:xfrm>
          <a:prstGeom prst="ellipse">
            <a:avLst/>
          </a:prstGeom>
          <a:solidFill>
            <a:srgbClr val="05C489"/>
          </a:solidFill>
          <a:ln/>
        </p:spPr>
      </p:sp>
      <p:sp>
        <p:nvSpPr>
          <p:cNvPr id="16" name="Text 14"/>
          <p:cNvSpPr txBox="1"/>
          <p:nvPr/>
        </p:nvSpPr>
        <p:spPr>
          <a:xfrm>
            <a:off x="640080" y="356616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Plus Jakarta Sans" pitchFamily="34" charset="0"/>
                <a:ea typeface="Segoe UI Semibold" pitchFamily="34" charset="-122"/>
                <a:cs typeface="Segoe UI Semibold" pitchFamily="34" charset="-120"/>
              </a:rPr>
              <a:t>3</a:t>
            </a:r>
            <a:endParaRPr lang="en-US" sz="1300" dirty="0">
              <a:latin typeface="Plus Jakarta Sans"/>
            </a:endParaRPr>
          </a:p>
        </p:txBody>
      </p:sp>
      <p:sp>
        <p:nvSpPr>
          <p:cNvPr id="17" name="Text 15"/>
          <p:cNvSpPr txBox="1"/>
          <p:nvPr/>
        </p:nvSpPr>
        <p:spPr>
          <a:xfrm>
            <a:off x="1325880" y="3566160"/>
            <a:ext cx="10225735" cy="457200"/>
          </a:xfrm>
          <a:prstGeom prst="rect">
            <a:avLst/>
          </a:prstGeom>
          <a:noFill/>
          <a:ln/>
        </p:spPr>
        <p:txBody>
          <a:bodyPr wrap="square" lIns="0" tIns="0" rIns="0" bIns="0" rtlCol="0" anchor="ctr"/>
          <a:lstStyle/>
          <a:p>
            <a:pPr algn="l" indent="0" marL="0">
              <a:buNone/>
            </a:pPr>
            <a:r>
              <a:rPr lang="en-US" sz="1700" dirty="0">
                <a:solidFill>
                  <a:srgbClr val="FFFFFF"/>
                </a:solidFill>
                <a:latin typeface="Plus Jakarta Sans" pitchFamily="34" charset="0"/>
                <a:ea typeface="Segoe UI" pitchFamily="34" charset="-122"/>
                <a:cs typeface="Segoe UI" pitchFamily="34" charset="-120"/>
              </a:rPr>
              <a:t>Fresh sterile gloves before touching the device, and a pause to check</a:t>
            </a:r>
            <a:endParaRPr lang="en-US" sz="1700" dirty="0">
              <a:latin typeface="Plus Jakarta Sans"/>
            </a:endParaRPr>
          </a:p>
        </p:txBody>
      </p:sp>
      <p:sp>
        <p:nvSpPr>
          <p:cNvPr id="18" name="Shape 16"/>
          <p:cNvSpPr/>
          <p:nvPr/>
        </p:nvSpPr>
        <p:spPr>
          <a:xfrm>
            <a:off x="1325880" y="4416552"/>
            <a:ext cx="10225735" cy="0"/>
          </a:xfrm>
          <a:prstGeom prst="line">
            <a:avLst/>
          </a:prstGeom>
          <a:noFill/>
          <a:ln w="9525">
            <a:solidFill>
              <a:srgbClr val="3D3D3D"/>
            </a:solidFill>
            <a:prstDash val="solid"/>
          </a:ln>
        </p:spPr>
      </p:sp>
      <p:sp>
        <p:nvSpPr>
          <p:cNvPr id="19" name="Shape 17"/>
          <p:cNvSpPr/>
          <p:nvPr/>
        </p:nvSpPr>
        <p:spPr>
          <a:xfrm>
            <a:off x="640080" y="4434840"/>
            <a:ext cx="457200" cy="457200"/>
          </a:xfrm>
          <a:prstGeom prst="ellipse">
            <a:avLst/>
          </a:prstGeom>
          <a:solidFill>
            <a:srgbClr val="05C489"/>
          </a:solidFill>
          <a:ln/>
        </p:spPr>
      </p:sp>
      <p:sp>
        <p:nvSpPr>
          <p:cNvPr id="20" name="Text 18"/>
          <p:cNvSpPr txBox="1"/>
          <p:nvPr/>
        </p:nvSpPr>
        <p:spPr>
          <a:xfrm>
            <a:off x="640080" y="443484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Plus Jakarta Sans" pitchFamily="34" charset="0"/>
                <a:ea typeface="Segoe UI Semibold" pitchFamily="34" charset="-122"/>
                <a:cs typeface="Segoe UI Semibold" pitchFamily="34" charset="-120"/>
              </a:rPr>
              <a:t>4</a:t>
            </a:r>
            <a:endParaRPr lang="en-US" sz="1300" dirty="0">
              <a:latin typeface="Plus Jakarta Sans"/>
            </a:endParaRPr>
          </a:p>
        </p:txBody>
      </p:sp>
      <p:sp>
        <p:nvSpPr>
          <p:cNvPr id="21" name="Text 19"/>
          <p:cNvSpPr txBox="1"/>
          <p:nvPr/>
        </p:nvSpPr>
        <p:spPr>
          <a:xfrm>
            <a:off x="1325880" y="4434840"/>
            <a:ext cx="10225735" cy="457200"/>
          </a:xfrm>
          <a:prstGeom prst="rect">
            <a:avLst/>
          </a:prstGeom>
          <a:noFill/>
          <a:ln/>
        </p:spPr>
        <p:txBody>
          <a:bodyPr wrap="square" lIns="0" tIns="0" rIns="0" bIns="0" rtlCol="0" anchor="ctr"/>
          <a:lstStyle/>
          <a:p>
            <a:pPr algn="l" indent="0" marL="0">
              <a:buNone/>
            </a:pPr>
            <a:r>
              <a:rPr lang="en-US" sz="1700" dirty="0">
                <a:solidFill>
                  <a:srgbClr val="FFFFFF"/>
                </a:solidFill>
                <a:latin typeface="Plus Jakarta Sans" pitchFamily="34" charset="0"/>
                <a:ea typeface="Segoe UI" pitchFamily="34" charset="-122"/>
                <a:cs typeface="Segoe UI" pitchFamily="34" charset="-120"/>
              </a:rPr>
              <a:t>Keep washout, device dipping and device filling separate</a:t>
            </a:r>
            <a:endParaRPr lang="en-US" sz="1700" dirty="0">
              <a:latin typeface="Plus Jakarta Sans"/>
            </a:endParaRPr>
          </a:p>
        </p:txBody>
      </p:sp>
      <p:sp>
        <p:nvSpPr>
          <p:cNvPr id="9001" name="replacement-title">
            <a:extLst>
              <a:ext uri="{FF2B5EF4-FFF2-40B4-BE49-F238E27FC236}">
                <a16:creationId xmlns:a16="http://schemas.microsoft.com/office/drawing/2014/main" id="{1B44E308-90C5-4503-A87F-5F39DEDCCCA9}"/>
              </a:ext>
            </a:extLst>
          </p:cNvPr>
          <p:cNvSpPr>
            <a:spLocks noGrp="1"/>
          </p:cNvSpPr>
          <p:nvPr/>
        </p:nvSpPr>
        <p:spPr>
          <a:xfrm>
            <a:off x="638175" y="752475"/>
            <a:ext cx="10915650" cy="800100"/>
          </a:xfrm>
          <a:prstGeom prst="rect">
            <a:avLst/>
          </a:prstGeom>
          <a:noFill/>
          <a:ln w="0">
            <a:noFill/>
          </a:ln>
        </p:spPr>
        <p:txBody>
          <a:bodyPr anchor="ctr"/>
          <a:lstStyle>
            <a:defPPr>
              <a:defRPr sz="2625" b="1">
                <a:solidFill>
                  <a:srgbClr val="FFFFFF"/>
                </a:solidFill>
                <a:latin typeface="Plus Jakarta Sans"/>
              </a:defRPr>
            </a:defPPr>
            <a:lvl1pPr>
              <a:defRPr sz="2625" b="1">
                <a:solidFill>
                  <a:srgbClr val="FFFFFF"/>
                </a:solidFill>
                <a:latin typeface="Plus Jakarta Sans"/>
              </a:defRPr>
            </a:lvl1pPr>
            <a:lvl2pPr>
              <a:defRPr sz="2625" b="1">
                <a:solidFill>
                  <a:srgbClr val="FFFFFF"/>
                </a:solidFill>
                <a:latin typeface="Plus Jakarta Sans"/>
              </a:defRPr>
            </a:lvl2pPr>
            <a:lvl3pPr>
              <a:defRPr sz="2625" b="1">
                <a:solidFill>
                  <a:srgbClr val="FFFFFF"/>
                </a:solidFill>
                <a:latin typeface="Plus Jakarta Sans"/>
              </a:defRPr>
            </a:lvl3pPr>
            <a:lvl4pPr>
              <a:defRPr sz="2625" b="1">
                <a:solidFill>
                  <a:srgbClr val="FFFFFF"/>
                </a:solidFill>
                <a:latin typeface="Plus Jakarta Sans"/>
              </a:defRPr>
            </a:lvl4pPr>
            <a:lvl5pPr>
              <a:defRPr sz="2625" b="1">
                <a:solidFill>
                  <a:srgbClr val="FFFFFF"/>
                </a:solidFill>
                <a:latin typeface="Plus Jakarta Sans"/>
              </a:defRPr>
            </a:lvl5pPr>
            <a:lvl6pPr>
              <a:defRPr sz="2625" b="1">
                <a:solidFill>
                  <a:srgbClr val="FFFFFF"/>
                </a:solidFill>
                <a:latin typeface="Plus Jakarta Sans"/>
              </a:defRPr>
            </a:lvl6pPr>
            <a:lvl7pPr>
              <a:defRPr sz="2625" b="1">
                <a:solidFill>
                  <a:srgbClr val="FFFFFF"/>
                </a:solidFill>
                <a:latin typeface="Plus Jakarta Sans"/>
              </a:defRPr>
            </a:lvl7pPr>
            <a:lvl8pPr>
              <a:defRPr sz="2625" b="1">
                <a:solidFill>
                  <a:srgbClr val="FFFFFF"/>
                </a:solidFill>
                <a:latin typeface="Plus Jakarta Sans"/>
              </a:defRPr>
            </a:lvl8pPr>
            <a:lvl9pPr>
              <a:defRPr sz="2625" b="1">
                <a:solidFill>
                  <a:srgbClr val="FFFFFF"/>
                </a:solidFill>
                <a:latin typeface="Plus Jakarta Sans"/>
              </a:defRPr>
            </a:lvl9pPr>
          </a:lstStyle>
          <a:p>
            <a:pPr>
              <a:defRPr sz="2625" b="1">
                <a:solidFill>
                  <a:srgbClr val="FFFFFF"/>
                </a:solidFill>
                <a:latin typeface="Plus Jakarta Sans"/>
              </a:defRPr>
            </a:pPr>
            <a:r>
              <a:rPr sz="2625" b="1">
                <a:solidFill>
                  <a:srgbClr val="FFFFFF"/>
                </a:solidFill>
                <a:latin typeface="Plus Jakarta Sans"/>
              </a:rPr>
              <a:t>Contamination control during implantation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61616"/>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05C489"/>
                </a:solidFill>
                <a:latin typeface="Plus Jakarta Sans" pitchFamily="34" charset="0"/>
                <a:ea typeface="Segoe UI" pitchFamily="34" charset="-122"/>
                <a:cs typeface="Segoe UI" pitchFamily="34" charset="-120"/>
              </a:rPr>
              <a:t>PREPARATION WITHOUT RITUAL</a:t>
            </a:r>
            <a:endParaRPr lang="en-US" sz="950" dirty="0">
              <a:latin typeface="Plus Jakarta Sans"/>
            </a:endParaRPr>
          </a:p>
        </p:txBody>
      </p:sp>
      <p:sp>
        <p:nvSpPr>
          <p:cNvPr id="3" name="Text 1"/>
          <p:cNvSpPr txBox="1"/>
          <p:nvPr/>
        </p:nvSpPr>
        <p:spPr>
          <a:xfrm>
            <a:off x="6979615" y="384048"/>
            <a:ext cx="4572000" cy="274320"/>
          </a:xfrm>
          <a:prstGeom prst="rect">
            <a:avLst/>
          </a:prstGeom>
          <a:noFill/>
          <a:ln/>
        </p:spPr>
        <p:txBody>
          <a:bodyPr wrap="square" lIns="0" tIns="0" rIns="0" bIns="0" rtlCol="0" anchor="t"/>
          <a:lstStyle/>
          <a:p>
            <a:pPr algn="r" indent="0" marL="0">
              <a:buNone/>
            </a:pPr>
            <a:r>
              <a:rPr lang="en-US" sz="950" spc="100" kern="0" dirty="0">
                <a:solidFill>
                  <a:srgbClr val="BFBFBF"/>
                </a:solidFill>
                <a:latin typeface="Plus Jakarta Sans" pitchFamily="34" charset="0"/>
                <a:ea typeface="Segoe UI" pitchFamily="34" charset="-122"/>
                <a:cs typeface="Segoe UI" pitchFamily="34" charset="-120"/>
              </a:rPr>
              <a:t>23 / 36</a:t>
            </a:r>
            <a:endParaRPr lang="en-US" sz="950" dirty="0">
              <a:latin typeface="Plus Jakarta Sans"/>
            </a:endParaRPr>
          </a:p>
        </p:txBody>
      </p:sp>
      <p:sp>
        <p:nvSpPr>
          <p:cNvPr id="5" name="Text 3"/>
          <p:cNvSpPr txBox="1"/>
          <p:nvPr/>
        </p:nvSpPr>
        <p:spPr>
          <a:xfrm>
            <a:off x="640080" y="6345936"/>
            <a:ext cx="9997135" cy="228600"/>
          </a:xfrm>
          <a:prstGeom prst="rect">
            <a:avLst/>
          </a:prstGeom>
          <a:noFill/>
          <a:ln/>
        </p:spPr>
        <p:txBody>
          <a:bodyPr wrap="square" lIns="0" tIns="0" rIns="0" bIns="0" rtlCol="0" anchor="t"/>
          <a:lstStyle/>
          <a:p>
            <a:pPr algn="l" indent="0" marL="0">
              <a:buNone/>
            </a:pPr>
            <a:r>
              <a:rPr lang="en-US" sz="800" spc="50" kern="0" dirty="0">
                <a:solidFill>
                  <a:srgbClr val="BFBFBF"/>
                </a:solidFill>
                <a:latin typeface="Plus Jakarta Sans" pitchFamily="34" charset="0"/>
                <a:ea typeface="Segoe UI" pitchFamily="34" charset="-122"/>
                <a:cs typeface="Segoe UI" pitchFamily="34" charset="-120"/>
              </a:rPr>
              <a:t>NICE  ·  BAUS25  ·  CCIFU  ·  AUAABX20  ·  IRRIG26</a:t>
            </a:r>
            <a:endParaRPr lang="en-US" sz="800" dirty="0">
              <a:latin typeface="Plus Jakarta Sans"/>
            </a:endParaRPr>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911535" cy="914400"/>
        </p:xfrm>
        <a:graphic>
          <a:graphicData uri="http://schemas.openxmlformats.org/drawingml/2006/table">
            <a:tbl>
              <a:tblPr/>
              <a:tblGrid>
                <a:gridCol w="3840480"/>
                <a:gridCol w="7071055"/>
              </a:tblGrid>
              <a:tr h="411480">
                <a:tc>
                  <a:txBody>
                    <a:bodyPr/>
                    <a:lstStyle/>
                    <a:p>
                      <a:pPr indent="0" marL="0">
                        <a:buNone/>
                      </a:pPr>
                      <a:r>
                        <a:rPr lang="en-US" sz="1250" b="1" dirty="0">
                          <a:solidFill>
                            <a:srgbClr val="161616"/>
                          </a:solidFill>
                          <a:latin typeface="Plus Jakarta Sans" pitchFamily="34" charset="0"/>
                          <a:ea typeface="Segoe UI Semibold" pitchFamily="34" charset="-122"/>
                          <a:cs typeface="Segoe UI Semibold" pitchFamily="34" charset="-120"/>
                        </a:rPr>
                        <a:t>Check</a:t>
                      </a:r>
                      <a:endParaRPr lang="en-US" sz="1250" dirty="0">
                        <a:solidFill>
                          <a:srgbClr val="161616"/>
                        </a:solidFill>
                        <a:latin typeface="Plus Jakarta Sans" charset="0"/>
                        <a:ea typeface="Segoe UI Semibold" charset="0"/>
                        <a:cs typeface="Segoe UI Semibold" charset="0"/>
                      </a:endParaRPr>
                    </a:p>
                  </a:txBody>
                  <a:tcPr marL="146304" marR="146304" marT="91440" marB="91440"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05C489"/>
                    </a:solidFill>
                  </a:tcPr>
                </a:tc>
                <a:tc>
                  <a:txBody>
                    <a:bodyPr/>
                    <a:lstStyle/>
                    <a:p>
                      <a:pPr indent="0" marL="0">
                        <a:buNone/>
                      </a:pPr>
                      <a:r>
                        <a:rPr lang="en-US" sz="1250" b="1" dirty="0">
                          <a:solidFill>
                            <a:srgbClr val="161616"/>
                          </a:solidFill>
                          <a:latin typeface="Plus Jakarta Sans" pitchFamily="34" charset="0"/>
                          <a:ea typeface="Segoe UI Semibold" pitchFamily="34" charset="-122"/>
                          <a:cs typeface="Segoe UI Semibold" pitchFamily="34" charset="-120"/>
                        </a:rPr>
                        <a:t>Basis</a:t>
                      </a:r>
                      <a:endParaRPr lang="en-US" sz="1250" dirty="0">
                        <a:solidFill>
                          <a:srgbClr val="161616"/>
                        </a:solidFill>
                        <a:latin typeface="Plus Jakarta Sans" charset="0"/>
                        <a:ea typeface="Segoe UI Semibold" charset="0"/>
                        <a:cs typeface="Segoe UI Semibold" charset="0"/>
                      </a:endParaRPr>
                    </a:p>
                  </a:txBody>
                  <a:tcPr marL="146304" marR="146304" marT="91440" marB="91440"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05C489"/>
                    </a:solidFill>
                  </a:tcPr>
                </a:tc>
              </a:tr>
              <a:tr h="676656">
                <a:tc>
                  <a:txBody>
                    <a:bodyPr/>
                    <a:lstStyle/>
                    <a:p>
                      <a:pPr indent="0" marL="0">
                        <a:buNone/>
                      </a:pPr>
                      <a:r>
                        <a:rPr lang="en-US" sz="1350" b="1" dirty="0">
                          <a:solidFill>
                            <a:srgbClr val="FFFFFF"/>
                          </a:solidFill>
                          <a:latin typeface="Plus Jakarta Sans" pitchFamily="34" charset="0"/>
                          <a:ea typeface="Segoe UI" pitchFamily="34" charset="-122"/>
                          <a:cs typeface="Segoe UI" pitchFamily="34" charset="-120"/>
                        </a:rPr>
                        <a:t>Indication, infection review, prophylaxis and asepsis</a:t>
                      </a:r>
                      <a:endParaRPr lang="en-US" sz="1350" dirty="0">
                        <a:solidFill>
                          <a:srgbClr val="FFFFFF"/>
                        </a:solidFill>
                        <a:latin typeface="Plus Jakarta Sans" charset="0"/>
                        <a:ea typeface="Segoe UI" charset="0"/>
                        <a:cs typeface="Segoe UI" charset="0"/>
                      </a:endParaRPr>
                    </a:p>
                  </a:txBody>
                  <a:tcPr marL="146304" marR="146304" marT="109728" marB="109728"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242424"/>
                    </a:solidFill>
                  </a:tcPr>
                </a:tc>
                <a:tc>
                  <a:txBody>
                    <a:bodyPr/>
                    <a:lstStyle/>
                    <a:p>
                      <a:pPr indent="0" marL="0">
                        <a:buNone/>
                      </a:pPr>
                      <a:r>
                        <a:rPr lang="en-US" sz="1350" dirty="0">
                          <a:solidFill>
                            <a:srgbClr val="FFFFFF"/>
                          </a:solidFill>
                          <a:latin typeface="Plus Jakarta Sans" pitchFamily="34" charset="0"/>
                          <a:ea typeface="Segoe UI" pitchFamily="34" charset="-122"/>
                          <a:cs typeface="Segoe UI" pitchFamily="34" charset="-120"/>
                        </a:rPr>
                        <a:t>Guidance-supported</a:t>
                      </a:r>
                      <a:endParaRPr lang="en-US" sz="1350" dirty="0">
                        <a:solidFill>
                          <a:srgbClr val="FFFFFF"/>
                        </a:solidFill>
                        <a:latin typeface="Plus Jakarta Sans" charset="0"/>
                        <a:ea typeface="Segoe UI" charset="0"/>
                        <a:cs typeface="Segoe UI" charset="0"/>
                      </a:endParaRPr>
                    </a:p>
                  </a:txBody>
                  <a:tcPr marL="146304" marR="146304" marT="109728" marB="109728"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242424"/>
                    </a:solidFill>
                  </a:tcPr>
                </a:tc>
              </a:tr>
              <a:tr h="676656">
                <a:tc>
                  <a:txBody>
                    <a:bodyPr/>
                    <a:lstStyle/>
                    <a:p>
                      <a:pPr indent="0" marL="0">
                        <a:buNone/>
                      </a:pPr>
                      <a:r>
                        <a:rPr lang="en-US" sz="1350" b="1" dirty="0">
                          <a:solidFill>
                            <a:srgbClr val="FFFFFF"/>
                          </a:solidFill>
                          <a:latin typeface="Plus Jakarta Sans" pitchFamily="34" charset="0"/>
                          <a:ea typeface="Segoe UI" pitchFamily="34" charset="-122"/>
                          <a:cs typeface="Segoe UI" pitchFamily="34" charset="-120"/>
                        </a:rPr>
                        <a:t>Antiseptic, drying, antibiotic choice and redosing</a:t>
                      </a:r>
                      <a:endParaRPr lang="en-US" sz="1350" dirty="0">
                        <a:solidFill>
                          <a:srgbClr val="FFFFFF"/>
                        </a:solidFill>
                        <a:latin typeface="Plus Jakarta Sans" charset="0"/>
                        <a:ea typeface="Segoe UI" charset="0"/>
                        <a:cs typeface="Segoe UI" charset="0"/>
                      </a:endParaRPr>
                    </a:p>
                  </a:txBody>
                  <a:tcPr marL="146304" marR="146304" marT="109728" marB="109728"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2D2D2D"/>
                    </a:solidFill>
                  </a:tcPr>
                </a:tc>
                <a:tc>
                  <a:txBody>
                    <a:bodyPr/>
                    <a:lstStyle/>
                    <a:p>
                      <a:pPr indent="0" marL="0">
                        <a:buNone/>
                      </a:pPr>
                      <a:r>
                        <a:rPr lang="en-US" sz="1350" dirty="0">
                          <a:solidFill>
                            <a:srgbClr val="FFFFFF"/>
                          </a:solidFill>
                          <a:latin typeface="Plus Jakarta Sans" pitchFamily="34" charset="0"/>
                          <a:ea typeface="Segoe UI" pitchFamily="34" charset="-122"/>
                          <a:cs typeface="Segoe UI" pitchFamily="34" charset="-120"/>
                        </a:rPr>
                        <a:t>Product and local policy</a:t>
                      </a:r>
                      <a:endParaRPr lang="en-US" sz="1350" dirty="0">
                        <a:solidFill>
                          <a:srgbClr val="FFFFFF"/>
                        </a:solidFill>
                        <a:latin typeface="Plus Jakarta Sans" charset="0"/>
                        <a:ea typeface="Segoe UI" charset="0"/>
                        <a:cs typeface="Segoe UI" charset="0"/>
                      </a:endParaRPr>
                    </a:p>
                  </a:txBody>
                  <a:tcPr marL="146304" marR="146304" marT="109728" marB="109728"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2D2D2D"/>
                    </a:solidFill>
                  </a:tcPr>
                </a:tc>
              </a:tr>
              <a:tr h="676656">
                <a:tc>
                  <a:txBody>
                    <a:bodyPr/>
                    <a:lstStyle/>
                    <a:p>
                      <a:pPr indent="0" marL="0">
                        <a:buNone/>
                      </a:pPr>
                      <a:r>
                        <a:rPr lang="en-US" sz="1350" b="1" dirty="0">
                          <a:solidFill>
                            <a:srgbClr val="FFFFFF"/>
                          </a:solidFill>
                          <a:latin typeface="Plus Jakarta Sans" pitchFamily="34" charset="0"/>
                          <a:ea typeface="Segoe UI" pitchFamily="34" charset="-122"/>
                          <a:cs typeface="Segoe UI" pitchFamily="34" charset="-120"/>
                        </a:rPr>
                        <a:t>Model, sizes, pressure, preparation and drainage</a:t>
                      </a:r>
                      <a:endParaRPr lang="en-US" sz="1350" dirty="0">
                        <a:solidFill>
                          <a:srgbClr val="FFFFFF"/>
                        </a:solidFill>
                        <a:latin typeface="Plus Jakarta Sans" charset="0"/>
                        <a:ea typeface="Segoe UI" charset="0"/>
                        <a:cs typeface="Segoe UI" charset="0"/>
                      </a:endParaRPr>
                    </a:p>
                  </a:txBody>
                  <a:tcPr marL="146304" marR="146304" marT="109728" marB="109728"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242424"/>
                    </a:solidFill>
                  </a:tcPr>
                </a:tc>
                <a:tc>
                  <a:txBody>
                    <a:bodyPr/>
                    <a:lstStyle/>
                    <a:p>
                      <a:pPr indent="0" marL="0">
                        <a:buNone/>
                      </a:pPr>
                      <a:r>
                        <a:rPr lang="en-US" sz="1350" dirty="0">
                          <a:solidFill>
                            <a:srgbClr val="FFFFFF"/>
                          </a:solidFill>
                          <a:latin typeface="Plus Jakarta Sans" pitchFamily="34" charset="0"/>
                          <a:ea typeface="Segoe UI" pitchFamily="34" charset="-122"/>
                          <a:cs typeface="Segoe UI" pitchFamily="34" charset="-120"/>
                        </a:rPr>
                        <a:t>Current device instructions and local plan</a:t>
                      </a:r>
                      <a:endParaRPr lang="en-US" sz="1350" dirty="0">
                        <a:solidFill>
                          <a:srgbClr val="FFFFFF"/>
                        </a:solidFill>
                        <a:latin typeface="Plus Jakarta Sans" charset="0"/>
                        <a:ea typeface="Segoe UI" charset="0"/>
                        <a:cs typeface="Segoe UI" charset="0"/>
                      </a:endParaRPr>
                    </a:p>
                  </a:txBody>
                  <a:tcPr marL="146304" marR="146304" marT="109728" marB="109728"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242424"/>
                    </a:solidFill>
                  </a:tcPr>
                </a:tc>
              </a:tr>
              <a:tr h="676656">
                <a:tc>
                  <a:txBody>
                    <a:bodyPr/>
                    <a:lstStyle/>
                    <a:p>
                      <a:pPr indent="0" marL="0">
                        <a:buNone/>
                      </a:pPr>
                      <a:r>
                        <a:rPr lang="en-US" sz="1350" b="1" dirty="0">
                          <a:solidFill>
                            <a:srgbClr val="FFFFFF"/>
                          </a:solidFill>
                          <a:latin typeface="Plus Jakarta Sans" pitchFamily="34" charset="0"/>
                          <a:ea typeface="Segoe UI" pitchFamily="34" charset="-122"/>
                          <a:cs typeface="Segoe UI" pitchFamily="34" charset="-120"/>
                        </a:rPr>
                        <a:t>Clean handling pause and contamination response</a:t>
                      </a:r>
                      <a:endParaRPr lang="en-US" sz="1350" dirty="0">
                        <a:solidFill>
                          <a:srgbClr val="FFFFFF"/>
                        </a:solidFill>
                        <a:latin typeface="Plus Jakarta Sans" charset="0"/>
                        <a:ea typeface="Segoe UI" charset="0"/>
                        <a:cs typeface="Segoe UI" charset="0"/>
                      </a:endParaRPr>
                    </a:p>
                  </a:txBody>
                  <a:tcPr marL="146304" marR="146304" marT="109728" marB="109728"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2D2D2D"/>
                    </a:solidFill>
                  </a:tcPr>
                </a:tc>
                <a:tc>
                  <a:txBody>
                    <a:bodyPr/>
                    <a:lstStyle/>
                    <a:p>
                      <a:pPr indent="0" marL="0">
                        <a:buNone/>
                      </a:pPr>
                      <a:r>
                        <a:rPr lang="en-US" sz="1350" dirty="0">
                          <a:solidFill>
                            <a:srgbClr val="FFFFFF"/>
                          </a:solidFill>
                          <a:latin typeface="Plus Jakarta Sans" pitchFamily="34" charset="0"/>
                          <a:ea typeface="Segoe UI" pitchFamily="34" charset="-122"/>
                          <a:cs typeface="Segoe UI" pitchFamily="34" charset="-120"/>
                        </a:rPr>
                        <a:t>Expert practice, not trial evidence</a:t>
                      </a:r>
                      <a:endParaRPr lang="en-US" sz="1350" dirty="0">
                        <a:solidFill>
                          <a:srgbClr val="FFFFFF"/>
                        </a:solidFill>
                        <a:latin typeface="Plus Jakarta Sans" charset="0"/>
                        <a:ea typeface="Segoe UI" charset="0"/>
                        <a:cs typeface="Segoe UI" charset="0"/>
                      </a:endParaRPr>
                    </a:p>
                  </a:txBody>
                  <a:tcPr marL="146304" marR="146304" marT="109728" marB="109728"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2D2D2D"/>
                    </a:solidFill>
                  </a:tcPr>
                </a:tc>
              </a:tr>
              <a:tr h="676656">
                <a:tc>
                  <a:txBody>
                    <a:bodyPr/>
                    <a:lstStyle/>
                    <a:p>
                      <a:pPr indent="0" marL="0">
                        <a:buNone/>
                      </a:pPr>
                      <a:r>
                        <a:rPr lang="en-US" sz="1350" b="1" dirty="0">
                          <a:solidFill>
                            <a:srgbClr val="FFFFFF"/>
                          </a:solidFill>
                          <a:latin typeface="Plus Jakarta Sans" pitchFamily="34" charset="0"/>
                          <a:ea typeface="Segoe UI" pitchFamily="34" charset="-122"/>
                          <a:cs typeface="Segoe UI" pitchFamily="34" charset="-120"/>
                        </a:rPr>
                        <a:t>A fixed 15 minutes, the best washout, long antibiotic courses</a:t>
                      </a:r>
                      <a:endParaRPr lang="en-US" sz="1350" dirty="0">
                        <a:solidFill>
                          <a:srgbClr val="FFFFFF"/>
                        </a:solidFill>
                        <a:latin typeface="Plus Jakarta Sans" charset="0"/>
                        <a:ea typeface="Segoe UI" charset="0"/>
                        <a:cs typeface="Segoe UI" charset="0"/>
                      </a:endParaRPr>
                    </a:p>
                  </a:txBody>
                  <a:tcPr marL="146304" marR="146304" marT="109728" marB="109728"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242424"/>
                    </a:solidFill>
                  </a:tcPr>
                </a:tc>
                <a:tc>
                  <a:txBody>
                    <a:bodyPr/>
                    <a:lstStyle/>
                    <a:p>
                      <a:pPr indent="0" marL="0">
                        <a:buNone/>
                      </a:pPr>
                      <a:r>
                        <a:rPr lang="en-US" sz="1350" dirty="0">
                          <a:solidFill>
                            <a:srgbClr val="FFFFFF"/>
                          </a:solidFill>
                          <a:latin typeface="Plus Jakarta Sans" pitchFamily="34" charset="0"/>
                          <a:ea typeface="Segoe UI" pitchFamily="34" charset="-122"/>
                          <a:cs typeface="Segoe UI" pitchFamily="34" charset="-120"/>
                        </a:rPr>
                        <a:t>Unresolved</a:t>
                      </a:r>
                      <a:endParaRPr lang="en-US" sz="1350" dirty="0">
                        <a:solidFill>
                          <a:srgbClr val="FFFFFF"/>
                        </a:solidFill>
                        <a:latin typeface="Plus Jakarta Sans" charset="0"/>
                        <a:ea typeface="Segoe UI" charset="0"/>
                        <a:cs typeface="Segoe UI" charset="0"/>
                      </a:endParaRPr>
                    </a:p>
                  </a:txBody>
                  <a:tcPr marL="146304" marR="146304" marT="109728" marB="109728"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242424"/>
                    </a:solidFill>
                  </a:tcPr>
                </a:tc>
              </a:tr>
            </a:tbl>
          </a:graphicData>
        </a:graphic>
      </p:graphicFrame>
      <p:sp>
        <p:nvSpPr>
          <p:cNvPr id="9001" name="replacement-title">
            <a:extLst>
              <a:ext uri="{FF2B5EF4-FFF2-40B4-BE49-F238E27FC236}">
                <a16:creationId xmlns:a16="http://schemas.microsoft.com/office/drawing/2014/main" id="{47BE3817-7034-47C9-BA67-9FCB8A378B85}"/>
              </a:ext>
            </a:extLst>
          </p:cNvPr>
          <p:cNvSpPr>
            <a:spLocks noGrp="1"/>
          </p:cNvSpPr>
          <p:nvPr/>
        </p:nvSpPr>
        <p:spPr>
          <a:xfrm>
            <a:off x="638175" y="752475"/>
            <a:ext cx="10915650" cy="800100"/>
          </a:xfrm>
          <a:prstGeom prst="rect">
            <a:avLst/>
          </a:prstGeom>
          <a:noFill/>
          <a:ln w="0">
            <a:noFill/>
          </a:ln>
        </p:spPr>
        <p:txBody>
          <a:bodyPr anchor="ctr"/>
          <a:lstStyle>
            <a:defPPr>
              <a:defRPr sz="2625" b="1">
                <a:solidFill>
                  <a:srgbClr val="FFFFFF"/>
                </a:solidFill>
                <a:latin typeface="Plus Jakarta Sans"/>
              </a:defRPr>
            </a:defPPr>
            <a:lvl1pPr>
              <a:defRPr sz="2625" b="1">
                <a:solidFill>
                  <a:srgbClr val="FFFFFF"/>
                </a:solidFill>
                <a:latin typeface="Plus Jakarta Sans"/>
              </a:defRPr>
            </a:lvl1pPr>
            <a:lvl2pPr>
              <a:defRPr sz="2625" b="1">
                <a:solidFill>
                  <a:srgbClr val="FFFFFF"/>
                </a:solidFill>
                <a:latin typeface="Plus Jakarta Sans"/>
              </a:defRPr>
            </a:lvl2pPr>
            <a:lvl3pPr>
              <a:defRPr sz="2625" b="1">
                <a:solidFill>
                  <a:srgbClr val="FFFFFF"/>
                </a:solidFill>
                <a:latin typeface="Plus Jakarta Sans"/>
              </a:defRPr>
            </a:lvl3pPr>
            <a:lvl4pPr>
              <a:defRPr sz="2625" b="1">
                <a:solidFill>
                  <a:srgbClr val="FFFFFF"/>
                </a:solidFill>
                <a:latin typeface="Plus Jakarta Sans"/>
              </a:defRPr>
            </a:lvl4pPr>
            <a:lvl5pPr>
              <a:defRPr sz="2625" b="1">
                <a:solidFill>
                  <a:srgbClr val="FFFFFF"/>
                </a:solidFill>
                <a:latin typeface="Plus Jakarta Sans"/>
              </a:defRPr>
            </a:lvl5pPr>
            <a:lvl6pPr>
              <a:defRPr sz="2625" b="1">
                <a:solidFill>
                  <a:srgbClr val="FFFFFF"/>
                </a:solidFill>
                <a:latin typeface="Plus Jakarta Sans"/>
              </a:defRPr>
            </a:lvl6pPr>
            <a:lvl7pPr>
              <a:defRPr sz="2625" b="1">
                <a:solidFill>
                  <a:srgbClr val="FFFFFF"/>
                </a:solidFill>
                <a:latin typeface="Plus Jakarta Sans"/>
              </a:defRPr>
            </a:lvl7pPr>
            <a:lvl8pPr>
              <a:defRPr sz="2625" b="1">
                <a:solidFill>
                  <a:srgbClr val="FFFFFF"/>
                </a:solidFill>
                <a:latin typeface="Plus Jakarta Sans"/>
              </a:defRPr>
            </a:lvl8pPr>
            <a:lvl9pPr>
              <a:defRPr sz="2625" b="1">
                <a:solidFill>
                  <a:srgbClr val="FFFFFF"/>
                </a:solidFill>
                <a:latin typeface="Plus Jakarta Sans"/>
              </a:defRPr>
            </a:lvl9pPr>
          </a:lstStyle>
          <a:p>
            <a:pPr>
              <a:defRPr sz="2625" b="1">
                <a:solidFill>
                  <a:srgbClr val="FFFFFF"/>
                </a:solidFill>
                <a:latin typeface="Plus Jakarta Sans"/>
              </a:defRPr>
            </a:pPr>
            <a:r>
              <a:rPr sz="2625" b="1">
                <a:solidFill>
                  <a:srgbClr val="FFFFFF"/>
                </a:solidFill>
                <a:latin typeface="Plus Jakarta Sans"/>
              </a:rPr>
              <a:t>The pre-implant theatre checklist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61616"/>
        </a:solidFill>
        <a:effectLst/>
      </p:bgPr>
    </p:bg>
    <p:spTree>
      <p:nvGrpSpPr>
        <p:cNvPr id="1" name=""/>
        <p:cNvGrpSpPr/>
        <p:nvPr/>
      </p:nvGrpSpPr>
      <p:grpSpPr>
        <a:xfrm>
          <a:off x="0" y="0"/>
          <a:ext cx="0" cy="0"/>
          <a:chOff x="0" y="0"/>
          <a:chExt cx="0" cy="0"/>
        </a:xfrm>
      </p:grpSpPr>
      <p:sp>
        <p:nvSpPr>
          <p:cNvPr id="7" name="Text 4"/>
          <p:cNvSpPr txBox="1"/>
          <p:nvPr/>
        </p:nvSpPr>
        <p:spPr>
          <a:xfrm>
            <a:off x="640080" y="3611880"/>
            <a:ext cx="5760720" cy="1188720"/>
          </a:xfrm>
          <a:prstGeom prst="rect">
            <a:avLst/>
          </a:prstGeom>
          <a:noFill/>
          <a:ln/>
        </p:spPr>
        <p:txBody>
          <a:bodyPr wrap="square" lIns="0" tIns="0" rIns="0" bIns="0" rtlCol="0" anchor="t"/>
          <a:lstStyle/>
          <a:p>
            <a:pPr algn="l" indent="0" marL="0">
              <a:lnSpc>
                <a:spcPct val="120000"/>
              </a:lnSpc>
              <a:buNone/>
            </a:pPr>
            <a:r>
              <a:rPr lang="en-US" sz="1500" dirty="0">
                <a:solidFill>
                  <a:srgbClr val="BFBFBF"/>
                </a:solidFill>
                <a:latin typeface="Plus Jakarta Sans" pitchFamily="34" charset="0"/>
                <a:ea typeface="Segoe UI" pitchFamily="34" charset="-122"/>
                <a:cs typeface="Segoe UI" pitchFamily="34" charset="-120"/>
              </a:rPr>
              <a:t>Preserve tissue, measure what the cuff will enclose, follow the actual device protocol, and verify before closing.</a:t>
            </a:r>
            <a:endParaRPr lang="en-US" sz="1500" dirty="0">
              <a:latin typeface="Plus Jakarta Sans"/>
            </a:endParaRPr>
          </a:p>
        </p:txBody>
      </p:sp>
      <p:sp>
        <p:nvSpPr>
          <p:cNvPr id="8" name="Text 5"/>
          <p:cNvSpPr txBox="1"/>
          <p:nvPr/>
        </p:nvSpPr>
        <p:spPr>
          <a:xfrm>
            <a:off x="7223760" y="1188720"/>
            <a:ext cx="4327855" cy="274320"/>
          </a:xfrm>
          <a:prstGeom prst="rect">
            <a:avLst/>
          </a:prstGeom>
          <a:noFill/>
          <a:ln/>
        </p:spPr>
        <p:txBody>
          <a:bodyPr wrap="square" lIns="0" tIns="0" rIns="0" bIns="0" rtlCol="0" anchor="t"/>
          <a:lstStyle/>
          <a:p>
            <a:pPr algn="l" indent="0" marL="0">
              <a:buNone/>
            </a:pPr>
            <a:r>
              <a:rPr lang="en-US" sz="1000" b="1" spc="200" kern="0" dirty="0">
                <a:solidFill>
                  <a:srgbClr val="BFBFBF"/>
                </a:solidFill>
                <a:latin typeface="Plus Jakarta Sans" pitchFamily="34" charset="0"/>
                <a:ea typeface="Segoe UI" pitchFamily="34" charset="-122"/>
                <a:cs typeface="Segoe UI" pitchFamily="34" charset="-120"/>
              </a:rPr>
              <a:t>IN THIS SECTION</a:t>
            </a:r>
            <a:endParaRPr lang="en-US" sz="1000" dirty="0">
              <a:latin typeface="Plus Jakarta Sans"/>
            </a:endParaRPr>
          </a:p>
        </p:txBody>
      </p:sp>
      <p:sp>
        <p:nvSpPr>
          <p:cNvPr id="9" name="Text 6"/>
          <p:cNvSpPr txBox="1"/>
          <p:nvPr/>
        </p:nvSpPr>
        <p:spPr>
          <a:xfrm>
            <a:off x="7223760" y="1645920"/>
            <a:ext cx="457200" cy="457200"/>
          </a:xfrm>
          <a:prstGeom prst="rect">
            <a:avLst/>
          </a:prstGeom>
          <a:noFill/>
          <a:ln/>
        </p:spPr>
        <p:txBody>
          <a:bodyPr wrap="square" lIns="0" tIns="0" rIns="0" bIns="0" rtlCol="0" anchor="ctr"/>
          <a:lstStyle/>
          <a:p>
            <a:pPr algn="l" indent="0" marL="0">
              <a:buNone/>
            </a:pPr>
            <a:r>
              <a:rPr lang="en-US" sz="1100" b="1" dirty="0">
                <a:solidFill>
                  <a:srgbClr val="89FF00"/>
                </a:solidFill>
                <a:latin typeface="Plus Jakarta Sans" pitchFamily="34" charset="0"/>
                <a:ea typeface="Segoe UI" pitchFamily="34" charset="-122"/>
                <a:cs typeface="Segoe UI" pitchFamily="34" charset="-120"/>
              </a:rPr>
              <a:t>24</a:t>
            </a:r>
            <a:endParaRPr lang="en-US" sz="1100" dirty="0">
              <a:solidFill>
                <a:srgbClr val="89FF00"/>
              </a:solidFill>
              <a:latin typeface="Plus Jakarta Sans"/>
            </a:endParaRPr>
          </a:p>
        </p:txBody>
      </p:sp>
      <p:sp>
        <p:nvSpPr>
          <p:cNvPr id="10" name="Text 7"/>
          <p:cNvSpPr txBox="1"/>
          <p:nvPr/>
        </p:nvSpPr>
        <p:spPr>
          <a:xfrm>
            <a:off x="7680960" y="1645920"/>
            <a:ext cx="3870655" cy="457200"/>
          </a:xfrm>
          <a:prstGeom prst="rect">
            <a:avLst/>
          </a:prstGeom>
          <a:noFill/>
          <a:ln/>
        </p:spPr>
        <p:txBody>
          <a:bodyPr wrap="square" lIns="0" tIns="0" rIns="0" bIns="0" rtlCol="0" anchor="ctr"/>
          <a:lstStyle/>
          <a:p>
            <a:pPr algn="l" indent="0" marL="0">
              <a:buNone/>
            </a:pPr>
            <a:r>
              <a:rPr lang="en-US" sz="1300" dirty="0">
                <a:solidFill>
                  <a:srgbClr val="F4F5F7"/>
                </a:solidFill>
                <a:latin typeface="Plus Jakarta Sans" pitchFamily="34" charset="0"/>
                <a:ea typeface="Segoe UI" pitchFamily="34" charset="-122"/>
                <a:cs typeface="Segoe UI" pitchFamily="34" charset="-120"/>
              </a:rPr>
              <a:t>Positioning and exposure</a:t>
            </a:r>
            <a:endParaRPr lang="en-US" sz="1300" dirty="0">
              <a:latin typeface="Plus Jakarta Sans"/>
            </a:endParaRPr>
          </a:p>
        </p:txBody>
      </p:sp>
      <p:sp>
        <p:nvSpPr>
          <p:cNvPr id="11" name="Text 8"/>
          <p:cNvSpPr txBox="1"/>
          <p:nvPr/>
        </p:nvSpPr>
        <p:spPr>
          <a:xfrm>
            <a:off x="7223760" y="2103120"/>
            <a:ext cx="457200" cy="457200"/>
          </a:xfrm>
          <a:prstGeom prst="rect">
            <a:avLst/>
          </a:prstGeom>
          <a:noFill/>
          <a:ln/>
        </p:spPr>
        <p:txBody>
          <a:bodyPr wrap="square" lIns="0" tIns="0" rIns="0" bIns="0" rtlCol="0" anchor="ctr"/>
          <a:lstStyle/>
          <a:p>
            <a:pPr algn="l" indent="0" marL="0">
              <a:buNone/>
            </a:pPr>
            <a:r>
              <a:rPr lang="en-US" sz="1100" b="1" dirty="0">
                <a:solidFill>
                  <a:srgbClr val="89FF00"/>
                </a:solidFill>
                <a:latin typeface="Plus Jakarta Sans" pitchFamily="34" charset="0"/>
                <a:ea typeface="Segoe UI" pitchFamily="34" charset="-122"/>
                <a:cs typeface="Segoe UI" pitchFamily="34" charset="-120"/>
              </a:rPr>
              <a:t>25</a:t>
            </a:r>
            <a:endParaRPr lang="en-US" sz="1100" dirty="0">
              <a:solidFill>
                <a:srgbClr val="89FF00"/>
              </a:solidFill>
              <a:latin typeface="Plus Jakarta Sans"/>
            </a:endParaRPr>
          </a:p>
        </p:txBody>
      </p:sp>
      <p:sp>
        <p:nvSpPr>
          <p:cNvPr id="12" name="Text 9"/>
          <p:cNvSpPr txBox="1"/>
          <p:nvPr/>
        </p:nvSpPr>
        <p:spPr>
          <a:xfrm>
            <a:off x="7680960" y="2103120"/>
            <a:ext cx="3870655" cy="457200"/>
          </a:xfrm>
          <a:prstGeom prst="rect">
            <a:avLst/>
          </a:prstGeom>
          <a:noFill/>
          <a:ln/>
        </p:spPr>
        <p:txBody>
          <a:bodyPr wrap="square" lIns="0" tIns="0" rIns="0" bIns="0" rtlCol="0" anchor="ctr"/>
          <a:lstStyle/>
          <a:p>
            <a:pPr algn="l" indent="0" marL="0">
              <a:buNone/>
            </a:pPr>
            <a:r>
              <a:rPr lang="en-US" sz="1300" dirty="0">
                <a:solidFill>
                  <a:srgbClr val="F4F5F7"/>
                </a:solidFill>
                <a:latin typeface="Plus Jakarta Sans" pitchFamily="34" charset="0"/>
                <a:ea typeface="Segoe UI" pitchFamily="34" charset="-122"/>
                <a:cs typeface="Segoe UI" pitchFamily="34" charset="-120"/>
              </a:rPr>
              <a:t>Bulbar dissection and tissue preservation</a:t>
            </a:r>
            <a:endParaRPr lang="en-US" sz="1300" dirty="0">
              <a:latin typeface="Plus Jakarta Sans"/>
            </a:endParaRPr>
          </a:p>
        </p:txBody>
      </p:sp>
      <p:sp>
        <p:nvSpPr>
          <p:cNvPr id="13" name="Text 10"/>
          <p:cNvSpPr txBox="1"/>
          <p:nvPr/>
        </p:nvSpPr>
        <p:spPr>
          <a:xfrm>
            <a:off x="7223760" y="2560320"/>
            <a:ext cx="457200" cy="457200"/>
          </a:xfrm>
          <a:prstGeom prst="rect">
            <a:avLst/>
          </a:prstGeom>
          <a:noFill/>
          <a:ln/>
        </p:spPr>
        <p:txBody>
          <a:bodyPr wrap="square" lIns="0" tIns="0" rIns="0" bIns="0" rtlCol="0" anchor="ctr"/>
          <a:lstStyle/>
          <a:p>
            <a:pPr algn="l" indent="0" marL="0">
              <a:buNone/>
            </a:pPr>
            <a:r>
              <a:rPr lang="en-US" sz="1100" b="1" dirty="0">
                <a:solidFill>
                  <a:srgbClr val="89FF00"/>
                </a:solidFill>
                <a:latin typeface="Plus Jakarta Sans" pitchFamily="34" charset="0"/>
                <a:ea typeface="Segoe UI" pitchFamily="34" charset="-122"/>
                <a:cs typeface="Segoe UI" pitchFamily="34" charset="-120"/>
              </a:rPr>
              <a:t>26</a:t>
            </a:r>
            <a:endParaRPr lang="en-US" sz="1100" dirty="0">
              <a:solidFill>
                <a:srgbClr val="89FF00"/>
              </a:solidFill>
              <a:latin typeface="Plus Jakarta Sans"/>
            </a:endParaRPr>
          </a:p>
        </p:txBody>
      </p:sp>
      <p:sp>
        <p:nvSpPr>
          <p:cNvPr id="14" name="Text 11"/>
          <p:cNvSpPr txBox="1"/>
          <p:nvPr/>
        </p:nvSpPr>
        <p:spPr>
          <a:xfrm>
            <a:off x="7680960" y="2560320"/>
            <a:ext cx="3870655" cy="457200"/>
          </a:xfrm>
          <a:prstGeom prst="rect">
            <a:avLst/>
          </a:prstGeom>
          <a:noFill/>
          <a:ln/>
        </p:spPr>
        <p:txBody>
          <a:bodyPr wrap="square" lIns="0" tIns="0" rIns="0" bIns="0" rtlCol="0" anchor="ctr"/>
          <a:lstStyle/>
          <a:p>
            <a:pPr algn="l" indent="0" marL="0">
              <a:buNone/>
            </a:pPr>
            <a:r>
              <a:rPr lang="en-US" sz="1300" dirty="0">
                <a:solidFill>
                  <a:srgbClr val="F4F5F7"/>
                </a:solidFill>
                <a:latin typeface="Plus Jakarta Sans" pitchFamily="34" charset="0"/>
                <a:ea typeface="Segoe UI" pitchFamily="34" charset="-122"/>
                <a:cs typeface="Segoe UI" pitchFamily="34" charset="-120"/>
              </a:rPr>
              <a:t>Cuff measurement and fit</a:t>
            </a:r>
            <a:endParaRPr lang="en-US" sz="1300" dirty="0">
              <a:latin typeface="Plus Jakarta Sans"/>
            </a:endParaRPr>
          </a:p>
        </p:txBody>
      </p:sp>
      <p:sp>
        <p:nvSpPr>
          <p:cNvPr id="15" name="Text 12"/>
          <p:cNvSpPr txBox="1"/>
          <p:nvPr/>
        </p:nvSpPr>
        <p:spPr>
          <a:xfrm>
            <a:off x="7223760" y="3017520"/>
            <a:ext cx="457200" cy="457200"/>
          </a:xfrm>
          <a:prstGeom prst="rect">
            <a:avLst/>
          </a:prstGeom>
          <a:noFill/>
          <a:ln/>
        </p:spPr>
        <p:txBody>
          <a:bodyPr wrap="square" lIns="0" tIns="0" rIns="0" bIns="0" rtlCol="0" anchor="ctr"/>
          <a:lstStyle/>
          <a:p>
            <a:pPr algn="l" indent="0" marL="0">
              <a:buNone/>
            </a:pPr>
            <a:r>
              <a:rPr lang="en-US" sz="1100" b="1" dirty="0">
                <a:solidFill>
                  <a:srgbClr val="89FF00"/>
                </a:solidFill>
                <a:latin typeface="Plus Jakarta Sans" pitchFamily="34" charset="0"/>
                <a:ea typeface="Segoe UI" pitchFamily="34" charset="-122"/>
                <a:cs typeface="Segoe UI" pitchFamily="34" charset="-120"/>
              </a:rPr>
              <a:t>27</a:t>
            </a:r>
            <a:endParaRPr lang="en-US" sz="1100" dirty="0">
              <a:solidFill>
                <a:srgbClr val="89FF00"/>
              </a:solidFill>
              <a:latin typeface="Plus Jakarta Sans"/>
            </a:endParaRPr>
          </a:p>
        </p:txBody>
      </p:sp>
      <p:sp>
        <p:nvSpPr>
          <p:cNvPr id="16" name="Text 13"/>
          <p:cNvSpPr txBox="1"/>
          <p:nvPr/>
        </p:nvSpPr>
        <p:spPr>
          <a:xfrm>
            <a:off x="7680960" y="3017520"/>
            <a:ext cx="3870655" cy="457200"/>
          </a:xfrm>
          <a:prstGeom prst="rect">
            <a:avLst/>
          </a:prstGeom>
          <a:noFill/>
          <a:ln/>
        </p:spPr>
        <p:txBody>
          <a:bodyPr wrap="square" lIns="0" tIns="0" rIns="0" bIns="0" rtlCol="0" anchor="ctr"/>
          <a:lstStyle/>
          <a:p>
            <a:pPr algn="l" indent="0" marL="0">
              <a:buNone/>
            </a:pPr>
            <a:r>
              <a:rPr lang="en-US" sz="1300" dirty="0">
                <a:solidFill>
                  <a:srgbClr val="F4F5F7"/>
                </a:solidFill>
                <a:latin typeface="Plus Jakarta Sans" pitchFamily="34" charset="0"/>
                <a:ea typeface="Segoe UI" pitchFamily="34" charset="-122"/>
                <a:cs typeface="Segoe UI" pitchFamily="34" charset="-120"/>
              </a:rPr>
              <a:t>Urethral injury or contamination</a:t>
            </a:r>
            <a:endParaRPr lang="en-US" sz="1300" dirty="0">
              <a:latin typeface="Plus Jakarta Sans"/>
            </a:endParaRPr>
          </a:p>
        </p:txBody>
      </p:sp>
      <p:sp>
        <p:nvSpPr>
          <p:cNvPr id="17" name="Text 14"/>
          <p:cNvSpPr txBox="1"/>
          <p:nvPr/>
        </p:nvSpPr>
        <p:spPr>
          <a:xfrm>
            <a:off x="7223760" y="3474720"/>
            <a:ext cx="457200" cy="457200"/>
          </a:xfrm>
          <a:prstGeom prst="rect">
            <a:avLst/>
          </a:prstGeom>
          <a:noFill/>
          <a:ln/>
        </p:spPr>
        <p:txBody>
          <a:bodyPr wrap="square" lIns="0" tIns="0" rIns="0" bIns="0" rtlCol="0" anchor="ctr"/>
          <a:lstStyle/>
          <a:p>
            <a:pPr algn="l" indent="0" marL="0">
              <a:buNone/>
            </a:pPr>
            <a:r>
              <a:rPr lang="en-US" sz="1100" b="1" dirty="0">
                <a:solidFill>
                  <a:srgbClr val="89FF00"/>
                </a:solidFill>
                <a:latin typeface="Plus Jakarta Sans" pitchFamily="34" charset="0"/>
                <a:ea typeface="Segoe UI" pitchFamily="34" charset="-122"/>
                <a:cs typeface="Segoe UI" pitchFamily="34" charset="-120"/>
              </a:rPr>
              <a:t>28</a:t>
            </a:r>
            <a:endParaRPr lang="en-US" sz="1100" dirty="0">
              <a:solidFill>
                <a:srgbClr val="89FF00"/>
              </a:solidFill>
              <a:latin typeface="Plus Jakarta Sans"/>
            </a:endParaRPr>
          </a:p>
        </p:txBody>
      </p:sp>
      <p:sp>
        <p:nvSpPr>
          <p:cNvPr id="18" name="Text 15"/>
          <p:cNvSpPr txBox="1"/>
          <p:nvPr/>
        </p:nvSpPr>
        <p:spPr>
          <a:xfrm>
            <a:off x="7680960" y="3474720"/>
            <a:ext cx="3870655" cy="457200"/>
          </a:xfrm>
          <a:prstGeom prst="rect">
            <a:avLst/>
          </a:prstGeom>
          <a:noFill/>
          <a:ln/>
        </p:spPr>
        <p:txBody>
          <a:bodyPr wrap="square" lIns="0" tIns="0" rIns="0" bIns="0" rtlCol="0" anchor="ctr"/>
          <a:lstStyle/>
          <a:p>
            <a:pPr algn="l" indent="0" marL="0">
              <a:buNone/>
            </a:pPr>
            <a:r>
              <a:rPr lang="en-US" sz="1300" dirty="0">
                <a:solidFill>
                  <a:srgbClr val="F4F5F7"/>
                </a:solidFill>
                <a:latin typeface="Plus Jakarta Sans" pitchFamily="34" charset="0"/>
                <a:ea typeface="Segoe UI" pitchFamily="34" charset="-122"/>
                <a:cs typeface="Segoe UI" pitchFamily="34" charset="-120"/>
              </a:rPr>
              <a:t>Balloon pocket and pressure selection</a:t>
            </a:r>
            <a:endParaRPr lang="en-US" sz="1300" dirty="0">
              <a:latin typeface="Plus Jakarta Sans"/>
            </a:endParaRPr>
          </a:p>
        </p:txBody>
      </p:sp>
      <p:sp>
        <p:nvSpPr>
          <p:cNvPr id="19" name="Text 16"/>
          <p:cNvSpPr txBox="1"/>
          <p:nvPr/>
        </p:nvSpPr>
        <p:spPr>
          <a:xfrm>
            <a:off x="7223760" y="3931920"/>
            <a:ext cx="457200" cy="457200"/>
          </a:xfrm>
          <a:prstGeom prst="rect">
            <a:avLst/>
          </a:prstGeom>
          <a:noFill/>
          <a:ln/>
        </p:spPr>
        <p:txBody>
          <a:bodyPr wrap="square" lIns="0" tIns="0" rIns="0" bIns="0" rtlCol="0" anchor="ctr"/>
          <a:lstStyle/>
          <a:p>
            <a:pPr algn="l" indent="0" marL="0">
              <a:buNone/>
            </a:pPr>
            <a:r>
              <a:rPr lang="en-US" sz="1100" b="1" dirty="0">
                <a:solidFill>
                  <a:srgbClr val="89FF00"/>
                </a:solidFill>
                <a:latin typeface="Plus Jakarta Sans" pitchFamily="34" charset="0"/>
                <a:ea typeface="Segoe UI" pitchFamily="34" charset="-122"/>
                <a:cs typeface="Segoe UI" pitchFamily="34" charset="-120"/>
              </a:rPr>
              <a:t>29</a:t>
            </a:r>
            <a:endParaRPr lang="en-US" sz="1100" dirty="0">
              <a:solidFill>
                <a:srgbClr val="89FF00"/>
              </a:solidFill>
              <a:latin typeface="Plus Jakarta Sans"/>
            </a:endParaRPr>
          </a:p>
        </p:txBody>
      </p:sp>
      <p:sp>
        <p:nvSpPr>
          <p:cNvPr id="20" name="Text 17"/>
          <p:cNvSpPr txBox="1"/>
          <p:nvPr/>
        </p:nvSpPr>
        <p:spPr>
          <a:xfrm>
            <a:off x="7680960" y="3931920"/>
            <a:ext cx="3870655" cy="457200"/>
          </a:xfrm>
          <a:prstGeom prst="rect">
            <a:avLst/>
          </a:prstGeom>
          <a:noFill/>
          <a:ln/>
        </p:spPr>
        <p:txBody>
          <a:bodyPr wrap="square" lIns="0" tIns="0" rIns="0" bIns="0" rtlCol="0" anchor="ctr"/>
          <a:lstStyle/>
          <a:p>
            <a:pPr algn="l" indent="0" marL="0">
              <a:buNone/>
            </a:pPr>
            <a:r>
              <a:rPr lang="en-US" sz="1300" dirty="0">
                <a:solidFill>
                  <a:srgbClr val="F4F5F7"/>
                </a:solidFill>
                <a:latin typeface="Plus Jakarta Sans" pitchFamily="34" charset="0"/>
                <a:ea typeface="Segoe UI" pitchFamily="34" charset="-122"/>
                <a:cs typeface="Segoe UI" pitchFamily="34" charset="-120"/>
              </a:rPr>
              <a:t>Pump position and patient access</a:t>
            </a:r>
            <a:endParaRPr lang="en-US" sz="1300" dirty="0">
              <a:latin typeface="Plus Jakarta Sans"/>
            </a:endParaRPr>
          </a:p>
        </p:txBody>
      </p:sp>
      <p:sp>
        <p:nvSpPr>
          <p:cNvPr id="21" name="Text 18"/>
          <p:cNvSpPr txBox="1"/>
          <p:nvPr/>
        </p:nvSpPr>
        <p:spPr>
          <a:xfrm>
            <a:off x="7223760" y="4389120"/>
            <a:ext cx="457200" cy="457200"/>
          </a:xfrm>
          <a:prstGeom prst="rect">
            <a:avLst/>
          </a:prstGeom>
          <a:noFill/>
          <a:ln/>
        </p:spPr>
        <p:txBody>
          <a:bodyPr wrap="square" lIns="0" tIns="0" rIns="0" bIns="0" rtlCol="0" anchor="ctr"/>
          <a:lstStyle/>
          <a:p>
            <a:pPr algn="l" indent="0" marL="0">
              <a:buNone/>
            </a:pPr>
            <a:r>
              <a:rPr lang="en-US" sz="1100" b="1" dirty="0">
                <a:solidFill>
                  <a:srgbClr val="89FF00"/>
                </a:solidFill>
                <a:latin typeface="Plus Jakarta Sans" pitchFamily="34" charset="0"/>
                <a:ea typeface="Segoe UI" pitchFamily="34" charset="-122"/>
                <a:cs typeface="Segoe UI" pitchFamily="34" charset="-120"/>
              </a:rPr>
              <a:t>30</a:t>
            </a:r>
            <a:endParaRPr lang="en-US" sz="1100" dirty="0">
              <a:solidFill>
                <a:srgbClr val="89FF00"/>
              </a:solidFill>
              <a:latin typeface="Plus Jakarta Sans"/>
            </a:endParaRPr>
          </a:p>
        </p:txBody>
      </p:sp>
      <p:sp>
        <p:nvSpPr>
          <p:cNvPr id="22" name="Text 19"/>
          <p:cNvSpPr txBox="1"/>
          <p:nvPr/>
        </p:nvSpPr>
        <p:spPr>
          <a:xfrm>
            <a:off x="7680960" y="4389120"/>
            <a:ext cx="3870655" cy="457200"/>
          </a:xfrm>
          <a:prstGeom prst="rect">
            <a:avLst/>
          </a:prstGeom>
          <a:noFill/>
          <a:ln/>
        </p:spPr>
        <p:txBody>
          <a:bodyPr wrap="square" lIns="0" tIns="0" rIns="0" bIns="0" rtlCol="0" anchor="ctr"/>
          <a:lstStyle/>
          <a:p>
            <a:pPr algn="l" indent="0" marL="0">
              <a:buNone/>
            </a:pPr>
            <a:r>
              <a:rPr lang="en-US" sz="1300" dirty="0">
                <a:solidFill>
                  <a:srgbClr val="F4F5F7"/>
                </a:solidFill>
                <a:latin typeface="Plus Jakarta Sans" pitchFamily="34" charset="0"/>
                <a:ea typeface="Segoe UI" pitchFamily="34" charset="-122"/>
                <a:cs typeface="Segoe UI" pitchFamily="34" charset="-120"/>
              </a:rPr>
              <a:t>System checks and handover</a:t>
            </a:r>
            <a:endParaRPr lang="en-US" sz="1300" dirty="0">
              <a:latin typeface="Plus Jakarta Sans"/>
            </a:endParaRPr>
          </a:p>
        </p:txBody>
      </p:sp>
      <p:sp>
        <p:nvSpPr>
          <p:cNvPr id="23" name="Shape 20"/>
          <p:cNvSpPr/>
          <p:nvPr/>
        </p:nvSpPr>
        <p:spPr>
          <a:xfrm>
            <a:off x="640080" y="5989320"/>
            <a:ext cx="1727149" cy="82296"/>
          </a:xfrm>
          <a:prstGeom prst="roundRect">
            <a:avLst>
              <a:gd name="adj" fmla="val 44444"/>
            </a:avLst>
          </a:prstGeom>
          <a:solidFill>
            <a:srgbClr val="89FF00"/>
          </a:solidFill>
          <a:ln/>
        </p:spPr>
      </p:sp>
      <p:sp>
        <p:nvSpPr>
          <p:cNvPr id="24" name="Text 21"/>
          <p:cNvSpPr txBox="1"/>
          <p:nvPr/>
        </p:nvSpPr>
        <p:spPr>
          <a:xfrm>
            <a:off x="640080" y="6126480"/>
            <a:ext cx="1727149" cy="274320"/>
          </a:xfrm>
          <a:prstGeom prst="rect">
            <a:avLst/>
          </a:prstGeom>
          <a:noFill/>
          <a:ln/>
        </p:spPr>
        <p:txBody>
          <a:bodyPr wrap="square" lIns="0" tIns="0" rIns="0" bIns="0" rtlCol="0" anchor="t"/>
          <a:lstStyle/>
          <a:p>
            <a:pPr algn="l" indent="0" marL="0">
              <a:buNone/>
            </a:pPr>
            <a:r>
              <a:rPr lang="en-US" sz="850" dirty="0">
                <a:solidFill>
                  <a:srgbClr val="AFAFAF"/>
                </a:solidFill>
                <a:latin typeface="Plus Jakarta Sans" pitchFamily="34" charset="0"/>
                <a:ea typeface="Segoe UI" pitchFamily="34" charset="-122"/>
                <a:cs typeface="Segoe UI" pitchFamily="34" charset="-120"/>
              </a:rPr>
              <a:t>Decide before theatre</a:t>
            </a:r>
            <a:endParaRPr lang="en-US" sz="850" dirty="0">
              <a:latin typeface="Plus Jakarta Sans"/>
            </a:endParaRPr>
          </a:p>
        </p:txBody>
      </p:sp>
      <p:sp>
        <p:nvSpPr>
          <p:cNvPr id="25" name="Shape 22"/>
          <p:cNvSpPr/>
          <p:nvPr/>
        </p:nvSpPr>
        <p:spPr>
          <a:xfrm>
            <a:off x="2476957" y="5989320"/>
            <a:ext cx="1727149" cy="82296"/>
          </a:xfrm>
          <a:prstGeom prst="roundRect">
            <a:avLst>
              <a:gd name="adj" fmla="val 44444"/>
            </a:avLst>
          </a:prstGeom>
          <a:solidFill>
            <a:srgbClr val="89FF00"/>
          </a:solidFill>
          <a:ln/>
        </p:spPr>
      </p:sp>
      <p:sp>
        <p:nvSpPr>
          <p:cNvPr id="26" name="Text 23"/>
          <p:cNvSpPr txBox="1"/>
          <p:nvPr/>
        </p:nvSpPr>
        <p:spPr>
          <a:xfrm>
            <a:off x="2476957" y="6126480"/>
            <a:ext cx="1727149" cy="274320"/>
          </a:xfrm>
          <a:prstGeom prst="rect">
            <a:avLst/>
          </a:prstGeom>
          <a:noFill/>
          <a:ln/>
        </p:spPr>
        <p:txBody>
          <a:bodyPr wrap="square" lIns="0" tIns="0" rIns="0" bIns="0" rtlCol="0" anchor="t"/>
          <a:lstStyle/>
          <a:p>
            <a:pPr algn="l" indent="0" marL="0">
              <a:buNone/>
            </a:pPr>
            <a:r>
              <a:rPr lang="en-US" sz="850" dirty="0">
                <a:solidFill>
                  <a:srgbClr val="AFAFAF"/>
                </a:solidFill>
                <a:latin typeface="Plus Jakarta Sans" pitchFamily="34" charset="0"/>
                <a:ea typeface="Segoe UI" pitchFamily="34" charset="-122"/>
                <a:cs typeface="Segoe UI" pitchFamily="34" charset="-120"/>
              </a:rPr>
              <a:t>The bladder</a:t>
            </a:r>
            <a:endParaRPr lang="en-US" sz="850" dirty="0">
              <a:latin typeface="Plus Jakarta Sans"/>
            </a:endParaRPr>
          </a:p>
        </p:txBody>
      </p:sp>
      <p:sp>
        <p:nvSpPr>
          <p:cNvPr id="27" name="Shape 24"/>
          <p:cNvSpPr/>
          <p:nvPr/>
        </p:nvSpPr>
        <p:spPr>
          <a:xfrm>
            <a:off x="4313834" y="5989320"/>
            <a:ext cx="1727149" cy="82296"/>
          </a:xfrm>
          <a:prstGeom prst="roundRect">
            <a:avLst>
              <a:gd name="adj" fmla="val 44444"/>
            </a:avLst>
          </a:prstGeom>
          <a:solidFill>
            <a:srgbClr val="89FF00"/>
          </a:solidFill>
          <a:ln/>
        </p:spPr>
      </p:sp>
      <p:sp>
        <p:nvSpPr>
          <p:cNvPr id="28" name="Text 25"/>
          <p:cNvSpPr txBox="1"/>
          <p:nvPr/>
        </p:nvSpPr>
        <p:spPr>
          <a:xfrm>
            <a:off x="4313834" y="6126480"/>
            <a:ext cx="1727149" cy="274320"/>
          </a:xfrm>
          <a:prstGeom prst="rect">
            <a:avLst/>
          </a:prstGeom>
          <a:noFill/>
          <a:ln/>
        </p:spPr>
        <p:txBody>
          <a:bodyPr wrap="square" lIns="0" tIns="0" rIns="0" bIns="0" rtlCol="0" anchor="t"/>
          <a:lstStyle/>
          <a:p>
            <a:pPr algn="l" indent="0" marL="0">
              <a:buNone/>
            </a:pPr>
            <a:r>
              <a:rPr lang="en-US" sz="850" dirty="0">
                <a:solidFill>
                  <a:srgbClr val="AFAFAF"/>
                </a:solidFill>
                <a:latin typeface="Plus Jakarta Sans" pitchFamily="34" charset="0"/>
                <a:ea typeface="Segoe UI" pitchFamily="34" charset="-122"/>
                <a:cs typeface="Segoe UI" pitchFamily="34" charset="-120"/>
              </a:rPr>
              <a:t>The urethra</a:t>
            </a:r>
            <a:endParaRPr lang="en-US" sz="850" dirty="0">
              <a:latin typeface="Plus Jakarta Sans"/>
            </a:endParaRPr>
          </a:p>
        </p:txBody>
      </p:sp>
      <p:sp>
        <p:nvSpPr>
          <p:cNvPr id="29" name="Shape 26"/>
          <p:cNvSpPr/>
          <p:nvPr/>
        </p:nvSpPr>
        <p:spPr>
          <a:xfrm>
            <a:off x="6150712" y="5989320"/>
            <a:ext cx="1727149" cy="82296"/>
          </a:xfrm>
          <a:prstGeom prst="roundRect">
            <a:avLst>
              <a:gd name="adj" fmla="val 44444"/>
            </a:avLst>
          </a:prstGeom>
          <a:solidFill>
            <a:srgbClr val="89FF00"/>
          </a:solidFill>
          <a:ln/>
        </p:spPr>
      </p:sp>
      <p:sp>
        <p:nvSpPr>
          <p:cNvPr id="30" name="Text 27"/>
          <p:cNvSpPr txBox="1"/>
          <p:nvPr/>
        </p:nvSpPr>
        <p:spPr>
          <a:xfrm>
            <a:off x="6150712" y="6126480"/>
            <a:ext cx="1727149" cy="274320"/>
          </a:xfrm>
          <a:prstGeom prst="rect">
            <a:avLst/>
          </a:prstGeom>
          <a:noFill/>
          <a:ln/>
        </p:spPr>
        <p:txBody>
          <a:bodyPr wrap="square" lIns="0" tIns="0" rIns="0" bIns="0" rtlCol="0" anchor="t"/>
          <a:lstStyle/>
          <a:p>
            <a:pPr algn="l" indent="0" marL="0">
              <a:buNone/>
            </a:pPr>
            <a:r>
              <a:rPr lang="en-US" sz="850" dirty="0">
                <a:solidFill>
                  <a:srgbClr val="AFAFAF"/>
                </a:solidFill>
                <a:latin typeface="Plus Jakarta Sans" pitchFamily="34" charset="0"/>
                <a:ea typeface="Segoe UI" pitchFamily="34" charset="-122"/>
                <a:cs typeface="Segoe UI" pitchFamily="34" charset="-120"/>
              </a:rPr>
              <a:t>Preparation without ritual</a:t>
            </a:r>
            <a:endParaRPr lang="en-US" sz="850" dirty="0">
              <a:latin typeface="Plus Jakarta Sans"/>
            </a:endParaRPr>
          </a:p>
        </p:txBody>
      </p:sp>
      <p:sp>
        <p:nvSpPr>
          <p:cNvPr id="31" name="Shape 28"/>
          <p:cNvSpPr/>
          <p:nvPr/>
        </p:nvSpPr>
        <p:spPr>
          <a:xfrm>
            <a:off x="7987589" y="5989320"/>
            <a:ext cx="1727149" cy="82296"/>
          </a:xfrm>
          <a:prstGeom prst="roundRect">
            <a:avLst>
              <a:gd name="adj" fmla="val 44444"/>
            </a:avLst>
          </a:prstGeom>
          <a:solidFill>
            <a:srgbClr val="89FF00"/>
          </a:solidFill>
          <a:ln/>
        </p:spPr>
      </p:sp>
      <p:sp>
        <p:nvSpPr>
          <p:cNvPr id="32" name="Text 29"/>
          <p:cNvSpPr txBox="1"/>
          <p:nvPr/>
        </p:nvSpPr>
        <p:spPr>
          <a:xfrm>
            <a:off x="7987589" y="6126480"/>
            <a:ext cx="1727149" cy="274320"/>
          </a:xfrm>
          <a:prstGeom prst="rect">
            <a:avLst/>
          </a:prstGeom>
          <a:noFill/>
          <a:ln/>
        </p:spPr>
        <p:txBody>
          <a:bodyPr wrap="square" lIns="0" tIns="0" rIns="0" bIns="0" rtlCol="0" anchor="t"/>
          <a:lstStyle/>
          <a:p>
            <a:pPr algn="l" indent="0" marL="0">
              <a:buNone/>
            </a:pPr>
            <a:r>
              <a:rPr lang="en-US" sz="850" dirty="0">
                <a:solidFill>
                  <a:srgbClr val="F4F5F7"/>
                </a:solidFill>
                <a:latin typeface="Plus Jakarta Sans" pitchFamily="34" charset="0"/>
                <a:ea typeface="Segoe UI" pitchFamily="34" charset="-122"/>
                <a:cs typeface="Segoe UI" pitchFamily="34" charset="-120"/>
              </a:rPr>
              <a:t>The operation</a:t>
            </a:r>
            <a:endParaRPr lang="en-US" sz="850" dirty="0">
              <a:latin typeface="Plus Jakarta Sans"/>
            </a:endParaRPr>
          </a:p>
        </p:txBody>
      </p:sp>
      <p:sp>
        <p:nvSpPr>
          <p:cNvPr id="33" name="Shape 30"/>
          <p:cNvSpPr/>
          <p:nvPr/>
        </p:nvSpPr>
        <p:spPr>
          <a:xfrm>
            <a:off x="9824466" y="5989320"/>
            <a:ext cx="1727149" cy="82296"/>
          </a:xfrm>
          <a:prstGeom prst="roundRect">
            <a:avLst>
              <a:gd name="adj" fmla="val 44444"/>
            </a:avLst>
          </a:prstGeom>
          <a:solidFill>
            <a:srgbClr val="2D2D2D"/>
          </a:solidFill>
          <a:ln/>
        </p:spPr>
      </p:sp>
      <p:sp>
        <p:nvSpPr>
          <p:cNvPr id="34" name="Text 31"/>
          <p:cNvSpPr txBox="1"/>
          <p:nvPr/>
        </p:nvSpPr>
        <p:spPr>
          <a:xfrm>
            <a:off x="9824466" y="6126480"/>
            <a:ext cx="1727149" cy="274320"/>
          </a:xfrm>
          <a:prstGeom prst="rect">
            <a:avLst/>
          </a:prstGeom>
          <a:noFill/>
          <a:ln/>
        </p:spPr>
        <p:txBody>
          <a:bodyPr wrap="square" lIns="0" tIns="0" rIns="0" bIns="0" rtlCol="0" anchor="t"/>
          <a:lstStyle/>
          <a:p>
            <a:pPr algn="l" indent="0" marL="0">
              <a:buNone/>
            </a:pPr>
            <a:r>
              <a:rPr lang="en-US" sz="850" dirty="0">
                <a:solidFill>
                  <a:srgbClr val="AFAFAF"/>
                </a:solidFill>
                <a:latin typeface="Plus Jakarta Sans" pitchFamily="34" charset="0"/>
                <a:ea typeface="Segoe UI" pitchFamily="34" charset="-122"/>
                <a:cs typeface="Segoe UI" pitchFamily="34" charset="-120"/>
              </a:rPr>
              <a:t>After the implant</a:t>
            </a:r>
            <a:endParaRPr lang="en-US" sz="850" dirty="0">
              <a:latin typeface="Plus Jakarta Sans"/>
            </a:endParaRPr>
          </a:p>
        </p:txBody>
      </p:sp>
      <p:sp>
        <p:nvSpPr>
          <p:cNvPr id="9001" name="replacement-title">
            <a:extLst>
              <a:ext uri="{FF2B5EF4-FFF2-40B4-BE49-F238E27FC236}">
                <a16:creationId xmlns:a16="http://schemas.microsoft.com/office/drawing/2014/main" id="{9113E28F-B980-41FD-B603-434701C2DF80}"/>
              </a:ext>
            </a:extLst>
          </p:cNvPr>
          <p:cNvSpPr>
            <a:spLocks noGrp="1"/>
          </p:cNvSpPr>
          <p:nvPr/>
        </p:nvSpPr>
        <p:spPr>
          <a:xfrm>
            <a:off x="638175" y="1905000"/>
            <a:ext cx="5476875" cy="1314450"/>
          </a:xfrm>
          <a:prstGeom prst="rect">
            <a:avLst/>
          </a:prstGeom>
          <a:noFill/>
          <a:ln w="0">
            <a:noFill/>
          </a:ln>
        </p:spPr>
        <p:txBody>
          <a:bodyPr anchor="ctr"/>
          <a:lstStyle>
            <a:defPPr>
              <a:defRPr sz="3600" b="1">
                <a:solidFill>
                  <a:srgbClr val="FFFFFF"/>
                </a:solidFill>
                <a:latin typeface="Plus Jakarta Sans"/>
              </a:defRPr>
            </a:defPPr>
            <a:lvl1pPr>
              <a:defRPr sz="3600" b="1">
                <a:solidFill>
                  <a:srgbClr val="FFFFFF"/>
                </a:solidFill>
                <a:latin typeface="Plus Jakarta Sans"/>
              </a:defRPr>
            </a:lvl1pPr>
            <a:lvl2pPr>
              <a:defRPr sz="3600" b="1">
                <a:solidFill>
                  <a:srgbClr val="FFFFFF"/>
                </a:solidFill>
                <a:latin typeface="Plus Jakarta Sans"/>
              </a:defRPr>
            </a:lvl2pPr>
            <a:lvl3pPr>
              <a:defRPr sz="3600" b="1">
                <a:solidFill>
                  <a:srgbClr val="FFFFFF"/>
                </a:solidFill>
                <a:latin typeface="Plus Jakarta Sans"/>
              </a:defRPr>
            </a:lvl3pPr>
            <a:lvl4pPr>
              <a:defRPr sz="3600" b="1">
                <a:solidFill>
                  <a:srgbClr val="FFFFFF"/>
                </a:solidFill>
                <a:latin typeface="Plus Jakarta Sans"/>
              </a:defRPr>
            </a:lvl4pPr>
            <a:lvl5pPr>
              <a:defRPr sz="3600" b="1">
                <a:solidFill>
                  <a:srgbClr val="FFFFFF"/>
                </a:solidFill>
                <a:latin typeface="Plus Jakarta Sans"/>
              </a:defRPr>
            </a:lvl5pPr>
            <a:lvl6pPr>
              <a:defRPr sz="3600" b="1">
                <a:solidFill>
                  <a:srgbClr val="FFFFFF"/>
                </a:solidFill>
                <a:latin typeface="Plus Jakarta Sans"/>
              </a:defRPr>
            </a:lvl6pPr>
            <a:lvl7pPr>
              <a:defRPr sz="3600" b="1">
                <a:solidFill>
                  <a:srgbClr val="FFFFFF"/>
                </a:solidFill>
                <a:latin typeface="Plus Jakarta Sans"/>
              </a:defRPr>
            </a:lvl7pPr>
            <a:lvl8pPr>
              <a:defRPr sz="3600" b="1">
                <a:solidFill>
                  <a:srgbClr val="FFFFFF"/>
                </a:solidFill>
                <a:latin typeface="Plus Jakarta Sans"/>
              </a:defRPr>
            </a:lvl8pPr>
            <a:lvl9pPr>
              <a:defRPr sz="3600" b="1">
                <a:solidFill>
                  <a:srgbClr val="FFFFFF"/>
                </a:solidFill>
                <a:latin typeface="Plus Jakarta Sans"/>
              </a:defRPr>
            </a:lvl9pPr>
          </a:lstStyle>
          <a:p>
            <a:pPr>
              <a:defRPr sz="3600" b="1">
                <a:solidFill>
                  <a:srgbClr val="FFFFFF"/>
                </a:solidFill>
                <a:latin typeface="Plus Jakarta Sans"/>
              </a:defRPr>
            </a:pPr>
            <a:r>
              <a:rPr sz="3600" b="1">
                <a:solidFill>
                  <a:srgbClr val="FFFFFF"/>
                </a:solidFill>
                <a:latin typeface="Plus Jakarta Sans"/>
              </a:rPr>
              <a:t>The operation</a:t>
            </a:r>
          </a:p>
        </p:txBody>
      </p:sp>
      <p:sp>
        <p:nvSpPr>
          <p:cNvPr id="9010" name="Google Shape;50;p7"/>
          <p:cNvSpPr/>
          <p:nvPr/>
        </p:nvSpPr>
        <p:spPr>
          <a:xfrm>
            <a:off x="5810250" y="1581150"/>
            <a:ext cx="314325" cy="314325"/>
          </a:xfrm>
          <a:custGeom>
            <a:avLst/>
            <a:gdLst/>
            <a:ahLst/>
            <a:cxnLst/>
            <a:rect l="l" t="t" r="r" b="b"/>
            <a:pathLst>
              <a:path w="615314" h="615315" extrusionOk="0">
                <a:moveTo>
                  <a:pt x="307372" y="0"/>
                </a:moveTo>
                <a:lnTo>
                  <a:pt x="295063" y="64094"/>
                </a:lnTo>
                <a:lnTo>
                  <a:pt x="281976" y="117458"/>
                </a:lnTo>
                <a:lnTo>
                  <a:pt x="266867" y="161336"/>
                </a:lnTo>
                <a:lnTo>
                  <a:pt x="248493" y="196971"/>
                </a:lnTo>
                <a:lnTo>
                  <a:pt x="196971" y="248493"/>
                </a:lnTo>
                <a:lnTo>
                  <a:pt x="161336" y="266867"/>
                </a:lnTo>
                <a:lnTo>
                  <a:pt x="117458" y="281976"/>
                </a:lnTo>
                <a:lnTo>
                  <a:pt x="64094" y="295063"/>
                </a:lnTo>
                <a:lnTo>
                  <a:pt x="0" y="307372"/>
                </a:lnTo>
                <a:lnTo>
                  <a:pt x="64094" y="319682"/>
                </a:lnTo>
                <a:lnTo>
                  <a:pt x="117458" y="332769"/>
                </a:lnTo>
                <a:lnTo>
                  <a:pt x="161336" y="347878"/>
                </a:lnTo>
                <a:lnTo>
                  <a:pt x="196971" y="366252"/>
                </a:lnTo>
                <a:lnTo>
                  <a:pt x="248493" y="417773"/>
                </a:lnTo>
                <a:lnTo>
                  <a:pt x="266867" y="453409"/>
                </a:lnTo>
                <a:lnTo>
                  <a:pt x="281976" y="497287"/>
                </a:lnTo>
                <a:lnTo>
                  <a:pt x="295063" y="550651"/>
                </a:lnTo>
                <a:lnTo>
                  <a:pt x="307372" y="614745"/>
                </a:lnTo>
                <a:lnTo>
                  <a:pt x="319682" y="550651"/>
                </a:lnTo>
                <a:lnTo>
                  <a:pt x="332769" y="497287"/>
                </a:lnTo>
                <a:lnTo>
                  <a:pt x="347878" y="453409"/>
                </a:lnTo>
                <a:lnTo>
                  <a:pt x="366252" y="417773"/>
                </a:lnTo>
                <a:lnTo>
                  <a:pt x="417773" y="366252"/>
                </a:lnTo>
                <a:lnTo>
                  <a:pt x="453409" y="347878"/>
                </a:lnTo>
                <a:lnTo>
                  <a:pt x="497287" y="332769"/>
                </a:lnTo>
                <a:lnTo>
                  <a:pt x="550651" y="319682"/>
                </a:lnTo>
                <a:lnTo>
                  <a:pt x="614745" y="307372"/>
                </a:lnTo>
                <a:lnTo>
                  <a:pt x="550651" y="295063"/>
                </a:lnTo>
                <a:lnTo>
                  <a:pt x="497287" y="281976"/>
                </a:lnTo>
                <a:lnTo>
                  <a:pt x="453409" y="266867"/>
                </a:lnTo>
                <a:lnTo>
                  <a:pt x="417773" y="248493"/>
                </a:lnTo>
                <a:lnTo>
                  <a:pt x="366252" y="196971"/>
                </a:lnTo>
                <a:lnTo>
                  <a:pt x="347878" y="161336"/>
                </a:lnTo>
                <a:lnTo>
                  <a:pt x="332769" y="117458"/>
                </a:lnTo>
                <a:lnTo>
                  <a:pt x="319682" y="64094"/>
                </a:lnTo>
                <a:lnTo>
                  <a:pt x="307372" y="0"/>
                </a:lnTo>
                <a:close/>
              </a:path>
            </a:pathLst>
          </a:custGeom>
          <a:solidFill>
            <a:srgbClr val="89FF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011" name="Google Shape;49;p7"/>
          <p:cNvSpPr/>
          <p:nvPr/>
        </p:nvSpPr>
        <p:spPr>
          <a:xfrm>
            <a:off x="638175" y="1676400"/>
            <a:ext cx="552450" cy="85725"/>
          </a:xfrm>
          <a:custGeom>
            <a:avLst/>
            <a:gdLst/>
            <a:ahLst/>
            <a:cxnLst/>
            <a:rect l="l" t="t" r="r" b="b"/>
            <a:pathLst>
              <a:path w="2339340" h="539115" extrusionOk="0">
                <a:moveTo>
                  <a:pt x="2129736" y="0"/>
                </a:moveTo>
                <a:lnTo>
                  <a:pt x="209417" y="0"/>
                </a:lnTo>
                <a:lnTo>
                  <a:pt x="161399" y="5531"/>
                </a:lnTo>
                <a:lnTo>
                  <a:pt x="117319" y="21286"/>
                </a:lnTo>
                <a:lnTo>
                  <a:pt x="78436" y="46009"/>
                </a:lnTo>
                <a:lnTo>
                  <a:pt x="46005" y="78440"/>
                </a:lnTo>
                <a:lnTo>
                  <a:pt x="21284" y="117324"/>
                </a:lnTo>
                <a:lnTo>
                  <a:pt x="5530" y="161402"/>
                </a:lnTo>
                <a:lnTo>
                  <a:pt x="0" y="209417"/>
                </a:lnTo>
                <a:lnTo>
                  <a:pt x="0" y="329089"/>
                </a:lnTo>
                <a:lnTo>
                  <a:pt x="5530" y="377108"/>
                </a:lnTo>
                <a:lnTo>
                  <a:pt x="21284" y="421187"/>
                </a:lnTo>
                <a:lnTo>
                  <a:pt x="46005" y="460070"/>
                </a:lnTo>
                <a:lnTo>
                  <a:pt x="78436" y="492501"/>
                </a:lnTo>
                <a:lnTo>
                  <a:pt x="117319" y="517222"/>
                </a:lnTo>
                <a:lnTo>
                  <a:pt x="161399" y="532976"/>
                </a:lnTo>
                <a:lnTo>
                  <a:pt x="209417" y="538507"/>
                </a:lnTo>
                <a:lnTo>
                  <a:pt x="2129736" y="538507"/>
                </a:lnTo>
                <a:lnTo>
                  <a:pt x="2177754" y="532976"/>
                </a:lnTo>
                <a:lnTo>
                  <a:pt x="2221834" y="517222"/>
                </a:lnTo>
                <a:lnTo>
                  <a:pt x="2260717" y="492501"/>
                </a:lnTo>
                <a:lnTo>
                  <a:pt x="2293148" y="460070"/>
                </a:lnTo>
                <a:lnTo>
                  <a:pt x="2317869" y="421187"/>
                </a:lnTo>
                <a:lnTo>
                  <a:pt x="2333623" y="377108"/>
                </a:lnTo>
                <a:lnTo>
                  <a:pt x="2339153" y="329089"/>
                </a:lnTo>
                <a:lnTo>
                  <a:pt x="2339153" y="209417"/>
                </a:lnTo>
                <a:lnTo>
                  <a:pt x="2333623" y="161402"/>
                </a:lnTo>
                <a:lnTo>
                  <a:pt x="2317869" y="117324"/>
                </a:lnTo>
                <a:lnTo>
                  <a:pt x="2293148" y="78440"/>
                </a:lnTo>
                <a:lnTo>
                  <a:pt x="2260717" y="46009"/>
                </a:lnTo>
                <a:lnTo>
                  <a:pt x="2221834" y="21286"/>
                </a:lnTo>
                <a:lnTo>
                  <a:pt x="2177754" y="5531"/>
                </a:lnTo>
                <a:lnTo>
                  <a:pt x="2129736" y="0"/>
                </a:lnTo>
                <a:close/>
              </a:path>
            </a:pathLst>
          </a:custGeom>
          <a:solidFill>
            <a:srgbClr val="89FF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61616"/>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89FF00"/>
                </a:solidFill>
                <a:latin typeface="Plus Jakarta Sans" pitchFamily="34" charset="0"/>
                <a:ea typeface="Segoe UI" pitchFamily="34" charset="-122"/>
                <a:cs typeface="Segoe UI" pitchFamily="34" charset="-120"/>
              </a:rPr>
              <a:t>THE OPERATION</a:t>
            </a:r>
            <a:endParaRPr lang="en-US" sz="950" dirty="0">
              <a:latin typeface="Plus Jakarta Sans"/>
            </a:endParaRPr>
          </a:p>
        </p:txBody>
      </p:sp>
      <p:sp>
        <p:nvSpPr>
          <p:cNvPr id="3" name="Text 1"/>
          <p:cNvSpPr txBox="1"/>
          <p:nvPr/>
        </p:nvSpPr>
        <p:spPr>
          <a:xfrm>
            <a:off x="6979615" y="384048"/>
            <a:ext cx="4572000" cy="274320"/>
          </a:xfrm>
          <a:prstGeom prst="rect">
            <a:avLst/>
          </a:prstGeom>
          <a:noFill/>
          <a:ln/>
        </p:spPr>
        <p:txBody>
          <a:bodyPr wrap="square" lIns="0" tIns="0" rIns="0" bIns="0" rtlCol="0" anchor="t"/>
          <a:lstStyle/>
          <a:p>
            <a:pPr algn="r" indent="0" marL="0">
              <a:buNone/>
            </a:pPr>
            <a:r>
              <a:rPr lang="en-US" sz="950" spc="100" kern="0" dirty="0">
                <a:solidFill>
                  <a:srgbClr val="BFBFBF"/>
                </a:solidFill>
                <a:latin typeface="Plus Jakarta Sans" pitchFamily="34" charset="0"/>
                <a:ea typeface="Segoe UI" pitchFamily="34" charset="-122"/>
                <a:cs typeface="Segoe UI" pitchFamily="34" charset="-120"/>
              </a:rPr>
              <a:t>24 / 36</a:t>
            </a:r>
            <a:endParaRPr lang="en-US" sz="950" dirty="0">
              <a:latin typeface="Plus Jakarta Sans"/>
            </a:endParaRPr>
          </a:p>
        </p:txBody>
      </p:sp>
      <p:sp>
        <p:nvSpPr>
          <p:cNvPr id="5" name="Text 3"/>
          <p:cNvSpPr txBox="1"/>
          <p:nvPr/>
        </p:nvSpPr>
        <p:spPr>
          <a:xfrm>
            <a:off x="640080" y="6345936"/>
            <a:ext cx="9997135" cy="228600"/>
          </a:xfrm>
          <a:prstGeom prst="rect">
            <a:avLst/>
          </a:prstGeom>
          <a:noFill/>
          <a:ln/>
        </p:spPr>
        <p:txBody>
          <a:bodyPr wrap="square" lIns="0" tIns="0" rIns="0" bIns="0" rtlCol="0" anchor="t"/>
          <a:lstStyle/>
          <a:p>
            <a:pPr algn="l" indent="0" marL="0">
              <a:buNone/>
            </a:pPr>
            <a:r>
              <a:rPr lang="en-US" sz="800" spc="50" kern="0" dirty="0">
                <a:solidFill>
                  <a:srgbClr val="AFAFAF"/>
                </a:solidFill>
                <a:latin typeface="Plus Jakarta Sans" pitchFamily="34" charset="0"/>
                <a:ea typeface="Segoe UI" pitchFamily="34" charset="-122"/>
                <a:cs typeface="Segoe UI" pitchFamily="34" charset="-120"/>
              </a:rPr>
              <a:t>AUA24  ·  ICS16  ·  AP23</a:t>
            </a:r>
            <a:endParaRPr lang="en-US" sz="800" dirty="0">
              <a:latin typeface="Plus Jakarta Sans"/>
            </a:endParaRPr>
          </a:p>
        </p:txBody>
      </p:sp>
      <p:pic>
        <p:nvPicPr>
          <p:cNvPr id="115" name="UroOps clip aus-26-exposure">
            <a:hlinkClick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640080" y="1828800"/>
            <a:ext cx="6408115" cy="3291840"/>
          </a:xfrm>
          <a:prstGeom prst="rect">
            <a:avLst/>
          </a:prstGeom>
        </p:spPr>
      </p:pic>
      <p:sp>
        <p:nvSpPr>
          <p:cNvPr id="7" name="Text 4"/>
          <p:cNvSpPr txBox="1"/>
          <p:nvPr/>
        </p:nvSpPr>
        <p:spPr>
          <a:xfrm>
            <a:off x="8321040" y="1828800"/>
            <a:ext cx="3230575" cy="365760"/>
          </a:xfrm>
          <a:prstGeom prst="rect">
            <a:avLst/>
          </a:prstGeom>
          <a:noFill/>
          <a:ln/>
        </p:spPr>
        <p:txBody>
          <a:bodyPr wrap="square" lIns="0" tIns="0" rIns="0" bIns="0" rtlCol="0" anchor="t"/>
          <a:lstStyle/>
          <a:p>
            <a:pPr algn="l" indent="0" marL="0">
              <a:buNone/>
            </a:pPr>
            <a:r>
              <a:rPr lang="en-US" sz="1500" dirty="0">
                <a:solidFill>
                  <a:srgbClr val="89FF00"/>
                </a:solidFill>
                <a:latin typeface="Plus Jakarta Sans" pitchFamily="34" charset="0"/>
                <a:ea typeface="Segoe UI Semibold" pitchFamily="34" charset="-122"/>
                <a:cs typeface="Segoe UI Semibold" pitchFamily="34" charset="-120"/>
              </a:rPr>
              <a:t>The access plan</a:t>
            </a:r>
            <a:endParaRPr lang="en-US" sz="1500" dirty="0">
              <a:latin typeface="Plus Jakarta Sans"/>
            </a:endParaRPr>
          </a:p>
        </p:txBody>
      </p:sp>
      <p:sp>
        <p:nvSpPr>
          <p:cNvPr id="8" name="Shape 5"/>
          <p:cNvSpPr/>
          <p:nvPr/>
        </p:nvSpPr>
        <p:spPr>
          <a:xfrm>
            <a:off x="8321040" y="2459736"/>
            <a:ext cx="100584" cy="100584"/>
          </a:xfrm>
          <a:prstGeom prst="ellipse">
            <a:avLst/>
          </a:prstGeom>
          <a:solidFill>
            <a:srgbClr val="89FF00"/>
          </a:solidFill>
          <a:ln/>
        </p:spPr>
      </p:sp>
      <p:sp>
        <p:nvSpPr>
          <p:cNvPr id="9" name="Text 6"/>
          <p:cNvSpPr txBox="1"/>
          <p:nvPr/>
        </p:nvSpPr>
        <p:spPr>
          <a:xfrm>
            <a:off x="8567928" y="2377440"/>
            <a:ext cx="2983687" cy="662940"/>
          </a:xfrm>
          <a:prstGeom prst="rect">
            <a:avLst/>
          </a:prstGeom>
          <a:noFill/>
          <a:ln/>
        </p:spPr>
        <p:txBody>
          <a:bodyPr wrap="square" lIns="0" tIns="0" rIns="0" bIns="0" rtlCol="0" anchor="t"/>
          <a:lstStyle/>
          <a:p>
            <a:pPr algn="l" indent="0" marL="0">
              <a:lnSpc>
                <a:spcPct val="112000"/>
              </a:lnSpc>
              <a:buNone/>
            </a:pPr>
            <a:r>
              <a:rPr lang="en-US" sz="1400" dirty="0">
                <a:solidFill>
                  <a:srgbClr val="F4F5F7"/>
                </a:solidFill>
                <a:latin typeface="Plus Jakarta Sans" pitchFamily="34" charset="0"/>
                <a:ea typeface="Segoe UI" pitchFamily="34" charset="-122"/>
                <a:cs typeface="Segoe UI" pitchFamily="34" charset="-120"/>
              </a:rPr>
              <a:t>Respect hip mobility and protect pressure points</a:t>
            </a:r>
            <a:endParaRPr lang="en-US" sz="1400" dirty="0">
              <a:latin typeface="Plus Jakarta Sans"/>
            </a:endParaRPr>
          </a:p>
        </p:txBody>
      </p:sp>
      <p:sp>
        <p:nvSpPr>
          <p:cNvPr id="10" name="Shape 7"/>
          <p:cNvSpPr/>
          <p:nvPr/>
        </p:nvSpPr>
        <p:spPr>
          <a:xfrm>
            <a:off x="8321040" y="3168396"/>
            <a:ext cx="100584" cy="100584"/>
          </a:xfrm>
          <a:prstGeom prst="ellipse">
            <a:avLst/>
          </a:prstGeom>
          <a:solidFill>
            <a:srgbClr val="89FF00"/>
          </a:solidFill>
          <a:ln/>
        </p:spPr>
      </p:sp>
      <p:sp>
        <p:nvSpPr>
          <p:cNvPr id="11" name="Text 8"/>
          <p:cNvSpPr txBox="1"/>
          <p:nvPr/>
        </p:nvSpPr>
        <p:spPr>
          <a:xfrm>
            <a:off x="8567928" y="3086100"/>
            <a:ext cx="2983687" cy="662940"/>
          </a:xfrm>
          <a:prstGeom prst="rect">
            <a:avLst/>
          </a:prstGeom>
          <a:noFill/>
          <a:ln/>
        </p:spPr>
        <p:txBody>
          <a:bodyPr wrap="square" lIns="0" tIns="0" rIns="0" bIns="0" rtlCol="0" anchor="t"/>
          <a:lstStyle/>
          <a:p>
            <a:pPr algn="l" indent="0" marL="0">
              <a:lnSpc>
                <a:spcPct val="112000"/>
              </a:lnSpc>
              <a:buNone/>
            </a:pPr>
            <a:r>
              <a:rPr lang="en-US" sz="1400" dirty="0">
                <a:solidFill>
                  <a:srgbClr val="F4F5F7"/>
                </a:solidFill>
                <a:latin typeface="Plus Jakarta Sans" pitchFamily="34" charset="0"/>
                <a:ea typeface="Segoe UI" pitchFamily="34" charset="-122"/>
                <a:cs typeface="Segoe UI" pitchFamily="34" charset="-120"/>
              </a:rPr>
              <a:t>Plan the perineal, balloon and pump sites together</a:t>
            </a:r>
            <a:endParaRPr lang="en-US" sz="1400" dirty="0">
              <a:latin typeface="Plus Jakarta Sans"/>
            </a:endParaRPr>
          </a:p>
        </p:txBody>
      </p:sp>
      <p:sp>
        <p:nvSpPr>
          <p:cNvPr id="12" name="Shape 9"/>
          <p:cNvSpPr/>
          <p:nvPr/>
        </p:nvSpPr>
        <p:spPr>
          <a:xfrm>
            <a:off x="8321040" y="3877056"/>
            <a:ext cx="100584" cy="100584"/>
          </a:xfrm>
          <a:prstGeom prst="ellipse">
            <a:avLst/>
          </a:prstGeom>
          <a:solidFill>
            <a:srgbClr val="89FF00"/>
          </a:solidFill>
          <a:ln/>
        </p:spPr>
      </p:sp>
      <p:sp>
        <p:nvSpPr>
          <p:cNvPr id="13" name="Text 10"/>
          <p:cNvSpPr txBox="1"/>
          <p:nvPr/>
        </p:nvSpPr>
        <p:spPr>
          <a:xfrm>
            <a:off x="8567928" y="3794760"/>
            <a:ext cx="2983687" cy="662940"/>
          </a:xfrm>
          <a:prstGeom prst="rect">
            <a:avLst/>
          </a:prstGeom>
          <a:noFill/>
          <a:ln/>
        </p:spPr>
        <p:txBody>
          <a:bodyPr wrap="square" lIns="0" tIns="0" rIns="0" bIns="0" rtlCol="0" anchor="t"/>
          <a:lstStyle/>
          <a:p>
            <a:pPr algn="l" indent="0" marL="0">
              <a:lnSpc>
                <a:spcPct val="112000"/>
              </a:lnSpc>
              <a:buNone/>
            </a:pPr>
            <a:r>
              <a:rPr lang="en-US" sz="1400" dirty="0">
                <a:solidFill>
                  <a:srgbClr val="F4F5F7"/>
                </a:solidFill>
                <a:latin typeface="Plus Jakarta Sans" pitchFamily="34" charset="0"/>
                <a:ea typeface="Segoe UI" pitchFamily="34" charset="-122"/>
                <a:cs typeface="Segoe UI" pitchFamily="34" charset="-120"/>
              </a:rPr>
              <a:t>Review scars, mesh, previous devices and repairs</a:t>
            </a:r>
            <a:endParaRPr lang="en-US" sz="1400" dirty="0">
              <a:latin typeface="Plus Jakarta Sans"/>
            </a:endParaRPr>
          </a:p>
        </p:txBody>
      </p:sp>
      <p:sp>
        <p:nvSpPr>
          <p:cNvPr id="14" name="Shape 11"/>
          <p:cNvSpPr/>
          <p:nvPr/>
        </p:nvSpPr>
        <p:spPr>
          <a:xfrm>
            <a:off x="8321040" y="4585716"/>
            <a:ext cx="100584" cy="100584"/>
          </a:xfrm>
          <a:prstGeom prst="ellipse">
            <a:avLst/>
          </a:prstGeom>
          <a:solidFill>
            <a:srgbClr val="89FF00"/>
          </a:solidFill>
          <a:ln/>
        </p:spPr>
      </p:sp>
      <p:sp>
        <p:nvSpPr>
          <p:cNvPr id="15" name="Text 12"/>
          <p:cNvSpPr txBox="1"/>
          <p:nvPr/>
        </p:nvSpPr>
        <p:spPr>
          <a:xfrm>
            <a:off x="8567928" y="4503420"/>
            <a:ext cx="2983687" cy="662940"/>
          </a:xfrm>
          <a:prstGeom prst="rect">
            <a:avLst/>
          </a:prstGeom>
          <a:noFill/>
          <a:ln/>
        </p:spPr>
        <p:txBody>
          <a:bodyPr wrap="square" lIns="0" tIns="0" rIns="0" bIns="0" rtlCol="0" anchor="t"/>
          <a:lstStyle/>
          <a:p>
            <a:pPr algn="l" indent="0" marL="0">
              <a:lnSpc>
                <a:spcPct val="112000"/>
              </a:lnSpc>
              <a:buNone/>
            </a:pPr>
            <a:r>
              <a:rPr lang="en-US" sz="1400" dirty="0">
                <a:solidFill>
                  <a:srgbClr val="F4F5F7"/>
                </a:solidFill>
                <a:latin typeface="Plus Jakarta Sans" pitchFamily="34" charset="0"/>
                <a:ea typeface="Segoe UI" pitchFamily="34" charset="-122"/>
                <a:cs typeface="Segoe UI" pitchFamily="34" charset="-120"/>
              </a:rPr>
              <a:t>Poor exposure? Improve it before dissecting further</a:t>
            </a:r>
            <a:endParaRPr lang="en-US" sz="1400" dirty="0">
              <a:latin typeface="Plus Jakarta Sans"/>
            </a:endParaRPr>
          </a:p>
        </p:txBody>
      </p:sp>
      <p:sp>
        <p:nvSpPr>
          <p:cNvPr id="9001" name="replacement-title">
            <a:extLst>
              <a:ext uri="{FF2B5EF4-FFF2-40B4-BE49-F238E27FC236}">
                <a16:creationId xmlns:a16="http://schemas.microsoft.com/office/drawing/2014/main" id="{18D02D17-B197-47CE-AB77-EF3605F3D8EB}"/>
              </a:ext>
            </a:extLst>
          </p:cNvPr>
          <p:cNvSpPr>
            <a:spLocks noGrp="1"/>
          </p:cNvSpPr>
          <p:nvPr/>
        </p:nvSpPr>
        <p:spPr>
          <a:xfrm>
            <a:off x="638175" y="752475"/>
            <a:ext cx="10915650" cy="800100"/>
          </a:xfrm>
          <a:prstGeom prst="rect">
            <a:avLst/>
          </a:prstGeom>
          <a:noFill/>
          <a:ln w="0">
            <a:noFill/>
          </a:ln>
        </p:spPr>
        <p:txBody>
          <a:bodyPr anchor="ctr"/>
          <a:lstStyle>
            <a:defPPr>
              <a:defRPr sz="2625" b="1">
                <a:solidFill>
                  <a:srgbClr val="FFFFFF"/>
                </a:solidFill>
                <a:latin typeface="Plus Jakarta Sans"/>
              </a:defRPr>
            </a:defPPr>
            <a:lvl1pPr>
              <a:defRPr sz="2625" b="1">
                <a:solidFill>
                  <a:srgbClr val="FFFFFF"/>
                </a:solidFill>
                <a:latin typeface="Plus Jakarta Sans"/>
              </a:defRPr>
            </a:lvl1pPr>
            <a:lvl2pPr>
              <a:defRPr sz="2625" b="1">
                <a:solidFill>
                  <a:srgbClr val="FFFFFF"/>
                </a:solidFill>
                <a:latin typeface="Plus Jakarta Sans"/>
              </a:defRPr>
            </a:lvl2pPr>
            <a:lvl3pPr>
              <a:defRPr sz="2625" b="1">
                <a:solidFill>
                  <a:srgbClr val="FFFFFF"/>
                </a:solidFill>
                <a:latin typeface="Plus Jakarta Sans"/>
              </a:defRPr>
            </a:lvl3pPr>
            <a:lvl4pPr>
              <a:defRPr sz="2625" b="1">
                <a:solidFill>
                  <a:srgbClr val="FFFFFF"/>
                </a:solidFill>
                <a:latin typeface="Plus Jakarta Sans"/>
              </a:defRPr>
            </a:lvl4pPr>
            <a:lvl5pPr>
              <a:defRPr sz="2625" b="1">
                <a:solidFill>
                  <a:srgbClr val="FFFFFF"/>
                </a:solidFill>
                <a:latin typeface="Plus Jakarta Sans"/>
              </a:defRPr>
            </a:lvl5pPr>
            <a:lvl6pPr>
              <a:defRPr sz="2625" b="1">
                <a:solidFill>
                  <a:srgbClr val="FFFFFF"/>
                </a:solidFill>
                <a:latin typeface="Plus Jakarta Sans"/>
              </a:defRPr>
            </a:lvl6pPr>
            <a:lvl7pPr>
              <a:defRPr sz="2625" b="1">
                <a:solidFill>
                  <a:srgbClr val="FFFFFF"/>
                </a:solidFill>
                <a:latin typeface="Plus Jakarta Sans"/>
              </a:defRPr>
            </a:lvl7pPr>
            <a:lvl8pPr>
              <a:defRPr sz="2625" b="1">
                <a:solidFill>
                  <a:srgbClr val="FFFFFF"/>
                </a:solidFill>
                <a:latin typeface="Plus Jakarta Sans"/>
              </a:defRPr>
            </a:lvl8pPr>
            <a:lvl9pPr>
              <a:defRPr sz="2625" b="1">
                <a:solidFill>
                  <a:srgbClr val="FFFFFF"/>
                </a:solidFill>
                <a:latin typeface="Plus Jakarta Sans"/>
              </a:defRPr>
            </a:lvl9pPr>
          </a:lstStyle>
          <a:p>
            <a:pPr>
              <a:defRPr sz="2625" b="1">
                <a:solidFill>
                  <a:srgbClr val="FFFFFF"/>
                </a:solidFill>
                <a:latin typeface="Plus Jakarta Sans"/>
              </a:defRPr>
            </a:pPr>
            <a:r>
              <a:rPr sz="2625" b="1">
                <a:solidFill>
                  <a:srgbClr val="FFFFFF"/>
                </a:solidFill>
                <a:latin typeface="Plus Jakarta Sans"/>
              </a:rPr>
              <a:t>Positioning and exposure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8133" fill="hold"/>
                                        <p:tgtEl>
                                          <p:spTgt spid="11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115"/>
                </p:tgtEl>
              </p:cMediaNode>
            </p:video>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61616"/>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89FF00"/>
                </a:solidFill>
                <a:latin typeface="Plus Jakarta Sans" pitchFamily="34" charset="0"/>
                <a:ea typeface="Segoe UI" pitchFamily="34" charset="-122"/>
                <a:cs typeface="Segoe UI" pitchFamily="34" charset="-120"/>
              </a:rPr>
              <a:t>THE OPERATION</a:t>
            </a:r>
            <a:endParaRPr lang="en-US" sz="950" dirty="0">
              <a:latin typeface="Plus Jakarta Sans"/>
            </a:endParaRPr>
          </a:p>
        </p:txBody>
      </p:sp>
      <p:sp>
        <p:nvSpPr>
          <p:cNvPr id="3" name="Text 1"/>
          <p:cNvSpPr txBox="1"/>
          <p:nvPr/>
        </p:nvSpPr>
        <p:spPr>
          <a:xfrm>
            <a:off x="6979615" y="384048"/>
            <a:ext cx="4572000" cy="274320"/>
          </a:xfrm>
          <a:prstGeom prst="rect">
            <a:avLst/>
          </a:prstGeom>
          <a:noFill/>
          <a:ln/>
        </p:spPr>
        <p:txBody>
          <a:bodyPr wrap="square" lIns="0" tIns="0" rIns="0" bIns="0" rtlCol="0" anchor="t"/>
          <a:lstStyle/>
          <a:p>
            <a:pPr algn="r" indent="0" marL="0">
              <a:buNone/>
            </a:pPr>
            <a:r>
              <a:rPr lang="en-US" sz="950" spc="100" kern="0" dirty="0">
                <a:solidFill>
                  <a:srgbClr val="BFBFBF"/>
                </a:solidFill>
                <a:latin typeface="Plus Jakarta Sans" pitchFamily="34" charset="0"/>
                <a:ea typeface="Segoe UI" pitchFamily="34" charset="-122"/>
                <a:cs typeface="Segoe UI" pitchFamily="34" charset="-120"/>
              </a:rPr>
              <a:t>25 / 36</a:t>
            </a:r>
            <a:endParaRPr lang="en-US" sz="950" dirty="0">
              <a:latin typeface="Plus Jakarta Sans"/>
            </a:endParaRPr>
          </a:p>
        </p:txBody>
      </p:sp>
      <p:sp>
        <p:nvSpPr>
          <p:cNvPr id="5" name="Text 3"/>
          <p:cNvSpPr txBox="1"/>
          <p:nvPr/>
        </p:nvSpPr>
        <p:spPr>
          <a:xfrm>
            <a:off x="640080" y="6345936"/>
            <a:ext cx="9997135" cy="228600"/>
          </a:xfrm>
          <a:prstGeom prst="rect">
            <a:avLst/>
          </a:prstGeom>
          <a:noFill/>
          <a:ln/>
        </p:spPr>
        <p:txBody>
          <a:bodyPr wrap="square" lIns="0" tIns="0" rIns="0" bIns="0" rtlCol="0" anchor="t"/>
          <a:lstStyle/>
          <a:p>
            <a:pPr algn="l" indent="0" marL="0">
              <a:buNone/>
            </a:pPr>
            <a:r>
              <a:rPr lang="en-US" sz="800" spc="50" kern="0" dirty="0">
                <a:solidFill>
                  <a:srgbClr val="AFAFAF"/>
                </a:solidFill>
                <a:latin typeface="Plus Jakarta Sans" pitchFamily="34" charset="0"/>
                <a:ea typeface="Segoe UI" pitchFamily="34" charset="-122"/>
                <a:cs typeface="Segoe UI" pitchFamily="34" charset="-120"/>
              </a:rPr>
              <a:t>ICS16  ·  AP23  ·  CCIFU  ·  URETH26</a:t>
            </a:r>
            <a:endParaRPr lang="en-US" sz="800" dirty="0">
              <a:latin typeface="Plus Jakarta Sans"/>
            </a:endParaRPr>
          </a:p>
        </p:txBody>
      </p:sp>
      <p:pic>
        <p:nvPicPr>
          <p:cNvPr id="115" name="UroOps clip aus-27-dissection">
            <a:hlinkClick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640080" y="1828800"/>
            <a:ext cx="6408115" cy="3291840"/>
          </a:xfrm>
          <a:prstGeom prst="rect">
            <a:avLst/>
          </a:prstGeom>
        </p:spPr>
      </p:pic>
      <p:sp>
        <p:nvSpPr>
          <p:cNvPr id="7" name="Text 4"/>
          <p:cNvSpPr txBox="1"/>
          <p:nvPr/>
        </p:nvSpPr>
        <p:spPr>
          <a:xfrm>
            <a:off x="8321040" y="1828800"/>
            <a:ext cx="3230575" cy="365760"/>
          </a:xfrm>
          <a:prstGeom prst="rect">
            <a:avLst/>
          </a:prstGeom>
          <a:noFill/>
          <a:ln/>
        </p:spPr>
        <p:txBody>
          <a:bodyPr wrap="square" lIns="0" tIns="0" rIns="0" bIns="0" rtlCol="0" anchor="t"/>
          <a:lstStyle/>
          <a:p>
            <a:pPr algn="l" indent="0" marL="0">
              <a:buNone/>
            </a:pPr>
            <a:r>
              <a:rPr lang="en-US" sz="1500" dirty="0">
                <a:solidFill>
                  <a:srgbClr val="89FF00"/>
                </a:solidFill>
                <a:latin typeface="Plus Jakarta Sans" pitchFamily="34" charset="0"/>
                <a:ea typeface="Segoe UI Semibold" pitchFamily="34" charset="-122"/>
                <a:cs typeface="Segoe UI Semibold" pitchFamily="34" charset="-120"/>
              </a:rPr>
              <a:t>The cuff-bearing segment</a:t>
            </a:r>
            <a:endParaRPr lang="en-US" sz="1500" dirty="0">
              <a:latin typeface="Plus Jakarta Sans"/>
            </a:endParaRPr>
          </a:p>
        </p:txBody>
      </p:sp>
      <p:sp>
        <p:nvSpPr>
          <p:cNvPr id="8" name="Shape 5"/>
          <p:cNvSpPr/>
          <p:nvPr/>
        </p:nvSpPr>
        <p:spPr>
          <a:xfrm>
            <a:off x="8321040" y="2459736"/>
            <a:ext cx="100584" cy="100584"/>
          </a:xfrm>
          <a:prstGeom prst="ellipse">
            <a:avLst/>
          </a:prstGeom>
          <a:solidFill>
            <a:srgbClr val="89FF00"/>
          </a:solidFill>
          <a:ln/>
        </p:spPr>
      </p:sp>
      <p:sp>
        <p:nvSpPr>
          <p:cNvPr id="9" name="Text 6"/>
          <p:cNvSpPr txBox="1"/>
          <p:nvPr/>
        </p:nvSpPr>
        <p:spPr>
          <a:xfrm>
            <a:off x="8567928" y="2377440"/>
            <a:ext cx="2983687" cy="662940"/>
          </a:xfrm>
          <a:prstGeom prst="rect">
            <a:avLst/>
          </a:prstGeom>
          <a:noFill/>
          <a:ln/>
        </p:spPr>
        <p:txBody>
          <a:bodyPr wrap="square" lIns="0" tIns="0" rIns="0" bIns="0" rtlCol="0" anchor="t"/>
          <a:lstStyle/>
          <a:p>
            <a:pPr algn="l" indent="0" marL="0">
              <a:lnSpc>
                <a:spcPct val="112000"/>
              </a:lnSpc>
              <a:buNone/>
            </a:pPr>
            <a:r>
              <a:rPr lang="en-US" sz="1400" dirty="0">
                <a:solidFill>
                  <a:srgbClr val="F4F5F7"/>
                </a:solidFill>
                <a:latin typeface="Plus Jakarta Sans" pitchFamily="34" charset="0"/>
                <a:ea typeface="Segoe UI" pitchFamily="34" charset="-122"/>
                <a:cs typeface="Segoe UI" pitchFamily="34" charset="-120"/>
              </a:rPr>
              <a:t>Healthy tissue with enough spongy support</a:t>
            </a:r>
            <a:endParaRPr lang="en-US" sz="1400" dirty="0">
              <a:latin typeface="Plus Jakarta Sans"/>
            </a:endParaRPr>
          </a:p>
        </p:txBody>
      </p:sp>
      <p:sp>
        <p:nvSpPr>
          <p:cNvPr id="10" name="Shape 7"/>
          <p:cNvSpPr/>
          <p:nvPr/>
        </p:nvSpPr>
        <p:spPr>
          <a:xfrm>
            <a:off x="8321040" y="3168396"/>
            <a:ext cx="100584" cy="100584"/>
          </a:xfrm>
          <a:prstGeom prst="ellipse">
            <a:avLst/>
          </a:prstGeom>
          <a:solidFill>
            <a:srgbClr val="89FF00"/>
          </a:solidFill>
          <a:ln/>
        </p:spPr>
      </p:sp>
      <p:sp>
        <p:nvSpPr>
          <p:cNvPr id="11" name="Text 8"/>
          <p:cNvSpPr txBox="1"/>
          <p:nvPr/>
        </p:nvSpPr>
        <p:spPr>
          <a:xfrm>
            <a:off x="8567928" y="3086100"/>
            <a:ext cx="2983687" cy="662940"/>
          </a:xfrm>
          <a:prstGeom prst="rect">
            <a:avLst/>
          </a:prstGeom>
          <a:noFill/>
          <a:ln/>
        </p:spPr>
        <p:txBody>
          <a:bodyPr wrap="square" lIns="0" tIns="0" rIns="0" bIns="0" rtlCol="0" anchor="t"/>
          <a:lstStyle/>
          <a:p>
            <a:pPr algn="l" indent="0" marL="0">
              <a:lnSpc>
                <a:spcPct val="112000"/>
              </a:lnSpc>
              <a:buNone/>
            </a:pPr>
            <a:r>
              <a:rPr lang="en-US" sz="1400" dirty="0">
                <a:solidFill>
                  <a:srgbClr val="F4F5F7"/>
                </a:solidFill>
                <a:latin typeface="Plus Jakarta Sans" pitchFamily="34" charset="0"/>
                <a:ea typeface="Segoe UI" pitchFamily="34" charset="-122"/>
                <a:cs typeface="Segoe UI" pitchFamily="34" charset="-120"/>
              </a:rPr>
              <a:t>Dissect the plane behind the urethra under direct vision</a:t>
            </a:r>
            <a:endParaRPr lang="en-US" sz="1400" dirty="0">
              <a:latin typeface="Plus Jakarta Sans"/>
            </a:endParaRPr>
          </a:p>
        </p:txBody>
      </p:sp>
      <p:sp>
        <p:nvSpPr>
          <p:cNvPr id="12" name="Shape 9"/>
          <p:cNvSpPr/>
          <p:nvPr/>
        </p:nvSpPr>
        <p:spPr>
          <a:xfrm>
            <a:off x="8321040" y="3877056"/>
            <a:ext cx="100584" cy="100584"/>
          </a:xfrm>
          <a:prstGeom prst="ellipse">
            <a:avLst/>
          </a:prstGeom>
          <a:solidFill>
            <a:srgbClr val="89FF00"/>
          </a:solidFill>
          <a:ln/>
        </p:spPr>
      </p:sp>
      <p:sp>
        <p:nvSpPr>
          <p:cNvPr id="13" name="Text 10"/>
          <p:cNvSpPr txBox="1"/>
          <p:nvPr/>
        </p:nvSpPr>
        <p:spPr>
          <a:xfrm>
            <a:off x="8567928" y="3794760"/>
            <a:ext cx="2983687" cy="662940"/>
          </a:xfrm>
          <a:prstGeom prst="rect">
            <a:avLst/>
          </a:prstGeom>
          <a:noFill/>
          <a:ln/>
        </p:spPr>
        <p:txBody>
          <a:bodyPr wrap="square" lIns="0" tIns="0" rIns="0" bIns="0" rtlCol="0" anchor="t"/>
          <a:lstStyle/>
          <a:p>
            <a:pPr algn="l" indent="0" marL="0">
              <a:lnSpc>
                <a:spcPct val="112000"/>
              </a:lnSpc>
              <a:buNone/>
            </a:pPr>
            <a:r>
              <a:rPr lang="en-US" sz="1400" dirty="0">
                <a:solidFill>
                  <a:srgbClr val="F4F5F7"/>
                </a:solidFill>
                <a:latin typeface="Plus Jakarta Sans" pitchFamily="34" charset="0"/>
                <a:ea typeface="Segoe UI" pitchFamily="34" charset="-122"/>
                <a:cs typeface="Segoe UI" pitchFamily="34" charset="-120"/>
              </a:rPr>
              <a:t>Free only the length the cuff needs</a:t>
            </a:r>
            <a:endParaRPr lang="en-US" sz="1400" dirty="0">
              <a:latin typeface="Plus Jakarta Sans"/>
            </a:endParaRPr>
          </a:p>
        </p:txBody>
      </p:sp>
      <p:sp>
        <p:nvSpPr>
          <p:cNvPr id="14" name="Shape 11"/>
          <p:cNvSpPr/>
          <p:nvPr/>
        </p:nvSpPr>
        <p:spPr>
          <a:xfrm>
            <a:off x="8321040" y="4585716"/>
            <a:ext cx="100584" cy="100584"/>
          </a:xfrm>
          <a:prstGeom prst="ellipse">
            <a:avLst/>
          </a:prstGeom>
          <a:solidFill>
            <a:srgbClr val="89FF00"/>
          </a:solidFill>
          <a:ln/>
        </p:spPr>
      </p:sp>
      <p:sp>
        <p:nvSpPr>
          <p:cNvPr id="15" name="Text 12"/>
          <p:cNvSpPr txBox="1"/>
          <p:nvPr/>
        </p:nvSpPr>
        <p:spPr>
          <a:xfrm>
            <a:off x="8567928" y="4503420"/>
            <a:ext cx="2983687" cy="662940"/>
          </a:xfrm>
          <a:prstGeom prst="rect">
            <a:avLst/>
          </a:prstGeom>
          <a:noFill/>
          <a:ln/>
        </p:spPr>
        <p:txBody>
          <a:bodyPr wrap="square" lIns="0" tIns="0" rIns="0" bIns="0" rtlCol="0" anchor="t"/>
          <a:lstStyle/>
          <a:p>
            <a:pPr algn="l" indent="0" marL="0">
              <a:lnSpc>
                <a:spcPct val="112000"/>
              </a:lnSpc>
              <a:buNone/>
            </a:pPr>
            <a:r>
              <a:rPr lang="en-US" sz="1400" dirty="0">
                <a:solidFill>
                  <a:srgbClr val="F4F5F7"/>
                </a:solidFill>
                <a:latin typeface="Plus Jakarta Sans" pitchFamily="34" charset="0"/>
                <a:ea typeface="Segoe UI" pitchFamily="34" charset="-122"/>
                <a:cs typeface="Segoe UI" pitchFamily="34" charset="-120"/>
              </a:rPr>
              <a:t>Unsure of the plane or the wall? Stop and reassess</a:t>
            </a:r>
            <a:endParaRPr lang="en-US" sz="1400" dirty="0">
              <a:latin typeface="Plus Jakarta Sans"/>
            </a:endParaRPr>
          </a:p>
        </p:txBody>
      </p:sp>
      <p:sp>
        <p:nvSpPr>
          <p:cNvPr id="9001" name="replacement-title">
            <a:extLst>
              <a:ext uri="{FF2B5EF4-FFF2-40B4-BE49-F238E27FC236}">
                <a16:creationId xmlns:a16="http://schemas.microsoft.com/office/drawing/2014/main" id="{57B63E85-109A-4940-A5D3-5EF5C7264D9C}"/>
              </a:ext>
            </a:extLst>
          </p:cNvPr>
          <p:cNvSpPr>
            <a:spLocks noGrp="1"/>
          </p:cNvSpPr>
          <p:nvPr/>
        </p:nvSpPr>
        <p:spPr>
          <a:xfrm>
            <a:off x="638175" y="752475"/>
            <a:ext cx="10915650" cy="800100"/>
          </a:xfrm>
          <a:prstGeom prst="rect">
            <a:avLst/>
          </a:prstGeom>
          <a:noFill/>
          <a:ln w="0">
            <a:noFill/>
          </a:ln>
        </p:spPr>
        <p:txBody>
          <a:bodyPr anchor="ctr"/>
          <a:lstStyle>
            <a:defPPr>
              <a:defRPr sz="2625" b="1">
                <a:solidFill>
                  <a:srgbClr val="FFFFFF"/>
                </a:solidFill>
                <a:latin typeface="Plus Jakarta Sans"/>
              </a:defRPr>
            </a:defPPr>
            <a:lvl1pPr>
              <a:defRPr sz="2625" b="1">
                <a:solidFill>
                  <a:srgbClr val="FFFFFF"/>
                </a:solidFill>
                <a:latin typeface="Plus Jakarta Sans"/>
              </a:defRPr>
            </a:lvl1pPr>
            <a:lvl2pPr>
              <a:defRPr sz="2625" b="1">
                <a:solidFill>
                  <a:srgbClr val="FFFFFF"/>
                </a:solidFill>
                <a:latin typeface="Plus Jakarta Sans"/>
              </a:defRPr>
            </a:lvl2pPr>
            <a:lvl3pPr>
              <a:defRPr sz="2625" b="1">
                <a:solidFill>
                  <a:srgbClr val="FFFFFF"/>
                </a:solidFill>
                <a:latin typeface="Plus Jakarta Sans"/>
              </a:defRPr>
            </a:lvl3pPr>
            <a:lvl4pPr>
              <a:defRPr sz="2625" b="1">
                <a:solidFill>
                  <a:srgbClr val="FFFFFF"/>
                </a:solidFill>
                <a:latin typeface="Plus Jakarta Sans"/>
              </a:defRPr>
            </a:lvl4pPr>
            <a:lvl5pPr>
              <a:defRPr sz="2625" b="1">
                <a:solidFill>
                  <a:srgbClr val="FFFFFF"/>
                </a:solidFill>
                <a:latin typeface="Plus Jakarta Sans"/>
              </a:defRPr>
            </a:lvl5pPr>
            <a:lvl6pPr>
              <a:defRPr sz="2625" b="1">
                <a:solidFill>
                  <a:srgbClr val="FFFFFF"/>
                </a:solidFill>
                <a:latin typeface="Plus Jakarta Sans"/>
              </a:defRPr>
            </a:lvl6pPr>
            <a:lvl7pPr>
              <a:defRPr sz="2625" b="1">
                <a:solidFill>
                  <a:srgbClr val="FFFFFF"/>
                </a:solidFill>
                <a:latin typeface="Plus Jakarta Sans"/>
              </a:defRPr>
            </a:lvl7pPr>
            <a:lvl8pPr>
              <a:defRPr sz="2625" b="1">
                <a:solidFill>
                  <a:srgbClr val="FFFFFF"/>
                </a:solidFill>
                <a:latin typeface="Plus Jakarta Sans"/>
              </a:defRPr>
            </a:lvl8pPr>
            <a:lvl9pPr>
              <a:defRPr sz="2625" b="1">
                <a:solidFill>
                  <a:srgbClr val="FFFFFF"/>
                </a:solidFill>
                <a:latin typeface="Plus Jakarta Sans"/>
              </a:defRPr>
            </a:lvl9pPr>
          </a:lstStyle>
          <a:p>
            <a:pPr>
              <a:defRPr sz="2625" b="1">
                <a:solidFill>
                  <a:srgbClr val="FFFFFF"/>
                </a:solidFill>
                <a:latin typeface="Plus Jakarta Sans"/>
              </a:defRPr>
            </a:pPr>
            <a:r>
              <a:rPr sz="2625" b="1">
                <a:solidFill>
                  <a:srgbClr val="FFFFFF"/>
                </a:solidFill>
                <a:latin typeface="Plus Jakarta Sans"/>
              </a:rPr>
              <a:t>Bulbar dissection and tissue preservation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8133" fill="hold"/>
                                        <p:tgtEl>
                                          <p:spTgt spid="11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115"/>
                </p:tgtEl>
              </p:cMediaNode>
            </p:video>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61616"/>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89FF00"/>
                </a:solidFill>
                <a:latin typeface="Plus Jakarta Sans" pitchFamily="34" charset="0"/>
                <a:ea typeface="Segoe UI" pitchFamily="34" charset="-122"/>
                <a:cs typeface="Segoe UI" pitchFamily="34" charset="-120"/>
              </a:rPr>
              <a:t>THE OPERATION</a:t>
            </a:r>
            <a:endParaRPr lang="en-US" sz="950" dirty="0">
              <a:latin typeface="Plus Jakarta Sans"/>
            </a:endParaRPr>
          </a:p>
        </p:txBody>
      </p:sp>
      <p:sp>
        <p:nvSpPr>
          <p:cNvPr id="3" name="Text 1"/>
          <p:cNvSpPr txBox="1"/>
          <p:nvPr/>
        </p:nvSpPr>
        <p:spPr>
          <a:xfrm>
            <a:off x="6979615" y="384048"/>
            <a:ext cx="4572000" cy="274320"/>
          </a:xfrm>
          <a:prstGeom prst="rect">
            <a:avLst/>
          </a:prstGeom>
          <a:noFill/>
          <a:ln/>
        </p:spPr>
        <p:txBody>
          <a:bodyPr wrap="square" lIns="0" tIns="0" rIns="0" bIns="0" rtlCol="0" anchor="t"/>
          <a:lstStyle/>
          <a:p>
            <a:pPr algn="r" indent="0" marL="0">
              <a:buNone/>
            </a:pPr>
            <a:r>
              <a:rPr lang="en-US" sz="950" spc="100" kern="0" dirty="0">
                <a:solidFill>
                  <a:srgbClr val="BFBFBF"/>
                </a:solidFill>
                <a:latin typeface="Plus Jakarta Sans" pitchFamily="34" charset="0"/>
                <a:ea typeface="Segoe UI" pitchFamily="34" charset="-122"/>
                <a:cs typeface="Segoe UI" pitchFamily="34" charset="-120"/>
              </a:rPr>
              <a:t>26 / 36</a:t>
            </a:r>
            <a:endParaRPr lang="en-US" sz="950" dirty="0">
              <a:latin typeface="Plus Jakarta Sans"/>
            </a:endParaRPr>
          </a:p>
        </p:txBody>
      </p:sp>
      <p:sp>
        <p:nvSpPr>
          <p:cNvPr id="5" name="Text 3"/>
          <p:cNvSpPr txBox="1"/>
          <p:nvPr/>
        </p:nvSpPr>
        <p:spPr>
          <a:xfrm>
            <a:off x="640080" y="6345936"/>
            <a:ext cx="9997135" cy="228600"/>
          </a:xfrm>
          <a:prstGeom prst="rect">
            <a:avLst/>
          </a:prstGeom>
          <a:noFill/>
          <a:ln/>
        </p:spPr>
        <p:txBody>
          <a:bodyPr wrap="square" lIns="0" tIns="0" rIns="0" bIns="0" rtlCol="0" anchor="t"/>
          <a:lstStyle/>
          <a:p>
            <a:pPr algn="l" indent="0" marL="0">
              <a:buNone/>
            </a:pPr>
            <a:r>
              <a:rPr lang="en-US" sz="800" spc="50" kern="0" dirty="0">
                <a:solidFill>
                  <a:srgbClr val="AFAFAF"/>
                </a:solidFill>
                <a:latin typeface="Plus Jakarta Sans" pitchFamily="34" charset="0"/>
                <a:ea typeface="Segoe UI" pitchFamily="34" charset="-122"/>
                <a:cs typeface="Segoe UI" pitchFamily="34" charset="-120"/>
              </a:rPr>
              <a:t>ICS16  ·  CCIFU  ·  CCSAFETY  ·  AP23</a:t>
            </a:r>
            <a:endParaRPr lang="en-US" sz="800" dirty="0">
              <a:latin typeface="Plus Jakarta Sans"/>
            </a:endParaRPr>
          </a:p>
        </p:txBody>
      </p:sp>
      <p:pic>
        <p:nvPicPr>
          <p:cNvPr id="117" name="UroOps clip aus-28-sizing">
            <a:hlinkClick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640080" y="1828800"/>
            <a:ext cx="6408115" cy="3291840"/>
          </a:xfrm>
          <a:prstGeom prst="rect">
            <a:avLst/>
          </a:prstGeom>
        </p:spPr>
      </p:pic>
      <p:sp>
        <p:nvSpPr>
          <p:cNvPr id="7" name="Text 4"/>
          <p:cNvSpPr txBox="1"/>
          <p:nvPr/>
        </p:nvSpPr>
        <p:spPr>
          <a:xfrm>
            <a:off x="8321040" y="1828800"/>
            <a:ext cx="3230575" cy="365760"/>
          </a:xfrm>
          <a:prstGeom prst="rect">
            <a:avLst/>
          </a:prstGeom>
          <a:noFill/>
          <a:ln/>
        </p:spPr>
        <p:txBody>
          <a:bodyPr wrap="square" lIns="0" tIns="0" rIns="0" bIns="0" rtlCol="0" anchor="t"/>
          <a:lstStyle/>
          <a:p>
            <a:pPr algn="l" indent="0" marL="0">
              <a:buNone/>
            </a:pPr>
            <a:r>
              <a:rPr lang="en-US" sz="1500" dirty="0">
                <a:solidFill>
                  <a:srgbClr val="89FF00"/>
                </a:solidFill>
                <a:latin typeface="Plus Jakarta Sans" pitchFamily="34" charset="0"/>
                <a:ea typeface="Segoe UI Semibold" pitchFamily="34" charset="-122"/>
                <a:cs typeface="Segoe UI Semibold" pitchFamily="34" charset="-120"/>
              </a:rPr>
              <a:t>Sizing errors</a:t>
            </a:r>
            <a:endParaRPr lang="en-US" sz="1500" dirty="0">
              <a:latin typeface="Plus Jakarta Sans"/>
            </a:endParaRPr>
          </a:p>
        </p:txBody>
      </p:sp>
      <p:sp>
        <p:nvSpPr>
          <p:cNvPr id="8" name="Shape 5"/>
          <p:cNvSpPr/>
          <p:nvPr/>
        </p:nvSpPr>
        <p:spPr>
          <a:xfrm>
            <a:off x="8321040" y="2459736"/>
            <a:ext cx="100584" cy="100584"/>
          </a:xfrm>
          <a:prstGeom prst="ellipse">
            <a:avLst/>
          </a:prstGeom>
          <a:solidFill>
            <a:srgbClr val="89FF00"/>
          </a:solidFill>
          <a:ln/>
        </p:spPr>
      </p:sp>
      <p:sp>
        <p:nvSpPr>
          <p:cNvPr id="9" name="Text 6"/>
          <p:cNvSpPr txBox="1"/>
          <p:nvPr/>
        </p:nvSpPr>
        <p:spPr>
          <a:xfrm>
            <a:off x="8567928" y="2377440"/>
            <a:ext cx="2983687" cy="521208"/>
          </a:xfrm>
          <a:prstGeom prst="rect">
            <a:avLst/>
          </a:prstGeom>
          <a:noFill/>
          <a:ln/>
        </p:spPr>
        <p:txBody>
          <a:bodyPr wrap="square" lIns="0" tIns="0" rIns="0" bIns="0" rtlCol="0" anchor="t"/>
          <a:lstStyle/>
          <a:p>
            <a:pPr algn="l" indent="0" marL="0">
              <a:lnSpc>
                <a:spcPct val="112000"/>
              </a:lnSpc>
              <a:buNone/>
            </a:pPr>
            <a:r>
              <a:rPr lang="en-US" sz="1400" dirty="0">
                <a:solidFill>
                  <a:srgbClr val="F4F5F7"/>
                </a:solidFill>
                <a:latin typeface="Plus Jakarta Sans" pitchFamily="34" charset="0"/>
                <a:ea typeface="Segoe UI" pitchFamily="34" charset="-122"/>
                <a:cs typeface="Segoe UI" pitchFamily="34" charset="-120"/>
              </a:rPr>
              <a:t>Let go of the traction; do not squash the urethra</a:t>
            </a:r>
            <a:endParaRPr lang="en-US" sz="1400" dirty="0">
              <a:latin typeface="Plus Jakarta Sans"/>
            </a:endParaRPr>
          </a:p>
        </p:txBody>
      </p:sp>
      <p:sp>
        <p:nvSpPr>
          <p:cNvPr id="10" name="Shape 7"/>
          <p:cNvSpPr/>
          <p:nvPr/>
        </p:nvSpPr>
        <p:spPr>
          <a:xfrm>
            <a:off x="8321040" y="3026664"/>
            <a:ext cx="100584" cy="100584"/>
          </a:xfrm>
          <a:prstGeom prst="ellipse">
            <a:avLst/>
          </a:prstGeom>
          <a:solidFill>
            <a:srgbClr val="89FF00"/>
          </a:solidFill>
          <a:ln/>
        </p:spPr>
      </p:sp>
      <p:sp>
        <p:nvSpPr>
          <p:cNvPr id="11" name="Text 8"/>
          <p:cNvSpPr txBox="1"/>
          <p:nvPr/>
        </p:nvSpPr>
        <p:spPr>
          <a:xfrm>
            <a:off x="8567928" y="2944368"/>
            <a:ext cx="2983687" cy="521208"/>
          </a:xfrm>
          <a:prstGeom prst="rect">
            <a:avLst/>
          </a:prstGeom>
          <a:noFill/>
          <a:ln/>
        </p:spPr>
        <p:txBody>
          <a:bodyPr wrap="square" lIns="0" tIns="0" rIns="0" bIns="0" rtlCol="0" anchor="t"/>
          <a:lstStyle/>
          <a:p>
            <a:pPr algn="l" indent="0" marL="0">
              <a:lnSpc>
                <a:spcPct val="112000"/>
              </a:lnSpc>
              <a:buNone/>
            </a:pPr>
            <a:r>
              <a:rPr lang="en-US" sz="1400" dirty="0">
                <a:solidFill>
                  <a:srgbClr val="F4F5F7"/>
                </a:solidFill>
                <a:latin typeface="Plus Jakarta Sans" pitchFamily="34" charset="0"/>
                <a:ea typeface="Segoe UI" pitchFamily="34" charset="-122"/>
                <a:cs typeface="Segoe UI" pitchFamily="34" charset="-120"/>
              </a:rPr>
              <a:t>Take the catheter out for a moment while you size the cuff</a:t>
            </a:r>
            <a:endParaRPr lang="en-US" sz="1400" dirty="0">
              <a:latin typeface="Plus Jakarta Sans"/>
            </a:endParaRPr>
          </a:p>
        </p:txBody>
      </p:sp>
      <p:sp>
        <p:nvSpPr>
          <p:cNvPr id="12" name="Shape 9"/>
          <p:cNvSpPr/>
          <p:nvPr/>
        </p:nvSpPr>
        <p:spPr>
          <a:xfrm>
            <a:off x="8321040" y="3593592"/>
            <a:ext cx="100584" cy="100584"/>
          </a:xfrm>
          <a:prstGeom prst="ellipse">
            <a:avLst/>
          </a:prstGeom>
          <a:solidFill>
            <a:srgbClr val="89FF00"/>
          </a:solidFill>
          <a:ln/>
        </p:spPr>
      </p:sp>
      <p:sp>
        <p:nvSpPr>
          <p:cNvPr id="13" name="Text 10"/>
          <p:cNvSpPr txBox="1"/>
          <p:nvPr/>
        </p:nvSpPr>
        <p:spPr>
          <a:xfrm>
            <a:off x="8567928" y="3511296"/>
            <a:ext cx="2983687" cy="521208"/>
          </a:xfrm>
          <a:prstGeom prst="rect">
            <a:avLst/>
          </a:prstGeom>
          <a:noFill/>
          <a:ln/>
        </p:spPr>
        <p:txBody>
          <a:bodyPr wrap="square" lIns="0" tIns="0" rIns="0" bIns="0" rtlCol="0" anchor="t"/>
          <a:lstStyle/>
          <a:p>
            <a:pPr algn="l" indent="0" marL="0">
              <a:lnSpc>
                <a:spcPct val="112000"/>
              </a:lnSpc>
              <a:buNone/>
            </a:pPr>
            <a:r>
              <a:rPr lang="en-US" sz="1400" dirty="0">
                <a:solidFill>
                  <a:srgbClr val="F4F5F7"/>
                </a:solidFill>
                <a:latin typeface="Plus Jakarta Sans" pitchFamily="34" charset="0"/>
                <a:ea typeface="Segoe UI" pitchFamily="34" charset="-122"/>
                <a:cs typeface="Segoe UI" pitchFamily="34" charset="-120"/>
              </a:rPr>
              <a:t>Confirm which tissue the cuff will enclose</a:t>
            </a:r>
            <a:endParaRPr lang="en-US" sz="1400" dirty="0">
              <a:latin typeface="Plus Jakarta Sans"/>
            </a:endParaRPr>
          </a:p>
        </p:txBody>
      </p:sp>
      <p:sp>
        <p:nvSpPr>
          <p:cNvPr id="14" name="Shape 11"/>
          <p:cNvSpPr/>
          <p:nvPr/>
        </p:nvSpPr>
        <p:spPr>
          <a:xfrm>
            <a:off x="8321040" y="4160520"/>
            <a:ext cx="100584" cy="100584"/>
          </a:xfrm>
          <a:prstGeom prst="ellipse">
            <a:avLst/>
          </a:prstGeom>
          <a:solidFill>
            <a:srgbClr val="89FF00"/>
          </a:solidFill>
          <a:ln/>
        </p:spPr>
      </p:sp>
      <p:sp>
        <p:nvSpPr>
          <p:cNvPr id="15" name="Text 12"/>
          <p:cNvSpPr txBox="1"/>
          <p:nvPr/>
        </p:nvSpPr>
        <p:spPr>
          <a:xfrm>
            <a:off x="8567928" y="4078224"/>
            <a:ext cx="2983687" cy="521208"/>
          </a:xfrm>
          <a:prstGeom prst="rect">
            <a:avLst/>
          </a:prstGeom>
          <a:noFill/>
          <a:ln/>
        </p:spPr>
        <p:txBody>
          <a:bodyPr wrap="square" lIns="0" tIns="0" rIns="0" bIns="0" rtlCol="0" anchor="t"/>
          <a:lstStyle/>
          <a:p>
            <a:pPr algn="l" indent="0" marL="0">
              <a:lnSpc>
                <a:spcPct val="112000"/>
              </a:lnSpc>
              <a:buNone/>
            </a:pPr>
            <a:r>
              <a:rPr lang="en-US" sz="1400" dirty="0">
                <a:solidFill>
                  <a:srgbClr val="F4F5F7"/>
                </a:solidFill>
                <a:latin typeface="Plus Jakarta Sans" pitchFamily="34" charset="0"/>
                <a:ea typeface="Segoe UI" pitchFamily="34" charset="-122"/>
                <a:cs typeface="Segoe UI" pitchFamily="34" charset="-120"/>
              </a:rPr>
              <a:t>Use the device’s own sizing method</a:t>
            </a:r>
            <a:endParaRPr lang="en-US" sz="1400" dirty="0">
              <a:latin typeface="Plus Jakarta Sans"/>
            </a:endParaRPr>
          </a:p>
        </p:txBody>
      </p:sp>
      <p:sp>
        <p:nvSpPr>
          <p:cNvPr id="16" name="Shape 13"/>
          <p:cNvSpPr/>
          <p:nvPr/>
        </p:nvSpPr>
        <p:spPr>
          <a:xfrm>
            <a:off x="8321040" y="4727448"/>
            <a:ext cx="100584" cy="100584"/>
          </a:xfrm>
          <a:prstGeom prst="ellipse">
            <a:avLst/>
          </a:prstGeom>
          <a:solidFill>
            <a:srgbClr val="89FF00"/>
          </a:solidFill>
          <a:ln/>
        </p:spPr>
      </p:sp>
      <p:sp>
        <p:nvSpPr>
          <p:cNvPr id="17" name="Text 14"/>
          <p:cNvSpPr txBox="1"/>
          <p:nvPr/>
        </p:nvSpPr>
        <p:spPr>
          <a:xfrm>
            <a:off x="8567928" y="4645152"/>
            <a:ext cx="2983687" cy="521208"/>
          </a:xfrm>
          <a:prstGeom prst="rect">
            <a:avLst/>
          </a:prstGeom>
          <a:noFill/>
          <a:ln/>
        </p:spPr>
        <p:txBody>
          <a:bodyPr wrap="square" lIns="0" tIns="0" rIns="0" bIns="0" rtlCol="0" anchor="t"/>
          <a:lstStyle/>
          <a:p>
            <a:pPr algn="l" indent="0" marL="0">
              <a:lnSpc>
                <a:spcPct val="112000"/>
              </a:lnSpc>
              <a:buNone/>
            </a:pPr>
            <a:r>
              <a:rPr lang="en-US" sz="1400" dirty="0">
                <a:solidFill>
                  <a:srgbClr val="F4F5F7"/>
                </a:solidFill>
                <a:latin typeface="Plus Jakarta Sans" pitchFamily="34" charset="0"/>
                <a:ea typeface="Segoe UI" pitchFamily="34" charset="-122"/>
                <a:cs typeface="Segoe UI" pitchFamily="34" charset="-120"/>
              </a:rPr>
              <a:t>Poor fit? Measure again; do not raise the pressure</a:t>
            </a:r>
            <a:endParaRPr lang="en-US" sz="1400" dirty="0">
              <a:latin typeface="Plus Jakarta Sans"/>
            </a:endParaRPr>
          </a:p>
        </p:txBody>
      </p:sp>
      <p:sp>
        <p:nvSpPr>
          <p:cNvPr id="9001" name="replacement-title">
            <a:extLst>
              <a:ext uri="{FF2B5EF4-FFF2-40B4-BE49-F238E27FC236}">
                <a16:creationId xmlns:a16="http://schemas.microsoft.com/office/drawing/2014/main" id="{FF155C6F-9BEC-4970-AC6D-BFFAFD220EBD}"/>
              </a:ext>
            </a:extLst>
          </p:cNvPr>
          <p:cNvSpPr>
            <a:spLocks noGrp="1"/>
          </p:cNvSpPr>
          <p:nvPr/>
        </p:nvSpPr>
        <p:spPr>
          <a:xfrm>
            <a:off x="638175" y="752475"/>
            <a:ext cx="10915650" cy="800100"/>
          </a:xfrm>
          <a:prstGeom prst="rect">
            <a:avLst/>
          </a:prstGeom>
          <a:noFill/>
          <a:ln w="0">
            <a:noFill/>
          </a:ln>
        </p:spPr>
        <p:txBody>
          <a:bodyPr anchor="ctr"/>
          <a:lstStyle>
            <a:defPPr>
              <a:defRPr sz="2625" b="1">
                <a:solidFill>
                  <a:srgbClr val="FFFFFF"/>
                </a:solidFill>
                <a:latin typeface="Plus Jakarta Sans"/>
              </a:defRPr>
            </a:defPPr>
            <a:lvl1pPr>
              <a:defRPr sz="2625" b="1">
                <a:solidFill>
                  <a:srgbClr val="FFFFFF"/>
                </a:solidFill>
                <a:latin typeface="Plus Jakarta Sans"/>
              </a:defRPr>
            </a:lvl1pPr>
            <a:lvl2pPr>
              <a:defRPr sz="2625" b="1">
                <a:solidFill>
                  <a:srgbClr val="FFFFFF"/>
                </a:solidFill>
                <a:latin typeface="Plus Jakarta Sans"/>
              </a:defRPr>
            </a:lvl2pPr>
            <a:lvl3pPr>
              <a:defRPr sz="2625" b="1">
                <a:solidFill>
                  <a:srgbClr val="FFFFFF"/>
                </a:solidFill>
                <a:latin typeface="Plus Jakarta Sans"/>
              </a:defRPr>
            </a:lvl3pPr>
            <a:lvl4pPr>
              <a:defRPr sz="2625" b="1">
                <a:solidFill>
                  <a:srgbClr val="FFFFFF"/>
                </a:solidFill>
                <a:latin typeface="Plus Jakarta Sans"/>
              </a:defRPr>
            </a:lvl4pPr>
            <a:lvl5pPr>
              <a:defRPr sz="2625" b="1">
                <a:solidFill>
                  <a:srgbClr val="FFFFFF"/>
                </a:solidFill>
                <a:latin typeface="Plus Jakarta Sans"/>
              </a:defRPr>
            </a:lvl5pPr>
            <a:lvl6pPr>
              <a:defRPr sz="2625" b="1">
                <a:solidFill>
                  <a:srgbClr val="FFFFFF"/>
                </a:solidFill>
                <a:latin typeface="Plus Jakarta Sans"/>
              </a:defRPr>
            </a:lvl6pPr>
            <a:lvl7pPr>
              <a:defRPr sz="2625" b="1">
                <a:solidFill>
                  <a:srgbClr val="FFFFFF"/>
                </a:solidFill>
                <a:latin typeface="Plus Jakarta Sans"/>
              </a:defRPr>
            </a:lvl7pPr>
            <a:lvl8pPr>
              <a:defRPr sz="2625" b="1">
                <a:solidFill>
                  <a:srgbClr val="FFFFFF"/>
                </a:solidFill>
                <a:latin typeface="Plus Jakarta Sans"/>
              </a:defRPr>
            </a:lvl8pPr>
            <a:lvl9pPr>
              <a:defRPr sz="2625" b="1">
                <a:solidFill>
                  <a:srgbClr val="FFFFFF"/>
                </a:solidFill>
                <a:latin typeface="Plus Jakarta Sans"/>
              </a:defRPr>
            </a:lvl9pPr>
          </a:lstStyle>
          <a:p>
            <a:pPr>
              <a:defRPr sz="2625" b="1">
                <a:solidFill>
                  <a:srgbClr val="FFFFFF"/>
                </a:solidFill>
                <a:latin typeface="Plus Jakarta Sans"/>
              </a:defRPr>
            </a:pPr>
            <a:r>
              <a:rPr sz="2625" b="1">
                <a:solidFill>
                  <a:srgbClr val="FFFFFF"/>
                </a:solidFill>
                <a:latin typeface="Plus Jakarta Sans"/>
              </a:rPr>
              <a:t>Cuff measurement and fit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8133" fill="hold"/>
                                        <p:tgtEl>
                                          <p:spTgt spid="11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117"/>
                </p:tgtEl>
              </p:cMediaNode>
            </p:video>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61616"/>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05C489"/>
                </a:solidFill>
                <a:latin typeface="Plus Jakarta Sans" pitchFamily="34" charset="0"/>
                <a:ea typeface="Segoe UI" pitchFamily="34" charset="-122"/>
                <a:cs typeface="Segoe UI" pitchFamily="34" charset="-120"/>
              </a:rPr>
              <a:t>THE OPERATION</a:t>
            </a:r>
            <a:endParaRPr lang="en-US" sz="950" dirty="0">
              <a:latin typeface="Plus Jakarta Sans"/>
            </a:endParaRPr>
          </a:p>
        </p:txBody>
      </p:sp>
      <p:sp>
        <p:nvSpPr>
          <p:cNvPr id="3" name="Text 1"/>
          <p:cNvSpPr txBox="1"/>
          <p:nvPr/>
        </p:nvSpPr>
        <p:spPr>
          <a:xfrm>
            <a:off x="6979615" y="384048"/>
            <a:ext cx="4572000" cy="274320"/>
          </a:xfrm>
          <a:prstGeom prst="rect">
            <a:avLst/>
          </a:prstGeom>
          <a:noFill/>
          <a:ln/>
        </p:spPr>
        <p:txBody>
          <a:bodyPr wrap="square" lIns="0" tIns="0" rIns="0" bIns="0" rtlCol="0" anchor="t"/>
          <a:lstStyle/>
          <a:p>
            <a:pPr algn="r" indent="0" marL="0">
              <a:buNone/>
            </a:pPr>
            <a:r>
              <a:rPr lang="en-US" sz="950" spc="100" kern="0" dirty="0">
                <a:solidFill>
                  <a:srgbClr val="BFBFBF"/>
                </a:solidFill>
                <a:latin typeface="Plus Jakarta Sans" pitchFamily="34" charset="0"/>
                <a:ea typeface="Segoe UI" pitchFamily="34" charset="-122"/>
                <a:cs typeface="Segoe UI" pitchFamily="34" charset="-120"/>
              </a:rPr>
              <a:t>27 / 36</a:t>
            </a:r>
            <a:endParaRPr lang="en-US" sz="950" dirty="0">
              <a:latin typeface="Plus Jakarta Sans"/>
            </a:endParaRPr>
          </a:p>
        </p:txBody>
      </p:sp>
      <p:sp>
        <p:nvSpPr>
          <p:cNvPr id="5" name="Text 3"/>
          <p:cNvSpPr txBox="1"/>
          <p:nvPr/>
        </p:nvSpPr>
        <p:spPr>
          <a:xfrm>
            <a:off x="640080" y="6345936"/>
            <a:ext cx="9997135" cy="228600"/>
          </a:xfrm>
          <a:prstGeom prst="rect">
            <a:avLst/>
          </a:prstGeom>
          <a:noFill/>
          <a:ln/>
        </p:spPr>
        <p:txBody>
          <a:bodyPr wrap="square" lIns="0" tIns="0" rIns="0" bIns="0" rtlCol="0" anchor="t"/>
          <a:lstStyle/>
          <a:p>
            <a:pPr algn="l" indent="0" marL="0">
              <a:buNone/>
            </a:pPr>
            <a:r>
              <a:rPr lang="en-US" sz="800" spc="50" kern="0" dirty="0">
                <a:solidFill>
                  <a:srgbClr val="BFBFBF"/>
                </a:solidFill>
                <a:latin typeface="Plus Jakarta Sans" pitchFamily="34" charset="0"/>
                <a:ea typeface="Segoe UI" pitchFamily="34" charset="-122"/>
                <a:cs typeface="Segoe UI" pitchFamily="34" charset="-120"/>
              </a:rPr>
              <a:t>BAUS25  ·  AP23  ·  ICS16  ·  CCIFU</a:t>
            </a:r>
            <a:endParaRPr lang="en-US" sz="800" dirty="0">
              <a:latin typeface="Plus Jakarta Sans"/>
            </a:endParaRPr>
          </a:p>
        </p:txBody>
      </p:sp>
      <p:sp>
        <p:nvSpPr>
          <p:cNvPr id="6" name="Text 4"/>
          <p:cNvSpPr txBox="1"/>
          <p:nvPr/>
        </p:nvSpPr>
        <p:spPr>
          <a:xfrm>
            <a:off x="640080" y="5669280"/>
            <a:ext cx="10911535" cy="566928"/>
          </a:xfrm>
          <a:prstGeom prst="rect">
            <a:avLst/>
          </a:prstGeom>
          <a:noFill/>
          <a:ln/>
        </p:spPr>
        <p:txBody>
          <a:bodyPr wrap="square" lIns="0" tIns="0" rIns="0" bIns="0" rtlCol="0" anchor="b"/>
          <a:lstStyle/>
          <a:p>
            <a:pPr algn="l" indent="0" marL="0">
              <a:buNone/>
            </a:pPr>
            <a:r>
              <a:rPr lang="en-US" sz="1200" i="1" dirty="0">
                <a:solidFill>
                  <a:srgbClr val="BFBFBF"/>
                </a:solidFill>
                <a:latin typeface="Plus Jakarta Sans" pitchFamily="34" charset="0"/>
                <a:ea typeface="Segoe UI" pitchFamily="34" charset="-122"/>
                <a:cs typeface="Segoe UI" pitchFamily="34" charset="-120"/>
              </a:rPr>
              <a:t>An improvised antiseptic soak cannot rescue a contaminated single-use implant.</a:t>
            </a:r>
            <a:endParaRPr lang="en-US" sz="1200" dirty="0">
              <a:latin typeface="Plus Jakarta Sans"/>
            </a:endParaRPr>
          </a:p>
        </p:txBody>
      </p:sp>
      <p:sp>
        <p:nvSpPr>
          <p:cNvPr id="7" name="Text 5"/>
          <p:cNvSpPr txBox="1"/>
          <p:nvPr/>
        </p:nvSpPr>
        <p:spPr>
          <a:xfrm>
            <a:off x="640080" y="1783080"/>
            <a:ext cx="5120640" cy="3657600"/>
          </a:xfrm>
          <a:prstGeom prst="rect">
            <a:avLst/>
          </a:prstGeom>
          <a:noFill/>
          <a:ln/>
        </p:spPr>
        <p:txBody>
          <a:bodyPr wrap="square" lIns="0" tIns="0" rIns="0" bIns="0" rtlCol="0" anchor="ctr"/>
          <a:lstStyle/>
          <a:p>
            <a:pPr algn="l" indent="0" marL="0">
              <a:lnSpc>
                <a:spcPct val="105000"/>
              </a:lnSpc>
              <a:buNone/>
            </a:pPr>
            <a:r>
              <a:rPr lang="en-US" sz="3200" dirty="0">
                <a:solidFill>
                  <a:srgbClr val="FF8500"/>
                </a:solidFill>
                <a:latin typeface="Plus Jakarta Sans" pitchFamily="34" charset="0"/>
                <a:ea typeface="Segoe UI Semibold" pitchFamily="34" charset="-122"/>
                <a:cs typeface="Segoe UI Semibold" pitchFamily="34" charset="-120"/>
              </a:rPr>
              <a:t>The endpoint can change</a:t>
            </a:r>
            <a:endParaRPr lang="en-US" sz="3200" dirty="0">
              <a:latin typeface="Plus Jakarta Sans"/>
            </a:endParaRPr>
          </a:p>
          <a:p>
            <a:pPr algn="l" indent="0" marL="0">
              <a:lnSpc>
                <a:spcPct val="105000"/>
              </a:lnSpc>
              <a:buNone/>
            </a:pPr>
            <a:r>
              <a:rPr lang="en-US" sz="3200" dirty="0">
                <a:solidFill>
                  <a:srgbClr val="FF8500"/>
                </a:solidFill>
                <a:latin typeface="Plus Jakarta Sans" pitchFamily="34" charset="0"/>
                <a:ea typeface="Segoe UI Semibold" pitchFamily="34" charset="-122"/>
                <a:cs typeface="Segoe UI Semibold" pitchFamily="34" charset="-120"/>
              </a:rPr>
              <a:t>to repair and safe drainage</a:t>
            </a:r>
            <a:endParaRPr lang="en-US" sz="3200" dirty="0">
              <a:latin typeface="Plus Jakarta Sans"/>
            </a:endParaRPr>
          </a:p>
        </p:txBody>
      </p:sp>
      <p:sp>
        <p:nvSpPr>
          <p:cNvPr id="8" name="Shape 6"/>
          <p:cNvSpPr/>
          <p:nvPr/>
        </p:nvSpPr>
        <p:spPr>
          <a:xfrm>
            <a:off x="6309360" y="1783080"/>
            <a:ext cx="5242255" cy="3657600"/>
          </a:xfrm>
          <a:prstGeom prst="roundRect">
            <a:avLst>
              <a:gd name="adj" fmla="val 3500"/>
            </a:avLst>
          </a:prstGeom>
          <a:solidFill>
            <a:srgbClr val="2D2D2D"/>
          </a:solidFill>
          <a:ln/>
        </p:spPr>
      </p:sp>
      <p:sp>
        <p:nvSpPr>
          <p:cNvPr id="9" name="Shape 7"/>
          <p:cNvSpPr/>
          <p:nvPr/>
        </p:nvSpPr>
        <p:spPr>
          <a:xfrm>
            <a:off x="6629400" y="2103120"/>
            <a:ext cx="384048" cy="384048"/>
          </a:xfrm>
          <a:prstGeom prst="ellipse">
            <a:avLst/>
          </a:prstGeom>
          <a:solidFill>
            <a:srgbClr val="FF8500"/>
          </a:solidFill>
          <a:ln/>
        </p:spPr>
      </p:sp>
      <p:sp>
        <p:nvSpPr>
          <p:cNvPr id="10" name="Text 8"/>
          <p:cNvSpPr txBox="1"/>
          <p:nvPr/>
        </p:nvSpPr>
        <p:spPr>
          <a:xfrm>
            <a:off x="6629400" y="210312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Plus Jakarta Sans" pitchFamily="34" charset="0"/>
                <a:ea typeface="Segoe UI Semibold" pitchFamily="34" charset="-122"/>
                <a:cs typeface="Segoe UI Semibold" pitchFamily="34" charset="-120"/>
              </a:rPr>
              <a:t>1</a:t>
            </a:r>
            <a:endParaRPr lang="en-US" sz="1200" dirty="0">
              <a:latin typeface="Plus Jakarta Sans"/>
            </a:endParaRPr>
          </a:p>
        </p:txBody>
      </p:sp>
      <p:sp>
        <p:nvSpPr>
          <p:cNvPr id="11" name="Text 9"/>
          <p:cNvSpPr txBox="1"/>
          <p:nvPr/>
        </p:nvSpPr>
        <p:spPr>
          <a:xfrm>
            <a:off x="7178040" y="2084832"/>
            <a:ext cx="4053535" cy="914400"/>
          </a:xfrm>
          <a:prstGeom prst="rect">
            <a:avLst/>
          </a:prstGeom>
          <a:noFill/>
          <a:ln/>
        </p:spPr>
        <p:txBody>
          <a:bodyPr wrap="square" lIns="0" tIns="0" rIns="0" bIns="0" rtlCol="0" anchor="t"/>
          <a:lstStyle/>
          <a:p>
            <a:pPr algn="l" indent="0" marL="0">
              <a:lnSpc>
                <a:spcPct val="112000"/>
              </a:lnSpc>
              <a:buNone/>
            </a:pPr>
            <a:r>
              <a:rPr lang="en-US" sz="1550" dirty="0">
                <a:solidFill>
                  <a:srgbClr val="FFFFFF"/>
                </a:solidFill>
                <a:latin typeface="Plus Jakarta Sans" pitchFamily="34" charset="0"/>
                <a:ea typeface="Segoe UI" pitchFamily="34" charset="-122"/>
                <a:cs typeface="Segoe UI" pitchFamily="34" charset="-120"/>
              </a:rPr>
              <a:t>Not sure the wall is intact? Leak test or scope</a:t>
            </a:r>
            <a:endParaRPr lang="en-US" sz="1550" dirty="0">
              <a:latin typeface="Plus Jakarta Sans"/>
            </a:endParaRPr>
          </a:p>
        </p:txBody>
      </p:sp>
      <p:sp>
        <p:nvSpPr>
          <p:cNvPr id="12" name="Shape 10"/>
          <p:cNvSpPr/>
          <p:nvPr/>
        </p:nvSpPr>
        <p:spPr>
          <a:xfrm>
            <a:off x="6629400" y="3182112"/>
            <a:ext cx="384048" cy="384048"/>
          </a:xfrm>
          <a:prstGeom prst="ellipse">
            <a:avLst/>
          </a:prstGeom>
          <a:solidFill>
            <a:srgbClr val="FF8500"/>
          </a:solidFill>
          <a:ln/>
        </p:spPr>
      </p:sp>
      <p:sp>
        <p:nvSpPr>
          <p:cNvPr id="13" name="Text 11"/>
          <p:cNvSpPr txBox="1"/>
          <p:nvPr/>
        </p:nvSpPr>
        <p:spPr>
          <a:xfrm>
            <a:off x="6629400" y="318211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Plus Jakarta Sans" pitchFamily="34" charset="0"/>
                <a:ea typeface="Segoe UI Semibold" pitchFamily="34" charset="-122"/>
                <a:cs typeface="Segoe UI Semibold" pitchFamily="34" charset="-120"/>
              </a:rPr>
              <a:t>2</a:t>
            </a:r>
            <a:endParaRPr lang="en-US" sz="1200" dirty="0">
              <a:latin typeface="Plus Jakarta Sans"/>
            </a:endParaRPr>
          </a:p>
        </p:txBody>
      </p:sp>
      <p:sp>
        <p:nvSpPr>
          <p:cNvPr id="14" name="Text 12"/>
          <p:cNvSpPr txBox="1"/>
          <p:nvPr/>
        </p:nvSpPr>
        <p:spPr>
          <a:xfrm>
            <a:off x="7178040" y="3163824"/>
            <a:ext cx="4053535" cy="914400"/>
          </a:xfrm>
          <a:prstGeom prst="rect">
            <a:avLst/>
          </a:prstGeom>
          <a:noFill/>
          <a:ln/>
        </p:spPr>
        <p:txBody>
          <a:bodyPr wrap="square" lIns="0" tIns="0" rIns="0" bIns="0" rtlCol="0" anchor="t"/>
          <a:lstStyle/>
          <a:p>
            <a:pPr algn="l" indent="0" marL="0">
              <a:lnSpc>
                <a:spcPct val="112000"/>
              </a:lnSpc>
              <a:buNone/>
            </a:pPr>
            <a:r>
              <a:rPr lang="en-US" sz="1550" dirty="0">
                <a:solidFill>
                  <a:srgbClr val="FFFFFF"/>
                </a:solidFill>
                <a:latin typeface="Plus Jakarta Sans" pitchFamily="34" charset="0"/>
                <a:ea typeface="Segoe UI" pitchFamily="34" charset="-122"/>
                <a:cs typeface="Segoe UI" pitchFamily="34" charset="-120"/>
              </a:rPr>
              <a:t>A known urethral injury means no implant today</a:t>
            </a:r>
            <a:endParaRPr lang="en-US" sz="1550" dirty="0">
              <a:latin typeface="Plus Jakarta Sans"/>
            </a:endParaRPr>
          </a:p>
        </p:txBody>
      </p:sp>
      <p:sp>
        <p:nvSpPr>
          <p:cNvPr id="15" name="Shape 13"/>
          <p:cNvSpPr/>
          <p:nvPr/>
        </p:nvSpPr>
        <p:spPr>
          <a:xfrm>
            <a:off x="6629400" y="4261104"/>
            <a:ext cx="384048" cy="384048"/>
          </a:xfrm>
          <a:prstGeom prst="ellipse">
            <a:avLst/>
          </a:prstGeom>
          <a:solidFill>
            <a:srgbClr val="FF8500"/>
          </a:solidFill>
          <a:ln/>
        </p:spPr>
      </p:sp>
      <p:sp>
        <p:nvSpPr>
          <p:cNvPr id="16" name="Text 14"/>
          <p:cNvSpPr txBox="1"/>
          <p:nvPr/>
        </p:nvSpPr>
        <p:spPr>
          <a:xfrm>
            <a:off x="6629400" y="426110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Plus Jakarta Sans" pitchFamily="34" charset="0"/>
                <a:ea typeface="Segoe UI Semibold" pitchFamily="34" charset="-122"/>
                <a:cs typeface="Segoe UI Semibold" pitchFamily="34" charset="-120"/>
              </a:rPr>
              <a:t>3</a:t>
            </a:r>
            <a:endParaRPr lang="en-US" sz="1200" dirty="0">
              <a:latin typeface="Plus Jakarta Sans"/>
            </a:endParaRPr>
          </a:p>
        </p:txBody>
      </p:sp>
      <p:sp>
        <p:nvSpPr>
          <p:cNvPr id="17" name="Text 15"/>
          <p:cNvSpPr txBox="1"/>
          <p:nvPr/>
        </p:nvSpPr>
        <p:spPr>
          <a:xfrm>
            <a:off x="7178040" y="4242816"/>
            <a:ext cx="4053535" cy="914400"/>
          </a:xfrm>
          <a:prstGeom prst="rect">
            <a:avLst/>
          </a:prstGeom>
          <a:noFill/>
          <a:ln/>
        </p:spPr>
        <p:txBody>
          <a:bodyPr wrap="square" lIns="0" tIns="0" rIns="0" bIns="0" rtlCol="0" anchor="t"/>
          <a:lstStyle/>
          <a:p>
            <a:pPr algn="l" indent="0" marL="0">
              <a:lnSpc>
                <a:spcPct val="112000"/>
              </a:lnSpc>
              <a:buNone/>
            </a:pPr>
            <a:r>
              <a:rPr lang="en-US" sz="1550" dirty="0">
                <a:solidFill>
                  <a:srgbClr val="FFFFFF"/>
                </a:solidFill>
                <a:latin typeface="Plus Jakarta Sans" pitchFamily="34" charset="0"/>
                <a:ea typeface="Segoe UI" pitchFamily="34" charset="-122"/>
                <a:cs typeface="Segoe UI" pitchFamily="34" charset="-120"/>
              </a:rPr>
              <a:t>Replace contaminated single-use items and reset the clean field</a:t>
            </a:r>
            <a:endParaRPr lang="en-US" sz="1550" dirty="0">
              <a:latin typeface="Plus Jakarta Sans"/>
            </a:endParaRPr>
          </a:p>
        </p:txBody>
      </p:sp>
      <p:sp>
        <p:nvSpPr>
          <p:cNvPr id="9001" name="replacement-title">
            <a:extLst>
              <a:ext uri="{FF2B5EF4-FFF2-40B4-BE49-F238E27FC236}">
                <a16:creationId xmlns:a16="http://schemas.microsoft.com/office/drawing/2014/main" id="{1DBD1A12-6484-49D7-AB2C-45B8CA3C5B31}"/>
              </a:ext>
            </a:extLst>
          </p:cNvPr>
          <p:cNvSpPr>
            <a:spLocks noGrp="1"/>
          </p:cNvSpPr>
          <p:nvPr/>
        </p:nvSpPr>
        <p:spPr>
          <a:xfrm>
            <a:off x="638175" y="752475"/>
            <a:ext cx="10915650" cy="800100"/>
          </a:xfrm>
          <a:prstGeom prst="rect">
            <a:avLst/>
          </a:prstGeom>
          <a:noFill/>
          <a:ln w="0">
            <a:noFill/>
          </a:ln>
        </p:spPr>
        <p:txBody>
          <a:bodyPr anchor="ctr"/>
          <a:lstStyle>
            <a:defPPr>
              <a:defRPr sz="2625" b="1">
                <a:solidFill>
                  <a:srgbClr val="FFFFFF"/>
                </a:solidFill>
                <a:latin typeface="Plus Jakarta Sans"/>
              </a:defRPr>
            </a:defPPr>
            <a:lvl1pPr>
              <a:defRPr sz="2625" b="1">
                <a:solidFill>
                  <a:srgbClr val="FFFFFF"/>
                </a:solidFill>
                <a:latin typeface="Plus Jakarta Sans"/>
              </a:defRPr>
            </a:lvl1pPr>
            <a:lvl2pPr>
              <a:defRPr sz="2625" b="1">
                <a:solidFill>
                  <a:srgbClr val="FFFFFF"/>
                </a:solidFill>
                <a:latin typeface="Plus Jakarta Sans"/>
              </a:defRPr>
            </a:lvl2pPr>
            <a:lvl3pPr>
              <a:defRPr sz="2625" b="1">
                <a:solidFill>
                  <a:srgbClr val="FFFFFF"/>
                </a:solidFill>
                <a:latin typeface="Plus Jakarta Sans"/>
              </a:defRPr>
            </a:lvl3pPr>
            <a:lvl4pPr>
              <a:defRPr sz="2625" b="1">
                <a:solidFill>
                  <a:srgbClr val="FFFFFF"/>
                </a:solidFill>
                <a:latin typeface="Plus Jakarta Sans"/>
              </a:defRPr>
            </a:lvl4pPr>
            <a:lvl5pPr>
              <a:defRPr sz="2625" b="1">
                <a:solidFill>
                  <a:srgbClr val="FFFFFF"/>
                </a:solidFill>
                <a:latin typeface="Plus Jakarta Sans"/>
              </a:defRPr>
            </a:lvl5pPr>
            <a:lvl6pPr>
              <a:defRPr sz="2625" b="1">
                <a:solidFill>
                  <a:srgbClr val="FFFFFF"/>
                </a:solidFill>
                <a:latin typeface="Plus Jakarta Sans"/>
              </a:defRPr>
            </a:lvl6pPr>
            <a:lvl7pPr>
              <a:defRPr sz="2625" b="1">
                <a:solidFill>
                  <a:srgbClr val="FFFFFF"/>
                </a:solidFill>
                <a:latin typeface="Plus Jakarta Sans"/>
              </a:defRPr>
            </a:lvl7pPr>
            <a:lvl8pPr>
              <a:defRPr sz="2625" b="1">
                <a:solidFill>
                  <a:srgbClr val="FFFFFF"/>
                </a:solidFill>
                <a:latin typeface="Plus Jakarta Sans"/>
              </a:defRPr>
            </a:lvl8pPr>
            <a:lvl9pPr>
              <a:defRPr sz="2625" b="1">
                <a:solidFill>
                  <a:srgbClr val="FFFFFF"/>
                </a:solidFill>
                <a:latin typeface="Plus Jakarta Sans"/>
              </a:defRPr>
            </a:lvl9pPr>
          </a:lstStyle>
          <a:p>
            <a:pPr>
              <a:defRPr sz="2625" b="1">
                <a:solidFill>
                  <a:srgbClr val="FFFFFF"/>
                </a:solidFill>
                <a:latin typeface="Plus Jakarta Sans"/>
              </a:defRPr>
            </a:pPr>
            <a:r>
              <a:rPr sz="2625" b="1">
                <a:solidFill>
                  <a:srgbClr val="FFFFFF"/>
                </a:solidFill>
                <a:latin typeface="Plus Jakarta Sans"/>
              </a:rPr>
              <a:t>Urethral injury or contamination</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61616"/>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89FF00"/>
                </a:solidFill>
                <a:latin typeface="Plus Jakarta Sans" pitchFamily="34" charset="0"/>
                <a:ea typeface="Segoe UI" pitchFamily="34" charset="-122"/>
                <a:cs typeface="Segoe UI" pitchFamily="34" charset="-120"/>
              </a:rPr>
              <a:t>THE OPERATION</a:t>
            </a:r>
            <a:endParaRPr lang="en-US" sz="950" dirty="0">
              <a:latin typeface="Plus Jakarta Sans"/>
            </a:endParaRPr>
          </a:p>
        </p:txBody>
      </p:sp>
      <p:sp>
        <p:nvSpPr>
          <p:cNvPr id="3" name="Text 1"/>
          <p:cNvSpPr txBox="1"/>
          <p:nvPr/>
        </p:nvSpPr>
        <p:spPr>
          <a:xfrm>
            <a:off x="6979615" y="384048"/>
            <a:ext cx="4572000" cy="274320"/>
          </a:xfrm>
          <a:prstGeom prst="rect">
            <a:avLst/>
          </a:prstGeom>
          <a:noFill/>
          <a:ln/>
        </p:spPr>
        <p:txBody>
          <a:bodyPr wrap="square" lIns="0" tIns="0" rIns="0" bIns="0" rtlCol="0" anchor="t"/>
          <a:lstStyle/>
          <a:p>
            <a:pPr algn="r" indent="0" marL="0">
              <a:buNone/>
            </a:pPr>
            <a:r>
              <a:rPr lang="en-US" sz="950" spc="100" kern="0" dirty="0">
                <a:solidFill>
                  <a:srgbClr val="BFBFBF"/>
                </a:solidFill>
                <a:latin typeface="Plus Jakarta Sans" pitchFamily="34" charset="0"/>
                <a:ea typeface="Segoe UI" pitchFamily="34" charset="-122"/>
                <a:cs typeface="Segoe UI" pitchFamily="34" charset="-120"/>
              </a:rPr>
              <a:t>28 / 36</a:t>
            </a:r>
            <a:endParaRPr lang="en-US" sz="950" dirty="0">
              <a:latin typeface="Plus Jakarta Sans"/>
            </a:endParaRPr>
          </a:p>
        </p:txBody>
      </p:sp>
      <p:sp>
        <p:nvSpPr>
          <p:cNvPr id="5" name="Text 3"/>
          <p:cNvSpPr txBox="1"/>
          <p:nvPr/>
        </p:nvSpPr>
        <p:spPr>
          <a:xfrm>
            <a:off x="640080" y="6345936"/>
            <a:ext cx="9997135" cy="228600"/>
          </a:xfrm>
          <a:prstGeom prst="rect">
            <a:avLst/>
          </a:prstGeom>
          <a:noFill/>
          <a:ln/>
        </p:spPr>
        <p:txBody>
          <a:bodyPr wrap="square" lIns="0" tIns="0" rIns="0" bIns="0" rtlCol="0" anchor="t"/>
          <a:lstStyle/>
          <a:p>
            <a:pPr algn="l" indent="0" marL="0">
              <a:buNone/>
            </a:pPr>
            <a:r>
              <a:rPr lang="en-US" sz="800" spc="50" kern="0" dirty="0">
                <a:solidFill>
                  <a:srgbClr val="AFAFAF"/>
                </a:solidFill>
                <a:latin typeface="Plus Jakarta Sans" pitchFamily="34" charset="0"/>
                <a:ea typeface="Segoe UI" pitchFamily="34" charset="-122"/>
                <a:cs typeface="Segoe UI" pitchFamily="34" charset="-120"/>
              </a:rPr>
              <a:t>CCIFU  ·  AP23  ·  ICS16</a:t>
            </a:r>
            <a:endParaRPr lang="en-US" sz="800" dirty="0">
              <a:latin typeface="Plus Jakarta Sans"/>
            </a:endParaRPr>
          </a:p>
        </p:txBody>
      </p:sp>
      <p:sp>
        <p:nvSpPr>
          <p:cNvPr id="6" name="Text 4"/>
          <p:cNvSpPr txBox="1"/>
          <p:nvPr/>
        </p:nvSpPr>
        <p:spPr>
          <a:xfrm>
            <a:off x="640080" y="5669280"/>
            <a:ext cx="10911535" cy="566928"/>
          </a:xfrm>
          <a:prstGeom prst="rect">
            <a:avLst/>
          </a:prstGeom>
          <a:noFill/>
          <a:ln/>
        </p:spPr>
        <p:txBody>
          <a:bodyPr wrap="square" lIns="0" tIns="0" rIns="0" bIns="0" rtlCol="0" anchor="b"/>
          <a:lstStyle/>
          <a:p>
            <a:pPr algn="l" indent="0" marL="0">
              <a:buNone/>
            </a:pPr>
            <a:r>
              <a:rPr lang="en-US" sz="1200" i="1" dirty="0">
                <a:solidFill>
                  <a:srgbClr val="BFBFBF"/>
                </a:solidFill>
                <a:latin typeface="Plus Jakarta Sans" pitchFamily="34" charset="0"/>
                <a:ea typeface="Segoe UI" pitchFamily="34" charset="-122"/>
                <a:cs typeface="Segoe UI" pitchFamily="34" charset="-120"/>
              </a:rPr>
              <a:t>A safe pocket and the right pressure are two separate decisions. Fill volumes and selection rules need the current OR protocol.</a:t>
            </a:r>
            <a:endParaRPr lang="en-US" sz="1200" dirty="0">
              <a:latin typeface="Plus Jakarta Sans"/>
            </a:endParaRPr>
          </a:p>
        </p:txBody>
      </p:sp>
      <p:pic>
        <p:nvPicPr>
          <p:cNvPr id="114" name="UroOps clip aus-30-balloon">
            <a:hlinkClick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640080" y="1862328"/>
            <a:ext cx="5120640" cy="3499104"/>
          </a:xfrm>
          <a:prstGeom prst="rect">
            <a:avLst/>
          </a:prstGeom>
        </p:spPr>
      </p:pic>
      <p:sp>
        <p:nvSpPr>
          <p:cNvPr id="8" name="Shape 5"/>
          <p:cNvSpPr/>
          <p:nvPr/>
        </p:nvSpPr>
        <p:spPr>
          <a:xfrm>
            <a:off x="6309360" y="1783080"/>
            <a:ext cx="5242255" cy="1371600"/>
          </a:xfrm>
          <a:prstGeom prst="roundRect">
            <a:avLst>
              <a:gd name="adj" fmla="val 9333"/>
            </a:avLst>
          </a:prstGeom>
          <a:solidFill>
            <a:srgbClr val="2D2D2D"/>
          </a:solidFill>
          <a:ln/>
        </p:spPr>
      </p:sp>
      <p:sp>
        <p:nvSpPr>
          <p:cNvPr id="9" name="Text 6"/>
          <p:cNvSpPr txBox="1"/>
          <p:nvPr/>
        </p:nvSpPr>
        <p:spPr>
          <a:xfrm>
            <a:off x="6629400" y="2011680"/>
            <a:ext cx="4602175" cy="320040"/>
          </a:xfrm>
          <a:prstGeom prst="rect">
            <a:avLst/>
          </a:prstGeom>
          <a:noFill/>
          <a:ln/>
        </p:spPr>
        <p:txBody>
          <a:bodyPr wrap="square" lIns="0" tIns="0" rIns="0" bIns="0" rtlCol="0" anchor="t"/>
          <a:lstStyle/>
          <a:p>
            <a:pPr algn="l" indent="0" marL="0">
              <a:buNone/>
            </a:pPr>
            <a:r>
              <a:rPr lang="en-US" sz="1300" dirty="0">
                <a:solidFill>
                  <a:srgbClr val="89FF00"/>
                </a:solidFill>
                <a:latin typeface="Plus Jakarta Sans" pitchFamily="34" charset="0"/>
                <a:ea typeface="Segoe UI Semibold" pitchFamily="34" charset="-122"/>
                <a:cs typeface="Segoe UI Semibold" pitchFamily="34" charset="-120"/>
              </a:rPr>
              <a:t>ContiClassic label</a:t>
            </a:r>
            <a:endParaRPr lang="en-US" sz="1300" dirty="0">
              <a:latin typeface="Plus Jakarta Sans"/>
            </a:endParaRPr>
          </a:p>
        </p:txBody>
      </p:sp>
      <p:sp>
        <p:nvSpPr>
          <p:cNvPr id="10" name="Text 7"/>
          <p:cNvSpPr txBox="1"/>
          <p:nvPr/>
        </p:nvSpPr>
        <p:spPr>
          <a:xfrm>
            <a:off x="6629400" y="2350008"/>
            <a:ext cx="4602175" cy="640080"/>
          </a:xfrm>
          <a:prstGeom prst="rect">
            <a:avLst/>
          </a:prstGeom>
          <a:noFill/>
          <a:ln/>
        </p:spPr>
        <p:txBody>
          <a:bodyPr wrap="square" lIns="0" tIns="0" rIns="0" bIns="0" rtlCol="0" anchor="ctr"/>
          <a:lstStyle/>
          <a:p>
            <a:pPr algn="l" indent="0" marL="0">
              <a:buNone/>
            </a:pPr>
            <a:r>
              <a:rPr lang="en-US" sz="2800" dirty="0">
                <a:solidFill>
                  <a:srgbClr val="F4F5F7"/>
                </a:solidFill>
                <a:latin typeface="Plus Jakarta Sans" pitchFamily="34" charset="0"/>
                <a:ea typeface="Segoe UI Semibold" pitchFamily="34" charset="-122"/>
                <a:cs typeface="Segoe UI Semibold" pitchFamily="34" charset="-120"/>
              </a:rPr>
              <a:t>60–69 cmH₂O</a:t>
            </a:r>
            <a:endParaRPr lang="en-US" sz="2800" dirty="0">
              <a:latin typeface="Plus Jakarta Sans"/>
            </a:endParaRPr>
          </a:p>
        </p:txBody>
      </p:sp>
      <p:sp>
        <p:nvSpPr>
          <p:cNvPr id="11" name="Shape 8"/>
          <p:cNvSpPr/>
          <p:nvPr/>
        </p:nvSpPr>
        <p:spPr>
          <a:xfrm>
            <a:off x="6309360" y="3383280"/>
            <a:ext cx="5242255" cy="1371600"/>
          </a:xfrm>
          <a:prstGeom prst="roundRect">
            <a:avLst>
              <a:gd name="adj" fmla="val 9333"/>
            </a:avLst>
          </a:prstGeom>
          <a:solidFill>
            <a:srgbClr val="2D2D2D"/>
          </a:solidFill>
          <a:ln/>
        </p:spPr>
      </p:sp>
      <p:sp>
        <p:nvSpPr>
          <p:cNvPr id="12" name="Text 9"/>
          <p:cNvSpPr txBox="1"/>
          <p:nvPr/>
        </p:nvSpPr>
        <p:spPr>
          <a:xfrm>
            <a:off x="6629400" y="3611880"/>
            <a:ext cx="4602175" cy="320040"/>
          </a:xfrm>
          <a:prstGeom prst="rect">
            <a:avLst/>
          </a:prstGeom>
          <a:noFill/>
          <a:ln/>
        </p:spPr>
        <p:txBody>
          <a:bodyPr wrap="square" lIns="0" tIns="0" rIns="0" bIns="0" rtlCol="0" anchor="t"/>
          <a:lstStyle/>
          <a:p>
            <a:pPr algn="l" indent="0" marL="0">
              <a:buNone/>
            </a:pPr>
            <a:r>
              <a:rPr lang="en-US" sz="1300" dirty="0">
                <a:solidFill>
                  <a:srgbClr val="89FF00"/>
                </a:solidFill>
                <a:latin typeface="Plus Jakarta Sans" pitchFamily="34" charset="0"/>
                <a:ea typeface="Segoe UI Semibold" pitchFamily="34" charset="-122"/>
                <a:cs typeface="Segoe UI Semibold" pitchFamily="34" charset="-120"/>
              </a:rPr>
              <a:t>AMS 800 consensus</a:t>
            </a:r>
            <a:endParaRPr lang="en-US" sz="1300" dirty="0">
              <a:latin typeface="Plus Jakarta Sans"/>
            </a:endParaRPr>
          </a:p>
        </p:txBody>
      </p:sp>
      <p:sp>
        <p:nvSpPr>
          <p:cNvPr id="13" name="Text 10"/>
          <p:cNvSpPr txBox="1"/>
          <p:nvPr/>
        </p:nvSpPr>
        <p:spPr>
          <a:xfrm>
            <a:off x="6629400" y="3950208"/>
            <a:ext cx="4602175" cy="640080"/>
          </a:xfrm>
          <a:prstGeom prst="rect">
            <a:avLst/>
          </a:prstGeom>
          <a:noFill/>
          <a:ln/>
        </p:spPr>
        <p:txBody>
          <a:bodyPr wrap="square" lIns="0" tIns="0" rIns="0" bIns="0" rtlCol="0" anchor="ctr"/>
          <a:lstStyle/>
          <a:p>
            <a:pPr algn="l" indent="0" marL="0">
              <a:buNone/>
            </a:pPr>
            <a:r>
              <a:rPr lang="en-US" sz="2800" dirty="0">
                <a:solidFill>
                  <a:srgbClr val="F4F5F7"/>
                </a:solidFill>
                <a:latin typeface="Plus Jakarta Sans" pitchFamily="34" charset="0"/>
                <a:ea typeface="Segoe UI Semibold" pitchFamily="34" charset="-122"/>
                <a:cs typeface="Segoe UI Semibold" pitchFamily="34" charset="-120"/>
              </a:rPr>
              <a:t>Commonly 61–70 cmH₂O</a:t>
            </a:r>
            <a:endParaRPr lang="en-US" sz="2800" dirty="0">
              <a:latin typeface="Plus Jakarta Sans"/>
            </a:endParaRPr>
          </a:p>
        </p:txBody>
      </p:sp>
      <p:sp>
        <p:nvSpPr>
          <p:cNvPr id="14" name="Text 11"/>
          <p:cNvSpPr txBox="1"/>
          <p:nvPr/>
        </p:nvSpPr>
        <p:spPr>
          <a:xfrm>
            <a:off x="6309360" y="5074920"/>
            <a:ext cx="5242255" cy="365760"/>
          </a:xfrm>
          <a:prstGeom prst="rect">
            <a:avLst/>
          </a:prstGeom>
          <a:noFill/>
          <a:ln/>
        </p:spPr>
        <p:txBody>
          <a:bodyPr wrap="square" lIns="0" tIns="0" rIns="0" bIns="0" rtlCol="0" anchor="t"/>
          <a:lstStyle/>
          <a:p>
            <a:pPr algn="l" indent="0" marL="0">
              <a:buNone/>
            </a:pPr>
            <a:r>
              <a:rPr lang="en-US" sz="1300" i="1" dirty="0">
                <a:solidFill>
                  <a:srgbClr val="BFBFBF"/>
                </a:solidFill>
                <a:latin typeface="Plus Jakarta Sans" pitchFamily="34" charset="0"/>
                <a:ea typeface="Segoe UI" pitchFamily="34" charset="-122"/>
                <a:cs typeface="Segoe UI" pitchFamily="34" charset="-120"/>
              </a:rPr>
              <a:t>These ranges are device-specific</a:t>
            </a:r>
            <a:endParaRPr lang="en-US" sz="1300" dirty="0">
              <a:latin typeface="Plus Jakarta Sans"/>
            </a:endParaRPr>
          </a:p>
        </p:txBody>
      </p:sp>
      <p:sp>
        <p:nvSpPr>
          <p:cNvPr id="9001" name="replacement-title">
            <a:extLst>
              <a:ext uri="{FF2B5EF4-FFF2-40B4-BE49-F238E27FC236}">
                <a16:creationId xmlns:a16="http://schemas.microsoft.com/office/drawing/2014/main" id="{407AFB1F-E768-467C-BE74-36A77E90E84F}"/>
              </a:ext>
            </a:extLst>
          </p:cNvPr>
          <p:cNvSpPr>
            <a:spLocks noGrp="1"/>
          </p:cNvSpPr>
          <p:nvPr/>
        </p:nvSpPr>
        <p:spPr>
          <a:xfrm>
            <a:off x="638175" y="752475"/>
            <a:ext cx="10915650" cy="800100"/>
          </a:xfrm>
          <a:prstGeom prst="rect">
            <a:avLst/>
          </a:prstGeom>
          <a:noFill/>
          <a:ln w="0">
            <a:noFill/>
          </a:ln>
        </p:spPr>
        <p:txBody>
          <a:bodyPr anchor="ctr"/>
          <a:lstStyle>
            <a:defPPr>
              <a:defRPr sz="2625" b="1">
                <a:solidFill>
                  <a:srgbClr val="FFFFFF"/>
                </a:solidFill>
                <a:latin typeface="Plus Jakarta Sans"/>
              </a:defRPr>
            </a:defPPr>
            <a:lvl1pPr>
              <a:defRPr sz="2625" b="1">
                <a:solidFill>
                  <a:srgbClr val="FFFFFF"/>
                </a:solidFill>
                <a:latin typeface="Plus Jakarta Sans"/>
              </a:defRPr>
            </a:lvl1pPr>
            <a:lvl2pPr>
              <a:defRPr sz="2625" b="1">
                <a:solidFill>
                  <a:srgbClr val="FFFFFF"/>
                </a:solidFill>
                <a:latin typeface="Plus Jakarta Sans"/>
              </a:defRPr>
            </a:lvl2pPr>
            <a:lvl3pPr>
              <a:defRPr sz="2625" b="1">
                <a:solidFill>
                  <a:srgbClr val="FFFFFF"/>
                </a:solidFill>
                <a:latin typeface="Plus Jakarta Sans"/>
              </a:defRPr>
            </a:lvl3pPr>
            <a:lvl4pPr>
              <a:defRPr sz="2625" b="1">
                <a:solidFill>
                  <a:srgbClr val="FFFFFF"/>
                </a:solidFill>
                <a:latin typeface="Plus Jakarta Sans"/>
              </a:defRPr>
            </a:lvl4pPr>
            <a:lvl5pPr>
              <a:defRPr sz="2625" b="1">
                <a:solidFill>
                  <a:srgbClr val="FFFFFF"/>
                </a:solidFill>
                <a:latin typeface="Plus Jakarta Sans"/>
              </a:defRPr>
            </a:lvl5pPr>
            <a:lvl6pPr>
              <a:defRPr sz="2625" b="1">
                <a:solidFill>
                  <a:srgbClr val="FFFFFF"/>
                </a:solidFill>
                <a:latin typeface="Plus Jakarta Sans"/>
              </a:defRPr>
            </a:lvl6pPr>
            <a:lvl7pPr>
              <a:defRPr sz="2625" b="1">
                <a:solidFill>
                  <a:srgbClr val="FFFFFF"/>
                </a:solidFill>
                <a:latin typeface="Plus Jakarta Sans"/>
              </a:defRPr>
            </a:lvl7pPr>
            <a:lvl8pPr>
              <a:defRPr sz="2625" b="1">
                <a:solidFill>
                  <a:srgbClr val="FFFFFF"/>
                </a:solidFill>
                <a:latin typeface="Plus Jakarta Sans"/>
              </a:defRPr>
            </a:lvl8pPr>
            <a:lvl9pPr>
              <a:defRPr sz="2625" b="1">
                <a:solidFill>
                  <a:srgbClr val="FFFFFF"/>
                </a:solidFill>
                <a:latin typeface="Plus Jakarta Sans"/>
              </a:defRPr>
            </a:lvl9pPr>
          </a:lstStyle>
          <a:p>
            <a:pPr>
              <a:defRPr sz="2625" b="1">
                <a:solidFill>
                  <a:srgbClr val="FFFFFF"/>
                </a:solidFill>
                <a:latin typeface="Plus Jakarta Sans"/>
              </a:defRPr>
            </a:pPr>
            <a:r>
              <a:rPr sz="2625" b="1">
                <a:solidFill>
                  <a:srgbClr val="FFFFFF"/>
                </a:solidFill>
                <a:latin typeface="Plus Jakarta Sans"/>
              </a:rPr>
              <a:t>Balloon pocket and pressure selection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2133" fill="hold"/>
                                        <p:tgtEl>
                                          <p:spTgt spid="11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114"/>
                </p:tgtEl>
              </p:cMediaNode>
            </p:video>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61616"/>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89FF00"/>
                </a:solidFill>
                <a:latin typeface="Plus Jakarta Sans" pitchFamily="34" charset="0"/>
                <a:ea typeface="Segoe UI" pitchFamily="34" charset="-122"/>
                <a:cs typeface="Segoe UI" pitchFamily="34" charset="-120"/>
              </a:rPr>
              <a:t>THE OPERATION</a:t>
            </a:r>
            <a:endParaRPr lang="en-US" sz="950" dirty="0">
              <a:latin typeface="Plus Jakarta Sans"/>
            </a:endParaRPr>
          </a:p>
        </p:txBody>
      </p:sp>
      <p:sp>
        <p:nvSpPr>
          <p:cNvPr id="3" name="Text 1"/>
          <p:cNvSpPr txBox="1"/>
          <p:nvPr/>
        </p:nvSpPr>
        <p:spPr>
          <a:xfrm>
            <a:off x="6979615" y="384048"/>
            <a:ext cx="4572000" cy="274320"/>
          </a:xfrm>
          <a:prstGeom prst="rect">
            <a:avLst/>
          </a:prstGeom>
          <a:noFill/>
          <a:ln/>
        </p:spPr>
        <p:txBody>
          <a:bodyPr wrap="square" lIns="0" tIns="0" rIns="0" bIns="0" rtlCol="0" anchor="t"/>
          <a:lstStyle/>
          <a:p>
            <a:pPr algn="r" indent="0" marL="0">
              <a:buNone/>
            </a:pPr>
            <a:r>
              <a:rPr lang="en-US" sz="950" spc="100" kern="0" dirty="0">
                <a:solidFill>
                  <a:srgbClr val="BFBFBF"/>
                </a:solidFill>
                <a:latin typeface="Plus Jakarta Sans" pitchFamily="34" charset="0"/>
                <a:ea typeface="Segoe UI" pitchFamily="34" charset="-122"/>
                <a:cs typeface="Segoe UI" pitchFamily="34" charset="-120"/>
              </a:rPr>
              <a:t>29 / 36</a:t>
            </a:r>
            <a:endParaRPr lang="en-US" sz="950" dirty="0">
              <a:latin typeface="Plus Jakarta Sans"/>
            </a:endParaRPr>
          </a:p>
        </p:txBody>
      </p:sp>
      <p:sp>
        <p:nvSpPr>
          <p:cNvPr id="5" name="Text 3"/>
          <p:cNvSpPr txBox="1"/>
          <p:nvPr/>
        </p:nvSpPr>
        <p:spPr>
          <a:xfrm>
            <a:off x="640080" y="6345936"/>
            <a:ext cx="9997135" cy="228600"/>
          </a:xfrm>
          <a:prstGeom prst="rect">
            <a:avLst/>
          </a:prstGeom>
          <a:noFill/>
          <a:ln/>
        </p:spPr>
        <p:txBody>
          <a:bodyPr wrap="square" lIns="0" tIns="0" rIns="0" bIns="0" rtlCol="0" anchor="t"/>
          <a:lstStyle/>
          <a:p>
            <a:pPr algn="l" indent="0" marL="0">
              <a:buNone/>
            </a:pPr>
            <a:r>
              <a:rPr lang="en-US" sz="800" spc="50" kern="0" dirty="0">
                <a:solidFill>
                  <a:srgbClr val="AFAFAF"/>
                </a:solidFill>
                <a:latin typeface="Plus Jakarta Sans" pitchFamily="34" charset="0"/>
                <a:ea typeface="Segoe UI" pitchFamily="34" charset="-122"/>
                <a:cs typeface="Segoe UI" pitchFamily="34" charset="-120"/>
              </a:rPr>
              <a:t>AP23  ·  ICS16  ·  CCIFU</a:t>
            </a:r>
            <a:endParaRPr lang="en-US" sz="800" dirty="0">
              <a:latin typeface="Plus Jakarta Sans"/>
            </a:endParaRPr>
          </a:p>
        </p:txBody>
      </p:sp>
      <p:pic>
        <p:nvPicPr>
          <p:cNvPr id="115" name="UroOps clip aus-31-pump">
            <a:hlinkClick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640080" y="1828800"/>
            <a:ext cx="6408115" cy="3291840"/>
          </a:xfrm>
          <a:prstGeom prst="rect">
            <a:avLst/>
          </a:prstGeom>
        </p:spPr>
      </p:pic>
      <p:sp>
        <p:nvSpPr>
          <p:cNvPr id="7" name="Text 4"/>
          <p:cNvSpPr txBox="1"/>
          <p:nvPr/>
        </p:nvSpPr>
        <p:spPr>
          <a:xfrm>
            <a:off x="8321040" y="1828800"/>
            <a:ext cx="3230575" cy="365760"/>
          </a:xfrm>
          <a:prstGeom prst="rect">
            <a:avLst/>
          </a:prstGeom>
          <a:noFill/>
          <a:ln/>
        </p:spPr>
        <p:txBody>
          <a:bodyPr wrap="square" lIns="0" tIns="0" rIns="0" bIns="0" rtlCol="0" anchor="t"/>
          <a:lstStyle/>
          <a:p>
            <a:pPr algn="l" indent="0" marL="0">
              <a:buNone/>
            </a:pPr>
            <a:r>
              <a:rPr lang="en-US" sz="1500" dirty="0">
                <a:solidFill>
                  <a:srgbClr val="89FF00"/>
                </a:solidFill>
                <a:latin typeface="Plus Jakarta Sans" pitchFamily="34" charset="0"/>
                <a:ea typeface="Segoe UI Semibold" pitchFamily="34" charset="-122"/>
                <a:cs typeface="Segoe UI Semibold" pitchFamily="34" charset="-120"/>
              </a:rPr>
              <a:t>A functional position</a:t>
            </a:r>
            <a:endParaRPr lang="en-US" sz="1500" dirty="0">
              <a:latin typeface="Plus Jakarta Sans"/>
            </a:endParaRPr>
          </a:p>
        </p:txBody>
      </p:sp>
      <p:sp>
        <p:nvSpPr>
          <p:cNvPr id="8" name="Shape 5"/>
          <p:cNvSpPr/>
          <p:nvPr/>
        </p:nvSpPr>
        <p:spPr>
          <a:xfrm>
            <a:off x="8321040" y="2459736"/>
            <a:ext cx="100584" cy="100584"/>
          </a:xfrm>
          <a:prstGeom prst="ellipse">
            <a:avLst/>
          </a:prstGeom>
          <a:solidFill>
            <a:srgbClr val="89FF00"/>
          </a:solidFill>
          <a:ln/>
        </p:spPr>
      </p:sp>
      <p:sp>
        <p:nvSpPr>
          <p:cNvPr id="9" name="Text 6"/>
          <p:cNvSpPr txBox="1"/>
          <p:nvPr/>
        </p:nvSpPr>
        <p:spPr>
          <a:xfrm>
            <a:off x="8567928" y="2377440"/>
            <a:ext cx="2983687" cy="662940"/>
          </a:xfrm>
          <a:prstGeom prst="rect">
            <a:avLst/>
          </a:prstGeom>
          <a:noFill/>
          <a:ln/>
        </p:spPr>
        <p:txBody>
          <a:bodyPr wrap="square" lIns="0" tIns="0" rIns="0" bIns="0" rtlCol="0" anchor="t"/>
          <a:lstStyle/>
          <a:p>
            <a:pPr algn="l" indent="0" marL="0">
              <a:lnSpc>
                <a:spcPct val="112000"/>
              </a:lnSpc>
              <a:buNone/>
            </a:pPr>
            <a:r>
              <a:rPr lang="en-US" sz="1400" dirty="0">
                <a:solidFill>
                  <a:srgbClr val="F4F5F7"/>
                </a:solidFill>
                <a:latin typeface="Plus Jakarta Sans" pitchFamily="34" charset="0"/>
                <a:ea typeface="Segoe UI" pitchFamily="34" charset="-122"/>
                <a:cs typeface="Segoe UI" pitchFamily="34" charset="-120"/>
              </a:rPr>
              <a:t>Use the accessible side agreed in clinic</a:t>
            </a:r>
            <a:endParaRPr lang="en-US" sz="1400" dirty="0">
              <a:latin typeface="Plus Jakarta Sans"/>
            </a:endParaRPr>
          </a:p>
        </p:txBody>
      </p:sp>
      <p:sp>
        <p:nvSpPr>
          <p:cNvPr id="10" name="Shape 7"/>
          <p:cNvSpPr/>
          <p:nvPr/>
        </p:nvSpPr>
        <p:spPr>
          <a:xfrm>
            <a:off x="8321040" y="3168396"/>
            <a:ext cx="100584" cy="100584"/>
          </a:xfrm>
          <a:prstGeom prst="ellipse">
            <a:avLst/>
          </a:prstGeom>
          <a:solidFill>
            <a:srgbClr val="89FF00"/>
          </a:solidFill>
          <a:ln/>
        </p:spPr>
      </p:sp>
      <p:sp>
        <p:nvSpPr>
          <p:cNvPr id="11" name="Text 8"/>
          <p:cNvSpPr txBox="1"/>
          <p:nvPr/>
        </p:nvSpPr>
        <p:spPr>
          <a:xfrm>
            <a:off x="8567928" y="3086100"/>
            <a:ext cx="2983687" cy="662940"/>
          </a:xfrm>
          <a:prstGeom prst="rect">
            <a:avLst/>
          </a:prstGeom>
          <a:noFill/>
          <a:ln/>
        </p:spPr>
        <p:txBody>
          <a:bodyPr wrap="square" lIns="0" tIns="0" rIns="0" bIns="0" rtlCol="0" anchor="t"/>
          <a:lstStyle/>
          <a:p>
            <a:pPr algn="l" indent="0" marL="0">
              <a:lnSpc>
                <a:spcPct val="112000"/>
              </a:lnSpc>
              <a:buNone/>
            </a:pPr>
            <a:r>
              <a:rPr lang="en-US" sz="1400" dirty="0">
                <a:solidFill>
                  <a:srgbClr val="F4F5F7"/>
                </a:solidFill>
                <a:latin typeface="Plus Jakarta Sans" pitchFamily="34" charset="0"/>
                <a:ea typeface="Segoe UI" pitchFamily="34" charset="-122"/>
                <a:cs typeface="Segoe UI" pitchFamily="34" charset="-120"/>
              </a:rPr>
              <a:t>Avoid crowding, tight skin and pressure on the testis</a:t>
            </a:r>
            <a:endParaRPr lang="en-US" sz="1400" dirty="0">
              <a:latin typeface="Plus Jakarta Sans"/>
            </a:endParaRPr>
          </a:p>
        </p:txBody>
      </p:sp>
      <p:sp>
        <p:nvSpPr>
          <p:cNvPr id="12" name="Shape 9"/>
          <p:cNvSpPr/>
          <p:nvPr/>
        </p:nvSpPr>
        <p:spPr>
          <a:xfrm>
            <a:off x="8321040" y="3877056"/>
            <a:ext cx="100584" cy="100584"/>
          </a:xfrm>
          <a:prstGeom prst="ellipse">
            <a:avLst/>
          </a:prstGeom>
          <a:solidFill>
            <a:srgbClr val="89FF00"/>
          </a:solidFill>
          <a:ln/>
        </p:spPr>
      </p:sp>
      <p:sp>
        <p:nvSpPr>
          <p:cNvPr id="13" name="Text 10"/>
          <p:cNvSpPr txBox="1"/>
          <p:nvPr/>
        </p:nvSpPr>
        <p:spPr>
          <a:xfrm>
            <a:off x="8567928" y="3794760"/>
            <a:ext cx="2983687" cy="662940"/>
          </a:xfrm>
          <a:prstGeom prst="rect">
            <a:avLst/>
          </a:prstGeom>
          <a:noFill/>
          <a:ln/>
        </p:spPr>
        <p:txBody>
          <a:bodyPr wrap="square" lIns="0" tIns="0" rIns="0" bIns="0" rtlCol="0" anchor="t"/>
          <a:lstStyle/>
          <a:p>
            <a:pPr algn="l" indent="0" marL="0">
              <a:lnSpc>
                <a:spcPct val="112000"/>
              </a:lnSpc>
              <a:buNone/>
            </a:pPr>
            <a:r>
              <a:rPr lang="en-US" sz="1400" dirty="0">
                <a:solidFill>
                  <a:srgbClr val="F4F5F7"/>
                </a:solidFill>
                <a:latin typeface="Plus Jakarta Sans" pitchFamily="34" charset="0"/>
                <a:ea typeface="Segoe UI" pitchFamily="34" charset="-122"/>
                <a:cs typeface="Segoe UI" pitchFamily="34" charset="-120"/>
              </a:rPr>
              <a:t>Check the orientation and tubing pull before closing</a:t>
            </a:r>
            <a:endParaRPr lang="en-US" sz="1400" dirty="0">
              <a:latin typeface="Plus Jakarta Sans"/>
            </a:endParaRPr>
          </a:p>
        </p:txBody>
      </p:sp>
      <p:sp>
        <p:nvSpPr>
          <p:cNvPr id="14" name="Shape 11"/>
          <p:cNvSpPr/>
          <p:nvPr/>
        </p:nvSpPr>
        <p:spPr>
          <a:xfrm>
            <a:off x="8321040" y="4585716"/>
            <a:ext cx="100584" cy="100584"/>
          </a:xfrm>
          <a:prstGeom prst="ellipse">
            <a:avLst/>
          </a:prstGeom>
          <a:solidFill>
            <a:srgbClr val="89FF00"/>
          </a:solidFill>
          <a:ln/>
        </p:spPr>
      </p:sp>
      <p:sp>
        <p:nvSpPr>
          <p:cNvPr id="15" name="Text 12"/>
          <p:cNvSpPr txBox="1"/>
          <p:nvPr/>
        </p:nvSpPr>
        <p:spPr>
          <a:xfrm>
            <a:off x="8567928" y="4503420"/>
            <a:ext cx="2983687" cy="662940"/>
          </a:xfrm>
          <a:prstGeom prst="rect">
            <a:avLst/>
          </a:prstGeom>
          <a:noFill/>
          <a:ln/>
        </p:spPr>
        <p:txBody>
          <a:bodyPr wrap="square" lIns="0" tIns="0" rIns="0" bIns="0" rtlCol="0" anchor="t"/>
          <a:lstStyle/>
          <a:p>
            <a:pPr algn="l" indent="0" marL="0">
              <a:lnSpc>
                <a:spcPct val="112000"/>
              </a:lnSpc>
              <a:buNone/>
            </a:pPr>
            <a:r>
              <a:rPr lang="en-US" sz="1400" dirty="0">
                <a:solidFill>
                  <a:srgbClr val="F4F5F7"/>
                </a:solidFill>
                <a:latin typeface="Plus Jakarta Sans" pitchFamily="34" charset="0"/>
                <a:ea typeface="Segoe UI" pitchFamily="34" charset="-122"/>
                <a:cs typeface="Segoe UI" pitchFamily="34" charset="-120"/>
              </a:rPr>
              <a:t>Check he can reach it at activation</a:t>
            </a:r>
            <a:endParaRPr lang="en-US" sz="1400" dirty="0">
              <a:latin typeface="Plus Jakarta Sans"/>
            </a:endParaRPr>
          </a:p>
        </p:txBody>
      </p:sp>
      <p:sp>
        <p:nvSpPr>
          <p:cNvPr id="9001" name="replacement-title">
            <a:extLst>
              <a:ext uri="{FF2B5EF4-FFF2-40B4-BE49-F238E27FC236}">
                <a16:creationId xmlns:a16="http://schemas.microsoft.com/office/drawing/2014/main" id="{9404B38F-AC2E-40E5-A1C5-20BBAD3C8842}"/>
              </a:ext>
            </a:extLst>
          </p:cNvPr>
          <p:cNvSpPr>
            <a:spLocks noGrp="1"/>
          </p:cNvSpPr>
          <p:nvPr/>
        </p:nvSpPr>
        <p:spPr>
          <a:xfrm>
            <a:off x="638175" y="752475"/>
            <a:ext cx="10915650" cy="800100"/>
          </a:xfrm>
          <a:prstGeom prst="rect">
            <a:avLst/>
          </a:prstGeom>
          <a:noFill/>
          <a:ln w="0">
            <a:noFill/>
          </a:ln>
        </p:spPr>
        <p:txBody>
          <a:bodyPr anchor="ctr"/>
          <a:lstStyle>
            <a:defPPr>
              <a:defRPr sz="2625" b="1">
                <a:solidFill>
                  <a:srgbClr val="FFFFFF"/>
                </a:solidFill>
                <a:latin typeface="Plus Jakarta Sans"/>
              </a:defRPr>
            </a:defPPr>
            <a:lvl1pPr>
              <a:defRPr sz="2625" b="1">
                <a:solidFill>
                  <a:srgbClr val="FFFFFF"/>
                </a:solidFill>
                <a:latin typeface="Plus Jakarta Sans"/>
              </a:defRPr>
            </a:lvl1pPr>
            <a:lvl2pPr>
              <a:defRPr sz="2625" b="1">
                <a:solidFill>
                  <a:srgbClr val="FFFFFF"/>
                </a:solidFill>
                <a:latin typeface="Plus Jakarta Sans"/>
              </a:defRPr>
            </a:lvl2pPr>
            <a:lvl3pPr>
              <a:defRPr sz="2625" b="1">
                <a:solidFill>
                  <a:srgbClr val="FFFFFF"/>
                </a:solidFill>
                <a:latin typeface="Plus Jakarta Sans"/>
              </a:defRPr>
            </a:lvl3pPr>
            <a:lvl4pPr>
              <a:defRPr sz="2625" b="1">
                <a:solidFill>
                  <a:srgbClr val="FFFFFF"/>
                </a:solidFill>
                <a:latin typeface="Plus Jakarta Sans"/>
              </a:defRPr>
            </a:lvl4pPr>
            <a:lvl5pPr>
              <a:defRPr sz="2625" b="1">
                <a:solidFill>
                  <a:srgbClr val="FFFFFF"/>
                </a:solidFill>
                <a:latin typeface="Plus Jakarta Sans"/>
              </a:defRPr>
            </a:lvl5pPr>
            <a:lvl6pPr>
              <a:defRPr sz="2625" b="1">
                <a:solidFill>
                  <a:srgbClr val="FFFFFF"/>
                </a:solidFill>
                <a:latin typeface="Plus Jakarta Sans"/>
              </a:defRPr>
            </a:lvl6pPr>
            <a:lvl7pPr>
              <a:defRPr sz="2625" b="1">
                <a:solidFill>
                  <a:srgbClr val="FFFFFF"/>
                </a:solidFill>
                <a:latin typeface="Plus Jakarta Sans"/>
              </a:defRPr>
            </a:lvl7pPr>
            <a:lvl8pPr>
              <a:defRPr sz="2625" b="1">
                <a:solidFill>
                  <a:srgbClr val="FFFFFF"/>
                </a:solidFill>
                <a:latin typeface="Plus Jakarta Sans"/>
              </a:defRPr>
            </a:lvl8pPr>
            <a:lvl9pPr>
              <a:defRPr sz="2625" b="1">
                <a:solidFill>
                  <a:srgbClr val="FFFFFF"/>
                </a:solidFill>
                <a:latin typeface="Plus Jakarta Sans"/>
              </a:defRPr>
            </a:lvl9pPr>
          </a:lstStyle>
          <a:p>
            <a:pPr>
              <a:defRPr sz="2625" b="1">
                <a:solidFill>
                  <a:srgbClr val="FFFFFF"/>
                </a:solidFill>
                <a:latin typeface="Plus Jakarta Sans"/>
              </a:defRPr>
            </a:pPr>
            <a:r>
              <a:rPr sz="2625" b="1">
                <a:solidFill>
                  <a:srgbClr val="FFFFFF"/>
                </a:solidFill>
                <a:latin typeface="Plus Jakarta Sans"/>
              </a:rPr>
              <a:t>Pump position and patient access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2133" fill="hold"/>
                                        <p:tgtEl>
                                          <p:spTgt spid="11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115"/>
                </p:tgtEl>
              </p:cMediaNode>
            </p:video>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61616"/>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05C489"/>
                </a:solidFill>
                <a:latin typeface="Plus Jakarta Sans" pitchFamily="34" charset="0"/>
                <a:ea typeface="Segoe UI" pitchFamily="34" charset="-122"/>
                <a:cs typeface="Segoe UI" pitchFamily="34" charset="-120"/>
              </a:rPr>
              <a:t>THE OPERATION</a:t>
            </a:r>
            <a:endParaRPr lang="en-US" sz="950" dirty="0">
              <a:latin typeface="Plus Jakarta Sans"/>
            </a:endParaRPr>
          </a:p>
        </p:txBody>
      </p:sp>
      <p:sp>
        <p:nvSpPr>
          <p:cNvPr id="3" name="Text 1"/>
          <p:cNvSpPr txBox="1"/>
          <p:nvPr/>
        </p:nvSpPr>
        <p:spPr>
          <a:xfrm>
            <a:off x="6979615" y="384048"/>
            <a:ext cx="4572000" cy="274320"/>
          </a:xfrm>
          <a:prstGeom prst="rect">
            <a:avLst/>
          </a:prstGeom>
          <a:noFill/>
          <a:ln/>
        </p:spPr>
        <p:txBody>
          <a:bodyPr wrap="square" lIns="0" tIns="0" rIns="0" bIns="0" rtlCol="0" anchor="t"/>
          <a:lstStyle/>
          <a:p>
            <a:pPr algn="r" indent="0" marL="0">
              <a:buNone/>
            </a:pPr>
            <a:r>
              <a:rPr lang="en-US" sz="950" spc="100" kern="0" dirty="0">
                <a:solidFill>
                  <a:srgbClr val="BFBFBF"/>
                </a:solidFill>
                <a:latin typeface="Plus Jakarta Sans" pitchFamily="34" charset="0"/>
                <a:ea typeface="Segoe UI" pitchFamily="34" charset="-122"/>
                <a:cs typeface="Segoe UI" pitchFamily="34" charset="-120"/>
              </a:rPr>
              <a:t>30 / 36</a:t>
            </a:r>
            <a:endParaRPr lang="en-US" sz="950" dirty="0">
              <a:latin typeface="Plus Jakarta Sans"/>
            </a:endParaRPr>
          </a:p>
        </p:txBody>
      </p:sp>
      <p:sp>
        <p:nvSpPr>
          <p:cNvPr id="5" name="Text 3"/>
          <p:cNvSpPr txBox="1"/>
          <p:nvPr/>
        </p:nvSpPr>
        <p:spPr>
          <a:xfrm>
            <a:off x="640080" y="6345936"/>
            <a:ext cx="9997135" cy="228600"/>
          </a:xfrm>
          <a:prstGeom prst="rect">
            <a:avLst/>
          </a:prstGeom>
          <a:noFill/>
          <a:ln/>
        </p:spPr>
        <p:txBody>
          <a:bodyPr wrap="square" lIns="0" tIns="0" rIns="0" bIns="0" rtlCol="0" anchor="t"/>
          <a:lstStyle/>
          <a:p>
            <a:pPr algn="l" indent="0" marL="0">
              <a:buNone/>
            </a:pPr>
            <a:r>
              <a:rPr lang="en-US" sz="800" spc="50" kern="0" dirty="0">
                <a:solidFill>
                  <a:srgbClr val="BFBFBF"/>
                </a:solidFill>
                <a:latin typeface="Plus Jakarta Sans" pitchFamily="34" charset="0"/>
                <a:ea typeface="Segoe UI" pitchFamily="34" charset="-122"/>
                <a:cs typeface="Segoe UI" pitchFamily="34" charset="-120"/>
              </a:rPr>
              <a:t>CCIFU  ·  ICS16  ·  AP23  ·  CATH13  ·  INSTR26</a:t>
            </a:r>
            <a:endParaRPr lang="en-US" sz="800" dirty="0">
              <a:latin typeface="Plus Jakarta Sans"/>
            </a:endParaRPr>
          </a:p>
        </p:txBody>
      </p:sp>
      <p:sp>
        <p:nvSpPr>
          <p:cNvPr id="6" name="Text 4"/>
          <p:cNvSpPr txBox="1"/>
          <p:nvPr/>
        </p:nvSpPr>
        <p:spPr>
          <a:xfrm>
            <a:off x="640080" y="5669280"/>
            <a:ext cx="10911535" cy="566928"/>
          </a:xfrm>
          <a:prstGeom prst="rect">
            <a:avLst/>
          </a:prstGeom>
          <a:noFill/>
          <a:ln/>
        </p:spPr>
        <p:txBody>
          <a:bodyPr wrap="square" lIns="0" tIns="0" rIns="0" bIns="0" rtlCol="0" anchor="b"/>
          <a:lstStyle/>
          <a:p>
            <a:pPr algn="l" indent="0" marL="0">
              <a:buNone/>
            </a:pPr>
            <a:r>
              <a:rPr lang="en-US" sz="1200" i="1" dirty="0">
                <a:solidFill>
                  <a:srgbClr val="BFBFBF"/>
                </a:solidFill>
                <a:latin typeface="Plus Jakarta Sans" pitchFamily="34" charset="0"/>
                <a:ea typeface="Segoe UI" pitchFamily="34" charset="-122"/>
                <a:cs typeface="Segoe UI" pitchFamily="34" charset="-120"/>
              </a:rPr>
              <a:t>A 2026 survey found gaps in deactivation training. Fill the device by its own protocol.</a:t>
            </a:r>
            <a:endParaRPr lang="en-US" sz="1200" dirty="0">
              <a:latin typeface="Plus Jakarta Sans"/>
            </a:endParaRPr>
          </a:p>
        </p:txBody>
      </p:sp>
      <p:sp>
        <p:nvSpPr>
          <p:cNvPr id="7" name="Shape 5"/>
          <p:cNvSpPr/>
          <p:nvPr/>
        </p:nvSpPr>
        <p:spPr>
          <a:xfrm>
            <a:off x="640080" y="1828800"/>
            <a:ext cx="457200" cy="457200"/>
          </a:xfrm>
          <a:prstGeom prst="ellipse">
            <a:avLst/>
          </a:prstGeom>
          <a:solidFill>
            <a:srgbClr val="05C489"/>
          </a:solidFill>
          <a:ln/>
        </p:spPr>
      </p:sp>
      <p:sp>
        <p:nvSpPr>
          <p:cNvPr id="8" name="Text 6"/>
          <p:cNvSpPr txBox="1"/>
          <p:nvPr/>
        </p:nvSpPr>
        <p:spPr>
          <a:xfrm>
            <a:off x="640080" y="182880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Plus Jakarta Sans" pitchFamily="34" charset="0"/>
                <a:ea typeface="Segoe UI Semibold" pitchFamily="34" charset="-122"/>
                <a:cs typeface="Segoe UI Semibold" pitchFamily="34" charset="-120"/>
              </a:rPr>
              <a:t>1</a:t>
            </a:r>
            <a:endParaRPr lang="en-US" sz="1300" dirty="0">
              <a:latin typeface="Plus Jakarta Sans"/>
            </a:endParaRPr>
          </a:p>
        </p:txBody>
      </p:sp>
      <p:sp>
        <p:nvSpPr>
          <p:cNvPr id="9" name="Text 7"/>
          <p:cNvSpPr txBox="1"/>
          <p:nvPr/>
        </p:nvSpPr>
        <p:spPr>
          <a:xfrm>
            <a:off x="1325880" y="1828800"/>
            <a:ext cx="5715000" cy="457200"/>
          </a:xfrm>
          <a:prstGeom prst="rect">
            <a:avLst/>
          </a:prstGeom>
          <a:noFill/>
          <a:ln/>
        </p:spPr>
        <p:txBody>
          <a:bodyPr wrap="square" lIns="0" tIns="0" rIns="0" bIns="0" rtlCol="0" anchor="ctr"/>
          <a:lstStyle/>
          <a:p>
            <a:pPr algn="l" indent="0" marL="0">
              <a:buNone/>
            </a:pPr>
            <a:r>
              <a:rPr lang="en-US" sz="1700" dirty="0">
                <a:solidFill>
                  <a:srgbClr val="FFFFFF"/>
                </a:solidFill>
                <a:latin typeface="Plus Jakarta Sans" pitchFamily="34" charset="0"/>
                <a:ea typeface="Segoe UI" pitchFamily="34" charset="-122"/>
                <a:cs typeface="Segoe UI" pitchFamily="34" charset="-120"/>
              </a:rPr>
              <a:t>Trace the tubing: no tension, bends or trapping</a:t>
            </a:r>
            <a:endParaRPr lang="en-US" sz="1700" dirty="0">
              <a:latin typeface="Plus Jakarta Sans"/>
            </a:endParaRPr>
          </a:p>
        </p:txBody>
      </p:sp>
      <p:sp>
        <p:nvSpPr>
          <p:cNvPr id="10" name="Shape 8"/>
          <p:cNvSpPr/>
          <p:nvPr/>
        </p:nvSpPr>
        <p:spPr>
          <a:xfrm>
            <a:off x="1325880" y="2679192"/>
            <a:ext cx="5715000" cy="0"/>
          </a:xfrm>
          <a:prstGeom prst="line">
            <a:avLst/>
          </a:prstGeom>
          <a:noFill/>
          <a:ln w="9525">
            <a:solidFill>
              <a:srgbClr val="3D3D3D"/>
            </a:solidFill>
            <a:prstDash val="solid"/>
          </a:ln>
        </p:spPr>
      </p:sp>
      <p:sp>
        <p:nvSpPr>
          <p:cNvPr id="11" name="Shape 9"/>
          <p:cNvSpPr/>
          <p:nvPr/>
        </p:nvSpPr>
        <p:spPr>
          <a:xfrm>
            <a:off x="640080" y="2697480"/>
            <a:ext cx="457200" cy="457200"/>
          </a:xfrm>
          <a:prstGeom prst="ellipse">
            <a:avLst/>
          </a:prstGeom>
          <a:solidFill>
            <a:srgbClr val="05C489"/>
          </a:solidFill>
          <a:ln/>
        </p:spPr>
      </p:sp>
      <p:sp>
        <p:nvSpPr>
          <p:cNvPr id="12" name="Text 10"/>
          <p:cNvSpPr txBox="1"/>
          <p:nvPr/>
        </p:nvSpPr>
        <p:spPr>
          <a:xfrm>
            <a:off x="640080" y="26974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Plus Jakarta Sans" pitchFamily="34" charset="0"/>
                <a:ea typeface="Segoe UI Semibold" pitchFamily="34" charset="-122"/>
                <a:cs typeface="Segoe UI Semibold" pitchFamily="34" charset="-120"/>
              </a:rPr>
              <a:t>2</a:t>
            </a:r>
            <a:endParaRPr lang="en-US" sz="1300" dirty="0">
              <a:latin typeface="Plus Jakarta Sans"/>
            </a:endParaRPr>
          </a:p>
        </p:txBody>
      </p:sp>
      <p:sp>
        <p:nvSpPr>
          <p:cNvPr id="13" name="Text 11"/>
          <p:cNvSpPr txBox="1"/>
          <p:nvPr/>
        </p:nvSpPr>
        <p:spPr>
          <a:xfrm>
            <a:off x="1325880" y="2697480"/>
            <a:ext cx="5715000" cy="457200"/>
          </a:xfrm>
          <a:prstGeom prst="rect">
            <a:avLst/>
          </a:prstGeom>
          <a:noFill/>
          <a:ln/>
        </p:spPr>
        <p:txBody>
          <a:bodyPr wrap="square" lIns="0" tIns="0" rIns="0" bIns="0" rtlCol="0" anchor="ctr"/>
          <a:lstStyle/>
          <a:p>
            <a:pPr algn="l" indent="0" marL="0">
              <a:buNone/>
            </a:pPr>
            <a:r>
              <a:rPr lang="en-US" sz="1700" dirty="0">
                <a:solidFill>
                  <a:srgbClr val="FFFFFF"/>
                </a:solidFill>
                <a:latin typeface="Plus Jakarta Sans" pitchFamily="34" charset="0"/>
                <a:ea typeface="Segoe UI" pitchFamily="34" charset="-122"/>
                <a:cs typeface="Segoe UI" pitchFamily="34" charset="-120"/>
              </a:rPr>
              <a:t>Check the connections and cycle the device</a:t>
            </a:r>
            <a:endParaRPr lang="en-US" sz="1700" dirty="0">
              <a:latin typeface="Plus Jakarta Sans"/>
            </a:endParaRPr>
          </a:p>
        </p:txBody>
      </p:sp>
      <p:sp>
        <p:nvSpPr>
          <p:cNvPr id="14" name="Shape 12"/>
          <p:cNvSpPr/>
          <p:nvPr/>
        </p:nvSpPr>
        <p:spPr>
          <a:xfrm>
            <a:off x="1325880" y="3547872"/>
            <a:ext cx="5715000" cy="0"/>
          </a:xfrm>
          <a:prstGeom prst="line">
            <a:avLst/>
          </a:prstGeom>
          <a:noFill/>
          <a:ln w="9525">
            <a:solidFill>
              <a:srgbClr val="3D3D3D"/>
            </a:solidFill>
            <a:prstDash val="solid"/>
          </a:ln>
        </p:spPr>
      </p:sp>
      <p:sp>
        <p:nvSpPr>
          <p:cNvPr id="15" name="Shape 13"/>
          <p:cNvSpPr/>
          <p:nvPr/>
        </p:nvSpPr>
        <p:spPr>
          <a:xfrm>
            <a:off x="640080" y="3566160"/>
            <a:ext cx="457200" cy="457200"/>
          </a:xfrm>
          <a:prstGeom prst="ellipse">
            <a:avLst/>
          </a:prstGeom>
          <a:solidFill>
            <a:srgbClr val="05C489"/>
          </a:solidFill>
          <a:ln/>
        </p:spPr>
      </p:sp>
      <p:sp>
        <p:nvSpPr>
          <p:cNvPr id="16" name="Text 14"/>
          <p:cNvSpPr txBox="1"/>
          <p:nvPr/>
        </p:nvSpPr>
        <p:spPr>
          <a:xfrm>
            <a:off x="640080" y="356616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Plus Jakarta Sans" pitchFamily="34" charset="0"/>
                <a:ea typeface="Segoe UI Semibold" pitchFamily="34" charset="-122"/>
                <a:cs typeface="Segoe UI Semibold" pitchFamily="34" charset="-120"/>
              </a:rPr>
              <a:t>3</a:t>
            </a:r>
            <a:endParaRPr lang="en-US" sz="1300" dirty="0">
              <a:latin typeface="Plus Jakarta Sans"/>
            </a:endParaRPr>
          </a:p>
        </p:txBody>
      </p:sp>
      <p:sp>
        <p:nvSpPr>
          <p:cNvPr id="17" name="Text 15"/>
          <p:cNvSpPr txBox="1"/>
          <p:nvPr/>
        </p:nvSpPr>
        <p:spPr>
          <a:xfrm>
            <a:off x="1325880" y="3566160"/>
            <a:ext cx="5715000" cy="457200"/>
          </a:xfrm>
          <a:prstGeom prst="rect">
            <a:avLst/>
          </a:prstGeom>
          <a:noFill/>
          <a:ln/>
        </p:spPr>
        <p:txBody>
          <a:bodyPr wrap="square" lIns="0" tIns="0" rIns="0" bIns="0" rtlCol="0" anchor="ctr"/>
          <a:lstStyle/>
          <a:p>
            <a:pPr algn="l" indent="0" marL="0">
              <a:buNone/>
            </a:pPr>
            <a:r>
              <a:rPr lang="en-US" sz="1700" dirty="0">
                <a:solidFill>
                  <a:srgbClr val="FFFFFF"/>
                </a:solidFill>
                <a:latin typeface="Plus Jakarta Sans" pitchFamily="34" charset="0"/>
                <a:ea typeface="Segoe UI" pitchFamily="34" charset="-122"/>
                <a:cs typeface="Segoe UI" pitchFamily="34" charset="-120"/>
              </a:rPr>
              <a:t>Confirm the cuff is open and the device is off</a:t>
            </a:r>
            <a:endParaRPr lang="en-US" sz="1700" dirty="0">
              <a:latin typeface="Plus Jakarta Sans"/>
            </a:endParaRPr>
          </a:p>
        </p:txBody>
      </p:sp>
      <p:sp>
        <p:nvSpPr>
          <p:cNvPr id="18" name="Shape 16"/>
          <p:cNvSpPr/>
          <p:nvPr/>
        </p:nvSpPr>
        <p:spPr>
          <a:xfrm>
            <a:off x="1325880" y="4416552"/>
            <a:ext cx="5715000" cy="0"/>
          </a:xfrm>
          <a:prstGeom prst="line">
            <a:avLst/>
          </a:prstGeom>
          <a:noFill/>
          <a:ln w="9525">
            <a:solidFill>
              <a:srgbClr val="3D3D3D"/>
            </a:solidFill>
            <a:prstDash val="solid"/>
          </a:ln>
        </p:spPr>
      </p:sp>
      <p:sp>
        <p:nvSpPr>
          <p:cNvPr id="19" name="Shape 17"/>
          <p:cNvSpPr/>
          <p:nvPr/>
        </p:nvSpPr>
        <p:spPr>
          <a:xfrm>
            <a:off x="640080" y="4434840"/>
            <a:ext cx="457200" cy="457200"/>
          </a:xfrm>
          <a:prstGeom prst="ellipse">
            <a:avLst/>
          </a:prstGeom>
          <a:solidFill>
            <a:srgbClr val="05C489"/>
          </a:solidFill>
          <a:ln/>
        </p:spPr>
      </p:sp>
      <p:sp>
        <p:nvSpPr>
          <p:cNvPr id="20" name="Text 18"/>
          <p:cNvSpPr txBox="1"/>
          <p:nvPr/>
        </p:nvSpPr>
        <p:spPr>
          <a:xfrm>
            <a:off x="640080" y="443484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Plus Jakarta Sans" pitchFamily="34" charset="0"/>
                <a:ea typeface="Segoe UI Semibold" pitchFamily="34" charset="-122"/>
                <a:cs typeface="Segoe UI Semibold" pitchFamily="34" charset="-120"/>
              </a:rPr>
              <a:t>4</a:t>
            </a:r>
            <a:endParaRPr lang="en-US" sz="1300" dirty="0">
              <a:latin typeface="Plus Jakarta Sans"/>
            </a:endParaRPr>
          </a:p>
        </p:txBody>
      </p:sp>
      <p:sp>
        <p:nvSpPr>
          <p:cNvPr id="21" name="Text 19"/>
          <p:cNvSpPr txBox="1"/>
          <p:nvPr/>
        </p:nvSpPr>
        <p:spPr>
          <a:xfrm>
            <a:off x="1325880" y="4434840"/>
            <a:ext cx="5715000" cy="457200"/>
          </a:xfrm>
          <a:prstGeom prst="rect">
            <a:avLst/>
          </a:prstGeom>
          <a:noFill/>
          <a:ln/>
        </p:spPr>
        <p:txBody>
          <a:bodyPr wrap="square" lIns="0" tIns="0" rIns="0" bIns="0" rtlCol="0" anchor="ctr"/>
          <a:lstStyle/>
          <a:p>
            <a:pPr algn="l" indent="0" marL="0">
              <a:buNone/>
            </a:pPr>
            <a:r>
              <a:rPr lang="en-US" sz="1700" dirty="0">
                <a:solidFill>
                  <a:srgbClr val="FFFFFF"/>
                </a:solidFill>
                <a:latin typeface="Plus Jakarta Sans" pitchFamily="34" charset="0"/>
                <a:ea typeface="Segoe UI" pitchFamily="34" charset="-122"/>
                <a:cs typeface="Segoe UI" pitchFamily="34" charset="-120"/>
              </a:rPr>
              <a:t>Record the device, the catheter plan and whom to call</a:t>
            </a:r>
            <a:endParaRPr lang="en-US" sz="1700" dirty="0">
              <a:latin typeface="Plus Jakarta Sans"/>
            </a:endParaRPr>
          </a:p>
        </p:txBody>
      </p:sp>
      <p:sp>
        <p:nvSpPr>
          <p:cNvPr id="22" name="Shape 20"/>
          <p:cNvSpPr/>
          <p:nvPr/>
        </p:nvSpPr>
        <p:spPr>
          <a:xfrm>
            <a:off x="7406640" y="1783080"/>
            <a:ext cx="4144975" cy="3749040"/>
          </a:xfrm>
          <a:prstGeom prst="roundRect">
            <a:avLst>
              <a:gd name="adj" fmla="val 3415"/>
            </a:avLst>
          </a:prstGeom>
          <a:solidFill>
            <a:srgbClr val="2D2D2D"/>
          </a:solidFill>
          <a:ln/>
        </p:spPr>
      </p:sp>
      <p:pic>
        <p:nvPicPr>
          <p:cNvPr id="122" name="UroOps clip aus-32-check">
            <a:hlinkClick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7529627" y="1783080"/>
            <a:ext cx="3899002" cy="3749040"/>
          </a:xfrm>
          <a:prstGeom prst="rect">
            <a:avLst/>
          </a:prstGeom>
        </p:spPr>
      </p:pic>
      <p:sp>
        <p:nvSpPr>
          <p:cNvPr id="9001" name="replacement-title">
            <a:extLst>
              <a:ext uri="{FF2B5EF4-FFF2-40B4-BE49-F238E27FC236}">
                <a16:creationId xmlns:a16="http://schemas.microsoft.com/office/drawing/2014/main" id="{82209258-51CB-4F75-B6A1-30D3D78E04B4}"/>
              </a:ext>
            </a:extLst>
          </p:cNvPr>
          <p:cNvSpPr>
            <a:spLocks noGrp="1"/>
          </p:cNvSpPr>
          <p:nvPr/>
        </p:nvSpPr>
        <p:spPr>
          <a:xfrm>
            <a:off x="638175" y="752475"/>
            <a:ext cx="10915650" cy="800100"/>
          </a:xfrm>
          <a:prstGeom prst="rect">
            <a:avLst/>
          </a:prstGeom>
          <a:noFill/>
          <a:ln w="0">
            <a:noFill/>
          </a:ln>
        </p:spPr>
        <p:txBody>
          <a:bodyPr anchor="ctr"/>
          <a:lstStyle>
            <a:defPPr>
              <a:defRPr sz="2625" b="1">
                <a:solidFill>
                  <a:srgbClr val="FFFFFF"/>
                </a:solidFill>
                <a:latin typeface="Plus Jakarta Sans"/>
              </a:defRPr>
            </a:defPPr>
            <a:lvl1pPr>
              <a:defRPr sz="2625" b="1">
                <a:solidFill>
                  <a:srgbClr val="FFFFFF"/>
                </a:solidFill>
                <a:latin typeface="Plus Jakarta Sans"/>
              </a:defRPr>
            </a:lvl1pPr>
            <a:lvl2pPr>
              <a:defRPr sz="2625" b="1">
                <a:solidFill>
                  <a:srgbClr val="FFFFFF"/>
                </a:solidFill>
                <a:latin typeface="Plus Jakarta Sans"/>
              </a:defRPr>
            </a:lvl2pPr>
            <a:lvl3pPr>
              <a:defRPr sz="2625" b="1">
                <a:solidFill>
                  <a:srgbClr val="FFFFFF"/>
                </a:solidFill>
                <a:latin typeface="Plus Jakarta Sans"/>
              </a:defRPr>
            </a:lvl3pPr>
            <a:lvl4pPr>
              <a:defRPr sz="2625" b="1">
                <a:solidFill>
                  <a:srgbClr val="FFFFFF"/>
                </a:solidFill>
                <a:latin typeface="Plus Jakarta Sans"/>
              </a:defRPr>
            </a:lvl4pPr>
            <a:lvl5pPr>
              <a:defRPr sz="2625" b="1">
                <a:solidFill>
                  <a:srgbClr val="FFFFFF"/>
                </a:solidFill>
                <a:latin typeface="Plus Jakarta Sans"/>
              </a:defRPr>
            </a:lvl5pPr>
            <a:lvl6pPr>
              <a:defRPr sz="2625" b="1">
                <a:solidFill>
                  <a:srgbClr val="FFFFFF"/>
                </a:solidFill>
                <a:latin typeface="Plus Jakarta Sans"/>
              </a:defRPr>
            </a:lvl6pPr>
            <a:lvl7pPr>
              <a:defRPr sz="2625" b="1">
                <a:solidFill>
                  <a:srgbClr val="FFFFFF"/>
                </a:solidFill>
                <a:latin typeface="Plus Jakarta Sans"/>
              </a:defRPr>
            </a:lvl7pPr>
            <a:lvl8pPr>
              <a:defRPr sz="2625" b="1">
                <a:solidFill>
                  <a:srgbClr val="FFFFFF"/>
                </a:solidFill>
                <a:latin typeface="Plus Jakarta Sans"/>
              </a:defRPr>
            </a:lvl8pPr>
            <a:lvl9pPr>
              <a:defRPr sz="2625" b="1">
                <a:solidFill>
                  <a:srgbClr val="FFFFFF"/>
                </a:solidFill>
                <a:latin typeface="Plus Jakarta Sans"/>
              </a:defRPr>
            </a:lvl9pPr>
          </a:lstStyle>
          <a:p>
            <a:pPr>
              <a:defRPr sz="2625" b="1">
                <a:solidFill>
                  <a:srgbClr val="FFFFFF"/>
                </a:solidFill>
                <a:latin typeface="Plus Jakarta Sans"/>
              </a:defRPr>
            </a:pPr>
            <a:r>
              <a:rPr sz="2625" b="1">
                <a:solidFill>
                  <a:srgbClr val="FFFFFF"/>
                </a:solidFill>
                <a:latin typeface="Plus Jakarta Sans"/>
              </a:rPr>
              <a:t>System checks and handover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3033" fill="hold"/>
                                        <p:tgtEl>
                                          <p:spTgt spid="12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12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61616"/>
        </a:solidFill>
        <a:effectLst/>
      </p:bgPr>
    </p:bg>
    <p:spTree>
      <p:nvGrpSpPr>
        <p:cNvPr id="1" name=""/>
        <p:cNvGrpSpPr/>
        <p:nvPr/>
      </p:nvGrpSpPr>
      <p:grpSpPr>
        <a:xfrm>
          <a:off x="0" y="0"/>
          <a:ext cx="0" cy="0"/>
          <a:chOff x="0" y="0"/>
          <a:chExt cx="0" cy="0"/>
        </a:xfrm>
      </p:grpSpPr>
      <p:sp>
        <p:nvSpPr>
          <p:cNvPr id="4" name="Text 2"/>
          <p:cNvSpPr txBox="1"/>
          <p:nvPr/>
        </p:nvSpPr>
        <p:spPr>
          <a:xfrm>
            <a:off x="640080" y="3457575"/>
            <a:ext cx="5476875" cy="1285875"/>
          </a:xfrm>
          <a:prstGeom prst="rect">
            <a:avLst/>
          </a:prstGeom>
          <a:noFill/>
          <a:ln/>
        </p:spPr>
        <p:txBody>
          <a:bodyPr wrap="square" lIns="0" tIns="0" rIns="0" bIns="0" rtlCol="0" anchor="t"/>
          <a:lstStyle/>
          <a:p>
            <a:pPr algn="l" indent="0" marL="0">
              <a:lnSpc>
                <a:spcPct val="120000"/>
              </a:lnSpc>
              <a:buNone/>
            </a:pPr>
            <a:r>
              <a:rPr lang="en-US" sz="1500" dirty="0">
                <a:solidFill>
                  <a:srgbClr val="BFBFBF"/>
                </a:solidFill>
                <a:latin typeface="Plus Jakarta Sans" pitchFamily="34" charset="0"/>
                <a:ea typeface="Segoe UI" pitchFamily="34" charset="-122"/>
                <a:cs typeface="Segoe UI" pitchFamily="34" charset="-120"/>
              </a:rPr>
              <a:t>Hand over the risk, diagnose late leakage before revising, and say where the evidence stops.</a:t>
            </a:r>
            <a:endParaRPr lang="en-US" sz="1500" dirty="0">
              <a:solidFill>
                <a:srgbClr val="BFBFBF"/>
              </a:solidFill>
              <a:latin typeface="Plus Jakarta Sans"/>
            </a:endParaRPr>
          </a:p>
        </p:txBody>
      </p:sp>
      <p:sp>
        <p:nvSpPr>
          <p:cNvPr id="5" name="Text 3"/>
          <p:cNvSpPr txBox="1"/>
          <p:nvPr/>
        </p:nvSpPr>
        <p:spPr>
          <a:xfrm>
            <a:off x="7223760" y="1188720"/>
            <a:ext cx="4327855" cy="274320"/>
          </a:xfrm>
          <a:prstGeom prst="rect">
            <a:avLst/>
          </a:prstGeom>
          <a:noFill/>
          <a:ln/>
        </p:spPr>
        <p:txBody>
          <a:bodyPr wrap="square" lIns="0" tIns="0" rIns="0" bIns="0" rtlCol="0" anchor="t"/>
          <a:lstStyle/>
          <a:p>
            <a:pPr algn="l" indent="0" marL="0">
              <a:buNone/>
            </a:pPr>
            <a:r>
              <a:rPr lang="en-US" sz="1000" b="1" spc="200" kern="0" dirty="0">
                <a:solidFill>
                  <a:srgbClr val="BFBFBF"/>
                </a:solidFill>
                <a:latin typeface="Plus Jakarta Sans" pitchFamily="34" charset="0"/>
                <a:ea typeface="Segoe UI" pitchFamily="34" charset="-122"/>
                <a:cs typeface="Segoe UI" pitchFamily="34" charset="-120"/>
              </a:rPr>
              <a:t>IN THIS SECTION</a:t>
            </a:r>
            <a:endParaRPr lang="en-US" sz="1000" dirty="0">
              <a:latin typeface="Plus Jakarta Sans"/>
            </a:endParaRPr>
          </a:p>
        </p:txBody>
      </p:sp>
      <p:sp>
        <p:nvSpPr>
          <p:cNvPr id="6" name="Text 4"/>
          <p:cNvSpPr txBox="1"/>
          <p:nvPr/>
        </p:nvSpPr>
        <p:spPr>
          <a:xfrm>
            <a:off x="7223760" y="1645920"/>
            <a:ext cx="457200" cy="457200"/>
          </a:xfrm>
          <a:prstGeom prst="rect">
            <a:avLst/>
          </a:prstGeom>
          <a:noFill/>
          <a:ln/>
        </p:spPr>
        <p:txBody>
          <a:bodyPr wrap="square" lIns="0" tIns="0" rIns="0" bIns="0" rtlCol="0" anchor="ctr"/>
          <a:lstStyle/>
          <a:p>
            <a:pPr algn="l" indent="0" marL="0">
              <a:buNone/>
            </a:pPr>
            <a:r>
              <a:rPr lang="en-US" sz="1100" b="1" dirty="0">
                <a:solidFill>
                  <a:srgbClr val="89FF00"/>
                </a:solidFill>
                <a:latin typeface="Plus Jakarta Sans" pitchFamily="34" charset="0"/>
                <a:ea typeface="Segoe UI" pitchFamily="34" charset="-122"/>
                <a:cs typeface="Segoe UI" pitchFamily="34" charset="-120"/>
              </a:rPr>
              <a:t>31</a:t>
            </a:r>
            <a:endParaRPr lang="en-US" sz="1100" dirty="0">
              <a:solidFill>
                <a:srgbClr val="89FF00"/>
              </a:solidFill>
              <a:latin typeface="Plus Jakarta Sans"/>
            </a:endParaRPr>
          </a:p>
        </p:txBody>
      </p:sp>
      <p:sp>
        <p:nvSpPr>
          <p:cNvPr id="7" name="Text 5"/>
          <p:cNvSpPr txBox="1"/>
          <p:nvPr/>
        </p:nvSpPr>
        <p:spPr>
          <a:xfrm>
            <a:off x="7680960" y="1645920"/>
            <a:ext cx="3870655" cy="457200"/>
          </a:xfrm>
          <a:prstGeom prst="rect">
            <a:avLst/>
          </a:prstGeom>
          <a:noFill/>
          <a:ln/>
        </p:spPr>
        <p:txBody>
          <a:bodyPr wrap="square" lIns="0" tIns="0" rIns="0" bIns="0" rtlCol="0" anchor="ctr"/>
          <a:lstStyle/>
          <a:p>
            <a:pPr algn="l" indent="0" marL="0">
              <a:buNone/>
            </a:pPr>
            <a:r>
              <a:rPr lang="en-US" sz="1300" dirty="0">
                <a:solidFill>
                  <a:srgbClr val="F4F5F7"/>
                </a:solidFill>
                <a:latin typeface="Plus Jakarta Sans" pitchFamily="34" charset="0"/>
                <a:ea typeface="Segoe UI" pitchFamily="34" charset="-122"/>
                <a:cs typeface="Segoe UI" pitchFamily="34" charset="-120"/>
              </a:rPr>
              <a:t>Aftercare, activation and urgent review</a:t>
            </a:r>
            <a:endParaRPr lang="en-US" sz="1300" dirty="0">
              <a:latin typeface="Plus Jakarta Sans"/>
            </a:endParaRPr>
          </a:p>
        </p:txBody>
      </p:sp>
      <p:sp>
        <p:nvSpPr>
          <p:cNvPr id="8" name="Text 6"/>
          <p:cNvSpPr txBox="1"/>
          <p:nvPr/>
        </p:nvSpPr>
        <p:spPr>
          <a:xfrm>
            <a:off x="7223760" y="2103120"/>
            <a:ext cx="457200" cy="457200"/>
          </a:xfrm>
          <a:prstGeom prst="rect">
            <a:avLst/>
          </a:prstGeom>
          <a:noFill/>
          <a:ln/>
        </p:spPr>
        <p:txBody>
          <a:bodyPr wrap="square" lIns="0" tIns="0" rIns="0" bIns="0" rtlCol="0" anchor="ctr"/>
          <a:lstStyle/>
          <a:p>
            <a:pPr algn="l" indent="0" marL="0">
              <a:buNone/>
            </a:pPr>
            <a:r>
              <a:rPr lang="en-US" sz="1100" b="1" dirty="0">
                <a:solidFill>
                  <a:srgbClr val="89FF00"/>
                </a:solidFill>
                <a:latin typeface="Plus Jakarta Sans" pitchFamily="34" charset="0"/>
                <a:ea typeface="Segoe UI" pitchFamily="34" charset="-122"/>
                <a:cs typeface="Segoe UI" pitchFamily="34" charset="-120"/>
              </a:rPr>
              <a:t>32</a:t>
            </a:r>
            <a:endParaRPr lang="en-US" sz="1100" dirty="0">
              <a:solidFill>
                <a:srgbClr val="89FF00"/>
              </a:solidFill>
              <a:latin typeface="Plus Jakarta Sans"/>
            </a:endParaRPr>
          </a:p>
        </p:txBody>
      </p:sp>
      <p:sp>
        <p:nvSpPr>
          <p:cNvPr id="9" name="Text 7"/>
          <p:cNvSpPr txBox="1"/>
          <p:nvPr/>
        </p:nvSpPr>
        <p:spPr>
          <a:xfrm>
            <a:off x="7680960" y="2103120"/>
            <a:ext cx="3870655" cy="457200"/>
          </a:xfrm>
          <a:prstGeom prst="rect">
            <a:avLst/>
          </a:prstGeom>
          <a:noFill/>
          <a:ln/>
        </p:spPr>
        <p:txBody>
          <a:bodyPr wrap="square" lIns="0" tIns="0" rIns="0" bIns="0" rtlCol="0" anchor="ctr"/>
          <a:lstStyle/>
          <a:p>
            <a:pPr algn="l" indent="0" marL="0">
              <a:buNone/>
            </a:pPr>
            <a:r>
              <a:rPr lang="en-US" sz="1300" dirty="0">
                <a:solidFill>
                  <a:srgbClr val="F4F5F7"/>
                </a:solidFill>
                <a:latin typeface="Plus Jakarta Sans" pitchFamily="34" charset="0"/>
                <a:ea typeface="Segoe UI" pitchFamily="34" charset="-122"/>
                <a:cs typeface="Segoe UI" pitchFamily="34" charset="-120"/>
              </a:rPr>
              <a:t>Case 4: leakage after three good years</a:t>
            </a:r>
            <a:endParaRPr lang="en-US" sz="1300" dirty="0">
              <a:latin typeface="Plus Jakarta Sans"/>
            </a:endParaRPr>
          </a:p>
        </p:txBody>
      </p:sp>
      <p:sp>
        <p:nvSpPr>
          <p:cNvPr id="10" name="Text 8"/>
          <p:cNvSpPr txBox="1"/>
          <p:nvPr/>
        </p:nvSpPr>
        <p:spPr>
          <a:xfrm>
            <a:off x="7223760" y="2560320"/>
            <a:ext cx="457200" cy="457200"/>
          </a:xfrm>
          <a:prstGeom prst="rect">
            <a:avLst/>
          </a:prstGeom>
          <a:noFill/>
          <a:ln/>
        </p:spPr>
        <p:txBody>
          <a:bodyPr wrap="square" lIns="0" tIns="0" rIns="0" bIns="0" rtlCol="0" anchor="ctr"/>
          <a:lstStyle/>
          <a:p>
            <a:pPr algn="l" indent="0" marL="0">
              <a:buNone/>
            </a:pPr>
            <a:r>
              <a:rPr lang="en-US" sz="1100" b="1" dirty="0">
                <a:solidFill>
                  <a:srgbClr val="89FF00"/>
                </a:solidFill>
                <a:latin typeface="Plus Jakarta Sans" pitchFamily="34" charset="0"/>
                <a:ea typeface="Segoe UI" pitchFamily="34" charset="-122"/>
                <a:cs typeface="Segoe UI" pitchFamily="34" charset="-120"/>
              </a:rPr>
              <a:t>33</a:t>
            </a:r>
            <a:endParaRPr lang="en-US" sz="1100" dirty="0">
              <a:solidFill>
                <a:srgbClr val="89FF00"/>
              </a:solidFill>
              <a:latin typeface="Plus Jakarta Sans"/>
            </a:endParaRPr>
          </a:p>
        </p:txBody>
      </p:sp>
      <p:sp>
        <p:nvSpPr>
          <p:cNvPr id="11" name="Text 9"/>
          <p:cNvSpPr txBox="1"/>
          <p:nvPr/>
        </p:nvSpPr>
        <p:spPr>
          <a:xfrm>
            <a:off x="7680960" y="2560320"/>
            <a:ext cx="3870655" cy="457200"/>
          </a:xfrm>
          <a:prstGeom prst="rect">
            <a:avLst/>
          </a:prstGeom>
          <a:noFill/>
          <a:ln/>
        </p:spPr>
        <p:txBody>
          <a:bodyPr wrap="square" lIns="0" tIns="0" rIns="0" bIns="0" rtlCol="0" anchor="ctr"/>
          <a:lstStyle/>
          <a:p>
            <a:pPr algn="l" indent="0" marL="0">
              <a:buNone/>
            </a:pPr>
            <a:r>
              <a:rPr lang="en-US" sz="1300" dirty="0">
                <a:solidFill>
                  <a:srgbClr val="F4F5F7"/>
                </a:solidFill>
                <a:latin typeface="Plus Jakarta Sans" pitchFamily="34" charset="0"/>
                <a:ea typeface="Segoe UI" pitchFamily="34" charset="-122"/>
                <a:cs typeface="Segoe UI" pitchFamily="34" charset="-120"/>
              </a:rPr>
              <a:t>Established benefit and unresolved questions</a:t>
            </a:r>
            <a:endParaRPr lang="en-US" sz="1300" dirty="0">
              <a:latin typeface="Plus Jakarta Sans"/>
            </a:endParaRPr>
          </a:p>
        </p:txBody>
      </p:sp>
      <p:sp>
        <p:nvSpPr>
          <p:cNvPr id="12" name="Text 10"/>
          <p:cNvSpPr txBox="1"/>
          <p:nvPr/>
        </p:nvSpPr>
        <p:spPr>
          <a:xfrm>
            <a:off x="7223760" y="3017520"/>
            <a:ext cx="457200" cy="457200"/>
          </a:xfrm>
          <a:prstGeom prst="rect">
            <a:avLst/>
          </a:prstGeom>
          <a:noFill/>
          <a:ln/>
        </p:spPr>
        <p:txBody>
          <a:bodyPr wrap="square" lIns="0" tIns="0" rIns="0" bIns="0" rtlCol="0" anchor="ctr"/>
          <a:lstStyle/>
          <a:p>
            <a:pPr algn="l" indent="0" marL="0">
              <a:buNone/>
            </a:pPr>
            <a:r>
              <a:rPr lang="en-US" sz="1100" b="1" dirty="0">
                <a:solidFill>
                  <a:srgbClr val="89FF00"/>
                </a:solidFill>
                <a:latin typeface="Plus Jakarta Sans" pitchFamily="34" charset="0"/>
                <a:ea typeface="Segoe UI" pitchFamily="34" charset="-122"/>
                <a:cs typeface="Segoe UI" pitchFamily="34" charset="-120"/>
              </a:rPr>
              <a:t>34</a:t>
            </a:r>
            <a:endParaRPr lang="en-US" sz="1100" dirty="0">
              <a:solidFill>
                <a:srgbClr val="89FF00"/>
              </a:solidFill>
              <a:latin typeface="Plus Jakarta Sans"/>
            </a:endParaRPr>
          </a:p>
        </p:txBody>
      </p:sp>
      <p:sp>
        <p:nvSpPr>
          <p:cNvPr id="13" name="Text 11"/>
          <p:cNvSpPr txBox="1"/>
          <p:nvPr/>
        </p:nvSpPr>
        <p:spPr>
          <a:xfrm>
            <a:off x="7680960" y="3017520"/>
            <a:ext cx="3870655" cy="457200"/>
          </a:xfrm>
          <a:prstGeom prst="rect">
            <a:avLst/>
          </a:prstGeom>
          <a:noFill/>
          <a:ln/>
        </p:spPr>
        <p:txBody>
          <a:bodyPr wrap="square" lIns="0" tIns="0" rIns="0" bIns="0" rtlCol="0" anchor="ctr"/>
          <a:lstStyle/>
          <a:p>
            <a:pPr algn="l" indent="0" marL="0">
              <a:buNone/>
            </a:pPr>
            <a:r>
              <a:rPr lang="en-US" sz="1300" dirty="0">
                <a:solidFill>
                  <a:srgbClr val="F4F5F7"/>
                </a:solidFill>
                <a:latin typeface="Plus Jakarta Sans" pitchFamily="34" charset="0"/>
                <a:ea typeface="Segoe UI" pitchFamily="34" charset="-122"/>
                <a:cs typeface="Segoe UI" pitchFamily="34" charset="-120"/>
              </a:rPr>
              <a:t>Five decisions before implantation</a:t>
            </a:r>
            <a:endParaRPr lang="en-US" sz="1300" dirty="0">
              <a:latin typeface="Plus Jakarta Sans"/>
            </a:endParaRPr>
          </a:p>
        </p:txBody>
      </p:sp>
      <p:sp>
        <p:nvSpPr>
          <p:cNvPr id="14" name="Text 12"/>
          <p:cNvSpPr txBox="1"/>
          <p:nvPr/>
        </p:nvSpPr>
        <p:spPr>
          <a:xfrm>
            <a:off x="7223760" y="3474720"/>
            <a:ext cx="457200" cy="457200"/>
          </a:xfrm>
          <a:prstGeom prst="rect">
            <a:avLst/>
          </a:prstGeom>
          <a:noFill/>
          <a:ln/>
        </p:spPr>
        <p:txBody>
          <a:bodyPr wrap="square" lIns="0" tIns="0" rIns="0" bIns="0" rtlCol="0" anchor="ctr"/>
          <a:lstStyle/>
          <a:p>
            <a:pPr algn="l" indent="0" marL="0">
              <a:buNone/>
            </a:pPr>
            <a:r>
              <a:rPr lang="en-US" sz="1100" b="1" dirty="0">
                <a:solidFill>
                  <a:srgbClr val="89FF00"/>
                </a:solidFill>
                <a:latin typeface="Plus Jakarta Sans" pitchFamily="34" charset="0"/>
                <a:ea typeface="Segoe UI" pitchFamily="34" charset="-122"/>
                <a:cs typeface="Segoe UI" pitchFamily="34" charset="-120"/>
              </a:rPr>
              <a:t>35</a:t>
            </a:r>
            <a:endParaRPr lang="en-US" sz="1100" dirty="0">
              <a:solidFill>
                <a:srgbClr val="89FF00"/>
              </a:solidFill>
              <a:latin typeface="Plus Jakarta Sans"/>
            </a:endParaRPr>
          </a:p>
        </p:txBody>
      </p:sp>
      <p:sp>
        <p:nvSpPr>
          <p:cNvPr id="15" name="Text 13"/>
          <p:cNvSpPr txBox="1"/>
          <p:nvPr/>
        </p:nvSpPr>
        <p:spPr>
          <a:xfrm>
            <a:off x="7680960" y="3474720"/>
            <a:ext cx="3870655" cy="457200"/>
          </a:xfrm>
          <a:prstGeom prst="rect">
            <a:avLst/>
          </a:prstGeom>
          <a:noFill/>
          <a:ln/>
        </p:spPr>
        <p:txBody>
          <a:bodyPr wrap="square" lIns="0" tIns="0" rIns="0" bIns="0" rtlCol="0" anchor="ctr"/>
          <a:lstStyle/>
          <a:p>
            <a:pPr algn="l" indent="0" marL="0">
              <a:buNone/>
            </a:pPr>
            <a:r>
              <a:rPr lang="en-US" sz="1300" dirty="0">
                <a:solidFill>
                  <a:srgbClr val="F4F5F7"/>
                </a:solidFill>
                <a:latin typeface="Plus Jakarta Sans" pitchFamily="34" charset="0"/>
                <a:ea typeface="Segoe UI" pitchFamily="34" charset="-122"/>
                <a:cs typeface="Segoe UI" pitchFamily="34" charset="-120"/>
              </a:rPr>
              <a:t>Five decisions protecting the result</a:t>
            </a:r>
            <a:endParaRPr lang="en-US" sz="1300" dirty="0">
              <a:latin typeface="Plus Jakarta Sans"/>
            </a:endParaRPr>
          </a:p>
        </p:txBody>
      </p:sp>
      <p:sp>
        <p:nvSpPr>
          <p:cNvPr id="16" name="Text 14"/>
          <p:cNvSpPr txBox="1"/>
          <p:nvPr/>
        </p:nvSpPr>
        <p:spPr>
          <a:xfrm>
            <a:off x="7223760" y="3931920"/>
            <a:ext cx="457200" cy="457200"/>
          </a:xfrm>
          <a:prstGeom prst="rect">
            <a:avLst/>
          </a:prstGeom>
          <a:noFill/>
          <a:ln/>
        </p:spPr>
        <p:txBody>
          <a:bodyPr wrap="square" lIns="0" tIns="0" rIns="0" bIns="0" rtlCol="0" anchor="ctr"/>
          <a:lstStyle/>
          <a:p>
            <a:pPr algn="l" indent="0" marL="0">
              <a:buNone/>
            </a:pPr>
            <a:r>
              <a:rPr lang="en-US" sz="1100" b="1" dirty="0">
                <a:solidFill>
                  <a:srgbClr val="89FF00"/>
                </a:solidFill>
                <a:latin typeface="Plus Jakarta Sans" pitchFamily="34" charset="0"/>
                <a:ea typeface="Segoe UI" pitchFamily="34" charset="-122"/>
                <a:cs typeface="Segoe UI" pitchFamily="34" charset="-120"/>
              </a:rPr>
              <a:t>36</a:t>
            </a:r>
            <a:endParaRPr lang="en-US" sz="1100" dirty="0">
              <a:solidFill>
                <a:srgbClr val="89FF00"/>
              </a:solidFill>
              <a:latin typeface="Plus Jakarta Sans"/>
            </a:endParaRPr>
          </a:p>
        </p:txBody>
      </p:sp>
      <p:sp>
        <p:nvSpPr>
          <p:cNvPr id="17" name="Text 15"/>
          <p:cNvSpPr txBox="1"/>
          <p:nvPr/>
        </p:nvSpPr>
        <p:spPr>
          <a:xfrm>
            <a:off x="7680960" y="3931920"/>
            <a:ext cx="3870655" cy="457200"/>
          </a:xfrm>
          <a:prstGeom prst="rect">
            <a:avLst/>
          </a:prstGeom>
          <a:noFill/>
          <a:ln/>
        </p:spPr>
        <p:txBody>
          <a:bodyPr wrap="square" lIns="0" tIns="0" rIns="0" bIns="0" rtlCol="0" anchor="ctr"/>
          <a:lstStyle/>
          <a:p>
            <a:pPr algn="l" indent="0" marL="0">
              <a:buNone/>
            </a:pPr>
            <a:r>
              <a:rPr lang="en-US" sz="1300" dirty="0">
                <a:solidFill>
                  <a:srgbClr val="F4F5F7"/>
                </a:solidFill>
                <a:latin typeface="Plus Jakarta Sans" pitchFamily="34" charset="0"/>
                <a:ea typeface="Segoe UI" pitchFamily="34" charset="-122"/>
                <a:cs typeface="Segoe UI" pitchFamily="34" charset="-120"/>
              </a:rPr>
              <a:t>Discussion</a:t>
            </a:r>
            <a:endParaRPr lang="en-US" sz="1300" dirty="0">
              <a:latin typeface="Plus Jakarta Sans"/>
            </a:endParaRPr>
          </a:p>
        </p:txBody>
      </p:sp>
      <p:sp>
        <p:nvSpPr>
          <p:cNvPr id="18" name="Shape 16"/>
          <p:cNvSpPr/>
          <p:nvPr/>
        </p:nvSpPr>
        <p:spPr>
          <a:xfrm>
            <a:off x="640080" y="5989320"/>
            <a:ext cx="1727149" cy="82296"/>
          </a:xfrm>
          <a:prstGeom prst="roundRect">
            <a:avLst>
              <a:gd name="adj" fmla="val 44444"/>
            </a:avLst>
          </a:prstGeom>
          <a:solidFill>
            <a:srgbClr val="89FF00"/>
          </a:solidFill>
          <a:ln/>
        </p:spPr>
      </p:sp>
      <p:sp>
        <p:nvSpPr>
          <p:cNvPr id="19" name="Text 17"/>
          <p:cNvSpPr txBox="1"/>
          <p:nvPr/>
        </p:nvSpPr>
        <p:spPr>
          <a:xfrm>
            <a:off x="640080" y="6126480"/>
            <a:ext cx="1727149" cy="274320"/>
          </a:xfrm>
          <a:prstGeom prst="rect">
            <a:avLst/>
          </a:prstGeom>
          <a:noFill/>
          <a:ln/>
        </p:spPr>
        <p:txBody>
          <a:bodyPr wrap="square" lIns="0" tIns="0" rIns="0" bIns="0" rtlCol="0" anchor="t"/>
          <a:lstStyle/>
          <a:p>
            <a:pPr algn="l" indent="0" marL="0">
              <a:buNone/>
            </a:pPr>
            <a:r>
              <a:rPr lang="en-US" sz="850" dirty="0">
                <a:solidFill>
                  <a:srgbClr val="AFAFAF"/>
                </a:solidFill>
                <a:latin typeface="Plus Jakarta Sans" pitchFamily="34" charset="0"/>
                <a:ea typeface="Segoe UI" pitchFamily="34" charset="-122"/>
                <a:cs typeface="Segoe UI" pitchFamily="34" charset="-120"/>
              </a:rPr>
              <a:t>Decide before theatre</a:t>
            </a:r>
            <a:endParaRPr lang="en-US" sz="850" dirty="0">
              <a:latin typeface="Plus Jakarta Sans"/>
            </a:endParaRPr>
          </a:p>
        </p:txBody>
      </p:sp>
      <p:sp>
        <p:nvSpPr>
          <p:cNvPr id="20" name="Shape 18"/>
          <p:cNvSpPr/>
          <p:nvPr/>
        </p:nvSpPr>
        <p:spPr>
          <a:xfrm>
            <a:off x="2476957" y="5989320"/>
            <a:ext cx="1727149" cy="82296"/>
          </a:xfrm>
          <a:prstGeom prst="roundRect">
            <a:avLst>
              <a:gd name="adj" fmla="val 44444"/>
            </a:avLst>
          </a:prstGeom>
          <a:solidFill>
            <a:srgbClr val="89FF00"/>
          </a:solidFill>
          <a:ln/>
        </p:spPr>
      </p:sp>
      <p:sp>
        <p:nvSpPr>
          <p:cNvPr id="21" name="Text 19"/>
          <p:cNvSpPr txBox="1"/>
          <p:nvPr/>
        </p:nvSpPr>
        <p:spPr>
          <a:xfrm>
            <a:off x="2476957" y="6126480"/>
            <a:ext cx="1727149" cy="274320"/>
          </a:xfrm>
          <a:prstGeom prst="rect">
            <a:avLst/>
          </a:prstGeom>
          <a:noFill/>
          <a:ln/>
        </p:spPr>
        <p:txBody>
          <a:bodyPr wrap="square" lIns="0" tIns="0" rIns="0" bIns="0" rtlCol="0" anchor="t"/>
          <a:lstStyle/>
          <a:p>
            <a:pPr algn="l" indent="0" marL="0">
              <a:buNone/>
            </a:pPr>
            <a:r>
              <a:rPr lang="en-US" sz="850" dirty="0">
                <a:solidFill>
                  <a:srgbClr val="AFAFAF"/>
                </a:solidFill>
                <a:latin typeface="Plus Jakarta Sans" pitchFamily="34" charset="0"/>
                <a:ea typeface="Segoe UI" pitchFamily="34" charset="-122"/>
                <a:cs typeface="Segoe UI" pitchFamily="34" charset="-120"/>
              </a:rPr>
              <a:t>The bladder</a:t>
            </a:r>
            <a:endParaRPr lang="en-US" sz="850" dirty="0">
              <a:latin typeface="Plus Jakarta Sans"/>
            </a:endParaRPr>
          </a:p>
        </p:txBody>
      </p:sp>
      <p:sp>
        <p:nvSpPr>
          <p:cNvPr id="22" name="Shape 20"/>
          <p:cNvSpPr/>
          <p:nvPr/>
        </p:nvSpPr>
        <p:spPr>
          <a:xfrm>
            <a:off x="4313834" y="5989320"/>
            <a:ext cx="1727149" cy="82296"/>
          </a:xfrm>
          <a:prstGeom prst="roundRect">
            <a:avLst>
              <a:gd name="adj" fmla="val 44444"/>
            </a:avLst>
          </a:prstGeom>
          <a:solidFill>
            <a:srgbClr val="89FF00"/>
          </a:solidFill>
          <a:ln/>
        </p:spPr>
      </p:sp>
      <p:sp>
        <p:nvSpPr>
          <p:cNvPr id="23" name="Text 21"/>
          <p:cNvSpPr txBox="1"/>
          <p:nvPr/>
        </p:nvSpPr>
        <p:spPr>
          <a:xfrm>
            <a:off x="4313834" y="6126480"/>
            <a:ext cx="1727149" cy="274320"/>
          </a:xfrm>
          <a:prstGeom prst="rect">
            <a:avLst/>
          </a:prstGeom>
          <a:noFill/>
          <a:ln/>
        </p:spPr>
        <p:txBody>
          <a:bodyPr wrap="square" lIns="0" tIns="0" rIns="0" bIns="0" rtlCol="0" anchor="t"/>
          <a:lstStyle/>
          <a:p>
            <a:pPr algn="l" indent="0" marL="0">
              <a:buNone/>
            </a:pPr>
            <a:r>
              <a:rPr lang="en-US" sz="850" dirty="0">
                <a:solidFill>
                  <a:srgbClr val="AFAFAF"/>
                </a:solidFill>
                <a:latin typeface="Plus Jakarta Sans" pitchFamily="34" charset="0"/>
                <a:ea typeface="Segoe UI" pitchFamily="34" charset="-122"/>
                <a:cs typeface="Segoe UI" pitchFamily="34" charset="-120"/>
              </a:rPr>
              <a:t>The urethra</a:t>
            </a:r>
            <a:endParaRPr lang="en-US" sz="850" dirty="0">
              <a:latin typeface="Plus Jakarta Sans"/>
            </a:endParaRPr>
          </a:p>
        </p:txBody>
      </p:sp>
      <p:sp>
        <p:nvSpPr>
          <p:cNvPr id="24" name="Shape 22"/>
          <p:cNvSpPr/>
          <p:nvPr/>
        </p:nvSpPr>
        <p:spPr>
          <a:xfrm>
            <a:off x="6150712" y="5989320"/>
            <a:ext cx="1727149" cy="82296"/>
          </a:xfrm>
          <a:prstGeom prst="roundRect">
            <a:avLst>
              <a:gd name="adj" fmla="val 44444"/>
            </a:avLst>
          </a:prstGeom>
          <a:solidFill>
            <a:srgbClr val="89FF00"/>
          </a:solidFill>
          <a:ln/>
        </p:spPr>
      </p:sp>
      <p:sp>
        <p:nvSpPr>
          <p:cNvPr id="25" name="Text 23"/>
          <p:cNvSpPr txBox="1"/>
          <p:nvPr/>
        </p:nvSpPr>
        <p:spPr>
          <a:xfrm>
            <a:off x="6150712" y="6126480"/>
            <a:ext cx="1727149" cy="274320"/>
          </a:xfrm>
          <a:prstGeom prst="rect">
            <a:avLst/>
          </a:prstGeom>
          <a:noFill/>
          <a:ln/>
        </p:spPr>
        <p:txBody>
          <a:bodyPr wrap="square" lIns="0" tIns="0" rIns="0" bIns="0" rtlCol="0" anchor="t"/>
          <a:lstStyle/>
          <a:p>
            <a:pPr algn="l" indent="0" marL="0">
              <a:buNone/>
            </a:pPr>
            <a:r>
              <a:rPr lang="en-US" sz="850" dirty="0">
                <a:solidFill>
                  <a:srgbClr val="AFAFAF"/>
                </a:solidFill>
                <a:latin typeface="Plus Jakarta Sans" pitchFamily="34" charset="0"/>
                <a:ea typeface="Segoe UI" pitchFamily="34" charset="-122"/>
                <a:cs typeface="Segoe UI" pitchFamily="34" charset="-120"/>
              </a:rPr>
              <a:t>Preparation without ritual</a:t>
            </a:r>
            <a:endParaRPr lang="en-US" sz="850" dirty="0">
              <a:latin typeface="Plus Jakarta Sans"/>
            </a:endParaRPr>
          </a:p>
        </p:txBody>
      </p:sp>
      <p:sp>
        <p:nvSpPr>
          <p:cNvPr id="26" name="Shape 24"/>
          <p:cNvSpPr/>
          <p:nvPr/>
        </p:nvSpPr>
        <p:spPr>
          <a:xfrm>
            <a:off x="7987589" y="5989320"/>
            <a:ext cx="1727149" cy="82296"/>
          </a:xfrm>
          <a:prstGeom prst="roundRect">
            <a:avLst>
              <a:gd name="adj" fmla="val 44444"/>
            </a:avLst>
          </a:prstGeom>
          <a:solidFill>
            <a:srgbClr val="89FF00"/>
          </a:solidFill>
          <a:ln/>
        </p:spPr>
      </p:sp>
      <p:sp>
        <p:nvSpPr>
          <p:cNvPr id="27" name="Text 25"/>
          <p:cNvSpPr txBox="1"/>
          <p:nvPr/>
        </p:nvSpPr>
        <p:spPr>
          <a:xfrm>
            <a:off x="7987589" y="6126480"/>
            <a:ext cx="1727149" cy="274320"/>
          </a:xfrm>
          <a:prstGeom prst="rect">
            <a:avLst/>
          </a:prstGeom>
          <a:noFill/>
          <a:ln/>
        </p:spPr>
        <p:txBody>
          <a:bodyPr wrap="square" lIns="0" tIns="0" rIns="0" bIns="0" rtlCol="0" anchor="t"/>
          <a:lstStyle/>
          <a:p>
            <a:pPr algn="l" indent="0" marL="0">
              <a:buNone/>
            </a:pPr>
            <a:r>
              <a:rPr lang="en-US" sz="850" dirty="0">
                <a:solidFill>
                  <a:srgbClr val="AFAFAF"/>
                </a:solidFill>
                <a:latin typeface="Plus Jakarta Sans" pitchFamily="34" charset="0"/>
                <a:ea typeface="Segoe UI" pitchFamily="34" charset="-122"/>
                <a:cs typeface="Segoe UI" pitchFamily="34" charset="-120"/>
              </a:rPr>
              <a:t>The operation</a:t>
            </a:r>
            <a:endParaRPr lang="en-US" sz="850" dirty="0">
              <a:latin typeface="Plus Jakarta Sans"/>
            </a:endParaRPr>
          </a:p>
        </p:txBody>
      </p:sp>
      <p:sp>
        <p:nvSpPr>
          <p:cNvPr id="28" name="Shape 26"/>
          <p:cNvSpPr/>
          <p:nvPr/>
        </p:nvSpPr>
        <p:spPr>
          <a:xfrm>
            <a:off x="9824466" y="5989320"/>
            <a:ext cx="1727149" cy="82296"/>
          </a:xfrm>
          <a:prstGeom prst="roundRect">
            <a:avLst>
              <a:gd name="adj" fmla="val 44444"/>
            </a:avLst>
          </a:prstGeom>
          <a:solidFill>
            <a:srgbClr val="89FF00"/>
          </a:solidFill>
          <a:ln/>
        </p:spPr>
      </p:sp>
      <p:sp>
        <p:nvSpPr>
          <p:cNvPr id="29" name="Text 27"/>
          <p:cNvSpPr txBox="1"/>
          <p:nvPr/>
        </p:nvSpPr>
        <p:spPr>
          <a:xfrm>
            <a:off x="9824466" y="6126480"/>
            <a:ext cx="1727149" cy="274320"/>
          </a:xfrm>
          <a:prstGeom prst="rect">
            <a:avLst/>
          </a:prstGeom>
          <a:noFill/>
          <a:ln/>
        </p:spPr>
        <p:txBody>
          <a:bodyPr wrap="square" lIns="0" tIns="0" rIns="0" bIns="0" rtlCol="0" anchor="t"/>
          <a:lstStyle/>
          <a:p>
            <a:pPr algn="l" indent="0" marL="0">
              <a:buNone/>
            </a:pPr>
            <a:r>
              <a:rPr lang="en-US" sz="850" dirty="0">
                <a:solidFill>
                  <a:srgbClr val="F4F5F7"/>
                </a:solidFill>
                <a:latin typeface="Plus Jakarta Sans" pitchFamily="34" charset="0"/>
                <a:ea typeface="Segoe UI" pitchFamily="34" charset="-122"/>
                <a:cs typeface="Segoe UI" pitchFamily="34" charset="-120"/>
              </a:rPr>
              <a:t>After the implant</a:t>
            </a:r>
            <a:endParaRPr lang="en-US" sz="850" dirty="0">
              <a:latin typeface="Plus Jakarta Sans"/>
            </a:endParaRPr>
          </a:p>
        </p:txBody>
      </p:sp>
      <p:sp>
        <p:nvSpPr>
          <p:cNvPr id="9001" name="replacement-title">
            <a:extLst>
              <a:ext uri="{FF2B5EF4-FFF2-40B4-BE49-F238E27FC236}">
                <a16:creationId xmlns:a16="http://schemas.microsoft.com/office/drawing/2014/main" id="{8F377CF6-A876-440F-A106-D6BFF9882C9C}"/>
              </a:ext>
            </a:extLst>
          </p:cNvPr>
          <p:cNvSpPr>
            <a:spLocks noGrp="1"/>
          </p:cNvSpPr>
          <p:nvPr/>
        </p:nvSpPr>
        <p:spPr>
          <a:xfrm>
            <a:off x="638175" y="1905000"/>
            <a:ext cx="5476875" cy="1314450"/>
          </a:xfrm>
          <a:prstGeom prst="rect">
            <a:avLst/>
          </a:prstGeom>
          <a:noFill/>
          <a:ln w="0">
            <a:noFill/>
          </a:ln>
        </p:spPr>
        <p:txBody>
          <a:bodyPr anchor="ctr"/>
          <a:lstStyle>
            <a:defPPr>
              <a:defRPr sz="3600" b="1">
                <a:solidFill>
                  <a:srgbClr val="FFFFFF"/>
                </a:solidFill>
                <a:latin typeface="Plus Jakarta Sans"/>
              </a:defRPr>
            </a:defPPr>
            <a:lvl1pPr>
              <a:defRPr sz="3600" b="1">
                <a:solidFill>
                  <a:srgbClr val="FFFFFF"/>
                </a:solidFill>
                <a:latin typeface="Plus Jakarta Sans"/>
              </a:defRPr>
            </a:lvl1pPr>
            <a:lvl2pPr>
              <a:defRPr sz="3600" b="1">
                <a:solidFill>
                  <a:srgbClr val="FFFFFF"/>
                </a:solidFill>
                <a:latin typeface="Plus Jakarta Sans"/>
              </a:defRPr>
            </a:lvl2pPr>
            <a:lvl3pPr>
              <a:defRPr sz="3600" b="1">
                <a:solidFill>
                  <a:srgbClr val="FFFFFF"/>
                </a:solidFill>
                <a:latin typeface="Plus Jakarta Sans"/>
              </a:defRPr>
            </a:lvl3pPr>
            <a:lvl4pPr>
              <a:defRPr sz="3600" b="1">
                <a:solidFill>
                  <a:srgbClr val="FFFFFF"/>
                </a:solidFill>
                <a:latin typeface="Plus Jakarta Sans"/>
              </a:defRPr>
            </a:lvl4pPr>
            <a:lvl5pPr>
              <a:defRPr sz="3600" b="1">
                <a:solidFill>
                  <a:srgbClr val="FFFFFF"/>
                </a:solidFill>
                <a:latin typeface="Plus Jakarta Sans"/>
              </a:defRPr>
            </a:lvl5pPr>
            <a:lvl6pPr>
              <a:defRPr sz="3600" b="1">
                <a:solidFill>
                  <a:srgbClr val="FFFFFF"/>
                </a:solidFill>
                <a:latin typeface="Plus Jakarta Sans"/>
              </a:defRPr>
            </a:lvl6pPr>
            <a:lvl7pPr>
              <a:defRPr sz="3600" b="1">
                <a:solidFill>
                  <a:srgbClr val="FFFFFF"/>
                </a:solidFill>
                <a:latin typeface="Plus Jakarta Sans"/>
              </a:defRPr>
            </a:lvl7pPr>
            <a:lvl8pPr>
              <a:defRPr sz="3600" b="1">
                <a:solidFill>
                  <a:srgbClr val="FFFFFF"/>
                </a:solidFill>
                <a:latin typeface="Plus Jakarta Sans"/>
              </a:defRPr>
            </a:lvl8pPr>
            <a:lvl9pPr>
              <a:defRPr sz="3600" b="1">
                <a:solidFill>
                  <a:srgbClr val="FFFFFF"/>
                </a:solidFill>
                <a:latin typeface="Plus Jakarta Sans"/>
              </a:defRPr>
            </a:lvl9pPr>
          </a:lstStyle>
          <a:p>
            <a:pPr>
              <a:defRPr sz="3600" b="1">
                <a:solidFill>
                  <a:srgbClr val="FFFFFF"/>
                </a:solidFill>
                <a:latin typeface="Plus Jakarta Sans"/>
              </a:defRPr>
            </a:pPr>
            <a:r>
              <a:rPr sz="3600" b="1">
                <a:solidFill>
                  <a:srgbClr val="FFFFFF"/>
                </a:solidFill>
                <a:latin typeface="Plus Jakarta Sans"/>
              </a:rPr>
              <a:t>After the implant</a:t>
            </a:r>
          </a:p>
        </p:txBody>
      </p:sp>
      <p:sp>
        <p:nvSpPr>
          <p:cNvPr id="9010" name="Google Shape;50;p7"/>
          <p:cNvSpPr/>
          <p:nvPr/>
        </p:nvSpPr>
        <p:spPr>
          <a:xfrm>
            <a:off x="5810250" y="1581150"/>
            <a:ext cx="314325" cy="314325"/>
          </a:xfrm>
          <a:custGeom>
            <a:avLst/>
            <a:gdLst/>
            <a:ahLst/>
            <a:cxnLst/>
            <a:rect l="l" t="t" r="r" b="b"/>
            <a:pathLst>
              <a:path w="615314" h="615315" extrusionOk="0">
                <a:moveTo>
                  <a:pt x="307372" y="0"/>
                </a:moveTo>
                <a:lnTo>
                  <a:pt x="295063" y="64094"/>
                </a:lnTo>
                <a:lnTo>
                  <a:pt x="281976" y="117458"/>
                </a:lnTo>
                <a:lnTo>
                  <a:pt x="266867" y="161336"/>
                </a:lnTo>
                <a:lnTo>
                  <a:pt x="248493" y="196971"/>
                </a:lnTo>
                <a:lnTo>
                  <a:pt x="196971" y="248493"/>
                </a:lnTo>
                <a:lnTo>
                  <a:pt x="161336" y="266867"/>
                </a:lnTo>
                <a:lnTo>
                  <a:pt x="117458" y="281976"/>
                </a:lnTo>
                <a:lnTo>
                  <a:pt x="64094" y="295063"/>
                </a:lnTo>
                <a:lnTo>
                  <a:pt x="0" y="307372"/>
                </a:lnTo>
                <a:lnTo>
                  <a:pt x="64094" y="319682"/>
                </a:lnTo>
                <a:lnTo>
                  <a:pt x="117458" y="332769"/>
                </a:lnTo>
                <a:lnTo>
                  <a:pt x="161336" y="347878"/>
                </a:lnTo>
                <a:lnTo>
                  <a:pt x="196971" y="366252"/>
                </a:lnTo>
                <a:lnTo>
                  <a:pt x="248493" y="417773"/>
                </a:lnTo>
                <a:lnTo>
                  <a:pt x="266867" y="453409"/>
                </a:lnTo>
                <a:lnTo>
                  <a:pt x="281976" y="497287"/>
                </a:lnTo>
                <a:lnTo>
                  <a:pt x="295063" y="550651"/>
                </a:lnTo>
                <a:lnTo>
                  <a:pt x="307372" y="614745"/>
                </a:lnTo>
                <a:lnTo>
                  <a:pt x="319682" y="550651"/>
                </a:lnTo>
                <a:lnTo>
                  <a:pt x="332769" y="497287"/>
                </a:lnTo>
                <a:lnTo>
                  <a:pt x="347878" y="453409"/>
                </a:lnTo>
                <a:lnTo>
                  <a:pt x="366252" y="417773"/>
                </a:lnTo>
                <a:lnTo>
                  <a:pt x="417773" y="366252"/>
                </a:lnTo>
                <a:lnTo>
                  <a:pt x="453409" y="347878"/>
                </a:lnTo>
                <a:lnTo>
                  <a:pt x="497287" y="332769"/>
                </a:lnTo>
                <a:lnTo>
                  <a:pt x="550651" y="319682"/>
                </a:lnTo>
                <a:lnTo>
                  <a:pt x="614745" y="307372"/>
                </a:lnTo>
                <a:lnTo>
                  <a:pt x="550651" y="295063"/>
                </a:lnTo>
                <a:lnTo>
                  <a:pt x="497287" y="281976"/>
                </a:lnTo>
                <a:lnTo>
                  <a:pt x="453409" y="266867"/>
                </a:lnTo>
                <a:lnTo>
                  <a:pt x="417773" y="248493"/>
                </a:lnTo>
                <a:lnTo>
                  <a:pt x="366252" y="196971"/>
                </a:lnTo>
                <a:lnTo>
                  <a:pt x="347878" y="161336"/>
                </a:lnTo>
                <a:lnTo>
                  <a:pt x="332769" y="117458"/>
                </a:lnTo>
                <a:lnTo>
                  <a:pt x="319682" y="64094"/>
                </a:lnTo>
                <a:lnTo>
                  <a:pt x="307372" y="0"/>
                </a:lnTo>
                <a:close/>
              </a:path>
            </a:pathLst>
          </a:custGeom>
          <a:solidFill>
            <a:srgbClr val="89FF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011" name="Google Shape;49;p7"/>
          <p:cNvSpPr/>
          <p:nvPr/>
        </p:nvSpPr>
        <p:spPr>
          <a:xfrm>
            <a:off x="638175" y="1676400"/>
            <a:ext cx="552450" cy="85725"/>
          </a:xfrm>
          <a:custGeom>
            <a:avLst/>
            <a:gdLst/>
            <a:ahLst/>
            <a:cxnLst/>
            <a:rect l="l" t="t" r="r" b="b"/>
            <a:pathLst>
              <a:path w="2339340" h="539115" extrusionOk="0">
                <a:moveTo>
                  <a:pt x="2129736" y="0"/>
                </a:moveTo>
                <a:lnTo>
                  <a:pt x="209417" y="0"/>
                </a:lnTo>
                <a:lnTo>
                  <a:pt x="161399" y="5531"/>
                </a:lnTo>
                <a:lnTo>
                  <a:pt x="117319" y="21286"/>
                </a:lnTo>
                <a:lnTo>
                  <a:pt x="78436" y="46009"/>
                </a:lnTo>
                <a:lnTo>
                  <a:pt x="46005" y="78440"/>
                </a:lnTo>
                <a:lnTo>
                  <a:pt x="21284" y="117324"/>
                </a:lnTo>
                <a:lnTo>
                  <a:pt x="5530" y="161402"/>
                </a:lnTo>
                <a:lnTo>
                  <a:pt x="0" y="209417"/>
                </a:lnTo>
                <a:lnTo>
                  <a:pt x="0" y="329089"/>
                </a:lnTo>
                <a:lnTo>
                  <a:pt x="5530" y="377108"/>
                </a:lnTo>
                <a:lnTo>
                  <a:pt x="21284" y="421187"/>
                </a:lnTo>
                <a:lnTo>
                  <a:pt x="46005" y="460070"/>
                </a:lnTo>
                <a:lnTo>
                  <a:pt x="78436" y="492501"/>
                </a:lnTo>
                <a:lnTo>
                  <a:pt x="117319" y="517222"/>
                </a:lnTo>
                <a:lnTo>
                  <a:pt x="161399" y="532976"/>
                </a:lnTo>
                <a:lnTo>
                  <a:pt x="209417" y="538507"/>
                </a:lnTo>
                <a:lnTo>
                  <a:pt x="2129736" y="538507"/>
                </a:lnTo>
                <a:lnTo>
                  <a:pt x="2177754" y="532976"/>
                </a:lnTo>
                <a:lnTo>
                  <a:pt x="2221834" y="517222"/>
                </a:lnTo>
                <a:lnTo>
                  <a:pt x="2260717" y="492501"/>
                </a:lnTo>
                <a:lnTo>
                  <a:pt x="2293148" y="460070"/>
                </a:lnTo>
                <a:lnTo>
                  <a:pt x="2317869" y="421187"/>
                </a:lnTo>
                <a:lnTo>
                  <a:pt x="2333623" y="377108"/>
                </a:lnTo>
                <a:lnTo>
                  <a:pt x="2339153" y="329089"/>
                </a:lnTo>
                <a:lnTo>
                  <a:pt x="2339153" y="209417"/>
                </a:lnTo>
                <a:lnTo>
                  <a:pt x="2333623" y="161402"/>
                </a:lnTo>
                <a:lnTo>
                  <a:pt x="2317869" y="117324"/>
                </a:lnTo>
                <a:lnTo>
                  <a:pt x="2293148" y="78440"/>
                </a:lnTo>
                <a:lnTo>
                  <a:pt x="2260717" y="46009"/>
                </a:lnTo>
                <a:lnTo>
                  <a:pt x="2221834" y="21286"/>
                </a:lnTo>
                <a:lnTo>
                  <a:pt x="2177754" y="5531"/>
                </a:lnTo>
                <a:lnTo>
                  <a:pt x="2129736" y="0"/>
                </a:lnTo>
                <a:close/>
              </a:path>
            </a:pathLst>
          </a:custGeom>
          <a:solidFill>
            <a:srgbClr val="89FF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61616"/>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05C489"/>
                </a:solidFill>
                <a:latin typeface="Plus Jakarta Sans" pitchFamily="34" charset="0"/>
                <a:ea typeface="Segoe UI" pitchFamily="34" charset="-122"/>
                <a:cs typeface="Segoe UI" pitchFamily="34" charset="-120"/>
              </a:rPr>
              <a:t>AFTER THE IMPLANT</a:t>
            </a:r>
            <a:endParaRPr lang="en-US" sz="950" dirty="0">
              <a:latin typeface="Plus Jakarta Sans"/>
            </a:endParaRPr>
          </a:p>
        </p:txBody>
      </p:sp>
      <p:sp>
        <p:nvSpPr>
          <p:cNvPr id="3" name="Text 1"/>
          <p:cNvSpPr txBox="1"/>
          <p:nvPr/>
        </p:nvSpPr>
        <p:spPr>
          <a:xfrm>
            <a:off x="6979615" y="384048"/>
            <a:ext cx="4572000" cy="274320"/>
          </a:xfrm>
          <a:prstGeom prst="rect">
            <a:avLst/>
          </a:prstGeom>
          <a:noFill/>
          <a:ln/>
        </p:spPr>
        <p:txBody>
          <a:bodyPr wrap="square" lIns="0" tIns="0" rIns="0" bIns="0" rtlCol="0" anchor="t"/>
          <a:lstStyle/>
          <a:p>
            <a:pPr algn="r" indent="0" marL="0">
              <a:buNone/>
            </a:pPr>
            <a:r>
              <a:rPr lang="en-US" sz="950" spc="100" kern="0" dirty="0">
                <a:solidFill>
                  <a:srgbClr val="BFBFBF"/>
                </a:solidFill>
                <a:latin typeface="Plus Jakarta Sans" pitchFamily="34" charset="0"/>
                <a:ea typeface="Segoe UI" pitchFamily="34" charset="-122"/>
                <a:cs typeface="Segoe UI" pitchFamily="34" charset="-120"/>
              </a:rPr>
              <a:t>31 / 36</a:t>
            </a:r>
            <a:endParaRPr lang="en-US" sz="950" dirty="0">
              <a:latin typeface="Plus Jakarta Sans"/>
            </a:endParaRPr>
          </a:p>
        </p:txBody>
      </p:sp>
      <p:sp>
        <p:nvSpPr>
          <p:cNvPr id="5" name="Text 3"/>
          <p:cNvSpPr txBox="1"/>
          <p:nvPr/>
        </p:nvSpPr>
        <p:spPr>
          <a:xfrm>
            <a:off x="640080" y="6345936"/>
            <a:ext cx="9997135" cy="228600"/>
          </a:xfrm>
          <a:prstGeom prst="rect">
            <a:avLst/>
          </a:prstGeom>
          <a:noFill/>
          <a:ln/>
        </p:spPr>
        <p:txBody>
          <a:bodyPr wrap="square" lIns="0" tIns="0" rIns="0" bIns="0" rtlCol="0" anchor="t"/>
          <a:lstStyle/>
          <a:p>
            <a:pPr algn="l" indent="0" marL="0">
              <a:buNone/>
            </a:pPr>
            <a:r>
              <a:rPr lang="en-US" sz="800" spc="50" kern="0" dirty="0">
                <a:solidFill>
                  <a:srgbClr val="BFBFBF"/>
                </a:solidFill>
                <a:latin typeface="Plus Jakarta Sans" pitchFamily="34" charset="0"/>
                <a:ea typeface="Segoe UI" pitchFamily="34" charset="-122"/>
                <a:cs typeface="Segoe UI" pitchFamily="34" charset="-120"/>
              </a:rPr>
              <a:t>BAUS25  ·  CCIFU  ·  AUA24  ·  CATH13  ·  BAUSDAY26  ·  DAYMETA26  ·  DAYCASE26</a:t>
            </a:r>
            <a:endParaRPr lang="en-US" sz="800" dirty="0">
              <a:latin typeface="Plus Jakarta Sans"/>
            </a:endParaRPr>
          </a:p>
        </p:txBody>
      </p:sp>
      <p:sp>
        <p:nvSpPr>
          <p:cNvPr id="6" name="Text 4"/>
          <p:cNvSpPr txBox="1"/>
          <p:nvPr/>
        </p:nvSpPr>
        <p:spPr>
          <a:xfrm>
            <a:off x="640080" y="5669280"/>
            <a:ext cx="10911535" cy="566928"/>
          </a:xfrm>
          <a:prstGeom prst="rect">
            <a:avLst/>
          </a:prstGeom>
          <a:noFill/>
          <a:ln/>
        </p:spPr>
        <p:txBody>
          <a:bodyPr wrap="square" lIns="0" tIns="0" rIns="0" bIns="0" rtlCol="0" anchor="b"/>
          <a:lstStyle/>
          <a:p>
            <a:pPr algn="l" indent="0" marL="0">
              <a:buNone/>
            </a:pPr>
            <a:r>
              <a:rPr lang="en-US" sz="1200" i="1" dirty="0">
                <a:solidFill>
                  <a:srgbClr val="BFBFBF"/>
                </a:solidFill>
                <a:latin typeface="Plus Jakarta Sans" pitchFamily="34" charset="0"/>
                <a:ea typeface="Segoe UI" pitchFamily="34" charset="-122"/>
                <a:cs typeface="Segoe UI" pitchFamily="34" charset="-120"/>
              </a:rPr>
              <a:t>The 2026 day-case audit and studies support selected pathways. Confirm he empties, has support, and can get seen fast.</a:t>
            </a:r>
            <a:endParaRPr lang="en-US" sz="1200" dirty="0">
              <a:latin typeface="Plus Jakarta Sans"/>
            </a:endParaRPr>
          </a:p>
        </p:txBody>
      </p:sp>
      <p:sp>
        <p:nvSpPr>
          <p:cNvPr id="7" name="Shape 5"/>
          <p:cNvSpPr/>
          <p:nvPr/>
        </p:nvSpPr>
        <p:spPr>
          <a:xfrm>
            <a:off x="640080" y="1783080"/>
            <a:ext cx="5295748" cy="3749040"/>
          </a:xfrm>
          <a:prstGeom prst="roundRect">
            <a:avLst>
              <a:gd name="adj" fmla="val 3415"/>
            </a:avLst>
          </a:prstGeom>
          <a:solidFill>
            <a:srgbClr val="2D2D2D"/>
          </a:solidFill>
          <a:ln/>
        </p:spPr>
      </p:sp>
      <p:sp>
        <p:nvSpPr>
          <p:cNvPr id="8" name="Text 6"/>
          <p:cNvSpPr txBox="1"/>
          <p:nvPr/>
        </p:nvSpPr>
        <p:spPr>
          <a:xfrm>
            <a:off x="960120" y="2075688"/>
            <a:ext cx="4655668" cy="365760"/>
          </a:xfrm>
          <a:prstGeom prst="rect">
            <a:avLst/>
          </a:prstGeom>
          <a:noFill/>
          <a:ln/>
        </p:spPr>
        <p:txBody>
          <a:bodyPr wrap="square" lIns="0" tIns="0" rIns="0" bIns="0" rtlCol="0" anchor="t"/>
          <a:lstStyle/>
          <a:p>
            <a:pPr algn="l" indent="0" marL="0">
              <a:buNone/>
            </a:pPr>
            <a:r>
              <a:rPr lang="en-US" sz="1500" dirty="0">
                <a:solidFill>
                  <a:srgbClr val="05C489"/>
                </a:solidFill>
                <a:latin typeface="Plus Jakarta Sans" pitchFamily="34" charset="0"/>
                <a:ea typeface="Segoe UI Semibold" pitchFamily="34" charset="-122"/>
                <a:cs typeface="Segoe UI Semibold" pitchFamily="34" charset="-120"/>
              </a:rPr>
              <a:t>Our pathway</a:t>
            </a:r>
            <a:endParaRPr lang="en-US" sz="1500" dirty="0">
              <a:latin typeface="Plus Jakarta Sans"/>
            </a:endParaRPr>
          </a:p>
        </p:txBody>
      </p:sp>
      <p:sp>
        <p:nvSpPr>
          <p:cNvPr id="9" name="Shape 7"/>
          <p:cNvSpPr/>
          <p:nvPr/>
        </p:nvSpPr>
        <p:spPr>
          <a:xfrm>
            <a:off x="960120" y="2688336"/>
            <a:ext cx="100584" cy="100584"/>
          </a:xfrm>
          <a:prstGeom prst="ellipse">
            <a:avLst/>
          </a:prstGeom>
          <a:solidFill>
            <a:srgbClr val="05C489"/>
          </a:solidFill>
          <a:ln/>
        </p:spPr>
      </p:sp>
      <p:sp>
        <p:nvSpPr>
          <p:cNvPr id="10" name="Text 8"/>
          <p:cNvSpPr txBox="1"/>
          <p:nvPr/>
        </p:nvSpPr>
        <p:spPr>
          <a:xfrm>
            <a:off x="1207008" y="2606040"/>
            <a:ext cx="4408780" cy="520243"/>
          </a:xfrm>
          <a:prstGeom prst="rect">
            <a:avLst/>
          </a:prstGeom>
          <a:noFill/>
          <a:ln/>
        </p:spPr>
        <p:txBody>
          <a:bodyPr wrap="square" lIns="0" tIns="0" rIns="0" bIns="0" rtlCol="0" anchor="t"/>
          <a:lstStyle/>
          <a:p>
            <a:pPr algn="l" indent="0" marL="0">
              <a:lnSpc>
                <a:spcPct val="110000"/>
              </a:lnSpc>
              <a:buNone/>
            </a:pPr>
            <a:r>
              <a:rPr lang="en-US" sz="1400" dirty="0">
                <a:solidFill>
                  <a:srgbClr val="FFFFFF"/>
                </a:solidFill>
                <a:latin typeface="Plus Jakarta Sans" pitchFamily="34" charset="0"/>
                <a:ea typeface="Segoe UI" pitchFamily="34" charset="-122"/>
                <a:cs typeface="Segoe UI" pitchFamily="34" charset="-120"/>
              </a:rPr>
              <a:t>Three doses of co-amoxiclav (Augmentin) around the operation</a:t>
            </a:r>
            <a:endParaRPr lang="en-US" sz="1400" dirty="0">
              <a:latin typeface="Plus Jakarta Sans"/>
            </a:endParaRPr>
          </a:p>
        </p:txBody>
      </p:sp>
      <p:sp>
        <p:nvSpPr>
          <p:cNvPr id="11" name="Shape 9"/>
          <p:cNvSpPr/>
          <p:nvPr/>
        </p:nvSpPr>
        <p:spPr>
          <a:xfrm>
            <a:off x="960120" y="3311330"/>
            <a:ext cx="100584" cy="100584"/>
          </a:xfrm>
          <a:prstGeom prst="ellipse">
            <a:avLst/>
          </a:prstGeom>
          <a:solidFill>
            <a:srgbClr val="05C489"/>
          </a:solidFill>
          <a:ln/>
        </p:spPr>
      </p:sp>
      <p:sp>
        <p:nvSpPr>
          <p:cNvPr id="12" name="Text 10"/>
          <p:cNvSpPr txBox="1"/>
          <p:nvPr/>
        </p:nvSpPr>
        <p:spPr>
          <a:xfrm>
            <a:off x="1207008" y="3229034"/>
            <a:ext cx="4408780" cy="260121"/>
          </a:xfrm>
          <a:prstGeom prst="rect">
            <a:avLst/>
          </a:prstGeom>
          <a:noFill/>
          <a:ln/>
        </p:spPr>
        <p:txBody>
          <a:bodyPr wrap="square" lIns="0" tIns="0" rIns="0" bIns="0" rtlCol="0" anchor="t"/>
          <a:lstStyle/>
          <a:p>
            <a:pPr algn="l" indent="0" marL="0">
              <a:lnSpc>
                <a:spcPct val="110000"/>
              </a:lnSpc>
              <a:buNone/>
            </a:pPr>
            <a:r>
              <a:rPr lang="en-US" sz="1400" dirty="0">
                <a:solidFill>
                  <a:srgbClr val="FFFFFF"/>
                </a:solidFill>
                <a:latin typeface="Plus Jakarta Sans" pitchFamily="34" charset="0"/>
                <a:ea typeface="Segoe UI" pitchFamily="34" charset="-122"/>
                <a:cs typeface="Segoe UI" pitchFamily="34" charset="-120"/>
              </a:rPr>
              <a:t>Catheter out the next day</a:t>
            </a:r>
            <a:endParaRPr lang="en-US" sz="1400" dirty="0">
              <a:latin typeface="Plus Jakarta Sans"/>
            </a:endParaRPr>
          </a:p>
        </p:txBody>
      </p:sp>
      <p:sp>
        <p:nvSpPr>
          <p:cNvPr id="13" name="Shape 11"/>
          <p:cNvSpPr/>
          <p:nvPr/>
        </p:nvSpPr>
        <p:spPr>
          <a:xfrm>
            <a:off x="960120" y="3674203"/>
            <a:ext cx="100584" cy="100584"/>
          </a:xfrm>
          <a:prstGeom prst="ellipse">
            <a:avLst/>
          </a:prstGeom>
          <a:solidFill>
            <a:srgbClr val="05C489"/>
          </a:solidFill>
          <a:ln/>
        </p:spPr>
      </p:sp>
      <p:sp>
        <p:nvSpPr>
          <p:cNvPr id="14" name="Text 12"/>
          <p:cNvSpPr txBox="1"/>
          <p:nvPr/>
        </p:nvSpPr>
        <p:spPr>
          <a:xfrm>
            <a:off x="1207008" y="3591907"/>
            <a:ext cx="4408780" cy="260121"/>
          </a:xfrm>
          <a:prstGeom prst="rect">
            <a:avLst/>
          </a:prstGeom>
          <a:noFill/>
          <a:ln/>
        </p:spPr>
        <p:txBody>
          <a:bodyPr wrap="square" lIns="0" tIns="0" rIns="0" bIns="0" rtlCol="0" anchor="t"/>
          <a:lstStyle/>
          <a:p>
            <a:pPr algn="l" indent="0" marL="0">
              <a:lnSpc>
                <a:spcPct val="110000"/>
              </a:lnSpc>
              <a:buNone/>
            </a:pPr>
            <a:r>
              <a:rPr lang="en-US" sz="1400" dirty="0">
                <a:solidFill>
                  <a:srgbClr val="FFFFFF"/>
                </a:solidFill>
                <a:latin typeface="Plus Jakarta Sans" pitchFamily="34" charset="0"/>
                <a:ea typeface="Segoe UI" pitchFamily="34" charset="-122"/>
                <a:cs typeface="Segoe UI" pitchFamily="34" charset="-120"/>
              </a:rPr>
              <a:t>Back at 6 weeks to switch the device on</a:t>
            </a:r>
            <a:endParaRPr lang="en-US" sz="1400" dirty="0">
              <a:latin typeface="Plus Jakarta Sans"/>
            </a:endParaRPr>
          </a:p>
        </p:txBody>
      </p:sp>
      <p:sp>
        <p:nvSpPr>
          <p:cNvPr id="15" name="Shape 13"/>
          <p:cNvSpPr/>
          <p:nvPr/>
        </p:nvSpPr>
        <p:spPr>
          <a:xfrm>
            <a:off x="960120" y="4037076"/>
            <a:ext cx="100584" cy="100584"/>
          </a:xfrm>
          <a:prstGeom prst="ellipse">
            <a:avLst/>
          </a:prstGeom>
          <a:solidFill>
            <a:srgbClr val="05C489"/>
          </a:solidFill>
          <a:ln/>
        </p:spPr>
      </p:sp>
      <p:sp>
        <p:nvSpPr>
          <p:cNvPr id="16" name="Text 14"/>
          <p:cNvSpPr txBox="1"/>
          <p:nvPr/>
        </p:nvSpPr>
        <p:spPr>
          <a:xfrm>
            <a:off x="1207008" y="3954780"/>
            <a:ext cx="4408780" cy="520243"/>
          </a:xfrm>
          <a:prstGeom prst="rect">
            <a:avLst/>
          </a:prstGeom>
          <a:noFill/>
          <a:ln/>
        </p:spPr>
        <p:txBody>
          <a:bodyPr wrap="square" lIns="0" tIns="0" rIns="0" bIns="0" rtlCol="0" anchor="t"/>
          <a:lstStyle/>
          <a:p>
            <a:pPr algn="l" indent="0" marL="0">
              <a:lnSpc>
                <a:spcPct val="110000"/>
              </a:lnSpc>
              <a:buNone/>
            </a:pPr>
            <a:r>
              <a:rPr lang="en-US" sz="1400" dirty="0">
                <a:solidFill>
                  <a:srgbClr val="FFFFFF"/>
                </a:solidFill>
                <a:latin typeface="Plus Jakarta Sans" pitchFamily="34" charset="0"/>
                <a:ea typeface="Segoe UI" pitchFamily="34" charset="-122"/>
                <a:cs typeface="Segoe UI" pitchFamily="34" charset="-120"/>
              </a:rPr>
              <a:t>Seen again 6 weeks after activation for any problems</a:t>
            </a:r>
            <a:endParaRPr lang="en-US" sz="1400" dirty="0">
              <a:latin typeface="Plus Jakarta Sans"/>
            </a:endParaRPr>
          </a:p>
        </p:txBody>
      </p:sp>
      <p:sp>
        <p:nvSpPr>
          <p:cNvPr id="17" name="Shape 15"/>
          <p:cNvSpPr/>
          <p:nvPr/>
        </p:nvSpPr>
        <p:spPr>
          <a:xfrm>
            <a:off x="960120" y="4660070"/>
            <a:ext cx="100584" cy="100584"/>
          </a:xfrm>
          <a:prstGeom prst="ellipse">
            <a:avLst/>
          </a:prstGeom>
          <a:solidFill>
            <a:srgbClr val="05C489"/>
          </a:solidFill>
          <a:ln/>
        </p:spPr>
      </p:sp>
      <p:sp>
        <p:nvSpPr>
          <p:cNvPr id="18" name="Text 16"/>
          <p:cNvSpPr txBox="1"/>
          <p:nvPr/>
        </p:nvSpPr>
        <p:spPr>
          <a:xfrm>
            <a:off x="1207008" y="4577774"/>
            <a:ext cx="4408780" cy="260121"/>
          </a:xfrm>
          <a:prstGeom prst="rect">
            <a:avLst/>
          </a:prstGeom>
          <a:noFill/>
          <a:ln/>
        </p:spPr>
        <p:txBody>
          <a:bodyPr wrap="square" lIns="0" tIns="0" rIns="0" bIns="0" rtlCol="0" anchor="t"/>
          <a:lstStyle/>
          <a:p>
            <a:pPr algn="l" indent="0" marL="0">
              <a:lnSpc>
                <a:spcPct val="110000"/>
              </a:lnSpc>
              <a:buNone/>
            </a:pPr>
            <a:r>
              <a:rPr lang="en-US" sz="1400" dirty="0">
                <a:solidFill>
                  <a:srgbClr val="FFFFFF"/>
                </a:solidFill>
                <a:latin typeface="Plus Jakarta Sans" pitchFamily="34" charset="0"/>
                <a:ea typeface="Segoe UI" pitchFamily="34" charset="-122"/>
                <a:cs typeface="Segoe UI" pitchFamily="34" charset="-120"/>
              </a:rPr>
              <a:t>Follow-up at 3 months and 6 months</a:t>
            </a:r>
            <a:endParaRPr lang="en-US" sz="1400" dirty="0">
              <a:latin typeface="Plus Jakarta Sans"/>
            </a:endParaRPr>
          </a:p>
        </p:txBody>
      </p:sp>
      <p:sp>
        <p:nvSpPr>
          <p:cNvPr id="19" name="Shape 17"/>
          <p:cNvSpPr/>
          <p:nvPr/>
        </p:nvSpPr>
        <p:spPr>
          <a:xfrm>
            <a:off x="960120" y="5022943"/>
            <a:ext cx="100584" cy="100584"/>
          </a:xfrm>
          <a:prstGeom prst="ellipse">
            <a:avLst/>
          </a:prstGeom>
          <a:solidFill>
            <a:srgbClr val="05C489"/>
          </a:solidFill>
          <a:ln/>
        </p:spPr>
      </p:sp>
      <p:sp>
        <p:nvSpPr>
          <p:cNvPr id="20" name="Text 18"/>
          <p:cNvSpPr txBox="1"/>
          <p:nvPr/>
        </p:nvSpPr>
        <p:spPr>
          <a:xfrm>
            <a:off x="1207008" y="4940647"/>
            <a:ext cx="4408780" cy="260121"/>
          </a:xfrm>
          <a:prstGeom prst="rect">
            <a:avLst/>
          </a:prstGeom>
          <a:noFill/>
          <a:ln/>
        </p:spPr>
        <p:txBody>
          <a:bodyPr wrap="square" lIns="0" tIns="0" rIns="0" bIns="0" rtlCol="0" anchor="t"/>
          <a:lstStyle/>
          <a:p>
            <a:pPr algn="l" indent="0" marL="0">
              <a:lnSpc>
                <a:spcPct val="110000"/>
              </a:lnSpc>
              <a:buNone/>
            </a:pPr>
            <a:r>
              <a:rPr lang="en-US" sz="1400" dirty="0">
                <a:solidFill>
                  <a:srgbClr val="FFFFFF"/>
                </a:solidFill>
                <a:latin typeface="Plus Jakarta Sans" pitchFamily="34" charset="0"/>
                <a:ea typeface="Segoe UI" pitchFamily="34" charset="-122"/>
                <a:cs typeface="Segoe UI" pitchFamily="34" charset="-120"/>
              </a:rPr>
              <a:t>After a year, he contacts us if he needs to</a:t>
            </a:r>
            <a:endParaRPr lang="en-US" sz="1400" dirty="0">
              <a:latin typeface="Plus Jakarta Sans"/>
            </a:endParaRPr>
          </a:p>
        </p:txBody>
      </p:sp>
      <p:sp>
        <p:nvSpPr>
          <p:cNvPr id="21" name="Shape 19"/>
          <p:cNvSpPr/>
          <p:nvPr/>
        </p:nvSpPr>
        <p:spPr>
          <a:xfrm>
            <a:off x="6255868" y="1783080"/>
            <a:ext cx="5295748" cy="3749040"/>
          </a:xfrm>
          <a:prstGeom prst="roundRect">
            <a:avLst>
              <a:gd name="adj" fmla="val 3415"/>
            </a:avLst>
          </a:prstGeom>
          <a:solidFill>
            <a:srgbClr val="2D2D2D"/>
          </a:solidFill>
          <a:ln/>
        </p:spPr>
      </p:sp>
      <p:sp>
        <p:nvSpPr>
          <p:cNvPr id="22" name="Text 20"/>
          <p:cNvSpPr txBox="1"/>
          <p:nvPr/>
        </p:nvSpPr>
        <p:spPr>
          <a:xfrm>
            <a:off x="6575908" y="2075688"/>
            <a:ext cx="4655668" cy="365760"/>
          </a:xfrm>
          <a:prstGeom prst="rect">
            <a:avLst/>
          </a:prstGeom>
          <a:noFill/>
          <a:ln/>
        </p:spPr>
        <p:txBody>
          <a:bodyPr wrap="square" lIns="0" tIns="0" rIns="0" bIns="0" rtlCol="0" anchor="t"/>
          <a:lstStyle/>
          <a:p>
            <a:pPr algn="l" indent="0" marL="0">
              <a:buNone/>
            </a:pPr>
            <a:r>
              <a:rPr lang="en-US" sz="1500" dirty="0">
                <a:solidFill>
                  <a:srgbClr val="FFFFFF"/>
                </a:solidFill>
                <a:latin typeface="Plus Jakarta Sans" pitchFamily="34" charset="0"/>
                <a:ea typeface="Segoe UI Semibold" pitchFamily="34" charset="-122"/>
                <a:cs typeface="Segoe UI Semibold" pitchFamily="34" charset="-120"/>
              </a:rPr>
              <a:t>Earlier assessment</a:t>
            </a:r>
            <a:endParaRPr lang="en-US" sz="1500" dirty="0">
              <a:latin typeface="Plus Jakarta Sans"/>
            </a:endParaRPr>
          </a:p>
        </p:txBody>
      </p:sp>
      <p:sp>
        <p:nvSpPr>
          <p:cNvPr id="23" name="Shape 21"/>
          <p:cNvSpPr/>
          <p:nvPr/>
        </p:nvSpPr>
        <p:spPr>
          <a:xfrm>
            <a:off x="6575908" y="2734056"/>
            <a:ext cx="100584" cy="100584"/>
          </a:xfrm>
          <a:prstGeom prst="ellipse">
            <a:avLst/>
          </a:prstGeom>
          <a:solidFill>
            <a:srgbClr val="FFFFFF"/>
          </a:solidFill>
          <a:ln/>
        </p:spPr>
      </p:sp>
      <p:sp>
        <p:nvSpPr>
          <p:cNvPr id="24" name="Text 22"/>
          <p:cNvSpPr txBox="1"/>
          <p:nvPr/>
        </p:nvSpPr>
        <p:spPr>
          <a:xfrm>
            <a:off x="6822796" y="2651760"/>
            <a:ext cx="4408780" cy="777240"/>
          </a:xfrm>
          <a:prstGeom prst="rect">
            <a:avLst/>
          </a:prstGeom>
          <a:noFill/>
          <a:ln/>
        </p:spPr>
        <p:txBody>
          <a:bodyPr wrap="square" lIns="0" tIns="0" rIns="0" bIns="0" rtlCol="0" anchor="t"/>
          <a:lstStyle/>
          <a:p>
            <a:pPr algn="l" indent="0" marL="0">
              <a:lnSpc>
                <a:spcPct val="110000"/>
              </a:lnSpc>
              <a:buNone/>
            </a:pPr>
            <a:r>
              <a:rPr lang="en-US" sz="1550" dirty="0">
                <a:solidFill>
                  <a:srgbClr val="FFFFFF"/>
                </a:solidFill>
                <a:latin typeface="Plus Jakarta Sans" pitchFamily="34" charset="0"/>
                <a:ea typeface="Segoe UI" pitchFamily="34" charset="-122"/>
                <a:cs typeface="Segoe UI" pitchFamily="34" charset="-120"/>
              </a:rPr>
              <a:t>Retention or difficult voiding</a:t>
            </a:r>
            <a:endParaRPr lang="en-US" sz="1550" dirty="0">
              <a:latin typeface="Plus Jakarta Sans"/>
            </a:endParaRPr>
          </a:p>
        </p:txBody>
      </p:sp>
      <p:sp>
        <p:nvSpPr>
          <p:cNvPr id="25" name="Shape 23"/>
          <p:cNvSpPr/>
          <p:nvPr/>
        </p:nvSpPr>
        <p:spPr>
          <a:xfrm>
            <a:off x="6575908" y="3557016"/>
            <a:ext cx="100584" cy="100584"/>
          </a:xfrm>
          <a:prstGeom prst="ellipse">
            <a:avLst/>
          </a:prstGeom>
          <a:solidFill>
            <a:srgbClr val="FFFFFF"/>
          </a:solidFill>
          <a:ln/>
        </p:spPr>
      </p:sp>
      <p:sp>
        <p:nvSpPr>
          <p:cNvPr id="26" name="Text 24"/>
          <p:cNvSpPr txBox="1"/>
          <p:nvPr/>
        </p:nvSpPr>
        <p:spPr>
          <a:xfrm>
            <a:off x="6822796" y="3474720"/>
            <a:ext cx="4408780" cy="777240"/>
          </a:xfrm>
          <a:prstGeom prst="rect">
            <a:avLst/>
          </a:prstGeom>
          <a:noFill/>
          <a:ln/>
        </p:spPr>
        <p:txBody>
          <a:bodyPr wrap="square" lIns="0" tIns="0" rIns="0" bIns="0" rtlCol="0" anchor="t"/>
          <a:lstStyle/>
          <a:p>
            <a:pPr algn="l" indent="0" marL="0">
              <a:lnSpc>
                <a:spcPct val="110000"/>
              </a:lnSpc>
              <a:buNone/>
            </a:pPr>
            <a:r>
              <a:rPr lang="en-US" sz="1550" dirty="0">
                <a:solidFill>
                  <a:srgbClr val="FFFFFF"/>
                </a:solidFill>
                <a:latin typeface="Plus Jakarta Sans" pitchFamily="34" charset="0"/>
                <a:ea typeface="Segoe UI" pitchFamily="34" charset="-122"/>
                <a:cs typeface="Segoe UI" pitchFamily="34" charset="-120"/>
              </a:rPr>
              <a:t>Worsening pain, redness, discharge or fever</a:t>
            </a:r>
            <a:endParaRPr lang="en-US" sz="1550" dirty="0">
              <a:latin typeface="Plus Jakarta Sans"/>
            </a:endParaRPr>
          </a:p>
        </p:txBody>
      </p:sp>
      <p:sp>
        <p:nvSpPr>
          <p:cNvPr id="27" name="Shape 25"/>
          <p:cNvSpPr/>
          <p:nvPr/>
        </p:nvSpPr>
        <p:spPr>
          <a:xfrm>
            <a:off x="6575908" y="4379976"/>
            <a:ext cx="100584" cy="100584"/>
          </a:xfrm>
          <a:prstGeom prst="ellipse">
            <a:avLst/>
          </a:prstGeom>
          <a:solidFill>
            <a:srgbClr val="FFFFFF"/>
          </a:solidFill>
          <a:ln/>
        </p:spPr>
      </p:sp>
      <p:sp>
        <p:nvSpPr>
          <p:cNvPr id="28" name="Text 26"/>
          <p:cNvSpPr txBox="1"/>
          <p:nvPr/>
        </p:nvSpPr>
        <p:spPr>
          <a:xfrm>
            <a:off x="6822796" y="4297680"/>
            <a:ext cx="4408780" cy="777240"/>
          </a:xfrm>
          <a:prstGeom prst="rect">
            <a:avLst/>
          </a:prstGeom>
          <a:noFill/>
          <a:ln/>
        </p:spPr>
        <p:txBody>
          <a:bodyPr wrap="square" lIns="0" tIns="0" rIns="0" bIns="0" rtlCol="0" anchor="t"/>
          <a:lstStyle/>
          <a:p>
            <a:pPr algn="l" indent="0" marL="0">
              <a:lnSpc>
                <a:spcPct val="110000"/>
              </a:lnSpc>
              <a:buNone/>
            </a:pPr>
            <a:r>
              <a:rPr lang="en-US" sz="1550" dirty="0">
                <a:solidFill>
                  <a:srgbClr val="FFFFFF"/>
                </a:solidFill>
                <a:latin typeface="Plus Jakarta Sans" pitchFamily="34" charset="0"/>
                <a:ea typeface="Segoe UI" pitchFamily="34" charset="-122"/>
                <a:cs typeface="Segoe UI" pitchFamily="34" charset="-120"/>
              </a:rPr>
              <a:t>Suspected infection or erosion needs specialist review</a:t>
            </a:r>
            <a:endParaRPr lang="en-US" sz="1550" dirty="0">
              <a:latin typeface="Plus Jakarta Sans"/>
            </a:endParaRPr>
          </a:p>
        </p:txBody>
      </p:sp>
      <p:sp>
        <p:nvSpPr>
          <p:cNvPr id="9001" name="replacement-title">
            <a:extLst>
              <a:ext uri="{FF2B5EF4-FFF2-40B4-BE49-F238E27FC236}">
                <a16:creationId xmlns:a16="http://schemas.microsoft.com/office/drawing/2014/main" id="{A1F92F05-4628-40A0-9B43-FCD2F4084DEE}"/>
              </a:ext>
            </a:extLst>
          </p:cNvPr>
          <p:cNvSpPr>
            <a:spLocks noGrp="1"/>
          </p:cNvSpPr>
          <p:nvPr/>
        </p:nvSpPr>
        <p:spPr>
          <a:xfrm>
            <a:off x="638175" y="752475"/>
            <a:ext cx="10915650" cy="800100"/>
          </a:xfrm>
          <a:prstGeom prst="rect">
            <a:avLst/>
          </a:prstGeom>
          <a:noFill/>
          <a:ln w="0">
            <a:noFill/>
          </a:ln>
        </p:spPr>
        <p:txBody>
          <a:bodyPr anchor="ctr"/>
          <a:lstStyle>
            <a:defPPr>
              <a:defRPr sz="2625" b="1">
                <a:solidFill>
                  <a:srgbClr val="FFFFFF"/>
                </a:solidFill>
                <a:latin typeface="Plus Jakarta Sans"/>
              </a:defRPr>
            </a:defPPr>
            <a:lvl1pPr>
              <a:defRPr sz="2625" b="1">
                <a:solidFill>
                  <a:srgbClr val="FFFFFF"/>
                </a:solidFill>
                <a:latin typeface="Plus Jakarta Sans"/>
              </a:defRPr>
            </a:lvl1pPr>
            <a:lvl2pPr>
              <a:defRPr sz="2625" b="1">
                <a:solidFill>
                  <a:srgbClr val="FFFFFF"/>
                </a:solidFill>
                <a:latin typeface="Plus Jakarta Sans"/>
              </a:defRPr>
            </a:lvl2pPr>
            <a:lvl3pPr>
              <a:defRPr sz="2625" b="1">
                <a:solidFill>
                  <a:srgbClr val="FFFFFF"/>
                </a:solidFill>
                <a:latin typeface="Plus Jakarta Sans"/>
              </a:defRPr>
            </a:lvl3pPr>
            <a:lvl4pPr>
              <a:defRPr sz="2625" b="1">
                <a:solidFill>
                  <a:srgbClr val="FFFFFF"/>
                </a:solidFill>
                <a:latin typeface="Plus Jakarta Sans"/>
              </a:defRPr>
            </a:lvl4pPr>
            <a:lvl5pPr>
              <a:defRPr sz="2625" b="1">
                <a:solidFill>
                  <a:srgbClr val="FFFFFF"/>
                </a:solidFill>
                <a:latin typeface="Plus Jakarta Sans"/>
              </a:defRPr>
            </a:lvl5pPr>
            <a:lvl6pPr>
              <a:defRPr sz="2625" b="1">
                <a:solidFill>
                  <a:srgbClr val="FFFFFF"/>
                </a:solidFill>
                <a:latin typeface="Plus Jakarta Sans"/>
              </a:defRPr>
            </a:lvl6pPr>
            <a:lvl7pPr>
              <a:defRPr sz="2625" b="1">
                <a:solidFill>
                  <a:srgbClr val="FFFFFF"/>
                </a:solidFill>
                <a:latin typeface="Plus Jakarta Sans"/>
              </a:defRPr>
            </a:lvl7pPr>
            <a:lvl8pPr>
              <a:defRPr sz="2625" b="1">
                <a:solidFill>
                  <a:srgbClr val="FFFFFF"/>
                </a:solidFill>
                <a:latin typeface="Plus Jakarta Sans"/>
              </a:defRPr>
            </a:lvl8pPr>
            <a:lvl9pPr>
              <a:defRPr sz="2625" b="1">
                <a:solidFill>
                  <a:srgbClr val="FFFFFF"/>
                </a:solidFill>
                <a:latin typeface="Plus Jakarta Sans"/>
              </a:defRPr>
            </a:lvl9pPr>
          </a:lstStyle>
          <a:p>
            <a:pPr>
              <a:defRPr sz="2625" b="1">
                <a:solidFill>
                  <a:srgbClr val="FFFFFF"/>
                </a:solidFill>
                <a:latin typeface="Plus Jakarta Sans"/>
              </a:defRPr>
            </a:pPr>
            <a:r>
              <a:rPr sz="2625" b="1">
                <a:solidFill>
                  <a:srgbClr val="FFFFFF"/>
                </a:solidFill>
                <a:latin typeface="Plus Jakarta Sans"/>
              </a:rPr>
              <a:t>Aftercare, activation and urgent review</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61616"/>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05C489"/>
                </a:solidFill>
                <a:latin typeface="Plus Jakarta Sans" pitchFamily="34" charset="0"/>
                <a:ea typeface="Segoe UI" pitchFamily="34" charset="-122"/>
                <a:cs typeface="Segoe UI" pitchFamily="34" charset="-120"/>
              </a:rPr>
              <a:t>AFTER THE IMPLANT</a:t>
            </a:r>
            <a:endParaRPr lang="en-US" sz="950" dirty="0">
              <a:latin typeface="Plus Jakarta Sans"/>
            </a:endParaRPr>
          </a:p>
        </p:txBody>
      </p:sp>
      <p:sp>
        <p:nvSpPr>
          <p:cNvPr id="3" name="Text 1"/>
          <p:cNvSpPr txBox="1"/>
          <p:nvPr/>
        </p:nvSpPr>
        <p:spPr>
          <a:xfrm>
            <a:off x="6979615" y="384048"/>
            <a:ext cx="4572000" cy="274320"/>
          </a:xfrm>
          <a:prstGeom prst="rect">
            <a:avLst/>
          </a:prstGeom>
          <a:noFill/>
          <a:ln/>
        </p:spPr>
        <p:txBody>
          <a:bodyPr wrap="square" lIns="0" tIns="0" rIns="0" bIns="0" rtlCol="0" anchor="t"/>
          <a:lstStyle/>
          <a:p>
            <a:pPr algn="r" indent="0" marL="0">
              <a:buNone/>
            </a:pPr>
            <a:r>
              <a:rPr lang="en-US" sz="950" spc="100" kern="0" dirty="0">
                <a:solidFill>
                  <a:srgbClr val="BFBFBF"/>
                </a:solidFill>
                <a:latin typeface="Plus Jakarta Sans" pitchFamily="34" charset="0"/>
                <a:ea typeface="Segoe UI" pitchFamily="34" charset="-122"/>
                <a:cs typeface="Segoe UI" pitchFamily="34" charset="-120"/>
              </a:rPr>
              <a:t>32 / 36</a:t>
            </a:r>
            <a:endParaRPr lang="en-US" sz="950" dirty="0">
              <a:latin typeface="Plus Jakarta Sans"/>
            </a:endParaRPr>
          </a:p>
        </p:txBody>
      </p:sp>
      <p:sp>
        <p:nvSpPr>
          <p:cNvPr id="5" name="Text 3"/>
          <p:cNvSpPr txBox="1"/>
          <p:nvPr/>
        </p:nvSpPr>
        <p:spPr>
          <a:xfrm>
            <a:off x="640080" y="6345936"/>
            <a:ext cx="9997135" cy="228600"/>
          </a:xfrm>
          <a:prstGeom prst="rect">
            <a:avLst/>
          </a:prstGeom>
          <a:noFill/>
          <a:ln/>
        </p:spPr>
        <p:txBody>
          <a:bodyPr wrap="square" lIns="0" tIns="0" rIns="0" bIns="0" rtlCol="0" anchor="t"/>
          <a:lstStyle/>
          <a:p>
            <a:pPr algn="l" indent="0" marL="0">
              <a:buNone/>
            </a:pPr>
            <a:r>
              <a:rPr lang="en-US" sz="800" spc="50" kern="0" dirty="0">
                <a:solidFill>
                  <a:srgbClr val="BFBFBF"/>
                </a:solidFill>
                <a:latin typeface="Plus Jakarta Sans" pitchFamily="34" charset="0"/>
                <a:ea typeface="Segoe UI" pitchFamily="34" charset="-122"/>
                <a:cs typeface="Segoe UI" pitchFamily="34" charset="-120"/>
              </a:rPr>
              <a:t>ATROPHY20  ·  BAUS25  ·  AUA24  ·  CCIFU  ·  AUASAFER26  ·  PRBFAT26  ·  EROSION26  ·  SECOND26</a:t>
            </a:r>
            <a:endParaRPr lang="en-US" sz="800" dirty="0">
              <a:latin typeface="Plus Jakarta Sans"/>
            </a:endParaRPr>
          </a:p>
        </p:txBody>
      </p:sp>
      <p:sp>
        <p:nvSpPr>
          <p:cNvPr id="6" name="Text 4"/>
          <p:cNvSpPr txBox="1"/>
          <p:nvPr/>
        </p:nvSpPr>
        <p:spPr>
          <a:xfrm>
            <a:off x="640080" y="5669280"/>
            <a:ext cx="10911535" cy="566928"/>
          </a:xfrm>
          <a:prstGeom prst="rect">
            <a:avLst/>
          </a:prstGeom>
          <a:noFill/>
          <a:ln/>
        </p:spPr>
        <p:txBody>
          <a:bodyPr wrap="square" lIns="0" tIns="0" rIns="0" bIns="0" rtlCol="0" anchor="b"/>
          <a:lstStyle/>
          <a:p>
            <a:pPr algn="l" indent="0" marL="0">
              <a:buNone/>
            </a:pPr>
            <a:r>
              <a:rPr lang="en-US" sz="1200" i="1" dirty="0">
                <a:solidFill>
                  <a:srgbClr val="BFBFBF"/>
                </a:solidFill>
                <a:latin typeface="Plus Jakarta Sans" pitchFamily="34" charset="0"/>
                <a:ea typeface="Segoe UI" pitchFamily="34" charset="-122"/>
                <a:cs typeface="Segoe UI" pitchFamily="34" charset="-120"/>
              </a:rPr>
              <a:t>A 2026 lab study shows balloons wear with age. Find the cause; do not automatically fit a smaller cuff or a new balloon.</a:t>
            </a:r>
            <a:endParaRPr lang="en-US" sz="1200" dirty="0">
              <a:latin typeface="Plus Jakarta Sans"/>
            </a:endParaRPr>
          </a:p>
        </p:txBody>
      </p:sp>
      <p:sp>
        <p:nvSpPr>
          <p:cNvPr id="7" name="Shape 5"/>
          <p:cNvSpPr/>
          <p:nvPr/>
        </p:nvSpPr>
        <p:spPr>
          <a:xfrm>
            <a:off x="640080" y="1783080"/>
            <a:ext cx="2103120" cy="310896"/>
          </a:xfrm>
          <a:prstGeom prst="roundRect">
            <a:avLst>
              <a:gd name="adj" fmla="val 50000"/>
            </a:avLst>
          </a:prstGeom>
          <a:solidFill>
            <a:srgbClr val="89FF00"/>
          </a:solidFill>
          <a:ln/>
        </p:spPr>
      </p:sp>
      <p:sp>
        <p:nvSpPr>
          <p:cNvPr id="8" name="Text 6"/>
          <p:cNvSpPr txBox="1"/>
          <p:nvPr/>
        </p:nvSpPr>
        <p:spPr>
          <a:xfrm>
            <a:off x="640080" y="1783080"/>
            <a:ext cx="2103120" cy="310896"/>
          </a:xfrm>
          <a:prstGeom prst="rect">
            <a:avLst/>
          </a:prstGeom>
          <a:noFill/>
          <a:ln/>
        </p:spPr>
        <p:txBody>
          <a:bodyPr wrap="square" lIns="0" tIns="0" rIns="0" bIns="0" rtlCol="0" anchor="ctr"/>
          <a:lstStyle/>
          <a:p>
            <a:pPr algn="ctr" indent="0" marL="0">
              <a:buNone/>
            </a:pPr>
            <a:r>
              <a:rPr lang="en-US" sz="900" b="1" spc="100" kern="0" dirty="0">
                <a:solidFill>
                  <a:srgbClr val="161616"/>
                </a:solidFill>
                <a:latin typeface="Plus Jakarta Sans" pitchFamily="34" charset="0"/>
                <a:ea typeface="Segoe UI" pitchFamily="34" charset="-122"/>
                <a:cs typeface="Segoe UI" pitchFamily="34" charset="-120"/>
              </a:rPr>
              <a:t>FICTIONAL CASE 04</a:t>
            </a:r>
            <a:endParaRPr lang="en-US" sz="900" dirty="0">
              <a:solidFill>
                <a:srgbClr val="161616"/>
              </a:solidFill>
              <a:latin typeface="Plus Jakarta Sans"/>
            </a:endParaRPr>
          </a:p>
        </p:txBody>
      </p:sp>
      <p:sp>
        <p:nvSpPr>
          <p:cNvPr id="9" name="Shape 7"/>
          <p:cNvSpPr/>
          <p:nvPr/>
        </p:nvSpPr>
        <p:spPr>
          <a:xfrm>
            <a:off x="640080" y="2423160"/>
            <a:ext cx="100584" cy="100584"/>
          </a:xfrm>
          <a:prstGeom prst="ellipse">
            <a:avLst/>
          </a:prstGeom>
          <a:solidFill>
            <a:srgbClr val="05C489"/>
          </a:solidFill>
          <a:ln/>
        </p:spPr>
      </p:sp>
      <p:sp>
        <p:nvSpPr>
          <p:cNvPr id="10" name="Text 8"/>
          <p:cNvSpPr txBox="1"/>
          <p:nvPr/>
        </p:nvSpPr>
        <p:spPr>
          <a:xfrm>
            <a:off x="914400" y="2331720"/>
            <a:ext cx="5760720" cy="685800"/>
          </a:xfrm>
          <a:prstGeom prst="rect">
            <a:avLst/>
          </a:prstGeom>
          <a:noFill/>
          <a:ln/>
        </p:spPr>
        <p:txBody>
          <a:bodyPr wrap="square" lIns="0" tIns="0" rIns="0" bIns="0" rtlCol="0" anchor="t"/>
          <a:lstStyle/>
          <a:p>
            <a:pPr algn="l" indent="0" marL="0">
              <a:lnSpc>
                <a:spcPct val="110000"/>
              </a:lnSpc>
              <a:buNone/>
            </a:pPr>
            <a:r>
              <a:rPr lang="en-US" sz="1550" dirty="0">
                <a:solidFill>
                  <a:srgbClr val="FFFFFF"/>
                </a:solidFill>
                <a:latin typeface="Plus Jakarta Sans" pitchFamily="34" charset="0"/>
                <a:ea typeface="Segoe UI" pitchFamily="34" charset="-122"/>
                <a:cs typeface="Segoe UI" pitchFamily="34" charset="-120"/>
              </a:rPr>
              <a:t>A good result for three years</a:t>
            </a:r>
            <a:endParaRPr lang="en-US" sz="1550" dirty="0">
              <a:latin typeface="Plus Jakarta Sans"/>
            </a:endParaRPr>
          </a:p>
        </p:txBody>
      </p:sp>
      <p:sp>
        <p:nvSpPr>
          <p:cNvPr id="11" name="Shape 9"/>
          <p:cNvSpPr/>
          <p:nvPr/>
        </p:nvSpPr>
        <p:spPr>
          <a:xfrm>
            <a:off x="640080" y="3172968"/>
            <a:ext cx="100584" cy="100584"/>
          </a:xfrm>
          <a:prstGeom prst="ellipse">
            <a:avLst/>
          </a:prstGeom>
          <a:solidFill>
            <a:srgbClr val="05C489"/>
          </a:solidFill>
          <a:ln/>
        </p:spPr>
      </p:sp>
      <p:sp>
        <p:nvSpPr>
          <p:cNvPr id="12" name="Text 10"/>
          <p:cNvSpPr txBox="1"/>
          <p:nvPr/>
        </p:nvSpPr>
        <p:spPr>
          <a:xfrm>
            <a:off x="914400" y="3081528"/>
            <a:ext cx="5760720" cy="685800"/>
          </a:xfrm>
          <a:prstGeom prst="rect">
            <a:avLst/>
          </a:prstGeom>
          <a:noFill/>
          <a:ln/>
        </p:spPr>
        <p:txBody>
          <a:bodyPr wrap="square" lIns="0" tIns="0" rIns="0" bIns="0" rtlCol="0" anchor="t"/>
          <a:lstStyle/>
          <a:p>
            <a:pPr algn="l" indent="0" marL="0">
              <a:lnSpc>
                <a:spcPct val="110000"/>
              </a:lnSpc>
              <a:buNone/>
            </a:pPr>
            <a:r>
              <a:rPr lang="en-US" sz="1550" dirty="0">
                <a:solidFill>
                  <a:srgbClr val="FFFFFF"/>
                </a:solidFill>
                <a:latin typeface="Plus Jakarta Sans" pitchFamily="34" charset="0"/>
                <a:ea typeface="Segoe UI" pitchFamily="34" charset="-122"/>
                <a:cs typeface="Segoe UI" pitchFamily="34" charset="-120"/>
              </a:rPr>
              <a:t>Now leaking again</a:t>
            </a:r>
            <a:endParaRPr lang="en-US" sz="1550" dirty="0">
              <a:latin typeface="Plus Jakarta Sans"/>
            </a:endParaRPr>
          </a:p>
        </p:txBody>
      </p:sp>
      <p:sp>
        <p:nvSpPr>
          <p:cNvPr id="13" name="Shape 11"/>
          <p:cNvSpPr/>
          <p:nvPr/>
        </p:nvSpPr>
        <p:spPr>
          <a:xfrm>
            <a:off x="640080" y="3922776"/>
            <a:ext cx="100584" cy="100584"/>
          </a:xfrm>
          <a:prstGeom prst="ellipse">
            <a:avLst/>
          </a:prstGeom>
          <a:solidFill>
            <a:srgbClr val="05C489"/>
          </a:solidFill>
          <a:ln/>
        </p:spPr>
      </p:sp>
      <p:sp>
        <p:nvSpPr>
          <p:cNvPr id="14" name="Text 12"/>
          <p:cNvSpPr txBox="1"/>
          <p:nvPr/>
        </p:nvSpPr>
        <p:spPr>
          <a:xfrm>
            <a:off x="914400" y="3831336"/>
            <a:ext cx="5760720" cy="685800"/>
          </a:xfrm>
          <a:prstGeom prst="rect">
            <a:avLst/>
          </a:prstGeom>
          <a:noFill/>
          <a:ln/>
        </p:spPr>
        <p:txBody>
          <a:bodyPr wrap="square" lIns="0" tIns="0" rIns="0" bIns="0" rtlCol="0" anchor="t"/>
          <a:lstStyle/>
          <a:p>
            <a:pPr algn="l" indent="0" marL="0">
              <a:lnSpc>
                <a:spcPct val="110000"/>
              </a:lnSpc>
              <a:buNone/>
            </a:pPr>
            <a:r>
              <a:rPr lang="en-US" sz="1550" dirty="0">
                <a:solidFill>
                  <a:srgbClr val="FFFFFF"/>
                </a:solidFill>
                <a:latin typeface="Plus Jakarta Sans" pitchFamily="34" charset="0"/>
                <a:ea typeface="Segoe UI" pitchFamily="34" charset="-122"/>
                <a:cs typeface="Segoe UI" pitchFamily="34" charset="-120"/>
              </a:rPr>
              <a:t>Why he leaks, and how he uses the pump, still to be checked</a:t>
            </a:r>
            <a:endParaRPr lang="en-US" sz="1550" dirty="0">
              <a:latin typeface="Plus Jakarta Sans"/>
            </a:endParaRPr>
          </a:p>
        </p:txBody>
      </p:sp>
      <p:sp>
        <p:nvSpPr>
          <p:cNvPr id="15" name="Shape 13"/>
          <p:cNvSpPr/>
          <p:nvPr/>
        </p:nvSpPr>
        <p:spPr>
          <a:xfrm>
            <a:off x="640080" y="4672584"/>
            <a:ext cx="100584" cy="100584"/>
          </a:xfrm>
          <a:prstGeom prst="ellipse">
            <a:avLst/>
          </a:prstGeom>
          <a:solidFill>
            <a:srgbClr val="05C489"/>
          </a:solidFill>
          <a:ln/>
        </p:spPr>
      </p:sp>
      <p:sp>
        <p:nvSpPr>
          <p:cNvPr id="16" name="Text 14"/>
          <p:cNvSpPr txBox="1"/>
          <p:nvPr/>
        </p:nvSpPr>
        <p:spPr>
          <a:xfrm>
            <a:off x="914400" y="4581144"/>
            <a:ext cx="5760720" cy="685800"/>
          </a:xfrm>
          <a:prstGeom prst="rect">
            <a:avLst/>
          </a:prstGeom>
          <a:noFill/>
          <a:ln/>
        </p:spPr>
        <p:txBody>
          <a:bodyPr wrap="square" lIns="0" tIns="0" rIns="0" bIns="0" rtlCol="0" anchor="t"/>
          <a:lstStyle/>
          <a:p>
            <a:pPr algn="l" indent="0" marL="0">
              <a:lnSpc>
                <a:spcPct val="110000"/>
              </a:lnSpc>
              <a:buNone/>
            </a:pPr>
            <a:r>
              <a:rPr lang="en-US" sz="1550" dirty="0">
                <a:solidFill>
                  <a:srgbClr val="FFFFFF"/>
                </a:solidFill>
                <a:latin typeface="Plus Jakarta Sans" pitchFamily="34" charset="0"/>
                <a:ea typeface="Segoe UI" pitchFamily="34" charset="-122"/>
                <a:cs typeface="Segoe UI" pitchFamily="34" charset="-120"/>
              </a:rPr>
              <a:t>Could be erosion, a mechanical fault, or the bladder</a:t>
            </a:r>
            <a:endParaRPr lang="en-US" sz="1550" dirty="0">
              <a:latin typeface="Plus Jakarta Sans"/>
            </a:endParaRPr>
          </a:p>
        </p:txBody>
      </p:sp>
      <p:sp>
        <p:nvSpPr>
          <p:cNvPr id="17" name="Shape 15"/>
          <p:cNvSpPr/>
          <p:nvPr/>
        </p:nvSpPr>
        <p:spPr>
          <a:xfrm>
            <a:off x="7132320" y="1783080"/>
            <a:ext cx="4419295" cy="3611880"/>
          </a:xfrm>
          <a:prstGeom prst="roundRect">
            <a:avLst>
              <a:gd name="adj" fmla="val 3544"/>
            </a:avLst>
          </a:prstGeom>
          <a:solidFill>
            <a:srgbClr val="2D2D2D"/>
          </a:solidFill>
          <a:ln/>
        </p:spPr>
      </p:sp>
      <p:sp>
        <p:nvSpPr>
          <p:cNvPr id="18" name="Text 16"/>
          <p:cNvSpPr txBox="1"/>
          <p:nvPr/>
        </p:nvSpPr>
        <p:spPr>
          <a:xfrm>
            <a:off x="7498080" y="2057400"/>
            <a:ext cx="3687775" cy="1463040"/>
          </a:xfrm>
          <a:prstGeom prst="rect">
            <a:avLst/>
          </a:prstGeom>
          <a:noFill/>
          <a:ln/>
        </p:spPr>
        <p:txBody>
          <a:bodyPr wrap="square" lIns="0" tIns="0" rIns="0" bIns="0" rtlCol="0" anchor="t"/>
          <a:lstStyle/>
          <a:p>
            <a:pPr algn="l" indent="0" marL="0">
              <a:lnSpc>
                <a:spcPct val="105000"/>
              </a:lnSpc>
              <a:buNone/>
            </a:pPr>
            <a:r>
              <a:rPr lang="en-US" sz="2400" dirty="0">
                <a:solidFill>
                  <a:srgbClr val="FFFFFF"/>
                </a:solidFill>
                <a:latin typeface="Plus Jakarta Sans" pitchFamily="34" charset="0"/>
                <a:ea typeface="Segoe UI Semibold" pitchFamily="34" charset="-122"/>
                <a:cs typeface="Segoe UI Semibold" pitchFamily="34" charset="-120"/>
              </a:rPr>
              <a:t>What would you investigate before choosing revision?</a:t>
            </a:r>
            <a:endParaRPr lang="en-US" sz="2400" dirty="0">
              <a:latin typeface="Plus Jakarta Sans"/>
            </a:endParaRPr>
          </a:p>
        </p:txBody>
      </p:sp>
      <p:sp>
        <p:nvSpPr>
          <p:cNvPr id="19" name="Text 17"/>
          <p:cNvSpPr txBox="1"/>
          <p:nvPr/>
        </p:nvSpPr>
        <p:spPr>
          <a:xfrm>
            <a:off x="7498080" y="3611880"/>
            <a:ext cx="3687775" cy="274320"/>
          </a:xfrm>
          <a:prstGeom prst="rect">
            <a:avLst/>
          </a:prstGeom>
          <a:noFill/>
          <a:ln/>
        </p:spPr>
        <p:txBody>
          <a:bodyPr wrap="square" lIns="0" tIns="0" rIns="0" bIns="0" rtlCol="0" anchor="t"/>
          <a:lstStyle/>
          <a:p>
            <a:pPr algn="l" indent="0" marL="0">
              <a:buNone/>
            </a:pPr>
            <a:r>
              <a:rPr lang="en-US" sz="900" b="1" spc="250" kern="0" dirty="0">
                <a:solidFill>
                  <a:srgbClr val="BFBFBF"/>
                </a:solidFill>
                <a:latin typeface="Plus Jakarta Sans" pitchFamily="34" charset="0"/>
                <a:ea typeface="Segoe UI" pitchFamily="34" charset="-122"/>
                <a:cs typeface="Segoe UI" pitchFamily="34" charset="-120"/>
              </a:rPr>
              <a:t>YOUR CALL</a:t>
            </a:r>
            <a:endParaRPr lang="en-US" sz="900" dirty="0">
              <a:latin typeface="Plus Jakarta Sans"/>
            </a:endParaRPr>
          </a:p>
        </p:txBody>
      </p:sp>
      <p:sp>
        <p:nvSpPr>
          <p:cNvPr id="20" name="Shape 18"/>
          <p:cNvSpPr/>
          <p:nvPr/>
        </p:nvSpPr>
        <p:spPr>
          <a:xfrm>
            <a:off x="7498080" y="3950208"/>
            <a:ext cx="607162" cy="365760"/>
          </a:xfrm>
          <a:prstGeom prst="roundRect">
            <a:avLst>
              <a:gd name="adj" fmla="val 50000"/>
            </a:avLst>
          </a:prstGeom>
          <a:solidFill>
            <a:srgbClr val="161616"/>
          </a:solidFill>
          <a:ln/>
        </p:spPr>
      </p:sp>
      <p:sp>
        <p:nvSpPr>
          <p:cNvPr id="21" name="Text 19"/>
          <p:cNvSpPr txBox="1"/>
          <p:nvPr/>
        </p:nvSpPr>
        <p:spPr>
          <a:xfrm>
            <a:off x="7498080" y="3950208"/>
            <a:ext cx="607162" cy="36576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Plus Jakarta Sans" pitchFamily="34" charset="0"/>
                <a:ea typeface="Segoe UI" pitchFamily="34" charset="-122"/>
                <a:cs typeface="Segoe UI" pitchFamily="34" charset="-120"/>
              </a:rPr>
              <a:t>USE</a:t>
            </a:r>
            <a:endParaRPr lang="en-US" sz="1000" dirty="0">
              <a:latin typeface="Plus Jakarta Sans"/>
            </a:endParaRPr>
          </a:p>
        </p:txBody>
      </p:sp>
      <p:sp>
        <p:nvSpPr>
          <p:cNvPr id="22" name="Shape 20"/>
          <p:cNvSpPr/>
          <p:nvPr/>
        </p:nvSpPr>
        <p:spPr>
          <a:xfrm>
            <a:off x="8233258" y="3950208"/>
            <a:ext cx="1002182" cy="365760"/>
          </a:xfrm>
          <a:prstGeom prst="roundRect">
            <a:avLst>
              <a:gd name="adj" fmla="val 50000"/>
            </a:avLst>
          </a:prstGeom>
          <a:solidFill>
            <a:srgbClr val="161616"/>
          </a:solidFill>
          <a:ln/>
        </p:spPr>
      </p:sp>
      <p:sp>
        <p:nvSpPr>
          <p:cNvPr id="23" name="Text 21"/>
          <p:cNvSpPr txBox="1"/>
          <p:nvPr/>
        </p:nvSpPr>
        <p:spPr>
          <a:xfrm>
            <a:off x="8233258" y="3950208"/>
            <a:ext cx="1002182" cy="36576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Plus Jakarta Sans" pitchFamily="34" charset="0"/>
                <a:ea typeface="Segoe UI" pitchFamily="34" charset="-122"/>
                <a:cs typeface="Segoe UI" pitchFamily="34" charset="-120"/>
              </a:rPr>
              <a:t>URETHRA</a:t>
            </a:r>
            <a:endParaRPr lang="en-US" sz="1000" dirty="0">
              <a:latin typeface="Plus Jakarta Sans"/>
            </a:endParaRPr>
          </a:p>
        </p:txBody>
      </p:sp>
      <p:sp>
        <p:nvSpPr>
          <p:cNvPr id="24" name="Shape 22"/>
          <p:cNvSpPr/>
          <p:nvPr/>
        </p:nvSpPr>
        <p:spPr>
          <a:xfrm>
            <a:off x="9363456" y="3950208"/>
            <a:ext cx="1199693" cy="365760"/>
          </a:xfrm>
          <a:prstGeom prst="roundRect">
            <a:avLst>
              <a:gd name="adj" fmla="val 50000"/>
            </a:avLst>
          </a:prstGeom>
          <a:solidFill>
            <a:srgbClr val="161616"/>
          </a:solidFill>
          <a:ln/>
        </p:spPr>
      </p:sp>
      <p:sp>
        <p:nvSpPr>
          <p:cNvPr id="25" name="Text 23"/>
          <p:cNvSpPr txBox="1"/>
          <p:nvPr/>
        </p:nvSpPr>
        <p:spPr>
          <a:xfrm>
            <a:off x="9363456" y="3950208"/>
            <a:ext cx="1199693" cy="36576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Plus Jakarta Sans" pitchFamily="34" charset="0"/>
                <a:ea typeface="Segoe UI" pitchFamily="34" charset="-122"/>
                <a:cs typeface="Segoe UI" pitchFamily="34" charset="-120"/>
              </a:rPr>
              <a:t>MECHANICS</a:t>
            </a:r>
            <a:endParaRPr lang="en-US" sz="1000" dirty="0">
              <a:latin typeface="Plus Jakarta Sans"/>
            </a:endParaRPr>
          </a:p>
        </p:txBody>
      </p:sp>
      <p:sp>
        <p:nvSpPr>
          <p:cNvPr id="26" name="Shape 24"/>
          <p:cNvSpPr/>
          <p:nvPr/>
        </p:nvSpPr>
        <p:spPr>
          <a:xfrm>
            <a:off x="7498080" y="4425696"/>
            <a:ext cx="1002182" cy="365760"/>
          </a:xfrm>
          <a:prstGeom prst="roundRect">
            <a:avLst>
              <a:gd name="adj" fmla="val 50000"/>
            </a:avLst>
          </a:prstGeom>
          <a:solidFill>
            <a:srgbClr val="161616"/>
          </a:solidFill>
          <a:ln/>
        </p:spPr>
      </p:sp>
      <p:sp>
        <p:nvSpPr>
          <p:cNvPr id="27" name="Text 25"/>
          <p:cNvSpPr txBox="1"/>
          <p:nvPr/>
        </p:nvSpPr>
        <p:spPr>
          <a:xfrm>
            <a:off x="7498080" y="4425696"/>
            <a:ext cx="1002182" cy="36576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Plus Jakarta Sans" pitchFamily="34" charset="0"/>
                <a:ea typeface="Segoe UI" pitchFamily="34" charset="-122"/>
                <a:cs typeface="Segoe UI" pitchFamily="34" charset="-120"/>
              </a:rPr>
              <a:t>BLADDER</a:t>
            </a:r>
            <a:endParaRPr lang="en-US" sz="1000" dirty="0">
              <a:latin typeface="Plus Jakarta Sans"/>
            </a:endParaRPr>
          </a:p>
        </p:txBody>
      </p:sp>
      <p:sp>
        <p:nvSpPr>
          <p:cNvPr id="9001" name="replacement-title">
            <a:extLst>
              <a:ext uri="{FF2B5EF4-FFF2-40B4-BE49-F238E27FC236}">
                <a16:creationId xmlns:a16="http://schemas.microsoft.com/office/drawing/2014/main" id="{39435F0A-125D-43C8-BED2-E098A8E55359}"/>
              </a:ext>
            </a:extLst>
          </p:cNvPr>
          <p:cNvSpPr>
            <a:spLocks noGrp="1"/>
          </p:cNvSpPr>
          <p:nvPr/>
        </p:nvSpPr>
        <p:spPr>
          <a:xfrm>
            <a:off x="638175" y="752475"/>
            <a:ext cx="10915650" cy="800100"/>
          </a:xfrm>
          <a:prstGeom prst="rect">
            <a:avLst/>
          </a:prstGeom>
          <a:noFill/>
          <a:ln w="0">
            <a:noFill/>
          </a:ln>
        </p:spPr>
        <p:txBody>
          <a:bodyPr anchor="ctr"/>
          <a:lstStyle>
            <a:defPPr>
              <a:defRPr sz="2625" b="1">
                <a:solidFill>
                  <a:srgbClr val="FFFFFF"/>
                </a:solidFill>
                <a:latin typeface="Plus Jakarta Sans"/>
              </a:defRPr>
            </a:defPPr>
            <a:lvl1pPr>
              <a:defRPr sz="2625" b="1">
                <a:solidFill>
                  <a:srgbClr val="FFFFFF"/>
                </a:solidFill>
                <a:latin typeface="Plus Jakarta Sans"/>
              </a:defRPr>
            </a:lvl1pPr>
            <a:lvl2pPr>
              <a:defRPr sz="2625" b="1">
                <a:solidFill>
                  <a:srgbClr val="FFFFFF"/>
                </a:solidFill>
                <a:latin typeface="Plus Jakarta Sans"/>
              </a:defRPr>
            </a:lvl2pPr>
            <a:lvl3pPr>
              <a:defRPr sz="2625" b="1">
                <a:solidFill>
                  <a:srgbClr val="FFFFFF"/>
                </a:solidFill>
                <a:latin typeface="Plus Jakarta Sans"/>
              </a:defRPr>
            </a:lvl3pPr>
            <a:lvl4pPr>
              <a:defRPr sz="2625" b="1">
                <a:solidFill>
                  <a:srgbClr val="FFFFFF"/>
                </a:solidFill>
                <a:latin typeface="Plus Jakarta Sans"/>
              </a:defRPr>
            </a:lvl4pPr>
            <a:lvl5pPr>
              <a:defRPr sz="2625" b="1">
                <a:solidFill>
                  <a:srgbClr val="FFFFFF"/>
                </a:solidFill>
                <a:latin typeface="Plus Jakarta Sans"/>
              </a:defRPr>
            </a:lvl5pPr>
            <a:lvl6pPr>
              <a:defRPr sz="2625" b="1">
                <a:solidFill>
                  <a:srgbClr val="FFFFFF"/>
                </a:solidFill>
                <a:latin typeface="Plus Jakarta Sans"/>
              </a:defRPr>
            </a:lvl6pPr>
            <a:lvl7pPr>
              <a:defRPr sz="2625" b="1">
                <a:solidFill>
                  <a:srgbClr val="FFFFFF"/>
                </a:solidFill>
                <a:latin typeface="Plus Jakarta Sans"/>
              </a:defRPr>
            </a:lvl7pPr>
            <a:lvl8pPr>
              <a:defRPr sz="2625" b="1">
                <a:solidFill>
                  <a:srgbClr val="FFFFFF"/>
                </a:solidFill>
                <a:latin typeface="Plus Jakarta Sans"/>
              </a:defRPr>
            </a:lvl8pPr>
            <a:lvl9pPr>
              <a:defRPr sz="2625" b="1">
                <a:solidFill>
                  <a:srgbClr val="FFFFFF"/>
                </a:solidFill>
                <a:latin typeface="Plus Jakarta Sans"/>
              </a:defRPr>
            </a:lvl9pPr>
          </a:lstStyle>
          <a:p>
            <a:pPr>
              <a:defRPr sz="2625" b="1">
                <a:solidFill>
                  <a:srgbClr val="FFFFFF"/>
                </a:solidFill>
                <a:latin typeface="Plus Jakarta Sans"/>
              </a:defRPr>
            </a:pPr>
            <a:r>
              <a:rPr sz="2625" b="1">
                <a:solidFill>
                  <a:srgbClr val="FFFFFF"/>
                </a:solidFill>
                <a:latin typeface="Plus Jakarta Sans"/>
              </a:rPr>
              <a:t>Case 4: leakage after three good years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61616"/>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05C489"/>
                </a:solidFill>
                <a:latin typeface="Plus Jakarta Sans" pitchFamily="34" charset="0"/>
                <a:ea typeface="Segoe UI" pitchFamily="34" charset="-122"/>
                <a:cs typeface="Segoe UI" pitchFamily="34" charset="-120"/>
              </a:rPr>
              <a:t>AFTER THE IMPLANT</a:t>
            </a:r>
            <a:endParaRPr lang="en-US" sz="950" dirty="0">
              <a:latin typeface="Plus Jakarta Sans"/>
            </a:endParaRPr>
          </a:p>
        </p:txBody>
      </p:sp>
      <p:sp>
        <p:nvSpPr>
          <p:cNvPr id="3" name="Text 1"/>
          <p:cNvSpPr txBox="1"/>
          <p:nvPr/>
        </p:nvSpPr>
        <p:spPr>
          <a:xfrm>
            <a:off x="6979615" y="384048"/>
            <a:ext cx="4572000" cy="274320"/>
          </a:xfrm>
          <a:prstGeom prst="rect">
            <a:avLst/>
          </a:prstGeom>
          <a:noFill/>
          <a:ln/>
        </p:spPr>
        <p:txBody>
          <a:bodyPr wrap="square" lIns="0" tIns="0" rIns="0" bIns="0" rtlCol="0" anchor="t"/>
          <a:lstStyle/>
          <a:p>
            <a:pPr algn="r" indent="0" marL="0">
              <a:buNone/>
            </a:pPr>
            <a:r>
              <a:rPr lang="en-US" sz="950" spc="100" kern="0" dirty="0">
                <a:solidFill>
                  <a:srgbClr val="BFBFBF"/>
                </a:solidFill>
                <a:latin typeface="Plus Jakarta Sans" pitchFamily="34" charset="0"/>
                <a:ea typeface="Segoe UI" pitchFamily="34" charset="-122"/>
                <a:cs typeface="Segoe UI" pitchFamily="34" charset="-120"/>
              </a:rPr>
              <a:t>33 / 36</a:t>
            </a:r>
            <a:endParaRPr lang="en-US" sz="950" dirty="0">
              <a:latin typeface="Plus Jakarta Sans"/>
            </a:endParaRPr>
          </a:p>
        </p:txBody>
      </p:sp>
      <p:sp>
        <p:nvSpPr>
          <p:cNvPr id="5" name="Text 3"/>
          <p:cNvSpPr txBox="1"/>
          <p:nvPr/>
        </p:nvSpPr>
        <p:spPr>
          <a:xfrm>
            <a:off x="640080" y="6345936"/>
            <a:ext cx="9997135" cy="228600"/>
          </a:xfrm>
          <a:prstGeom prst="rect">
            <a:avLst/>
          </a:prstGeom>
          <a:noFill/>
          <a:ln/>
        </p:spPr>
        <p:txBody>
          <a:bodyPr wrap="square" lIns="0" tIns="0" rIns="0" bIns="0" rtlCol="0" anchor="t"/>
          <a:lstStyle/>
          <a:p>
            <a:pPr algn="l" indent="0" marL="0">
              <a:buNone/>
            </a:pPr>
            <a:r>
              <a:rPr lang="en-US" sz="800" spc="50" kern="0" dirty="0">
                <a:solidFill>
                  <a:srgbClr val="BFBFBF"/>
                </a:solidFill>
                <a:latin typeface="Plus Jakarta Sans" pitchFamily="34" charset="0"/>
                <a:ea typeface="Segoe UI" pitchFamily="34" charset="-122"/>
                <a:cs typeface="Segoe UI" pitchFamily="34" charset="-120"/>
              </a:rPr>
              <a:t>MASTER22  ·  TC20  ·  TC23  ·  PREP24  ·  CCSAFETY  ·  DEVICE26  ·  UROACTIVE26</a:t>
            </a:r>
            <a:endParaRPr lang="en-US" sz="800" dirty="0">
              <a:latin typeface="Plus Jakarta Sans"/>
            </a:endParaRPr>
          </a:p>
        </p:txBody>
      </p:sp>
      <p:sp>
        <p:nvSpPr>
          <p:cNvPr id="6" name="Text 4"/>
          <p:cNvSpPr txBox="1"/>
          <p:nvPr/>
        </p:nvSpPr>
        <p:spPr>
          <a:xfrm>
            <a:off x="640080" y="5669280"/>
            <a:ext cx="10911535" cy="566928"/>
          </a:xfrm>
          <a:prstGeom prst="rect">
            <a:avLst/>
          </a:prstGeom>
          <a:noFill/>
          <a:ln/>
        </p:spPr>
        <p:txBody>
          <a:bodyPr wrap="square" lIns="0" tIns="0" rIns="0" bIns="0" rtlCol="0" anchor="b"/>
          <a:lstStyle/>
          <a:p>
            <a:pPr algn="l" indent="0" marL="0">
              <a:buNone/>
            </a:pPr>
            <a:r>
              <a:rPr lang="en-US" sz="1200" i="1" dirty="0">
                <a:solidFill>
                  <a:srgbClr val="BFBFBF"/>
                </a:solidFill>
                <a:latin typeface="Plus Jakarta Sans" pitchFamily="34" charset="0"/>
                <a:ea typeface="Segoe UI" pitchFamily="34" charset="-122"/>
                <a:cs typeface="Segoe UI" pitchFamily="34" charset="-120"/>
              </a:rPr>
              <a:t>2026 reviews and the first electronic sphincters add options; comparative and long-term evidence is still thin.</a:t>
            </a:r>
            <a:endParaRPr lang="en-US" sz="1200" dirty="0">
              <a:latin typeface="Plus Jakarta Sans"/>
            </a:endParaRPr>
          </a:p>
        </p:txBody>
      </p:sp>
      <p:sp>
        <p:nvSpPr>
          <p:cNvPr id="7" name="Shape 5"/>
          <p:cNvSpPr/>
          <p:nvPr/>
        </p:nvSpPr>
        <p:spPr>
          <a:xfrm>
            <a:off x="640080" y="1783080"/>
            <a:ext cx="5295748" cy="3749040"/>
          </a:xfrm>
          <a:prstGeom prst="roundRect">
            <a:avLst>
              <a:gd name="adj" fmla="val 3415"/>
            </a:avLst>
          </a:prstGeom>
          <a:solidFill>
            <a:srgbClr val="2D2D2D"/>
          </a:solidFill>
          <a:ln/>
        </p:spPr>
      </p:sp>
      <p:sp>
        <p:nvSpPr>
          <p:cNvPr id="8" name="Text 6"/>
          <p:cNvSpPr txBox="1"/>
          <p:nvPr/>
        </p:nvSpPr>
        <p:spPr>
          <a:xfrm>
            <a:off x="960120" y="2075688"/>
            <a:ext cx="4655668" cy="365760"/>
          </a:xfrm>
          <a:prstGeom prst="rect">
            <a:avLst/>
          </a:prstGeom>
          <a:noFill/>
          <a:ln/>
        </p:spPr>
        <p:txBody>
          <a:bodyPr wrap="square" lIns="0" tIns="0" rIns="0" bIns="0" rtlCol="0" anchor="t"/>
          <a:lstStyle/>
          <a:p>
            <a:pPr algn="l" indent="0" marL="0">
              <a:buNone/>
            </a:pPr>
            <a:r>
              <a:rPr lang="en-US" sz="1500" dirty="0">
                <a:solidFill>
                  <a:srgbClr val="05C489"/>
                </a:solidFill>
                <a:latin typeface="Plus Jakarta Sans" pitchFamily="34" charset="0"/>
                <a:ea typeface="Segoe UI Semibold" pitchFamily="34" charset="-122"/>
                <a:cs typeface="Segoe UI Semibold" pitchFamily="34" charset="-120"/>
              </a:rPr>
              <a:t>Supported or plausible</a:t>
            </a:r>
            <a:endParaRPr lang="en-US" sz="1500" dirty="0">
              <a:latin typeface="Plus Jakarta Sans"/>
            </a:endParaRPr>
          </a:p>
        </p:txBody>
      </p:sp>
      <p:sp>
        <p:nvSpPr>
          <p:cNvPr id="9" name="Shape 7"/>
          <p:cNvSpPr/>
          <p:nvPr/>
        </p:nvSpPr>
        <p:spPr>
          <a:xfrm>
            <a:off x="960120" y="2734056"/>
            <a:ext cx="100584" cy="100584"/>
          </a:xfrm>
          <a:prstGeom prst="ellipse">
            <a:avLst/>
          </a:prstGeom>
          <a:solidFill>
            <a:srgbClr val="05C489"/>
          </a:solidFill>
          <a:ln/>
        </p:spPr>
      </p:sp>
      <p:sp>
        <p:nvSpPr>
          <p:cNvPr id="10" name="Text 8"/>
          <p:cNvSpPr txBox="1"/>
          <p:nvPr/>
        </p:nvSpPr>
        <p:spPr>
          <a:xfrm>
            <a:off x="1207008" y="2651760"/>
            <a:ext cx="4408780" cy="777240"/>
          </a:xfrm>
          <a:prstGeom prst="rect">
            <a:avLst/>
          </a:prstGeom>
          <a:noFill/>
          <a:ln/>
        </p:spPr>
        <p:txBody>
          <a:bodyPr wrap="square" lIns="0" tIns="0" rIns="0" bIns="0" rtlCol="0" anchor="t"/>
          <a:lstStyle/>
          <a:p>
            <a:pPr algn="l" indent="0" marL="0">
              <a:lnSpc>
                <a:spcPct val="110000"/>
              </a:lnSpc>
              <a:buNone/>
            </a:pPr>
            <a:r>
              <a:rPr lang="en-US" sz="1550" dirty="0">
                <a:solidFill>
                  <a:srgbClr val="FFFFFF"/>
                </a:solidFill>
                <a:latin typeface="Plus Jakarta Sans" pitchFamily="34" charset="0"/>
                <a:ea typeface="Segoe UI" pitchFamily="34" charset="-122"/>
                <a:cs typeface="Segoe UI" pitchFamily="34" charset="-120"/>
              </a:rPr>
              <a:t>Well-chosen patients get a big improvement</a:t>
            </a:r>
            <a:endParaRPr lang="en-US" sz="1550" dirty="0">
              <a:latin typeface="Plus Jakarta Sans"/>
            </a:endParaRPr>
          </a:p>
        </p:txBody>
      </p:sp>
      <p:sp>
        <p:nvSpPr>
          <p:cNvPr id="11" name="Shape 9"/>
          <p:cNvSpPr/>
          <p:nvPr/>
        </p:nvSpPr>
        <p:spPr>
          <a:xfrm>
            <a:off x="960120" y="3557016"/>
            <a:ext cx="100584" cy="100584"/>
          </a:xfrm>
          <a:prstGeom prst="ellipse">
            <a:avLst/>
          </a:prstGeom>
          <a:solidFill>
            <a:srgbClr val="05C489"/>
          </a:solidFill>
          <a:ln/>
        </p:spPr>
      </p:sp>
      <p:sp>
        <p:nvSpPr>
          <p:cNvPr id="12" name="Text 10"/>
          <p:cNvSpPr txBox="1"/>
          <p:nvPr/>
        </p:nvSpPr>
        <p:spPr>
          <a:xfrm>
            <a:off x="1207008" y="3474720"/>
            <a:ext cx="4408780" cy="777240"/>
          </a:xfrm>
          <a:prstGeom prst="rect">
            <a:avLst/>
          </a:prstGeom>
          <a:noFill/>
          <a:ln/>
        </p:spPr>
        <p:txBody>
          <a:bodyPr wrap="square" lIns="0" tIns="0" rIns="0" bIns="0" rtlCol="0" anchor="t"/>
          <a:lstStyle/>
          <a:p>
            <a:pPr algn="l" indent="0" marL="0">
              <a:lnSpc>
                <a:spcPct val="110000"/>
              </a:lnSpc>
              <a:buNone/>
            </a:pPr>
            <a:r>
              <a:rPr lang="en-US" sz="1550" dirty="0">
                <a:solidFill>
                  <a:srgbClr val="FFFFFF"/>
                </a:solidFill>
                <a:latin typeface="Plus Jakarta Sans" pitchFamily="34" charset="0"/>
                <a:ea typeface="Segoe UI" pitchFamily="34" charset="-122"/>
                <a:cs typeface="Segoe UI" pitchFamily="34" charset="-120"/>
              </a:rPr>
              <a:t>Keeping tissue and controlling contamination make sense</a:t>
            </a:r>
            <a:endParaRPr lang="en-US" sz="1550" dirty="0">
              <a:latin typeface="Plus Jakarta Sans"/>
            </a:endParaRPr>
          </a:p>
        </p:txBody>
      </p:sp>
      <p:sp>
        <p:nvSpPr>
          <p:cNvPr id="13" name="Shape 11"/>
          <p:cNvSpPr/>
          <p:nvPr/>
        </p:nvSpPr>
        <p:spPr>
          <a:xfrm>
            <a:off x="960120" y="4379976"/>
            <a:ext cx="100584" cy="100584"/>
          </a:xfrm>
          <a:prstGeom prst="ellipse">
            <a:avLst/>
          </a:prstGeom>
          <a:solidFill>
            <a:srgbClr val="05C489"/>
          </a:solidFill>
          <a:ln/>
        </p:spPr>
      </p:sp>
      <p:sp>
        <p:nvSpPr>
          <p:cNvPr id="14" name="Text 12"/>
          <p:cNvSpPr txBox="1"/>
          <p:nvPr/>
        </p:nvSpPr>
        <p:spPr>
          <a:xfrm>
            <a:off x="1207008" y="4297680"/>
            <a:ext cx="4408780" cy="777240"/>
          </a:xfrm>
          <a:prstGeom prst="rect">
            <a:avLst/>
          </a:prstGeom>
          <a:noFill/>
          <a:ln/>
        </p:spPr>
        <p:txBody>
          <a:bodyPr wrap="square" lIns="0" tIns="0" rIns="0" bIns="0" rtlCol="0" anchor="t"/>
          <a:lstStyle/>
          <a:p>
            <a:pPr algn="l" indent="0" marL="0">
              <a:lnSpc>
                <a:spcPct val="110000"/>
              </a:lnSpc>
              <a:buNone/>
            </a:pPr>
            <a:r>
              <a:rPr lang="en-US" sz="1550" dirty="0">
                <a:solidFill>
                  <a:srgbClr val="FFFFFF"/>
                </a:solidFill>
                <a:latin typeface="Plus Jakarta Sans" pitchFamily="34" charset="0"/>
                <a:ea typeface="Segoe UI" pitchFamily="34" charset="-122"/>
                <a:cs typeface="Segoe UI" pitchFamily="34" charset="-120"/>
              </a:rPr>
              <a:t>Plan for future catheters and scopes</a:t>
            </a:r>
            <a:endParaRPr lang="en-US" sz="1550" dirty="0">
              <a:latin typeface="Plus Jakarta Sans"/>
            </a:endParaRPr>
          </a:p>
        </p:txBody>
      </p:sp>
      <p:sp>
        <p:nvSpPr>
          <p:cNvPr id="15" name="Shape 13"/>
          <p:cNvSpPr/>
          <p:nvPr/>
        </p:nvSpPr>
        <p:spPr>
          <a:xfrm>
            <a:off x="6255868" y="1783080"/>
            <a:ext cx="5295748" cy="3749040"/>
          </a:xfrm>
          <a:prstGeom prst="roundRect">
            <a:avLst>
              <a:gd name="adj" fmla="val 3415"/>
            </a:avLst>
          </a:prstGeom>
          <a:solidFill>
            <a:srgbClr val="2D2D2D"/>
          </a:solidFill>
          <a:ln/>
        </p:spPr>
      </p:sp>
      <p:sp>
        <p:nvSpPr>
          <p:cNvPr id="16" name="Text 14"/>
          <p:cNvSpPr txBox="1"/>
          <p:nvPr/>
        </p:nvSpPr>
        <p:spPr>
          <a:xfrm>
            <a:off x="6575908" y="2075688"/>
            <a:ext cx="4655668" cy="365760"/>
          </a:xfrm>
          <a:prstGeom prst="rect">
            <a:avLst/>
          </a:prstGeom>
          <a:noFill/>
          <a:ln/>
        </p:spPr>
        <p:txBody>
          <a:bodyPr wrap="square" lIns="0" tIns="0" rIns="0" bIns="0" rtlCol="0" anchor="t"/>
          <a:lstStyle/>
          <a:p>
            <a:pPr algn="l" indent="0" marL="0">
              <a:buNone/>
            </a:pPr>
            <a:r>
              <a:rPr lang="en-US" sz="1500" dirty="0">
                <a:solidFill>
                  <a:srgbClr val="FFFFFF"/>
                </a:solidFill>
                <a:latin typeface="Plus Jakarta Sans" pitchFamily="34" charset="0"/>
                <a:ea typeface="Segoe UI Semibold" pitchFamily="34" charset="-122"/>
                <a:cs typeface="Segoe UI Semibold" pitchFamily="34" charset="-120"/>
              </a:rPr>
              <a:t>Still uncertain</a:t>
            </a:r>
            <a:endParaRPr lang="en-US" sz="1500" dirty="0">
              <a:latin typeface="Plus Jakarta Sans"/>
            </a:endParaRPr>
          </a:p>
        </p:txBody>
      </p:sp>
      <p:sp>
        <p:nvSpPr>
          <p:cNvPr id="17" name="Shape 15"/>
          <p:cNvSpPr/>
          <p:nvPr/>
        </p:nvSpPr>
        <p:spPr>
          <a:xfrm>
            <a:off x="6575908" y="2734056"/>
            <a:ext cx="100584" cy="100584"/>
          </a:xfrm>
          <a:prstGeom prst="ellipse">
            <a:avLst/>
          </a:prstGeom>
          <a:solidFill>
            <a:srgbClr val="FFFFFF"/>
          </a:solidFill>
          <a:ln/>
        </p:spPr>
      </p:sp>
      <p:sp>
        <p:nvSpPr>
          <p:cNvPr id="18" name="Text 16"/>
          <p:cNvSpPr txBox="1"/>
          <p:nvPr/>
        </p:nvSpPr>
        <p:spPr>
          <a:xfrm>
            <a:off x="6822796" y="2651760"/>
            <a:ext cx="4408780" cy="777240"/>
          </a:xfrm>
          <a:prstGeom prst="rect">
            <a:avLst/>
          </a:prstGeom>
          <a:noFill/>
          <a:ln/>
        </p:spPr>
        <p:txBody>
          <a:bodyPr wrap="square" lIns="0" tIns="0" rIns="0" bIns="0" rtlCol="0" anchor="t"/>
          <a:lstStyle/>
          <a:p>
            <a:pPr algn="l" indent="0" marL="0">
              <a:lnSpc>
                <a:spcPct val="110000"/>
              </a:lnSpc>
              <a:buNone/>
            </a:pPr>
            <a:r>
              <a:rPr lang="en-US" sz="1550" dirty="0">
                <a:solidFill>
                  <a:srgbClr val="FFFFFF"/>
                </a:solidFill>
                <a:latin typeface="Plus Jakarta Sans" pitchFamily="34" charset="0"/>
                <a:ea typeface="Segoe UI" pitchFamily="34" charset="-122"/>
                <a:cs typeface="Segoe UI" pitchFamily="34" charset="-120"/>
              </a:rPr>
              <a:t>The best rescue for a fragile urethra</a:t>
            </a:r>
            <a:endParaRPr lang="en-US" sz="1550" dirty="0">
              <a:latin typeface="Plus Jakarta Sans"/>
            </a:endParaRPr>
          </a:p>
        </p:txBody>
      </p:sp>
      <p:sp>
        <p:nvSpPr>
          <p:cNvPr id="19" name="Shape 17"/>
          <p:cNvSpPr/>
          <p:nvPr/>
        </p:nvSpPr>
        <p:spPr>
          <a:xfrm>
            <a:off x="6575908" y="3557016"/>
            <a:ext cx="100584" cy="100584"/>
          </a:xfrm>
          <a:prstGeom prst="ellipse">
            <a:avLst/>
          </a:prstGeom>
          <a:solidFill>
            <a:srgbClr val="FFFFFF"/>
          </a:solidFill>
          <a:ln/>
        </p:spPr>
      </p:sp>
      <p:sp>
        <p:nvSpPr>
          <p:cNvPr id="20" name="Text 18"/>
          <p:cNvSpPr txBox="1"/>
          <p:nvPr/>
        </p:nvSpPr>
        <p:spPr>
          <a:xfrm>
            <a:off x="6822796" y="3474720"/>
            <a:ext cx="4408780" cy="777240"/>
          </a:xfrm>
          <a:prstGeom prst="rect">
            <a:avLst/>
          </a:prstGeom>
          <a:noFill/>
          <a:ln/>
        </p:spPr>
        <p:txBody>
          <a:bodyPr wrap="square" lIns="0" tIns="0" rIns="0" bIns="0" rtlCol="0" anchor="t"/>
          <a:lstStyle/>
          <a:p>
            <a:pPr algn="l" indent="0" marL="0">
              <a:lnSpc>
                <a:spcPct val="110000"/>
              </a:lnSpc>
              <a:buNone/>
            </a:pPr>
            <a:r>
              <a:rPr lang="en-US" sz="1550" dirty="0">
                <a:solidFill>
                  <a:srgbClr val="FFFFFF"/>
                </a:solidFill>
                <a:latin typeface="Plus Jakarta Sans" pitchFamily="34" charset="0"/>
                <a:ea typeface="Segoe UI" pitchFamily="34" charset="-122"/>
                <a:cs typeface="Segoe UI" pitchFamily="34" charset="-120"/>
              </a:rPr>
              <a:t>The best washout fluid and preparation time</a:t>
            </a:r>
            <a:endParaRPr lang="en-US" sz="1550" dirty="0">
              <a:latin typeface="Plus Jakarta Sans"/>
            </a:endParaRPr>
          </a:p>
        </p:txBody>
      </p:sp>
      <p:sp>
        <p:nvSpPr>
          <p:cNvPr id="21" name="Shape 19"/>
          <p:cNvSpPr/>
          <p:nvPr/>
        </p:nvSpPr>
        <p:spPr>
          <a:xfrm>
            <a:off x="6575908" y="4379976"/>
            <a:ext cx="100584" cy="100584"/>
          </a:xfrm>
          <a:prstGeom prst="ellipse">
            <a:avLst/>
          </a:prstGeom>
          <a:solidFill>
            <a:srgbClr val="FFFFFF"/>
          </a:solidFill>
          <a:ln/>
        </p:spPr>
      </p:sp>
      <p:sp>
        <p:nvSpPr>
          <p:cNvPr id="22" name="Text 20"/>
          <p:cNvSpPr txBox="1"/>
          <p:nvPr/>
        </p:nvSpPr>
        <p:spPr>
          <a:xfrm>
            <a:off x="6822796" y="4297680"/>
            <a:ext cx="4408780" cy="777240"/>
          </a:xfrm>
          <a:prstGeom prst="rect">
            <a:avLst/>
          </a:prstGeom>
          <a:noFill/>
          <a:ln/>
        </p:spPr>
        <p:txBody>
          <a:bodyPr wrap="square" lIns="0" tIns="0" rIns="0" bIns="0" rtlCol="0" anchor="t"/>
          <a:lstStyle/>
          <a:p>
            <a:pPr algn="l" indent="0" marL="0">
              <a:lnSpc>
                <a:spcPct val="110000"/>
              </a:lnSpc>
              <a:buNone/>
            </a:pPr>
            <a:r>
              <a:rPr lang="en-US" sz="1550" dirty="0">
                <a:solidFill>
                  <a:srgbClr val="FFFFFF"/>
                </a:solidFill>
                <a:latin typeface="Plus Jakarta Sans" pitchFamily="34" charset="0"/>
                <a:ea typeface="Segoe UI" pitchFamily="34" charset="-122"/>
                <a:cs typeface="Segoe UI" pitchFamily="34" charset="-120"/>
              </a:rPr>
              <a:t>Long-term ContiClassic results compared with AMS 800</a:t>
            </a:r>
            <a:endParaRPr lang="en-US" sz="1550" dirty="0">
              <a:latin typeface="Plus Jakarta Sans"/>
            </a:endParaRPr>
          </a:p>
        </p:txBody>
      </p:sp>
      <p:sp>
        <p:nvSpPr>
          <p:cNvPr id="9001" name="replacement-title">
            <a:extLst>
              <a:ext uri="{FF2B5EF4-FFF2-40B4-BE49-F238E27FC236}">
                <a16:creationId xmlns:a16="http://schemas.microsoft.com/office/drawing/2014/main" id="{AF6A2889-9EB8-4B2A-9271-36F7D5DD5EC6}"/>
              </a:ext>
            </a:extLst>
          </p:cNvPr>
          <p:cNvSpPr>
            <a:spLocks noGrp="1"/>
          </p:cNvSpPr>
          <p:nvPr/>
        </p:nvSpPr>
        <p:spPr>
          <a:xfrm>
            <a:off x="638175" y="752475"/>
            <a:ext cx="10915650" cy="800100"/>
          </a:xfrm>
          <a:prstGeom prst="rect">
            <a:avLst/>
          </a:prstGeom>
          <a:noFill/>
          <a:ln w="0">
            <a:noFill/>
          </a:ln>
        </p:spPr>
        <p:txBody>
          <a:bodyPr anchor="ctr"/>
          <a:lstStyle>
            <a:defPPr>
              <a:defRPr sz="2625" b="1">
                <a:solidFill>
                  <a:srgbClr val="FFFFFF"/>
                </a:solidFill>
                <a:latin typeface="Plus Jakarta Sans"/>
              </a:defRPr>
            </a:defPPr>
            <a:lvl1pPr>
              <a:defRPr sz="2625" b="1">
                <a:solidFill>
                  <a:srgbClr val="FFFFFF"/>
                </a:solidFill>
                <a:latin typeface="Plus Jakarta Sans"/>
              </a:defRPr>
            </a:lvl1pPr>
            <a:lvl2pPr>
              <a:defRPr sz="2625" b="1">
                <a:solidFill>
                  <a:srgbClr val="FFFFFF"/>
                </a:solidFill>
                <a:latin typeface="Plus Jakarta Sans"/>
              </a:defRPr>
            </a:lvl2pPr>
            <a:lvl3pPr>
              <a:defRPr sz="2625" b="1">
                <a:solidFill>
                  <a:srgbClr val="FFFFFF"/>
                </a:solidFill>
                <a:latin typeface="Plus Jakarta Sans"/>
              </a:defRPr>
            </a:lvl3pPr>
            <a:lvl4pPr>
              <a:defRPr sz="2625" b="1">
                <a:solidFill>
                  <a:srgbClr val="FFFFFF"/>
                </a:solidFill>
                <a:latin typeface="Plus Jakarta Sans"/>
              </a:defRPr>
            </a:lvl4pPr>
            <a:lvl5pPr>
              <a:defRPr sz="2625" b="1">
                <a:solidFill>
                  <a:srgbClr val="FFFFFF"/>
                </a:solidFill>
                <a:latin typeface="Plus Jakarta Sans"/>
              </a:defRPr>
            </a:lvl5pPr>
            <a:lvl6pPr>
              <a:defRPr sz="2625" b="1">
                <a:solidFill>
                  <a:srgbClr val="FFFFFF"/>
                </a:solidFill>
                <a:latin typeface="Plus Jakarta Sans"/>
              </a:defRPr>
            </a:lvl6pPr>
            <a:lvl7pPr>
              <a:defRPr sz="2625" b="1">
                <a:solidFill>
                  <a:srgbClr val="FFFFFF"/>
                </a:solidFill>
                <a:latin typeface="Plus Jakarta Sans"/>
              </a:defRPr>
            </a:lvl7pPr>
            <a:lvl8pPr>
              <a:defRPr sz="2625" b="1">
                <a:solidFill>
                  <a:srgbClr val="FFFFFF"/>
                </a:solidFill>
                <a:latin typeface="Plus Jakarta Sans"/>
              </a:defRPr>
            </a:lvl8pPr>
            <a:lvl9pPr>
              <a:defRPr sz="2625" b="1">
                <a:solidFill>
                  <a:srgbClr val="FFFFFF"/>
                </a:solidFill>
                <a:latin typeface="Plus Jakarta Sans"/>
              </a:defRPr>
            </a:lvl9pPr>
          </a:lstStyle>
          <a:p>
            <a:pPr>
              <a:defRPr sz="2625" b="1">
                <a:solidFill>
                  <a:srgbClr val="FFFFFF"/>
                </a:solidFill>
                <a:latin typeface="Plus Jakarta Sans"/>
              </a:defRPr>
            </a:pPr>
            <a:r>
              <a:rPr sz="2625" b="1">
                <a:solidFill>
                  <a:srgbClr val="FFFFFF"/>
                </a:solidFill>
                <a:latin typeface="Plus Jakarta Sans"/>
              </a:rPr>
              <a:t>Established benefit and unresolved questions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61616"/>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05C489"/>
                </a:solidFill>
                <a:latin typeface="Plus Jakarta Sans" pitchFamily="34" charset="0"/>
                <a:ea typeface="Segoe UI" pitchFamily="34" charset="-122"/>
                <a:cs typeface="Segoe UI" pitchFamily="34" charset="-120"/>
              </a:rPr>
              <a:t>AFTER THE IMPLANT</a:t>
            </a:r>
            <a:endParaRPr lang="en-US" sz="950" dirty="0">
              <a:latin typeface="Plus Jakarta Sans"/>
            </a:endParaRPr>
          </a:p>
        </p:txBody>
      </p:sp>
      <p:sp>
        <p:nvSpPr>
          <p:cNvPr id="3" name="Text 1"/>
          <p:cNvSpPr txBox="1"/>
          <p:nvPr/>
        </p:nvSpPr>
        <p:spPr>
          <a:xfrm>
            <a:off x="6979615" y="384048"/>
            <a:ext cx="4572000" cy="274320"/>
          </a:xfrm>
          <a:prstGeom prst="rect">
            <a:avLst/>
          </a:prstGeom>
          <a:noFill/>
          <a:ln/>
        </p:spPr>
        <p:txBody>
          <a:bodyPr wrap="square" lIns="0" tIns="0" rIns="0" bIns="0" rtlCol="0" anchor="t"/>
          <a:lstStyle/>
          <a:p>
            <a:pPr algn="r" indent="0" marL="0">
              <a:buNone/>
            </a:pPr>
            <a:r>
              <a:rPr lang="en-US" sz="950" spc="100" kern="0" dirty="0">
                <a:solidFill>
                  <a:srgbClr val="BFBFBF"/>
                </a:solidFill>
                <a:latin typeface="Plus Jakarta Sans" pitchFamily="34" charset="0"/>
                <a:ea typeface="Segoe UI" pitchFamily="34" charset="-122"/>
                <a:cs typeface="Segoe UI" pitchFamily="34" charset="-120"/>
              </a:rPr>
              <a:t>34 / 36</a:t>
            </a:r>
            <a:endParaRPr lang="en-US" sz="950" dirty="0">
              <a:latin typeface="Plus Jakarta Sans"/>
            </a:endParaRPr>
          </a:p>
        </p:txBody>
      </p:sp>
      <p:sp>
        <p:nvSpPr>
          <p:cNvPr id="5" name="Text 3"/>
          <p:cNvSpPr txBox="1"/>
          <p:nvPr/>
        </p:nvSpPr>
        <p:spPr>
          <a:xfrm>
            <a:off x="640080" y="6345936"/>
            <a:ext cx="9997135" cy="228600"/>
          </a:xfrm>
          <a:prstGeom prst="rect">
            <a:avLst/>
          </a:prstGeom>
          <a:noFill/>
          <a:ln/>
        </p:spPr>
        <p:txBody>
          <a:bodyPr wrap="square" lIns="0" tIns="0" rIns="0" bIns="0" rtlCol="0" anchor="t"/>
          <a:lstStyle/>
          <a:p>
            <a:pPr algn="l" indent="0" marL="0">
              <a:buNone/>
            </a:pPr>
            <a:r>
              <a:rPr lang="en-US" sz="800" spc="50" kern="0" dirty="0">
                <a:solidFill>
                  <a:srgbClr val="BFBFBF"/>
                </a:solidFill>
                <a:latin typeface="Plus Jakarta Sans" pitchFamily="34" charset="0"/>
                <a:ea typeface="Segoe UI" pitchFamily="34" charset="-122"/>
                <a:cs typeface="Segoe UI" pitchFamily="34" charset="-120"/>
              </a:rPr>
              <a:t>BAUS25  ·  EAU26  ·  AUA24  ·  DU23  ·  ICS16</a:t>
            </a:r>
            <a:endParaRPr lang="en-US" sz="800" dirty="0">
              <a:latin typeface="Plus Jakarta Sans"/>
            </a:endParaRPr>
          </a:p>
        </p:txBody>
      </p:sp>
      <p:sp>
        <p:nvSpPr>
          <p:cNvPr id="6" name="Shape 4"/>
          <p:cNvSpPr/>
          <p:nvPr/>
        </p:nvSpPr>
        <p:spPr>
          <a:xfrm>
            <a:off x="640080" y="1828800"/>
            <a:ext cx="457200" cy="457200"/>
          </a:xfrm>
          <a:prstGeom prst="ellipse">
            <a:avLst/>
          </a:prstGeom>
          <a:solidFill>
            <a:srgbClr val="05C489"/>
          </a:solidFill>
          <a:ln/>
        </p:spPr>
      </p:sp>
      <p:sp>
        <p:nvSpPr>
          <p:cNvPr id="7" name="Text 5"/>
          <p:cNvSpPr txBox="1"/>
          <p:nvPr/>
        </p:nvSpPr>
        <p:spPr>
          <a:xfrm>
            <a:off x="640080" y="182880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Plus Jakarta Sans" pitchFamily="34" charset="0"/>
                <a:ea typeface="Segoe UI Semibold" pitchFamily="34" charset="-122"/>
                <a:cs typeface="Segoe UI Semibold" pitchFamily="34" charset="-120"/>
              </a:rPr>
              <a:t>1</a:t>
            </a:r>
            <a:endParaRPr lang="en-US" sz="1300" dirty="0">
              <a:latin typeface="Plus Jakarta Sans"/>
            </a:endParaRPr>
          </a:p>
        </p:txBody>
      </p:sp>
      <p:sp>
        <p:nvSpPr>
          <p:cNvPr id="8" name="Text 6"/>
          <p:cNvSpPr txBox="1"/>
          <p:nvPr/>
        </p:nvSpPr>
        <p:spPr>
          <a:xfrm>
            <a:off x="1325880" y="1828800"/>
            <a:ext cx="10225735" cy="457200"/>
          </a:xfrm>
          <a:prstGeom prst="rect">
            <a:avLst/>
          </a:prstGeom>
          <a:noFill/>
          <a:ln/>
        </p:spPr>
        <p:txBody>
          <a:bodyPr wrap="square" lIns="0" tIns="0" rIns="0" bIns="0" rtlCol="0" anchor="ctr"/>
          <a:lstStyle/>
          <a:p>
            <a:pPr algn="l" indent="0" marL="0">
              <a:buNone/>
            </a:pPr>
            <a:r>
              <a:rPr lang="en-US" sz="1700" dirty="0">
                <a:solidFill>
                  <a:srgbClr val="FFFFFF"/>
                </a:solidFill>
                <a:latin typeface="Plus Jakarta Sans" pitchFamily="34" charset="0"/>
                <a:ea typeface="Segoe UI" pitchFamily="34" charset="-122"/>
                <a:cs typeface="Segoe UI" pitchFamily="34" charset="-120"/>
              </a:rPr>
              <a:t>A stress leak shown, and a goal that matters to him</a:t>
            </a:r>
            <a:endParaRPr lang="en-US" sz="1700" dirty="0">
              <a:latin typeface="Plus Jakarta Sans"/>
            </a:endParaRPr>
          </a:p>
        </p:txBody>
      </p:sp>
      <p:sp>
        <p:nvSpPr>
          <p:cNvPr id="9" name="Shape 7"/>
          <p:cNvSpPr/>
          <p:nvPr/>
        </p:nvSpPr>
        <p:spPr>
          <a:xfrm>
            <a:off x="1325880" y="2560320"/>
            <a:ext cx="10225735" cy="0"/>
          </a:xfrm>
          <a:prstGeom prst="line">
            <a:avLst/>
          </a:prstGeom>
          <a:noFill/>
          <a:ln w="9525">
            <a:solidFill>
              <a:srgbClr val="3D3D3D"/>
            </a:solidFill>
            <a:prstDash val="solid"/>
          </a:ln>
        </p:spPr>
      </p:sp>
      <p:sp>
        <p:nvSpPr>
          <p:cNvPr id="10" name="Shape 8"/>
          <p:cNvSpPr/>
          <p:nvPr/>
        </p:nvSpPr>
        <p:spPr>
          <a:xfrm>
            <a:off x="640080" y="2578608"/>
            <a:ext cx="457200" cy="457200"/>
          </a:xfrm>
          <a:prstGeom prst="ellipse">
            <a:avLst/>
          </a:prstGeom>
          <a:solidFill>
            <a:srgbClr val="05C489"/>
          </a:solidFill>
          <a:ln/>
        </p:spPr>
      </p:sp>
      <p:sp>
        <p:nvSpPr>
          <p:cNvPr id="11" name="Text 9"/>
          <p:cNvSpPr txBox="1"/>
          <p:nvPr/>
        </p:nvSpPr>
        <p:spPr>
          <a:xfrm>
            <a:off x="640080" y="257860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Plus Jakarta Sans" pitchFamily="34" charset="0"/>
                <a:ea typeface="Segoe UI Semibold" pitchFamily="34" charset="-122"/>
                <a:cs typeface="Segoe UI Semibold" pitchFamily="34" charset="-120"/>
              </a:rPr>
              <a:t>2</a:t>
            </a:r>
            <a:endParaRPr lang="en-US" sz="1300" dirty="0">
              <a:latin typeface="Plus Jakarta Sans"/>
            </a:endParaRPr>
          </a:p>
        </p:txBody>
      </p:sp>
      <p:sp>
        <p:nvSpPr>
          <p:cNvPr id="12" name="Text 10"/>
          <p:cNvSpPr txBox="1"/>
          <p:nvPr/>
        </p:nvSpPr>
        <p:spPr>
          <a:xfrm>
            <a:off x="1325880" y="2578608"/>
            <a:ext cx="10225735" cy="457200"/>
          </a:xfrm>
          <a:prstGeom prst="rect">
            <a:avLst/>
          </a:prstGeom>
          <a:noFill/>
          <a:ln/>
        </p:spPr>
        <p:txBody>
          <a:bodyPr wrap="square" lIns="0" tIns="0" rIns="0" bIns="0" rtlCol="0" anchor="ctr"/>
          <a:lstStyle/>
          <a:p>
            <a:pPr algn="l" indent="0" marL="0">
              <a:buNone/>
            </a:pPr>
            <a:r>
              <a:rPr lang="en-US" sz="1700" dirty="0">
                <a:solidFill>
                  <a:srgbClr val="FFFFFF"/>
                </a:solidFill>
                <a:latin typeface="Plus Jakarta Sans" pitchFamily="34" charset="0"/>
                <a:ea typeface="Segoe UI" pitchFamily="34" charset="-122"/>
                <a:cs typeface="Segoe UI" pitchFamily="34" charset="-120"/>
              </a:rPr>
              <a:t>Can he use the pump now, and in five years?</a:t>
            </a:r>
            <a:endParaRPr lang="en-US" sz="1700" dirty="0">
              <a:latin typeface="Plus Jakarta Sans"/>
            </a:endParaRPr>
          </a:p>
        </p:txBody>
      </p:sp>
      <p:sp>
        <p:nvSpPr>
          <p:cNvPr id="13" name="Shape 11"/>
          <p:cNvSpPr/>
          <p:nvPr/>
        </p:nvSpPr>
        <p:spPr>
          <a:xfrm>
            <a:off x="1325880" y="3310128"/>
            <a:ext cx="10225735" cy="0"/>
          </a:xfrm>
          <a:prstGeom prst="line">
            <a:avLst/>
          </a:prstGeom>
          <a:noFill/>
          <a:ln w="9525">
            <a:solidFill>
              <a:srgbClr val="3D3D3D"/>
            </a:solidFill>
            <a:prstDash val="solid"/>
          </a:ln>
        </p:spPr>
      </p:sp>
      <p:sp>
        <p:nvSpPr>
          <p:cNvPr id="14" name="Shape 12"/>
          <p:cNvSpPr/>
          <p:nvPr/>
        </p:nvSpPr>
        <p:spPr>
          <a:xfrm>
            <a:off x="640080" y="3328416"/>
            <a:ext cx="457200" cy="457200"/>
          </a:xfrm>
          <a:prstGeom prst="ellipse">
            <a:avLst/>
          </a:prstGeom>
          <a:solidFill>
            <a:srgbClr val="05C489"/>
          </a:solidFill>
          <a:ln/>
        </p:spPr>
      </p:sp>
      <p:sp>
        <p:nvSpPr>
          <p:cNvPr id="15" name="Text 13"/>
          <p:cNvSpPr txBox="1"/>
          <p:nvPr/>
        </p:nvSpPr>
        <p:spPr>
          <a:xfrm>
            <a:off x="640080" y="332841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Plus Jakarta Sans" pitchFamily="34" charset="0"/>
                <a:ea typeface="Segoe UI Semibold" pitchFamily="34" charset="-122"/>
                <a:cs typeface="Segoe UI Semibold" pitchFamily="34" charset="-120"/>
              </a:rPr>
              <a:t>3</a:t>
            </a:r>
            <a:endParaRPr lang="en-US" sz="1300" dirty="0">
              <a:latin typeface="Plus Jakarta Sans"/>
            </a:endParaRPr>
          </a:p>
        </p:txBody>
      </p:sp>
      <p:sp>
        <p:nvSpPr>
          <p:cNvPr id="16" name="Text 14"/>
          <p:cNvSpPr txBox="1"/>
          <p:nvPr/>
        </p:nvSpPr>
        <p:spPr>
          <a:xfrm>
            <a:off x="1325880" y="3328416"/>
            <a:ext cx="10225735" cy="457200"/>
          </a:xfrm>
          <a:prstGeom prst="rect">
            <a:avLst/>
          </a:prstGeom>
          <a:noFill/>
          <a:ln/>
        </p:spPr>
        <p:txBody>
          <a:bodyPr wrap="square" lIns="0" tIns="0" rIns="0" bIns="0" rtlCol="0" anchor="ctr"/>
          <a:lstStyle/>
          <a:p>
            <a:pPr algn="l" indent="0" marL="0">
              <a:buNone/>
            </a:pPr>
            <a:r>
              <a:rPr lang="en-US" sz="1700" dirty="0">
                <a:solidFill>
                  <a:srgbClr val="FFFFFF"/>
                </a:solidFill>
                <a:latin typeface="Plus Jakarta Sans" pitchFamily="34" charset="0"/>
                <a:ea typeface="Segoe UI" pitchFamily="34" charset="-122"/>
                <a:cs typeface="Segoe UI" pitchFamily="34" charset="-120"/>
              </a:rPr>
              <a:t>Tests that answer: anatomy, safe storage, emptying</a:t>
            </a:r>
            <a:endParaRPr lang="en-US" sz="1700" dirty="0">
              <a:latin typeface="Plus Jakarta Sans"/>
            </a:endParaRPr>
          </a:p>
        </p:txBody>
      </p:sp>
      <p:sp>
        <p:nvSpPr>
          <p:cNvPr id="17" name="Shape 15"/>
          <p:cNvSpPr/>
          <p:nvPr/>
        </p:nvSpPr>
        <p:spPr>
          <a:xfrm>
            <a:off x="1325880" y="4059936"/>
            <a:ext cx="10225735" cy="0"/>
          </a:xfrm>
          <a:prstGeom prst="line">
            <a:avLst/>
          </a:prstGeom>
          <a:noFill/>
          <a:ln w="9525">
            <a:solidFill>
              <a:srgbClr val="3D3D3D"/>
            </a:solidFill>
            <a:prstDash val="solid"/>
          </a:ln>
        </p:spPr>
      </p:sp>
      <p:sp>
        <p:nvSpPr>
          <p:cNvPr id="18" name="Shape 16"/>
          <p:cNvSpPr/>
          <p:nvPr/>
        </p:nvSpPr>
        <p:spPr>
          <a:xfrm>
            <a:off x="640080" y="4078224"/>
            <a:ext cx="457200" cy="457200"/>
          </a:xfrm>
          <a:prstGeom prst="ellipse">
            <a:avLst/>
          </a:prstGeom>
          <a:solidFill>
            <a:srgbClr val="05C489"/>
          </a:solidFill>
          <a:ln/>
        </p:spPr>
      </p:sp>
      <p:sp>
        <p:nvSpPr>
          <p:cNvPr id="19" name="Text 17"/>
          <p:cNvSpPr txBox="1"/>
          <p:nvPr/>
        </p:nvSpPr>
        <p:spPr>
          <a:xfrm>
            <a:off x="640080" y="407822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Plus Jakarta Sans" pitchFamily="34" charset="0"/>
                <a:ea typeface="Segoe UI Semibold" pitchFamily="34" charset="-122"/>
                <a:cs typeface="Segoe UI Semibold" pitchFamily="34" charset="-120"/>
              </a:rPr>
              <a:t>4</a:t>
            </a:r>
            <a:endParaRPr lang="en-US" sz="1300" dirty="0">
              <a:latin typeface="Plus Jakarta Sans"/>
            </a:endParaRPr>
          </a:p>
        </p:txBody>
      </p:sp>
      <p:sp>
        <p:nvSpPr>
          <p:cNvPr id="20" name="Text 18"/>
          <p:cNvSpPr txBox="1"/>
          <p:nvPr/>
        </p:nvSpPr>
        <p:spPr>
          <a:xfrm>
            <a:off x="1325880" y="4078224"/>
            <a:ext cx="10225735" cy="457200"/>
          </a:xfrm>
          <a:prstGeom prst="rect">
            <a:avLst/>
          </a:prstGeom>
          <a:noFill/>
          <a:ln/>
        </p:spPr>
        <p:txBody>
          <a:bodyPr wrap="square" lIns="0" tIns="0" rIns="0" bIns="0" rtlCol="0" anchor="ctr"/>
          <a:lstStyle/>
          <a:p>
            <a:pPr algn="l" indent="0" marL="0">
              <a:buNone/>
            </a:pPr>
            <a:r>
              <a:rPr lang="en-US" sz="1700" dirty="0">
                <a:solidFill>
                  <a:srgbClr val="FFFFFF"/>
                </a:solidFill>
                <a:latin typeface="Plus Jakarta Sans" pitchFamily="34" charset="0"/>
                <a:ea typeface="Segoe UI" pitchFamily="34" charset="-122"/>
                <a:cs typeface="Segoe UI" pitchFamily="34" charset="-120"/>
              </a:rPr>
              <a:t>Overactive, weak, or high-pressure bladder: keep them separate</a:t>
            </a:r>
            <a:endParaRPr lang="en-US" sz="1700" dirty="0">
              <a:latin typeface="Plus Jakarta Sans"/>
            </a:endParaRPr>
          </a:p>
        </p:txBody>
      </p:sp>
      <p:sp>
        <p:nvSpPr>
          <p:cNvPr id="21" name="Shape 19"/>
          <p:cNvSpPr/>
          <p:nvPr/>
        </p:nvSpPr>
        <p:spPr>
          <a:xfrm>
            <a:off x="1325880" y="4809744"/>
            <a:ext cx="10225735" cy="0"/>
          </a:xfrm>
          <a:prstGeom prst="line">
            <a:avLst/>
          </a:prstGeom>
          <a:noFill/>
          <a:ln w="9525">
            <a:solidFill>
              <a:srgbClr val="3D3D3D"/>
            </a:solidFill>
            <a:prstDash val="solid"/>
          </a:ln>
        </p:spPr>
      </p:sp>
      <p:sp>
        <p:nvSpPr>
          <p:cNvPr id="22" name="Shape 20"/>
          <p:cNvSpPr/>
          <p:nvPr/>
        </p:nvSpPr>
        <p:spPr>
          <a:xfrm>
            <a:off x="640080" y="4828032"/>
            <a:ext cx="457200" cy="457200"/>
          </a:xfrm>
          <a:prstGeom prst="ellipse">
            <a:avLst/>
          </a:prstGeom>
          <a:solidFill>
            <a:srgbClr val="05C489"/>
          </a:solidFill>
          <a:ln/>
        </p:spPr>
      </p:sp>
      <p:sp>
        <p:nvSpPr>
          <p:cNvPr id="23" name="Text 21"/>
          <p:cNvSpPr txBox="1"/>
          <p:nvPr/>
        </p:nvSpPr>
        <p:spPr>
          <a:xfrm>
            <a:off x="640080" y="48280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Plus Jakarta Sans" pitchFamily="34" charset="0"/>
                <a:ea typeface="Segoe UI Semibold" pitchFamily="34" charset="-122"/>
                <a:cs typeface="Segoe UI Semibold" pitchFamily="34" charset="-120"/>
              </a:rPr>
              <a:t>5</a:t>
            </a:r>
            <a:endParaRPr lang="en-US" sz="1300" dirty="0">
              <a:latin typeface="Plus Jakarta Sans"/>
            </a:endParaRPr>
          </a:p>
        </p:txBody>
      </p:sp>
      <p:sp>
        <p:nvSpPr>
          <p:cNvPr id="24" name="Text 22"/>
          <p:cNvSpPr txBox="1"/>
          <p:nvPr/>
        </p:nvSpPr>
        <p:spPr>
          <a:xfrm>
            <a:off x="1325880" y="4828032"/>
            <a:ext cx="10225735" cy="457200"/>
          </a:xfrm>
          <a:prstGeom prst="rect">
            <a:avLst/>
          </a:prstGeom>
          <a:noFill/>
          <a:ln/>
        </p:spPr>
        <p:txBody>
          <a:bodyPr wrap="square" lIns="0" tIns="0" rIns="0" bIns="0" rtlCol="0" anchor="ctr"/>
          <a:lstStyle/>
          <a:p>
            <a:pPr algn="l" indent="0" marL="0">
              <a:buNone/>
            </a:pPr>
            <a:r>
              <a:rPr lang="en-US" sz="1700" dirty="0">
                <a:solidFill>
                  <a:srgbClr val="FFFFFF"/>
                </a:solidFill>
                <a:latin typeface="Plus Jakarta Sans" pitchFamily="34" charset="0"/>
                <a:ea typeface="Segoe UI" pitchFamily="34" charset="-122"/>
                <a:cs typeface="Segoe UI" pitchFamily="34" charset="-120"/>
              </a:rPr>
              <a:t>A stable urethra and future access plan</a:t>
            </a:r>
            <a:endParaRPr lang="en-US" sz="1700" dirty="0">
              <a:latin typeface="Plus Jakarta Sans"/>
            </a:endParaRPr>
          </a:p>
        </p:txBody>
      </p:sp>
      <p:sp>
        <p:nvSpPr>
          <p:cNvPr id="9001" name="replacement-title">
            <a:extLst>
              <a:ext uri="{FF2B5EF4-FFF2-40B4-BE49-F238E27FC236}">
                <a16:creationId xmlns:a16="http://schemas.microsoft.com/office/drawing/2014/main" id="{1E78FAB6-4CCB-48A4-96E0-A59AA3A166EE}"/>
              </a:ext>
            </a:extLst>
          </p:cNvPr>
          <p:cNvSpPr>
            <a:spLocks noGrp="1"/>
          </p:cNvSpPr>
          <p:nvPr/>
        </p:nvSpPr>
        <p:spPr>
          <a:xfrm>
            <a:off x="638175" y="752475"/>
            <a:ext cx="10915650" cy="800100"/>
          </a:xfrm>
          <a:prstGeom prst="rect">
            <a:avLst/>
          </a:prstGeom>
          <a:noFill/>
          <a:ln w="0">
            <a:noFill/>
          </a:ln>
        </p:spPr>
        <p:txBody>
          <a:bodyPr anchor="ctr"/>
          <a:lstStyle>
            <a:defPPr>
              <a:defRPr sz="2625" b="1">
                <a:solidFill>
                  <a:srgbClr val="FFFFFF"/>
                </a:solidFill>
                <a:latin typeface="Plus Jakarta Sans"/>
              </a:defRPr>
            </a:defPPr>
            <a:lvl1pPr>
              <a:defRPr sz="2625" b="1">
                <a:solidFill>
                  <a:srgbClr val="FFFFFF"/>
                </a:solidFill>
                <a:latin typeface="Plus Jakarta Sans"/>
              </a:defRPr>
            </a:lvl1pPr>
            <a:lvl2pPr>
              <a:defRPr sz="2625" b="1">
                <a:solidFill>
                  <a:srgbClr val="FFFFFF"/>
                </a:solidFill>
                <a:latin typeface="Plus Jakarta Sans"/>
              </a:defRPr>
            </a:lvl2pPr>
            <a:lvl3pPr>
              <a:defRPr sz="2625" b="1">
                <a:solidFill>
                  <a:srgbClr val="FFFFFF"/>
                </a:solidFill>
                <a:latin typeface="Plus Jakarta Sans"/>
              </a:defRPr>
            </a:lvl3pPr>
            <a:lvl4pPr>
              <a:defRPr sz="2625" b="1">
                <a:solidFill>
                  <a:srgbClr val="FFFFFF"/>
                </a:solidFill>
                <a:latin typeface="Plus Jakarta Sans"/>
              </a:defRPr>
            </a:lvl4pPr>
            <a:lvl5pPr>
              <a:defRPr sz="2625" b="1">
                <a:solidFill>
                  <a:srgbClr val="FFFFFF"/>
                </a:solidFill>
                <a:latin typeface="Plus Jakarta Sans"/>
              </a:defRPr>
            </a:lvl5pPr>
            <a:lvl6pPr>
              <a:defRPr sz="2625" b="1">
                <a:solidFill>
                  <a:srgbClr val="FFFFFF"/>
                </a:solidFill>
                <a:latin typeface="Plus Jakarta Sans"/>
              </a:defRPr>
            </a:lvl6pPr>
            <a:lvl7pPr>
              <a:defRPr sz="2625" b="1">
                <a:solidFill>
                  <a:srgbClr val="FFFFFF"/>
                </a:solidFill>
                <a:latin typeface="Plus Jakarta Sans"/>
              </a:defRPr>
            </a:lvl7pPr>
            <a:lvl8pPr>
              <a:defRPr sz="2625" b="1">
                <a:solidFill>
                  <a:srgbClr val="FFFFFF"/>
                </a:solidFill>
                <a:latin typeface="Plus Jakarta Sans"/>
              </a:defRPr>
            </a:lvl8pPr>
            <a:lvl9pPr>
              <a:defRPr sz="2625" b="1">
                <a:solidFill>
                  <a:srgbClr val="FFFFFF"/>
                </a:solidFill>
                <a:latin typeface="Plus Jakarta Sans"/>
              </a:defRPr>
            </a:lvl9pPr>
          </a:lstStyle>
          <a:p>
            <a:pPr>
              <a:defRPr sz="2625" b="1">
                <a:solidFill>
                  <a:srgbClr val="FFFFFF"/>
                </a:solidFill>
                <a:latin typeface="Plus Jakarta Sans"/>
              </a:defRPr>
            </a:pPr>
            <a:r>
              <a:rPr sz="2625" b="1">
                <a:solidFill>
                  <a:srgbClr val="FFFFFF"/>
                </a:solidFill>
                <a:latin typeface="Plus Jakarta Sans"/>
              </a:rPr>
              <a:t>Five decisions before implantation</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61616"/>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05C489"/>
                </a:solidFill>
                <a:latin typeface="Plus Jakarta Sans" pitchFamily="34" charset="0"/>
                <a:ea typeface="Segoe UI" pitchFamily="34" charset="-122"/>
                <a:cs typeface="Segoe UI" pitchFamily="34" charset="-120"/>
              </a:rPr>
              <a:t>AFTER THE IMPLANT</a:t>
            </a:r>
            <a:endParaRPr lang="en-US" sz="950" dirty="0">
              <a:latin typeface="Plus Jakarta Sans"/>
            </a:endParaRPr>
          </a:p>
        </p:txBody>
      </p:sp>
      <p:sp>
        <p:nvSpPr>
          <p:cNvPr id="3" name="Text 1"/>
          <p:cNvSpPr txBox="1"/>
          <p:nvPr/>
        </p:nvSpPr>
        <p:spPr>
          <a:xfrm>
            <a:off x="6979615" y="384048"/>
            <a:ext cx="4572000" cy="274320"/>
          </a:xfrm>
          <a:prstGeom prst="rect">
            <a:avLst/>
          </a:prstGeom>
          <a:noFill/>
          <a:ln/>
        </p:spPr>
        <p:txBody>
          <a:bodyPr wrap="square" lIns="0" tIns="0" rIns="0" bIns="0" rtlCol="0" anchor="t"/>
          <a:lstStyle/>
          <a:p>
            <a:pPr algn="r" indent="0" marL="0">
              <a:buNone/>
            </a:pPr>
            <a:r>
              <a:rPr lang="en-US" sz="950" spc="100" kern="0" dirty="0">
                <a:solidFill>
                  <a:srgbClr val="BFBFBF"/>
                </a:solidFill>
                <a:latin typeface="Plus Jakarta Sans" pitchFamily="34" charset="0"/>
                <a:ea typeface="Segoe UI" pitchFamily="34" charset="-122"/>
                <a:cs typeface="Segoe UI" pitchFamily="34" charset="-120"/>
              </a:rPr>
              <a:t>35 / 36</a:t>
            </a:r>
            <a:endParaRPr lang="en-US" sz="950" dirty="0">
              <a:latin typeface="Plus Jakarta Sans"/>
            </a:endParaRPr>
          </a:p>
        </p:txBody>
      </p:sp>
      <p:sp>
        <p:nvSpPr>
          <p:cNvPr id="5" name="Text 3"/>
          <p:cNvSpPr txBox="1"/>
          <p:nvPr/>
        </p:nvSpPr>
        <p:spPr>
          <a:xfrm>
            <a:off x="640080" y="6345936"/>
            <a:ext cx="9997135" cy="228600"/>
          </a:xfrm>
          <a:prstGeom prst="rect">
            <a:avLst/>
          </a:prstGeom>
          <a:noFill/>
          <a:ln/>
        </p:spPr>
        <p:txBody>
          <a:bodyPr wrap="square" lIns="0" tIns="0" rIns="0" bIns="0" rtlCol="0" anchor="t"/>
          <a:lstStyle/>
          <a:p>
            <a:pPr algn="l" indent="0" marL="0">
              <a:buNone/>
            </a:pPr>
            <a:r>
              <a:rPr lang="en-US" sz="800" spc="50" kern="0" dirty="0">
                <a:solidFill>
                  <a:srgbClr val="BFBFBF"/>
                </a:solidFill>
                <a:latin typeface="Plus Jakarta Sans" pitchFamily="34" charset="0"/>
                <a:ea typeface="Segoe UI" pitchFamily="34" charset="-122"/>
                <a:cs typeface="Segoe UI" pitchFamily="34" charset="-120"/>
              </a:rPr>
              <a:t>CCIFU  ·  NICE  ·  AP23  ·  ATROPHY20  ·  BAUS25</a:t>
            </a:r>
            <a:endParaRPr lang="en-US" sz="800" dirty="0">
              <a:latin typeface="Plus Jakarta Sans"/>
            </a:endParaRPr>
          </a:p>
        </p:txBody>
      </p:sp>
      <p:sp>
        <p:nvSpPr>
          <p:cNvPr id="6" name="Shape 4"/>
          <p:cNvSpPr/>
          <p:nvPr/>
        </p:nvSpPr>
        <p:spPr>
          <a:xfrm>
            <a:off x="640080" y="1828800"/>
            <a:ext cx="457200" cy="457200"/>
          </a:xfrm>
          <a:prstGeom prst="ellipse">
            <a:avLst/>
          </a:prstGeom>
          <a:solidFill>
            <a:srgbClr val="05C489"/>
          </a:solidFill>
          <a:ln/>
        </p:spPr>
      </p:sp>
      <p:sp>
        <p:nvSpPr>
          <p:cNvPr id="7" name="Text 5"/>
          <p:cNvSpPr txBox="1"/>
          <p:nvPr/>
        </p:nvSpPr>
        <p:spPr>
          <a:xfrm>
            <a:off x="640080" y="182880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Plus Jakarta Sans" pitchFamily="34" charset="0"/>
                <a:ea typeface="Segoe UI Semibold" pitchFamily="34" charset="-122"/>
                <a:cs typeface="Segoe UI Semibold" pitchFamily="34" charset="-120"/>
              </a:rPr>
              <a:t>6</a:t>
            </a:r>
            <a:endParaRPr lang="en-US" sz="1300" dirty="0">
              <a:latin typeface="Plus Jakarta Sans"/>
            </a:endParaRPr>
          </a:p>
        </p:txBody>
      </p:sp>
      <p:sp>
        <p:nvSpPr>
          <p:cNvPr id="8" name="Text 6"/>
          <p:cNvSpPr txBox="1"/>
          <p:nvPr/>
        </p:nvSpPr>
        <p:spPr>
          <a:xfrm>
            <a:off x="1325880" y="1828800"/>
            <a:ext cx="10225735" cy="457200"/>
          </a:xfrm>
          <a:prstGeom prst="rect">
            <a:avLst/>
          </a:prstGeom>
          <a:noFill/>
          <a:ln/>
        </p:spPr>
        <p:txBody>
          <a:bodyPr wrap="square" lIns="0" tIns="0" rIns="0" bIns="0" rtlCol="0" anchor="ctr"/>
          <a:lstStyle/>
          <a:p>
            <a:pPr algn="l" indent="0" marL="0">
              <a:buNone/>
            </a:pPr>
            <a:r>
              <a:rPr lang="en-US" sz="1700" dirty="0">
                <a:solidFill>
                  <a:srgbClr val="FFFFFF"/>
                </a:solidFill>
                <a:latin typeface="Plus Jakarta Sans" pitchFamily="34" charset="0"/>
                <a:ea typeface="Segoe UI" pitchFamily="34" charset="-122"/>
                <a:cs typeface="Segoe UI" pitchFamily="34" charset="-120"/>
              </a:rPr>
              <a:t>The right antisepsis and the right antibiotics</a:t>
            </a:r>
            <a:endParaRPr lang="en-US" sz="1700" dirty="0">
              <a:latin typeface="Plus Jakarta Sans"/>
            </a:endParaRPr>
          </a:p>
        </p:txBody>
      </p:sp>
      <p:sp>
        <p:nvSpPr>
          <p:cNvPr id="9" name="Shape 7"/>
          <p:cNvSpPr/>
          <p:nvPr/>
        </p:nvSpPr>
        <p:spPr>
          <a:xfrm>
            <a:off x="1325880" y="2560320"/>
            <a:ext cx="10225735" cy="0"/>
          </a:xfrm>
          <a:prstGeom prst="line">
            <a:avLst/>
          </a:prstGeom>
          <a:noFill/>
          <a:ln w="9525">
            <a:solidFill>
              <a:srgbClr val="3D3D3D"/>
            </a:solidFill>
            <a:prstDash val="solid"/>
          </a:ln>
        </p:spPr>
      </p:sp>
      <p:sp>
        <p:nvSpPr>
          <p:cNvPr id="10" name="Shape 8"/>
          <p:cNvSpPr/>
          <p:nvPr/>
        </p:nvSpPr>
        <p:spPr>
          <a:xfrm>
            <a:off x="640080" y="2578608"/>
            <a:ext cx="457200" cy="457200"/>
          </a:xfrm>
          <a:prstGeom prst="ellipse">
            <a:avLst/>
          </a:prstGeom>
          <a:solidFill>
            <a:srgbClr val="05C489"/>
          </a:solidFill>
          <a:ln/>
        </p:spPr>
      </p:sp>
      <p:sp>
        <p:nvSpPr>
          <p:cNvPr id="11" name="Text 9"/>
          <p:cNvSpPr txBox="1"/>
          <p:nvPr/>
        </p:nvSpPr>
        <p:spPr>
          <a:xfrm>
            <a:off x="640080" y="257860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Plus Jakarta Sans" pitchFamily="34" charset="0"/>
                <a:ea typeface="Segoe UI Semibold" pitchFamily="34" charset="-122"/>
                <a:cs typeface="Segoe UI Semibold" pitchFamily="34" charset="-120"/>
              </a:rPr>
              <a:t>7</a:t>
            </a:r>
            <a:endParaRPr lang="en-US" sz="1300" dirty="0">
              <a:latin typeface="Plus Jakarta Sans"/>
            </a:endParaRPr>
          </a:p>
        </p:txBody>
      </p:sp>
      <p:sp>
        <p:nvSpPr>
          <p:cNvPr id="12" name="Text 10"/>
          <p:cNvSpPr txBox="1"/>
          <p:nvPr/>
        </p:nvSpPr>
        <p:spPr>
          <a:xfrm>
            <a:off x="1325880" y="2578608"/>
            <a:ext cx="10225735" cy="457200"/>
          </a:xfrm>
          <a:prstGeom prst="rect">
            <a:avLst/>
          </a:prstGeom>
          <a:noFill/>
          <a:ln/>
        </p:spPr>
        <p:txBody>
          <a:bodyPr wrap="square" lIns="0" tIns="0" rIns="0" bIns="0" rtlCol="0" anchor="ctr"/>
          <a:lstStyle/>
          <a:p>
            <a:pPr algn="l" indent="0" marL="0">
              <a:buNone/>
            </a:pPr>
            <a:r>
              <a:rPr lang="en-US" sz="1700" dirty="0">
                <a:solidFill>
                  <a:srgbClr val="FFFFFF"/>
                </a:solidFill>
                <a:latin typeface="Plus Jakarta Sans" pitchFamily="34" charset="0"/>
                <a:ea typeface="Segoe UI" pitchFamily="34" charset="-122"/>
                <a:cs typeface="Segoe UI" pitchFamily="34" charset="-120"/>
              </a:rPr>
              <a:t>Keep the tissue; measure without distortion</a:t>
            </a:r>
            <a:endParaRPr lang="en-US" sz="1700" dirty="0">
              <a:latin typeface="Plus Jakarta Sans"/>
            </a:endParaRPr>
          </a:p>
        </p:txBody>
      </p:sp>
      <p:sp>
        <p:nvSpPr>
          <p:cNvPr id="13" name="Shape 11"/>
          <p:cNvSpPr/>
          <p:nvPr/>
        </p:nvSpPr>
        <p:spPr>
          <a:xfrm>
            <a:off x="1325880" y="3310128"/>
            <a:ext cx="10225735" cy="0"/>
          </a:xfrm>
          <a:prstGeom prst="line">
            <a:avLst/>
          </a:prstGeom>
          <a:noFill/>
          <a:ln w="9525">
            <a:solidFill>
              <a:srgbClr val="3D3D3D"/>
            </a:solidFill>
            <a:prstDash val="solid"/>
          </a:ln>
        </p:spPr>
      </p:sp>
      <p:sp>
        <p:nvSpPr>
          <p:cNvPr id="14" name="Shape 12"/>
          <p:cNvSpPr/>
          <p:nvPr/>
        </p:nvSpPr>
        <p:spPr>
          <a:xfrm>
            <a:off x="640080" y="3328416"/>
            <a:ext cx="457200" cy="457200"/>
          </a:xfrm>
          <a:prstGeom prst="ellipse">
            <a:avLst/>
          </a:prstGeom>
          <a:solidFill>
            <a:srgbClr val="05C489"/>
          </a:solidFill>
          <a:ln/>
        </p:spPr>
      </p:sp>
      <p:sp>
        <p:nvSpPr>
          <p:cNvPr id="15" name="Text 13"/>
          <p:cNvSpPr txBox="1"/>
          <p:nvPr/>
        </p:nvSpPr>
        <p:spPr>
          <a:xfrm>
            <a:off x="640080" y="332841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Plus Jakarta Sans" pitchFamily="34" charset="0"/>
                <a:ea typeface="Segoe UI Semibold" pitchFamily="34" charset="-122"/>
                <a:cs typeface="Segoe UI Semibold" pitchFamily="34" charset="-120"/>
              </a:rPr>
              <a:t>8</a:t>
            </a:r>
            <a:endParaRPr lang="en-US" sz="1300" dirty="0">
              <a:latin typeface="Plus Jakarta Sans"/>
            </a:endParaRPr>
          </a:p>
        </p:txBody>
      </p:sp>
      <p:sp>
        <p:nvSpPr>
          <p:cNvPr id="16" name="Text 14"/>
          <p:cNvSpPr txBox="1"/>
          <p:nvPr/>
        </p:nvSpPr>
        <p:spPr>
          <a:xfrm>
            <a:off x="1325880" y="3328416"/>
            <a:ext cx="10225735" cy="457200"/>
          </a:xfrm>
          <a:prstGeom prst="rect">
            <a:avLst/>
          </a:prstGeom>
          <a:noFill/>
          <a:ln/>
        </p:spPr>
        <p:txBody>
          <a:bodyPr wrap="square" lIns="0" tIns="0" rIns="0" bIns="0" rtlCol="0" anchor="ctr"/>
          <a:lstStyle/>
          <a:p>
            <a:pPr algn="l" indent="0" marL="0">
              <a:buNone/>
            </a:pPr>
            <a:r>
              <a:rPr lang="en-US" sz="1700" dirty="0">
                <a:solidFill>
                  <a:srgbClr val="FFFFFF"/>
                </a:solidFill>
                <a:latin typeface="Plus Jakarta Sans" pitchFamily="34" charset="0"/>
                <a:ea typeface="Segoe UI" pitchFamily="34" charset="-122"/>
                <a:cs typeface="Segoe UI" pitchFamily="34" charset="-120"/>
              </a:rPr>
              <a:t>The real device protocol, and clear reasons to stop</a:t>
            </a:r>
            <a:endParaRPr lang="en-US" sz="1700" dirty="0">
              <a:latin typeface="Plus Jakarta Sans"/>
            </a:endParaRPr>
          </a:p>
        </p:txBody>
      </p:sp>
      <p:sp>
        <p:nvSpPr>
          <p:cNvPr id="17" name="Shape 15"/>
          <p:cNvSpPr/>
          <p:nvPr/>
        </p:nvSpPr>
        <p:spPr>
          <a:xfrm>
            <a:off x="1325880" y="4059936"/>
            <a:ext cx="10225735" cy="0"/>
          </a:xfrm>
          <a:prstGeom prst="line">
            <a:avLst/>
          </a:prstGeom>
          <a:noFill/>
          <a:ln w="9525">
            <a:solidFill>
              <a:srgbClr val="3D3D3D"/>
            </a:solidFill>
            <a:prstDash val="solid"/>
          </a:ln>
        </p:spPr>
      </p:sp>
      <p:sp>
        <p:nvSpPr>
          <p:cNvPr id="18" name="Shape 16"/>
          <p:cNvSpPr/>
          <p:nvPr/>
        </p:nvSpPr>
        <p:spPr>
          <a:xfrm>
            <a:off x="640080" y="4078224"/>
            <a:ext cx="457200" cy="457200"/>
          </a:xfrm>
          <a:prstGeom prst="ellipse">
            <a:avLst/>
          </a:prstGeom>
          <a:solidFill>
            <a:srgbClr val="05C489"/>
          </a:solidFill>
          <a:ln/>
        </p:spPr>
      </p:sp>
      <p:sp>
        <p:nvSpPr>
          <p:cNvPr id="19" name="Text 17"/>
          <p:cNvSpPr txBox="1"/>
          <p:nvPr/>
        </p:nvSpPr>
        <p:spPr>
          <a:xfrm>
            <a:off x="640080" y="407822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Plus Jakarta Sans" pitchFamily="34" charset="0"/>
                <a:ea typeface="Segoe UI Semibold" pitchFamily="34" charset="-122"/>
                <a:cs typeface="Segoe UI Semibold" pitchFamily="34" charset="-120"/>
              </a:rPr>
              <a:t>9</a:t>
            </a:r>
            <a:endParaRPr lang="en-US" sz="1300" dirty="0">
              <a:latin typeface="Plus Jakarta Sans"/>
            </a:endParaRPr>
          </a:p>
        </p:txBody>
      </p:sp>
      <p:sp>
        <p:nvSpPr>
          <p:cNvPr id="20" name="Text 18"/>
          <p:cNvSpPr txBox="1"/>
          <p:nvPr/>
        </p:nvSpPr>
        <p:spPr>
          <a:xfrm>
            <a:off x="1325880" y="4078224"/>
            <a:ext cx="10225735" cy="457200"/>
          </a:xfrm>
          <a:prstGeom prst="rect">
            <a:avLst/>
          </a:prstGeom>
          <a:noFill/>
          <a:ln/>
        </p:spPr>
        <p:txBody>
          <a:bodyPr wrap="square" lIns="0" tIns="0" rIns="0" bIns="0" rtlCol="0" anchor="ctr"/>
          <a:lstStyle/>
          <a:p>
            <a:pPr algn="l" indent="0" marL="0">
              <a:buNone/>
            </a:pPr>
            <a:r>
              <a:rPr lang="en-US" sz="1700" dirty="0">
                <a:solidFill>
                  <a:srgbClr val="FFFFFF"/>
                </a:solidFill>
                <a:latin typeface="Plus Jakarta Sans" pitchFamily="34" charset="0"/>
                <a:ea typeface="Segoe UI" pitchFamily="34" charset="-122"/>
                <a:cs typeface="Segoe UI" pitchFamily="34" charset="-120"/>
              </a:rPr>
              <a:t>Check the device is off, the drainage plan, and teach the patient</a:t>
            </a:r>
            <a:endParaRPr lang="en-US" sz="1700" dirty="0">
              <a:latin typeface="Plus Jakarta Sans"/>
            </a:endParaRPr>
          </a:p>
        </p:txBody>
      </p:sp>
      <p:sp>
        <p:nvSpPr>
          <p:cNvPr id="21" name="Shape 19"/>
          <p:cNvSpPr/>
          <p:nvPr/>
        </p:nvSpPr>
        <p:spPr>
          <a:xfrm>
            <a:off x="1325880" y="4809744"/>
            <a:ext cx="10225735" cy="0"/>
          </a:xfrm>
          <a:prstGeom prst="line">
            <a:avLst/>
          </a:prstGeom>
          <a:noFill/>
          <a:ln w="9525">
            <a:solidFill>
              <a:srgbClr val="3D3D3D"/>
            </a:solidFill>
            <a:prstDash val="solid"/>
          </a:ln>
        </p:spPr>
      </p:sp>
      <p:sp>
        <p:nvSpPr>
          <p:cNvPr id="22" name="Shape 20"/>
          <p:cNvSpPr/>
          <p:nvPr/>
        </p:nvSpPr>
        <p:spPr>
          <a:xfrm>
            <a:off x="640080" y="4828032"/>
            <a:ext cx="457200" cy="457200"/>
          </a:xfrm>
          <a:prstGeom prst="ellipse">
            <a:avLst/>
          </a:prstGeom>
          <a:solidFill>
            <a:srgbClr val="05C489"/>
          </a:solidFill>
          <a:ln/>
        </p:spPr>
      </p:sp>
      <p:sp>
        <p:nvSpPr>
          <p:cNvPr id="23" name="Text 21"/>
          <p:cNvSpPr txBox="1"/>
          <p:nvPr/>
        </p:nvSpPr>
        <p:spPr>
          <a:xfrm>
            <a:off x="640080" y="48280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Plus Jakarta Sans" pitchFamily="34" charset="0"/>
                <a:ea typeface="Segoe UI Semibold" pitchFamily="34" charset="-122"/>
                <a:cs typeface="Segoe UI Semibold" pitchFamily="34" charset="-120"/>
              </a:rPr>
              <a:t>10</a:t>
            </a:r>
            <a:endParaRPr lang="en-US" sz="1300" dirty="0">
              <a:latin typeface="Plus Jakarta Sans"/>
            </a:endParaRPr>
          </a:p>
        </p:txBody>
      </p:sp>
      <p:sp>
        <p:nvSpPr>
          <p:cNvPr id="24" name="Text 22"/>
          <p:cNvSpPr txBox="1"/>
          <p:nvPr/>
        </p:nvSpPr>
        <p:spPr>
          <a:xfrm>
            <a:off x="1325880" y="4828032"/>
            <a:ext cx="10225735" cy="457200"/>
          </a:xfrm>
          <a:prstGeom prst="rect">
            <a:avLst/>
          </a:prstGeom>
          <a:noFill/>
          <a:ln/>
        </p:spPr>
        <p:txBody>
          <a:bodyPr wrap="square" lIns="0" tIns="0" rIns="0" bIns="0" rtlCol="0" anchor="ctr"/>
          <a:lstStyle/>
          <a:p>
            <a:pPr algn="l" indent="0" marL="0">
              <a:buNone/>
            </a:pPr>
            <a:r>
              <a:rPr lang="en-US" sz="1700" dirty="0">
                <a:solidFill>
                  <a:srgbClr val="FFFFFF"/>
                </a:solidFill>
                <a:latin typeface="Plus Jakarta Sans" pitchFamily="34" charset="0"/>
                <a:ea typeface="Segoe UI" pitchFamily="34" charset="-122"/>
                <a:cs typeface="Segoe UI" pitchFamily="34" charset="-120"/>
              </a:rPr>
              <a:t>A diagnosis before any revision</a:t>
            </a:r>
            <a:endParaRPr lang="en-US" sz="1700" dirty="0">
              <a:latin typeface="Plus Jakarta Sans"/>
            </a:endParaRPr>
          </a:p>
        </p:txBody>
      </p:sp>
      <p:sp>
        <p:nvSpPr>
          <p:cNvPr id="9001" name="replacement-title">
            <a:extLst>
              <a:ext uri="{FF2B5EF4-FFF2-40B4-BE49-F238E27FC236}">
                <a16:creationId xmlns:a16="http://schemas.microsoft.com/office/drawing/2014/main" id="{F16A16F8-CDC2-4FA9-8466-7B77FAB44920}"/>
              </a:ext>
            </a:extLst>
          </p:cNvPr>
          <p:cNvSpPr>
            <a:spLocks noGrp="1"/>
          </p:cNvSpPr>
          <p:nvPr/>
        </p:nvSpPr>
        <p:spPr>
          <a:xfrm>
            <a:off x="638175" y="752475"/>
            <a:ext cx="10915650" cy="800100"/>
          </a:xfrm>
          <a:prstGeom prst="rect">
            <a:avLst/>
          </a:prstGeom>
          <a:noFill/>
          <a:ln w="0">
            <a:noFill/>
          </a:ln>
        </p:spPr>
        <p:txBody>
          <a:bodyPr anchor="ctr"/>
          <a:lstStyle>
            <a:defPPr>
              <a:defRPr sz="2625" b="1">
                <a:solidFill>
                  <a:srgbClr val="FFFFFF"/>
                </a:solidFill>
                <a:latin typeface="Plus Jakarta Sans"/>
              </a:defRPr>
            </a:defPPr>
            <a:lvl1pPr>
              <a:defRPr sz="2625" b="1">
                <a:solidFill>
                  <a:srgbClr val="FFFFFF"/>
                </a:solidFill>
                <a:latin typeface="Plus Jakarta Sans"/>
              </a:defRPr>
            </a:lvl1pPr>
            <a:lvl2pPr>
              <a:defRPr sz="2625" b="1">
                <a:solidFill>
                  <a:srgbClr val="FFFFFF"/>
                </a:solidFill>
                <a:latin typeface="Plus Jakarta Sans"/>
              </a:defRPr>
            </a:lvl2pPr>
            <a:lvl3pPr>
              <a:defRPr sz="2625" b="1">
                <a:solidFill>
                  <a:srgbClr val="FFFFFF"/>
                </a:solidFill>
                <a:latin typeface="Plus Jakarta Sans"/>
              </a:defRPr>
            </a:lvl3pPr>
            <a:lvl4pPr>
              <a:defRPr sz="2625" b="1">
                <a:solidFill>
                  <a:srgbClr val="FFFFFF"/>
                </a:solidFill>
                <a:latin typeface="Plus Jakarta Sans"/>
              </a:defRPr>
            </a:lvl4pPr>
            <a:lvl5pPr>
              <a:defRPr sz="2625" b="1">
                <a:solidFill>
                  <a:srgbClr val="FFFFFF"/>
                </a:solidFill>
                <a:latin typeface="Plus Jakarta Sans"/>
              </a:defRPr>
            </a:lvl5pPr>
            <a:lvl6pPr>
              <a:defRPr sz="2625" b="1">
                <a:solidFill>
                  <a:srgbClr val="FFFFFF"/>
                </a:solidFill>
                <a:latin typeface="Plus Jakarta Sans"/>
              </a:defRPr>
            </a:lvl6pPr>
            <a:lvl7pPr>
              <a:defRPr sz="2625" b="1">
                <a:solidFill>
                  <a:srgbClr val="FFFFFF"/>
                </a:solidFill>
                <a:latin typeface="Plus Jakarta Sans"/>
              </a:defRPr>
            </a:lvl7pPr>
            <a:lvl8pPr>
              <a:defRPr sz="2625" b="1">
                <a:solidFill>
                  <a:srgbClr val="FFFFFF"/>
                </a:solidFill>
                <a:latin typeface="Plus Jakarta Sans"/>
              </a:defRPr>
            </a:lvl8pPr>
            <a:lvl9pPr>
              <a:defRPr sz="2625" b="1">
                <a:solidFill>
                  <a:srgbClr val="FFFFFF"/>
                </a:solidFill>
                <a:latin typeface="Plus Jakarta Sans"/>
              </a:defRPr>
            </a:lvl9pPr>
          </a:lstStyle>
          <a:p>
            <a:pPr>
              <a:defRPr sz="2625" b="1">
                <a:solidFill>
                  <a:srgbClr val="FFFFFF"/>
                </a:solidFill>
                <a:latin typeface="Plus Jakarta Sans"/>
              </a:defRPr>
            </a:pPr>
            <a:r>
              <a:rPr sz="2625" b="1">
                <a:solidFill>
                  <a:srgbClr val="FFFFFF"/>
                </a:solidFill>
                <a:latin typeface="Plus Jakarta Sans"/>
              </a:rPr>
              <a:t>Five decisions protecting the result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161616"/>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89FF00"/>
                </a:solidFill>
                <a:latin typeface="Plus Jakarta Sans" pitchFamily="34" charset="0"/>
                <a:ea typeface="Segoe UI" pitchFamily="34" charset="-122"/>
                <a:cs typeface="Segoe UI" pitchFamily="34" charset="-120"/>
              </a:rPr>
              <a:t>AFTER THE IMPLANT</a:t>
            </a:r>
            <a:endParaRPr lang="en-US" sz="950" dirty="0">
              <a:latin typeface="Plus Jakarta Sans"/>
            </a:endParaRPr>
          </a:p>
        </p:txBody>
      </p:sp>
      <p:sp>
        <p:nvSpPr>
          <p:cNvPr id="3" name="Text 1"/>
          <p:cNvSpPr txBox="1"/>
          <p:nvPr/>
        </p:nvSpPr>
        <p:spPr>
          <a:xfrm>
            <a:off x="6979615" y="384048"/>
            <a:ext cx="4572000" cy="274320"/>
          </a:xfrm>
          <a:prstGeom prst="rect">
            <a:avLst/>
          </a:prstGeom>
          <a:noFill/>
          <a:ln/>
        </p:spPr>
        <p:txBody>
          <a:bodyPr wrap="square" lIns="0" tIns="0" rIns="0" bIns="0" rtlCol="0" anchor="t"/>
          <a:lstStyle/>
          <a:p>
            <a:pPr algn="r" indent="0" marL="0">
              <a:buNone/>
            </a:pPr>
            <a:r>
              <a:rPr lang="en-US" sz="950" spc="100" kern="0" dirty="0">
                <a:solidFill>
                  <a:srgbClr val="BFBFBF"/>
                </a:solidFill>
                <a:latin typeface="Plus Jakarta Sans" pitchFamily="34" charset="0"/>
                <a:ea typeface="Segoe UI" pitchFamily="34" charset="-122"/>
                <a:cs typeface="Segoe UI" pitchFamily="34" charset="-120"/>
              </a:rPr>
              <a:t>36 / 36</a:t>
            </a:r>
            <a:endParaRPr lang="en-US" sz="950" dirty="0">
              <a:latin typeface="Plus Jakarta Sans"/>
            </a:endParaRPr>
          </a:p>
        </p:txBody>
      </p:sp>
      <p:sp>
        <p:nvSpPr>
          <p:cNvPr id="5" name="Shape 3"/>
          <p:cNvSpPr/>
          <p:nvPr/>
        </p:nvSpPr>
        <p:spPr>
          <a:xfrm>
            <a:off x="640080" y="2212848"/>
            <a:ext cx="457200" cy="457200"/>
          </a:xfrm>
          <a:prstGeom prst="ellipse">
            <a:avLst/>
          </a:prstGeom>
          <a:solidFill>
            <a:srgbClr val="89FF00"/>
          </a:solidFill>
          <a:ln/>
        </p:spPr>
      </p:sp>
      <p:sp>
        <p:nvSpPr>
          <p:cNvPr id="6" name="Text 4"/>
          <p:cNvSpPr txBox="1"/>
          <p:nvPr/>
        </p:nvSpPr>
        <p:spPr>
          <a:xfrm>
            <a:off x="640080" y="221284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Plus Jakarta Sans" pitchFamily="34" charset="0"/>
                <a:ea typeface="Segoe UI Semibold" pitchFamily="34" charset="-122"/>
                <a:cs typeface="Segoe UI Semibold" pitchFamily="34" charset="-120"/>
              </a:rPr>
              <a:t>1</a:t>
            </a:r>
            <a:endParaRPr lang="en-US" sz="1400" dirty="0">
              <a:latin typeface="Plus Jakarta Sans"/>
            </a:endParaRPr>
          </a:p>
        </p:txBody>
      </p:sp>
      <p:sp>
        <p:nvSpPr>
          <p:cNvPr id="7" name="Text 5"/>
          <p:cNvSpPr txBox="1"/>
          <p:nvPr/>
        </p:nvSpPr>
        <p:spPr>
          <a:xfrm>
            <a:off x="1371600" y="2103120"/>
            <a:ext cx="10180015" cy="685800"/>
          </a:xfrm>
          <a:prstGeom prst="rect">
            <a:avLst/>
          </a:prstGeom>
          <a:noFill/>
          <a:ln/>
        </p:spPr>
        <p:txBody>
          <a:bodyPr wrap="square" lIns="0" tIns="0" rIns="0" bIns="0" rtlCol="0" anchor="ctr"/>
          <a:lstStyle/>
          <a:p>
            <a:pPr algn="l" indent="0" marL="0">
              <a:buNone/>
            </a:pPr>
            <a:r>
              <a:rPr lang="en-US" sz="2400" dirty="0">
                <a:solidFill>
                  <a:srgbClr val="F4F5F7"/>
                </a:solidFill>
                <a:latin typeface="Plus Jakarta Sans" pitchFamily="34" charset="0"/>
                <a:ea typeface="Segoe UI Semibold" pitchFamily="34" charset="-122"/>
                <a:cs typeface="Segoe UI Semibold" pitchFamily="34" charset="-120"/>
              </a:rPr>
              <a:t>Which bladder finding makes you defer an implant?</a:t>
            </a:r>
            <a:endParaRPr lang="en-US" sz="2400" dirty="0">
              <a:latin typeface="Plus Jakarta Sans"/>
            </a:endParaRPr>
          </a:p>
        </p:txBody>
      </p:sp>
      <p:sp>
        <p:nvSpPr>
          <p:cNvPr id="8" name="Shape 6"/>
          <p:cNvSpPr/>
          <p:nvPr/>
        </p:nvSpPr>
        <p:spPr>
          <a:xfrm>
            <a:off x="640080" y="3172968"/>
            <a:ext cx="457200" cy="457200"/>
          </a:xfrm>
          <a:prstGeom prst="ellipse">
            <a:avLst/>
          </a:prstGeom>
          <a:solidFill>
            <a:srgbClr val="89FF00"/>
          </a:solidFill>
          <a:ln/>
        </p:spPr>
      </p:sp>
      <p:sp>
        <p:nvSpPr>
          <p:cNvPr id="9" name="Text 7"/>
          <p:cNvSpPr txBox="1"/>
          <p:nvPr/>
        </p:nvSpPr>
        <p:spPr>
          <a:xfrm>
            <a:off x="640080" y="317296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Plus Jakarta Sans" pitchFamily="34" charset="0"/>
                <a:ea typeface="Segoe UI Semibold" pitchFamily="34" charset="-122"/>
                <a:cs typeface="Segoe UI Semibold" pitchFamily="34" charset="-120"/>
              </a:rPr>
              <a:t>2</a:t>
            </a:r>
            <a:endParaRPr lang="en-US" sz="1400" dirty="0">
              <a:latin typeface="Plus Jakarta Sans"/>
            </a:endParaRPr>
          </a:p>
        </p:txBody>
      </p:sp>
      <p:sp>
        <p:nvSpPr>
          <p:cNvPr id="10" name="Text 8"/>
          <p:cNvSpPr txBox="1"/>
          <p:nvPr/>
        </p:nvSpPr>
        <p:spPr>
          <a:xfrm>
            <a:off x="1371600" y="3063240"/>
            <a:ext cx="10180015" cy="685800"/>
          </a:xfrm>
          <a:prstGeom prst="rect">
            <a:avLst/>
          </a:prstGeom>
          <a:noFill/>
          <a:ln/>
        </p:spPr>
        <p:txBody>
          <a:bodyPr wrap="square" lIns="0" tIns="0" rIns="0" bIns="0" rtlCol="0" anchor="ctr"/>
          <a:lstStyle/>
          <a:p>
            <a:pPr algn="l" indent="0" marL="0">
              <a:buNone/>
            </a:pPr>
            <a:r>
              <a:rPr lang="en-US" sz="2400" dirty="0">
                <a:solidFill>
                  <a:srgbClr val="F4F5F7"/>
                </a:solidFill>
                <a:latin typeface="Plus Jakarta Sans" pitchFamily="34" charset="0"/>
                <a:ea typeface="Segoe UI Semibold" pitchFamily="34" charset="-122"/>
                <a:cs typeface="Segoe UI Semibold" pitchFamily="34" charset="-120"/>
              </a:rPr>
              <a:t>What establishes urethral stability in your practice?</a:t>
            </a:r>
            <a:endParaRPr lang="en-US" sz="2400" dirty="0">
              <a:latin typeface="Plus Jakarta Sans"/>
            </a:endParaRPr>
          </a:p>
        </p:txBody>
      </p:sp>
      <p:sp>
        <p:nvSpPr>
          <p:cNvPr id="11" name="Shape 9"/>
          <p:cNvSpPr/>
          <p:nvPr/>
        </p:nvSpPr>
        <p:spPr>
          <a:xfrm>
            <a:off x="640080" y="4133088"/>
            <a:ext cx="457200" cy="457200"/>
          </a:xfrm>
          <a:prstGeom prst="ellipse">
            <a:avLst/>
          </a:prstGeom>
          <a:solidFill>
            <a:srgbClr val="89FF00"/>
          </a:solidFill>
          <a:ln/>
        </p:spPr>
      </p:sp>
      <p:sp>
        <p:nvSpPr>
          <p:cNvPr id="12" name="Text 10"/>
          <p:cNvSpPr txBox="1"/>
          <p:nvPr/>
        </p:nvSpPr>
        <p:spPr>
          <a:xfrm>
            <a:off x="640080" y="413308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Plus Jakarta Sans" pitchFamily="34" charset="0"/>
                <a:ea typeface="Segoe UI Semibold" pitchFamily="34" charset="-122"/>
                <a:cs typeface="Segoe UI Semibold" pitchFamily="34" charset="-120"/>
              </a:rPr>
              <a:t>3</a:t>
            </a:r>
            <a:endParaRPr lang="en-US" sz="1400" dirty="0">
              <a:latin typeface="Plus Jakarta Sans"/>
            </a:endParaRPr>
          </a:p>
        </p:txBody>
      </p:sp>
      <p:sp>
        <p:nvSpPr>
          <p:cNvPr id="13" name="Text 11"/>
          <p:cNvSpPr txBox="1"/>
          <p:nvPr/>
        </p:nvSpPr>
        <p:spPr>
          <a:xfrm>
            <a:off x="1371600" y="4023360"/>
            <a:ext cx="10180015" cy="685800"/>
          </a:xfrm>
          <a:prstGeom prst="rect">
            <a:avLst/>
          </a:prstGeom>
          <a:noFill/>
          <a:ln/>
        </p:spPr>
        <p:txBody>
          <a:bodyPr wrap="square" lIns="0" tIns="0" rIns="0" bIns="0" rtlCol="0" anchor="ctr"/>
          <a:lstStyle/>
          <a:p>
            <a:pPr algn="l" indent="0" marL="0">
              <a:buNone/>
            </a:pPr>
            <a:r>
              <a:rPr lang="en-US" sz="2400" dirty="0">
                <a:solidFill>
                  <a:srgbClr val="F4F5F7"/>
                </a:solidFill>
                <a:latin typeface="Plus Jakarta Sans" pitchFamily="34" charset="0"/>
                <a:ea typeface="Segoe UI Semibold" pitchFamily="34" charset="-122"/>
                <a:cs typeface="Segoe UI Semibold" pitchFamily="34" charset="-120"/>
              </a:rPr>
              <a:t>Which preparation or salvage practice needs a trial?</a:t>
            </a:r>
            <a:endParaRPr lang="en-US" sz="2400" dirty="0">
              <a:latin typeface="Plus Jakarta Sans"/>
            </a:endParaRPr>
          </a:p>
        </p:txBody>
      </p:sp>
      <p:sp>
        <p:nvSpPr>
          <p:cNvPr id="14" name="Text 12"/>
          <p:cNvSpPr txBox="1"/>
          <p:nvPr/>
        </p:nvSpPr>
        <p:spPr>
          <a:xfrm>
            <a:off x="640080" y="5486400"/>
            <a:ext cx="10911535" cy="457200"/>
          </a:xfrm>
          <a:prstGeom prst="rect">
            <a:avLst/>
          </a:prstGeom>
          <a:noFill/>
          <a:ln/>
        </p:spPr>
        <p:txBody>
          <a:bodyPr wrap="square" lIns="0" tIns="0" rIns="0" bIns="0" rtlCol="0" anchor="t"/>
          <a:lstStyle/>
          <a:p>
            <a:pPr algn="l" indent="0" marL="0">
              <a:buNone/>
            </a:pPr>
            <a:r>
              <a:rPr lang="en-US" sz="1600" i="1" dirty="0">
                <a:solidFill>
                  <a:srgbClr val="89FF00"/>
                </a:solidFill>
                <a:latin typeface="Plus Jakarta Sans" pitchFamily="34" charset="0"/>
                <a:ea typeface="Segoe UI" pitchFamily="34" charset="-122"/>
                <a:cs typeface="Segoe UI" pitchFamily="34" charset="-120"/>
              </a:rPr>
              <a:t>Which finding would change your plan?</a:t>
            </a:r>
            <a:endParaRPr lang="en-US" sz="1600" dirty="0">
              <a:latin typeface="Plus Jakarta Sans"/>
            </a:endParaRPr>
          </a:p>
        </p:txBody>
      </p:sp>
      <p:sp>
        <p:nvSpPr>
          <p:cNvPr id="9001" name="replacement-title">
            <a:extLst>
              <a:ext uri="{FF2B5EF4-FFF2-40B4-BE49-F238E27FC236}">
                <a16:creationId xmlns:a16="http://schemas.microsoft.com/office/drawing/2014/main" id="{995A1A21-A657-403D-9480-DEA686CE3049}"/>
              </a:ext>
            </a:extLst>
          </p:cNvPr>
          <p:cNvSpPr>
            <a:spLocks noGrp="1"/>
          </p:cNvSpPr>
          <p:nvPr/>
        </p:nvSpPr>
        <p:spPr>
          <a:xfrm>
            <a:off x="638175" y="752475"/>
            <a:ext cx="10915650" cy="800100"/>
          </a:xfrm>
          <a:prstGeom prst="rect">
            <a:avLst/>
          </a:prstGeom>
          <a:noFill/>
          <a:ln w="0">
            <a:noFill/>
          </a:ln>
        </p:spPr>
        <p:txBody>
          <a:bodyPr anchor="ctr"/>
          <a:lstStyle>
            <a:defPPr>
              <a:defRPr sz="2625" b="1">
                <a:solidFill>
                  <a:srgbClr val="FFFFFF"/>
                </a:solidFill>
                <a:latin typeface="Plus Jakarta Sans"/>
              </a:defRPr>
            </a:defPPr>
            <a:lvl1pPr>
              <a:defRPr sz="2625" b="1">
                <a:solidFill>
                  <a:srgbClr val="FFFFFF"/>
                </a:solidFill>
                <a:latin typeface="Plus Jakarta Sans"/>
              </a:defRPr>
            </a:lvl1pPr>
            <a:lvl2pPr>
              <a:defRPr sz="2625" b="1">
                <a:solidFill>
                  <a:srgbClr val="FFFFFF"/>
                </a:solidFill>
                <a:latin typeface="Plus Jakarta Sans"/>
              </a:defRPr>
            </a:lvl2pPr>
            <a:lvl3pPr>
              <a:defRPr sz="2625" b="1">
                <a:solidFill>
                  <a:srgbClr val="FFFFFF"/>
                </a:solidFill>
                <a:latin typeface="Plus Jakarta Sans"/>
              </a:defRPr>
            </a:lvl3pPr>
            <a:lvl4pPr>
              <a:defRPr sz="2625" b="1">
                <a:solidFill>
                  <a:srgbClr val="FFFFFF"/>
                </a:solidFill>
                <a:latin typeface="Plus Jakarta Sans"/>
              </a:defRPr>
            </a:lvl4pPr>
            <a:lvl5pPr>
              <a:defRPr sz="2625" b="1">
                <a:solidFill>
                  <a:srgbClr val="FFFFFF"/>
                </a:solidFill>
                <a:latin typeface="Plus Jakarta Sans"/>
              </a:defRPr>
            </a:lvl5pPr>
            <a:lvl6pPr>
              <a:defRPr sz="2625" b="1">
                <a:solidFill>
                  <a:srgbClr val="FFFFFF"/>
                </a:solidFill>
                <a:latin typeface="Plus Jakarta Sans"/>
              </a:defRPr>
            </a:lvl6pPr>
            <a:lvl7pPr>
              <a:defRPr sz="2625" b="1">
                <a:solidFill>
                  <a:srgbClr val="FFFFFF"/>
                </a:solidFill>
                <a:latin typeface="Plus Jakarta Sans"/>
              </a:defRPr>
            </a:lvl7pPr>
            <a:lvl8pPr>
              <a:defRPr sz="2625" b="1">
                <a:solidFill>
                  <a:srgbClr val="FFFFFF"/>
                </a:solidFill>
                <a:latin typeface="Plus Jakarta Sans"/>
              </a:defRPr>
            </a:lvl8pPr>
            <a:lvl9pPr>
              <a:defRPr sz="2625" b="1">
                <a:solidFill>
                  <a:srgbClr val="FFFFFF"/>
                </a:solidFill>
                <a:latin typeface="Plus Jakarta Sans"/>
              </a:defRPr>
            </a:lvl9pPr>
          </a:lstStyle>
          <a:p>
            <a:pPr>
              <a:defRPr sz="2625" b="1">
                <a:solidFill>
                  <a:srgbClr val="FFFFFF"/>
                </a:solidFill>
                <a:latin typeface="Plus Jakarta Sans"/>
              </a:defRPr>
            </a:pPr>
            <a:r>
              <a:rPr sz="2625" b="1">
                <a:solidFill>
                  <a:srgbClr val="FFFFFF"/>
                </a:solidFill>
                <a:latin typeface="Plus Jakarta Sans"/>
              </a:rPr>
              <a:t>Discussion</a:t>
            </a:r>
          </a:p>
        </p:txBody>
      </p:sp>
      <p:sp>
        <p:nvSpPr>
          <p:cNvPr id="9010" name="Google Shape;50;p7"/>
          <p:cNvSpPr/>
          <p:nvPr/>
        </p:nvSpPr>
        <p:spPr>
          <a:xfrm>
            <a:off x="10810875" y="857250"/>
            <a:ext cx="314325" cy="314325"/>
          </a:xfrm>
          <a:custGeom>
            <a:avLst/>
            <a:gdLst/>
            <a:ahLst/>
            <a:cxnLst/>
            <a:rect l="l" t="t" r="r" b="b"/>
            <a:pathLst>
              <a:path w="615314" h="615315" extrusionOk="0">
                <a:moveTo>
                  <a:pt x="307372" y="0"/>
                </a:moveTo>
                <a:lnTo>
                  <a:pt x="295063" y="64094"/>
                </a:lnTo>
                <a:lnTo>
                  <a:pt x="281976" y="117458"/>
                </a:lnTo>
                <a:lnTo>
                  <a:pt x="266867" y="161336"/>
                </a:lnTo>
                <a:lnTo>
                  <a:pt x="248493" y="196971"/>
                </a:lnTo>
                <a:lnTo>
                  <a:pt x="196971" y="248493"/>
                </a:lnTo>
                <a:lnTo>
                  <a:pt x="161336" y="266867"/>
                </a:lnTo>
                <a:lnTo>
                  <a:pt x="117458" y="281976"/>
                </a:lnTo>
                <a:lnTo>
                  <a:pt x="64094" y="295063"/>
                </a:lnTo>
                <a:lnTo>
                  <a:pt x="0" y="307372"/>
                </a:lnTo>
                <a:lnTo>
                  <a:pt x="64094" y="319682"/>
                </a:lnTo>
                <a:lnTo>
                  <a:pt x="117458" y="332769"/>
                </a:lnTo>
                <a:lnTo>
                  <a:pt x="161336" y="347878"/>
                </a:lnTo>
                <a:lnTo>
                  <a:pt x="196971" y="366252"/>
                </a:lnTo>
                <a:lnTo>
                  <a:pt x="248493" y="417773"/>
                </a:lnTo>
                <a:lnTo>
                  <a:pt x="266867" y="453409"/>
                </a:lnTo>
                <a:lnTo>
                  <a:pt x="281976" y="497287"/>
                </a:lnTo>
                <a:lnTo>
                  <a:pt x="295063" y="550651"/>
                </a:lnTo>
                <a:lnTo>
                  <a:pt x="307372" y="614745"/>
                </a:lnTo>
                <a:lnTo>
                  <a:pt x="319682" y="550651"/>
                </a:lnTo>
                <a:lnTo>
                  <a:pt x="332769" y="497287"/>
                </a:lnTo>
                <a:lnTo>
                  <a:pt x="347878" y="453409"/>
                </a:lnTo>
                <a:lnTo>
                  <a:pt x="366252" y="417773"/>
                </a:lnTo>
                <a:lnTo>
                  <a:pt x="417773" y="366252"/>
                </a:lnTo>
                <a:lnTo>
                  <a:pt x="453409" y="347878"/>
                </a:lnTo>
                <a:lnTo>
                  <a:pt x="497287" y="332769"/>
                </a:lnTo>
                <a:lnTo>
                  <a:pt x="550651" y="319682"/>
                </a:lnTo>
                <a:lnTo>
                  <a:pt x="614745" y="307372"/>
                </a:lnTo>
                <a:lnTo>
                  <a:pt x="550651" y="295063"/>
                </a:lnTo>
                <a:lnTo>
                  <a:pt x="497287" y="281976"/>
                </a:lnTo>
                <a:lnTo>
                  <a:pt x="453409" y="266867"/>
                </a:lnTo>
                <a:lnTo>
                  <a:pt x="417773" y="248493"/>
                </a:lnTo>
                <a:lnTo>
                  <a:pt x="366252" y="196971"/>
                </a:lnTo>
                <a:lnTo>
                  <a:pt x="347878" y="161336"/>
                </a:lnTo>
                <a:lnTo>
                  <a:pt x="332769" y="117458"/>
                </a:lnTo>
                <a:lnTo>
                  <a:pt x="319682" y="64094"/>
                </a:lnTo>
                <a:lnTo>
                  <a:pt x="307372" y="0"/>
                </a:lnTo>
                <a:close/>
              </a:path>
            </a:pathLst>
          </a:custGeom>
          <a:solidFill>
            <a:srgbClr val="89FF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61616"/>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89FF00"/>
                </a:solidFill>
                <a:latin typeface="Plus Jakarta Sans" pitchFamily="34" charset="0"/>
                <a:ea typeface="Segoe UI" pitchFamily="34" charset="-122"/>
                <a:cs typeface="Segoe UI" pitchFamily="34" charset="-120"/>
              </a:rPr>
              <a:t>AFTER THE IMPLANT</a:t>
            </a:r>
            <a:endParaRPr lang="en-US" sz="950" dirty="0">
              <a:latin typeface="Plus Jakarta Sans"/>
            </a:endParaRPr>
          </a:p>
        </p:txBody>
      </p:sp>
      <p:sp>
        <p:nvSpPr>
          <p:cNvPr id="4" name="Shape 2"/>
          <p:cNvSpPr/>
          <p:nvPr/>
        </p:nvSpPr>
        <p:spPr>
          <a:xfrm>
            <a:off x="640080" y="1920240"/>
            <a:ext cx="457200" cy="457200"/>
          </a:xfrm>
          <a:prstGeom prst="ellipse">
            <a:avLst/>
          </a:prstGeom>
          <a:solidFill>
            <a:srgbClr val="89FF00"/>
          </a:solidFill>
          <a:ln/>
        </p:spPr>
      </p:sp>
      <p:sp>
        <p:nvSpPr>
          <p:cNvPr id="5" name="Text 3"/>
          <p:cNvSpPr txBox="1"/>
          <p:nvPr/>
        </p:nvSpPr>
        <p:spPr>
          <a:xfrm>
            <a:off x="640080" y="19202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Plus Jakarta Sans" pitchFamily="34" charset="0"/>
                <a:ea typeface="Segoe UI Semibold" pitchFamily="34" charset="-122"/>
                <a:cs typeface="Segoe UI Semibold" pitchFamily="34" charset="-120"/>
              </a:rPr>
              <a:t>1</a:t>
            </a:r>
            <a:endParaRPr lang="en-US" sz="1400" dirty="0">
              <a:latin typeface="Plus Jakarta Sans"/>
            </a:endParaRPr>
          </a:p>
        </p:txBody>
      </p:sp>
      <p:sp>
        <p:nvSpPr>
          <p:cNvPr id="6" name="Text 4"/>
          <p:cNvSpPr txBox="1"/>
          <p:nvPr/>
        </p:nvSpPr>
        <p:spPr>
          <a:xfrm>
            <a:off x="1371600" y="1783080"/>
            <a:ext cx="10180015" cy="731520"/>
          </a:xfrm>
          <a:prstGeom prst="rect">
            <a:avLst/>
          </a:prstGeom>
          <a:noFill/>
          <a:ln/>
        </p:spPr>
        <p:txBody>
          <a:bodyPr wrap="square" lIns="0" tIns="0" rIns="0" bIns="0" rtlCol="0" anchor="ctr"/>
          <a:lstStyle/>
          <a:p>
            <a:pPr algn="l" indent="0" marL="0">
              <a:lnSpc>
                <a:spcPct val="105000"/>
              </a:lnSpc>
              <a:buNone/>
            </a:pPr>
            <a:r>
              <a:rPr lang="en-US" sz="2000" dirty="0">
                <a:solidFill>
                  <a:srgbClr val="F4F5F7"/>
                </a:solidFill>
                <a:latin typeface="Plus Jakarta Sans" pitchFamily="34" charset="0"/>
                <a:ea typeface="Segoe UI Semibold" pitchFamily="34" charset="-122"/>
                <a:cs typeface="Segoe UI Semibold" pitchFamily="34" charset="-120"/>
              </a:rPr>
              <a:t>Select the patient: a shown stress leak, a safe bladder, reliable emptying and a pump he can use</a:t>
            </a:r>
            <a:endParaRPr lang="en-US" sz="2000" dirty="0">
              <a:latin typeface="Plus Jakarta Sans"/>
            </a:endParaRPr>
          </a:p>
        </p:txBody>
      </p:sp>
      <p:sp>
        <p:nvSpPr>
          <p:cNvPr id="7" name="Shape 5"/>
          <p:cNvSpPr/>
          <p:nvPr/>
        </p:nvSpPr>
        <p:spPr>
          <a:xfrm>
            <a:off x="640080" y="2788920"/>
            <a:ext cx="457200" cy="457200"/>
          </a:xfrm>
          <a:prstGeom prst="ellipse">
            <a:avLst/>
          </a:prstGeom>
          <a:solidFill>
            <a:srgbClr val="89FF00"/>
          </a:solidFill>
          <a:ln/>
        </p:spPr>
      </p:sp>
      <p:sp>
        <p:nvSpPr>
          <p:cNvPr id="8" name="Text 6"/>
          <p:cNvSpPr txBox="1"/>
          <p:nvPr/>
        </p:nvSpPr>
        <p:spPr>
          <a:xfrm>
            <a:off x="640080" y="27889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Plus Jakarta Sans" pitchFamily="34" charset="0"/>
                <a:ea typeface="Segoe UI Semibold" pitchFamily="34" charset="-122"/>
                <a:cs typeface="Segoe UI Semibold" pitchFamily="34" charset="-120"/>
              </a:rPr>
              <a:t>2</a:t>
            </a:r>
            <a:endParaRPr lang="en-US" sz="1400" dirty="0">
              <a:latin typeface="Plus Jakarta Sans"/>
            </a:endParaRPr>
          </a:p>
        </p:txBody>
      </p:sp>
      <p:sp>
        <p:nvSpPr>
          <p:cNvPr id="9" name="Text 7"/>
          <p:cNvSpPr txBox="1"/>
          <p:nvPr/>
        </p:nvSpPr>
        <p:spPr>
          <a:xfrm>
            <a:off x="1371600" y="2651760"/>
            <a:ext cx="10180015" cy="731520"/>
          </a:xfrm>
          <a:prstGeom prst="rect">
            <a:avLst/>
          </a:prstGeom>
          <a:noFill/>
          <a:ln/>
        </p:spPr>
        <p:txBody>
          <a:bodyPr wrap="square" lIns="0" tIns="0" rIns="0" bIns="0" rtlCol="0" anchor="ctr"/>
          <a:lstStyle/>
          <a:p>
            <a:pPr algn="l" indent="0" marL="0">
              <a:lnSpc>
                <a:spcPct val="105000"/>
              </a:lnSpc>
              <a:buNone/>
            </a:pPr>
            <a:r>
              <a:rPr lang="en-US" sz="2000" dirty="0">
                <a:solidFill>
                  <a:srgbClr val="F4F5F7"/>
                </a:solidFill>
                <a:latin typeface="Plus Jakarta Sans" pitchFamily="34" charset="0"/>
                <a:ea typeface="Segoe UI Semibold" pitchFamily="34" charset="-122"/>
                <a:cs typeface="Segoe UI Semibold" pitchFamily="34" charset="-120"/>
              </a:rPr>
              <a:t>Protect the urethra: keep the tissue, size the cuff without distortion, follow the device’s own protocol</a:t>
            </a:r>
            <a:endParaRPr lang="en-US" sz="2000" dirty="0">
              <a:latin typeface="Plus Jakarta Sans"/>
            </a:endParaRPr>
          </a:p>
        </p:txBody>
      </p:sp>
      <p:sp>
        <p:nvSpPr>
          <p:cNvPr id="10" name="Shape 8"/>
          <p:cNvSpPr/>
          <p:nvPr/>
        </p:nvSpPr>
        <p:spPr>
          <a:xfrm>
            <a:off x="640080" y="3657600"/>
            <a:ext cx="457200" cy="457200"/>
          </a:xfrm>
          <a:prstGeom prst="ellipse">
            <a:avLst/>
          </a:prstGeom>
          <a:solidFill>
            <a:srgbClr val="89FF00"/>
          </a:solidFill>
          <a:ln/>
        </p:spPr>
      </p:sp>
      <p:sp>
        <p:nvSpPr>
          <p:cNvPr id="11" name="Text 9"/>
          <p:cNvSpPr txBox="1"/>
          <p:nvPr/>
        </p:nvSpPr>
        <p:spPr>
          <a:xfrm>
            <a:off x="640080" y="36576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Plus Jakarta Sans" pitchFamily="34" charset="0"/>
                <a:ea typeface="Segoe UI Semibold" pitchFamily="34" charset="-122"/>
                <a:cs typeface="Segoe UI Semibold" pitchFamily="34" charset="-120"/>
              </a:rPr>
              <a:t>3</a:t>
            </a:r>
            <a:endParaRPr lang="en-US" sz="1400" dirty="0">
              <a:latin typeface="Plus Jakarta Sans"/>
            </a:endParaRPr>
          </a:p>
        </p:txBody>
      </p:sp>
      <p:sp>
        <p:nvSpPr>
          <p:cNvPr id="12" name="Text 10"/>
          <p:cNvSpPr txBox="1"/>
          <p:nvPr/>
        </p:nvSpPr>
        <p:spPr>
          <a:xfrm>
            <a:off x="1371600" y="3520440"/>
            <a:ext cx="10180015" cy="731520"/>
          </a:xfrm>
          <a:prstGeom prst="rect">
            <a:avLst/>
          </a:prstGeom>
          <a:noFill/>
          <a:ln/>
        </p:spPr>
        <p:txBody>
          <a:bodyPr wrap="square" lIns="0" tIns="0" rIns="0" bIns="0" rtlCol="0" anchor="ctr"/>
          <a:lstStyle/>
          <a:p>
            <a:pPr algn="l" indent="0" marL="0">
              <a:lnSpc>
                <a:spcPct val="105000"/>
              </a:lnSpc>
              <a:buNone/>
            </a:pPr>
            <a:r>
              <a:rPr lang="en-US" sz="2000" dirty="0">
                <a:solidFill>
                  <a:srgbClr val="F4F5F7"/>
                </a:solidFill>
                <a:latin typeface="Plus Jakarta Sans" pitchFamily="34" charset="0"/>
                <a:ea typeface="Segoe UI Semibold" pitchFamily="34" charset="-122"/>
                <a:cs typeface="Segoe UI Semibold" pitchFamily="34" charset="-120"/>
              </a:rPr>
              <a:t>When a late leak returns, diagnose it before you revise: his technique, the urethra, the mechanics, the bladder</a:t>
            </a:r>
            <a:endParaRPr lang="en-US" sz="2000" dirty="0">
              <a:latin typeface="Plus Jakarta Sans"/>
            </a:endParaRPr>
          </a:p>
        </p:txBody>
      </p:sp>
      <p:sp>
        <p:nvSpPr>
          <p:cNvPr id="18" name="Text 16"/>
          <p:cNvSpPr txBox="1"/>
          <p:nvPr/>
        </p:nvSpPr>
        <p:spPr>
          <a:xfrm>
            <a:off x="640080" y="6362700"/>
            <a:ext cx="10911535" cy="274320"/>
          </a:xfrm>
          <a:prstGeom prst="rect">
            <a:avLst/>
          </a:prstGeom>
          <a:noFill/>
          <a:ln/>
        </p:spPr>
        <p:txBody>
          <a:bodyPr wrap="square" lIns="0" tIns="0" rIns="0" bIns="0" rtlCol="0" anchor="ctr"/>
          <a:lstStyle/>
          <a:p>
            <a:pPr algn="l" indent="0" marL="0">
              <a:buNone/>
            </a:pPr>
            <a:r>
              <a:rPr lang="en-US" sz="1050" dirty="0">
                <a:solidFill>
                  <a:srgbClr val="AFAFAF"/>
                </a:solidFill>
                <a:latin typeface="Plus Jakarta Sans" pitchFamily="34" charset="0"/>
                <a:ea typeface="Segoe UI" pitchFamily="34" charset="-122"/>
                <a:cs typeface="Segoe UI" pitchFamily="34" charset="-120"/>
              </a:rPr>
              <a:t>Rigicon Advanced Training Event · Liverpool · 22–23 October 2026</a:t>
            </a:r>
            <a:endParaRPr lang="en-US" sz="1050" dirty="0">
              <a:latin typeface="Plus Jakarta Sans"/>
            </a:endParaRPr>
          </a:p>
        </p:txBody>
      </p:sp>
      <p:sp>
        <p:nvSpPr>
          <p:cNvPr id="9001" name="replacement-title">
            <a:extLst>
              <a:ext uri="{FF2B5EF4-FFF2-40B4-BE49-F238E27FC236}">
                <a16:creationId xmlns:a16="http://schemas.microsoft.com/office/drawing/2014/main" id="{4268583C-F2B2-48D7-B1AA-BBB5830D2774}"/>
              </a:ext>
            </a:extLst>
          </p:cNvPr>
          <p:cNvSpPr>
            <a:spLocks noGrp="1"/>
          </p:cNvSpPr>
          <p:nvPr/>
        </p:nvSpPr>
        <p:spPr>
          <a:xfrm>
            <a:off x="638175" y="752475"/>
            <a:ext cx="10915650" cy="800100"/>
          </a:xfrm>
          <a:prstGeom prst="rect">
            <a:avLst/>
          </a:prstGeom>
          <a:noFill/>
          <a:ln w="0">
            <a:noFill/>
          </a:ln>
        </p:spPr>
        <p:txBody>
          <a:bodyPr anchor="ctr"/>
          <a:lstStyle>
            <a:defPPr>
              <a:defRPr sz="2625" b="1">
                <a:solidFill>
                  <a:srgbClr val="FFFFFF"/>
                </a:solidFill>
                <a:latin typeface="Plus Jakarta Sans"/>
              </a:defRPr>
            </a:defPPr>
            <a:lvl1pPr>
              <a:defRPr sz="2625" b="1">
                <a:solidFill>
                  <a:srgbClr val="FFFFFF"/>
                </a:solidFill>
                <a:latin typeface="Plus Jakarta Sans"/>
              </a:defRPr>
            </a:lvl1pPr>
            <a:lvl2pPr>
              <a:defRPr sz="2625" b="1">
                <a:solidFill>
                  <a:srgbClr val="FFFFFF"/>
                </a:solidFill>
                <a:latin typeface="Plus Jakarta Sans"/>
              </a:defRPr>
            </a:lvl2pPr>
            <a:lvl3pPr>
              <a:defRPr sz="2625" b="1">
                <a:solidFill>
                  <a:srgbClr val="FFFFFF"/>
                </a:solidFill>
                <a:latin typeface="Plus Jakarta Sans"/>
              </a:defRPr>
            </a:lvl3pPr>
            <a:lvl4pPr>
              <a:defRPr sz="2625" b="1">
                <a:solidFill>
                  <a:srgbClr val="FFFFFF"/>
                </a:solidFill>
                <a:latin typeface="Plus Jakarta Sans"/>
              </a:defRPr>
            </a:lvl4pPr>
            <a:lvl5pPr>
              <a:defRPr sz="2625" b="1">
                <a:solidFill>
                  <a:srgbClr val="FFFFFF"/>
                </a:solidFill>
                <a:latin typeface="Plus Jakarta Sans"/>
              </a:defRPr>
            </a:lvl5pPr>
            <a:lvl6pPr>
              <a:defRPr sz="2625" b="1">
                <a:solidFill>
                  <a:srgbClr val="FFFFFF"/>
                </a:solidFill>
                <a:latin typeface="Plus Jakarta Sans"/>
              </a:defRPr>
            </a:lvl6pPr>
            <a:lvl7pPr>
              <a:defRPr sz="2625" b="1">
                <a:solidFill>
                  <a:srgbClr val="FFFFFF"/>
                </a:solidFill>
                <a:latin typeface="Plus Jakarta Sans"/>
              </a:defRPr>
            </a:lvl7pPr>
            <a:lvl8pPr>
              <a:defRPr sz="2625" b="1">
                <a:solidFill>
                  <a:srgbClr val="FFFFFF"/>
                </a:solidFill>
                <a:latin typeface="Plus Jakarta Sans"/>
              </a:defRPr>
            </a:lvl8pPr>
            <a:lvl9pPr>
              <a:defRPr sz="2625" b="1">
                <a:solidFill>
                  <a:srgbClr val="FFFFFF"/>
                </a:solidFill>
                <a:latin typeface="Plus Jakarta Sans"/>
              </a:defRPr>
            </a:lvl9pPr>
          </a:lstStyle>
          <a:p>
            <a:pPr>
              <a:defRPr sz="2625" b="1">
                <a:solidFill>
                  <a:srgbClr val="FFFFFF"/>
                </a:solidFill>
                <a:latin typeface="Plus Jakarta Sans"/>
              </a:defRPr>
            </a:pPr>
            <a:r>
              <a:rPr sz="2625" b="1">
                <a:solidFill>
                  <a:srgbClr val="FFFFFF"/>
                </a:solidFill>
                <a:latin typeface="Plus Jakarta Sans"/>
              </a:rPr>
              <a:t>Conclusion</a:t>
            </a:r>
          </a:p>
        </p:txBody>
      </p:sp>
      <p:sp>
        <p:nvSpPr>
          <p:cNvPr id="9100" name="presenter-0-name">
            <a:extLst>
              <a:ext uri="{FF2B5EF4-FFF2-40B4-BE49-F238E27FC236}">
                <a16:creationId xmlns:a16="http://schemas.microsoft.com/office/drawing/2014/main" id="{812BB58B-742C-4DB5-B822-5C8C6FE86F0C}"/>
              </a:ext>
            </a:extLst>
          </p:cNvPr>
          <p:cNvSpPr>
            <a:spLocks noGrp="1"/>
          </p:cNvSpPr>
          <p:nvPr/>
        </p:nvSpPr>
        <p:spPr>
          <a:xfrm>
            <a:off x="638175" y="5067300"/>
            <a:ext cx="3429000" cy="276225"/>
          </a:xfrm>
          <a:prstGeom prst="rect">
            <a:avLst/>
          </a:prstGeom>
          <a:noFill/>
          <a:ln w="0">
            <a:noFill/>
          </a:ln>
        </p:spPr>
        <p:txBody>
          <a:bodyPr anchor="ctr"/>
          <a:lstStyle>
            <a:defPPr>
              <a:defRPr sz="1500" b="1">
                <a:solidFill>
                  <a:srgbClr val="FFFFFF"/>
                </a:solidFill>
              </a:defRPr>
            </a:defPPr>
            <a:lvl1pPr>
              <a:defRPr sz="1500" b="1">
                <a:solidFill>
                  <a:srgbClr val="FFFFFF"/>
                </a:solidFill>
              </a:defRPr>
            </a:lvl1pPr>
            <a:lvl2pPr>
              <a:defRPr sz="1500" b="1">
                <a:solidFill>
                  <a:srgbClr val="FFFFFF"/>
                </a:solidFill>
              </a:defRPr>
            </a:lvl2pPr>
            <a:lvl3pPr>
              <a:defRPr sz="1500" b="1">
                <a:solidFill>
                  <a:srgbClr val="FFFFFF"/>
                </a:solidFill>
              </a:defRPr>
            </a:lvl3pPr>
            <a:lvl4pPr>
              <a:defRPr sz="1500" b="1">
                <a:solidFill>
                  <a:srgbClr val="FFFFFF"/>
                </a:solidFill>
              </a:defRPr>
            </a:lvl4pPr>
            <a:lvl5pPr>
              <a:defRPr sz="1500" b="1">
                <a:solidFill>
                  <a:srgbClr val="FFFFFF"/>
                </a:solidFill>
              </a:defRPr>
            </a:lvl5pPr>
            <a:lvl6pPr>
              <a:defRPr sz="1500" b="1">
                <a:solidFill>
                  <a:srgbClr val="FFFFFF"/>
                </a:solidFill>
              </a:defRPr>
            </a:lvl6pPr>
            <a:lvl7pPr>
              <a:defRPr sz="1500" b="1">
                <a:solidFill>
                  <a:srgbClr val="FFFFFF"/>
                </a:solidFill>
              </a:defRPr>
            </a:lvl7pPr>
            <a:lvl8pPr>
              <a:defRPr sz="1500" b="1">
                <a:solidFill>
                  <a:srgbClr val="FFFFFF"/>
                </a:solidFill>
              </a:defRPr>
            </a:lvl8pPr>
            <a:lvl9pPr>
              <a:defRPr sz="1500" b="1">
                <a:solidFill>
                  <a:srgbClr val="FFFFFF"/>
                </a:solidFill>
              </a:defRPr>
            </a:lvl9pPr>
          </a:lstStyle>
          <a:p>
            <a:pPr>
              <a:defRPr sz="1500" b="1">
                <a:solidFill>
                  <a:srgbClr val="FFFFFF"/>
                </a:solidFill>
              </a:defRPr>
            </a:pPr>
            <a:r>
              <a:rPr sz="1500" b="1">
                <a:solidFill>
                  <a:srgbClr val="FFFFFF"/>
                </a:solidFill>
              </a:rPr>
              <a:t>Mr Andrew Baird</a:t>
            </a:r>
          </a:p>
        </p:txBody>
      </p:sp>
      <p:sp>
        <p:nvSpPr>
          <p:cNvPr id="9101" name="presenter-0-role">
            <a:extLst>
              <a:ext uri="{FF2B5EF4-FFF2-40B4-BE49-F238E27FC236}">
                <a16:creationId xmlns:a16="http://schemas.microsoft.com/office/drawing/2014/main" id="{F40774D3-70E4-439B-95D4-97EEEF51D6EF}"/>
              </a:ext>
            </a:extLst>
          </p:cNvPr>
          <p:cNvSpPr>
            <a:spLocks noGrp="1"/>
          </p:cNvSpPr>
          <p:nvPr/>
        </p:nvSpPr>
        <p:spPr>
          <a:xfrm>
            <a:off x="638175" y="5372100"/>
            <a:ext cx="3429000" cy="228600"/>
          </a:xfrm>
          <a:prstGeom prst="rect">
            <a:avLst/>
          </a:prstGeom>
          <a:noFill/>
          <a:ln w="0">
            <a:noFill/>
          </a:ln>
        </p:spPr>
        <p:txBody>
          <a:bodyPr anchor="ctr"/>
          <a:lstStyle>
            <a:defPPr>
              <a:defRPr sz="1275" b="0">
                <a:solidFill>
                  <a:srgbClr val="BFBFBF"/>
                </a:solidFill>
              </a:defRPr>
            </a:defPPr>
            <a:lvl1pPr>
              <a:defRPr sz="1275" b="0">
                <a:solidFill>
                  <a:srgbClr val="BFBFBF"/>
                </a:solidFill>
              </a:defRPr>
            </a:lvl1pPr>
            <a:lvl2pPr>
              <a:defRPr sz="1275" b="0">
                <a:solidFill>
                  <a:srgbClr val="BFBFBF"/>
                </a:solidFill>
              </a:defRPr>
            </a:lvl2pPr>
            <a:lvl3pPr>
              <a:defRPr sz="1275" b="0">
                <a:solidFill>
                  <a:srgbClr val="BFBFBF"/>
                </a:solidFill>
              </a:defRPr>
            </a:lvl3pPr>
            <a:lvl4pPr>
              <a:defRPr sz="1275" b="0">
                <a:solidFill>
                  <a:srgbClr val="BFBFBF"/>
                </a:solidFill>
              </a:defRPr>
            </a:lvl4pPr>
            <a:lvl5pPr>
              <a:defRPr sz="1275" b="0">
                <a:solidFill>
                  <a:srgbClr val="BFBFBF"/>
                </a:solidFill>
              </a:defRPr>
            </a:lvl5pPr>
            <a:lvl6pPr>
              <a:defRPr sz="1275" b="0">
                <a:solidFill>
                  <a:srgbClr val="BFBFBF"/>
                </a:solidFill>
              </a:defRPr>
            </a:lvl6pPr>
            <a:lvl7pPr>
              <a:defRPr sz="1275" b="0">
                <a:solidFill>
                  <a:srgbClr val="BFBFBF"/>
                </a:solidFill>
              </a:defRPr>
            </a:lvl7pPr>
            <a:lvl8pPr>
              <a:defRPr sz="1275" b="0">
                <a:solidFill>
                  <a:srgbClr val="BFBFBF"/>
                </a:solidFill>
              </a:defRPr>
            </a:lvl8pPr>
            <a:lvl9pPr>
              <a:defRPr sz="1275" b="0">
                <a:solidFill>
                  <a:srgbClr val="BFBFBF"/>
                </a:solidFill>
              </a:defRPr>
            </a:lvl9pPr>
          </a:lstStyle>
          <a:p>
            <a:pPr>
              <a:defRPr sz="1275" b="0">
                <a:solidFill>
                  <a:srgbClr val="BFBFBF"/>
                </a:solidFill>
              </a:defRPr>
            </a:pPr>
            <a:r>
              <a:rPr sz="1275" b="0">
                <a:solidFill>
                  <a:srgbClr val="BFBFBF"/>
                </a:solidFill>
              </a:rPr>
              <a:t>Consultant Urologist</a:t>
            </a:r>
          </a:p>
        </p:txBody>
      </p:sp>
      <p:sp>
        <p:nvSpPr>
          <p:cNvPr id="9102" name="presenter-0-institution">
            <a:extLst>
              <a:ext uri="{FF2B5EF4-FFF2-40B4-BE49-F238E27FC236}">
                <a16:creationId xmlns:a16="http://schemas.microsoft.com/office/drawing/2014/main" id="{E3279962-D313-41A0-9BA1-5D6528EBAC9E}"/>
              </a:ext>
            </a:extLst>
          </p:cNvPr>
          <p:cNvSpPr>
            <a:spLocks noGrp="1"/>
          </p:cNvSpPr>
          <p:nvPr/>
        </p:nvSpPr>
        <p:spPr>
          <a:xfrm>
            <a:off x="638175" y="5638800"/>
            <a:ext cx="3429000" cy="247650"/>
          </a:xfrm>
          <a:prstGeom prst="rect">
            <a:avLst/>
          </a:prstGeom>
          <a:noFill/>
          <a:ln w="0">
            <a:noFill/>
          </a:ln>
        </p:spPr>
        <p:txBody>
          <a:bodyPr anchor="ctr"/>
          <a:lstStyle>
            <a:defPPr>
              <a:defRPr sz="1125" b="0">
                <a:solidFill>
                  <a:srgbClr val="BFBFBF"/>
                </a:solidFill>
              </a:defRPr>
            </a:defPPr>
            <a:lvl1pPr>
              <a:defRPr sz="1125" b="0">
                <a:solidFill>
                  <a:srgbClr val="BFBFBF"/>
                </a:solidFill>
              </a:defRPr>
            </a:lvl1pPr>
            <a:lvl2pPr>
              <a:defRPr sz="1125" b="0">
                <a:solidFill>
                  <a:srgbClr val="BFBFBF"/>
                </a:solidFill>
              </a:defRPr>
            </a:lvl2pPr>
            <a:lvl3pPr>
              <a:defRPr sz="1125" b="0">
                <a:solidFill>
                  <a:srgbClr val="BFBFBF"/>
                </a:solidFill>
              </a:defRPr>
            </a:lvl3pPr>
            <a:lvl4pPr>
              <a:defRPr sz="1125" b="0">
                <a:solidFill>
                  <a:srgbClr val="BFBFBF"/>
                </a:solidFill>
              </a:defRPr>
            </a:lvl4pPr>
            <a:lvl5pPr>
              <a:defRPr sz="1125" b="0">
                <a:solidFill>
                  <a:srgbClr val="BFBFBF"/>
                </a:solidFill>
              </a:defRPr>
            </a:lvl5pPr>
            <a:lvl6pPr>
              <a:defRPr sz="1125" b="0">
                <a:solidFill>
                  <a:srgbClr val="BFBFBF"/>
                </a:solidFill>
              </a:defRPr>
            </a:lvl6pPr>
            <a:lvl7pPr>
              <a:defRPr sz="1125" b="0">
                <a:solidFill>
                  <a:srgbClr val="BFBFBF"/>
                </a:solidFill>
              </a:defRPr>
            </a:lvl7pPr>
            <a:lvl8pPr>
              <a:defRPr sz="1125" b="0">
                <a:solidFill>
                  <a:srgbClr val="BFBFBF"/>
                </a:solidFill>
              </a:defRPr>
            </a:lvl8pPr>
            <a:lvl9pPr>
              <a:defRPr sz="1125" b="0">
                <a:solidFill>
                  <a:srgbClr val="BFBFBF"/>
                </a:solidFill>
              </a:defRPr>
            </a:lvl9pPr>
          </a:lstStyle>
          <a:p>
            <a:pPr>
              <a:defRPr sz="1125" b="0">
                <a:solidFill>
                  <a:srgbClr val="BFBFBF"/>
                </a:solidFill>
              </a:defRPr>
            </a:pPr>
            <a:r>
              <a:rPr sz="1125" b="0">
                <a:solidFill>
                  <a:srgbClr val="BFBFBF"/>
                </a:solidFill>
              </a:rPr>
              <a:t>Royal Liverpool University Hospital</a:t>
            </a:r>
          </a:p>
        </p:txBody>
      </p:sp>
      <p:sp>
        <p:nvSpPr>
          <p:cNvPr id="9103" name="presenter-1-name">
            <a:extLst>
              <a:ext uri="{FF2B5EF4-FFF2-40B4-BE49-F238E27FC236}">
                <a16:creationId xmlns:a16="http://schemas.microsoft.com/office/drawing/2014/main" id="{1AB3A77A-3E0C-467F-83A0-5F0DA3FA719D}"/>
              </a:ext>
            </a:extLst>
          </p:cNvPr>
          <p:cNvSpPr>
            <a:spLocks noGrp="1"/>
          </p:cNvSpPr>
          <p:nvPr/>
        </p:nvSpPr>
        <p:spPr>
          <a:xfrm>
            <a:off x="4371975" y="5067300"/>
            <a:ext cx="3429000" cy="276225"/>
          </a:xfrm>
          <a:prstGeom prst="rect">
            <a:avLst/>
          </a:prstGeom>
          <a:noFill/>
          <a:ln w="0">
            <a:noFill/>
          </a:ln>
        </p:spPr>
        <p:txBody>
          <a:bodyPr anchor="ctr"/>
          <a:lstStyle>
            <a:defPPr>
              <a:defRPr sz="1500" b="1">
                <a:solidFill>
                  <a:srgbClr val="FFFFFF"/>
                </a:solidFill>
              </a:defRPr>
            </a:defPPr>
            <a:lvl1pPr>
              <a:defRPr sz="1500" b="1">
                <a:solidFill>
                  <a:srgbClr val="FFFFFF"/>
                </a:solidFill>
              </a:defRPr>
            </a:lvl1pPr>
            <a:lvl2pPr>
              <a:defRPr sz="1500" b="1">
                <a:solidFill>
                  <a:srgbClr val="FFFFFF"/>
                </a:solidFill>
              </a:defRPr>
            </a:lvl2pPr>
            <a:lvl3pPr>
              <a:defRPr sz="1500" b="1">
                <a:solidFill>
                  <a:srgbClr val="FFFFFF"/>
                </a:solidFill>
              </a:defRPr>
            </a:lvl3pPr>
            <a:lvl4pPr>
              <a:defRPr sz="1500" b="1">
                <a:solidFill>
                  <a:srgbClr val="FFFFFF"/>
                </a:solidFill>
              </a:defRPr>
            </a:lvl4pPr>
            <a:lvl5pPr>
              <a:defRPr sz="1500" b="1">
                <a:solidFill>
                  <a:srgbClr val="FFFFFF"/>
                </a:solidFill>
              </a:defRPr>
            </a:lvl5pPr>
            <a:lvl6pPr>
              <a:defRPr sz="1500" b="1">
                <a:solidFill>
                  <a:srgbClr val="FFFFFF"/>
                </a:solidFill>
              </a:defRPr>
            </a:lvl6pPr>
            <a:lvl7pPr>
              <a:defRPr sz="1500" b="1">
                <a:solidFill>
                  <a:srgbClr val="FFFFFF"/>
                </a:solidFill>
              </a:defRPr>
            </a:lvl7pPr>
            <a:lvl8pPr>
              <a:defRPr sz="1500" b="1">
                <a:solidFill>
                  <a:srgbClr val="FFFFFF"/>
                </a:solidFill>
              </a:defRPr>
            </a:lvl8pPr>
            <a:lvl9pPr>
              <a:defRPr sz="1500" b="1">
                <a:solidFill>
                  <a:srgbClr val="FFFFFF"/>
                </a:solidFill>
              </a:defRPr>
            </a:lvl9pPr>
          </a:lstStyle>
          <a:p>
            <a:pPr>
              <a:defRPr sz="1500" b="1">
                <a:solidFill>
                  <a:srgbClr val="FFFFFF"/>
                </a:solidFill>
              </a:defRPr>
            </a:pPr>
            <a:r>
              <a:rPr sz="1500" b="1">
                <a:solidFill>
                  <a:srgbClr val="FFFFFF"/>
                </a:solidFill>
              </a:rPr>
              <a:t>Mr Mohamed Abu Yousif</a:t>
            </a:r>
          </a:p>
        </p:txBody>
      </p:sp>
      <p:sp>
        <p:nvSpPr>
          <p:cNvPr id="9104" name="presenter-1-role">
            <a:extLst>
              <a:ext uri="{FF2B5EF4-FFF2-40B4-BE49-F238E27FC236}">
                <a16:creationId xmlns:a16="http://schemas.microsoft.com/office/drawing/2014/main" id="{2F044CFB-F2FA-4889-BB12-DD54A37409E2}"/>
              </a:ext>
            </a:extLst>
          </p:cNvPr>
          <p:cNvSpPr>
            <a:spLocks noGrp="1"/>
          </p:cNvSpPr>
          <p:nvPr/>
        </p:nvSpPr>
        <p:spPr>
          <a:xfrm>
            <a:off x="4371975" y="5372100"/>
            <a:ext cx="3429000" cy="228600"/>
          </a:xfrm>
          <a:prstGeom prst="rect">
            <a:avLst/>
          </a:prstGeom>
          <a:noFill/>
          <a:ln w="0">
            <a:noFill/>
          </a:ln>
        </p:spPr>
        <p:txBody>
          <a:bodyPr anchor="ctr"/>
          <a:lstStyle>
            <a:defPPr>
              <a:defRPr sz="1275" b="0">
                <a:solidFill>
                  <a:srgbClr val="BFBFBF"/>
                </a:solidFill>
              </a:defRPr>
            </a:defPPr>
            <a:lvl1pPr>
              <a:defRPr sz="1275" b="0">
                <a:solidFill>
                  <a:srgbClr val="BFBFBF"/>
                </a:solidFill>
              </a:defRPr>
            </a:lvl1pPr>
            <a:lvl2pPr>
              <a:defRPr sz="1275" b="0">
                <a:solidFill>
                  <a:srgbClr val="BFBFBF"/>
                </a:solidFill>
              </a:defRPr>
            </a:lvl2pPr>
            <a:lvl3pPr>
              <a:defRPr sz="1275" b="0">
                <a:solidFill>
                  <a:srgbClr val="BFBFBF"/>
                </a:solidFill>
              </a:defRPr>
            </a:lvl3pPr>
            <a:lvl4pPr>
              <a:defRPr sz="1275" b="0">
                <a:solidFill>
                  <a:srgbClr val="BFBFBF"/>
                </a:solidFill>
              </a:defRPr>
            </a:lvl4pPr>
            <a:lvl5pPr>
              <a:defRPr sz="1275" b="0">
                <a:solidFill>
                  <a:srgbClr val="BFBFBF"/>
                </a:solidFill>
              </a:defRPr>
            </a:lvl5pPr>
            <a:lvl6pPr>
              <a:defRPr sz="1275" b="0">
                <a:solidFill>
                  <a:srgbClr val="BFBFBF"/>
                </a:solidFill>
              </a:defRPr>
            </a:lvl6pPr>
            <a:lvl7pPr>
              <a:defRPr sz="1275" b="0">
                <a:solidFill>
                  <a:srgbClr val="BFBFBF"/>
                </a:solidFill>
              </a:defRPr>
            </a:lvl7pPr>
            <a:lvl8pPr>
              <a:defRPr sz="1275" b="0">
                <a:solidFill>
                  <a:srgbClr val="BFBFBF"/>
                </a:solidFill>
              </a:defRPr>
            </a:lvl8pPr>
            <a:lvl9pPr>
              <a:defRPr sz="1275" b="0">
                <a:solidFill>
                  <a:srgbClr val="BFBFBF"/>
                </a:solidFill>
              </a:defRPr>
            </a:lvl9pPr>
          </a:lstStyle>
          <a:p>
            <a:pPr>
              <a:defRPr sz="1275" b="0">
                <a:solidFill>
                  <a:srgbClr val="BFBFBF"/>
                </a:solidFill>
              </a:defRPr>
            </a:pPr>
            <a:r>
              <a:rPr sz="1275" b="0">
                <a:solidFill>
                  <a:srgbClr val="BFBFBF"/>
                </a:solidFill>
              </a:rPr>
              <a:t>Consultant Urologist</a:t>
            </a:r>
          </a:p>
        </p:txBody>
      </p:sp>
      <p:sp>
        <p:nvSpPr>
          <p:cNvPr id="9105" name="presenter-1-institution">
            <a:extLst>
              <a:ext uri="{FF2B5EF4-FFF2-40B4-BE49-F238E27FC236}">
                <a16:creationId xmlns:a16="http://schemas.microsoft.com/office/drawing/2014/main" id="{AEB8DB53-B63F-43EA-9FF1-05E7BC4C41A2}"/>
              </a:ext>
            </a:extLst>
          </p:cNvPr>
          <p:cNvSpPr>
            <a:spLocks noGrp="1"/>
          </p:cNvSpPr>
          <p:nvPr/>
        </p:nvSpPr>
        <p:spPr>
          <a:xfrm>
            <a:off x="4371975" y="5638800"/>
            <a:ext cx="3429000" cy="247650"/>
          </a:xfrm>
          <a:prstGeom prst="rect">
            <a:avLst/>
          </a:prstGeom>
          <a:noFill/>
          <a:ln w="0">
            <a:noFill/>
          </a:ln>
        </p:spPr>
        <p:txBody>
          <a:bodyPr anchor="ctr"/>
          <a:lstStyle>
            <a:defPPr>
              <a:defRPr sz="1125" b="0">
                <a:solidFill>
                  <a:srgbClr val="BFBFBF"/>
                </a:solidFill>
              </a:defRPr>
            </a:defPPr>
            <a:lvl1pPr>
              <a:defRPr sz="1125" b="0">
                <a:solidFill>
                  <a:srgbClr val="BFBFBF"/>
                </a:solidFill>
              </a:defRPr>
            </a:lvl1pPr>
            <a:lvl2pPr>
              <a:defRPr sz="1125" b="0">
                <a:solidFill>
                  <a:srgbClr val="BFBFBF"/>
                </a:solidFill>
              </a:defRPr>
            </a:lvl2pPr>
            <a:lvl3pPr>
              <a:defRPr sz="1125" b="0">
                <a:solidFill>
                  <a:srgbClr val="BFBFBF"/>
                </a:solidFill>
              </a:defRPr>
            </a:lvl3pPr>
            <a:lvl4pPr>
              <a:defRPr sz="1125" b="0">
                <a:solidFill>
                  <a:srgbClr val="BFBFBF"/>
                </a:solidFill>
              </a:defRPr>
            </a:lvl4pPr>
            <a:lvl5pPr>
              <a:defRPr sz="1125" b="0">
                <a:solidFill>
                  <a:srgbClr val="BFBFBF"/>
                </a:solidFill>
              </a:defRPr>
            </a:lvl5pPr>
            <a:lvl6pPr>
              <a:defRPr sz="1125" b="0">
                <a:solidFill>
                  <a:srgbClr val="BFBFBF"/>
                </a:solidFill>
              </a:defRPr>
            </a:lvl6pPr>
            <a:lvl7pPr>
              <a:defRPr sz="1125" b="0">
                <a:solidFill>
                  <a:srgbClr val="BFBFBF"/>
                </a:solidFill>
              </a:defRPr>
            </a:lvl7pPr>
            <a:lvl8pPr>
              <a:defRPr sz="1125" b="0">
                <a:solidFill>
                  <a:srgbClr val="BFBFBF"/>
                </a:solidFill>
              </a:defRPr>
            </a:lvl8pPr>
            <a:lvl9pPr>
              <a:defRPr sz="1125" b="0">
                <a:solidFill>
                  <a:srgbClr val="BFBFBF"/>
                </a:solidFill>
              </a:defRPr>
            </a:lvl9pPr>
          </a:lstStyle>
          <a:p>
            <a:pPr>
              <a:defRPr sz="1125" b="0">
                <a:solidFill>
                  <a:srgbClr val="BFBFBF"/>
                </a:solidFill>
              </a:defRPr>
            </a:pPr>
            <a:r>
              <a:rPr sz="1125" b="0">
                <a:solidFill>
                  <a:srgbClr val="BFBFBF"/>
                </a:solidFill>
              </a:rPr>
              <a:t>Royal Liverpool University Hospital</a:t>
            </a:r>
          </a:p>
        </p:txBody>
      </p:sp>
      <p:sp>
        <p:nvSpPr>
          <p:cNvPr id="9106" name="presenter-2-name">
            <a:extLst>
              <a:ext uri="{FF2B5EF4-FFF2-40B4-BE49-F238E27FC236}">
                <a16:creationId xmlns:a16="http://schemas.microsoft.com/office/drawing/2014/main" id="{1C25CDD9-0295-48E2-978B-2BCD68A29004}"/>
              </a:ext>
            </a:extLst>
          </p:cNvPr>
          <p:cNvSpPr>
            <a:spLocks noGrp="1"/>
          </p:cNvSpPr>
          <p:nvPr/>
        </p:nvSpPr>
        <p:spPr>
          <a:xfrm>
            <a:off x="8105775" y="5067300"/>
            <a:ext cx="3429000" cy="276225"/>
          </a:xfrm>
          <a:prstGeom prst="rect">
            <a:avLst/>
          </a:prstGeom>
          <a:noFill/>
          <a:ln w="0">
            <a:noFill/>
          </a:ln>
        </p:spPr>
        <p:txBody>
          <a:bodyPr anchor="ctr"/>
          <a:lstStyle>
            <a:defPPr>
              <a:defRPr sz="1500" b="1">
                <a:solidFill>
                  <a:srgbClr val="FFFFFF"/>
                </a:solidFill>
              </a:defRPr>
            </a:defPPr>
            <a:lvl1pPr>
              <a:defRPr sz="1500" b="1">
                <a:solidFill>
                  <a:srgbClr val="FFFFFF"/>
                </a:solidFill>
              </a:defRPr>
            </a:lvl1pPr>
            <a:lvl2pPr>
              <a:defRPr sz="1500" b="1">
                <a:solidFill>
                  <a:srgbClr val="FFFFFF"/>
                </a:solidFill>
              </a:defRPr>
            </a:lvl2pPr>
            <a:lvl3pPr>
              <a:defRPr sz="1500" b="1">
                <a:solidFill>
                  <a:srgbClr val="FFFFFF"/>
                </a:solidFill>
              </a:defRPr>
            </a:lvl3pPr>
            <a:lvl4pPr>
              <a:defRPr sz="1500" b="1">
                <a:solidFill>
                  <a:srgbClr val="FFFFFF"/>
                </a:solidFill>
              </a:defRPr>
            </a:lvl4pPr>
            <a:lvl5pPr>
              <a:defRPr sz="1500" b="1">
                <a:solidFill>
                  <a:srgbClr val="FFFFFF"/>
                </a:solidFill>
              </a:defRPr>
            </a:lvl5pPr>
            <a:lvl6pPr>
              <a:defRPr sz="1500" b="1">
                <a:solidFill>
                  <a:srgbClr val="FFFFFF"/>
                </a:solidFill>
              </a:defRPr>
            </a:lvl6pPr>
            <a:lvl7pPr>
              <a:defRPr sz="1500" b="1">
                <a:solidFill>
                  <a:srgbClr val="FFFFFF"/>
                </a:solidFill>
              </a:defRPr>
            </a:lvl7pPr>
            <a:lvl8pPr>
              <a:defRPr sz="1500" b="1">
                <a:solidFill>
                  <a:srgbClr val="FFFFFF"/>
                </a:solidFill>
              </a:defRPr>
            </a:lvl8pPr>
            <a:lvl9pPr>
              <a:defRPr sz="1500" b="1">
                <a:solidFill>
                  <a:srgbClr val="FFFFFF"/>
                </a:solidFill>
              </a:defRPr>
            </a:lvl9pPr>
          </a:lstStyle>
          <a:p>
            <a:pPr>
              <a:defRPr sz="1500" b="1">
                <a:solidFill>
                  <a:srgbClr val="FFFFFF"/>
                </a:solidFill>
              </a:defRPr>
            </a:pPr>
            <a:r>
              <a:rPr sz="1500" b="1">
                <a:solidFill>
                  <a:srgbClr val="FFFFFF"/>
                </a:solidFill>
              </a:rPr>
              <a:t>Nity G</a:t>
            </a:r>
          </a:p>
        </p:txBody>
      </p:sp>
      <p:sp>
        <p:nvSpPr>
          <p:cNvPr id="9107" name="presenter-2-role">
            <a:extLst>
              <a:ext uri="{FF2B5EF4-FFF2-40B4-BE49-F238E27FC236}">
                <a16:creationId xmlns:a16="http://schemas.microsoft.com/office/drawing/2014/main" id="{D9DA32E7-5CB2-464B-84B3-2249D0ABC242}"/>
              </a:ext>
            </a:extLst>
          </p:cNvPr>
          <p:cNvSpPr>
            <a:spLocks noGrp="1"/>
          </p:cNvSpPr>
          <p:nvPr/>
        </p:nvSpPr>
        <p:spPr>
          <a:xfrm>
            <a:off x="8105775" y="5372100"/>
            <a:ext cx="3429000" cy="228600"/>
          </a:xfrm>
          <a:prstGeom prst="rect">
            <a:avLst/>
          </a:prstGeom>
          <a:noFill/>
          <a:ln w="0">
            <a:noFill/>
          </a:ln>
        </p:spPr>
        <p:txBody>
          <a:bodyPr anchor="ctr"/>
          <a:lstStyle>
            <a:defPPr>
              <a:defRPr sz="1275" b="0">
                <a:solidFill>
                  <a:srgbClr val="BFBFBF"/>
                </a:solidFill>
              </a:defRPr>
            </a:defPPr>
            <a:lvl1pPr>
              <a:defRPr sz="1275" b="0">
                <a:solidFill>
                  <a:srgbClr val="BFBFBF"/>
                </a:solidFill>
              </a:defRPr>
            </a:lvl1pPr>
            <a:lvl2pPr>
              <a:defRPr sz="1275" b="0">
                <a:solidFill>
                  <a:srgbClr val="BFBFBF"/>
                </a:solidFill>
              </a:defRPr>
            </a:lvl2pPr>
            <a:lvl3pPr>
              <a:defRPr sz="1275" b="0">
                <a:solidFill>
                  <a:srgbClr val="BFBFBF"/>
                </a:solidFill>
              </a:defRPr>
            </a:lvl3pPr>
            <a:lvl4pPr>
              <a:defRPr sz="1275" b="0">
                <a:solidFill>
                  <a:srgbClr val="BFBFBF"/>
                </a:solidFill>
              </a:defRPr>
            </a:lvl4pPr>
            <a:lvl5pPr>
              <a:defRPr sz="1275" b="0">
                <a:solidFill>
                  <a:srgbClr val="BFBFBF"/>
                </a:solidFill>
              </a:defRPr>
            </a:lvl5pPr>
            <a:lvl6pPr>
              <a:defRPr sz="1275" b="0">
                <a:solidFill>
                  <a:srgbClr val="BFBFBF"/>
                </a:solidFill>
              </a:defRPr>
            </a:lvl6pPr>
            <a:lvl7pPr>
              <a:defRPr sz="1275" b="0">
                <a:solidFill>
                  <a:srgbClr val="BFBFBF"/>
                </a:solidFill>
              </a:defRPr>
            </a:lvl7pPr>
            <a:lvl8pPr>
              <a:defRPr sz="1275" b="0">
                <a:solidFill>
                  <a:srgbClr val="BFBFBF"/>
                </a:solidFill>
              </a:defRPr>
            </a:lvl8pPr>
            <a:lvl9pPr>
              <a:defRPr sz="1275" b="0">
                <a:solidFill>
                  <a:srgbClr val="BFBFBF"/>
                </a:solidFill>
              </a:defRPr>
            </a:lvl9pPr>
          </a:lstStyle>
          <a:p>
            <a:pPr>
              <a:defRPr sz="1275" b="0">
                <a:solidFill>
                  <a:srgbClr val="BFBFBF"/>
                </a:solidFill>
              </a:defRPr>
            </a:pPr>
            <a:r>
              <a:rPr sz="1275" b="0">
                <a:solidFill>
                  <a:srgbClr val="BFBFBF"/>
                </a:solidFill>
              </a:rPr>
              <a:t>ST5 Urology Registrar</a:t>
            </a:r>
          </a:p>
        </p:txBody>
      </p:sp>
      <p:sp>
        <p:nvSpPr>
          <p:cNvPr id="9108" name="presenter-2-institution">
            <a:extLst>
              <a:ext uri="{FF2B5EF4-FFF2-40B4-BE49-F238E27FC236}">
                <a16:creationId xmlns:a16="http://schemas.microsoft.com/office/drawing/2014/main" id="{1E106E19-1730-4192-9B9E-B84F52D734C1}"/>
              </a:ext>
            </a:extLst>
          </p:cNvPr>
          <p:cNvSpPr>
            <a:spLocks noGrp="1"/>
          </p:cNvSpPr>
          <p:nvPr/>
        </p:nvSpPr>
        <p:spPr>
          <a:xfrm>
            <a:off x="8105775" y="5638800"/>
            <a:ext cx="3429000" cy="247650"/>
          </a:xfrm>
          <a:prstGeom prst="rect">
            <a:avLst/>
          </a:prstGeom>
          <a:noFill/>
          <a:ln w="0">
            <a:noFill/>
          </a:ln>
        </p:spPr>
        <p:txBody>
          <a:bodyPr anchor="ctr"/>
          <a:lstStyle>
            <a:defPPr>
              <a:defRPr sz="1125" b="0">
                <a:solidFill>
                  <a:srgbClr val="BFBFBF"/>
                </a:solidFill>
              </a:defRPr>
            </a:defPPr>
            <a:lvl1pPr>
              <a:defRPr sz="1125" b="0">
                <a:solidFill>
                  <a:srgbClr val="BFBFBF"/>
                </a:solidFill>
              </a:defRPr>
            </a:lvl1pPr>
            <a:lvl2pPr>
              <a:defRPr sz="1125" b="0">
                <a:solidFill>
                  <a:srgbClr val="BFBFBF"/>
                </a:solidFill>
              </a:defRPr>
            </a:lvl2pPr>
            <a:lvl3pPr>
              <a:defRPr sz="1125" b="0">
                <a:solidFill>
                  <a:srgbClr val="BFBFBF"/>
                </a:solidFill>
              </a:defRPr>
            </a:lvl3pPr>
            <a:lvl4pPr>
              <a:defRPr sz="1125" b="0">
                <a:solidFill>
                  <a:srgbClr val="BFBFBF"/>
                </a:solidFill>
              </a:defRPr>
            </a:lvl4pPr>
            <a:lvl5pPr>
              <a:defRPr sz="1125" b="0">
                <a:solidFill>
                  <a:srgbClr val="BFBFBF"/>
                </a:solidFill>
              </a:defRPr>
            </a:lvl5pPr>
            <a:lvl6pPr>
              <a:defRPr sz="1125" b="0">
                <a:solidFill>
                  <a:srgbClr val="BFBFBF"/>
                </a:solidFill>
              </a:defRPr>
            </a:lvl6pPr>
            <a:lvl7pPr>
              <a:defRPr sz="1125" b="0">
                <a:solidFill>
                  <a:srgbClr val="BFBFBF"/>
                </a:solidFill>
              </a:defRPr>
            </a:lvl7pPr>
            <a:lvl8pPr>
              <a:defRPr sz="1125" b="0">
                <a:solidFill>
                  <a:srgbClr val="BFBFBF"/>
                </a:solidFill>
              </a:defRPr>
            </a:lvl8pPr>
            <a:lvl9pPr>
              <a:defRPr sz="1125" b="0">
                <a:solidFill>
                  <a:srgbClr val="BFBFBF"/>
                </a:solidFill>
              </a:defRPr>
            </a:lvl9pPr>
          </a:lstStyle>
          <a:p>
            <a:pPr>
              <a:defRPr sz="1125" b="0">
                <a:solidFill>
                  <a:srgbClr val="BFBFBF"/>
                </a:solidFill>
              </a:defRPr>
            </a:pPr>
            <a:r>
              <a:rPr sz="1125" b="0">
                <a:solidFill>
                  <a:srgbClr val="BFBFBF"/>
                </a:solidFill>
              </a:rPr>
              <a:t>Northwest (Mersey)</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61616"/>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05C489"/>
                </a:solidFill>
                <a:latin typeface="Plus Jakarta Sans" pitchFamily="34" charset="0"/>
                <a:ea typeface="Segoe UI" pitchFamily="34" charset="-122"/>
                <a:cs typeface="Segoe UI" pitchFamily="34" charset="-120"/>
              </a:rPr>
              <a:t>REFERENCES</a:t>
            </a:r>
            <a:endParaRPr lang="en-US" sz="950" dirty="0">
              <a:latin typeface="Plus Jakarta Sans"/>
            </a:endParaRPr>
          </a:p>
        </p:txBody>
      </p:sp>
      <p:sp>
        <p:nvSpPr>
          <p:cNvPr id="4" name="Text 2"/>
          <p:cNvSpPr txBox="1"/>
          <p:nvPr/>
        </p:nvSpPr>
        <p:spPr>
          <a:xfrm>
            <a:off x="640080" y="1737360"/>
            <a:ext cx="1234440" cy="420624"/>
          </a:xfrm>
          <a:prstGeom prst="rect">
            <a:avLst/>
          </a:prstGeom>
          <a:noFill/>
          <a:ln/>
        </p:spPr>
        <p:txBody>
          <a:bodyPr wrap="square" lIns="0" tIns="0" rIns="0" bIns="0" rtlCol="0" anchor="ctr"/>
          <a:lstStyle/>
          <a:p>
            <a:pPr algn="l" indent="0" marL="0">
              <a:buNone/>
            </a:pPr>
            <a:r>
              <a:rPr lang="en-US" sz="950" b="1" dirty="0">
                <a:solidFill>
                  <a:srgbClr val="05C489"/>
                </a:solidFill>
                <a:latin typeface="Plus Jakarta Sans" pitchFamily="34" charset="0"/>
                <a:ea typeface="Segoe UI" pitchFamily="34" charset="-122"/>
                <a:cs typeface="Segoe UI" pitchFamily="34" charset="-120"/>
              </a:rPr>
              <a:t>BAUS25</a:t>
            </a:r>
            <a:endParaRPr lang="en-US" sz="950" dirty="0">
              <a:latin typeface="Plus Jakarta Sans"/>
            </a:endParaRPr>
          </a:p>
        </p:txBody>
      </p:sp>
      <p:sp>
        <p:nvSpPr>
          <p:cNvPr id="5" name="Text 3">
            <a:hlinkClick r:id="rId1" tooltip=""/>
          </p:cNvPr>
          <p:cNvSpPr txBox="1"/>
          <p:nvPr/>
        </p:nvSpPr>
        <p:spPr>
          <a:xfrm>
            <a:off x="1920240" y="1737360"/>
            <a:ext cx="3992728" cy="420624"/>
          </a:xfrm>
          <a:prstGeom prst="rect">
            <a:avLst/>
          </a:prstGeom>
          <a:noFill/>
          <a:ln/>
        </p:spPr>
        <p:txBody>
          <a:bodyPr wrap="square" lIns="0" tIns="0" rIns="0" bIns="0" rtlCol="0" anchor="ctr"/>
          <a:lstStyle/>
          <a:p>
            <a:pPr algn="l" indent="0" marL="0">
              <a:buNone/>
            </a:pPr>
            <a:r>
              <a:rPr lang="en-US" sz="1150" u="sng" dirty="0">
                <a:solidFill>
                  <a:srgbClr val="FFFFFF"/>
                </a:solidFill>
                <a:latin typeface="Plus Jakarta Sans"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BAUS consensus, BJU Int 2025</a:t>
            </a:r>
            <a:endParaRPr lang="en-US" sz="1150" dirty="0">
              <a:latin typeface="Plus Jakarta Sans"/>
            </a:endParaRPr>
          </a:p>
        </p:txBody>
      </p:sp>
      <p:sp>
        <p:nvSpPr>
          <p:cNvPr id="6" name="Shape 4"/>
          <p:cNvSpPr/>
          <p:nvPr/>
        </p:nvSpPr>
        <p:spPr>
          <a:xfrm>
            <a:off x="640080" y="2157984"/>
            <a:ext cx="5272888" cy="0"/>
          </a:xfrm>
          <a:prstGeom prst="line">
            <a:avLst/>
          </a:prstGeom>
          <a:noFill/>
          <a:ln w="6350">
            <a:solidFill>
              <a:srgbClr val="3D3D3D"/>
            </a:solidFill>
            <a:prstDash val="solid"/>
          </a:ln>
        </p:spPr>
      </p:sp>
      <p:sp>
        <p:nvSpPr>
          <p:cNvPr id="7" name="Text 5"/>
          <p:cNvSpPr txBox="1"/>
          <p:nvPr/>
        </p:nvSpPr>
        <p:spPr>
          <a:xfrm>
            <a:off x="640080" y="2157984"/>
            <a:ext cx="1234440" cy="420624"/>
          </a:xfrm>
          <a:prstGeom prst="rect">
            <a:avLst/>
          </a:prstGeom>
          <a:noFill/>
          <a:ln/>
        </p:spPr>
        <p:txBody>
          <a:bodyPr wrap="square" lIns="0" tIns="0" rIns="0" bIns="0" rtlCol="0" anchor="ctr"/>
          <a:lstStyle/>
          <a:p>
            <a:pPr algn="l" indent="0" marL="0">
              <a:buNone/>
            </a:pPr>
            <a:r>
              <a:rPr lang="en-US" sz="950" b="1" dirty="0">
                <a:solidFill>
                  <a:srgbClr val="05C489"/>
                </a:solidFill>
                <a:latin typeface="Plus Jakarta Sans" pitchFamily="34" charset="0"/>
                <a:ea typeface="Segoe UI" pitchFamily="34" charset="-122"/>
                <a:cs typeface="Segoe UI" pitchFamily="34" charset="-120"/>
              </a:rPr>
              <a:t>EAU26</a:t>
            </a:r>
            <a:endParaRPr lang="en-US" sz="950" dirty="0">
              <a:latin typeface="Plus Jakarta Sans"/>
            </a:endParaRPr>
          </a:p>
        </p:txBody>
      </p:sp>
      <p:sp>
        <p:nvSpPr>
          <p:cNvPr id="8" name="Text 6">
            <a:hlinkClick r:id="rId2" tooltip=""/>
          </p:cNvPr>
          <p:cNvSpPr txBox="1"/>
          <p:nvPr/>
        </p:nvSpPr>
        <p:spPr>
          <a:xfrm>
            <a:off x="1920240" y="2157984"/>
            <a:ext cx="3992728" cy="420624"/>
          </a:xfrm>
          <a:prstGeom prst="rect">
            <a:avLst/>
          </a:prstGeom>
          <a:noFill/>
          <a:ln/>
        </p:spPr>
        <p:txBody>
          <a:bodyPr wrap="square" lIns="0" tIns="0" rIns="0" bIns="0" rtlCol="0" anchor="ctr"/>
          <a:lstStyle/>
          <a:p>
            <a:pPr algn="l" indent="0" marL="0">
              <a:buNone/>
            </a:pPr>
            <a:r>
              <a:rPr lang="en-US" sz="1150" u="sng" dirty="0">
                <a:solidFill>
                  <a:srgbClr val="FFFFFF"/>
                </a:solidFill>
                <a:latin typeface="Plus Jakarta Sans" pitchFamily="34" charset="0"/>
                <a:ea typeface="Segoe UI" pitchFamily="34" charset="-122"/>
                <a:cs typeface="Segoe U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EAU male LUTS guidelines, 2026</a:t>
            </a:r>
            <a:endParaRPr lang="en-US" sz="1150" dirty="0">
              <a:latin typeface="Plus Jakarta Sans"/>
            </a:endParaRPr>
          </a:p>
        </p:txBody>
      </p:sp>
      <p:sp>
        <p:nvSpPr>
          <p:cNvPr id="9" name="Shape 7"/>
          <p:cNvSpPr/>
          <p:nvPr/>
        </p:nvSpPr>
        <p:spPr>
          <a:xfrm>
            <a:off x="640080" y="2578608"/>
            <a:ext cx="5272888" cy="0"/>
          </a:xfrm>
          <a:prstGeom prst="line">
            <a:avLst/>
          </a:prstGeom>
          <a:noFill/>
          <a:ln w="6350">
            <a:solidFill>
              <a:srgbClr val="3D3D3D"/>
            </a:solidFill>
            <a:prstDash val="solid"/>
          </a:ln>
        </p:spPr>
      </p:sp>
      <p:sp>
        <p:nvSpPr>
          <p:cNvPr id="10" name="Text 8"/>
          <p:cNvSpPr txBox="1"/>
          <p:nvPr/>
        </p:nvSpPr>
        <p:spPr>
          <a:xfrm>
            <a:off x="640080" y="2578608"/>
            <a:ext cx="1234440" cy="420624"/>
          </a:xfrm>
          <a:prstGeom prst="rect">
            <a:avLst/>
          </a:prstGeom>
          <a:noFill/>
          <a:ln/>
        </p:spPr>
        <p:txBody>
          <a:bodyPr wrap="square" lIns="0" tIns="0" rIns="0" bIns="0" rtlCol="0" anchor="ctr"/>
          <a:lstStyle/>
          <a:p>
            <a:pPr algn="l" indent="0" marL="0">
              <a:buNone/>
            </a:pPr>
            <a:r>
              <a:rPr lang="en-US" sz="950" b="1" dirty="0">
                <a:solidFill>
                  <a:srgbClr val="05C489"/>
                </a:solidFill>
                <a:latin typeface="Plus Jakarta Sans" pitchFamily="34" charset="0"/>
                <a:ea typeface="Segoe UI" pitchFamily="34" charset="-122"/>
                <a:cs typeface="Segoe UI" pitchFamily="34" charset="-120"/>
              </a:rPr>
              <a:t>AUA24</a:t>
            </a:r>
            <a:endParaRPr lang="en-US" sz="950" dirty="0">
              <a:latin typeface="Plus Jakarta Sans"/>
            </a:endParaRPr>
          </a:p>
        </p:txBody>
      </p:sp>
      <p:sp>
        <p:nvSpPr>
          <p:cNvPr id="11" name="Text 9">
            <a:hlinkClick r:id="rId3" tooltip=""/>
          </p:cNvPr>
          <p:cNvSpPr txBox="1"/>
          <p:nvPr/>
        </p:nvSpPr>
        <p:spPr>
          <a:xfrm>
            <a:off x="1920240" y="2578608"/>
            <a:ext cx="3992728" cy="420624"/>
          </a:xfrm>
          <a:prstGeom prst="rect">
            <a:avLst/>
          </a:prstGeom>
          <a:noFill/>
          <a:ln/>
        </p:spPr>
        <p:txBody>
          <a:bodyPr wrap="square" lIns="0" tIns="0" rIns="0" bIns="0" rtlCol="0" anchor="ctr"/>
          <a:lstStyle/>
          <a:p>
            <a:pPr algn="l" indent="0" marL="0">
              <a:buNone/>
            </a:pPr>
            <a:r>
              <a:rPr lang="en-US" sz="1150" u="sng" dirty="0">
                <a:solidFill>
                  <a:srgbClr val="FFFFFF"/>
                </a:solidFill>
                <a:latin typeface="Plus Jakarta Sans" pitchFamily="34" charset="0"/>
                <a:ea typeface="Segoe UI" pitchFamily="34" charset="-122"/>
                <a:cs typeface="Segoe UI" pitchFamily="34" charset="-120"/>
                <a:hlinkClick r:id="rId3" invalidUrl="" action="" tgtFrame="" tooltip="" history="1" highlightClick="0" endSnd="0">
                  <a:extLst>
                    <a:ext uri="{A12FA001-AC4F-418D-AE19-62706E023703}">
                      <ahyp:hlinkClr xmlns:ahyp="http://schemas.microsoft.com/office/drawing/2018/hyperlinkcolor" val="tx"/>
                    </a:ext>
                  </a:extLst>
                </a:hlinkClick>
              </a:rPr>
              <a:t>AUA/GURS/SUFU IPT amendment, 2024</a:t>
            </a:r>
            <a:endParaRPr lang="en-US" sz="1150" dirty="0">
              <a:latin typeface="Plus Jakarta Sans"/>
            </a:endParaRPr>
          </a:p>
        </p:txBody>
      </p:sp>
      <p:sp>
        <p:nvSpPr>
          <p:cNvPr id="12" name="Shape 10"/>
          <p:cNvSpPr/>
          <p:nvPr/>
        </p:nvSpPr>
        <p:spPr>
          <a:xfrm>
            <a:off x="640080" y="2999232"/>
            <a:ext cx="5272888" cy="0"/>
          </a:xfrm>
          <a:prstGeom prst="line">
            <a:avLst/>
          </a:prstGeom>
          <a:noFill/>
          <a:ln w="6350">
            <a:solidFill>
              <a:srgbClr val="3D3D3D"/>
            </a:solidFill>
            <a:prstDash val="solid"/>
          </a:ln>
        </p:spPr>
      </p:sp>
      <p:sp>
        <p:nvSpPr>
          <p:cNvPr id="13" name="Text 11"/>
          <p:cNvSpPr txBox="1"/>
          <p:nvPr/>
        </p:nvSpPr>
        <p:spPr>
          <a:xfrm>
            <a:off x="640080" y="2999232"/>
            <a:ext cx="1234440" cy="420624"/>
          </a:xfrm>
          <a:prstGeom prst="rect">
            <a:avLst/>
          </a:prstGeom>
          <a:noFill/>
          <a:ln/>
        </p:spPr>
        <p:txBody>
          <a:bodyPr wrap="square" lIns="0" tIns="0" rIns="0" bIns="0" rtlCol="0" anchor="ctr"/>
          <a:lstStyle/>
          <a:p>
            <a:pPr algn="l" indent="0" marL="0">
              <a:buNone/>
            </a:pPr>
            <a:r>
              <a:rPr lang="en-US" sz="950" b="1" dirty="0">
                <a:solidFill>
                  <a:srgbClr val="05C489"/>
                </a:solidFill>
                <a:latin typeface="Plus Jakarta Sans" pitchFamily="34" charset="0"/>
                <a:ea typeface="Segoe UI" pitchFamily="34" charset="-122"/>
                <a:cs typeface="Segoe UI" pitchFamily="34" charset="-120"/>
              </a:rPr>
              <a:t>EAUSTR26</a:t>
            </a:r>
            <a:endParaRPr lang="en-US" sz="950" dirty="0">
              <a:latin typeface="Plus Jakarta Sans"/>
            </a:endParaRPr>
          </a:p>
        </p:txBody>
      </p:sp>
      <p:sp>
        <p:nvSpPr>
          <p:cNvPr id="14" name="Text 12">
            <a:hlinkClick r:id="rId4" tooltip=""/>
          </p:cNvPr>
          <p:cNvSpPr txBox="1"/>
          <p:nvPr/>
        </p:nvSpPr>
        <p:spPr>
          <a:xfrm>
            <a:off x="1920240" y="2999232"/>
            <a:ext cx="3992728" cy="420624"/>
          </a:xfrm>
          <a:prstGeom prst="rect">
            <a:avLst/>
          </a:prstGeom>
          <a:noFill/>
          <a:ln/>
        </p:spPr>
        <p:txBody>
          <a:bodyPr wrap="square" lIns="0" tIns="0" rIns="0" bIns="0" rtlCol="0" anchor="ctr"/>
          <a:lstStyle/>
          <a:p>
            <a:pPr algn="l" indent="0" marL="0">
              <a:buNone/>
            </a:pPr>
            <a:r>
              <a:rPr lang="en-US" sz="1150" u="sng" dirty="0">
                <a:solidFill>
                  <a:srgbClr val="FFFFFF"/>
                </a:solidFill>
                <a:latin typeface="Plus Jakarta Sans" pitchFamily="34" charset="0"/>
                <a:ea typeface="Segoe UI" pitchFamily="34" charset="-122"/>
                <a:cs typeface="Segoe UI" pitchFamily="34" charset="-120"/>
                <a:hlinkClick r:id="rId4" invalidUrl="" action="" tgtFrame="" tooltip="" history="1" highlightClick="0" endSnd="0">
                  <a:extLst>
                    <a:ext uri="{A12FA001-AC4F-418D-AE19-62706E023703}">
                      <ahyp:hlinkClr xmlns:ahyp="http://schemas.microsoft.com/office/drawing/2018/hyperlinkcolor" val="tx"/>
                    </a:ext>
                  </a:extLst>
                </a:hlinkClick>
              </a:rPr>
              <a:t>EAU urethral strictures guidelines, 2026</a:t>
            </a:r>
            <a:endParaRPr lang="en-US" sz="1150" dirty="0">
              <a:latin typeface="Plus Jakarta Sans"/>
            </a:endParaRPr>
          </a:p>
        </p:txBody>
      </p:sp>
      <p:sp>
        <p:nvSpPr>
          <p:cNvPr id="15" name="Shape 13"/>
          <p:cNvSpPr/>
          <p:nvPr/>
        </p:nvSpPr>
        <p:spPr>
          <a:xfrm>
            <a:off x="640080" y="3419856"/>
            <a:ext cx="5272888" cy="0"/>
          </a:xfrm>
          <a:prstGeom prst="line">
            <a:avLst/>
          </a:prstGeom>
          <a:noFill/>
          <a:ln w="6350">
            <a:solidFill>
              <a:srgbClr val="3D3D3D"/>
            </a:solidFill>
            <a:prstDash val="solid"/>
          </a:ln>
        </p:spPr>
      </p:sp>
      <p:sp>
        <p:nvSpPr>
          <p:cNvPr id="16" name="Text 14"/>
          <p:cNvSpPr txBox="1"/>
          <p:nvPr/>
        </p:nvSpPr>
        <p:spPr>
          <a:xfrm>
            <a:off x="640080" y="3419856"/>
            <a:ext cx="1234440" cy="420624"/>
          </a:xfrm>
          <a:prstGeom prst="rect">
            <a:avLst/>
          </a:prstGeom>
          <a:noFill/>
          <a:ln/>
        </p:spPr>
        <p:txBody>
          <a:bodyPr wrap="square" lIns="0" tIns="0" rIns="0" bIns="0" rtlCol="0" anchor="ctr"/>
          <a:lstStyle/>
          <a:p>
            <a:pPr algn="l" indent="0" marL="0">
              <a:buNone/>
            </a:pPr>
            <a:r>
              <a:rPr lang="en-US" sz="950" b="1" dirty="0">
                <a:solidFill>
                  <a:srgbClr val="05C489"/>
                </a:solidFill>
                <a:latin typeface="Plus Jakarta Sans" pitchFamily="34" charset="0"/>
                <a:ea typeface="Segoe UI" pitchFamily="34" charset="-122"/>
                <a:cs typeface="Segoe UI" pitchFamily="34" charset="-120"/>
              </a:rPr>
              <a:t>ICS16</a:t>
            </a:r>
            <a:endParaRPr lang="en-US" sz="950" dirty="0">
              <a:latin typeface="Plus Jakarta Sans"/>
            </a:endParaRPr>
          </a:p>
        </p:txBody>
      </p:sp>
      <p:sp>
        <p:nvSpPr>
          <p:cNvPr id="17" name="Text 15">
            <a:hlinkClick r:id="rId5" tooltip=""/>
          </p:cNvPr>
          <p:cNvSpPr txBox="1"/>
          <p:nvPr/>
        </p:nvSpPr>
        <p:spPr>
          <a:xfrm>
            <a:off x="1920240" y="3419856"/>
            <a:ext cx="3992728" cy="420624"/>
          </a:xfrm>
          <a:prstGeom prst="rect">
            <a:avLst/>
          </a:prstGeom>
          <a:noFill/>
          <a:ln/>
        </p:spPr>
        <p:txBody>
          <a:bodyPr wrap="square" lIns="0" tIns="0" rIns="0" bIns="0" rtlCol="0" anchor="ctr"/>
          <a:lstStyle/>
          <a:p>
            <a:pPr algn="l" indent="0" marL="0">
              <a:buNone/>
            </a:pPr>
            <a:r>
              <a:rPr lang="en-US" sz="1150" u="sng" dirty="0">
                <a:solidFill>
                  <a:srgbClr val="FFFFFF"/>
                </a:solidFill>
                <a:latin typeface="Plus Jakarta Sans" pitchFamily="34" charset="0"/>
                <a:ea typeface="Segoe UI" pitchFamily="34" charset="-122"/>
                <a:cs typeface="Segoe UI" pitchFamily="34" charset="-120"/>
                <a:hlinkClick r:id="rId5" invalidUrl="" action="" tgtFrame="" tooltip="" history="1" highlightClick="0" endSnd="0">
                  <a:extLst>
                    <a:ext uri="{A12FA001-AC4F-418D-AE19-62706E023703}">
                      <ahyp:hlinkClr xmlns:ahyp="http://schemas.microsoft.com/office/drawing/2018/hyperlinkcolor" val="tx"/>
                    </a:ext>
                  </a:extLst>
                </a:hlinkClick>
              </a:rPr>
              <a:t>ICS AUS consensus, NUU 2016</a:t>
            </a:r>
            <a:endParaRPr lang="en-US" sz="1150" dirty="0">
              <a:latin typeface="Plus Jakarta Sans"/>
            </a:endParaRPr>
          </a:p>
        </p:txBody>
      </p:sp>
      <p:sp>
        <p:nvSpPr>
          <p:cNvPr id="18" name="Shape 16"/>
          <p:cNvSpPr/>
          <p:nvPr/>
        </p:nvSpPr>
        <p:spPr>
          <a:xfrm>
            <a:off x="640080" y="3840480"/>
            <a:ext cx="5272888" cy="0"/>
          </a:xfrm>
          <a:prstGeom prst="line">
            <a:avLst/>
          </a:prstGeom>
          <a:noFill/>
          <a:ln w="6350">
            <a:solidFill>
              <a:srgbClr val="3D3D3D"/>
            </a:solidFill>
            <a:prstDash val="solid"/>
          </a:ln>
        </p:spPr>
      </p:sp>
      <p:sp>
        <p:nvSpPr>
          <p:cNvPr id="19" name="Text 17"/>
          <p:cNvSpPr txBox="1"/>
          <p:nvPr/>
        </p:nvSpPr>
        <p:spPr>
          <a:xfrm>
            <a:off x="640080" y="3840480"/>
            <a:ext cx="1234440" cy="420624"/>
          </a:xfrm>
          <a:prstGeom prst="rect">
            <a:avLst/>
          </a:prstGeom>
          <a:noFill/>
          <a:ln/>
        </p:spPr>
        <p:txBody>
          <a:bodyPr wrap="square" lIns="0" tIns="0" rIns="0" bIns="0" rtlCol="0" anchor="ctr"/>
          <a:lstStyle/>
          <a:p>
            <a:pPr algn="l" indent="0" marL="0">
              <a:buNone/>
            </a:pPr>
            <a:r>
              <a:rPr lang="en-US" sz="950" b="1" dirty="0">
                <a:solidFill>
                  <a:srgbClr val="05C489"/>
                </a:solidFill>
                <a:latin typeface="Plus Jakarta Sans" pitchFamily="34" charset="0"/>
                <a:ea typeface="Segoe UI" pitchFamily="34" charset="-122"/>
                <a:cs typeface="Segoe UI" pitchFamily="34" charset="-120"/>
              </a:rPr>
              <a:t>AP23</a:t>
            </a:r>
            <a:endParaRPr lang="en-US" sz="950" dirty="0">
              <a:latin typeface="Plus Jakarta Sans"/>
            </a:endParaRPr>
          </a:p>
        </p:txBody>
      </p:sp>
      <p:sp>
        <p:nvSpPr>
          <p:cNvPr id="20" name="Text 18">
            <a:hlinkClick r:id="rId6" tooltip=""/>
          </p:cNvPr>
          <p:cNvSpPr txBox="1"/>
          <p:nvPr/>
        </p:nvSpPr>
        <p:spPr>
          <a:xfrm>
            <a:off x="1920240" y="3840480"/>
            <a:ext cx="3992728" cy="420624"/>
          </a:xfrm>
          <a:prstGeom prst="rect">
            <a:avLst/>
          </a:prstGeom>
          <a:noFill/>
          <a:ln/>
        </p:spPr>
        <p:txBody>
          <a:bodyPr wrap="square" lIns="0" tIns="0" rIns="0" bIns="0" rtlCol="0" anchor="ctr"/>
          <a:lstStyle/>
          <a:p>
            <a:pPr algn="l" indent="0" marL="0">
              <a:buNone/>
            </a:pPr>
            <a:r>
              <a:rPr lang="en-US" sz="1150" u="sng" dirty="0">
                <a:solidFill>
                  <a:srgbClr val="FFFFFF"/>
                </a:solidFill>
                <a:latin typeface="Plus Jakarta Sans" pitchFamily="34" charset="0"/>
                <a:ea typeface="Segoe UI" pitchFamily="34" charset="-122"/>
                <a:cs typeface="Segoe UI" pitchFamily="34" charset="-120"/>
                <a:hlinkClick r:id="rId6" invalidUrl="" action="" tgtFrame="" tooltip="" history="1" highlightClick="0" endSnd="0">
                  <a:extLst>
                    <a:ext uri="{A12FA001-AC4F-418D-AE19-62706E023703}">
                      <ahyp:hlinkClr xmlns:ahyp="http://schemas.microsoft.com/office/drawing/2018/hyperlinkcolor" val="tx"/>
                    </a:ext>
                  </a:extLst>
                </a:hlinkClick>
              </a:rPr>
              <a:t>Asia-Pacific AMS 800 consensus, 2023</a:t>
            </a:r>
            <a:endParaRPr lang="en-US" sz="1150" dirty="0">
              <a:latin typeface="Plus Jakarta Sans"/>
            </a:endParaRPr>
          </a:p>
        </p:txBody>
      </p:sp>
      <p:sp>
        <p:nvSpPr>
          <p:cNvPr id="21" name="Shape 19"/>
          <p:cNvSpPr/>
          <p:nvPr/>
        </p:nvSpPr>
        <p:spPr>
          <a:xfrm>
            <a:off x="640080" y="4261104"/>
            <a:ext cx="5272888" cy="0"/>
          </a:xfrm>
          <a:prstGeom prst="line">
            <a:avLst/>
          </a:prstGeom>
          <a:noFill/>
          <a:ln w="6350">
            <a:solidFill>
              <a:srgbClr val="3D3D3D"/>
            </a:solidFill>
            <a:prstDash val="solid"/>
          </a:ln>
        </p:spPr>
      </p:sp>
      <p:sp>
        <p:nvSpPr>
          <p:cNvPr id="22" name="Text 20"/>
          <p:cNvSpPr txBox="1"/>
          <p:nvPr/>
        </p:nvSpPr>
        <p:spPr>
          <a:xfrm>
            <a:off x="640080" y="4261104"/>
            <a:ext cx="1234440" cy="420624"/>
          </a:xfrm>
          <a:prstGeom prst="rect">
            <a:avLst/>
          </a:prstGeom>
          <a:noFill/>
          <a:ln/>
        </p:spPr>
        <p:txBody>
          <a:bodyPr wrap="square" lIns="0" tIns="0" rIns="0" bIns="0" rtlCol="0" anchor="ctr"/>
          <a:lstStyle/>
          <a:p>
            <a:pPr algn="l" indent="0" marL="0">
              <a:buNone/>
            </a:pPr>
            <a:r>
              <a:rPr lang="en-US" sz="950" b="1" dirty="0">
                <a:solidFill>
                  <a:srgbClr val="05C489"/>
                </a:solidFill>
                <a:latin typeface="Plus Jakarta Sans" pitchFamily="34" charset="0"/>
                <a:ea typeface="Segoe UI" pitchFamily="34" charset="-122"/>
                <a:cs typeface="Segoe UI" pitchFamily="34" charset="-120"/>
              </a:rPr>
              <a:t>CCIFU</a:t>
            </a:r>
            <a:endParaRPr lang="en-US" sz="950" dirty="0">
              <a:latin typeface="Plus Jakarta Sans"/>
            </a:endParaRPr>
          </a:p>
        </p:txBody>
      </p:sp>
      <p:sp>
        <p:nvSpPr>
          <p:cNvPr id="23" name="Text 21">
            <a:hlinkClick r:id="rId7" tooltip=""/>
          </p:cNvPr>
          <p:cNvSpPr txBox="1"/>
          <p:nvPr/>
        </p:nvSpPr>
        <p:spPr>
          <a:xfrm>
            <a:off x="1920240" y="4261104"/>
            <a:ext cx="3992728" cy="420624"/>
          </a:xfrm>
          <a:prstGeom prst="rect">
            <a:avLst/>
          </a:prstGeom>
          <a:noFill/>
          <a:ln/>
        </p:spPr>
        <p:txBody>
          <a:bodyPr wrap="square" lIns="0" tIns="0" rIns="0" bIns="0" rtlCol="0" anchor="ctr"/>
          <a:lstStyle/>
          <a:p>
            <a:pPr algn="l" indent="0" marL="0">
              <a:buNone/>
            </a:pPr>
            <a:r>
              <a:rPr lang="en-US" sz="1150" u="sng" dirty="0">
                <a:solidFill>
                  <a:srgbClr val="FFFFFF"/>
                </a:solidFill>
                <a:latin typeface="Plus Jakarta Sans" pitchFamily="34" charset="0"/>
                <a:ea typeface="Segoe UI" pitchFamily="34" charset="-122"/>
                <a:cs typeface="Segoe UI" pitchFamily="34" charset="-120"/>
                <a:hlinkClick r:id="rId7" invalidUrl="" action="" tgtFrame="" tooltip="" history="1" highlightClick="0" endSnd="0">
                  <a:extLst>
                    <a:ext uri="{A12FA001-AC4F-418D-AE19-62706E023703}">
                      <ahyp:hlinkClr xmlns:ahyp="http://schemas.microsoft.com/office/drawing/2018/hyperlinkcolor" val="tx"/>
                    </a:ext>
                  </a:extLst>
                </a:hlinkClick>
              </a:rPr>
              <a:t>Rigicon ContiClassic IFU, REV.03, 2023</a:t>
            </a:r>
            <a:endParaRPr lang="en-US" sz="1150" dirty="0">
              <a:latin typeface="Plus Jakarta Sans"/>
            </a:endParaRPr>
          </a:p>
        </p:txBody>
      </p:sp>
      <p:sp>
        <p:nvSpPr>
          <p:cNvPr id="24" name="Shape 22"/>
          <p:cNvSpPr/>
          <p:nvPr/>
        </p:nvSpPr>
        <p:spPr>
          <a:xfrm>
            <a:off x="640080" y="4681728"/>
            <a:ext cx="5272888" cy="0"/>
          </a:xfrm>
          <a:prstGeom prst="line">
            <a:avLst/>
          </a:prstGeom>
          <a:noFill/>
          <a:ln w="6350">
            <a:solidFill>
              <a:srgbClr val="3D3D3D"/>
            </a:solidFill>
            <a:prstDash val="solid"/>
          </a:ln>
        </p:spPr>
      </p:sp>
      <p:sp>
        <p:nvSpPr>
          <p:cNvPr id="25" name="Text 23"/>
          <p:cNvSpPr txBox="1"/>
          <p:nvPr/>
        </p:nvSpPr>
        <p:spPr>
          <a:xfrm>
            <a:off x="640080" y="4681728"/>
            <a:ext cx="1234440" cy="420624"/>
          </a:xfrm>
          <a:prstGeom prst="rect">
            <a:avLst/>
          </a:prstGeom>
          <a:noFill/>
          <a:ln/>
        </p:spPr>
        <p:txBody>
          <a:bodyPr wrap="square" lIns="0" tIns="0" rIns="0" bIns="0" rtlCol="0" anchor="ctr"/>
          <a:lstStyle/>
          <a:p>
            <a:pPr algn="l" indent="0" marL="0">
              <a:buNone/>
            </a:pPr>
            <a:r>
              <a:rPr lang="en-US" sz="950" b="1" dirty="0">
                <a:solidFill>
                  <a:srgbClr val="05C489"/>
                </a:solidFill>
                <a:latin typeface="Plus Jakarta Sans" pitchFamily="34" charset="0"/>
                <a:ea typeface="Segoe UI" pitchFamily="34" charset="-122"/>
                <a:cs typeface="Segoe UI" pitchFamily="34" charset="-120"/>
              </a:rPr>
              <a:t>ICSUDS17</a:t>
            </a:r>
            <a:endParaRPr lang="en-US" sz="950" dirty="0">
              <a:latin typeface="Plus Jakarta Sans"/>
            </a:endParaRPr>
          </a:p>
        </p:txBody>
      </p:sp>
      <p:sp>
        <p:nvSpPr>
          <p:cNvPr id="26" name="Text 24">
            <a:hlinkClick r:id="rId8" tooltip=""/>
          </p:cNvPr>
          <p:cNvSpPr txBox="1"/>
          <p:nvPr/>
        </p:nvSpPr>
        <p:spPr>
          <a:xfrm>
            <a:off x="1920240" y="4681728"/>
            <a:ext cx="3992728" cy="420624"/>
          </a:xfrm>
          <a:prstGeom prst="rect">
            <a:avLst/>
          </a:prstGeom>
          <a:noFill/>
          <a:ln/>
        </p:spPr>
        <p:txBody>
          <a:bodyPr wrap="square" lIns="0" tIns="0" rIns="0" bIns="0" rtlCol="0" anchor="ctr"/>
          <a:lstStyle/>
          <a:p>
            <a:pPr algn="l" indent="0" marL="0">
              <a:buNone/>
            </a:pPr>
            <a:r>
              <a:rPr lang="en-US" sz="1150" u="sng" dirty="0">
                <a:solidFill>
                  <a:srgbClr val="FFFFFF"/>
                </a:solidFill>
                <a:latin typeface="Plus Jakarta Sans" pitchFamily="34" charset="0"/>
                <a:ea typeface="Segoe UI" pitchFamily="34" charset="-122"/>
                <a:cs typeface="Segoe UI" pitchFamily="34" charset="-120"/>
                <a:hlinkClick r:id="rId8" invalidUrl="" action="" tgtFrame="" tooltip="" history="1" highlightClick="0" endSnd="0">
                  <a:extLst>
                    <a:ext uri="{A12FA001-AC4F-418D-AE19-62706E023703}">
                      <ahyp:hlinkClr xmlns:ahyp="http://schemas.microsoft.com/office/drawing/2018/hyperlinkcolor" val="tx"/>
                    </a:ext>
                  </a:extLst>
                </a:hlinkClick>
              </a:rPr>
              <a:t>ICS good urodynamic practices, 2017</a:t>
            </a:r>
            <a:endParaRPr lang="en-US" sz="1150" dirty="0">
              <a:latin typeface="Plus Jakarta Sans"/>
            </a:endParaRPr>
          </a:p>
        </p:txBody>
      </p:sp>
      <p:sp>
        <p:nvSpPr>
          <p:cNvPr id="27" name="Shape 25"/>
          <p:cNvSpPr/>
          <p:nvPr/>
        </p:nvSpPr>
        <p:spPr>
          <a:xfrm>
            <a:off x="640080" y="5102352"/>
            <a:ext cx="5272888" cy="0"/>
          </a:xfrm>
          <a:prstGeom prst="line">
            <a:avLst/>
          </a:prstGeom>
          <a:noFill/>
          <a:ln w="6350">
            <a:solidFill>
              <a:srgbClr val="3D3D3D"/>
            </a:solidFill>
            <a:prstDash val="solid"/>
          </a:ln>
        </p:spPr>
      </p:sp>
      <p:sp>
        <p:nvSpPr>
          <p:cNvPr id="28" name="Text 26"/>
          <p:cNvSpPr txBox="1"/>
          <p:nvPr/>
        </p:nvSpPr>
        <p:spPr>
          <a:xfrm>
            <a:off x="640080" y="5102352"/>
            <a:ext cx="1234440" cy="420624"/>
          </a:xfrm>
          <a:prstGeom prst="rect">
            <a:avLst/>
          </a:prstGeom>
          <a:noFill/>
          <a:ln/>
        </p:spPr>
        <p:txBody>
          <a:bodyPr wrap="square" lIns="0" tIns="0" rIns="0" bIns="0" rtlCol="0" anchor="ctr"/>
          <a:lstStyle/>
          <a:p>
            <a:pPr algn="l" indent="0" marL="0">
              <a:buNone/>
            </a:pPr>
            <a:r>
              <a:rPr lang="en-US" sz="950" b="1" dirty="0">
                <a:solidFill>
                  <a:srgbClr val="05C489"/>
                </a:solidFill>
                <a:latin typeface="Plus Jakarta Sans" pitchFamily="34" charset="0"/>
                <a:ea typeface="Segoe UI" pitchFamily="34" charset="-122"/>
                <a:cs typeface="Segoe UI" pitchFamily="34" charset="-120"/>
              </a:rPr>
              <a:t>AUAOAB24</a:t>
            </a:r>
            <a:endParaRPr lang="en-US" sz="950" dirty="0">
              <a:latin typeface="Plus Jakarta Sans"/>
            </a:endParaRPr>
          </a:p>
        </p:txBody>
      </p:sp>
      <p:sp>
        <p:nvSpPr>
          <p:cNvPr id="29" name="Text 27">
            <a:hlinkClick r:id="rId9" tooltip=""/>
          </p:cNvPr>
          <p:cNvSpPr txBox="1"/>
          <p:nvPr/>
        </p:nvSpPr>
        <p:spPr>
          <a:xfrm>
            <a:off x="1920240" y="5102352"/>
            <a:ext cx="3992728" cy="420624"/>
          </a:xfrm>
          <a:prstGeom prst="rect">
            <a:avLst/>
          </a:prstGeom>
          <a:noFill/>
          <a:ln/>
        </p:spPr>
        <p:txBody>
          <a:bodyPr wrap="square" lIns="0" tIns="0" rIns="0" bIns="0" rtlCol="0" anchor="ctr"/>
          <a:lstStyle/>
          <a:p>
            <a:pPr algn="l" indent="0" marL="0">
              <a:buNone/>
            </a:pPr>
            <a:r>
              <a:rPr lang="en-US" sz="1150" u="sng" dirty="0">
                <a:solidFill>
                  <a:srgbClr val="FFFFFF"/>
                </a:solidFill>
                <a:latin typeface="Plus Jakarta Sans" pitchFamily="34" charset="0"/>
                <a:ea typeface="Segoe UI" pitchFamily="34" charset="-122"/>
                <a:cs typeface="Segoe UI" pitchFamily="34" charset="-120"/>
                <a:hlinkClick r:id="rId9" invalidUrl="" action="" tgtFrame="" tooltip="" history="1" highlightClick="0" endSnd="0">
                  <a:extLst>
                    <a:ext uri="{A12FA001-AC4F-418D-AE19-62706E023703}">
                      <ahyp:hlinkClr xmlns:ahyp="http://schemas.microsoft.com/office/drawing/2018/hyperlinkcolor" val="tx"/>
                    </a:ext>
                  </a:extLst>
                </a:hlinkClick>
              </a:rPr>
              <a:t>AUA/SUFU idiopathic OAB guideline, 2024</a:t>
            </a:r>
            <a:endParaRPr lang="en-US" sz="1150" dirty="0">
              <a:latin typeface="Plus Jakarta Sans"/>
            </a:endParaRPr>
          </a:p>
        </p:txBody>
      </p:sp>
      <p:sp>
        <p:nvSpPr>
          <p:cNvPr id="30" name="Shape 28"/>
          <p:cNvSpPr/>
          <p:nvPr/>
        </p:nvSpPr>
        <p:spPr>
          <a:xfrm>
            <a:off x="640080" y="5522976"/>
            <a:ext cx="5272888" cy="0"/>
          </a:xfrm>
          <a:prstGeom prst="line">
            <a:avLst/>
          </a:prstGeom>
          <a:noFill/>
          <a:ln w="6350">
            <a:solidFill>
              <a:srgbClr val="3D3D3D"/>
            </a:solidFill>
            <a:prstDash val="solid"/>
          </a:ln>
        </p:spPr>
      </p:sp>
      <p:sp>
        <p:nvSpPr>
          <p:cNvPr id="31" name="Text 29"/>
          <p:cNvSpPr txBox="1"/>
          <p:nvPr/>
        </p:nvSpPr>
        <p:spPr>
          <a:xfrm>
            <a:off x="640080" y="5522976"/>
            <a:ext cx="1234440" cy="420624"/>
          </a:xfrm>
          <a:prstGeom prst="rect">
            <a:avLst/>
          </a:prstGeom>
          <a:noFill/>
          <a:ln/>
        </p:spPr>
        <p:txBody>
          <a:bodyPr wrap="square" lIns="0" tIns="0" rIns="0" bIns="0" rtlCol="0" anchor="ctr"/>
          <a:lstStyle/>
          <a:p>
            <a:pPr algn="l" indent="0" marL="0">
              <a:buNone/>
            </a:pPr>
            <a:r>
              <a:rPr lang="en-US" sz="950" b="1" dirty="0">
                <a:solidFill>
                  <a:srgbClr val="05C489"/>
                </a:solidFill>
                <a:latin typeface="Plus Jakarta Sans" pitchFamily="34" charset="0"/>
                <a:ea typeface="Segoe UI" pitchFamily="34" charset="-122"/>
                <a:cs typeface="Segoe UI" pitchFamily="34" charset="-120"/>
              </a:rPr>
              <a:t>NICE</a:t>
            </a:r>
            <a:endParaRPr lang="en-US" sz="950" dirty="0">
              <a:latin typeface="Plus Jakarta Sans"/>
            </a:endParaRPr>
          </a:p>
        </p:txBody>
      </p:sp>
      <p:sp>
        <p:nvSpPr>
          <p:cNvPr id="32" name="Text 30">
            <a:hlinkClick r:id="rId10" tooltip=""/>
          </p:cNvPr>
          <p:cNvSpPr txBox="1"/>
          <p:nvPr/>
        </p:nvSpPr>
        <p:spPr>
          <a:xfrm>
            <a:off x="1920240" y="5522976"/>
            <a:ext cx="3992728" cy="420624"/>
          </a:xfrm>
          <a:prstGeom prst="rect">
            <a:avLst/>
          </a:prstGeom>
          <a:noFill/>
          <a:ln/>
        </p:spPr>
        <p:txBody>
          <a:bodyPr wrap="square" lIns="0" tIns="0" rIns="0" bIns="0" rtlCol="0" anchor="ctr"/>
          <a:lstStyle/>
          <a:p>
            <a:pPr algn="l" indent="0" marL="0">
              <a:buNone/>
            </a:pPr>
            <a:r>
              <a:rPr lang="en-US" sz="1150" u="sng" dirty="0">
                <a:solidFill>
                  <a:srgbClr val="FFFFFF"/>
                </a:solidFill>
                <a:latin typeface="Plus Jakarta Sans" pitchFamily="34" charset="0"/>
                <a:ea typeface="Segoe UI" pitchFamily="34" charset="-122"/>
                <a:cs typeface="Segoe U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NICE NG125: surgical site infection</a:t>
            </a:r>
            <a:endParaRPr lang="en-US" sz="1150" dirty="0">
              <a:latin typeface="Plus Jakarta Sans"/>
            </a:endParaRPr>
          </a:p>
        </p:txBody>
      </p:sp>
      <p:sp>
        <p:nvSpPr>
          <p:cNvPr id="33" name="Text 31"/>
          <p:cNvSpPr txBox="1"/>
          <p:nvPr/>
        </p:nvSpPr>
        <p:spPr>
          <a:xfrm>
            <a:off x="6278728" y="1737360"/>
            <a:ext cx="1234440" cy="420624"/>
          </a:xfrm>
          <a:prstGeom prst="rect">
            <a:avLst/>
          </a:prstGeom>
          <a:noFill/>
          <a:ln/>
        </p:spPr>
        <p:txBody>
          <a:bodyPr wrap="square" lIns="0" tIns="0" rIns="0" bIns="0" rtlCol="0" anchor="ctr"/>
          <a:lstStyle/>
          <a:p>
            <a:pPr algn="l" indent="0" marL="0">
              <a:buNone/>
            </a:pPr>
            <a:r>
              <a:rPr lang="en-US" sz="950" b="1" dirty="0">
                <a:solidFill>
                  <a:srgbClr val="05C489"/>
                </a:solidFill>
                <a:latin typeface="Plus Jakarta Sans" pitchFamily="34" charset="0"/>
                <a:ea typeface="Segoe UI" pitchFamily="34" charset="-122"/>
                <a:cs typeface="Segoe UI" pitchFamily="34" charset="-120"/>
              </a:rPr>
              <a:t>WHO09</a:t>
            </a:r>
            <a:endParaRPr lang="en-US" sz="950" dirty="0">
              <a:latin typeface="Plus Jakarta Sans"/>
            </a:endParaRPr>
          </a:p>
        </p:txBody>
      </p:sp>
      <p:sp>
        <p:nvSpPr>
          <p:cNvPr id="34" name="Text 32">
            <a:hlinkClick r:id="rId11" tooltip=""/>
          </p:cNvPr>
          <p:cNvSpPr txBox="1"/>
          <p:nvPr/>
        </p:nvSpPr>
        <p:spPr>
          <a:xfrm>
            <a:off x="7558888" y="1737360"/>
            <a:ext cx="3992728" cy="420624"/>
          </a:xfrm>
          <a:prstGeom prst="rect">
            <a:avLst/>
          </a:prstGeom>
          <a:noFill/>
          <a:ln/>
        </p:spPr>
        <p:txBody>
          <a:bodyPr wrap="square" lIns="0" tIns="0" rIns="0" bIns="0" rtlCol="0" anchor="ctr"/>
          <a:lstStyle/>
          <a:p>
            <a:pPr algn="l" indent="0" marL="0">
              <a:buNone/>
            </a:pPr>
            <a:r>
              <a:rPr lang="en-US" sz="1150" u="sng" dirty="0">
                <a:solidFill>
                  <a:srgbClr val="FFFFFF"/>
                </a:solidFill>
                <a:latin typeface="Plus Jakarta Sans" pitchFamily="34" charset="0"/>
                <a:ea typeface="Segoe UI" pitchFamily="34" charset="-122"/>
                <a:cs typeface="Segoe U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WHO hand hygiene guidance, 2009</a:t>
            </a:r>
            <a:endParaRPr lang="en-US" sz="1150" dirty="0">
              <a:latin typeface="Plus Jakarta Sans"/>
            </a:endParaRPr>
          </a:p>
        </p:txBody>
      </p:sp>
      <p:sp>
        <p:nvSpPr>
          <p:cNvPr id="35" name="Shape 33"/>
          <p:cNvSpPr/>
          <p:nvPr/>
        </p:nvSpPr>
        <p:spPr>
          <a:xfrm>
            <a:off x="6278728" y="2157984"/>
            <a:ext cx="5272888" cy="0"/>
          </a:xfrm>
          <a:prstGeom prst="line">
            <a:avLst/>
          </a:prstGeom>
          <a:noFill/>
          <a:ln w="6350">
            <a:solidFill>
              <a:srgbClr val="3D3D3D"/>
            </a:solidFill>
            <a:prstDash val="solid"/>
          </a:ln>
        </p:spPr>
      </p:sp>
      <p:sp>
        <p:nvSpPr>
          <p:cNvPr id="36" name="Text 34"/>
          <p:cNvSpPr txBox="1"/>
          <p:nvPr/>
        </p:nvSpPr>
        <p:spPr>
          <a:xfrm>
            <a:off x="6278728" y="2157984"/>
            <a:ext cx="1234440" cy="420624"/>
          </a:xfrm>
          <a:prstGeom prst="rect">
            <a:avLst/>
          </a:prstGeom>
          <a:noFill/>
          <a:ln/>
        </p:spPr>
        <p:txBody>
          <a:bodyPr wrap="square" lIns="0" tIns="0" rIns="0" bIns="0" rtlCol="0" anchor="ctr"/>
          <a:lstStyle/>
          <a:p>
            <a:pPr algn="l" indent="0" marL="0">
              <a:buNone/>
            </a:pPr>
            <a:r>
              <a:rPr lang="en-US" sz="950" b="1" dirty="0">
                <a:solidFill>
                  <a:srgbClr val="05C489"/>
                </a:solidFill>
                <a:latin typeface="Plus Jakarta Sans" pitchFamily="34" charset="0"/>
                <a:ea typeface="Segoe UI" pitchFamily="34" charset="-122"/>
                <a:cs typeface="Segoe UI" pitchFamily="34" charset="-120"/>
              </a:rPr>
              <a:t>CHLORA26</a:t>
            </a:r>
            <a:endParaRPr lang="en-US" sz="950" dirty="0">
              <a:latin typeface="Plus Jakarta Sans"/>
            </a:endParaRPr>
          </a:p>
        </p:txBody>
      </p:sp>
      <p:sp>
        <p:nvSpPr>
          <p:cNvPr id="37" name="Text 35">
            <a:hlinkClick r:id="rId12" tooltip=""/>
          </p:cNvPr>
          <p:cNvSpPr txBox="1"/>
          <p:nvPr/>
        </p:nvSpPr>
        <p:spPr>
          <a:xfrm>
            <a:off x="7558888" y="2157984"/>
            <a:ext cx="3992728" cy="420624"/>
          </a:xfrm>
          <a:prstGeom prst="rect">
            <a:avLst/>
          </a:prstGeom>
          <a:noFill/>
          <a:ln/>
        </p:spPr>
        <p:txBody>
          <a:bodyPr wrap="square" lIns="0" tIns="0" rIns="0" bIns="0" rtlCol="0" anchor="ctr"/>
          <a:lstStyle/>
          <a:p>
            <a:pPr algn="l" indent="0" marL="0">
              <a:buNone/>
            </a:pPr>
            <a:r>
              <a:rPr lang="en-US" sz="1150" u="sng" dirty="0">
                <a:solidFill>
                  <a:srgbClr val="FFFFFF"/>
                </a:solidFill>
                <a:latin typeface="Plus Jakarta Sans" pitchFamily="34" charset="0"/>
                <a:ea typeface="Segoe UI" pitchFamily="34" charset="-122"/>
                <a:cs typeface="Segoe U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ChloraPrep UK product information, 2026</a:t>
            </a:r>
            <a:endParaRPr lang="en-US" sz="1150" dirty="0">
              <a:latin typeface="Plus Jakarta Sans"/>
            </a:endParaRPr>
          </a:p>
        </p:txBody>
      </p:sp>
      <p:sp>
        <p:nvSpPr>
          <p:cNvPr id="38" name="Shape 36"/>
          <p:cNvSpPr/>
          <p:nvPr/>
        </p:nvSpPr>
        <p:spPr>
          <a:xfrm>
            <a:off x="6278728" y="2578608"/>
            <a:ext cx="5272888" cy="0"/>
          </a:xfrm>
          <a:prstGeom prst="line">
            <a:avLst/>
          </a:prstGeom>
          <a:noFill/>
          <a:ln w="6350">
            <a:solidFill>
              <a:srgbClr val="3D3D3D"/>
            </a:solidFill>
            <a:prstDash val="solid"/>
          </a:ln>
        </p:spPr>
      </p:sp>
      <p:sp>
        <p:nvSpPr>
          <p:cNvPr id="39" name="Text 37"/>
          <p:cNvSpPr txBox="1"/>
          <p:nvPr/>
        </p:nvSpPr>
        <p:spPr>
          <a:xfrm>
            <a:off x="6278728" y="2578608"/>
            <a:ext cx="1234440" cy="420624"/>
          </a:xfrm>
          <a:prstGeom prst="rect">
            <a:avLst/>
          </a:prstGeom>
          <a:noFill/>
          <a:ln/>
        </p:spPr>
        <p:txBody>
          <a:bodyPr wrap="square" lIns="0" tIns="0" rIns="0" bIns="0" rtlCol="0" anchor="ctr"/>
          <a:lstStyle/>
          <a:p>
            <a:pPr algn="l" indent="0" marL="0">
              <a:buNone/>
            </a:pPr>
            <a:r>
              <a:rPr lang="en-US" sz="950" b="1" dirty="0">
                <a:solidFill>
                  <a:srgbClr val="05C489"/>
                </a:solidFill>
                <a:latin typeface="Plus Jakarta Sans" pitchFamily="34" charset="0"/>
                <a:ea typeface="Segoe UI" pitchFamily="34" charset="-122"/>
                <a:cs typeface="Segoe UI" pitchFamily="34" charset="-120"/>
              </a:rPr>
              <a:t>IDSA19</a:t>
            </a:r>
            <a:endParaRPr lang="en-US" sz="950" dirty="0">
              <a:latin typeface="Plus Jakarta Sans"/>
            </a:endParaRPr>
          </a:p>
        </p:txBody>
      </p:sp>
      <p:sp>
        <p:nvSpPr>
          <p:cNvPr id="40" name="Text 38">
            <a:hlinkClick r:id="rId13" tooltip=""/>
          </p:cNvPr>
          <p:cNvSpPr txBox="1"/>
          <p:nvPr/>
        </p:nvSpPr>
        <p:spPr>
          <a:xfrm>
            <a:off x="7558888" y="2578608"/>
            <a:ext cx="3992728" cy="420624"/>
          </a:xfrm>
          <a:prstGeom prst="rect">
            <a:avLst/>
          </a:prstGeom>
          <a:noFill/>
          <a:ln/>
        </p:spPr>
        <p:txBody>
          <a:bodyPr wrap="square" lIns="0" tIns="0" rIns="0" bIns="0" rtlCol="0" anchor="ctr"/>
          <a:lstStyle/>
          <a:p>
            <a:pPr algn="l" indent="0" marL="0">
              <a:buNone/>
            </a:pPr>
            <a:r>
              <a:rPr lang="en-US" sz="1150" u="sng" dirty="0">
                <a:solidFill>
                  <a:srgbClr val="FFFFFF"/>
                </a:solidFill>
                <a:latin typeface="Plus Jakarta Sans" pitchFamily="34" charset="0"/>
                <a:ea typeface="Segoe UI" pitchFamily="34" charset="-122"/>
                <a:cs typeface="Segoe UI" pitchFamily="34" charset="-120"/>
                <a:hlinkClick r:id="rId13" invalidUrl="" action="" tgtFrame="" tooltip="" history="1" highlightClick="0" endSnd="0">
                  <a:extLst>
                    <a:ext uri="{A12FA001-AC4F-418D-AE19-62706E023703}">
                      <ahyp:hlinkClr xmlns:ahyp="http://schemas.microsoft.com/office/drawing/2018/hyperlinkcolor" val="tx"/>
                    </a:ext>
                  </a:extLst>
                </a:hlinkClick>
              </a:rPr>
              <a:t>IDSA asymptomatic bacteriuria, 2019</a:t>
            </a:r>
            <a:endParaRPr lang="en-US" sz="1150" dirty="0">
              <a:latin typeface="Plus Jakarta Sans"/>
            </a:endParaRPr>
          </a:p>
        </p:txBody>
      </p:sp>
      <p:sp>
        <p:nvSpPr>
          <p:cNvPr id="41" name="Shape 39"/>
          <p:cNvSpPr/>
          <p:nvPr/>
        </p:nvSpPr>
        <p:spPr>
          <a:xfrm>
            <a:off x="6278728" y="2999232"/>
            <a:ext cx="5272888" cy="0"/>
          </a:xfrm>
          <a:prstGeom prst="line">
            <a:avLst/>
          </a:prstGeom>
          <a:noFill/>
          <a:ln w="6350">
            <a:solidFill>
              <a:srgbClr val="3D3D3D"/>
            </a:solidFill>
            <a:prstDash val="solid"/>
          </a:ln>
        </p:spPr>
      </p:sp>
      <p:sp>
        <p:nvSpPr>
          <p:cNvPr id="42" name="Text 40"/>
          <p:cNvSpPr txBox="1"/>
          <p:nvPr/>
        </p:nvSpPr>
        <p:spPr>
          <a:xfrm>
            <a:off x="6278728" y="2999232"/>
            <a:ext cx="1234440" cy="420624"/>
          </a:xfrm>
          <a:prstGeom prst="rect">
            <a:avLst/>
          </a:prstGeom>
          <a:noFill/>
          <a:ln/>
        </p:spPr>
        <p:txBody>
          <a:bodyPr wrap="square" lIns="0" tIns="0" rIns="0" bIns="0" rtlCol="0" anchor="ctr"/>
          <a:lstStyle/>
          <a:p>
            <a:pPr algn="l" indent="0" marL="0">
              <a:buNone/>
            </a:pPr>
            <a:r>
              <a:rPr lang="en-US" sz="950" b="1" dirty="0">
                <a:solidFill>
                  <a:srgbClr val="05C489"/>
                </a:solidFill>
                <a:latin typeface="Plus Jakarta Sans" pitchFamily="34" charset="0"/>
                <a:ea typeface="Segoe UI" pitchFamily="34" charset="-122"/>
                <a:cs typeface="Segoe UI" pitchFamily="34" charset="-120"/>
              </a:rPr>
              <a:t>AUAABX20</a:t>
            </a:r>
            <a:endParaRPr lang="en-US" sz="950" dirty="0">
              <a:latin typeface="Plus Jakarta Sans"/>
            </a:endParaRPr>
          </a:p>
        </p:txBody>
      </p:sp>
      <p:sp>
        <p:nvSpPr>
          <p:cNvPr id="43" name="Text 41">
            <a:hlinkClick r:id="rId14" tooltip=""/>
          </p:cNvPr>
          <p:cNvSpPr txBox="1"/>
          <p:nvPr/>
        </p:nvSpPr>
        <p:spPr>
          <a:xfrm>
            <a:off x="7558888" y="2999232"/>
            <a:ext cx="3992728" cy="420624"/>
          </a:xfrm>
          <a:prstGeom prst="rect">
            <a:avLst/>
          </a:prstGeom>
          <a:noFill/>
          <a:ln/>
        </p:spPr>
        <p:txBody>
          <a:bodyPr wrap="square" lIns="0" tIns="0" rIns="0" bIns="0" rtlCol="0" anchor="ctr"/>
          <a:lstStyle/>
          <a:p>
            <a:pPr algn="l" indent="0" marL="0">
              <a:buNone/>
            </a:pPr>
            <a:r>
              <a:rPr lang="en-US" sz="1150" u="sng" dirty="0">
                <a:solidFill>
                  <a:srgbClr val="FFFFFF"/>
                </a:solidFill>
                <a:latin typeface="Plus Jakarta Sans" pitchFamily="34" charset="0"/>
                <a:ea typeface="Segoe UI" pitchFamily="34" charset="-122"/>
                <a:cs typeface="Segoe UI" pitchFamily="34" charset="-120"/>
                <a:hlinkClick r:id="rId14" invalidUrl="" action="" tgtFrame="" tooltip="" history="1" highlightClick="0" endSnd="0">
                  <a:extLst>
                    <a:ext uri="{A12FA001-AC4F-418D-AE19-62706E023703}">
                      <ahyp:hlinkClr xmlns:ahyp="http://schemas.microsoft.com/office/drawing/2018/hyperlinkcolor" val="tx"/>
                    </a:ext>
                  </a:extLst>
                </a:hlinkClick>
              </a:rPr>
              <a:t>AUA antimicrobial prophylaxis, 2020</a:t>
            </a:r>
            <a:endParaRPr lang="en-US" sz="1150" dirty="0">
              <a:latin typeface="Plus Jakarta Sans"/>
            </a:endParaRPr>
          </a:p>
        </p:txBody>
      </p:sp>
      <p:sp>
        <p:nvSpPr>
          <p:cNvPr id="44" name="Shape 42"/>
          <p:cNvSpPr/>
          <p:nvPr/>
        </p:nvSpPr>
        <p:spPr>
          <a:xfrm>
            <a:off x="6278728" y="3419856"/>
            <a:ext cx="5272888" cy="0"/>
          </a:xfrm>
          <a:prstGeom prst="line">
            <a:avLst/>
          </a:prstGeom>
          <a:noFill/>
          <a:ln w="6350">
            <a:solidFill>
              <a:srgbClr val="3D3D3D"/>
            </a:solidFill>
            <a:prstDash val="solid"/>
          </a:ln>
        </p:spPr>
      </p:sp>
      <p:sp>
        <p:nvSpPr>
          <p:cNvPr id="45" name="Text 43"/>
          <p:cNvSpPr txBox="1"/>
          <p:nvPr/>
        </p:nvSpPr>
        <p:spPr>
          <a:xfrm>
            <a:off x="6278728" y="3419856"/>
            <a:ext cx="1234440" cy="420624"/>
          </a:xfrm>
          <a:prstGeom prst="rect">
            <a:avLst/>
          </a:prstGeom>
          <a:noFill/>
          <a:ln/>
        </p:spPr>
        <p:txBody>
          <a:bodyPr wrap="square" lIns="0" tIns="0" rIns="0" bIns="0" rtlCol="0" anchor="ctr"/>
          <a:lstStyle/>
          <a:p>
            <a:pPr algn="l" indent="0" marL="0">
              <a:buNone/>
            </a:pPr>
            <a:r>
              <a:rPr lang="en-US" sz="950" b="1" dirty="0">
                <a:solidFill>
                  <a:srgbClr val="05C489"/>
                </a:solidFill>
                <a:latin typeface="Plus Jakarta Sans" pitchFamily="34" charset="0"/>
                <a:ea typeface="Segoe UI" pitchFamily="34" charset="-122"/>
                <a:cs typeface="Segoe UI" pitchFamily="34" charset="-120"/>
              </a:rPr>
              <a:t>CCSAFETY</a:t>
            </a:r>
            <a:endParaRPr lang="en-US" sz="950" dirty="0">
              <a:latin typeface="Plus Jakarta Sans"/>
            </a:endParaRPr>
          </a:p>
        </p:txBody>
      </p:sp>
      <p:sp>
        <p:nvSpPr>
          <p:cNvPr id="46" name="Text 44">
            <a:hlinkClick r:id="rId15" tooltip=""/>
          </p:cNvPr>
          <p:cNvSpPr txBox="1"/>
          <p:nvPr/>
        </p:nvSpPr>
        <p:spPr>
          <a:xfrm>
            <a:off x="7558888" y="3419856"/>
            <a:ext cx="3992728" cy="420624"/>
          </a:xfrm>
          <a:prstGeom prst="rect">
            <a:avLst/>
          </a:prstGeom>
          <a:noFill/>
          <a:ln/>
        </p:spPr>
        <p:txBody>
          <a:bodyPr wrap="square" lIns="0" tIns="0" rIns="0" bIns="0" rtlCol="0" anchor="ctr"/>
          <a:lstStyle/>
          <a:p>
            <a:pPr algn="l" indent="0" marL="0">
              <a:buNone/>
            </a:pPr>
            <a:r>
              <a:rPr lang="en-US" sz="1150" u="sng" dirty="0">
                <a:solidFill>
                  <a:srgbClr val="FFFFFF"/>
                </a:solidFill>
                <a:latin typeface="Plus Jakarta Sans" pitchFamily="34" charset="0"/>
                <a:ea typeface="Segoe UI" pitchFamily="34" charset="-122"/>
                <a:cs typeface="Segoe UI" pitchFamily="34" charset="-120"/>
                <a:hlinkClick r:id="rId15" invalidUrl="" action="" tgtFrame="" tooltip="" history="1" highlightClick="0" endSnd="0">
                  <a:extLst>
                    <a:ext uri="{A12FA001-AC4F-418D-AE19-62706E023703}">
                      <ahyp:hlinkClr xmlns:ahyp="http://schemas.microsoft.com/office/drawing/2018/hyperlinkcolor" val="tx"/>
                    </a:ext>
                  </a:extLst>
                </a:hlinkClick>
              </a:rPr>
              <a:t>Wilson: ContiClassic safety, IJIR 2024</a:t>
            </a:r>
            <a:endParaRPr lang="en-US" sz="1150" dirty="0">
              <a:latin typeface="Plus Jakarta Sans"/>
            </a:endParaRPr>
          </a:p>
        </p:txBody>
      </p:sp>
      <p:sp>
        <p:nvSpPr>
          <p:cNvPr id="47" name="Shape 45"/>
          <p:cNvSpPr/>
          <p:nvPr/>
        </p:nvSpPr>
        <p:spPr>
          <a:xfrm>
            <a:off x="6278728" y="3840480"/>
            <a:ext cx="5272888" cy="0"/>
          </a:xfrm>
          <a:prstGeom prst="line">
            <a:avLst/>
          </a:prstGeom>
          <a:noFill/>
          <a:ln w="6350">
            <a:solidFill>
              <a:srgbClr val="3D3D3D"/>
            </a:solidFill>
            <a:prstDash val="solid"/>
          </a:ln>
        </p:spPr>
      </p:sp>
      <p:sp>
        <p:nvSpPr>
          <p:cNvPr id="48" name="Text 46"/>
          <p:cNvSpPr txBox="1"/>
          <p:nvPr/>
        </p:nvSpPr>
        <p:spPr>
          <a:xfrm>
            <a:off x="6278728" y="3840480"/>
            <a:ext cx="1234440" cy="420624"/>
          </a:xfrm>
          <a:prstGeom prst="rect">
            <a:avLst/>
          </a:prstGeom>
          <a:noFill/>
          <a:ln/>
        </p:spPr>
        <p:txBody>
          <a:bodyPr wrap="square" lIns="0" tIns="0" rIns="0" bIns="0" rtlCol="0" anchor="ctr"/>
          <a:lstStyle/>
          <a:p>
            <a:pPr algn="l" indent="0" marL="0">
              <a:buNone/>
            </a:pPr>
            <a:r>
              <a:rPr lang="en-US" sz="950" b="1" dirty="0">
                <a:solidFill>
                  <a:srgbClr val="05C489"/>
                </a:solidFill>
                <a:latin typeface="Plus Jakarta Sans" pitchFamily="34" charset="0"/>
                <a:ea typeface="Segoe UI" pitchFamily="34" charset="-122"/>
                <a:cs typeface="Segoe UI" pitchFamily="34" charset="-120"/>
              </a:rPr>
              <a:t>MASTER22</a:t>
            </a:r>
            <a:endParaRPr lang="en-US" sz="950" dirty="0">
              <a:latin typeface="Plus Jakarta Sans"/>
            </a:endParaRPr>
          </a:p>
        </p:txBody>
      </p:sp>
      <p:sp>
        <p:nvSpPr>
          <p:cNvPr id="49" name="Text 47">
            <a:hlinkClick r:id="rId16" tooltip=""/>
          </p:cNvPr>
          <p:cNvSpPr txBox="1"/>
          <p:nvPr/>
        </p:nvSpPr>
        <p:spPr>
          <a:xfrm>
            <a:off x="7558888" y="3840480"/>
            <a:ext cx="3992728" cy="420624"/>
          </a:xfrm>
          <a:prstGeom prst="rect">
            <a:avLst/>
          </a:prstGeom>
          <a:noFill/>
          <a:ln/>
        </p:spPr>
        <p:txBody>
          <a:bodyPr wrap="square" lIns="0" tIns="0" rIns="0" bIns="0" rtlCol="0" anchor="ctr"/>
          <a:lstStyle/>
          <a:p>
            <a:pPr algn="l" indent="0" marL="0">
              <a:buNone/>
            </a:pPr>
            <a:r>
              <a:rPr lang="en-US" sz="1150" u="sng" dirty="0">
                <a:solidFill>
                  <a:srgbClr val="FFFFFF"/>
                </a:solidFill>
                <a:latin typeface="Plus Jakarta Sans" pitchFamily="34" charset="0"/>
                <a:ea typeface="Segoe UI" pitchFamily="34" charset="-122"/>
                <a:cs typeface="Segoe UI" pitchFamily="34" charset="-120"/>
                <a:hlinkClick r:id="rId16" invalidUrl="" action="" tgtFrame="" tooltip="" history="1" highlightClick="0" endSnd="0">
                  <a:extLst>
                    <a:ext uri="{A12FA001-AC4F-418D-AE19-62706E023703}">
                      <ahyp:hlinkClr xmlns:ahyp="http://schemas.microsoft.com/office/drawing/2018/hyperlinkcolor" val="tx"/>
                    </a:ext>
                  </a:extLst>
                </a:hlinkClick>
              </a:rPr>
              <a:t>MASTER randomised trial, HTA 2022</a:t>
            </a:r>
            <a:endParaRPr lang="en-US" sz="1150" dirty="0">
              <a:latin typeface="Plus Jakarta Sans"/>
            </a:endParaRPr>
          </a:p>
        </p:txBody>
      </p:sp>
      <p:sp>
        <p:nvSpPr>
          <p:cNvPr id="50" name="Shape 48"/>
          <p:cNvSpPr/>
          <p:nvPr/>
        </p:nvSpPr>
        <p:spPr>
          <a:xfrm>
            <a:off x="6278728" y="4261104"/>
            <a:ext cx="5272888" cy="0"/>
          </a:xfrm>
          <a:prstGeom prst="line">
            <a:avLst/>
          </a:prstGeom>
          <a:noFill/>
          <a:ln w="6350">
            <a:solidFill>
              <a:srgbClr val="3D3D3D"/>
            </a:solidFill>
            <a:prstDash val="solid"/>
          </a:ln>
        </p:spPr>
      </p:sp>
      <p:sp>
        <p:nvSpPr>
          <p:cNvPr id="51" name="Text 49"/>
          <p:cNvSpPr txBox="1"/>
          <p:nvPr/>
        </p:nvSpPr>
        <p:spPr>
          <a:xfrm>
            <a:off x="6278728" y="4261104"/>
            <a:ext cx="1234440" cy="420624"/>
          </a:xfrm>
          <a:prstGeom prst="rect">
            <a:avLst/>
          </a:prstGeom>
          <a:noFill/>
          <a:ln/>
        </p:spPr>
        <p:txBody>
          <a:bodyPr wrap="square" lIns="0" tIns="0" rIns="0" bIns="0" rtlCol="0" anchor="ctr"/>
          <a:lstStyle/>
          <a:p>
            <a:pPr algn="l" indent="0" marL="0">
              <a:buNone/>
            </a:pPr>
            <a:r>
              <a:rPr lang="en-US" sz="950" b="1" dirty="0">
                <a:solidFill>
                  <a:srgbClr val="05C489"/>
                </a:solidFill>
                <a:latin typeface="Plus Jakarta Sans" pitchFamily="34" charset="0"/>
                <a:ea typeface="Segoe UI" pitchFamily="34" charset="-122"/>
                <a:cs typeface="Segoe UI" pitchFamily="34" charset="-120"/>
              </a:rPr>
              <a:t>UDS09</a:t>
            </a:r>
            <a:endParaRPr lang="en-US" sz="950" dirty="0">
              <a:latin typeface="Plus Jakarta Sans"/>
            </a:endParaRPr>
          </a:p>
        </p:txBody>
      </p:sp>
      <p:sp>
        <p:nvSpPr>
          <p:cNvPr id="52" name="Text 50">
            <a:hlinkClick r:id="rId17" tooltip=""/>
          </p:cNvPr>
          <p:cNvSpPr txBox="1"/>
          <p:nvPr/>
        </p:nvSpPr>
        <p:spPr>
          <a:xfrm>
            <a:off x="7558888" y="4261104"/>
            <a:ext cx="3992728" cy="420624"/>
          </a:xfrm>
          <a:prstGeom prst="rect">
            <a:avLst/>
          </a:prstGeom>
          <a:noFill/>
          <a:ln/>
        </p:spPr>
        <p:txBody>
          <a:bodyPr wrap="square" lIns="0" tIns="0" rIns="0" bIns="0" rtlCol="0" anchor="ctr"/>
          <a:lstStyle/>
          <a:p>
            <a:pPr algn="l" indent="0" marL="0">
              <a:buNone/>
            </a:pPr>
            <a:r>
              <a:rPr lang="en-US" sz="1150" u="sng" dirty="0">
                <a:solidFill>
                  <a:srgbClr val="FFFFFF"/>
                </a:solidFill>
                <a:latin typeface="Plus Jakarta Sans" pitchFamily="34" charset="0"/>
                <a:ea typeface="Segoe UI" pitchFamily="34" charset="-122"/>
                <a:cs typeface="Segoe UI" pitchFamily="34" charset="-120"/>
                <a:hlinkClick r:id="rId17" invalidUrl="" action="" tgtFrame="" tooltip="" history="1" highlightClick="0" endSnd="0">
                  <a:extLst>
                    <a:ext uri="{A12FA001-AC4F-418D-AE19-62706E023703}">
                      <ahyp:hlinkClr xmlns:ahyp="http://schemas.microsoft.com/office/drawing/2018/hyperlinkcolor" val="tx"/>
                    </a:ext>
                  </a:extLst>
                </a:hlinkClick>
              </a:rPr>
              <a:t>Lai: pre-AUS urodynamics, Urology 2009</a:t>
            </a:r>
            <a:endParaRPr lang="en-US" sz="1150" dirty="0">
              <a:latin typeface="Plus Jakarta Sans"/>
            </a:endParaRPr>
          </a:p>
        </p:txBody>
      </p:sp>
      <p:sp>
        <p:nvSpPr>
          <p:cNvPr id="53" name="Shape 51"/>
          <p:cNvSpPr/>
          <p:nvPr/>
        </p:nvSpPr>
        <p:spPr>
          <a:xfrm>
            <a:off x="6278728" y="4681728"/>
            <a:ext cx="5272888" cy="0"/>
          </a:xfrm>
          <a:prstGeom prst="line">
            <a:avLst/>
          </a:prstGeom>
          <a:noFill/>
          <a:ln w="6350">
            <a:solidFill>
              <a:srgbClr val="3D3D3D"/>
            </a:solidFill>
            <a:prstDash val="solid"/>
          </a:ln>
        </p:spPr>
      </p:sp>
      <p:sp>
        <p:nvSpPr>
          <p:cNvPr id="54" name="Text 52"/>
          <p:cNvSpPr txBox="1"/>
          <p:nvPr/>
        </p:nvSpPr>
        <p:spPr>
          <a:xfrm>
            <a:off x="6278728" y="4681728"/>
            <a:ext cx="1234440" cy="420624"/>
          </a:xfrm>
          <a:prstGeom prst="rect">
            <a:avLst/>
          </a:prstGeom>
          <a:noFill/>
          <a:ln/>
        </p:spPr>
        <p:txBody>
          <a:bodyPr wrap="square" lIns="0" tIns="0" rIns="0" bIns="0" rtlCol="0" anchor="ctr"/>
          <a:lstStyle/>
          <a:p>
            <a:pPr algn="l" indent="0" marL="0">
              <a:buNone/>
            </a:pPr>
            <a:r>
              <a:rPr lang="en-US" sz="950" b="1" dirty="0">
                <a:solidFill>
                  <a:srgbClr val="05C489"/>
                </a:solidFill>
                <a:latin typeface="Plus Jakarta Sans" pitchFamily="34" charset="0"/>
                <a:ea typeface="Segoe UI" pitchFamily="34" charset="-122"/>
                <a:cs typeface="Segoe UI" pitchFamily="34" charset="-120"/>
              </a:rPr>
              <a:t>OAB11</a:t>
            </a:r>
            <a:endParaRPr lang="en-US" sz="950" dirty="0">
              <a:latin typeface="Plus Jakarta Sans"/>
            </a:endParaRPr>
          </a:p>
        </p:txBody>
      </p:sp>
      <p:sp>
        <p:nvSpPr>
          <p:cNvPr id="55" name="Text 53">
            <a:hlinkClick r:id="rId18" tooltip=""/>
          </p:cNvPr>
          <p:cNvSpPr txBox="1"/>
          <p:nvPr/>
        </p:nvSpPr>
        <p:spPr>
          <a:xfrm>
            <a:off x="7558888" y="4681728"/>
            <a:ext cx="3992728" cy="420624"/>
          </a:xfrm>
          <a:prstGeom prst="rect">
            <a:avLst/>
          </a:prstGeom>
          <a:noFill/>
          <a:ln/>
        </p:spPr>
        <p:txBody>
          <a:bodyPr wrap="square" lIns="0" tIns="0" rIns="0" bIns="0" rtlCol="0" anchor="ctr"/>
          <a:lstStyle/>
          <a:p>
            <a:pPr algn="l" indent="0" marL="0">
              <a:buNone/>
            </a:pPr>
            <a:r>
              <a:rPr lang="en-US" sz="1150" u="sng" dirty="0">
                <a:solidFill>
                  <a:srgbClr val="FFFFFF"/>
                </a:solidFill>
                <a:latin typeface="Plus Jakarta Sans" pitchFamily="34" charset="0"/>
                <a:ea typeface="Segoe UI" pitchFamily="34" charset="-122"/>
                <a:cs typeface="Segoe UI" pitchFamily="34" charset="-120"/>
                <a:hlinkClick r:id="rId18" invalidUrl="" action="" tgtFrame="" tooltip="" history="1" highlightClick="0" endSnd="0">
                  <a:extLst>
                    <a:ext uri="{A12FA001-AC4F-418D-AE19-62706E023703}">
                      <ahyp:hlinkClr xmlns:ahyp="http://schemas.microsoft.com/office/drawing/2018/hyperlinkcolor" val="tx"/>
                    </a:ext>
                  </a:extLst>
                </a:hlinkClick>
              </a:rPr>
              <a:t>Lai: OAB and post-prostatectomy AUS, 2011</a:t>
            </a:r>
            <a:endParaRPr lang="en-US" sz="1150" dirty="0">
              <a:latin typeface="Plus Jakarta Sans"/>
            </a:endParaRPr>
          </a:p>
        </p:txBody>
      </p:sp>
      <p:sp>
        <p:nvSpPr>
          <p:cNvPr id="56" name="Shape 54"/>
          <p:cNvSpPr/>
          <p:nvPr/>
        </p:nvSpPr>
        <p:spPr>
          <a:xfrm>
            <a:off x="6278728" y="5102352"/>
            <a:ext cx="5272888" cy="0"/>
          </a:xfrm>
          <a:prstGeom prst="line">
            <a:avLst/>
          </a:prstGeom>
          <a:noFill/>
          <a:ln w="6350">
            <a:solidFill>
              <a:srgbClr val="3D3D3D"/>
            </a:solidFill>
            <a:prstDash val="solid"/>
          </a:ln>
        </p:spPr>
      </p:sp>
      <p:sp>
        <p:nvSpPr>
          <p:cNvPr id="57" name="Text 55"/>
          <p:cNvSpPr txBox="1"/>
          <p:nvPr/>
        </p:nvSpPr>
        <p:spPr>
          <a:xfrm>
            <a:off x="6278728" y="5102352"/>
            <a:ext cx="1234440" cy="420624"/>
          </a:xfrm>
          <a:prstGeom prst="rect">
            <a:avLst/>
          </a:prstGeom>
          <a:noFill/>
          <a:ln/>
        </p:spPr>
        <p:txBody>
          <a:bodyPr wrap="square" lIns="0" tIns="0" rIns="0" bIns="0" rtlCol="0" anchor="ctr"/>
          <a:lstStyle/>
          <a:p>
            <a:pPr algn="l" indent="0" marL="0">
              <a:buNone/>
            </a:pPr>
            <a:r>
              <a:rPr lang="en-US" sz="950" b="1" dirty="0">
                <a:solidFill>
                  <a:srgbClr val="05C489"/>
                </a:solidFill>
                <a:latin typeface="Plus Jakarta Sans" pitchFamily="34" charset="0"/>
                <a:ea typeface="Segoe UI" pitchFamily="34" charset="-122"/>
                <a:cs typeface="Segoe UI" pitchFamily="34" charset="-120"/>
              </a:rPr>
              <a:t>DO24</a:t>
            </a:r>
            <a:endParaRPr lang="en-US" sz="950" dirty="0">
              <a:latin typeface="Plus Jakarta Sans"/>
            </a:endParaRPr>
          </a:p>
        </p:txBody>
      </p:sp>
      <p:sp>
        <p:nvSpPr>
          <p:cNvPr id="58" name="Text 56">
            <a:hlinkClick r:id="rId19" tooltip=""/>
          </p:cNvPr>
          <p:cNvSpPr txBox="1"/>
          <p:nvPr/>
        </p:nvSpPr>
        <p:spPr>
          <a:xfrm>
            <a:off x="7558888" y="5102352"/>
            <a:ext cx="3992728" cy="420624"/>
          </a:xfrm>
          <a:prstGeom prst="rect">
            <a:avLst/>
          </a:prstGeom>
          <a:noFill/>
          <a:ln/>
        </p:spPr>
        <p:txBody>
          <a:bodyPr wrap="square" lIns="0" tIns="0" rIns="0" bIns="0" rtlCol="0" anchor="ctr"/>
          <a:lstStyle/>
          <a:p>
            <a:pPr algn="l" indent="0" marL="0">
              <a:buNone/>
            </a:pPr>
            <a:r>
              <a:rPr lang="en-US" sz="1150" u="sng" dirty="0">
                <a:solidFill>
                  <a:srgbClr val="FFFFFF"/>
                </a:solidFill>
                <a:latin typeface="Plus Jakarta Sans" pitchFamily="34" charset="0"/>
                <a:ea typeface="Segoe UI" pitchFamily="34" charset="-122"/>
                <a:cs typeface="Segoe UI" pitchFamily="34" charset="-120"/>
                <a:hlinkClick r:id="rId19" invalidUrl="" action="" tgtFrame="" tooltip="" history="1" highlightClick="0" endSnd="0">
                  <a:extLst>
                    <a:ext uri="{A12FA001-AC4F-418D-AE19-62706E023703}">
                      <ahyp:hlinkClr xmlns:ahyp="http://schemas.microsoft.com/office/drawing/2018/hyperlinkcolor" val="tx"/>
                    </a:ext>
                  </a:extLst>
                </a:hlinkClick>
              </a:rPr>
              <a:t>Bhatt: preoperative DO systematic review, 2024</a:t>
            </a:r>
            <a:endParaRPr lang="en-US" sz="1150" dirty="0">
              <a:latin typeface="Plus Jakarta Sans"/>
            </a:endParaRPr>
          </a:p>
        </p:txBody>
      </p:sp>
      <p:sp>
        <p:nvSpPr>
          <p:cNvPr id="59" name="Shape 57"/>
          <p:cNvSpPr/>
          <p:nvPr/>
        </p:nvSpPr>
        <p:spPr>
          <a:xfrm>
            <a:off x="6278728" y="5522976"/>
            <a:ext cx="5272888" cy="0"/>
          </a:xfrm>
          <a:prstGeom prst="line">
            <a:avLst/>
          </a:prstGeom>
          <a:noFill/>
          <a:ln w="6350">
            <a:solidFill>
              <a:srgbClr val="3D3D3D"/>
            </a:solidFill>
            <a:prstDash val="solid"/>
          </a:ln>
        </p:spPr>
      </p:sp>
      <p:sp>
        <p:nvSpPr>
          <p:cNvPr id="60" name="Text 58"/>
          <p:cNvSpPr txBox="1"/>
          <p:nvPr/>
        </p:nvSpPr>
        <p:spPr>
          <a:xfrm>
            <a:off x="6278728" y="5522976"/>
            <a:ext cx="1234440" cy="420624"/>
          </a:xfrm>
          <a:prstGeom prst="rect">
            <a:avLst/>
          </a:prstGeom>
          <a:noFill/>
          <a:ln/>
        </p:spPr>
        <p:txBody>
          <a:bodyPr wrap="square" lIns="0" tIns="0" rIns="0" bIns="0" rtlCol="0" anchor="ctr"/>
          <a:lstStyle/>
          <a:p>
            <a:pPr algn="l" indent="0" marL="0">
              <a:buNone/>
            </a:pPr>
            <a:r>
              <a:rPr lang="en-US" sz="950" b="1" dirty="0">
                <a:solidFill>
                  <a:srgbClr val="05C489"/>
                </a:solidFill>
                <a:latin typeface="Plus Jakarta Sans" pitchFamily="34" charset="0"/>
                <a:ea typeface="Segoe UI" pitchFamily="34" charset="-122"/>
                <a:cs typeface="Segoe UI" pitchFamily="34" charset="-120"/>
              </a:rPr>
              <a:t>DOFAIL23</a:t>
            </a:r>
            <a:endParaRPr lang="en-US" sz="950" dirty="0">
              <a:latin typeface="Plus Jakarta Sans"/>
            </a:endParaRPr>
          </a:p>
        </p:txBody>
      </p:sp>
      <p:sp>
        <p:nvSpPr>
          <p:cNvPr id="61" name="Text 59">
            <a:hlinkClick r:id="rId20" tooltip=""/>
          </p:cNvPr>
          <p:cNvSpPr txBox="1"/>
          <p:nvPr/>
        </p:nvSpPr>
        <p:spPr>
          <a:xfrm>
            <a:off x="7558888" y="5522976"/>
            <a:ext cx="3992728" cy="420624"/>
          </a:xfrm>
          <a:prstGeom prst="rect">
            <a:avLst/>
          </a:prstGeom>
          <a:noFill/>
          <a:ln/>
        </p:spPr>
        <p:txBody>
          <a:bodyPr wrap="square" lIns="0" tIns="0" rIns="0" bIns="0" rtlCol="0" anchor="ctr"/>
          <a:lstStyle/>
          <a:p>
            <a:pPr algn="l" indent="0" marL="0">
              <a:buNone/>
            </a:pPr>
            <a:r>
              <a:rPr lang="en-US" sz="1150" u="sng" dirty="0">
                <a:solidFill>
                  <a:srgbClr val="FFFFFF"/>
                </a:solidFill>
                <a:latin typeface="Plus Jakarta Sans" pitchFamily="34" charset="0"/>
                <a:ea typeface="Segoe UI" pitchFamily="34" charset="-122"/>
                <a:cs typeface="Segoe UI" pitchFamily="34" charset="-120"/>
                <a:hlinkClick r:id="rId20" invalidUrl="" action="" tgtFrame="" tooltip="" history="1" highlightClick="0" endSnd="0">
                  <a:extLst>
                    <a:ext uri="{A12FA001-AC4F-418D-AE19-62706E023703}">
                      <ahyp:hlinkClr xmlns:ahyp="http://schemas.microsoft.com/office/drawing/2018/hyperlinkcolor" val="tx"/>
                    </a:ext>
                  </a:extLst>
                </a:hlinkClick>
              </a:rPr>
              <a:t>Krughoff: earlier AUS failure, 2023</a:t>
            </a:r>
            <a:endParaRPr lang="en-US" sz="1150" dirty="0">
              <a:latin typeface="Plus Jakarta Sans"/>
            </a:endParaRPr>
          </a:p>
        </p:txBody>
      </p:sp>
      <p:sp>
        <p:nvSpPr>
          <p:cNvPr id="9001" name="replacement-title">
            <a:extLst>
              <a:ext uri="{FF2B5EF4-FFF2-40B4-BE49-F238E27FC236}">
                <a16:creationId xmlns:a16="http://schemas.microsoft.com/office/drawing/2014/main" id="{D8D36D4B-7C6C-4F6D-B3F8-83E845EC61A4}"/>
              </a:ext>
            </a:extLst>
          </p:cNvPr>
          <p:cNvSpPr>
            <a:spLocks noGrp="1"/>
          </p:cNvSpPr>
          <p:nvPr/>
        </p:nvSpPr>
        <p:spPr>
          <a:xfrm>
            <a:off x="638175" y="752475"/>
            <a:ext cx="10915650" cy="800100"/>
          </a:xfrm>
          <a:prstGeom prst="rect">
            <a:avLst/>
          </a:prstGeom>
          <a:noFill/>
          <a:ln w="0">
            <a:noFill/>
          </a:ln>
        </p:spPr>
        <p:txBody>
          <a:bodyPr anchor="ctr"/>
          <a:lstStyle>
            <a:defPPr>
              <a:defRPr sz="2625" b="1">
                <a:solidFill>
                  <a:srgbClr val="FFFFFF"/>
                </a:solidFill>
                <a:latin typeface="Plus Jakarta Sans"/>
              </a:defRPr>
            </a:defPPr>
            <a:lvl1pPr>
              <a:defRPr sz="2625" b="1">
                <a:solidFill>
                  <a:srgbClr val="FFFFFF"/>
                </a:solidFill>
                <a:latin typeface="Plus Jakarta Sans"/>
              </a:defRPr>
            </a:lvl1pPr>
            <a:lvl2pPr>
              <a:defRPr sz="2625" b="1">
                <a:solidFill>
                  <a:srgbClr val="FFFFFF"/>
                </a:solidFill>
                <a:latin typeface="Plus Jakarta Sans"/>
              </a:defRPr>
            </a:lvl2pPr>
            <a:lvl3pPr>
              <a:defRPr sz="2625" b="1">
                <a:solidFill>
                  <a:srgbClr val="FFFFFF"/>
                </a:solidFill>
                <a:latin typeface="Plus Jakarta Sans"/>
              </a:defRPr>
            </a:lvl3pPr>
            <a:lvl4pPr>
              <a:defRPr sz="2625" b="1">
                <a:solidFill>
                  <a:srgbClr val="FFFFFF"/>
                </a:solidFill>
                <a:latin typeface="Plus Jakarta Sans"/>
              </a:defRPr>
            </a:lvl4pPr>
            <a:lvl5pPr>
              <a:defRPr sz="2625" b="1">
                <a:solidFill>
                  <a:srgbClr val="FFFFFF"/>
                </a:solidFill>
                <a:latin typeface="Plus Jakarta Sans"/>
              </a:defRPr>
            </a:lvl5pPr>
            <a:lvl6pPr>
              <a:defRPr sz="2625" b="1">
                <a:solidFill>
                  <a:srgbClr val="FFFFFF"/>
                </a:solidFill>
                <a:latin typeface="Plus Jakarta Sans"/>
              </a:defRPr>
            </a:lvl6pPr>
            <a:lvl7pPr>
              <a:defRPr sz="2625" b="1">
                <a:solidFill>
                  <a:srgbClr val="FFFFFF"/>
                </a:solidFill>
                <a:latin typeface="Plus Jakarta Sans"/>
              </a:defRPr>
            </a:lvl7pPr>
            <a:lvl8pPr>
              <a:defRPr sz="2625" b="1">
                <a:solidFill>
                  <a:srgbClr val="FFFFFF"/>
                </a:solidFill>
                <a:latin typeface="Plus Jakarta Sans"/>
              </a:defRPr>
            </a:lvl8pPr>
            <a:lvl9pPr>
              <a:defRPr sz="2625" b="1">
                <a:solidFill>
                  <a:srgbClr val="FFFFFF"/>
                </a:solidFill>
                <a:latin typeface="Plus Jakarta Sans"/>
              </a:defRPr>
            </a:lvl9pPr>
          </a:lstStyle>
          <a:p>
            <a:pPr>
              <a:defRPr sz="2625" b="1">
                <a:solidFill>
                  <a:srgbClr val="FFFFFF"/>
                </a:solidFill>
                <a:latin typeface="Plus Jakarta Sans"/>
              </a:defRPr>
            </a:pPr>
            <a:r>
              <a:rPr sz="2625" b="1">
                <a:solidFill>
                  <a:srgbClr val="FFFFFF"/>
                </a:solidFill>
                <a:latin typeface="Plus Jakarta Sans"/>
              </a:rPr>
              <a:t>Sources 1 of 3</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61616"/>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05C489"/>
                </a:solidFill>
                <a:latin typeface="Plus Jakarta Sans" pitchFamily="34" charset="0"/>
                <a:ea typeface="Segoe UI" pitchFamily="34" charset="-122"/>
                <a:cs typeface="Segoe UI" pitchFamily="34" charset="-120"/>
              </a:rPr>
              <a:t>REFERENCES</a:t>
            </a:r>
            <a:endParaRPr lang="en-US" sz="950" dirty="0">
              <a:latin typeface="Plus Jakarta Sans"/>
            </a:endParaRPr>
          </a:p>
        </p:txBody>
      </p:sp>
      <p:sp>
        <p:nvSpPr>
          <p:cNvPr id="4" name="Text 2"/>
          <p:cNvSpPr txBox="1"/>
          <p:nvPr/>
        </p:nvSpPr>
        <p:spPr>
          <a:xfrm>
            <a:off x="640080" y="1737360"/>
            <a:ext cx="1234440" cy="420624"/>
          </a:xfrm>
          <a:prstGeom prst="rect">
            <a:avLst/>
          </a:prstGeom>
          <a:noFill/>
          <a:ln/>
        </p:spPr>
        <p:txBody>
          <a:bodyPr wrap="square" lIns="0" tIns="0" rIns="0" bIns="0" rtlCol="0" anchor="ctr"/>
          <a:lstStyle/>
          <a:p>
            <a:pPr algn="l" indent="0" marL="0">
              <a:buNone/>
            </a:pPr>
            <a:r>
              <a:rPr lang="en-US" sz="950" b="1" dirty="0">
                <a:solidFill>
                  <a:srgbClr val="05C489"/>
                </a:solidFill>
                <a:latin typeface="Plus Jakarta Sans" pitchFamily="34" charset="0"/>
                <a:ea typeface="Segoe UI" pitchFamily="34" charset="-122"/>
                <a:cs typeface="Segoe UI" pitchFamily="34" charset="-120"/>
              </a:rPr>
              <a:t>DU23</a:t>
            </a:r>
            <a:endParaRPr lang="en-US" sz="950" dirty="0">
              <a:latin typeface="Plus Jakarta Sans"/>
            </a:endParaRPr>
          </a:p>
        </p:txBody>
      </p:sp>
      <p:sp>
        <p:nvSpPr>
          <p:cNvPr id="5" name="Text 3">
            <a:hlinkClick r:id="rId1" tooltip=""/>
          </p:cNvPr>
          <p:cNvSpPr txBox="1"/>
          <p:nvPr/>
        </p:nvSpPr>
        <p:spPr>
          <a:xfrm>
            <a:off x="1920240" y="1737360"/>
            <a:ext cx="3992728" cy="420624"/>
          </a:xfrm>
          <a:prstGeom prst="rect">
            <a:avLst/>
          </a:prstGeom>
          <a:noFill/>
          <a:ln/>
        </p:spPr>
        <p:txBody>
          <a:bodyPr wrap="square" lIns="0" tIns="0" rIns="0" bIns="0" rtlCol="0" anchor="ctr"/>
          <a:lstStyle/>
          <a:p>
            <a:pPr algn="l" indent="0" marL="0">
              <a:buNone/>
            </a:pPr>
            <a:r>
              <a:rPr lang="en-US" sz="1150" u="sng" dirty="0">
                <a:solidFill>
                  <a:srgbClr val="FFFFFF"/>
                </a:solidFill>
                <a:latin typeface="Plus Jakarta Sans"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Han: AUS with detrusor underactivity, 2023</a:t>
            </a:r>
            <a:endParaRPr lang="en-US" sz="1150" dirty="0">
              <a:latin typeface="Plus Jakarta Sans"/>
            </a:endParaRPr>
          </a:p>
        </p:txBody>
      </p:sp>
      <p:sp>
        <p:nvSpPr>
          <p:cNvPr id="6" name="Shape 4"/>
          <p:cNvSpPr/>
          <p:nvPr/>
        </p:nvSpPr>
        <p:spPr>
          <a:xfrm>
            <a:off x="640080" y="2157984"/>
            <a:ext cx="5272888" cy="0"/>
          </a:xfrm>
          <a:prstGeom prst="line">
            <a:avLst/>
          </a:prstGeom>
          <a:noFill/>
          <a:ln w="6350">
            <a:solidFill>
              <a:srgbClr val="3D3D3D"/>
            </a:solidFill>
            <a:prstDash val="solid"/>
          </a:ln>
        </p:spPr>
      </p:sp>
      <p:sp>
        <p:nvSpPr>
          <p:cNvPr id="7" name="Text 5"/>
          <p:cNvSpPr txBox="1"/>
          <p:nvPr/>
        </p:nvSpPr>
        <p:spPr>
          <a:xfrm>
            <a:off x="640080" y="2157984"/>
            <a:ext cx="1234440" cy="420624"/>
          </a:xfrm>
          <a:prstGeom prst="rect">
            <a:avLst/>
          </a:prstGeom>
          <a:noFill/>
          <a:ln/>
        </p:spPr>
        <p:txBody>
          <a:bodyPr wrap="square" lIns="0" tIns="0" rIns="0" bIns="0" rtlCol="0" anchor="ctr"/>
          <a:lstStyle/>
          <a:p>
            <a:pPr algn="l" indent="0" marL="0">
              <a:buNone/>
            </a:pPr>
            <a:r>
              <a:rPr lang="en-US" sz="950" b="1" dirty="0">
                <a:solidFill>
                  <a:srgbClr val="05C489"/>
                </a:solidFill>
                <a:latin typeface="Plus Jakarta Sans" pitchFamily="34" charset="0"/>
                <a:ea typeface="Segoe UI" pitchFamily="34" charset="-122"/>
                <a:cs typeface="Segoe UI" pitchFamily="34" charset="-120"/>
              </a:rPr>
              <a:t>CIC23</a:t>
            </a:r>
            <a:endParaRPr lang="en-US" sz="950" dirty="0">
              <a:latin typeface="Plus Jakarta Sans"/>
            </a:endParaRPr>
          </a:p>
        </p:txBody>
      </p:sp>
      <p:sp>
        <p:nvSpPr>
          <p:cNvPr id="8" name="Text 6">
            <a:hlinkClick r:id="rId2" tooltip=""/>
          </p:cNvPr>
          <p:cNvSpPr txBox="1"/>
          <p:nvPr/>
        </p:nvSpPr>
        <p:spPr>
          <a:xfrm>
            <a:off x="1920240" y="2157984"/>
            <a:ext cx="3992728" cy="420624"/>
          </a:xfrm>
          <a:prstGeom prst="rect">
            <a:avLst/>
          </a:prstGeom>
          <a:noFill/>
          <a:ln/>
        </p:spPr>
        <p:txBody>
          <a:bodyPr wrap="square" lIns="0" tIns="0" rIns="0" bIns="0" rtlCol="0" anchor="ctr"/>
          <a:lstStyle/>
          <a:p>
            <a:pPr algn="l" indent="0" marL="0">
              <a:buNone/>
            </a:pPr>
            <a:r>
              <a:rPr lang="en-US" sz="1150" u="sng" dirty="0">
                <a:solidFill>
                  <a:srgbClr val="FFFFFF"/>
                </a:solidFill>
                <a:latin typeface="Plus Jakarta Sans" pitchFamily="34" charset="0"/>
                <a:ea typeface="Segoe UI" pitchFamily="34" charset="-122"/>
                <a:cs typeface="Segoe UI" pitchFamily="34" charset="-120"/>
                <a:hlinkClick r:id="rId2" invalidUrl="" action="" tgtFrame="" tooltip="" history="1" highlightClick="0" endSnd="0">
                  <a:extLst>
                    <a:ext uri="{A12FA001-AC4F-418D-AE19-62706E023703}">
                      <ahyp:hlinkClr xmlns:ahyp="http://schemas.microsoft.com/office/drawing/2018/hyperlinkcolor" val="tx"/>
                    </a:ext>
                  </a:extLst>
                </a:hlinkClick>
              </a:rPr>
              <a:t>Krughoff: CIC after bulbar AUS, 2023</a:t>
            </a:r>
            <a:endParaRPr lang="en-US" sz="1150" dirty="0">
              <a:latin typeface="Plus Jakarta Sans"/>
            </a:endParaRPr>
          </a:p>
        </p:txBody>
      </p:sp>
      <p:sp>
        <p:nvSpPr>
          <p:cNvPr id="9" name="Shape 7"/>
          <p:cNvSpPr/>
          <p:nvPr/>
        </p:nvSpPr>
        <p:spPr>
          <a:xfrm>
            <a:off x="640080" y="2578608"/>
            <a:ext cx="5272888" cy="0"/>
          </a:xfrm>
          <a:prstGeom prst="line">
            <a:avLst/>
          </a:prstGeom>
          <a:noFill/>
          <a:ln w="6350">
            <a:solidFill>
              <a:srgbClr val="3D3D3D"/>
            </a:solidFill>
            <a:prstDash val="solid"/>
          </a:ln>
        </p:spPr>
      </p:sp>
      <p:sp>
        <p:nvSpPr>
          <p:cNvPr id="10" name="Text 8"/>
          <p:cNvSpPr txBox="1"/>
          <p:nvPr/>
        </p:nvSpPr>
        <p:spPr>
          <a:xfrm>
            <a:off x="640080" y="2578608"/>
            <a:ext cx="1234440" cy="420624"/>
          </a:xfrm>
          <a:prstGeom prst="rect">
            <a:avLst/>
          </a:prstGeom>
          <a:noFill/>
          <a:ln/>
        </p:spPr>
        <p:txBody>
          <a:bodyPr wrap="square" lIns="0" tIns="0" rIns="0" bIns="0" rtlCol="0" anchor="ctr"/>
          <a:lstStyle/>
          <a:p>
            <a:pPr algn="l" indent="0" marL="0">
              <a:buNone/>
            </a:pPr>
            <a:r>
              <a:rPr lang="en-US" sz="950" b="1" dirty="0">
                <a:solidFill>
                  <a:srgbClr val="05C489"/>
                </a:solidFill>
                <a:latin typeface="Plus Jakarta Sans" pitchFamily="34" charset="0"/>
                <a:ea typeface="Segoe UI" pitchFamily="34" charset="-122"/>
                <a:cs typeface="Segoe UI" pitchFamily="34" charset="-120"/>
              </a:rPr>
              <a:t>CATH13</a:t>
            </a:r>
            <a:endParaRPr lang="en-US" sz="950" dirty="0">
              <a:latin typeface="Plus Jakarta Sans"/>
            </a:endParaRPr>
          </a:p>
        </p:txBody>
      </p:sp>
      <p:sp>
        <p:nvSpPr>
          <p:cNvPr id="11" name="Text 9">
            <a:hlinkClick r:id="rId3" tooltip=""/>
          </p:cNvPr>
          <p:cNvSpPr txBox="1"/>
          <p:nvPr/>
        </p:nvSpPr>
        <p:spPr>
          <a:xfrm>
            <a:off x="1920240" y="2578608"/>
            <a:ext cx="3992728" cy="420624"/>
          </a:xfrm>
          <a:prstGeom prst="rect">
            <a:avLst/>
          </a:prstGeom>
          <a:noFill/>
          <a:ln/>
        </p:spPr>
        <p:txBody>
          <a:bodyPr wrap="square" lIns="0" tIns="0" rIns="0" bIns="0" rtlCol="0" anchor="ctr"/>
          <a:lstStyle/>
          <a:p>
            <a:pPr algn="l" indent="0" marL="0">
              <a:buNone/>
            </a:pPr>
            <a:r>
              <a:rPr lang="en-US" sz="1150" u="sng" dirty="0">
                <a:solidFill>
                  <a:srgbClr val="FFFFFF"/>
                </a:solidFill>
                <a:latin typeface="Plus Jakarta Sans" pitchFamily="34" charset="0"/>
                <a:ea typeface="Segoe UI" pitchFamily="34" charset="-122"/>
                <a:cs typeface="Segoe UI" pitchFamily="34" charset="-120"/>
                <a:hlinkClick r:id="rId3" invalidUrl="" action="" tgtFrame="" tooltip="" history="1" highlightClick="0" endSnd="0">
                  <a:extLst>
                    <a:ext uri="{A12FA001-AC4F-418D-AE19-62706E023703}">
                      <ahyp:hlinkClr xmlns:ahyp="http://schemas.microsoft.com/office/drawing/2018/hyperlinkcolor" val="tx"/>
                    </a:ext>
                  </a:extLst>
                </a:hlinkClick>
              </a:rPr>
              <a:t>Seideman: prolonged catheterisation, 2013</a:t>
            </a:r>
            <a:endParaRPr lang="en-US" sz="1150" dirty="0">
              <a:latin typeface="Plus Jakarta Sans"/>
            </a:endParaRPr>
          </a:p>
        </p:txBody>
      </p:sp>
      <p:sp>
        <p:nvSpPr>
          <p:cNvPr id="12" name="Shape 10"/>
          <p:cNvSpPr/>
          <p:nvPr/>
        </p:nvSpPr>
        <p:spPr>
          <a:xfrm>
            <a:off x="640080" y="2999232"/>
            <a:ext cx="5272888" cy="0"/>
          </a:xfrm>
          <a:prstGeom prst="line">
            <a:avLst/>
          </a:prstGeom>
          <a:noFill/>
          <a:ln w="6350">
            <a:solidFill>
              <a:srgbClr val="3D3D3D"/>
            </a:solidFill>
            <a:prstDash val="solid"/>
          </a:ln>
        </p:spPr>
      </p:sp>
      <p:sp>
        <p:nvSpPr>
          <p:cNvPr id="13" name="Text 11"/>
          <p:cNvSpPr txBox="1"/>
          <p:nvPr/>
        </p:nvSpPr>
        <p:spPr>
          <a:xfrm>
            <a:off x="640080" y="2999232"/>
            <a:ext cx="1234440" cy="420624"/>
          </a:xfrm>
          <a:prstGeom prst="rect">
            <a:avLst/>
          </a:prstGeom>
          <a:noFill/>
          <a:ln/>
        </p:spPr>
        <p:txBody>
          <a:bodyPr wrap="square" lIns="0" tIns="0" rIns="0" bIns="0" rtlCol="0" anchor="ctr"/>
          <a:lstStyle/>
          <a:p>
            <a:pPr algn="l" indent="0" marL="0">
              <a:buNone/>
            </a:pPr>
            <a:r>
              <a:rPr lang="en-US" sz="950" b="1" dirty="0">
                <a:solidFill>
                  <a:srgbClr val="05C489"/>
                </a:solidFill>
                <a:latin typeface="Plus Jakarta Sans" pitchFamily="34" charset="0"/>
                <a:ea typeface="Segoe UI" pitchFamily="34" charset="-122"/>
                <a:cs typeface="Segoe UI" pitchFamily="34" charset="-120"/>
              </a:rPr>
              <a:t>UDS14</a:t>
            </a:r>
            <a:endParaRPr lang="en-US" sz="950" dirty="0">
              <a:latin typeface="Plus Jakarta Sans"/>
            </a:endParaRPr>
          </a:p>
        </p:txBody>
      </p:sp>
      <p:sp>
        <p:nvSpPr>
          <p:cNvPr id="14" name="Text 12">
            <a:hlinkClick r:id="rId4" tooltip=""/>
          </p:cNvPr>
          <p:cNvSpPr txBox="1"/>
          <p:nvPr/>
        </p:nvSpPr>
        <p:spPr>
          <a:xfrm>
            <a:off x="1920240" y="2999232"/>
            <a:ext cx="3992728" cy="420624"/>
          </a:xfrm>
          <a:prstGeom prst="rect">
            <a:avLst/>
          </a:prstGeom>
          <a:noFill/>
          <a:ln/>
        </p:spPr>
        <p:txBody>
          <a:bodyPr wrap="square" lIns="0" tIns="0" rIns="0" bIns="0" rtlCol="0" anchor="ctr"/>
          <a:lstStyle/>
          <a:p>
            <a:pPr algn="l" indent="0" marL="0">
              <a:buNone/>
            </a:pPr>
            <a:r>
              <a:rPr lang="en-US" sz="1150" u="sng" dirty="0">
                <a:solidFill>
                  <a:srgbClr val="FFFFFF"/>
                </a:solidFill>
                <a:latin typeface="Plus Jakarta Sans" pitchFamily="34" charset="0"/>
                <a:ea typeface="Segoe UI" pitchFamily="34" charset="-122"/>
                <a:cs typeface="Segoe UI" pitchFamily="34" charset="-120"/>
                <a:hlinkClick r:id="rId4" invalidUrl="" action="" tgtFrame="" tooltip="" history="1" highlightClick="0" endSnd="0">
                  <a:extLst>
                    <a:ext uri="{A12FA001-AC4F-418D-AE19-62706E023703}">
                      <ahyp:hlinkClr xmlns:ahyp="http://schemas.microsoft.com/office/drawing/2018/hyperlinkcolor" val="tx"/>
                    </a:ext>
                  </a:extLst>
                </a:hlinkClick>
              </a:rPr>
              <a:t>Weissbart: absent leak during UDS, 2014</a:t>
            </a:r>
            <a:endParaRPr lang="en-US" sz="1150" dirty="0">
              <a:latin typeface="Plus Jakarta Sans"/>
            </a:endParaRPr>
          </a:p>
        </p:txBody>
      </p:sp>
      <p:sp>
        <p:nvSpPr>
          <p:cNvPr id="15" name="Shape 13"/>
          <p:cNvSpPr/>
          <p:nvPr/>
        </p:nvSpPr>
        <p:spPr>
          <a:xfrm>
            <a:off x="640080" y="3419856"/>
            <a:ext cx="5272888" cy="0"/>
          </a:xfrm>
          <a:prstGeom prst="line">
            <a:avLst/>
          </a:prstGeom>
          <a:noFill/>
          <a:ln w="6350">
            <a:solidFill>
              <a:srgbClr val="3D3D3D"/>
            </a:solidFill>
            <a:prstDash val="solid"/>
          </a:ln>
        </p:spPr>
      </p:sp>
      <p:sp>
        <p:nvSpPr>
          <p:cNvPr id="16" name="Text 14"/>
          <p:cNvSpPr txBox="1"/>
          <p:nvPr/>
        </p:nvSpPr>
        <p:spPr>
          <a:xfrm>
            <a:off x="640080" y="3419856"/>
            <a:ext cx="1234440" cy="420624"/>
          </a:xfrm>
          <a:prstGeom prst="rect">
            <a:avLst/>
          </a:prstGeom>
          <a:noFill/>
          <a:ln/>
        </p:spPr>
        <p:txBody>
          <a:bodyPr wrap="square" lIns="0" tIns="0" rIns="0" bIns="0" rtlCol="0" anchor="ctr"/>
          <a:lstStyle/>
          <a:p>
            <a:pPr algn="l" indent="0" marL="0">
              <a:buNone/>
            </a:pPr>
            <a:r>
              <a:rPr lang="en-US" sz="950" b="1" dirty="0">
                <a:solidFill>
                  <a:srgbClr val="05C489"/>
                </a:solidFill>
                <a:latin typeface="Plus Jakarta Sans" pitchFamily="34" charset="0"/>
                <a:ea typeface="Segoe UI" pitchFamily="34" charset="-122"/>
                <a:cs typeface="Segoe UI" pitchFamily="34" charset="-120"/>
              </a:rPr>
              <a:t>RT22</a:t>
            </a:r>
            <a:endParaRPr lang="en-US" sz="950" dirty="0">
              <a:latin typeface="Plus Jakarta Sans"/>
            </a:endParaRPr>
          </a:p>
        </p:txBody>
      </p:sp>
      <p:sp>
        <p:nvSpPr>
          <p:cNvPr id="17" name="Text 15">
            <a:hlinkClick r:id="rId5" tooltip=""/>
          </p:cNvPr>
          <p:cNvSpPr txBox="1"/>
          <p:nvPr/>
        </p:nvSpPr>
        <p:spPr>
          <a:xfrm>
            <a:off x="1920240" y="3419856"/>
            <a:ext cx="3992728" cy="420624"/>
          </a:xfrm>
          <a:prstGeom prst="rect">
            <a:avLst/>
          </a:prstGeom>
          <a:noFill/>
          <a:ln/>
        </p:spPr>
        <p:txBody>
          <a:bodyPr wrap="square" lIns="0" tIns="0" rIns="0" bIns="0" rtlCol="0" anchor="ctr"/>
          <a:lstStyle/>
          <a:p>
            <a:pPr algn="l" indent="0" marL="0">
              <a:buNone/>
            </a:pPr>
            <a:r>
              <a:rPr lang="en-US" sz="1150" u="sng" dirty="0">
                <a:solidFill>
                  <a:srgbClr val="FFFFFF"/>
                </a:solidFill>
                <a:latin typeface="Plus Jakarta Sans" pitchFamily="34" charset="0"/>
                <a:ea typeface="Segoe UI" pitchFamily="34" charset="-122"/>
                <a:cs typeface="Segoe UI" pitchFamily="34" charset="-120"/>
                <a:hlinkClick r:id="rId5" invalidUrl="" action="" tgtFrame="" tooltip="" history="1" highlightClick="0" endSnd="0">
                  <a:extLst>
                    <a:ext uri="{A12FA001-AC4F-418D-AE19-62706E023703}">
                      <ahyp:hlinkClr xmlns:ahyp="http://schemas.microsoft.com/office/drawing/2018/hyperlinkcolor" val="tx"/>
                    </a:ext>
                  </a:extLst>
                </a:hlinkClick>
              </a:rPr>
              <a:t>Zhang: radiation meta-analysis, 2022</a:t>
            </a:r>
            <a:endParaRPr lang="en-US" sz="1150" dirty="0">
              <a:latin typeface="Plus Jakarta Sans"/>
            </a:endParaRPr>
          </a:p>
        </p:txBody>
      </p:sp>
      <p:sp>
        <p:nvSpPr>
          <p:cNvPr id="18" name="Shape 16"/>
          <p:cNvSpPr/>
          <p:nvPr/>
        </p:nvSpPr>
        <p:spPr>
          <a:xfrm>
            <a:off x="640080" y="3840480"/>
            <a:ext cx="5272888" cy="0"/>
          </a:xfrm>
          <a:prstGeom prst="line">
            <a:avLst/>
          </a:prstGeom>
          <a:noFill/>
          <a:ln w="6350">
            <a:solidFill>
              <a:srgbClr val="3D3D3D"/>
            </a:solidFill>
            <a:prstDash val="solid"/>
          </a:ln>
        </p:spPr>
      </p:sp>
      <p:sp>
        <p:nvSpPr>
          <p:cNvPr id="19" name="Text 17"/>
          <p:cNvSpPr txBox="1"/>
          <p:nvPr/>
        </p:nvSpPr>
        <p:spPr>
          <a:xfrm>
            <a:off x="640080" y="3840480"/>
            <a:ext cx="1234440" cy="420624"/>
          </a:xfrm>
          <a:prstGeom prst="rect">
            <a:avLst/>
          </a:prstGeom>
          <a:noFill/>
          <a:ln/>
        </p:spPr>
        <p:txBody>
          <a:bodyPr wrap="square" lIns="0" tIns="0" rIns="0" bIns="0" rtlCol="0" anchor="ctr"/>
          <a:lstStyle/>
          <a:p>
            <a:pPr algn="l" indent="0" marL="0">
              <a:buNone/>
            </a:pPr>
            <a:r>
              <a:rPr lang="en-US" sz="950" b="1" dirty="0">
                <a:solidFill>
                  <a:srgbClr val="05C489"/>
                </a:solidFill>
                <a:latin typeface="Plus Jakarta Sans" pitchFamily="34" charset="0"/>
                <a:ea typeface="Segoe UI" pitchFamily="34" charset="-122"/>
                <a:cs typeface="Segoe UI" pitchFamily="34" charset="-120"/>
              </a:rPr>
              <a:t>URETH26</a:t>
            </a:r>
            <a:endParaRPr lang="en-US" sz="950" dirty="0">
              <a:latin typeface="Plus Jakarta Sans"/>
            </a:endParaRPr>
          </a:p>
        </p:txBody>
      </p:sp>
      <p:sp>
        <p:nvSpPr>
          <p:cNvPr id="20" name="Text 18">
            <a:hlinkClick r:id="rId6" tooltip=""/>
          </p:cNvPr>
          <p:cNvSpPr txBox="1"/>
          <p:nvPr/>
        </p:nvSpPr>
        <p:spPr>
          <a:xfrm>
            <a:off x="1920240" y="3840480"/>
            <a:ext cx="3992728" cy="420624"/>
          </a:xfrm>
          <a:prstGeom prst="rect">
            <a:avLst/>
          </a:prstGeom>
          <a:noFill/>
          <a:ln/>
        </p:spPr>
        <p:txBody>
          <a:bodyPr wrap="square" lIns="0" tIns="0" rIns="0" bIns="0" rtlCol="0" anchor="ctr"/>
          <a:lstStyle/>
          <a:p>
            <a:pPr algn="l" indent="0" marL="0">
              <a:buNone/>
            </a:pPr>
            <a:r>
              <a:rPr lang="en-US" sz="1150" u="sng" dirty="0">
                <a:solidFill>
                  <a:srgbClr val="FFFFFF"/>
                </a:solidFill>
                <a:latin typeface="Plus Jakarta Sans" pitchFamily="34" charset="0"/>
                <a:ea typeface="Segoe UI" pitchFamily="34" charset="-122"/>
                <a:cs typeface="Segoe UI" pitchFamily="34" charset="-120"/>
                <a:hlinkClick r:id="rId6" invalidUrl="" action="" tgtFrame="" tooltip="" history="1" highlightClick="0" endSnd="0">
                  <a:extLst>
                    <a:ext uri="{A12FA001-AC4F-418D-AE19-62706E023703}">
                      <ahyp:hlinkClr xmlns:ahyp="http://schemas.microsoft.com/office/drawing/2018/hyperlinkcolor" val="tx"/>
                    </a:ext>
                  </a:extLst>
                </a:hlinkClick>
              </a:rPr>
              <a:t>Davis: AUS after urethroplasty, 2026</a:t>
            </a:r>
            <a:endParaRPr lang="en-US" sz="1150" dirty="0">
              <a:latin typeface="Plus Jakarta Sans"/>
            </a:endParaRPr>
          </a:p>
        </p:txBody>
      </p:sp>
      <p:sp>
        <p:nvSpPr>
          <p:cNvPr id="21" name="Shape 19"/>
          <p:cNvSpPr/>
          <p:nvPr/>
        </p:nvSpPr>
        <p:spPr>
          <a:xfrm>
            <a:off x="640080" y="4261104"/>
            <a:ext cx="5272888" cy="0"/>
          </a:xfrm>
          <a:prstGeom prst="line">
            <a:avLst/>
          </a:prstGeom>
          <a:noFill/>
          <a:ln w="6350">
            <a:solidFill>
              <a:srgbClr val="3D3D3D"/>
            </a:solidFill>
            <a:prstDash val="solid"/>
          </a:ln>
        </p:spPr>
      </p:sp>
      <p:sp>
        <p:nvSpPr>
          <p:cNvPr id="22" name="Text 20"/>
          <p:cNvSpPr txBox="1"/>
          <p:nvPr/>
        </p:nvSpPr>
        <p:spPr>
          <a:xfrm>
            <a:off x="640080" y="4261104"/>
            <a:ext cx="1234440" cy="420624"/>
          </a:xfrm>
          <a:prstGeom prst="rect">
            <a:avLst/>
          </a:prstGeom>
          <a:noFill/>
          <a:ln/>
        </p:spPr>
        <p:txBody>
          <a:bodyPr wrap="square" lIns="0" tIns="0" rIns="0" bIns="0" rtlCol="0" anchor="ctr"/>
          <a:lstStyle/>
          <a:p>
            <a:pPr algn="l" indent="0" marL="0">
              <a:buNone/>
            </a:pPr>
            <a:r>
              <a:rPr lang="en-US" sz="950" b="1" dirty="0">
                <a:solidFill>
                  <a:srgbClr val="05C489"/>
                </a:solidFill>
                <a:latin typeface="Plus Jakarta Sans" pitchFamily="34" charset="0"/>
                <a:ea typeface="Segoe UI" pitchFamily="34" charset="-122"/>
                <a:cs typeface="Segoe UI" pitchFamily="34" charset="-120"/>
              </a:rPr>
              <a:t>TC20</a:t>
            </a:r>
            <a:endParaRPr lang="en-US" sz="950" dirty="0">
              <a:latin typeface="Plus Jakarta Sans"/>
            </a:endParaRPr>
          </a:p>
        </p:txBody>
      </p:sp>
      <p:sp>
        <p:nvSpPr>
          <p:cNvPr id="23" name="Text 21">
            <a:hlinkClick r:id="rId7" tooltip=""/>
          </p:cNvPr>
          <p:cNvSpPr txBox="1"/>
          <p:nvPr/>
        </p:nvSpPr>
        <p:spPr>
          <a:xfrm>
            <a:off x="1920240" y="4261104"/>
            <a:ext cx="3992728" cy="420624"/>
          </a:xfrm>
          <a:prstGeom prst="rect">
            <a:avLst/>
          </a:prstGeom>
          <a:noFill/>
          <a:ln/>
        </p:spPr>
        <p:txBody>
          <a:bodyPr wrap="square" lIns="0" tIns="0" rIns="0" bIns="0" rtlCol="0" anchor="ctr"/>
          <a:lstStyle/>
          <a:p>
            <a:pPr algn="l" indent="0" marL="0">
              <a:buNone/>
            </a:pPr>
            <a:r>
              <a:rPr lang="en-US" sz="1150" u="sng" dirty="0">
                <a:solidFill>
                  <a:srgbClr val="FFFFFF"/>
                </a:solidFill>
                <a:latin typeface="Plus Jakarta Sans" pitchFamily="34" charset="0"/>
                <a:ea typeface="Segoe UI" pitchFamily="34" charset="-122"/>
                <a:cs typeface="Segoe UI" pitchFamily="34" charset="-120"/>
                <a:hlinkClick r:id="rId7" invalidUrl="" action="" tgtFrame="" tooltip="" history="1" highlightClick="0" endSnd="0">
                  <a:extLst>
                    <a:ext uri="{A12FA001-AC4F-418D-AE19-62706E023703}">
                      <ahyp:hlinkClr xmlns:ahyp="http://schemas.microsoft.com/office/drawing/2018/hyperlinkcolor" val="tx"/>
                    </a:ext>
                  </a:extLst>
                </a:hlinkClick>
              </a:rPr>
              <a:t>Redmond: transcorporal fragile urethra, 2020</a:t>
            </a:r>
            <a:endParaRPr lang="en-US" sz="1150" dirty="0">
              <a:latin typeface="Plus Jakarta Sans"/>
            </a:endParaRPr>
          </a:p>
        </p:txBody>
      </p:sp>
      <p:sp>
        <p:nvSpPr>
          <p:cNvPr id="24" name="Shape 22"/>
          <p:cNvSpPr/>
          <p:nvPr/>
        </p:nvSpPr>
        <p:spPr>
          <a:xfrm>
            <a:off x="640080" y="4681728"/>
            <a:ext cx="5272888" cy="0"/>
          </a:xfrm>
          <a:prstGeom prst="line">
            <a:avLst/>
          </a:prstGeom>
          <a:noFill/>
          <a:ln w="6350">
            <a:solidFill>
              <a:srgbClr val="3D3D3D"/>
            </a:solidFill>
            <a:prstDash val="solid"/>
          </a:ln>
        </p:spPr>
      </p:sp>
      <p:sp>
        <p:nvSpPr>
          <p:cNvPr id="25" name="Text 23"/>
          <p:cNvSpPr txBox="1"/>
          <p:nvPr/>
        </p:nvSpPr>
        <p:spPr>
          <a:xfrm>
            <a:off x="640080" y="4681728"/>
            <a:ext cx="1234440" cy="420624"/>
          </a:xfrm>
          <a:prstGeom prst="rect">
            <a:avLst/>
          </a:prstGeom>
          <a:noFill/>
          <a:ln/>
        </p:spPr>
        <p:txBody>
          <a:bodyPr wrap="square" lIns="0" tIns="0" rIns="0" bIns="0" rtlCol="0" anchor="ctr"/>
          <a:lstStyle/>
          <a:p>
            <a:pPr algn="l" indent="0" marL="0">
              <a:buNone/>
            </a:pPr>
            <a:r>
              <a:rPr lang="en-US" sz="950" b="1" dirty="0">
                <a:solidFill>
                  <a:srgbClr val="05C489"/>
                </a:solidFill>
                <a:latin typeface="Plus Jakarta Sans" pitchFamily="34" charset="0"/>
                <a:ea typeface="Segoe UI" pitchFamily="34" charset="-122"/>
                <a:cs typeface="Segoe UI" pitchFamily="34" charset="-120"/>
              </a:rPr>
              <a:t>TC23</a:t>
            </a:r>
            <a:endParaRPr lang="en-US" sz="950" dirty="0">
              <a:latin typeface="Plus Jakarta Sans"/>
            </a:endParaRPr>
          </a:p>
        </p:txBody>
      </p:sp>
      <p:sp>
        <p:nvSpPr>
          <p:cNvPr id="26" name="Text 24">
            <a:hlinkClick r:id="rId8" tooltip=""/>
          </p:cNvPr>
          <p:cNvSpPr txBox="1"/>
          <p:nvPr/>
        </p:nvSpPr>
        <p:spPr>
          <a:xfrm>
            <a:off x="1920240" y="4681728"/>
            <a:ext cx="3992728" cy="420624"/>
          </a:xfrm>
          <a:prstGeom prst="rect">
            <a:avLst/>
          </a:prstGeom>
          <a:noFill/>
          <a:ln/>
        </p:spPr>
        <p:txBody>
          <a:bodyPr wrap="square" lIns="0" tIns="0" rIns="0" bIns="0" rtlCol="0" anchor="ctr"/>
          <a:lstStyle/>
          <a:p>
            <a:pPr algn="l" indent="0" marL="0">
              <a:buNone/>
            </a:pPr>
            <a:r>
              <a:rPr lang="en-US" sz="1150" u="sng" dirty="0">
                <a:solidFill>
                  <a:srgbClr val="FFFFFF"/>
                </a:solidFill>
                <a:latin typeface="Plus Jakarta Sans" pitchFamily="34" charset="0"/>
                <a:ea typeface="Segoe UI" pitchFamily="34" charset="-122"/>
                <a:cs typeface="Segoe UI" pitchFamily="34" charset="-120"/>
                <a:hlinkClick r:id="rId8" invalidUrl="" action="" tgtFrame="" tooltip="" history="1" highlightClick="0" endSnd="0">
                  <a:extLst>
                    <a:ext uri="{A12FA001-AC4F-418D-AE19-62706E023703}">
                      <ahyp:hlinkClr xmlns:ahyp="http://schemas.microsoft.com/office/drawing/2018/hyperlinkcolor" val="tx"/>
                    </a:ext>
                  </a:extLst>
                </a:hlinkClick>
              </a:rPr>
              <a:t>Kurtzman: high-risk transcorporal AUS, 2023</a:t>
            </a:r>
            <a:endParaRPr lang="en-US" sz="1150" dirty="0">
              <a:latin typeface="Plus Jakarta Sans"/>
            </a:endParaRPr>
          </a:p>
        </p:txBody>
      </p:sp>
      <p:sp>
        <p:nvSpPr>
          <p:cNvPr id="27" name="Shape 25"/>
          <p:cNvSpPr/>
          <p:nvPr/>
        </p:nvSpPr>
        <p:spPr>
          <a:xfrm>
            <a:off x="640080" y="5102352"/>
            <a:ext cx="5272888" cy="0"/>
          </a:xfrm>
          <a:prstGeom prst="line">
            <a:avLst/>
          </a:prstGeom>
          <a:noFill/>
          <a:ln w="6350">
            <a:solidFill>
              <a:srgbClr val="3D3D3D"/>
            </a:solidFill>
            <a:prstDash val="solid"/>
          </a:ln>
        </p:spPr>
      </p:sp>
      <p:sp>
        <p:nvSpPr>
          <p:cNvPr id="28" name="Text 26"/>
          <p:cNvSpPr txBox="1"/>
          <p:nvPr/>
        </p:nvSpPr>
        <p:spPr>
          <a:xfrm>
            <a:off x="640080" y="5102352"/>
            <a:ext cx="1234440" cy="420624"/>
          </a:xfrm>
          <a:prstGeom prst="rect">
            <a:avLst/>
          </a:prstGeom>
          <a:noFill/>
          <a:ln/>
        </p:spPr>
        <p:txBody>
          <a:bodyPr wrap="square" lIns="0" tIns="0" rIns="0" bIns="0" rtlCol="0" anchor="ctr"/>
          <a:lstStyle/>
          <a:p>
            <a:pPr algn="l" indent="0" marL="0">
              <a:buNone/>
            </a:pPr>
            <a:r>
              <a:rPr lang="en-US" sz="950" b="1" dirty="0">
                <a:solidFill>
                  <a:srgbClr val="05C489"/>
                </a:solidFill>
                <a:latin typeface="Plus Jakarta Sans" pitchFamily="34" charset="0"/>
                <a:ea typeface="Segoe UI" pitchFamily="34" charset="-122"/>
                <a:cs typeface="Segoe UI" pitchFamily="34" charset="-120"/>
              </a:rPr>
              <a:t>ATROPHY20</a:t>
            </a:r>
            <a:endParaRPr lang="en-US" sz="950" dirty="0">
              <a:latin typeface="Plus Jakarta Sans"/>
            </a:endParaRPr>
          </a:p>
        </p:txBody>
      </p:sp>
      <p:sp>
        <p:nvSpPr>
          <p:cNvPr id="29" name="Text 27">
            <a:hlinkClick r:id="rId9" tooltip=""/>
          </p:cNvPr>
          <p:cNvSpPr txBox="1"/>
          <p:nvPr/>
        </p:nvSpPr>
        <p:spPr>
          <a:xfrm>
            <a:off x="1920240" y="5102352"/>
            <a:ext cx="3992728" cy="420624"/>
          </a:xfrm>
          <a:prstGeom prst="rect">
            <a:avLst/>
          </a:prstGeom>
          <a:noFill/>
          <a:ln/>
        </p:spPr>
        <p:txBody>
          <a:bodyPr wrap="square" lIns="0" tIns="0" rIns="0" bIns="0" rtlCol="0" anchor="ctr"/>
          <a:lstStyle/>
          <a:p>
            <a:pPr algn="l" indent="0" marL="0">
              <a:buNone/>
            </a:pPr>
            <a:r>
              <a:rPr lang="en-US" sz="1150" u="sng" dirty="0">
                <a:solidFill>
                  <a:srgbClr val="FFFFFF"/>
                </a:solidFill>
                <a:latin typeface="Plus Jakarta Sans" pitchFamily="34" charset="0"/>
                <a:ea typeface="Segoe UI" pitchFamily="34" charset="-122"/>
                <a:cs typeface="Segoe UI" pitchFamily="34" charset="-120"/>
                <a:hlinkClick r:id="rId9" invalidUrl="" action="" tgtFrame="" tooltip="" history="1" highlightClick="0" endSnd="0">
                  <a:extLst>
                    <a:ext uri="{A12FA001-AC4F-418D-AE19-62706E023703}">
                      <ahyp:hlinkClr xmlns:ahyp="http://schemas.microsoft.com/office/drawing/2018/hyperlinkcolor" val="tx"/>
                    </a:ext>
                  </a:extLst>
                </a:hlinkClick>
              </a:rPr>
              <a:t>Bergeson: urethral atrophy and revision, 2020</a:t>
            </a:r>
            <a:endParaRPr lang="en-US" sz="1150" dirty="0">
              <a:latin typeface="Plus Jakarta Sans"/>
            </a:endParaRPr>
          </a:p>
        </p:txBody>
      </p:sp>
      <p:sp>
        <p:nvSpPr>
          <p:cNvPr id="30" name="Shape 28"/>
          <p:cNvSpPr/>
          <p:nvPr/>
        </p:nvSpPr>
        <p:spPr>
          <a:xfrm>
            <a:off x="640080" y="5522976"/>
            <a:ext cx="5272888" cy="0"/>
          </a:xfrm>
          <a:prstGeom prst="line">
            <a:avLst/>
          </a:prstGeom>
          <a:noFill/>
          <a:ln w="6350">
            <a:solidFill>
              <a:srgbClr val="3D3D3D"/>
            </a:solidFill>
            <a:prstDash val="solid"/>
          </a:ln>
        </p:spPr>
      </p:sp>
      <p:sp>
        <p:nvSpPr>
          <p:cNvPr id="31" name="Text 29"/>
          <p:cNvSpPr txBox="1"/>
          <p:nvPr/>
        </p:nvSpPr>
        <p:spPr>
          <a:xfrm>
            <a:off x="640080" y="5522976"/>
            <a:ext cx="1234440" cy="420624"/>
          </a:xfrm>
          <a:prstGeom prst="rect">
            <a:avLst/>
          </a:prstGeom>
          <a:noFill/>
          <a:ln/>
        </p:spPr>
        <p:txBody>
          <a:bodyPr wrap="square" lIns="0" tIns="0" rIns="0" bIns="0" rtlCol="0" anchor="ctr"/>
          <a:lstStyle/>
          <a:p>
            <a:pPr algn="l" indent="0" marL="0">
              <a:buNone/>
            </a:pPr>
            <a:r>
              <a:rPr lang="en-US" sz="950" b="1" dirty="0">
                <a:solidFill>
                  <a:srgbClr val="05C489"/>
                </a:solidFill>
                <a:latin typeface="Plus Jakarta Sans" pitchFamily="34" charset="0"/>
                <a:ea typeface="Segoe UI" pitchFamily="34" charset="-122"/>
                <a:cs typeface="Segoe UI" pitchFamily="34" charset="-120"/>
              </a:rPr>
              <a:t>PREP24</a:t>
            </a:r>
            <a:endParaRPr lang="en-US" sz="950" dirty="0">
              <a:latin typeface="Plus Jakarta Sans"/>
            </a:endParaRPr>
          </a:p>
        </p:txBody>
      </p:sp>
      <p:sp>
        <p:nvSpPr>
          <p:cNvPr id="32" name="Text 30">
            <a:hlinkClick r:id="rId10" tooltip=""/>
          </p:cNvPr>
          <p:cNvSpPr txBox="1"/>
          <p:nvPr/>
        </p:nvSpPr>
        <p:spPr>
          <a:xfrm>
            <a:off x="1920240" y="5522976"/>
            <a:ext cx="3992728" cy="420624"/>
          </a:xfrm>
          <a:prstGeom prst="rect">
            <a:avLst/>
          </a:prstGeom>
          <a:noFill/>
          <a:ln/>
        </p:spPr>
        <p:txBody>
          <a:bodyPr wrap="square" lIns="0" tIns="0" rIns="0" bIns="0" rtlCol="0" anchor="ctr"/>
          <a:lstStyle/>
          <a:p>
            <a:pPr algn="l" indent="0" marL="0">
              <a:buNone/>
            </a:pPr>
            <a:r>
              <a:rPr lang="en-US" sz="1150" u="sng" dirty="0">
                <a:solidFill>
                  <a:srgbClr val="FFFFFF"/>
                </a:solidFill>
                <a:latin typeface="Plus Jakarta Sans" pitchFamily="34" charset="0"/>
                <a:ea typeface="Segoe UI" pitchFamily="34" charset="-122"/>
                <a:cs typeface="Segoe U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Bourgi: AUS preparation protocols, 2024</a:t>
            </a:r>
            <a:endParaRPr lang="en-US" sz="1150" dirty="0">
              <a:latin typeface="Plus Jakarta Sans"/>
            </a:endParaRPr>
          </a:p>
        </p:txBody>
      </p:sp>
      <p:sp>
        <p:nvSpPr>
          <p:cNvPr id="33" name="Text 31"/>
          <p:cNvSpPr txBox="1"/>
          <p:nvPr/>
        </p:nvSpPr>
        <p:spPr>
          <a:xfrm>
            <a:off x="6278728" y="1737360"/>
            <a:ext cx="1234440" cy="420624"/>
          </a:xfrm>
          <a:prstGeom prst="rect">
            <a:avLst/>
          </a:prstGeom>
          <a:noFill/>
          <a:ln/>
        </p:spPr>
        <p:txBody>
          <a:bodyPr wrap="square" lIns="0" tIns="0" rIns="0" bIns="0" rtlCol="0" anchor="ctr"/>
          <a:lstStyle/>
          <a:p>
            <a:pPr algn="l" indent="0" marL="0">
              <a:buNone/>
            </a:pPr>
            <a:r>
              <a:rPr lang="en-US" sz="950" b="1" dirty="0">
                <a:solidFill>
                  <a:srgbClr val="05C489"/>
                </a:solidFill>
                <a:latin typeface="Plus Jakarta Sans" pitchFamily="34" charset="0"/>
                <a:ea typeface="Segoe UI" pitchFamily="34" charset="-122"/>
                <a:cs typeface="Segoe UI" pitchFamily="34" charset="-120"/>
              </a:rPr>
              <a:t>YEUNG13</a:t>
            </a:r>
            <a:endParaRPr lang="en-US" sz="950" dirty="0">
              <a:latin typeface="Plus Jakarta Sans"/>
            </a:endParaRPr>
          </a:p>
        </p:txBody>
      </p:sp>
      <p:sp>
        <p:nvSpPr>
          <p:cNvPr id="34" name="Text 32">
            <a:hlinkClick r:id="rId11" tooltip=""/>
          </p:cNvPr>
          <p:cNvSpPr txBox="1"/>
          <p:nvPr/>
        </p:nvSpPr>
        <p:spPr>
          <a:xfrm>
            <a:off x="7558888" y="1737360"/>
            <a:ext cx="3992728" cy="420624"/>
          </a:xfrm>
          <a:prstGeom prst="rect">
            <a:avLst/>
          </a:prstGeom>
          <a:noFill/>
          <a:ln/>
        </p:spPr>
        <p:txBody>
          <a:bodyPr wrap="square" lIns="0" tIns="0" rIns="0" bIns="0" rtlCol="0" anchor="ctr"/>
          <a:lstStyle/>
          <a:p>
            <a:pPr algn="l" indent="0" marL="0">
              <a:buNone/>
            </a:pPr>
            <a:r>
              <a:rPr lang="en-US" sz="1150" u="sng" dirty="0">
                <a:solidFill>
                  <a:srgbClr val="FFFFFF"/>
                </a:solidFill>
                <a:latin typeface="Plus Jakarta Sans" pitchFamily="34" charset="0"/>
                <a:ea typeface="Segoe UI" pitchFamily="34" charset="-122"/>
                <a:cs typeface="Segoe U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Yeung: GU skin preparation RCT, 2013</a:t>
            </a:r>
            <a:endParaRPr lang="en-US" sz="1150" dirty="0">
              <a:latin typeface="Plus Jakarta Sans"/>
            </a:endParaRPr>
          </a:p>
        </p:txBody>
      </p:sp>
      <p:sp>
        <p:nvSpPr>
          <p:cNvPr id="35" name="Shape 33"/>
          <p:cNvSpPr/>
          <p:nvPr/>
        </p:nvSpPr>
        <p:spPr>
          <a:xfrm>
            <a:off x="6278728" y="2157984"/>
            <a:ext cx="5272888" cy="0"/>
          </a:xfrm>
          <a:prstGeom prst="line">
            <a:avLst/>
          </a:prstGeom>
          <a:noFill/>
          <a:ln w="6350">
            <a:solidFill>
              <a:srgbClr val="3D3D3D"/>
            </a:solidFill>
            <a:prstDash val="solid"/>
          </a:ln>
        </p:spPr>
      </p:sp>
      <p:sp>
        <p:nvSpPr>
          <p:cNvPr id="36" name="Text 34"/>
          <p:cNvSpPr txBox="1"/>
          <p:nvPr/>
        </p:nvSpPr>
        <p:spPr>
          <a:xfrm>
            <a:off x="6278728" y="2157984"/>
            <a:ext cx="1234440" cy="420624"/>
          </a:xfrm>
          <a:prstGeom prst="rect">
            <a:avLst/>
          </a:prstGeom>
          <a:noFill/>
          <a:ln/>
        </p:spPr>
        <p:txBody>
          <a:bodyPr wrap="square" lIns="0" tIns="0" rIns="0" bIns="0" rtlCol="0" anchor="ctr"/>
          <a:lstStyle/>
          <a:p>
            <a:pPr algn="l" indent="0" marL="0">
              <a:buNone/>
            </a:pPr>
            <a:r>
              <a:rPr lang="en-US" sz="950" b="1" dirty="0">
                <a:solidFill>
                  <a:srgbClr val="05C489"/>
                </a:solidFill>
                <a:latin typeface="Plus Jakarta Sans" pitchFamily="34" charset="0"/>
                <a:ea typeface="Segoe UI" pitchFamily="34" charset="-122"/>
                <a:cs typeface="Segoe UI" pitchFamily="34" charset="-120"/>
              </a:rPr>
              <a:t>ABX18</a:t>
            </a:r>
            <a:endParaRPr lang="en-US" sz="950" dirty="0">
              <a:latin typeface="Plus Jakarta Sans"/>
            </a:endParaRPr>
          </a:p>
        </p:txBody>
      </p:sp>
      <p:sp>
        <p:nvSpPr>
          <p:cNvPr id="37" name="Text 35">
            <a:hlinkClick r:id="rId12" tooltip=""/>
          </p:cNvPr>
          <p:cNvSpPr txBox="1"/>
          <p:nvPr/>
        </p:nvSpPr>
        <p:spPr>
          <a:xfrm>
            <a:off x="7558888" y="2157984"/>
            <a:ext cx="3992728" cy="420624"/>
          </a:xfrm>
          <a:prstGeom prst="rect">
            <a:avLst/>
          </a:prstGeom>
          <a:noFill/>
          <a:ln/>
        </p:spPr>
        <p:txBody>
          <a:bodyPr wrap="square" lIns="0" tIns="0" rIns="0" bIns="0" rtlCol="0" anchor="ctr"/>
          <a:lstStyle/>
          <a:p>
            <a:pPr algn="l" indent="0" marL="0">
              <a:buNone/>
            </a:pPr>
            <a:r>
              <a:rPr lang="en-US" sz="1150" u="sng" dirty="0">
                <a:solidFill>
                  <a:srgbClr val="FFFFFF"/>
                </a:solidFill>
                <a:latin typeface="Plus Jakarta Sans" pitchFamily="34" charset="0"/>
                <a:ea typeface="Segoe UI" pitchFamily="34" charset="-122"/>
                <a:cs typeface="Segoe U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Adamsky: postoperative antibiotics, 2018</a:t>
            </a:r>
            <a:endParaRPr lang="en-US" sz="1150" dirty="0">
              <a:latin typeface="Plus Jakarta Sans"/>
            </a:endParaRPr>
          </a:p>
        </p:txBody>
      </p:sp>
      <p:sp>
        <p:nvSpPr>
          <p:cNvPr id="38" name="Shape 36"/>
          <p:cNvSpPr/>
          <p:nvPr/>
        </p:nvSpPr>
        <p:spPr>
          <a:xfrm>
            <a:off x="6278728" y="2578608"/>
            <a:ext cx="5272888" cy="0"/>
          </a:xfrm>
          <a:prstGeom prst="line">
            <a:avLst/>
          </a:prstGeom>
          <a:noFill/>
          <a:ln w="6350">
            <a:solidFill>
              <a:srgbClr val="3D3D3D"/>
            </a:solidFill>
            <a:prstDash val="solid"/>
          </a:ln>
        </p:spPr>
      </p:sp>
      <p:sp>
        <p:nvSpPr>
          <p:cNvPr id="39" name="Text 37"/>
          <p:cNvSpPr txBox="1"/>
          <p:nvPr/>
        </p:nvSpPr>
        <p:spPr>
          <a:xfrm>
            <a:off x="6278728" y="2578608"/>
            <a:ext cx="1234440" cy="420624"/>
          </a:xfrm>
          <a:prstGeom prst="rect">
            <a:avLst/>
          </a:prstGeom>
          <a:noFill/>
          <a:ln/>
        </p:spPr>
        <p:txBody>
          <a:bodyPr wrap="square" lIns="0" tIns="0" rIns="0" bIns="0" rtlCol="0" anchor="ctr"/>
          <a:lstStyle/>
          <a:p>
            <a:pPr algn="l" indent="0" marL="0">
              <a:buNone/>
            </a:pPr>
            <a:r>
              <a:rPr lang="en-US" sz="950" b="1" dirty="0">
                <a:solidFill>
                  <a:srgbClr val="05C489"/>
                </a:solidFill>
                <a:latin typeface="Plus Jakarta Sans" pitchFamily="34" charset="0"/>
                <a:ea typeface="Segoe UI" pitchFamily="34" charset="-122"/>
                <a:cs typeface="Segoe UI" pitchFamily="34" charset="-120"/>
              </a:rPr>
              <a:t>TOUCH23</a:t>
            </a:r>
            <a:endParaRPr lang="en-US" sz="950" dirty="0">
              <a:latin typeface="Plus Jakarta Sans"/>
            </a:endParaRPr>
          </a:p>
        </p:txBody>
      </p:sp>
      <p:sp>
        <p:nvSpPr>
          <p:cNvPr id="40" name="Text 38">
            <a:hlinkClick r:id="rId13" tooltip=""/>
          </p:cNvPr>
          <p:cNvSpPr txBox="1"/>
          <p:nvPr/>
        </p:nvSpPr>
        <p:spPr>
          <a:xfrm>
            <a:off x="7558888" y="2578608"/>
            <a:ext cx="3992728" cy="420624"/>
          </a:xfrm>
          <a:prstGeom prst="rect">
            <a:avLst/>
          </a:prstGeom>
          <a:noFill/>
          <a:ln/>
        </p:spPr>
        <p:txBody>
          <a:bodyPr wrap="square" lIns="0" tIns="0" rIns="0" bIns="0" rtlCol="0" anchor="ctr"/>
          <a:lstStyle/>
          <a:p>
            <a:pPr algn="l" indent="0" marL="0">
              <a:buNone/>
            </a:pPr>
            <a:r>
              <a:rPr lang="en-US" sz="1150" u="sng" dirty="0">
                <a:solidFill>
                  <a:srgbClr val="FFFFFF"/>
                </a:solidFill>
                <a:latin typeface="Plus Jakarta Sans" pitchFamily="34" charset="0"/>
                <a:ea typeface="Segoe UI" pitchFamily="34" charset="-122"/>
                <a:cs typeface="Segoe UI" pitchFamily="34" charset="-120"/>
                <a:hlinkClick r:id="rId13" invalidUrl="" action="" tgtFrame="" tooltip="" history="1" highlightClick="0" endSnd="0">
                  <a:extLst>
                    <a:ext uri="{A12FA001-AC4F-418D-AE19-62706E023703}">
                      <ahyp:hlinkClr xmlns:ahyp="http://schemas.microsoft.com/office/drawing/2018/hyperlinkcolor" val="tx"/>
                    </a:ext>
                  </a:extLst>
                </a:hlinkClick>
              </a:rPr>
              <a:t>Ziegelmann: minimal-touch AUS, 2023</a:t>
            </a:r>
            <a:endParaRPr lang="en-US" sz="1150" dirty="0">
              <a:latin typeface="Plus Jakarta Sans"/>
            </a:endParaRPr>
          </a:p>
        </p:txBody>
      </p:sp>
      <p:sp>
        <p:nvSpPr>
          <p:cNvPr id="41" name="Shape 39"/>
          <p:cNvSpPr/>
          <p:nvPr/>
        </p:nvSpPr>
        <p:spPr>
          <a:xfrm>
            <a:off x="6278728" y="2999232"/>
            <a:ext cx="5272888" cy="0"/>
          </a:xfrm>
          <a:prstGeom prst="line">
            <a:avLst/>
          </a:prstGeom>
          <a:noFill/>
          <a:ln w="6350">
            <a:solidFill>
              <a:srgbClr val="3D3D3D"/>
            </a:solidFill>
            <a:prstDash val="solid"/>
          </a:ln>
        </p:spPr>
      </p:sp>
      <p:sp>
        <p:nvSpPr>
          <p:cNvPr id="42" name="Text 40"/>
          <p:cNvSpPr txBox="1"/>
          <p:nvPr/>
        </p:nvSpPr>
        <p:spPr>
          <a:xfrm>
            <a:off x="6278728" y="2999232"/>
            <a:ext cx="1234440" cy="420624"/>
          </a:xfrm>
          <a:prstGeom prst="rect">
            <a:avLst/>
          </a:prstGeom>
          <a:noFill/>
          <a:ln/>
        </p:spPr>
        <p:txBody>
          <a:bodyPr wrap="square" lIns="0" tIns="0" rIns="0" bIns="0" rtlCol="0" anchor="ctr"/>
          <a:lstStyle/>
          <a:p>
            <a:pPr algn="l" indent="0" marL="0">
              <a:buNone/>
            </a:pPr>
            <a:r>
              <a:rPr lang="en-US" sz="950" b="1" dirty="0">
                <a:solidFill>
                  <a:srgbClr val="05C489"/>
                </a:solidFill>
                <a:latin typeface="Plus Jakarta Sans" pitchFamily="34" charset="0"/>
                <a:ea typeface="Segoe UI" pitchFamily="34" charset="-122"/>
                <a:cs typeface="Segoe UI" pitchFamily="34" charset="-120"/>
              </a:rPr>
              <a:t>LINDER15</a:t>
            </a:r>
            <a:endParaRPr lang="en-US" sz="950" dirty="0">
              <a:latin typeface="Plus Jakarta Sans"/>
            </a:endParaRPr>
          </a:p>
        </p:txBody>
      </p:sp>
      <p:sp>
        <p:nvSpPr>
          <p:cNvPr id="43" name="Text 41">
            <a:hlinkClick r:id="rId14" tooltip=""/>
          </p:cNvPr>
          <p:cNvSpPr txBox="1"/>
          <p:nvPr/>
        </p:nvSpPr>
        <p:spPr>
          <a:xfrm>
            <a:off x="7558888" y="2999232"/>
            <a:ext cx="3992728" cy="420624"/>
          </a:xfrm>
          <a:prstGeom prst="rect">
            <a:avLst/>
          </a:prstGeom>
          <a:noFill/>
          <a:ln/>
        </p:spPr>
        <p:txBody>
          <a:bodyPr wrap="square" lIns="0" tIns="0" rIns="0" bIns="0" rtlCol="0" anchor="ctr"/>
          <a:lstStyle/>
          <a:p>
            <a:pPr algn="l" indent="0" marL="0">
              <a:buNone/>
            </a:pPr>
            <a:r>
              <a:rPr lang="en-US" sz="1150" u="sng" dirty="0">
                <a:solidFill>
                  <a:srgbClr val="FFFFFF"/>
                </a:solidFill>
                <a:latin typeface="Plus Jakarta Sans" pitchFamily="34" charset="0"/>
                <a:ea typeface="Segoe UI" pitchFamily="34" charset="-122"/>
                <a:cs typeface="Segoe UI" pitchFamily="34" charset="-120"/>
                <a:hlinkClick r:id="rId14" invalidUrl="" action="" tgtFrame="" tooltip="" history="1" highlightClick="0" endSnd="0">
                  <a:extLst>
                    <a:ext uri="{A12FA001-AC4F-418D-AE19-62706E023703}">
                      <ahyp:hlinkClr xmlns:ahyp="http://schemas.microsoft.com/office/drawing/2018/hyperlinkcolor" val="tx"/>
                    </a:ext>
                  </a:extLst>
                </a:hlinkClick>
              </a:rPr>
              <a:t>Linder: long-term AMS 800 outcomes, 2015</a:t>
            </a:r>
            <a:endParaRPr lang="en-US" sz="1150" dirty="0">
              <a:latin typeface="Plus Jakarta Sans"/>
            </a:endParaRPr>
          </a:p>
        </p:txBody>
      </p:sp>
      <p:sp>
        <p:nvSpPr>
          <p:cNvPr id="44" name="Shape 42"/>
          <p:cNvSpPr/>
          <p:nvPr/>
        </p:nvSpPr>
        <p:spPr>
          <a:xfrm>
            <a:off x="6278728" y="3419856"/>
            <a:ext cx="5272888" cy="0"/>
          </a:xfrm>
          <a:prstGeom prst="line">
            <a:avLst/>
          </a:prstGeom>
          <a:noFill/>
          <a:ln w="6350">
            <a:solidFill>
              <a:srgbClr val="3D3D3D"/>
            </a:solidFill>
            <a:prstDash val="solid"/>
          </a:ln>
        </p:spPr>
      </p:sp>
      <p:sp>
        <p:nvSpPr>
          <p:cNvPr id="45" name="Text 43"/>
          <p:cNvSpPr txBox="1"/>
          <p:nvPr/>
        </p:nvSpPr>
        <p:spPr>
          <a:xfrm>
            <a:off x="6278728" y="3419856"/>
            <a:ext cx="1234440" cy="420624"/>
          </a:xfrm>
          <a:prstGeom prst="rect">
            <a:avLst/>
          </a:prstGeom>
          <a:noFill/>
          <a:ln/>
        </p:spPr>
        <p:txBody>
          <a:bodyPr wrap="square" lIns="0" tIns="0" rIns="0" bIns="0" rtlCol="0" anchor="ctr"/>
          <a:lstStyle/>
          <a:p>
            <a:pPr algn="l" indent="0" marL="0">
              <a:buNone/>
            </a:pPr>
            <a:r>
              <a:rPr lang="en-US" sz="950" b="1" dirty="0">
                <a:solidFill>
                  <a:srgbClr val="05C489"/>
                </a:solidFill>
                <a:latin typeface="Plus Jakarta Sans" pitchFamily="34" charset="0"/>
                <a:ea typeface="Segoe UI" pitchFamily="34" charset="-122"/>
                <a:cs typeface="Segoe UI" pitchFamily="34" charset="-120"/>
              </a:rPr>
              <a:t>AUSCO26</a:t>
            </a:r>
            <a:endParaRPr lang="en-US" sz="950" dirty="0">
              <a:latin typeface="Plus Jakarta Sans"/>
            </a:endParaRPr>
          </a:p>
        </p:txBody>
      </p:sp>
      <p:sp>
        <p:nvSpPr>
          <p:cNvPr id="46" name="Text 44">
            <a:hlinkClick r:id="rId15" tooltip=""/>
          </p:cNvPr>
          <p:cNvSpPr txBox="1"/>
          <p:nvPr/>
        </p:nvSpPr>
        <p:spPr>
          <a:xfrm>
            <a:off x="7558888" y="3419856"/>
            <a:ext cx="3992728" cy="420624"/>
          </a:xfrm>
          <a:prstGeom prst="rect">
            <a:avLst/>
          </a:prstGeom>
          <a:noFill/>
          <a:ln/>
        </p:spPr>
        <p:txBody>
          <a:bodyPr wrap="square" lIns="0" tIns="0" rIns="0" bIns="0" rtlCol="0" anchor="ctr"/>
          <a:lstStyle/>
          <a:p>
            <a:pPr algn="l" indent="0" marL="0">
              <a:buNone/>
            </a:pPr>
            <a:r>
              <a:rPr lang="en-US" sz="1150" u="sng" dirty="0">
                <a:solidFill>
                  <a:srgbClr val="FFFFFF"/>
                </a:solidFill>
                <a:latin typeface="Plus Jakarta Sans" pitchFamily="34" charset="0"/>
                <a:ea typeface="Segoe UI" pitchFamily="34" charset="-122"/>
                <a:cs typeface="Segoe UI" pitchFamily="34" charset="-120"/>
                <a:hlinkClick r:id="rId15" invalidUrl="" action="" tgtFrame="" tooltip="" history="1" highlightClick="0" endSnd="0">
                  <a:extLst>
                    <a:ext uri="{A12FA001-AC4F-418D-AE19-62706E023703}">
                      <ahyp:hlinkClr xmlns:ahyp="http://schemas.microsoft.com/office/drawing/2018/hyperlinkcolor" val="tx"/>
                    </a:ext>
                  </a:extLst>
                </a:hlinkClick>
              </a:rPr>
              <a:t>Kaufman: AMS 800 AUSCO study, 2026</a:t>
            </a:r>
            <a:endParaRPr lang="en-US" sz="1150" dirty="0">
              <a:latin typeface="Plus Jakarta Sans"/>
            </a:endParaRPr>
          </a:p>
        </p:txBody>
      </p:sp>
      <p:sp>
        <p:nvSpPr>
          <p:cNvPr id="47" name="Shape 45"/>
          <p:cNvSpPr/>
          <p:nvPr/>
        </p:nvSpPr>
        <p:spPr>
          <a:xfrm>
            <a:off x="6278728" y="3840480"/>
            <a:ext cx="5272888" cy="0"/>
          </a:xfrm>
          <a:prstGeom prst="line">
            <a:avLst/>
          </a:prstGeom>
          <a:noFill/>
          <a:ln w="6350">
            <a:solidFill>
              <a:srgbClr val="3D3D3D"/>
            </a:solidFill>
            <a:prstDash val="solid"/>
          </a:ln>
        </p:spPr>
      </p:sp>
      <p:sp>
        <p:nvSpPr>
          <p:cNvPr id="48" name="Text 46"/>
          <p:cNvSpPr txBox="1"/>
          <p:nvPr/>
        </p:nvSpPr>
        <p:spPr>
          <a:xfrm>
            <a:off x="6278728" y="3840480"/>
            <a:ext cx="1234440" cy="420624"/>
          </a:xfrm>
          <a:prstGeom prst="rect">
            <a:avLst/>
          </a:prstGeom>
          <a:noFill/>
          <a:ln/>
        </p:spPr>
        <p:txBody>
          <a:bodyPr wrap="square" lIns="0" tIns="0" rIns="0" bIns="0" rtlCol="0" anchor="ctr"/>
          <a:lstStyle/>
          <a:p>
            <a:pPr algn="l" indent="0" marL="0">
              <a:buNone/>
            </a:pPr>
            <a:r>
              <a:rPr lang="en-US" sz="950" b="1" dirty="0">
                <a:solidFill>
                  <a:srgbClr val="05C489"/>
                </a:solidFill>
                <a:latin typeface="Plus Jakarta Sans" pitchFamily="34" charset="0"/>
                <a:ea typeface="Segoe UI" pitchFamily="34" charset="-122"/>
                <a:cs typeface="Segoe UI" pitchFamily="34" charset="-120"/>
              </a:rPr>
              <a:t>AUASTATUS26</a:t>
            </a:r>
            <a:endParaRPr lang="en-US" sz="950" dirty="0">
              <a:latin typeface="Plus Jakarta Sans"/>
            </a:endParaRPr>
          </a:p>
        </p:txBody>
      </p:sp>
      <p:sp>
        <p:nvSpPr>
          <p:cNvPr id="49" name="Text 47">
            <a:hlinkClick r:id="rId16" tooltip=""/>
          </p:cNvPr>
          <p:cNvSpPr txBox="1"/>
          <p:nvPr/>
        </p:nvSpPr>
        <p:spPr>
          <a:xfrm>
            <a:off x="7558888" y="3840480"/>
            <a:ext cx="3992728" cy="420624"/>
          </a:xfrm>
          <a:prstGeom prst="rect">
            <a:avLst/>
          </a:prstGeom>
          <a:noFill/>
          <a:ln/>
        </p:spPr>
        <p:txBody>
          <a:bodyPr wrap="square" lIns="0" tIns="0" rIns="0" bIns="0" rtlCol="0" anchor="ctr"/>
          <a:lstStyle/>
          <a:p>
            <a:pPr algn="l" indent="0" marL="0">
              <a:buNone/>
            </a:pPr>
            <a:r>
              <a:rPr lang="en-US" sz="1150" u="sng" dirty="0">
                <a:solidFill>
                  <a:srgbClr val="FFFFFF"/>
                </a:solidFill>
                <a:latin typeface="Plus Jakarta Sans" pitchFamily="34" charset="0"/>
                <a:ea typeface="Segoe UI" pitchFamily="34" charset="-122"/>
                <a:cs typeface="Segoe UI" pitchFamily="34" charset="-120"/>
                <a:hlinkClick r:id="rId16" invalidUrl="" action="" tgtFrame="" tooltip="" history="1" highlightClick="0" endSnd="0">
                  <a:extLst>
                    <a:ext uri="{A12FA001-AC4F-418D-AE19-62706E023703}">
                      <ahyp:hlinkClr xmlns:ahyp="http://schemas.microsoft.com/office/drawing/2018/hyperlinkcolor" val="tx"/>
                    </a:ext>
                  </a:extLst>
                </a:hlinkClick>
              </a:rPr>
              <a:t>AUA current guideline register, July 2026</a:t>
            </a:r>
            <a:endParaRPr lang="en-US" sz="1150" dirty="0">
              <a:latin typeface="Plus Jakarta Sans"/>
            </a:endParaRPr>
          </a:p>
        </p:txBody>
      </p:sp>
      <p:sp>
        <p:nvSpPr>
          <p:cNvPr id="50" name="Shape 48"/>
          <p:cNvSpPr/>
          <p:nvPr/>
        </p:nvSpPr>
        <p:spPr>
          <a:xfrm>
            <a:off x="6278728" y="4261104"/>
            <a:ext cx="5272888" cy="0"/>
          </a:xfrm>
          <a:prstGeom prst="line">
            <a:avLst/>
          </a:prstGeom>
          <a:noFill/>
          <a:ln w="6350">
            <a:solidFill>
              <a:srgbClr val="3D3D3D"/>
            </a:solidFill>
            <a:prstDash val="solid"/>
          </a:ln>
        </p:spPr>
      </p:sp>
      <p:sp>
        <p:nvSpPr>
          <p:cNvPr id="51" name="Text 49"/>
          <p:cNvSpPr txBox="1"/>
          <p:nvPr/>
        </p:nvSpPr>
        <p:spPr>
          <a:xfrm>
            <a:off x="6278728" y="4261104"/>
            <a:ext cx="1234440" cy="420624"/>
          </a:xfrm>
          <a:prstGeom prst="rect">
            <a:avLst/>
          </a:prstGeom>
          <a:noFill/>
          <a:ln/>
        </p:spPr>
        <p:txBody>
          <a:bodyPr wrap="square" lIns="0" tIns="0" rIns="0" bIns="0" rtlCol="0" anchor="ctr"/>
          <a:lstStyle/>
          <a:p>
            <a:pPr algn="l" indent="0" marL="0">
              <a:buNone/>
            </a:pPr>
            <a:r>
              <a:rPr lang="en-US" sz="950" b="1" dirty="0">
                <a:solidFill>
                  <a:srgbClr val="05C489"/>
                </a:solidFill>
                <a:latin typeface="Plus Jakarta Sans" pitchFamily="34" charset="0"/>
                <a:ea typeface="Segoe UI" pitchFamily="34" charset="-122"/>
                <a:cs typeface="Segoe UI" pitchFamily="34" charset="-120"/>
              </a:rPr>
              <a:t>BAUSDAY26</a:t>
            </a:r>
            <a:endParaRPr lang="en-US" sz="950" dirty="0">
              <a:latin typeface="Plus Jakarta Sans"/>
            </a:endParaRPr>
          </a:p>
        </p:txBody>
      </p:sp>
      <p:sp>
        <p:nvSpPr>
          <p:cNvPr id="52" name="Text 50">
            <a:hlinkClick r:id="rId17" tooltip=""/>
          </p:cNvPr>
          <p:cNvSpPr txBox="1"/>
          <p:nvPr/>
        </p:nvSpPr>
        <p:spPr>
          <a:xfrm>
            <a:off x="7558888" y="4261104"/>
            <a:ext cx="3992728" cy="420624"/>
          </a:xfrm>
          <a:prstGeom prst="rect">
            <a:avLst/>
          </a:prstGeom>
          <a:noFill/>
          <a:ln/>
        </p:spPr>
        <p:txBody>
          <a:bodyPr wrap="square" lIns="0" tIns="0" rIns="0" bIns="0" rtlCol="0" anchor="ctr"/>
          <a:lstStyle/>
          <a:p>
            <a:pPr algn="l" indent="0" marL="0">
              <a:buNone/>
            </a:pPr>
            <a:r>
              <a:rPr lang="en-US" sz="1150" u="sng" dirty="0">
                <a:solidFill>
                  <a:srgbClr val="FFFFFF"/>
                </a:solidFill>
                <a:latin typeface="Plus Jakarta Sans" pitchFamily="34" charset="0"/>
                <a:ea typeface="Segoe UI" pitchFamily="34" charset="-122"/>
                <a:cs typeface="Segoe UI" pitchFamily="34" charset="-120"/>
                <a:hlinkClick r:id="rId17" invalidUrl="" action="" tgtFrame="" tooltip="" history="1" highlightClick="0" endSnd="0">
                  <a:extLst>
                    <a:ext uri="{A12FA001-AC4F-418D-AE19-62706E023703}">
                      <ahyp:hlinkClr xmlns:ahyp="http://schemas.microsoft.com/office/drawing/2018/hyperlinkcolor" val="tx"/>
                    </a:ext>
                  </a:extLst>
                </a:hlinkClick>
              </a:rPr>
              <a:t>BAUS 2026 P4-8: day-case AUS audit</a:t>
            </a:r>
            <a:endParaRPr lang="en-US" sz="1150" dirty="0">
              <a:latin typeface="Plus Jakarta Sans"/>
            </a:endParaRPr>
          </a:p>
        </p:txBody>
      </p:sp>
      <p:sp>
        <p:nvSpPr>
          <p:cNvPr id="53" name="Shape 51"/>
          <p:cNvSpPr/>
          <p:nvPr/>
        </p:nvSpPr>
        <p:spPr>
          <a:xfrm>
            <a:off x="6278728" y="4681728"/>
            <a:ext cx="5272888" cy="0"/>
          </a:xfrm>
          <a:prstGeom prst="line">
            <a:avLst/>
          </a:prstGeom>
          <a:noFill/>
          <a:ln w="6350">
            <a:solidFill>
              <a:srgbClr val="3D3D3D"/>
            </a:solidFill>
            <a:prstDash val="solid"/>
          </a:ln>
        </p:spPr>
      </p:sp>
      <p:sp>
        <p:nvSpPr>
          <p:cNvPr id="54" name="Text 52"/>
          <p:cNvSpPr txBox="1"/>
          <p:nvPr/>
        </p:nvSpPr>
        <p:spPr>
          <a:xfrm>
            <a:off x="6278728" y="4681728"/>
            <a:ext cx="1234440" cy="420624"/>
          </a:xfrm>
          <a:prstGeom prst="rect">
            <a:avLst/>
          </a:prstGeom>
          <a:noFill/>
          <a:ln/>
        </p:spPr>
        <p:txBody>
          <a:bodyPr wrap="square" lIns="0" tIns="0" rIns="0" bIns="0" rtlCol="0" anchor="ctr"/>
          <a:lstStyle/>
          <a:p>
            <a:pPr algn="l" indent="0" marL="0">
              <a:buNone/>
            </a:pPr>
            <a:r>
              <a:rPr lang="en-US" sz="950" b="1" dirty="0">
                <a:solidFill>
                  <a:srgbClr val="05C489"/>
                </a:solidFill>
                <a:latin typeface="Plus Jakarta Sans" pitchFamily="34" charset="0"/>
                <a:ea typeface="Segoe UI" pitchFamily="34" charset="-122"/>
                <a:cs typeface="Segoe UI" pitchFamily="34" charset="-120"/>
              </a:rPr>
              <a:t>BAUSSCI26</a:t>
            </a:r>
            <a:endParaRPr lang="en-US" sz="950" dirty="0">
              <a:latin typeface="Plus Jakarta Sans"/>
            </a:endParaRPr>
          </a:p>
        </p:txBody>
      </p:sp>
      <p:sp>
        <p:nvSpPr>
          <p:cNvPr id="55" name="Text 53">
            <a:hlinkClick r:id="rId18" tooltip=""/>
          </p:cNvPr>
          <p:cNvSpPr txBox="1"/>
          <p:nvPr/>
        </p:nvSpPr>
        <p:spPr>
          <a:xfrm>
            <a:off x="7558888" y="4681728"/>
            <a:ext cx="3992728" cy="420624"/>
          </a:xfrm>
          <a:prstGeom prst="rect">
            <a:avLst/>
          </a:prstGeom>
          <a:noFill/>
          <a:ln/>
        </p:spPr>
        <p:txBody>
          <a:bodyPr wrap="square" lIns="0" tIns="0" rIns="0" bIns="0" rtlCol="0" anchor="ctr"/>
          <a:lstStyle/>
          <a:p>
            <a:pPr algn="l" indent="0" marL="0">
              <a:buNone/>
            </a:pPr>
            <a:r>
              <a:rPr lang="en-US" sz="1150" u="sng" dirty="0">
                <a:solidFill>
                  <a:srgbClr val="FFFFFF"/>
                </a:solidFill>
                <a:latin typeface="Plus Jakarta Sans" pitchFamily="34" charset="0"/>
                <a:ea typeface="Segoe UI" pitchFamily="34" charset="-122"/>
                <a:cs typeface="Segoe UI" pitchFamily="34" charset="-120"/>
                <a:hlinkClick r:id="rId18" invalidUrl="" action="" tgtFrame="" tooltip="" history="1" highlightClick="0" endSnd="0">
                  <a:extLst>
                    <a:ext uri="{A12FA001-AC4F-418D-AE19-62706E023703}">
                      <ahyp:hlinkClr xmlns:ahyp="http://schemas.microsoft.com/office/drawing/2018/hyperlinkcolor" val="tx"/>
                    </a:ext>
                  </a:extLst>
                </a:hlinkClick>
              </a:rPr>
              <a:t>BAUS 2026 P12-7: bulbar AUS in SCI</a:t>
            </a:r>
            <a:endParaRPr lang="en-US" sz="1150" dirty="0">
              <a:latin typeface="Plus Jakarta Sans"/>
            </a:endParaRPr>
          </a:p>
        </p:txBody>
      </p:sp>
      <p:sp>
        <p:nvSpPr>
          <p:cNvPr id="56" name="Shape 54"/>
          <p:cNvSpPr/>
          <p:nvPr/>
        </p:nvSpPr>
        <p:spPr>
          <a:xfrm>
            <a:off x="6278728" y="5102352"/>
            <a:ext cx="5272888" cy="0"/>
          </a:xfrm>
          <a:prstGeom prst="line">
            <a:avLst/>
          </a:prstGeom>
          <a:noFill/>
          <a:ln w="6350">
            <a:solidFill>
              <a:srgbClr val="3D3D3D"/>
            </a:solidFill>
            <a:prstDash val="solid"/>
          </a:ln>
        </p:spPr>
      </p:sp>
      <p:sp>
        <p:nvSpPr>
          <p:cNvPr id="57" name="Text 55"/>
          <p:cNvSpPr txBox="1"/>
          <p:nvPr/>
        </p:nvSpPr>
        <p:spPr>
          <a:xfrm>
            <a:off x="6278728" y="5102352"/>
            <a:ext cx="1234440" cy="420624"/>
          </a:xfrm>
          <a:prstGeom prst="rect">
            <a:avLst/>
          </a:prstGeom>
          <a:noFill/>
          <a:ln/>
        </p:spPr>
        <p:txBody>
          <a:bodyPr wrap="square" lIns="0" tIns="0" rIns="0" bIns="0" rtlCol="0" anchor="ctr"/>
          <a:lstStyle/>
          <a:p>
            <a:pPr algn="l" indent="0" marL="0">
              <a:buNone/>
            </a:pPr>
            <a:r>
              <a:rPr lang="en-US" sz="950" b="1" dirty="0">
                <a:solidFill>
                  <a:srgbClr val="05C489"/>
                </a:solidFill>
                <a:latin typeface="Plus Jakarta Sans" pitchFamily="34" charset="0"/>
                <a:ea typeface="Segoe UI" pitchFamily="34" charset="-122"/>
                <a:cs typeface="Segoe UI" pitchFamily="34" charset="-120"/>
              </a:rPr>
              <a:t>AUAUDS26</a:t>
            </a:r>
            <a:endParaRPr lang="en-US" sz="950" dirty="0">
              <a:latin typeface="Plus Jakarta Sans"/>
            </a:endParaRPr>
          </a:p>
        </p:txBody>
      </p:sp>
      <p:sp>
        <p:nvSpPr>
          <p:cNvPr id="58" name="Text 56">
            <a:hlinkClick r:id="rId19" tooltip=""/>
          </p:cNvPr>
          <p:cNvSpPr txBox="1"/>
          <p:nvPr/>
        </p:nvSpPr>
        <p:spPr>
          <a:xfrm>
            <a:off x="7558888" y="5102352"/>
            <a:ext cx="3992728" cy="420624"/>
          </a:xfrm>
          <a:prstGeom prst="rect">
            <a:avLst/>
          </a:prstGeom>
          <a:noFill/>
          <a:ln/>
        </p:spPr>
        <p:txBody>
          <a:bodyPr wrap="square" lIns="0" tIns="0" rIns="0" bIns="0" rtlCol="0" anchor="ctr"/>
          <a:lstStyle/>
          <a:p>
            <a:pPr algn="l" indent="0" marL="0">
              <a:buNone/>
            </a:pPr>
            <a:r>
              <a:rPr lang="en-US" sz="1150" u="sng" dirty="0">
                <a:solidFill>
                  <a:srgbClr val="FFFFFF"/>
                </a:solidFill>
                <a:latin typeface="Plus Jakarta Sans" pitchFamily="34" charset="0"/>
                <a:ea typeface="Segoe UI" pitchFamily="34" charset="-122"/>
                <a:cs typeface="Segoe UI" pitchFamily="34" charset="-120"/>
                <a:hlinkClick r:id="rId19" invalidUrl="" action="" tgtFrame="" tooltip="" history="1" highlightClick="0" endSnd="0">
                  <a:extLst>
                    <a:ext uri="{A12FA001-AC4F-418D-AE19-62706E023703}">
                      <ahyp:hlinkClr xmlns:ahyp="http://schemas.microsoft.com/office/drawing/2018/hyperlinkcolor" val="tx"/>
                    </a:ext>
                  </a:extLst>
                </a:hlinkClick>
              </a:rPr>
              <a:t>AUA 2026 IP09-22: pre-AUS UDS and cystoscopy</a:t>
            </a:r>
            <a:endParaRPr lang="en-US" sz="1150" dirty="0">
              <a:latin typeface="Plus Jakarta Sans"/>
            </a:endParaRPr>
          </a:p>
        </p:txBody>
      </p:sp>
      <p:sp>
        <p:nvSpPr>
          <p:cNvPr id="59" name="Shape 57"/>
          <p:cNvSpPr/>
          <p:nvPr/>
        </p:nvSpPr>
        <p:spPr>
          <a:xfrm>
            <a:off x="6278728" y="5522976"/>
            <a:ext cx="5272888" cy="0"/>
          </a:xfrm>
          <a:prstGeom prst="line">
            <a:avLst/>
          </a:prstGeom>
          <a:noFill/>
          <a:ln w="6350">
            <a:solidFill>
              <a:srgbClr val="3D3D3D"/>
            </a:solidFill>
            <a:prstDash val="solid"/>
          </a:ln>
        </p:spPr>
      </p:sp>
      <p:sp>
        <p:nvSpPr>
          <p:cNvPr id="60" name="Text 58"/>
          <p:cNvSpPr txBox="1"/>
          <p:nvPr/>
        </p:nvSpPr>
        <p:spPr>
          <a:xfrm>
            <a:off x="6278728" y="5522976"/>
            <a:ext cx="1234440" cy="420624"/>
          </a:xfrm>
          <a:prstGeom prst="rect">
            <a:avLst/>
          </a:prstGeom>
          <a:noFill/>
          <a:ln/>
        </p:spPr>
        <p:txBody>
          <a:bodyPr wrap="square" lIns="0" tIns="0" rIns="0" bIns="0" rtlCol="0" anchor="ctr"/>
          <a:lstStyle/>
          <a:p>
            <a:pPr algn="l" indent="0" marL="0">
              <a:buNone/>
            </a:pPr>
            <a:r>
              <a:rPr lang="en-US" sz="950" b="1" dirty="0">
                <a:solidFill>
                  <a:srgbClr val="05C489"/>
                </a:solidFill>
                <a:latin typeface="Plus Jakarta Sans" pitchFamily="34" charset="0"/>
                <a:ea typeface="Segoe UI" pitchFamily="34" charset="-122"/>
                <a:cs typeface="Segoe UI" pitchFamily="34" charset="-120"/>
              </a:rPr>
              <a:t>AUAABX26</a:t>
            </a:r>
            <a:endParaRPr lang="en-US" sz="950" dirty="0">
              <a:latin typeface="Plus Jakarta Sans"/>
            </a:endParaRPr>
          </a:p>
        </p:txBody>
      </p:sp>
      <p:sp>
        <p:nvSpPr>
          <p:cNvPr id="61" name="Text 59">
            <a:hlinkClick r:id="rId20" tooltip=""/>
          </p:cNvPr>
          <p:cNvSpPr txBox="1"/>
          <p:nvPr/>
        </p:nvSpPr>
        <p:spPr>
          <a:xfrm>
            <a:off x="7558888" y="5522976"/>
            <a:ext cx="3992728" cy="420624"/>
          </a:xfrm>
          <a:prstGeom prst="rect">
            <a:avLst/>
          </a:prstGeom>
          <a:noFill/>
          <a:ln/>
        </p:spPr>
        <p:txBody>
          <a:bodyPr wrap="square" lIns="0" tIns="0" rIns="0" bIns="0" rtlCol="0" anchor="ctr"/>
          <a:lstStyle/>
          <a:p>
            <a:pPr algn="l" indent="0" marL="0">
              <a:buNone/>
            </a:pPr>
            <a:r>
              <a:rPr lang="en-US" sz="1150" u="sng" dirty="0">
                <a:solidFill>
                  <a:srgbClr val="FFFFFF"/>
                </a:solidFill>
                <a:latin typeface="Plus Jakarta Sans" pitchFamily="34" charset="0"/>
                <a:ea typeface="Segoe UI" pitchFamily="34" charset="-122"/>
                <a:cs typeface="Segoe UI" pitchFamily="34" charset="-120"/>
                <a:hlinkClick r:id="rId20" invalidUrl="" action="" tgtFrame="" tooltip="" history="1" highlightClick="0" endSnd="0">
                  <a:extLst>
                    <a:ext uri="{A12FA001-AC4F-418D-AE19-62706E023703}">
                      <ahyp:hlinkClr xmlns:ahyp="http://schemas.microsoft.com/office/drawing/2018/hyperlinkcolor" val="tx"/>
                    </a:ext>
                  </a:extLst>
                </a:hlinkClick>
              </a:rPr>
              <a:t>AUA 2026 IP09-18: postoperative antibiotics</a:t>
            </a:r>
            <a:endParaRPr lang="en-US" sz="1150" dirty="0">
              <a:latin typeface="Plus Jakarta Sans"/>
            </a:endParaRPr>
          </a:p>
        </p:txBody>
      </p:sp>
      <p:sp>
        <p:nvSpPr>
          <p:cNvPr id="9001" name="replacement-title">
            <a:extLst>
              <a:ext uri="{FF2B5EF4-FFF2-40B4-BE49-F238E27FC236}">
                <a16:creationId xmlns:a16="http://schemas.microsoft.com/office/drawing/2014/main" id="{5FC1DC24-3F83-4F28-9DD6-CFC8EA67E88A}"/>
              </a:ext>
            </a:extLst>
          </p:cNvPr>
          <p:cNvSpPr>
            <a:spLocks noGrp="1"/>
          </p:cNvSpPr>
          <p:nvPr/>
        </p:nvSpPr>
        <p:spPr>
          <a:xfrm>
            <a:off x="638175" y="752475"/>
            <a:ext cx="10915650" cy="800100"/>
          </a:xfrm>
          <a:prstGeom prst="rect">
            <a:avLst/>
          </a:prstGeom>
          <a:noFill/>
          <a:ln w="0">
            <a:noFill/>
          </a:ln>
        </p:spPr>
        <p:txBody>
          <a:bodyPr anchor="ctr"/>
          <a:lstStyle>
            <a:defPPr>
              <a:defRPr sz="2625" b="1">
                <a:solidFill>
                  <a:srgbClr val="FFFFFF"/>
                </a:solidFill>
                <a:latin typeface="Plus Jakarta Sans"/>
              </a:defRPr>
            </a:defPPr>
            <a:lvl1pPr>
              <a:defRPr sz="2625" b="1">
                <a:solidFill>
                  <a:srgbClr val="FFFFFF"/>
                </a:solidFill>
                <a:latin typeface="Plus Jakarta Sans"/>
              </a:defRPr>
            </a:lvl1pPr>
            <a:lvl2pPr>
              <a:defRPr sz="2625" b="1">
                <a:solidFill>
                  <a:srgbClr val="FFFFFF"/>
                </a:solidFill>
                <a:latin typeface="Plus Jakarta Sans"/>
              </a:defRPr>
            </a:lvl2pPr>
            <a:lvl3pPr>
              <a:defRPr sz="2625" b="1">
                <a:solidFill>
                  <a:srgbClr val="FFFFFF"/>
                </a:solidFill>
                <a:latin typeface="Plus Jakarta Sans"/>
              </a:defRPr>
            </a:lvl3pPr>
            <a:lvl4pPr>
              <a:defRPr sz="2625" b="1">
                <a:solidFill>
                  <a:srgbClr val="FFFFFF"/>
                </a:solidFill>
                <a:latin typeface="Plus Jakarta Sans"/>
              </a:defRPr>
            </a:lvl4pPr>
            <a:lvl5pPr>
              <a:defRPr sz="2625" b="1">
                <a:solidFill>
                  <a:srgbClr val="FFFFFF"/>
                </a:solidFill>
                <a:latin typeface="Plus Jakarta Sans"/>
              </a:defRPr>
            </a:lvl5pPr>
            <a:lvl6pPr>
              <a:defRPr sz="2625" b="1">
                <a:solidFill>
                  <a:srgbClr val="FFFFFF"/>
                </a:solidFill>
                <a:latin typeface="Plus Jakarta Sans"/>
              </a:defRPr>
            </a:lvl6pPr>
            <a:lvl7pPr>
              <a:defRPr sz="2625" b="1">
                <a:solidFill>
                  <a:srgbClr val="FFFFFF"/>
                </a:solidFill>
                <a:latin typeface="Plus Jakarta Sans"/>
              </a:defRPr>
            </a:lvl7pPr>
            <a:lvl8pPr>
              <a:defRPr sz="2625" b="1">
                <a:solidFill>
                  <a:srgbClr val="FFFFFF"/>
                </a:solidFill>
                <a:latin typeface="Plus Jakarta Sans"/>
              </a:defRPr>
            </a:lvl8pPr>
            <a:lvl9pPr>
              <a:defRPr sz="2625" b="1">
                <a:solidFill>
                  <a:srgbClr val="FFFFFF"/>
                </a:solidFill>
                <a:latin typeface="Plus Jakarta Sans"/>
              </a:defRPr>
            </a:lvl9pPr>
          </a:lstStyle>
          <a:p>
            <a:pPr>
              <a:defRPr sz="2625" b="1">
                <a:solidFill>
                  <a:srgbClr val="FFFFFF"/>
                </a:solidFill>
                <a:latin typeface="Plus Jakarta Sans"/>
              </a:defRPr>
            </a:pPr>
            <a:r>
              <a:rPr sz="2625" b="1">
                <a:solidFill>
                  <a:srgbClr val="FFFFFF"/>
                </a:solidFill>
                <a:latin typeface="Plus Jakarta Sans"/>
              </a:rPr>
              <a:t>Sources 2 of 3</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161616"/>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05C489"/>
                </a:solidFill>
                <a:latin typeface="Plus Jakarta Sans" pitchFamily="34" charset="0"/>
                <a:ea typeface="Segoe UI" pitchFamily="34" charset="-122"/>
                <a:cs typeface="Segoe UI" pitchFamily="34" charset="-120"/>
              </a:rPr>
              <a:t>REFERENCES</a:t>
            </a:r>
            <a:endParaRPr lang="en-US" sz="950" dirty="0">
              <a:latin typeface="Plus Jakarta Sans"/>
            </a:endParaRPr>
          </a:p>
        </p:txBody>
      </p:sp>
      <p:sp>
        <p:nvSpPr>
          <p:cNvPr id="4" name="Text 2"/>
          <p:cNvSpPr txBox="1"/>
          <p:nvPr/>
        </p:nvSpPr>
        <p:spPr>
          <a:xfrm>
            <a:off x="640080" y="1737360"/>
            <a:ext cx="1234440" cy="420624"/>
          </a:xfrm>
          <a:prstGeom prst="rect">
            <a:avLst/>
          </a:prstGeom>
          <a:noFill/>
          <a:ln/>
        </p:spPr>
        <p:txBody>
          <a:bodyPr wrap="square" lIns="0" tIns="0" rIns="0" bIns="0" rtlCol="0" anchor="ctr"/>
          <a:lstStyle/>
          <a:p>
            <a:pPr algn="l" indent="0" marL="0">
              <a:buNone/>
            </a:pPr>
            <a:r>
              <a:rPr lang="en-US" sz="950" b="1" dirty="0">
                <a:solidFill>
                  <a:srgbClr val="05C489"/>
                </a:solidFill>
                <a:latin typeface="Plus Jakarta Sans" pitchFamily="34" charset="0"/>
                <a:ea typeface="Segoe UI" pitchFamily="34" charset="-122"/>
                <a:cs typeface="Segoe UI" pitchFamily="34" charset="-120"/>
              </a:rPr>
              <a:t>AUASAFER26</a:t>
            </a:r>
            <a:endParaRPr lang="en-US" sz="950" dirty="0">
              <a:latin typeface="Plus Jakarta Sans"/>
            </a:endParaRPr>
          </a:p>
        </p:txBody>
      </p:sp>
      <p:sp>
        <p:nvSpPr>
          <p:cNvPr id="5" name="Text 3">
            <a:hlinkClick r:id="rId1" tooltip=""/>
          </p:cNvPr>
          <p:cNvSpPr txBox="1"/>
          <p:nvPr/>
        </p:nvSpPr>
        <p:spPr>
          <a:xfrm>
            <a:off x="1920240" y="1737360"/>
            <a:ext cx="3992728" cy="420624"/>
          </a:xfrm>
          <a:prstGeom prst="rect">
            <a:avLst/>
          </a:prstGeom>
          <a:noFill/>
          <a:ln/>
        </p:spPr>
        <p:txBody>
          <a:bodyPr wrap="square" lIns="0" tIns="0" rIns="0" bIns="0" rtlCol="0" anchor="ctr"/>
          <a:lstStyle/>
          <a:p>
            <a:pPr algn="l" indent="0" marL="0">
              <a:buNone/>
            </a:pPr>
            <a:r>
              <a:rPr lang="en-US" sz="1150" u="sng" dirty="0">
                <a:solidFill>
                  <a:srgbClr val="FFFFFF"/>
                </a:solidFill>
                <a:latin typeface="Plus Jakarta Sans"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AUA 2026 IP09-17: SAFER erosion management</a:t>
            </a:r>
            <a:endParaRPr lang="en-US" sz="1150" dirty="0">
              <a:latin typeface="Plus Jakarta Sans"/>
            </a:endParaRPr>
          </a:p>
        </p:txBody>
      </p:sp>
      <p:sp>
        <p:nvSpPr>
          <p:cNvPr id="6" name="Shape 4"/>
          <p:cNvSpPr/>
          <p:nvPr/>
        </p:nvSpPr>
        <p:spPr>
          <a:xfrm>
            <a:off x="640080" y="2157984"/>
            <a:ext cx="5272888" cy="0"/>
          </a:xfrm>
          <a:prstGeom prst="line">
            <a:avLst/>
          </a:prstGeom>
          <a:noFill/>
          <a:ln w="6350">
            <a:solidFill>
              <a:srgbClr val="3D3D3D"/>
            </a:solidFill>
            <a:prstDash val="solid"/>
          </a:ln>
        </p:spPr>
      </p:sp>
      <p:sp>
        <p:nvSpPr>
          <p:cNvPr id="7" name="Text 5"/>
          <p:cNvSpPr txBox="1"/>
          <p:nvPr/>
        </p:nvSpPr>
        <p:spPr>
          <a:xfrm>
            <a:off x="640080" y="2157984"/>
            <a:ext cx="1234440" cy="420624"/>
          </a:xfrm>
          <a:prstGeom prst="rect">
            <a:avLst/>
          </a:prstGeom>
          <a:noFill/>
          <a:ln/>
        </p:spPr>
        <p:txBody>
          <a:bodyPr wrap="square" lIns="0" tIns="0" rIns="0" bIns="0" rtlCol="0" anchor="ctr"/>
          <a:lstStyle/>
          <a:p>
            <a:pPr algn="l" indent="0" marL="0">
              <a:buNone/>
            </a:pPr>
            <a:r>
              <a:rPr lang="en-US" sz="950" b="1" dirty="0">
                <a:solidFill>
                  <a:srgbClr val="05C489"/>
                </a:solidFill>
                <a:latin typeface="Plus Jakarta Sans" pitchFamily="34" charset="0"/>
                <a:ea typeface="Segoe UI" pitchFamily="34" charset="-122"/>
                <a:cs typeface="Segoe UI" pitchFamily="34" charset="-120"/>
              </a:rPr>
              <a:t>MASTER26</a:t>
            </a:r>
            <a:endParaRPr lang="en-US" sz="950" dirty="0">
              <a:latin typeface="Plus Jakarta Sans"/>
            </a:endParaRPr>
          </a:p>
        </p:txBody>
      </p:sp>
      <p:sp>
        <p:nvSpPr>
          <p:cNvPr id="8" name="Text 6">
            <a:hlinkClick r:id="rId2" tooltip=""/>
          </p:cNvPr>
          <p:cNvSpPr txBox="1"/>
          <p:nvPr/>
        </p:nvSpPr>
        <p:spPr>
          <a:xfrm>
            <a:off x="1920240" y="2157984"/>
            <a:ext cx="3992728" cy="420624"/>
          </a:xfrm>
          <a:prstGeom prst="rect">
            <a:avLst/>
          </a:prstGeom>
          <a:noFill/>
          <a:ln/>
        </p:spPr>
        <p:txBody>
          <a:bodyPr wrap="square" lIns="0" tIns="0" rIns="0" bIns="0" rtlCol="0" anchor="ctr"/>
          <a:lstStyle/>
          <a:p>
            <a:pPr algn="l" indent="0" marL="0">
              <a:buNone/>
            </a:pPr>
            <a:r>
              <a:rPr lang="en-US" sz="1150" u="sng" dirty="0">
                <a:solidFill>
                  <a:srgbClr val="FFFFFF"/>
                </a:solidFill>
                <a:latin typeface="Plus Jakarta Sans" pitchFamily="34" charset="0"/>
                <a:ea typeface="Segoe UI" pitchFamily="34" charset="-122"/>
                <a:cs typeface="Segoe UI" pitchFamily="34" charset="-120"/>
                <a:hlinkClick r:id="rId2" invalidUrl="" action="" tgtFrame="" tooltip="" history="1" highlightClick="0" endSnd="0">
                  <a:extLst>
                    <a:ext uri="{A12FA001-AC4F-418D-AE19-62706E023703}">
                      <ahyp:hlinkClr xmlns:ahyp="http://schemas.microsoft.com/office/drawing/2018/hyperlinkcolor" val="tx"/>
                    </a:ext>
                  </a:extLst>
                </a:hlinkClick>
              </a:rPr>
              <a:t>MASTER: 24-month RCT results, 2026</a:t>
            </a:r>
            <a:endParaRPr lang="en-US" sz="1150" dirty="0">
              <a:latin typeface="Plus Jakarta Sans"/>
            </a:endParaRPr>
          </a:p>
        </p:txBody>
      </p:sp>
      <p:sp>
        <p:nvSpPr>
          <p:cNvPr id="9" name="Shape 7"/>
          <p:cNvSpPr/>
          <p:nvPr/>
        </p:nvSpPr>
        <p:spPr>
          <a:xfrm>
            <a:off x="640080" y="2578608"/>
            <a:ext cx="5272888" cy="0"/>
          </a:xfrm>
          <a:prstGeom prst="line">
            <a:avLst/>
          </a:prstGeom>
          <a:noFill/>
          <a:ln w="6350">
            <a:solidFill>
              <a:srgbClr val="3D3D3D"/>
            </a:solidFill>
            <a:prstDash val="solid"/>
          </a:ln>
        </p:spPr>
      </p:sp>
      <p:sp>
        <p:nvSpPr>
          <p:cNvPr id="10" name="Text 8"/>
          <p:cNvSpPr txBox="1"/>
          <p:nvPr/>
        </p:nvSpPr>
        <p:spPr>
          <a:xfrm>
            <a:off x="640080" y="2578608"/>
            <a:ext cx="1234440" cy="420624"/>
          </a:xfrm>
          <a:prstGeom prst="rect">
            <a:avLst/>
          </a:prstGeom>
          <a:noFill/>
          <a:ln/>
        </p:spPr>
        <p:txBody>
          <a:bodyPr wrap="square" lIns="0" tIns="0" rIns="0" bIns="0" rtlCol="0" anchor="ctr"/>
          <a:lstStyle/>
          <a:p>
            <a:pPr algn="l" indent="0" marL="0">
              <a:buNone/>
            </a:pPr>
            <a:r>
              <a:rPr lang="en-US" sz="950" b="1" dirty="0">
                <a:solidFill>
                  <a:srgbClr val="05C489"/>
                </a:solidFill>
                <a:latin typeface="Plus Jakarta Sans" pitchFamily="34" charset="0"/>
                <a:ea typeface="Segoe UI" pitchFamily="34" charset="-122"/>
                <a:cs typeface="Segoe UI" pitchFamily="34" charset="-120"/>
              </a:rPr>
              <a:t>URETHMETA26</a:t>
            </a:r>
            <a:endParaRPr lang="en-US" sz="950" dirty="0">
              <a:latin typeface="Plus Jakarta Sans"/>
            </a:endParaRPr>
          </a:p>
        </p:txBody>
      </p:sp>
      <p:sp>
        <p:nvSpPr>
          <p:cNvPr id="11" name="Text 9">
            <a:hlinkClick r:id="rId3" tooltip=""/>
          </p:cNvPr>
          <p:cNvSpPr txBox="1"/>
          <p:nvPr/>
        </p:nvSpPr>
        <p:spPr>
          <a:xfrm>
            <a:off x="1920240" y="2578608"/>
            <a:ext cx="3992728" cy="420624"/>
          </a:xfrm>
          <a:prstGeom prst="rect">
            <a:avLst/>
          </a:prstGeom>
          <a:noFill/>
          <a:ln/>
        </p:spPr>
        <p:txBody>
          <a:bodyPr wrap="square" lIns="0" tIns="0" rIns="0" bIns="0" rtlCol="0" anchor="ctr"/>
          <a:lstStyle/>
          <a:p>
            <a:pPr algn="l" indent="0" marL="0">
              <a:buNone/>
            </a:pPr>
            <a:r>
              <a:rPr lang="en-US" sz="1150" u="sng" dirty="0">
                <a:solidFill>
                  <a:srgbClr val="FFFFFF"/>
                </a:solidFill>
                <a:latin typeface="Plus Jakarta Sans" pitchFamily="34" charset="0"/>
                <a:ea typeface="Segoe UI" pitchFamily="34" charset="-122"/>
                <a:cs typeface="Segoe UI" pitchFamily="34" charset="-120"/>
                <a:hlinkClick r:id="rId3" invalidUrl="" action="" tgtFrame="" tooltip="" history="1" highlightClick="0" endSnd="0">
                  <a:extLst>
                    <a:ext uri="{A12FA001-AC4F-418D-AE19-62706E023703}">
                      <ahyp:hlinkClr xmlns:ahyp="http://schemas.microsoft.com/office/drawing/2018/hyperlinkcolor" val="tx"/>
                    </a:ext>
                  </a:extLst>
                </a:hlinkClick>
              </a:rPr>
              <a:t>Prior urethroplasty: meta-analysis, 2026</a:t>
            </a:r>
            <a:endParaRPr lang="en-US" sz="1150" dirty="0">
              <a:latin typeface="Plus Jakarta Sans"/>
            </a:endParaRPr>
          </a:p>
        </p:txBody>
      </p:sp>
      <p:sp>
        <p:nvSpPr>
          <p:cNvPr id="12" name="Shape 10"/>
          <p:cNvSpPr/>
          <p:nvPr/>
        </p:nvSpPr>
        <p:spPr>
          <a:xfrm>
            <a:off x="640080" y="2999232"/>
            <a:ext cx="5272888" cy="0"/>
          </a:xfrm>
          <a:prstGeom prst="line">
            <a:avLst/>
          </a:prstGeom>
          <a:noFill/>
          <a:ln w="6350">
            <a:solidFill>
              <a:srgbClr val="3D3D3D"/>
            </a:solidFill>
            <a:prstDash val="solid"/>
          </a:ln>
        </p:spPr>
      </p:sp>
      <p:sp>
        <p:nvSpPr>
          <p:cNvPr id="13" name="Text 11"/>
          <p:cNvSpPr txBox="1"/>
          <p:nvPr/>
        </p:nvSpPr>
        <p:spPr>
          <a:xfrm>
            <a:off x="640080" y="2999232"/>
            <a:ext cx="1234440" cy="420624"/>
          </a:xfrm>
          <a:prstGeom prst="rect">
            <a:avLst/>
          </a:prstGeom>
          <a:noFill/>
          <a:ln/>
        </p:spPr>
        <p:txBody>
          <a:bodyPr wrap="square" lIns="0" tIns="0" rIns="0" bIns="0" rtlCol="0" anchor="ctr"/>
          <a:lstStyle/>
          <a:p>
            <a:pPr algn="l" indent="0" marL="0">
              <a:buNone/>
            </a:pPr>
            <a:r>
              <a:rPr lang="en-US" sz="950" b="1" dirty="0">
                <a:solidFill>
                  <a:srgbClr val="05C489"/>
                </a:solidFill>
                <a:latin typeface="Plus Jakarta Sans" pitchFamily="34" charset="0"/>
                <a:ea typeface="Segoe UI" pitchFamily="34" charset="-122"/>
                <a:cs typeface="Segoe UI" pitchFamily="34" charset="-120"/>
              </a:rPr>
              <a:t>IRRIG26</a:t>
            </a:r>
            <a:endParaRPr lang="en-US" sz="950" dirty="0">
              <a:latin typeface="Plus Jakarta Sans"/>
            </a:endParaRPr>
          </a:p>
        </p:txBody>
      </p:sp>
      <p:sp>
        <p:nvSpPr>
          <p:cNvPr id="14" name="Text 12">
            <a:hlinkClick r:id="rId4" tooltip=""/>
          </p:cNvPr>
          <p:cNvSpPr txBox="1"/>
          <p:nvPr/>
        </p:nvSpPr>
        <p:spPr>
          <a:xfrm>
            <a:off x="1920240" y="2999232"/>
            <a:ext cx="3992728" cy="420624"/>
          </a:xfrm>
          <a:prstGeom prst="rect">
            <a:avLst/>
          </a:prstGeom>
          <a:noFill/>
          <a:ln/>
        </p:spPr>
        <p:txBody>
          <a:bodyPr wrap="square" lIns="0" tIns="0" rIns="0" bIns="0" rtlCol="0" anchor="ctr"/>
          <a:lstStyle/>
          <a:p>
            <a:pPr algn="l" indent="0" marL="0">
              <a:buNone/>
            </a:pPr>
            <a:r>
              <a:rPr lang="en-US" sz="1150" u="sng" dirty="0">
                <a:solidFill>
                  <a:srgbClr val="FFFFFF"/>
                </a:solidFill>
                <a:latin typeface="Plus Jakarta Sans" pitchFamily="34" charset="0"/>
                <a:ea typeface="Segoe UI" pitchFamily="34" charset="-122"/>
                <a:cs typeface="Segoe UI" pitchFamily="34" charset="-120"/>
                <a:hlinkClick r:id="rId4" invalidUrl="" action="" tgtFrame="" tooltip="" history="1" highlightClick="0" endSnd="0">
                  <a:extLst>
                    <a:ext uri="{A12FA001-AC4F-418D-AE19-62706E023703}">
                      <ahyp:hlinkClr xmlns:ahyp="http://schemas.microsoft.com/office/drawing/2018/hyperlinkcolor" val="tx"/>
                    </a:ext>
                  </a:extLst>
                </a:hlinkClick>
              </a:rPr>
              <a:t>Gentamicin withdrawal: AMS 800 cohort, 2026</a:t>
            </a:r>
            <a:endParaRPr lang="en-US" sz="1150" dirty="0">
              <a:latin typeface="Plus Jakarta Sans"/>
            </a:endParaRPr>
          </a:p>
        </p:txBody>
      </p:sp>
      <p:sp>
        <p:nvSpPr>
          <p:cNvPr id="15" name="Shape 13"/>
          <p:cNvSpPr/>
          <p:nvPr/>
        </p:nvSpPr>
        <p:spPr>
          <a:xfrm>
            <a:off x="640080" y="3419856"/>
            <a:ext cx="5272888" cy="0"/>
          </a:xfrm>
          <a:prstGeom prst="line">
            <a:avLst/>
          </a:prstGeom>
          <a:noFill/>
          <a:ln w="6350">
            <a:solidFill>
              <a:srgbClr val="3D3D3D"/>
            </a:solidFill>
            <a:prstDash val="solid"/>
          </a:ln>
        </p:spPr>
      </p:sp>
      <p:sp>
        <p:nvSpPr>
          <p:cNvPr id="16" name="Text 14"/>
          <p:cNvSpPr txBox="1"/>
          <p:nvPr/>
        </p:nvSpPr>
        <p:spPr>
          <a:xfrm>
            <a:off x="640080" y="3419856"/>
            <a:ext cx="1234440" cy="420624"/>
          </a:xfrm>
          <a:prstGeom prst="rect">
            <a:avLst/>
          </a:prstGeom>
          <a:noFill/>
          <a:ln/>
        </p:spPr>
        <p:txBody>
          <a:bodyPr wrap="square" lIns="0" tIns="0" rIns="0" bIns="0" rtlCol="0" anchor="ctr"/>
          <a:lstStyle/>
          <a:p>
            <a:pPr algn="l" indent="0" marL="0">
              <a:buNone/>
            </a:pPr>
            <a:r>
              <a:rPr lang="en-US" sz="950" b="1" dirty="0">
                <a:solidFill>
                  <a:srgbClr val="05C489"/>
                </a:solidFill>
                <a:latin typeface="Plus Jakarta Sans" pitchFamily="34" charset="0"/>
                <a:ea typeface="Segoe UI" pitchFamily="34" charset="-122"/>
                <a:cs typeface="Segoe UI" pitchFamily="34" charset="-120"/>
              </a:rPr>
              <a:t>DAYMETA26</a:t>
            </a:r>
            <a:endParaRPr lang="en-US" sz="950" dirty="0">
              <a:latin typeface="Plus Jakarta Sans"/>
            </a:endParaRPr>
          </a:p>
        </p:txBody>
      </p:sp>
      <p:sp>
        <p:nvSpPr>
          <p:cNvPr id="17" name="Text 15">
            <a:hlinkClick r:id="rId5" tooltip=""/>
          </p:cNvPr>
          <p:cNvSpPr txBox="1"/>
          <p:nvPr/>
        </p:nvSpPr>
        <p:spPr>
          <a:xfrm>
            <a:off x="1920240" y="3419856"/>
            <a:ext cx="3992728" cy="420624"/>
          </a:xfrm>
          <a:prstGeom prst="rect">
            <a:avLst/>
          </a:prstGeom>
          <a:noFill/>
          <a:ln/>
        </p:spPr>
        <p:txBody>
          <a:bodyPr wrap="square" lIns="0" tIns="0" rIns="0" bIns="0" rtlCol="0" anchor="ctr"/>
          <a:lstStyle/>
          <a:p>
            <a:pPr algn="l" indent="0" marL="0">
              <a:buNone/>
            </a:pPr>
            <a:r>
              <a:rPr lang="en-US" sz="1150" u="sng" dirty="0">
                <a:solidFill>
                  <a:srgbClr val="FFFFFF"/>
                </a:solidFill>
                <a:latin typeface="Plus Jakarta Sans" pitchFamily="34" charset="0"/>
                <a:ea typeface="Segoe UI" pitchFamily="34" charset="-122"/>
                <a:cs typeface="Segoe UI" pitchFamily="34" charset="-120"/>
                <a:hlinkClick r:id="rId5" invalidUrl="" action="" tgtFrame="" tooltip="" history="1" highlightClick="0" endSnd="0">
                  <a:extLst>
                    <a:ext uri="{A12FA001-AC4F-418D-AE19-62706E023703}">
                      <ahyp:hlinkClr xmlns:ahyp="http://schemas.microsoft.com/office/drawing/2018/hyperlinkcolor" val="tx"/>
                    </a:ext>
                  </a:extLst>
                </a:hlinkClick>
              </a:rPr>
              <a:t>Day-case AUS meta-analysis: 2026 issue</a:t>
            </a:r>
            <a:endParaRPr lang="en-US" sz="1150" dirty="0">
              <a:latin typeface="Plus Jakarta Sans"/>
            </a:endParaRPr>
          </a:p>
        </p:txBody>
      </p:sp>
      <p:sp>
        <p:nvSpPr>
          <p:cNvPr id="18" name="Shape 16"/>
          <p:cNvSpPr/>
          <p:nvPr/>
        </p:nvSpPr>
        <p:spPr>
          <a:xfrm>
            <a:off x="640080" y="3840480"/>
            <a:ext cx="5272888" cy="0"/>
          </a:xfrm>
          <a:prstGeom prst="line">
            <a:avLst/>
          </a:prstGeom>
          <a:noFill/>
          <a:ln w="6350">
            <a:solidFill>
              <a:srgbClr val="3D3D3D"/>
            </a:solidFill>
            <a:prstDash val="solid"/>
          </a:ln>
        </p:spPr>
      </p:sp>
      <p:sp>
        <p:nvSpPr>
          <p:cNvPr id="19" name="Text 17"/>
          <p:cNvSpPr txBox="1"/>
          <p:nvPr/>
        </p:nvSpPr>
        <p:spPr>
          <a:xfrm>
            <a:off x="640080" y="3840480"/>
            <a:ext cx="1234440" cy="420624"/>
          </a:xfrm>
          <a:prstGeom prst="rect">
            <a:avLst/>
          </a:prstGeom>
          <a:noFill/>
          <a:ln/>
        </p:spPr>
        <p:txBody>
          <a:bodyPr wrap="square" lIns="0" tIns="0" rIns="0" bIns="0" rtlCol="0" anchor="ctr"/>
          <a:lstStyle/>
          <a:p>
            <a:pPr algn="l" indent="0" marL="0">
              <a:buNone/>
            </a:pPr>
            <a:r>
              <a:rPr lang="en-US" sz="950" b="1" dirty="0">
                <a:solidFill>
                  <a:srgbClr val="05C489"/>
                </a:solidFill>
                <a:latin typeface="Plus Jakarta Sans" pitchFamily="34" charset="0"/>
                <a:ea typeface="Segoe UI" pitchFamily="34" charset="-122"/>
                <a:cs typeface="Segoe UI" pitchFamily="34" charset="-120"/>
              </a:rPr>
              <a:t>DAYCASE26</a:t>
            </a:r>
            <a:endParaRPr lang="en-US" sz="950" dirty="0">
              <a:latin typeface="Plus Jakarta Sans"/>
            </a:endParaRPr>
          </a:p>
        </p:txBody>
      </p:sp>
      <p:sp>
        <p:nvSpPr>
          <p:cNvPr id="20" name="Text 18">
            <a:hlinkClick r:id="rId6" tooltip=""/>
          </p:cNvPr>
          <p:cNvSpPr txBox="1"/>
          <p:nvPr/>
        </p:nvSpPr>
        <p:spPr>
          <a:xfrm>
            <a:off x="1920240" y="3840480"/>
            <a:ext cx="3992728" cy="420624"/>
          </a:xfrm>
          <a:prstGeom prst="rect">
            <a:avLst/>
          </a:prstGeom>
          <a:noFill/>
          <a:ln/>
        </p:spPr>
        <p:txBody>
          <a:bodyPr wrap="square" lIns="0" tIns="0" rIns="0" bIns="0" rtlCol="0" anchor="ctr"/>
          <a:lstStyle/>
          <a:p>
            <a:pPr algn="l" indent="0" marL="0">
              <a:buNone/>
            </a:pPr>
            <a:r>
              <a:rPr lang="en-US" sz="1150" u="sng" dirty="0">
                <a:solidFill>
                  <a:srgbClr val="FFFFFF"/>
                </a:solidFill>
                <a:latin typeface="Plus Jakarta Sans" pitchFamily="34" charset="0"/>
                <a:ea typeface="Segoe UI" pitchFamily="34" charset="-122"/>
                <a:cs typeface="Segoe UI" pitchFamily="34" charset="-120"/>
                <a:hlinkClick r:id="rId6" invalidUrl="" action="" tgtFrame="" tooltip="" history="1" highlightClick="0" endSnd="0">
                  <a:extLst>
                    <a:ext uri="{A12FA001-AC4F-418D-AE19-62706E023703}">
                      <ahyp:hlinkClr xmlns:ahyp="http://schemas.microsoft.com/office/drawing/2018/hyperlinkcolor" val="tx"/>
                    </a:ext>
                  </a:extLst>
                </a:hlinkClick>
              </a:rPr>
              <a:t>Day-case versus inpatient AUS: 177 men, 2026</a:t>
            </a:r>
            <a:endParaRPr lang="en-US" sz="1150" dirty="0">
              <a:latin typeface="Plus Jakarta Sans"/>
            </a:endParaRPr>
          </a:p>
        </p:txBody>
      </p:sp>
      <p:sp>
        <p:nvSpPr>
          <p:cNvPr id="21" name="Shape 19"/>
          <p:cNvSpPr/>
          <p:nvPr/>
        </p:nvSpPr>
        <p:spPr>
          <a:xfrm>
            <a:off x="640080" y="4261104"/>
            <a:ext cx="5272888" cy="0"/>
          </a:xfrm>
          <a:prstGeom prst="line">
            <a:avLst/>
          </a:prstGeom>
          <a:noFill/>
          <a:ln w="6350">
            <a:solidFill>
              <a:srgbClr val="3D3D3D"/>
            </a:solidFill>
            <a:prstDash val="solid"/>
          </a:ln>
        </p:spPr>
      </p:sp>
      <p:sp>
        <p:nvSpPr>
          <p:cNvPr id="22" name="Text 20"/>
          <p:cNvSpPr txBox="1"/>
          <p:nvPr/>
        </p:nvSpPr>
        <p:spPr>
          <a:xfrm>
            <a:off x="640080" y="4261104"/>
            <a:ext cx="1234440" cy="420624"/>
          </a:xfrm>
          <a:prstGeom prst="rect">
            <a:avLst/>
          </a:prstGeom>
          <a:noFill/>
          <a:ln/>
        </p:spPr>
        <p:txBody>
          <a:bodyPr wrap="square" lIns="0" tIns="0" rIns="0" bIns="0" rtlCol="0" anchor="ctr"/>
          <a:lstStyle/>
          <a:p>
            <a:pPr algn="l" indent="0" marL="0">
              <a:buNone/>
            </a:pPr>
            <a:r>
              <a:rPr lang="en-US" sz="950" b="1" dirty="0">
                <a:solidFill>
                  <a:srgbClr val="05C489"/>
                </a:solidFill>
                <a:latin typeface="Plus Jakarta Sans" pitchFamily="34" charset="0"/>
                <a:ea typeface="Segoe UI" pitchFamily="34" charset="-122"/>
                <a:cs typeface="Segoe UI" pitchFamily="34" charset="-120"/>
              </a:rPr>
              <a:t>FRAIL26</a:t>
            </a:r>
            <a:endParaRPr lang="en-US" sz="950" dirty="0">
              <a:latin typeface="Plus Jakarta Sans"/>
            </a:endParaRPr>
          </a:p>
        </p:txBody>
      </p:sp>
      <p:sp>
        <p:nvSpPr>
          <p:cNvPr id="23" name="Text 21">
            <a:hlinkClick r:id="rId7" tooltip=""/>
          </p:cNvPr>
          <p:cNvSpPr txBox="1"/>
          <p:nvPr/>
        </p:nvSpPr>
        <p:spPr>
          <a:xfrm>
            <a:off x="1920240" y="4261104"/>
            <a:ext cx="3992728" cy="420624"/>
          </a:xfrm>
          <a:prstGeom prst="rect">
            <a:avLst/>
          </a:prstGeom>
          <a:noFill/>
          <a:ln/>
        </p:spPr>
        <p:txBody>
          <a:bodyPr wrap="square" lIns="0" tIns="0" rIns="0" bIns="0" rtlCol="0" anchor="ctr"/>
          <a:lstStyle/>
          <a:p>
            <a:pPr algn="l" indent="0" marL="0">
              <a:buNone/>
            </a:pPr>
            <a:r>
              <a:rPr lang="en-US" sz="1150" u="sng" dirty="0">
                <a:solidFill>
                  <a:srgbClr val="FFFFFF"/>
                </a:solidFill>
                <a:latin typeface="Plus Jakarta Sans" pitchFamily="34" charset="0"/>
                <a:ea typeface="Segoe UI" pitchFamily="34" charset="-122"/>
                <a:cs typeface="Segoe UI" pitchFamily="34" charset="-120"/>
                <a:hlinkClick r:id="rId7" invalidUrl="" action="" tgtFrame="" tooltip="" history="1" highlightClick="0" endSnd="0">
                  <a:extLst>
                    <a:ext uri="{A12FA001-AC4F-418D-AE19-62706E023703}">
                      <ahyp:hlinkClr xmlns:ahyp="http://schemas.microsoft.com/office/drawing/2018/hyperlinkcolor" val="tx"/>
                    </a:ext>
                  </a:extLst>
                </a:hlinkClick>
              </a:rPr>
              <a:t>Frailty and SUI surgery: Medicare cohort, 2026</a:t>
            </a:r>
            <a:endParaRPr lang="en-US" sz="1150" dirty="0">
              <a:latin typeface="Plus Jakarta Sans"/>
            </a:endParaRPr>
          </a:p>
        </p:txBody>
      </p:sp>
      <p:sp>
        <p:nvSpPr>
          <p:cNvPr id="24" name="Shape 22"/>
          <p:cNvSpPr/>
          <p:nvPr/>
        </p:nvSpPr>
        <p:spPr>
          <a:xfrm>
            <a:off x="640080" y="4681728"/>
            <a:ext cx="5272888" cy="0"/>
          </a:xfrm>
          <a:prstGeom prst="line">
            <a:avLst/>
          </a:prstGeom>
          <a:noFill/>
          <a:ln w="6350">
            <a:solidFill>
              <a:srgbClr val="3D3D3D"/>
            </a:solidFill>
            <a:prstDash val="solid"/>
          </a:ln>
        </p:spPr>
      </p:sp>
      <p:sp>
        <p:nvSpPr>
          <p:cNvPr id="25" name="Text 23"/>
          <p:cNvSpPr txBox="1"/>
          <p:nvPr/>
        </p:nvSpPr>
        <p:spPr>
          <a:xfrm>
            <a:off x="640080" y="4681728"/>
            <a:ext cx="1234440" cy="420624"/>
          </a:xfrm>
          <a:prstGeom prst="rect">
            <a:avLst/>
          </a:prstGeom>
          <a:noFill/>
          <a:ln/>
        </p:spPr>
        <p:txBody>
          <a:bodyPr wrap="square" lIns="0" tIns="0" rIns="0" bIns="0" rtlCol="0" anchor="ctr"/>
          <a:lstStyle/>
          <a:p>
            <a:pPr algn="l" indent="0" marL="0">
              <a:buNone/>
            </a:pPr>
            <a:r>
              <a:rPr lang="en-US" sz="950" b="1" dirty="0">
                <a:solidFill>
                  <a:srgbClr val="05C489"/>
                </a:solidFill>
                <a:latin typeface="Plus Jakarta Sans" pitchFamily="34" charset="0"/>
                <a:ea typeface="Segoe UI" pitchFamily="34" charset="-122"/>
                <a:cs typeface="Segoe UI" pitchFamily="34" charset="-120"/>
              </a:rPr>
              <a:t>PAD26</a:t>
            </a:r>
            <a:endParaRPr lang="en-US" sz="950" dirty="0">
              <a:latin typeface="Plus Jakarta Sans"/>
            </a:endParaRPr>
          </a:p>
        </p:txBody>
      </p:sp>
      <p:sp>
        <p:nvSpPr>
          <p:cNvPr id="26" name="Text 24">
            <a:hlinkClick r:id="rId8" tooltip=""/>
          </p:cNvPr>
          <p:cNvSpPr txBox="1"/>
          <p:nvPr/>
        </p:nvSpPr>
        <p:spPr>
          <a:xfrm>
            <a:off x="1920240" y="4681728"/>
            <a:ext cx="3992728" cy="420624"/>
          </a:xfrm>
          <a:prstGeom prst="rect">
            <a:avLst/>
          </a:prstGeom>
          <a:noFill/>
          <a:ln/>
        </p:spPr>
        <p:txBody>
          <a:bodyPr wrap="square" lIns="0" tIns="0" rIns="0" bIns="0" rtlCol="0" anchor="ctr"/>
          <a:lstStyle/>
          <a:p>
            <a:pPr algn="l" indent="0" marL="0">
              <a:buNone/>
            </a:pPr>
            <a:r>
              <a:rPr lang="en-US" sz="1150" u="sng" dirty="0">
                <a:solidFill>
                  <a:srgbClr val="FFFFFF"/>
                </a:solidFill>
                <a:latin typeface="Plus Jakarta Sans" pitchFamily="34" charset="0"/>
                <a:ea typeface="Segoe UI" pitchFamily="34" charset="-122"/>
                <a:cs typeface="Segoe UI" pitchFamily="34" charset="-120"/>
                <a:hlinkClick r:id="rId8" invalidUrl="" action="" tgtFrame="" tooltip="" history="1" highlightClick="0" endSnd="0">
                  <a:extLst>
                    <a:ext uri="{A12FA001-AC4F-418D-AE19-62706E023703}">
                      <ahyp:hlinkClr xmlns:ahyp="http://schemas.microsoft.com/office/drawing/2018/hyperlinkcolor" val="tx"/>
                    </a:ext>
                  </a:extLst>
                </a:hlinkClick>
              </a:rPr>
              <a:t>Pad count versus 24-hour weight: 2026</a:t>
            </a:r>
            <a:endParaRPr lang="en-US" sz="1150" dirty="0">
              <a:latin typeface="Plus Jakarta Sans"/>
            </a:endParaRPr>
          </a:p>
        </p:txBody>
      </p:sp>
      <p:sp>
        <p:nvSpPr>
          <p:cNvPr id="27" name="Shape 25"/>
          <p:cNvSpPr/>
          <p:nvPr/>
        </p:nvSpPr>
        <p:spPr>
          <a:xfrm>
            <a:off x="640080" y="5102352"/>
            <a:ext cx="5272888" cy="0"/>
          </a:xfrm>
          <a:prstGeom prst="line">
            <a:avLst/>
          </a:prstGeom>
          <a:noFill/>
          <a:ln w="6350">
            <a:solidFill>
              <a:srgbClr val="3D3D3D"/>
            </a:solidFill>
            <a:prstDash val="solid"/>
          </a:ln>
        </p:spPr>
      </p:sp>
      <p:sp>
        <p:nvSpPr>
          <p:cNvPr id="28" name="Text 26"/>
          <p:cNvSpPr txBox="1"/>
          <p:nvPr/>
        </p:nvSpPr>
        <p:spPr>
          <a:xfrm>
            <a:off x="640080" y="5102352"/>
            <a:ext cx="1234440" cy="420624"/>
          </a:xfrm>
          <a:prstGeom prst="rect">
            <a:avLst/>
          </a:prstGeom>
          <a:noFill/>
          <a:ln/>
        </p:spPr>
        <p:txBody>
          <a:bodyPr wrap="square" lIns="0" tIns="0" rIns="0" bIns="0" rtlCol="0" anchor="ctr"/>
          <a:lstStyle/>
          <a:p>
            <a:pPr algn="l" indent="0" marL="0">
              <a:buNone/>
            </a:pPr>
            <a:r>
              <a:rPr lang="en-US" sz="950" b="1" dirty="0">
                <a:solidFill>
                  <a:srgbClr val="05C489"/>
                </a:solidFill>
                <a:latin typeface="Plus Jakarta Sans" pitchFamily="34" charset="0"/>
                <a:ea typeface="Segoe UI" pitchFamily="34" charset="-122"/>
                <a:cs typeface="Segoe UI" pitchFamily="34" charset="-120"/>
              </a:rPr>
              <a:t>PRBFAT26</a:t>
            </a:r>
            <a:endParaRPr lang="en-US" sz="950" dirty="0">
              <a:latin typeface="Plus Jakarta Sans"/>
            </a:endParaRPr>
          </a:p>
        </p:txBody>
      </p:sp>
      <p:sp>
        <p:nvSpPr>
          <p:cNvPr id="29" name="Text 27">
            <a:hlinkClick r:id="rId9" tooltip=""/>
          </p:cNvPr>
          <p:cNvSpPr txBox="1"/>
          <p:nvPr/>
        </p:nvSpPr>
        <p:spPr>
          <a:xfrm>
            <a:off x="1920240" y="5102352"/>
            <a:ext cx="3992728" cy="420624"/>
          </a:xfrm>
          <a:prstGeom prst="rect">
            <a:avLst/>
          </a:prstGeom>
          <a:noFill/>
          <a:ln/>
        </p:spPr>
        <p:txBody>
          <a:bodyPr wrap="square" lIns="0" tIns="0" rIns="0" bIns="0" rtlCol="0" anchor="ctr"/>
          <a:lstStyle/>
          <a:p>
            <a:pPr algn="l" indent="0" marL="0">
              <a:buNone/>
            </a:pPr>
            <a:r>
              <a:rPr lang="en-US" sz="1150" u="sng" dirty="0">
                <a:solidFill>
                  <a:srgbClr val="FFFFFF"/>
                </a:solidFill>
                <a:latin typeface="Plus Jakarta Sans" pitchFamily="34" charset="0"/>
                <a:ea typeface="Segoe UI" pitchFamily="34" charset="-122"/>
                <a:cs typeface="Segoe UI" pitchFamily="34" charset="-120"/>
                <a:hlinkClick r:id="rId9" invalidUrl="" action="" tgtFrame="" tooltip="" history="1" highlightClick="0" endSnd="0">
                  <a:extLst>
                    <a:ext uri="{A12FA001-AC4F-418D-AE19-62706E023703}">
                      <ahyp:hlinkClr xmlns:ahyp="http://schemas.microsoft.com/office/drawing/2018/hyperlinkcolor" val="tx"/>
                    </a:ext>
                  </a:extLst>
                </a:hlinkClick>
              </a:rPr>
              <a:t>PRB material fatigue: 2026 issue</a:t>
            </a:r>
            <a:endParaRPr lang="en-US" sz="1150" dirty="0">
              <a:latin typeface="Plus Jakarta Sans"/>
            </a:endParaRPr>
          </a:p>
        </p:txBody>
      </p:sp>
      <p:sp>
        <p:nvSpPr>
          <p:cNvPr id="30" name="Shape 28"/>
          <p:cNvSpPr/>
          <p:nvPr/>
        </p:nvSpPr>
        <p:spPr>
          <a:xfrm>
            <a:off x="640080" y="5522976"/>
            <a:ext cx="5272888" cy="0"/>
          </a:xfrm>
          <a:prstGeom prst="line">
            <a:avLst/>
          </a:prstGeom>
          <a:noFill/>
          <a:ln w="6350">
            <a:solidFill>
              <a:srgbClr val="3D3D3D"/>
            </a:solidFill>
            <a:prstDash val="solid"/>
          </a:ln>
        </p:spPr>
      </p:sp>
      <p:sp>
        <p:nvSpPr>
          <p:cNvPr id="31" name="Text 29"/>
          <p:cNvSpPr txBox="1"/>
          <p:nvPr/>
        </p:nvSpPr>
        <p:spPr>
          <a:xfrm>
            <a:off x="640080" y="5522976"/>
            <a:ext cx="1234440" cy="420624"/>
          </a:xfrm>
          <a:prstGeom prst="rect">
            <a:avLst/>
          </a:prstGeom>
          <a:noFill/>
          <a:ln/>
        </p:spPr>
        <p:txBody>
          <a:bodyPr wrap="square" lIns="0" tIns="0" rIns="0" bIns="0" rtlCol="0" anchor="ctr"/>
          <a:lstStyle/>
          <a:p>
            <a:pPr algn="l" indent="0" marL="0">
              <a:buNone/>
            </a:pPr>
            <a:r>
              <a:rPr lang="en-US" sz="950" b="1" dirty="0">
                <a:solidFill>
                  <a:srgbClr val="05C489"/>
                </a:solidFill>
                <a:latin typeface="Plus Jakarta Sans" pitchFamily="34" charset="0"/>
                <a:ea typeface="Segoe UI" pitchFamily="34" charset="-122"/>
                <a:cs typeface="Segoe UI" pitchFamily="34" charset="-120"/>
              </a:rPr>
              <a:t>REGRET26</a:t>
            </a:r>
            <a:endParaRPr lang="en-US" sz="950" dirty="0">
              <a:latin typeface="Plus Jakarta Sans"/>
            </a:endParaRPr>
          </a:p>
        </p:txBody>
      </p:sp>
      <p:sp>
        <p:nvSpPr>
          <p:cNvPr id="32" name="Text 30">
            <a:hlinkClick r:id="rId10" tooltip=""/>
          </p:cNvPr>
          <p:cNvSpPr txBox="1"/>
          <p:nvPr/>
        </p:nvSpPr>
        <p:spPr>
          <a:xfrm>
            <a:off x="1920240" y="5522976"/>
            <a:ext cx="3992728" cy="420624"/>
          </a:xfrm>
          <a:prstGeom prst="rect">
            <a:avLst/>
          </a:prstGeom>
          <a:noFill/>
          <a:ln/>
        </p:spPr>
        <p:txBody>
          <a:bodyPr wrap="square" lIns="0" tIns="0" rIns="0" bIns="0" rtlCol="0" anchor="ctr"/>
          <a:lstStyle/>
          <a:p>
            <a:pPr algn="l" indent="0" marL="0">
              <a:buNone/>
            </a:pPr>
            <a:r>
              <a:rPr lang="en-US" sz="1150" u="sng" dirty="0">
                <a:solidFill>
                  <a:srgbClr val="FFFFFF"/>
                </a:solidFill>
                <a:latin typeface="Plus Jakarta Sans" pitchFamily="34" charset="0"/>
                <a:ea typeface="Segoe UI" pitchFamily="34" charset="-122"/>
                <a:cs typeface="Segoe U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Long-term decisional regret after AUS, 2026 issue</a:t>
            </a:r>
            <a:endParaRPr lang="en-US" sz="1150" dirty="0">
              <a:latin typeface="Plus Jakarta Sans"/>
            </a:endParaRPr>
          </a:p>
        </p:txBody>
      </p:sp>
      <p:sp>
        <p:nvSpPr>
          <p:cNvPr id="33" name="Text 31"/>
          <p:cNvSpPr txBox="1"/>
          <p:nvPr/>
        </p:nvSpPr>
        <p:spPr>
          <a:xfrm>
            <a:off x="6278728" y="1737360"/>
            <a:ext cx="1234440" cy="420624"/>
          </a:xfrm>
          <a:prstGeom prst="rect">
            <a:avLst/>
          </a:prstGeom>
          <a:noFill/>
          <a:ln/>
        </p:spPr>
        <p:txBody>
          <a:bodyPr wrap="square" lIns="0" tIns="0" rIns="0" bIns="0" rtlCol="0" anchor="ctr"/>
          <a:lstStyle/>
          <a:p>
            <a:pPr algn="l" indent="0" marL="0">
              <a:buNone/>
            </a:pPr>
            <a:r>
              <a:rPr lang="en-US" sz="950" b="1" dirty="0">
                <a:solidFill>
                  <a:srgbClr val="05C489"/>
                </a:solidFill>
                <a:latin typeface="Plus Jakarta Sans" pitchFamily="34" charset="0"/>
                <a:ea typeface="Segoe UI" pitchFamily="34" charset="-122"/>
                <a:cs typeface="Segoe UI" pitchFamily="34" charset="-120"/>
              </a:rPr>
              <a:t>INSTR26</a:t>
            </a:r>
            <a:endParaRPr lang="en-US" sz="950" dirty="0">
              <a:latin typeface="Plus Jakarta Sans"/>
            </a:endParaRPr>
          </a:p>
        </p:txBody>
      </p:sp>
      <p:sp>
        <p:nvSpPr>
          <p:cNvPr id="34" name="Text 32">
            <a:hlinkClick r:id="rId11" tooltip=""/>
          </p:cNvPr>
          <p:cNvSpPr txBox="1"/>
          <p:nvPr/>
        </p:nvSpPr>
        <p:spPr>
          <a:xfrm>
            <a:off x="7558888" y="1737360"/>
            <a:ext cx="3992728" cy="420624"/>
          </a:xfrm>
          <a:prstGeom prst="rect">
            <a:avLst/>
          </a:prstGeom>
          <a:noFill/>
          <a:ln/>
        </p:spPr>
        <p:txBody>
          <a:bodyPr wrap="square" lIns="0" tIns="0" rIns="0" bIns="0" rtlCol="0" anchor="ctr"/>
          <a:lstStyle/>
          <a:p>
            <a:pPr algn="l" indent="0" marL="0">
              <a:buNone/>
            </a:pPr>
            <a:r>
              <a:rPr lang="en-US" sz="1150" u="sng" dirty="0">
                <a:solidFill>
                  <a:srgbClr val="FFFFFF"/>
                </a:solidFill>
                <a:latin typeface="Plus Jakarta Sans" pitchFamily="34" charset="0"/>
                <a:ea typeface="Segoe UI" pitchFamily="34" charset="-122"/>
                <a:cs typeface="Segoe U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AUS instrumentation knowledge survey, 2026</a:t>
            </a:r>
            <a:endParaRPr lang="en-US" sz="1150" dirty="0">
              <a:latin typeface="Plus Jakarta Sans"/>
            </a:endParaRPr>
          </a:p>
        </p:txBody>
      </p:sp>
      <p:sp>
        <p:nvSpPr>
          <p:cNvPr id="35" name="Shape 33"/>
          <p:cNvSpPr/>
          <p:nvPr/>
        </p:nvSpPr>
        <p:spPr>
          <a:xfrm>
            <a:off x="6278728" y="2157984"/>
            <a:ext cx="5272888" cy="0"/>
          </a:xfrm>
          <a:prstGeom prst="line">
            <a:avLst/>
          </a:prstGeom>
          <a:noFill/>
          <a:ln w="6350">
            <a:solidFill>
              <a:srgbClr val="3D3D3D"/>
            </a:solidFill>
            <a:prstDash val="solid"/>
          </a:ln>
        </p:spPr>
      </p:sp>
      <p:sp>
        <p:nvSpPr>
          <p:cNvPr id="36" name="Text 34"/>
          <p:cNvSpPr txBox="1"/>
          <p:nvPr/>
        </p:nvSpPr>
        <p:spPr>
          <a:xfrm>
            <a:off x="6278728" y="2157984"/>
            <a:ext cx="1234440" cy="420624"/>
          </a:xfrm>
          <a:prstGeom prst="rect">
            <a:avLst/>
          </a:prstGeom>
          <a:noFill/>
          <a:ln/>
        </p:spPr>
        <p:txBody>
          <a:bodyPr wrap="square" lIns="0" tIns="0" rIns="0" bIns="0" rtlCol="0" anchor="ctr"/>
          <a:lstStyle/>
          <a:p>
            <a:pPr algn="l" indent="0" marL="0">
              <a:buNone/>
            </a:pPr>
            <a:r>
              <a:rPr lang="en-US" sz="950" b="1" dirty="0">
                <a:solidFill>
                  <a:srgbClr val="05C489"/>
                </a:solidFill>
                <a:latin typeface="Plus Jakarta Sans" pitchFamily="34" charset="0"/>
                <a:ea typeface="Segoe UI" pitchFamily="34" charset="-122"/>
                <a:cs typeface="Segoe UI" pitchFamily="34" charset="-120"/>
              </a:rPr>
              <a:t>EROSION26</a:t>
            </a:r>
            <a:endParaRPr lang="en-US" sz="950" dirty="0">
              <a:latin typeface="Plus Jakarta Sans"/>
            </a:endParaRPr>
          </a:p>
        </p:txBody>
      </p:sp>
      <p:sp>
        <p:nvSpPr>
          <p:cNvPr id="37" name="Text 35">
            <a:hlinkClick r:id="rId12" tooltip=""/>
          </p:cNvPr>
          <p:cNvSpPr txBox="1"/>
          <p:nvPr/>
        </p:nvSpPr>
        <p:spPr>
          <a:xfrm>
            <a:off x="7558888" y="2157984"/>
            <a:ext cx="3992728" cy="420624"/>
          </a:xfrm>
          <a:prstGeom prst="rect">
            <a:avLst/>
          </a:prstGeom>
          <a:noFill/>
          <a:ln/>
        </p:spPr>
        <p:txBody>
          <a:bodyPr wrap="square" lIns="0" tIns="0" rIns="0" bIns="0" rtlCol="0" anchor="ctr"/>
          <a:lstStyle/>
          <a:p>
            <a:pPr algn="l" indent="0" marL="0">
              <a:buNone/>
            </a:pPr>
            <a:r>
              <a:rPr lang="en-US" sz="1150" u="sng" dirty="0">
                <a:solidFill>
                  <a:srgbClr val="FFFFFF"/>
                </a:solidFill>
                <a:latin typeface="Plus Jakarta Sans" pitchFamily="34" charset="0"/>
                <a:ea typeface="Segoe UI" pitchFamily="34" charset="-122"/>
                <a:cs typeface="Segoe U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Immediate urethral repair at explantation, 2026</a:t>
            </a:r>
            <a:endParaRPr lang="en-US" sz="1150" dirty="0">
              <a:latin typeface="Plus Jakarta Sans"/>
            </a:endParaRPr>
          </a:p>
        </p:txBody>
      </p:sp>
      <p:sp>
        <p:nvSpPr>
          <p:cNvPr id="38" name="Shape 36"/>
          <p:cNvSpPr/>
          <p:nvPr/>
        </p:nvSpPr>
        <p:spPr>
          <a:xfrm>
            <a:off x="6278728" y="2578608"/>
            <a:ext cx="5272888" cy="0"/>
          </a:xfrm>
          <a:prstGeom prst="line">
            <a:avLst/>
          </a:prstGeom>
          <a:noFill/>
          <a:ln w="6350">
            <a:solidFill>
              <a:srgbClr val="3D3D3D"/>
            </a:solidFill>
            <a:prstDash val="solid"/>
          </a:ln>
        </p:spPr>
      </p:sp>
      <p:sp>
        <p:nvSpPr>
          <p:cNvPr id="39" name="Text 37"/>
          <p:cNvSpPr txBox="1"/>
          <p:nvPr/>
        </p:nvSpPr>
        <p:spPr>
          <a:xfrm>
            <a:off x="6278728" y="2578608"/>
            <a:ext cx="1234440" cy="420624"/>
          </a:xfrm>
          <a:prstGeom prst="rect">
            <a:avLst/>
          </a:prstGeom>
          <a:noFill/>
          <a:ln/>
        </p:spPr>
        <p:txBody>
          <a:bodyPr wrap="square" lIns="0" tIns="0" rIns="0" bIns="0" rtlCol="0" anchor="ctr"/>
          <a:lstStyle/>
          <a:p>
            <a:pPr algn="l" indent="0" marL="0">
              <a:buNone/>
            </a:pPr>
            <a:r>
              <a:rPr lang="en-US" sz="950" b="1" dirty="0">
                <a:solidFill>
                  <a:srgbClr val="05C489"/>
                </a:solidFill>
                <a:latin typeface="Plus Jakarta Sans" pitchFamily="34" charset="0"/>
                <a:ea typeface="Segoe UI" pitchFamily="34" charset="-122"/>
                <a:cs typeface="Segoe UI" pitchFamily="34" charset="-120"/>
              </a:rPr>
              <a:t>DEVICE26</a:t>
            </a:r>
            <a:endParaRPr lang="en-US" sz="950" dirty="0">
              <a:latin typeface="Plus Jakarta Sans"/>
            </a:endParaRPr>
          </a:p>
        </p:txBody>
      </p:sp>
      <p:sp>
        <p:nvSpPr>
          <p:cNvPr id="40" name="Text 38">
            <a:hlinkClick r:id="rId13" tooltip=""/>
          </p:cNvPr>
          <p:cNvSpPr txBox="1"/>
          <p:nvPr/>
        </p:nvSpPr>
        <p:spPr>
          <a:xfrm>
            <a:off x="7558888" y="2578608"/>
            <a:ext cx="3992728" cy="420624"/>
          </a:xfrm>
          <a:prstGeom prst="rect">
            <a:avLst/>
          </a:prstGeom>
          <a:noFill/>
          <a:ln/>
        </p:spPr>
        <p:txBody>
          <a:bodyPr wrap="square" lIns="0" tIns="0" rIns="0" bIns="0" rtlCol="0" anchor="ctr"/>
          <a:lstStyle/>
          <a:p>
            <a:pPr algn="l" indent="0" marL="0">
              <a:buNone/>
            </a:pPr>
            <a:r>
              <a:rPr lang="en-US" sz="1150" u="sng" dirty="0">
                <a:solidFill>
                  <a:srgbClr val="FFFFFF"/>
                </a:solidFill>
                <a:latin typeface="Plus Jakarta Sans" pitchFamily="34" charset="0"/>
                <a:ea typeface="Segoe UI" pitchFamily="34" charset="-122"/>
                <a:cs typeface="Segoe UI" pitchFamily="34" charset="-120"/>
                <a:hlinkClick r:id="rId13" invalidUrl="" action="" tgtFrame="" tooltip="" history="1" highlightClick="0" endSnd="0">
                  <a:extLst>
                    <a:ext uri="{A12FA001-AC4F-418D-AE19-62706E023703}">
                      <ahyp:hlinkClr xmlns:ahyp="http://schemas.microsoft.com/office/drawing/2018/hyperlinkcolor" val="tx"/>
                    </a:ext>
                  </a:extLst>
                </a:hlinkClick>
              </a:rPr>
              <a:t>Emerging AUS devices review, 2026</a:t>
            </a:r>
            <a:endParaRPr lang="en-US" sz="1150" dirty="0">
              <a:latin typeface="Plus Jakarta Sans"/>
            </a:endParaRPr>
          </a:p>
        </p:txBody>
      </p:sp>
      <p:sp>
        <p:nvSpPr>
          <p:cNvPr id="41" name="Shape 39"/>
          <p:cNvSpPr/>
          <p:nvPr/>
        </p:nvSpPr>
        <p:spPr>
          <a:xfrm>
            <a:off x="6278728" y="2999232"/>
            <a:ext cx="5272888" cy="0"/>
          </a:xfrm>
          <a:prstGeom prst="line">
            <a:avLst/>
          </a:prstGeom>
          <a:noFill/>
          <a:ln w="6350">
            <a:solidFill>
              <a:srgbClr val="3D3D3D"/>
            </a:solidFill>
            <a:prstDash val="solid"/>
          </a:ln>
        </p:spPr>
      </p:sp>
      <p:sp>
        <p:nvSpPr>
          <p:cNvPr id="42" name="Text 40"/>
          <p:cNvSpPr txBox="1"/>
          <p:nvPr/>
        </p:nvSpPr>
        <p:spPr>
          <a:xfrm>
            <a:off x="6278728" y="2999232"/>
            <a:ext cx="1234440" cy="420624"/>
          </a:xfrm>
          <a:prstGeom prst="rect">
            <a:avLst/>
          </a:prstGeom>
          <a:noFill/>
          <a:ln/>
        </p:spPr>
        <p:txBody>
          <a:bodyPr wrap="square" lIns="0" tIns="0" rIns="0" bIns="0" rtlCol="0" anchor="ctr"/>
          <a:lstStyle/>
          <a:p>
            <a:pPr algn="l" indent="0" marL="0">
              <a:buNone/>
            </a:pPr>
            <a:r>
              <a:rPr lang="en-US" sz="950" b="1" dirty="0">
                <a:solidFill>
                  <a:srgbClr val="05C489"/>
                </a:solidFill>
                <a:latin typeface="Plus Jakarta Sans" pitchFamily="34" charset="0"/>
                <a:ea typeface="Segoe UI" pitchFamily="34" charset="-122"/>
                <a:cs typeface="Segoe UI" pitchFamily="34" charset="-120"/>
              </a:rPr>
              <a:t>SECOND26</a:t>
            </a:r>
            <a:endParaRPr lang="en-US" sz="950" dirty="0">
              <a:latin typeface="Plus Jakarta Sans"/>
            </a:endParaRPr>
          </a:p>
        </p:txBody>
      </p:sp>
      <p:sp>
        <p:nvSpPr>
          <p:cNvPr id="43" name="Text 41">
            <a:hlinkClick r:id="rId14" tooltip=""/>
          </p:cNvPr>
          <p:cNvSpPr txBox="1"/>
          <p:nvPr/>
        </p:nvSpPr>
        <p:spPr>
          <a:xfrm>
            <a:off x="7558888" y="2999232"/>
            <a:ext cx="3992728" cy="420624"/>
          </a:xfrm>
          <a:prstGeom prst="rect">
            <a:avLst/>
          </a:prstGeom>
          <a:noFill/>
          <a:ln/>
        </p:spPr>
        <p:txBody>
          <a:bodyPr wrap="square" lIns="0" tIns="0" rIns="0" bIns="0" rtlCol="0" anchor="ctr"/>
          <a:lstStyle/>
          <a:p>
            <a:pPr algn="l" indent="0" marL="0">
              <a:buNone/>
            </a:pPr>
            <a:r>
              <a:rPr lang="en-US" sz="1150" u="sng" dirty="0">
                <a:solidFill>
                  <a:srgbClr val="FFFFFF"/>
                </a:solidFill>
                <a:latin typeface="Plus Jakarta Sans" pitchFamily="34" charset="0"/>
                <a:ea typeface="Segoe UI" pitchFamily="34" charset="-122"/>
                <a:cs typeface="Segoe UI" pitchFamily="34" charset="-120"/>
                <a:hlinkClick r:id="rId14" invalidUrl="" action="" tgtFrame="" tooltip="" history="1" highlightClick="0" endSnd="0">
                  <a:extLst>
                    <a:ext uri="{A12FA001-AC4F-418D-AE19-62706E023703}">
                      <ahyp:hlinkClr xmlns:ahyp="http://schemas.microsoft.com/office/drawing/2018/hyperlinkcolor" val="tx"/>
                    </a:ext>
                  </a:extLst>
                </a:hlinkClick>
              </a:rPr>
              <a:t>Second AUS survival: national French cohort, 2026</a:t>
            </a:r>
            <a:endParaRPr lang="en-US" sz="1150" dirty="0">
              <a:latin typeface="Plus Jakarta Sans"/>
            </a:endParaRPr>
          </a:p>
        </p:txBody>
      </p:sp>
      <p:sp>
        <p:nvSpPr>
          <p:cNvPr id="44" name="Shape 42"/>
          <p:cNvSpPr/>
          <p:nvPr/>
        </p:nvSpPr>
        <p:spPr>
          <a:xfrm>
            <a:off x="6278728" y="3419856"/>
            <a:ext cx="5272888" cy="0"/>
          </a:xfrm>
          <a:prstGeom prst="line">
            <a:avLst/>
          </a:prstGeom>
          <a:noFill/>
          <a:ln w="6350">
            <a:solidFill>
              <a:srgbClr val="3D3D3D"/>
            </a:solidFill>
            <a:prstDash val="solid"/>
          </a:ln>
        </p:spPr>
      </p:sp>
      <p:sp>
        <p:nvSpPr>
          <p:cNvPr id="45" name="Text 43"/>
          <p:cNvSpPr txBox="1"/>
          <p:nvPr/>
        </p:nvSpPr>
        <p:spPr>
          <a:xfrm>
            <a:off x="6278728" y="3419856"/>
            <a:ext cx="1234440" cy="420624"/>
          </a:xfrm>
          <a:prstGeom prst="rect">
            <a:avLst/>
          </a:prstGeom>
          <a:noFill/>
          <a:ln/>
        </p:spPr>
        <p:txBody>
          <a:bodyPr wrap="square" lIns="0" tIns="0" rIns="0" bIns="0" rtlCol="0" anchor="ctr"/>
          <a:lstStyle/>
          <a:p>
            <a:pPr algn="l" indent="0" marL="0">
              <a:buNone/>
            </a:pPr>
            <a:r>
              <a:rPr lang="en-US" sz="950" b="1" dirty="0">
                <a:solidFill>
                  <a:srgbClr val="05C489"/>
                </a:solidFill>
                <a:latin typeface="Plus Jakarta Sans" pitchFamily="34" charset="0"/>
                <a:ea typeface="Segoe UI" pitchFamily="34" charset="-122"/>
                <a:cs typeface="Segoe UI" pitchFamily="34" charset="-120"/>
              </a:rPr>
              <a:t>TCSYS25</a:t>
            </a:r>
            <a:endParaRPr lang="en-US" sz="950" dirty="0">
              <a:latin typeface="Plus Jakarta Sans"/>
            </a:endParaRPr>
          </a:p>
        </p:txBody>
      </p:sp>
      <p:sp>
        <p:nvSpPr>
          <p:cNvPr id="46" name="Text 44">
            <a:hlinkClick r:id="rId15" tooltip=""/>
          </p:cNvPr>
          <p:cNvSpPr txBox="1"/>
          <p:nvPr/>
        </p:nvSpPr>
        <p:spPr>
          <a:xfrm>
            <a:off x="7558888" y="3419856"/>
            <a:ext cx="3992728" cy="420624"/>
          </a:xfrm>
          <a:prstGeom prst="rect">
            <a:avLst/>
          </a:prstGeom>
          <a:noFill/>
          <a:ln/>
        </p:spPr>
        <p:txBody>
          <a:bodyPr wrap="square" lIns="0" tIns="0" rIns="0" bIns="0" rtlCol="0" anchor="ctr"/>
          <a:lstStyle/>
          <a:p>
            <a:pPr algn="l" indent="0" marL="0">
              <a:buNone/>
            </a:pPr>
            <a:r>
              <a:rPr lang="en-US" sz="1150" u="sng" dirty="0">
                <a:solidFill>
                  <a:srgbClr val="FFFFFF"/>
                </a:solidFill>
                <a:latin typeface="Plus Jakarta Sans" pitchFamily="34" charset="0"/>
                <a:ea typeface="Segoe UI" pitchFamily="34" charset="-122"/>
                <a:cs typeface="Segoe UI" pitchFamily="34" charset="-120"/>
                <a:hlinkClick r:id="rId15" invalidUrl="" action="" tgtFrame="" tooltip="" history="1" highlightClick="0" endSnd="0">
                  <a:extLst>
                    <a:ext uri="{A12FA001-AC4F-418D-AE19-62706E023703}">
                      <ahyp:hlinkClr xmlns:ahyp="http://schemas.microsoft.com/office/drawing/2018/hyperlinkcolor" val="tx"/>
                    </a:ext>
                  </a:extLst>
                </a:hlinkClick>
              </a:rPr>
              <a:t>Transcorporal systematic review, online 2025</a:t>
            </a:r>
            <a:endParaRPr lang="en-US" sz="1150" dirty="0">
              <a:latin typeface="Plus Jakarta Sans"/>
            </a:endParaRPr>
          </a:p>
        </p:txBody>
      </p:sp>
      <p:sp>
        <p:nvSpPr>
          <p:cNvPr id="47" name="Shape 45"/>
          <p:cNvSpPr/>
          <p:nvPr/>
        </p:nvSpPr>
        <p:spPr>
          <a:xfrm>
            <a:off x="6278728" y="3840480"/>
            <a:ext cx="5272888" cy="0"/>
          </a:xfrm>
          <a:prstGeom prst="line">
            <a:avLst/>
          </a:prstGeom>
          <a:noFill/>
          <a:ln w="6350">
            <a:solidFill>
              <a:srgbClr val="3D3D3D"/>
            </a:solidFill>
            <a:prstDash val="solid"/>
          </a:ln>
        </p:spPr>
      </p:sp>
      <p:sp>
        <p:nvSpPr>
          <p:cNvPr id="48" name="Text 46"/>
          <p:cNvSpPr txBox="1"/>
          <p:nvPr/>
        </p:nvSpPr>
        <p:spPr>
          <a:xfrm>
            <a:off x="6278728" y="3840480"/>
            <a:ext cx="1234440" cy="420624"/>
          </a:xfrm>
          <a:prstGeom prst="rect">
            <a:avLst/>
          </a:prstGeom>
          <a:noFill/>
          <a:ln/>
        </p:spPr>
        <p:txBody>
          <a:bodyPr wrap="square" lIns="0" tIns="0" rIns="0" bIns="0" rtlCol="0" anchor="ctr"/>
          <a:lstStyle/>
          <a:p>
            <a:pPr algn="l" indent="0" marL="0">
              <a:buNone/>
            </a:pPr>
            <a:r>
              <a:rPr lang="en-US" sz="950" b="1" dirty="0">
                <a:solidFill>
                  <a:srgbClr val="05C489"/>
                </a:solidFill>
                <a:latin typeface="Plus Jakarta Sans" pitchFamily="34" charset="0"/>
                <a:ea typeface="Segoe UI" pitchFamily="34" charset="-122"/>
                <a:cs typeface="Segoe UI" pitchFamily="34" charset="-120"/>
              </a:rPr>
              <a:t>RTTIME25</a:t>
            </a:r>
            <a:endParaRPr lang="en-US" sz="950" dirty="0">
              <a:latin typeface="Plus Jakarta Sans"/>
            </a:endParaRPr>
          </a:p>
        </p:txBody>
      </p:sp>
      <p:sp>
        <p:nvSpPr>
          <p:cNvPr id="49" name="Text 47">
            <a:hlinkClick r:id="rId16" tooltip=""/>
          </p:cNvPr>
          <p:cNvSpPr txBox="1"/>
          <p:nvPr/>
        </p:nvSpPr>
        <p:spPr>
          <a:xfrm>
            <a:off x="7558888" y="3840480"/>
            <a:ext cx="3992728" cy="420624"/>
          </a:xfrm>
          <a:prstGeom prst="rect">
            <a:avLst/>
          </a:prstGeom>
          <a:noFill/>
          <a:ln/>
        </p:spPr>
        <p:txBody>
          <a:bodyPr wrap="square" lIns="0" tIns="0" rIns="0" bIns="0" rtlCol="0" anchor="ctr"/>
          <a:lstStyle/>
          <a:p>
            <a:pPr algn="l" indent="0" marL="0">
              <a:buNone/>
            </a:pPr>
            <a:r>
              <a:rPr lang="en-US" sz="1150" u="sng" dirty="0">
                <a:solidFill>
                  <a:srgbClr val="FFFFFF"/>
                </a:solidFill>
                <a:latin typeface="Plus Jakarta Sans" pitchFamily="34" charset="0"/>
                <a:ea typeface="Segoe UI" pitchFamily="34" charset="-122"/>
                <a:cs typeface="Segoe UI" pitchFamily="34" charset="-120"/>
                <a:hlinkClick r:id="rId16" invalidUrl="" action="" tgtFrame="" tooltip="" history="1" highlightClick="0" endSnd="0">
                  <a:extLst>
                    <a:ext uri="{A12FA001-AC4F-418D-AE19-62706E023703}">
                      <ahyp:hlinkClr xmlns:ahyp="http://schemas.microsoft.com/office/drawing/2018/hyperlinkcolor" val="tx"/>
                    </a:ext>
                  </a:extLst>
                </a:hlinkClick>
              </a:rPr>
              <a:t>Radiation and cuff-removal timing cohort, 2025</a:t>
            </a:r>
            <a:endParaRPr lang="en-US" sz="1150" dirty="0">
              <a:latin typeface="Plus Jakarta Sans"/>
            </a:endParaRPr>
          </a:p>
        </p:txBody>
      </p:sp>
      <p:sp>
        <p:nvSpPr>
          <p:cNvPr id="50" name="Shape 48"/>
          <p:cNvSpPr/>
          <p:nvPr/>
        </p:nvSpPr>
        <p:spPr>
          <a:xfrm>
            <a:off x="6278728" y="4261104"/>
            <a:ext cx="5272888" cy="0"/>
          </a:xfrm>
          <a:prstGeom prst="line">
            <a:avLst/>
          </a:prstGeom>
          <a:noFill/>
          <a:ln w="6350">
            <a:solidFill>
              <a:srgbClr val="3D3D3D"/>
            </a:solidFill>
            <a:prstDash val="solid"/>
          </a:ln>
        </p:spPr>
      </p:sp>
      <p:sp>
        <p:nvSpPr>
          <p:cNvPr id="51" name="Text 49"/>
          <p:cNvSpPr txBox="1"/>
          <p:nvPr/>
        </p:nvSpPr>
        <p:spPr>
          <a:xfrm>
            <a:off x="6278728" y="4261104"/>
            <a:ext cx="1234440" cy="420624"/>
          </a:xfrm>
          <a:prstGeom prst="rect">
            <a:avLst/>
          </a:prstGeom>
          <a:noFill/>
          <a:ln/>
        </p:spPr>
        <p:txBody>
          <a:bodyPr wrap="square" lIns="0" tIns="0" rIns="0" bIns="0" rtlCol="0" anchor="ctr"/>
          <a:lstStyle/>
          <a:p>
            <a:pPr algn="l" indent="0" marL="0">
              <a:buNone/>
            </a:pPr>
            <a:r>
              <a:rPr lang="en-US" sz="950" b="1" dirty="0">
                <a:solidFill>
                  <a:srgbClr val="05C489"/>
                </a:solidFill>
                <a:latin typeface="Plus Jakarta Sans" pitchFamily="34" charset="0"/>
                <a:ea typeface="Segoe UI" pitchFamily="34" charset="-122"/>
                <a:cs typeface="Segoe UI" pitchFamily="34" charset="-120"/>
              </a:rPr>
              <a:t>UROACTIVE26</a:t>
            </a:r>
            <a:endParaRPr lang="en-US" sz="950" dirty="0">
              <a:latin typeface="Plus Jakarta Sans"/>
            </a:endParaRPr>
          </a:p>
        </p:txBody>
      </p:sp>
      <p:sp>
        <p:nvSpPr>
          <p:cNvPr id="52" name="Text 50">
            <a:hlinkClick r:id="rId17" tooltip=""/>
          </p:cNvPr>
          <p:cNvSpPr txBox="1"/>
          <p:nvPr/>
        </p:nvSpPr>
        <p:spPr>
          <a:xfrm>
            <a:off x="7558888" y="4261104"/>
            <a:ext cx="3992728" cy="420624"/>
          </a:xfrm>
          <a:prstGeom prst="rect">
            <a:avLst/>
          </a:prstGeom>
          <a:noFill/>
          <a:ln/>
        </p:spPr>
        <p:txBody>
          <a:bodyPr wrap="square" lIns="0" tIns="0" rIns="0" bIns="0" rtlCol="0" anchor="ctr"/>
          <a:lstStyle/>
          <a:p>
            <a:pPr algn="l" indent="0" marL="0">
              <a:buNone/>
            </a:pPr>
            <a:r>
              <a:rPr lang="en-US" sz="1150" u="sng" dirty="0">
                <a:solidFill>
                  <a:srgbClr val="FFFFFF"/>
                </a:solidFill>
                <a:latin typeface="Plus Jakarta Sans" pitchFamily="34" charset="0"/>
                <a:ea typeface="Segoe UI" pitchFamily="34" charset="-122"/>
                <a:cs typeface="Segoe UI" pitchFamily="34" charset="-120"/>
                <a:hlinkClick r:id="rId17" invalidUrl="" action="" tgtFrame="" tooltip="" history="1" highlightClick="0" endSnd="0">
                  <a:extLst>
                    <a:ext uri="{A12FA001-AC4F-418D-AE19-62706E023703}">
                      <ahyp:hlinkClr xmlns:ahyp="http://schemas.microsoft.com/office/drawing/2018/hyperlinkcolor" val="tx"/>
                    </a:ext>
                  </a:extLst>
                </a:hlinkClick>
              </a:rPr>
              <a:t>Electronic AUS: first-in-human study, 2026</a:t>
            </a:r>
            <a:endParaRPr lang="en-US" sz="1150" dirty="0">
              <a:latin typeface="Plus Jakarta Sans"/>
            </a:endParaRPr>
          </a:p>
        </p:txBody>
      </p:sp>
      <p:sp>
        <p:nvSpPr>
          <p:cNvPr id="53" name="Shape 51"/>
          <p:cNvSpPr/>
          <p:nvPr/>
        </p:nvSpPr>
        <p:spPr>
          <a:xfrm>
            <a:off x="6278728" y="4681728"/>
            <a:ext cx="5272888" cy="0"/>
          </a:xfrm>
          <a:prstGeom prst="line">
            <a:avLst/>
          </a:prstGeom>
          <a:noFill/>
          <a:ln w="6350">
            <a:solidFill>
              <a:srgbClr val="3D3D3D"/>
            </a:solidFill>
            <a:prstDash val="solid"/>
          </a:ln>
        </p:spPr>
      </p:sp>
      <p:sp>
        <p:nvSpPr>
          <p:cNvPr id="54" name="Text 52"/>
          <p:cNvSpPr txBox="1"/>
          <p:nvPr/>
        </p:nvSpPr>
        <p:spPr>
          <a:xfrm>
            <a:off x="6278728" y="4681728"/>
            <a:ext cx="1234440" cy="420624"/>
          </a:xfrm>
          <a:prstGeom prst="rect">
            <a:avLst/>
          </a:prstGeom>
          <a:noFill/>
          <a:ln/>
        </p:spPr>
        <p:txBody>
          <a:bodyPr wrap="square" lIns="0" tIns="0" rIns="0" bIns="0" rtlCol="0" anchor="ctr"/>
          <a:lstStyle/>
          <a:p>
            <a:pPr algn="l" indent="0" marL="0">
              <a:buNone/>
            </a:pPr>
            <a:r>
              <a:rPr lang="en-US" sz="950" b="1" dirty="0">
                <a:solidFill>
                  <a:srgbClr val="05C489"/>
                </a:solidFill>
                <a:latin typeface="Plus Jakarta Sans" pitchFamily="34" charset="0"/>
                <a:ea typeface="Segoe UI" pitchFamily="34" charset="-122"/>
                <a:cs typeface="Segoe UI" pitchFamily="34" charset="-120"/>
              </a:rPr>
              <a:t>REPORT26</a:t>
            </a:r>
            <a:endParaRPr lang="en-US" sz="950" dirty="0">
              <a:latin typeface="Plus Jakarta Sans"/>
            </a:endParaRPr>
          </a:p>
        </p:txBody>
      </p:sp>
      <p:sp>
        <p:nvSpPr>
          <p:cNvPr id="55" name="Text 53">
            <a:hlinkClick r:id="rId18" tooltip=""/>
          </p:cNvPr>
          <p:cNvSpPr txBox="1"/>
          <p:nvPr/>
        </p:nvSpPr>
        <p:spPr>
          <a:xfrm>
            <a:off x="7558888" y="4681728"/>
            <a:ext cx="3992728" cy="420624"/>
          </a:xfrm>
          <a:prstGeom prst="rect">
            <a:avLst/>
          </a:prstGeom>
          <a:noFill/>
          <a:ln/>
        </p:spPr>
        <p:txBody>
          <a:bodyPr wrap="square" lIns="0" tIns="0" rIns="0" bIns="0" rtlCol="0" anchor="ctr"/>
          <a:lstStyle/>
          <a:p>
            <a:pPr algn="l" indent="0" marL="0">
              <a:buNone/>
            </a:pPr>
            <a:r>
              <a:rPr lang="en-US" sz="1150" u="sng" dirty="0">
                <a:solidFill>
                  <a:srgbClr val="FFFFFF"/>
                </a:solidFill>
                <a:latin typeface="Plus Jakarta Sans" pitchFamily="34" charset="0"/>
                <a:ea typeface="Segoe UI" pitchFamily="34" charset="-122"/>
                <a:cs typeface="Segoe UI" pitchFamily="34" charset="-120"/>
                <a:hlinkClick r:id="rId18" invalidUrl="" action="" tgtFrame="" tooltip="" history="1" highlightClick="0" endSnd="0">
                  <a:extLst>
                    <a:ext uri="{A12FA001-AC4F-418D-AE19-62706E023703}">
                      <ahyp:hlinkClr xmlns:ahyp="http://schemas.microsoft.com/office/drawing/2018/hyperlinkcolor" val="tx"/>
                    </a:ext>
                  </a:extLst>
                </a:hlinkClick>
              </a:rPr>
              <a:t>Standardised complication reporting: 2026</a:t>
            </a:r>
            <a:endParaRPr lang="en-US" sz="1150" dirty="0">
              <a:latin typeface="Plus Jakarta Sans"/>
            </a:endParaRPr>
          </a:p>
        </p:txBody>
      </p:sp>
      <p:sp>
        <p:nvSpPr>
          <p:cNvPr id="56" name="Shape 54"/>
          <p:cNvSpPr/>
          <p:nvPr/>
        </p:nvSpPr>
        <p:spPr>
          <a:xfrm>
            <a:off x="6278728" y="5102352"/>
            <a:ext cx="5272888" cy="0"/>
          </a:xfrm>
          <a:prstGeom prst="line">
            <a:avLst/>
          </a:prstGeom>
          <a:noFill/>
          <a:ln w="6350">
            <a:solidFill>
              <a:srgbClr val="3D3D3D"/>
            </a:solidFill>
            <a:prstDash val="solid"/>
          </a:ln>
        </p:spPr>
      </p:sp>
      <p:sp>
        <p:nvSpPr>
          <p:cNvPr id="9001" name="replacement-title">
            <a:extLst>
              <a:ext uri="{FF2B5EF4-FFF2-40B4-BE49-F238E27FC236}">
                <a16:creationId xmlns:a16="http://schemas.microsoft.com/office/drawing/2014/main" id="{1550C834-83FA-4C09-A978-E9BAF71369EB}"/>
              </a:ext>
            </a:extLst>
          </p:cNvPr>
          <p:cNvSpPr>
            <a:spLocks noGrp="1"/>
          </p:cNvSpPr>
          <p:nvPr/>
        </p:nvSpPr>
        <p:spPr>
          <a:xfrm>
            <a:off x="638175" y="752475"/>
            <a:ext cx="10915650" cy="800100"/>
          </a:xfrm>
          <a:prstGeom prst="rect">
            <a:avLst/>
          </a:prstGeom>
          <a:noFill/>
          <a:ln w="0">
            <a:noFill/>
          </a:ln>
        </p:spPr>
        <p:txBody>
          <a:bodyPr anchor="ctr"/>
          <a:lstStyle>
            <a:defPPr>
              <a:defRPr sz="2625" b="1">
                <a:solidFill>
                  <a:srgbClr val="FFFFFF"/>
                </a:solidFill>
                <a:latin typeface="Plus Jakarta Sans"/>
              </a:defRPr>
            </a:defPPr>
            <a:lvl1pPr>
              <a:defRPr sz="2625" b="1">
                <a:solidFill>
                  <a:srgbClr val="FFFFFF"/>
                </a:solidFill>
                <a:latin typeface="Plus Jakarta Sans"/>
              </a:defRPr>
            </a:lvl1pPr>
            <a:lvl2pPr>
              <a:defRPr sz="2625" b="1">
                <a:solidFill>
                  <a:srgbClr val="FFFFFF"/>
                </a:solidFill>
                <a:latin typeface="Plus Jakarta Sans"/>
              </a:defRPr>
            </a:lvl2pPr>
            <a:lvl3pPr>
              <a:defRPr sz="2625" b="1">
                <a:solidFill>
                  <a:srgbClr val="FFFFFF"/>
                </a:solidFill>
                <a:latin typeface="Plus Jakarta Sans"/>
              </a:defRPr>
            </a:lvl3pPr>
            <a:lvl4pPr>
              <a:defRPr sz="2625" b="1">
                <a:solidFill>
                  <a:srgbClr val="FFFFFF"/>
                </a:solidFill>
                <a:latin typeface="Plus Jakarta Sans"/>
              </a:defRPr>
            </a:lvl4pPr>
            <a:lvl5pPr>
              <a:defRPr sz="2625" b="1">
                <a:solidFill>
                  <a:srgbClr val="FFFFFF"/>
                </a:solidFill>
                <a:latin typeface="Plus Jakarta Sans"/>
              </a:defRPr>
            </a:lvl5pPr>
            <a:lvl6pPr>
              <a:defRPr sz="2625" b="1">
                <a:solidFill>
                  <a:srgbClr val="FFFFFF"/>
                </a:solidFill>
                <a:latin typeface="Plus Jakarta Sans"/>
              </a:defRPr>
            </a:lvl6pPr>
            <a:lvl7pPr>
              <a:defRPr sz="2625" b="1">
                <a:solidFill>
                  <a:srgbClr val="FFFFFF"/>
                </a:solidFill>
                <a:latin typeface="Plus Jakarta Sans"/>
              </a:defRPr>
            </a:lvl7pPr>
            <a:lvl8pPr>
              <a:defRPr sz="2625" b="1">
                <a:solidFill>
                  <a:srgbClr val="FFFFFF"/>
                </a:solidFill>
                <a:latin typeface="Plus Jakarta Sans"/>
              </a:defRPr>
            </a:lvl8pPr>
            <a:lvl9pPr>
              <a:defRPr sz="2625" b="1">
                <a:solidFill>
                  <a:srgbClr val="FFFFFF"/>
                </a:solidFill>
                <a:latin typeface="Plus Jakarta Sans"/>
              </a:defRPr>
            </a:lvl9pPr>
          </a:lstStyle>
          <a:p>
            <a:pPr>
              <a:defRPr sz="2625" b="1">
                <a:solidFill>
                  <a:srgbClr val="FFFFFF"/>
                </a:solidFill>
                <a:latin typeface="Plus Jakarta Sans"/>
              </a:defRPr>
            </a:pPr>
            <a:r>
              <a:rPr sz="2625" b="1">
                <a:solidFill>
                  <a:srgbClr val="FFFFFF"/>
                </a:solidFill>
                <a:latin typeface="Plus Jakarta Sans"/>
              </a:rPr>
              <a:t>Sources 3 of 3</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61616"/>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05C489"/>
                </a:solidFill>
                <a:latin typeface="Plus Jakarta Sans" pitchFamily="34" charset="0"/>
                <a:ea typeface="Segoe UI" pitchFamily="34" charset="-122"/>
                <a:cs typeface="Segoe UI" pitchFamily="34" charset="-120"/>
              </a:rPr>
              <a:t>BACKUP</a:t>
            </a:r>
            <a:endParaRPr lang="en-US" sz="950" dirty="0">
              <a:latin typeface="Plus Jakarta Sans"/>
            </a:endParaRPr>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911535" cy="914400"/>
        </p:xfrm>
        <a:graphic>
          <a:graphicData uri="http://schemas.openxmlformats.org/drawingml/2006/table">
            <a:tbl>
              <a:tblPr/>
              <a:tblGrid>
                <a:gridCol w="3291840"/>
                <a:gridCol w="3749040"/>
                <a:gridCol w="3870655"/>
              </a:tblGrid>
              <a:tr h="411480">
                <a:tc>
                  <a:txBody>
                    <a:bodyPr/>
                    <a:lstStyle/>
                    <a:p>
                      <a:pPr indent="0" marL="0">
                        <a:buNone/>
                      </a:pPr>
                      <a:r>
                        <a:rPr lang="en-US" sz="1150" b="1" dirty="0">
                          <a:solidFill>
                            <a:srgbClr val="161616"/>
                          </a:solidFill>
                          <a:latin typeface="Plus Jakarta Sans" pitchFamily="34" charset="0"/>
                          <a:ea typeface="Segoe UI Semibold" pitchFamily="34" charset="-122"/>
                          <a:cs typeface="Segoe UI Semibold" pitchFamily="34" charset="-120"/>
                        </a:rPr>
                        <a:t>Study and population</a:t>
                      </a:r>
                      <a:endParaRPr lang="en-US" sz="1150" dirty="0">
                        <a:solidFill>
                          <a:srgbClr val="161616"/>
                        </a:solidFill>
                        <a:latin typeface="Plus Jakarta Sans" charset="0"/>
                        <a:ea typeface="Segoe UI Semibold" charset="0"/>
                        <a:cs typeface="Segoe UI Semibold" charset="0"/>
                      </a:endParaRPr>
                    </a:p>
                  </a:txBody>
                  <a:tcPr marL="146304" marR="146304" marT="91440" marB="91440"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05C489"/>
                    </a:solidFill>
                  </a:tcPr>
                </a:tc>
                <a:tc>
                  <a:txBody>
                    <a:bodyPr/>
                    <a:lstStyle/>
                    <a:p>
                      <a:pPr indent="0" marL="0">
                        <a:buNone/>
                      </a:pPr>
                      <a:r>
                        <a:rPr lang="en-US" sz="1150" b="1" dirty="0">
                          <a:solidFill>
                            <a:srgbClr val="161616"/>
                          </a:solidFill>
                          <a:latin typeface="Plus Jakarta Sans" pitchFamily="34" charset="0"/>
                          <a:ea typeface="Segoe UI Semibold" pitchFamily="34" charset="-122"/>
                          <a:cs typeface="Segoe UI Semibold" pitchFamily="34" charset="-120"/>
                        </a:rPr>
                        <a:t>Endpoint and result</a:t>
                      </a:r>
                      <a:endParaRPr lang="en-US" sz="1150" dirty="0">
                        <a:solidFill>
                          <a:srgbClr val="161616"/>
                        </a:solidFill>
                        <a:latin typeface="Plus Jakarta Sans" charset="0"/>
                        <a:ea typeface="Segoe UI Semibold" charset="0"/>
                        <a:cs typeface="Segoe UI Semibold" charset="0"/>
                      </a:endParaRPr>
                    </a:p>
                  </a:txBody>
                  <a:tcPr marL="146304" marR="146304" marT="91440" marB="91440"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05C489"/>
                    </a:solidFill>
                  </a:tcPr>
                </a:tc>
                <a:tc>
                  <a:txBody>
                    <a:bodyPr/>
                    <a:lstStyle/>
                    <a:p>
                      <a:pPr indent="0" marL="0">
                        <a:buNone/>
                      </a:pPr>
                      <a:r>
                        <a:rPr lang="en-US" sz="1150" b="1" dirty="0">
                          <a:solidFill>
                            <a:srgbClr val="161616"/>
                          </a:solidFill>
                          <a:latin typeface="Plus Jakarta Sans" pitchFamily="34" charset="0"/>
                          <a:ea typeface="Segoe UI Semibold" pitchFamily="34" charset="-122"/>
                          <a:cs typeface="Segoe UI Semibold" pitchFamily="34" charset="-120"/>
                        </a:rPr>
                        <a:t>Limits</a:t>
                      </a:r>
                      <a:endParaRPr lang="en-US" sz="1150" dirty="0">
                        <a:solidFill>
                          <a:srgbClr val="161616"/>
                        </a:solidFill>
                        <a:latin typeface="Plus Jakarta Sans" charset="0"/>
                        <a:ea typeface="Segoe UI Semibold" charset="0"/>
                        <a:cs typeface="Segoe UI Semibold" charset="0"/>
                      </a:endParaRPr>
                    </a:p>
                  </a:txBody>
                  <a:tcPr marL="146304" marR="146304" marT="91440" marB="91440"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05C489"/>
                    </a:solidFill>
                  </a:tcPr>
                </a:tc>
              </a:tr>
              <a:tr h="1051560">
                <a:tc>
                  <a:txBody>
                    <a:bodyPr/>
                    <a:lstStyle/>
                    <a:p>
                      <a:pPr indent="0" marL="0">
                        <a:buNone/>
                      </a:pPr>
                      <a:r>
                        <a:rPr lang="en-US" sz="1250" b="1" dirty="0">
                          <a:solidFill>
                            <a:srgbClr val="FFFFFF"/>
                          </a:solidFill>
                          <a:latin typeface="Plus Jakarta Sans" pitchFamily="34" charset="0"/>
                          <a:ea typeface="Segoe UI" pitchFamily="34" charset="-122"/>
                          <a:cs typeface="Segoe UI" pitchFamily="34" charset="-120"/>
                        </a:rPr>
                        <a:t>AUSCO 2026: AMS 800</a:t>
                      </a:r>
                      <a:endParaRPr lang="en-US" sz="1250" dirty="0">
                        <a:solidFill>
                          <a:srgbClr val="FFFFFF"/>
                        </a:solidFill>
                        <a:latin typeface="Plus Jakarta Sans" charset="0"/>
                        <a:ea typeface="Segoe UI" charset="0"/>
                        <a:cs typeface="Segoe UI" charset="0"/>
                      </a:endParaRPr>
                    </a:p>
                    <a:p>
                      <a:pPr indent="0" marL="0">
                        <a:buNone/>
                      </a:pPr>
                      <a:r>
                        <a:rPr lang="en-US" sz="1250" b="1" dirty="0">
                          <a:solidFill>
                            <a:srgbClr val="FFFFFF"/>
                          </a:solidFill>
                          <a:latin typeface="Plus Jakarta Sans" pitchFamily="34" charset="0"/>
                          <a:ea typeface="Segoe UI" pitchFamily="34" charset="-122"/>
                          <a:cs typeface="Segoe UI" pitchFamily="34" charset="-120"/>
                        </a:rPr>
                        <a:t>115 primary implants, 25 irradiated</a:t>
                      </a:r>
                      <a:endParaRPr lang="en-US" sz="1250" dirty="0">
                        <a:solidFill>
                          <a:srgbClr val="FFFFFF"/>
                        </a:solidFill>
                        <a:latin typeface="Plus Jakarta Sans" charset="0"/>
                        <a:ea typeface="Segoe UI" charset="0"/>
                        <a:cs typeface="Segoe UI" charset="0"/>
                      </a:endParaRPr>
                    </a:p>
                  </a:txBody>
                  <a:tcPr marL="146304" marR="146304" marT="109728" marB="109728"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242424"/>
                    </a:solidFill>
                  </a:tcPr>
                </a:tc>
                <a:tc>
                  <a:txBody>
                    <a:bodyPr/>
                    <a:lstStyle/>
                    <a:p>
                      <a:pPr indent="0" marL="0">
                        <a:buNone/>
                      </a:pPr>
                      <a:r>
                        <a:rPr lang="en-US" sz="1250" dirty="0">
                          <a:solidFill>
                            <a:srgbClr val="FFFFFF"/>
                          </a:solidFill>
                          <a:latin typeface="Plus Jakarta Sans" pitchFamily="34" charset="0"/>
                          <a:ea typeface="Segoe UI" pitchFamily="34" charset="-122"/>
                          <a:cs typeface="Segoe UI" pitchFamily="34" charset="-120"/>
                        </a:rPr>
                        <a:t>12 months after activation</a:t>
                      </a:r>
                      <a:endParaRPr lang="en-US" sz="1250" dirty="0">
                        <a:solidFill>
                          <a:srgbClr val="FFFFFF"/>
                        </a:solidFill>
                        <a:latin typeface="Plus Jakarta Sans" charset="0"/>
                        <a:ea typeface="Segoe UI" charset="0"/>
                        <a:cs typeface="Segoe UI" charset="0"/>
                      </a:endParaRPr>
                    </a:p>
                    <a:p>
                      <a:pPr indent="0" marL="0">
                        <a:buNone/>
                      </a:pPr>
                      <a:r>
                        <a:rPr lang="en-US" sz="1250" dirty="0">
                          <a:solidFill>
                            <a:srgbClr val="FFFFFF"/>
                          </a:solidFill>
                          <a:latin typeface="Plus Jakarta Sans" pitchFamily="34" charset="0"/>
                          <a:ea typeface="Segoe UI" pitchFamily="34" charset="-122"/>
                          <a:cs typeface="Segoe UI" pitchFamily="34" charset="-120"/>
                        </a:rPr>
                        <a:t>91/97 ≥50% pad-weight reduction</a:t>
                      </a:r>
                      <a:endParaRPr lang="en-US" sz="1250" dirty="0">
                        <a:solidFill>
                          <a:srgbClr val="FFFFFF"/>
                        </a:solidFill>
                        <a:latin typeface="Plus Jakarta Sans" charset="0"/>
                        <a:ea typeface="Segoe UI" charset="0"/>
                        <a:cs typeface="Segoe UI" charset="0"/>
                      </a:endParaRPr>
                    </a:p>
                    <a:p>
                      <a:pPr indent="0" marL="0">
                        <a:buNone/>
                      </a:pPr>
                      <a:r>
                        <a:rPr lang="en-US" sz="1250" dirty="0">
                          <a:solidFill>
                            <a:srgbClr val="FFFFFF"/>
                          </a:solidFill>
                          <a:latin typeface="Plus Jakarta Sans" pitchFamily="34" charset="0"/>
                          <a:ea typeface="Segoe UI" pitchFamily="34" charset="-122"/>
                          <a:cs typeface="Segoe UI" pitchFamily="34" charset="-120"/>
                        </a:rPr>
                        <a:t>61/101 zero pads</a:t>
                      </a:r>
                      <a:endParaRPr lang="en-US" sz="1250" dirty="0">
                        <a:solidFill>
                          <a:srgbClr val="FFFFFF"/>
                        </a:solidFill>
                        <a:latin typeface="Plus Jakarta Sans" charset="0"/>
                        <a:ea typeface="Segoe UI" charset="0"/>
                        <a:cs typeface="Segoe UI" charset="0"/>
                      </a:endParaRPr>
                    </a:p>
                  </a:txBody>
                  <a:tcPr marL="146304" marR="146304" marT="109728" marB="109728"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242424"/>
                    </a:solidFill>
                  </a:tcPr>
                </a:tc>
                <a:tc>
                  <a:txBody>
                    <a:bodyPr/>
                    <a:lstStyle/>
                    <a:p>
                      <a:pPr indent="0" marL="0">
                        <a:buNone/>
                      </a:pPr>
                      <a:r>
                        <a:rPr lang="en-US" sz="1250" dirty="0">
                          <a:solidFill>
                            <a:srgbClr val="FFFFFF"/>
                          </a:solidFill>
                          <a:latin typeface="Plus Jakarta Sans" pitchFamily="34" charset="0"/>
                          <a:ea typeface="Segoe UI" pitchFamily="34" charset="-122"/>
                          <a:cs typeface="Segoe UI" pitchFamily="34" charset="-120"/>
                        </a:rPr>
                        <a:t>Prospective single-arm, funded by manufacturer. Missing data, one year, expert centres</a:t>
                      </a:r>
                      <a:endParaRPr lang="en-US" sz="1250" dirty="0">
                        <a:solidFill>
                          <a:srgbClr val="FFFFFF"/>
                        </a:solidFill>
                        <a:latin typeface="Plus Jakarta Sans" charset="0"/>
                        <a:ea typeface="Segoe UI" charset="0"/>
                        <a:cs typeface="Segoe UI" charset="0"/>
                      </a:endParaRPr>
                    </a:p>
                  </a:txBody>
                  <a:tcPr marL="146304" marR="146304" marT="109728" marB="109728"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242424"/>
                    </a:solidFill>
                  </a:tcPr>
                </a:tc>
              </a:tr>
              <a:tr h="1051560">
                <a:tc>
                  <a:txBody>
                    <a:bodyPr/>
                    <a:lstStyle/>
                    <a:p>
                      <a:pPr indent="0" marL="0">
                        <a:buNone/>
                      </a:pPr>
                      <a:r>
                        <a:rPr lang="en-US" sz="1250" b="1" dirty="0">
                          <a:solidFill>
                            <a:srgbClr val="FFFFFF"/>
                          </a:solidFill>
                          <a:latin typeface="Plus Jakarta Sans" pitchFamily="34" charset="0"/>
                          <a:ea typeface="Segoe UI" pitchFamily="34" charset="-122"/>
                          <a:cs typeface="Segoe UI" pitchFamily="34" charset="-120"/>
                        </a:rPr>
                        <a:t>Linder 2015: AMS 800</a:t>
                      </a:r>
                      <a:endParaRPr lang="en-US" sz="1250" dirty="0">
                        <a:solidFill>
                          <a:srgbClr val="FFFFFF"/>
                        </a:solidFill>
                        <a:latin typeface="Plus Jakarta Sans" charset="0"/>
                        <a:ea typeface="Segoe UI" charset="0"/>
                        <a:cs typeface="Segoe UI" charset="0"/>
                      </a:endParaRPr>
                    </a:p>
                    <a:p>
                      <a:pPr indent="0" marL="0">
                        <a:buNone/>
                      </a:pPr>
                      <a:r>
                        <a:rPr lang="en-US" sz="1250" b="1" dirty="0">
                          <a:solidFill>
                            <a:srgbClr val="FFFFFF"/>
                          </a:solidFill>
                          <a:latin typeface="Plus Jakarta Sans" pitchFamily="34" charset="0"/>
                          <a:ea typeface="Segoe UI" pitchFamily="34" charset="-122"/>
                          <a:cs typeface="Segoe UI" pitchFamily="34" charset="-120"/>
                        </a:rPr>
                        <a:t>1,082 primary implants, 27% irradiated</a:t>
                      </a:r>
                      <a:endParaRPr lang="en-US" sz="1250" dirty="0">
                        <a:solidFill>
                          <a:srgbClr val="FFFFFF"/>
                        </a:solidFill>
                        <a:latin typeface="Plus Jakarta Sans" charset="0"/>
                        <a:ea typeface="Segoe UI" charset="0"/>
                        <a:cs typeface="Segoe UI" charset="0"/>
                      </a:endParaRPr>
                    </a:p>
                  </a:txBody>
                  <a:tcPr marL="146304" marR="146304" marT="109728" marB="109728"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2D2D2D"/>
                    </a:solidFill>
                  </a:tcPr>
                </a:tc>
                <a:tc>
                  <a:txBody>
                    <a:bodyPr/>
                    <a:lstStyle/>
                    <a:p>
                      <a:pPr indent="0" marL="0">
                        <a:buNone/>
                      </a:pPr>
                      <a:r>
                        <a:rPr lang="en-US" sz="1250" dirty="0">
                          <a:solidFill>
                            <a:srgbClr val="FFFFFF"/>
                          </a:solidFill>
                          <a:latin typeface="Plus Jakarta Sans" pitchFamily="34" charset="0"/>
                          <a:ea typeface="Segoe UI" pitchFamily="34" charset="-122"/>
                          <a:cs typeface="Segoe UI" pitchFamily="34" charset="-120"/>
                        </a:rPr>
                        <a:t>Freedom from any secondary surgery</a:t>
                      </a:r>
                      <a:endParaRPr lang="en-US" sz="1250" dirty="0">
                        <a:solidFill>
                          <a:srgbClr val="FFFFFF"/>
                        </a:solidFill>
                        <a:latin typeface="Plus Jakarta Sans" charset="0"/>
                        <a:ea typeface="Segoe UI" charset="0"/>
                        <a:cs typeface="Segoe UI" charset="0"/>
                      </a:endParaRPr>
                    </a:p>
                    <a:p>
                      <a:pPr indent="0" marL="0">
                        <a:buNone/>
                      </a:pPr>
                      <a:r>
                        <a:rPr lang="en-US" sz="1250" dirty="0">
                          <a:solidFill>
                            <a:srgbClr val="FFFFFF"/>
                          </a:solidFill>
                          <a:latin typeface="Plus Jakarta Sans" pitchFamily="34" charset="0"/>
                          <a:ea typeface="Segoe UI" pitchFamily="34" charset="-122"/>
                          <a:cs typeface="Segoe UI" pitchFamily="34" charset="-120"/>
                        </a:rPr>
                        <a:t>KM 74% at five years</a:t>
                      </a:r>
                      <a:endParaRPr lang="en-US" sz="1250" dirty="0">
                        <a:solidFill>
                          <a:srgbClr val="FFFFFF"/>
                        </a:solidFill>
                        <a:latin typeface="Plus Jakarta Sans" charset="0"/>
                        <a:ea typeface="Segoe UI" charset="0"/>
                        <a:cs typeface="Segoe UI" charset="0"/>
                      </a:endParaRPr>
                    </a:p>
                    <a:p>
                      <a:pPr indent="0" marL="0">
                        <a:buNone/>
                      </a:pPr>
                      <a:r>
                        <a:rPr lang="en-US" sz="1250" dirty="0">
                          <a:solidFill>
                            <a:srgbClr val="FFFFFF"/>
                          </a:solidFill>
                          <a:latin typeface="Plus Jakarta Sans" pitchFamily="34" charset="0"/>
                          <a:ea typeface="Segoe UI" pitchFamily="34" charset="-122"/>
                          <a:cs typeface="Segoe UI" pitchFamily="34" charset="-120"/>
                        </a:rPr>
                        <a:t>57% at ten years</a:t>
                      </a:r>
                      <a:endParaRPr lang="en-US" sz="1250" dirty="0">
                        <a:solidFill>
                          <a:srgbClr val="FFFFFF"/>
                        </a:solidFill>
                        <a:latin typeface="Plus Jakarta Sans" charset="0"/>
                        <a:ea typeface="Segoe UI" charset="0"/>
                        <a:cs typeface="Segoe UI" charset="0"/>
                      </a:endParaRPr>
                    </a:p>
                  </a:txBody>
                  <a:tcPr marL="146304" marR="146304" marT="109728" marB="109728"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2D2D2D"/>
                    </a:solidFill>
                  </a:tcPr>
                </a:tc>
                <a:tc>
                  <a:txBody>
                    <a:bodyPr/>
                    <a:lstStyle/>
                    <a:p>
                      <a:pPr indent="0" marL="0">
                        <a:buNone/>
                      </a:pPr>
                      <a:r>
                        <a:rPr lang="en-US" sz="1250" dirty="0">
                          <a:solidFill>
                            <a:srgbClr val="FFFFFF"/>
                          </a:solidFill>
                          <a:latin typeface="Plus Jakarta Sans" pitchFamily="34" charset="0"/>
                          <a:ea typeface="Segoe UI" pitchFamily="34" charset="-122"/>
                          <a:cs typeface="Segoe UI" pitchFamily="34" charset="-120"/>
                        </a:rPr>
                        <a:t>Historical specialist cohort. Continence and revision-free survival differ</a:t>
                      </a:r>
                      <a:endParaRPr lang="en-US" sz="1250" dirty="0">
                        <a:solidFill>
                          <a:srgbClr val="FFFFFF"/>
                        </a:solidFill>
                        <a:latin typeface="Plus Jakarta Sans" charset="0"/>
                        <a:ea typeface="Segoe UI" charset="0"/>
                        <a:cs typeface="Segoe UI" charset="0"/>
                      </a:endParaRPr>
                    </a:p>
                  </a:txBody>
                  <a:tcPr marL="146304" marR="146304" marT="109728" marB="109728"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2D2D2D"/>
                    </a:solidFill>
                  </a:tcPr>
                </a:tc>
              </a:tr>
              <a:tr h="1051560">
                <a:tc>
                  <a:txBody>
                    <a:bodyPr/>
                    <a:lstStyle/>
                    <a:p>
                      <a:pPr indent="0" marL="0">
                        <a:buNone/>
                      </a:pPr>
                      <a:r>
                        <a:rPr lang="en-US" sz="1250" b="1" dirty="0">
                          <a:solidFill>
                            <a:srgbClr val="FFFFFF"/>
                          </a:solidFill>
                          <a:latin typeface="Plus Jakarta Sans" pitchFamily="34" charset="0"/>
                          <a:ea typeface="Segoe UI" pitchFamily="34" charset="-122"/>
                          <a:cs typeface="Segoe UI" pitchFamily="34" charset="-120"/>
                        </a:rPr>
                        <a:t>Wilson 2024: ContiClassic</a:t>
                      </a:r>
                      <a:endParaRPr lang="en-US" sz="1250" dirty="0">
                        <a:solidFill>
                          <a:srgbClr val="FFFFFF"/>
                        </a:solidFill>
                        <a:latin typeface="Plus Jakarta Sans" charset="0"/>
                        <a:ea typeface="Segoe UI" charset="0"/>
                        <a:cs typeface="Segoe UI" charset="0"/>
                      </a:endParaRPr>
                    </a:p>
                    <a:p>
                      <a:pPr indent="0" marL="0">
                        <a:buNone/>
                      </a:pPr>
                      <a:r>
                        <a:rPr lang="en-US" sz="1250" b="1" dirty="0">
                          <a:solidFill>
                            <a:srgbClr val="FFFFFF"/>
                          </a:solidFill>
                          <a:latin typeface="Plus Jakarta Sans" pitchFamily="34" charset="0"/>
                          <a:ea typeface="Segoe UI" pitchFamily="34" charset="-122"/>
                          <a:cs typeface="Segoe UI" pitchFamily="34" charset="-120"/>
                        </a:rPr>
                        <a:t>116 recipients, mixed indications</a:t>
                      </a:r>
                      <a:endParaRPr lang="en-US" sz="1250" dirty="0">
                        <a:solidFill>
                          <a:srgbClr val="FFFFFF"/>
                        </a:solidFill>
                        <a:latin typeface="Plus Jakarta Sans" charset="0"/>
                        <a:ea typeface="Segoe UI" charset="0"/>
                        <a:cs typeface="Segoe UI" charset="0"/>
                      </a:endParaRPr>
                    </a:p>
                  </a:txBody>
                  <a:tcPr marL="146304" marR="146304" marT="109728" marB="109728"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242424"/>
                    </a:solidFill>
                  </a:tcPr>
                </a:tc>
                <a:tc>
                  <a:txBody>
                    <a:bodyPr/>
                    <a:lstStyle/>
                    <a:p>
                      <a:pPr indent="0" marL="0">
                        <a:buNone/>
                      </a:pPr>
                      <a:r>
                        <a:rPr lang="en-US" sz="1250" dirty="0">
                          <a:solidFill>
                            <a:srgbClr val="FFFFFF"/>
                          </a:solidFill>
                          <a:latin typeface="Plus Jakarta Sans" pitchFamily="34" charset="0"/>
                          <a:ea typeface="Segoe UI" pitchFamily="34" charset="-122"/>
                          <a:cs typeface="Segoe UI" pitchFamily="34" charset="-120"/>
                        </a:rPr>
                        <a:t>Eight revisions</a:t>
                      </a:r>
                      <a:endParaRPr lang="en-US" sz="1250" dirty="0">
                        <a:solidFill>
                          <a:srgbClr val="FFFFFF"/>
                        </a:solidFill>
                        <a:latin typeface="Plus Jakarta Sans" charset="0"/>
                        <a:ea typeface="Segoe UI" charset="0"/>
                        <a:cs typeface="Segoe UI" charset="0"/>
                      </a:endParaRPr>
                    </a:p>
                    <a:p>
                      <a:pPr indent="0" marL="0">
                        <a:buNone/>
                      </a:pPr>
                      <a:r>
                        <a:rPr lang="en-US" sz="1250" dirty="0">
                          <a:solidFill>
                            <a:srgbClr val="FFFFFF"/>
                          </a:solidFill>
                          <a:latin typeface="Plus Jakarta Sans" pitchFamily="34" charset="0"/>
                          <a:ea typeface="Segoe UI" pitchFamily="34" charset="-122"/>
                          <a:cs typeface="Segoe UI" pitchFamily="34" charset="-120"/>
                        </a:rPr>
                        <a:t>12-month KM device survival 93.2%</a:t>
                      </a:r>
                      <a:endParaRPr lang="en-US" sz="1250" dirty="0">
                        <a:solidFill>
                          <a:srgbClr val="FFFFFF"/>
                        </a:solidFill>
                        <a:latin typeface="Plus Jakarta Sans" charset="0"/>
                        <a:ea typeface="Segoe UI" charset="0"/>
                        <a:cs typeface="Segoe UI" charset="0"/>
                      </a:endParaRPr>
                    </a:p>
                  </a:txBody>
                  <a:tcPr marL="146304" marR="146304" marT="109728" marB="109728"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242424"/>
                    </a:solidFill>
                  </a:tcPr>
                </a:tc>
                <a:tc>
                  <a:txBody>
                    <a:bodyPr/>
                    <a:lstStyle/>
                    <a:p>
                      <a:pPr indent="0" marL="0">
                        <a:buNone/>
                      </a:pPr>
                      <a:r>
                        <a:rPr lang="en-US" sz="1250" dirty="0">
                          <a:solidFill>
                            <a:srgbClr val="FFFFFF"/>
                          </a:solidFill>
                          <a:latin typeface="Plus Jakarta Sans" pitchFamily="34" charset="0"/>
                          <a:ea typeface="Segoe UI" pitchFamily="34" charset="-122"/>
                          <a:cs typeface="Segoe UI" pitchFamily="34" charset="-120"/>
                        </a:rPr>
                        <a:t>Early safety series. No standardised continence comparator; mixed indications</a:t>
                      </a:r>
                      <a:endParaRPr lang="en-US" sz="1250" dirty="0">
                        <a:solidFill>
                          <a:srgbClr val="FFFFFF"/>
                        </a:solidFill>
                        <a:latin typeface="Plus Jakarta Sans" charset="0"/>
                        <a:ea typeface="Segoe UI" charset="0"/>
                        <a:cs typeface="Segoe UI" charset="0"/>
                      </a:endParaRPr>
                    </a:p>
                  </a:txBody>
                  <a:tcPr marL="146304" marR="146304" marT="109728" marB="109728"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242424"/>
                    </a:solidFill>
                  </a:tcPr>
                </a:tc>
              </a:tr>
            </a:tbl>
          </a:graphicData>
        </a:graphic>
      </p:graphicFrame>
      <p:sp>
        <p:nvSpPr>
          <p:cNvPr id="9001" name="replacement-title">
            <a:extLst>
              <a:ext uri="{FF2B5EF4-FFF2-40B4-BE49-F238E27FC236}">
                <a16:creationId xmlns:a16="http://schemas.microsoft.com/office/drawing/2014/main" id="{46D9134E-A240-4BDD-8956-5AF40CEBCF47}"/>
              </a:ext>
            </a:extLst>
          </p:cNvPr>
          <p:cNvSpPr>
            <a:spLocks noGrp="1"/>
          </p:cNvSpPr>
          <p:nvPr/>
        </p:nvSpPr>
        <p:spPr>
          <a:xfrm>
            <a:off x="638175" y="752475"/>
            <a:ext cx="10915650" cy="800100"/>
          </a:xfrm>
          <a:prstGeom prst="rect">
            <a:avLst/>
          </a:prstGeom>
          <a:noFill/>
          <a:ln w="0">
            <a:noFill/>
          </a:ln>
        </p:spPr>
        <p:txBody>
          <a:bodyPr anchor="ctr"/>
          <a:lstStyle>
            <a:defPPr>
              <a:defRPr sz="2625" b="1">
                <a:solidFill>
                  <a:srgbClr val="FFFFFF"/>
                </a:solidFill>
                <a:latin typeface="Plus Jakarta Sans"/>
              </a:defRPr>
            </a:defPPr>
            <a:lvl1pPr>
              <a:defRPr sz="2625" b="1">
                <a:solidFill>
                  <a:srgbClr val="FFFFFF"/>
                </a:solidFill>
                <a:latin typeface="Plus Jakarta Sans"/>
              </a:defRPr>
            </a:lvl1pPr>
            <a:lvl2pPr>
              <a:defRPr sz="2625" b="1">
                <a:solidFill>
                  <a:srgbClr val="FFFFFF"/>
                </a:solidFill>
                <a:latin typeface="Plus Jakarta Sans"/>
              </a:defRPr>
            </a:lvl2pPr>
            <a:lvl3pPr>
              <a:defRPr sz="2625" b="1">
                <a:solidFill>
                  <a:srgbClr val="FFFFFF"/>
                </a:solidFill>
                <a:latin typeface="Plus Jakarta Sans"/>
              </a:defRPr>
            </a:lvl3pPr>
            <a:lvl4pPr>
              <a:defRPr sz="2625" b="1">
                <a:solidFill>
                  <a:srgbClr val="FFFFFF"/>
                </a:solidFill>
                <a:latin typeface="Plus Jakarta Sans"/>
              </a:defRPr>
            </a:lvl4pPr>
            <a:lvl5pPr>
              <a:defRPr sz="2625" b="1">
                <a:solidFill>
                  <a:srgbClr val="FFFFFF"/>
                </a:solidFill>
                <a:latin typeface="Plus Jakarta Sans"/>
              </a:defRPr>
            </a:lvl5pPr>
            <a:lvl6pPr>
              <a:defRPr sz="2625" b="1">
                <a:solidFill>
                  <a:srgbClr val="FFFFFF"/>
                </a:solidFill>
                <a:latin typeface="Plus Jakarta Sans"/>
              </a:defRPr>
            </a:lvl6pPr>
            <a:lvl7pPr>
              <a:defRPr sz="2625" b="1">
                <a:solidFill>
                  <a:srgbClr val="FFFFFF"/>
                </a:solidFill>
                <a:latin typeface="Plus Jakarta Sans"/>
              </a:defRPr>
            </a:lvl7pPr>
            <a:lvl8pPr>
              <a:defRPr sz="2625" b="1">
                <a:solidFill>
                  <a:srgbClr val="FFFFFF"/>
                </a:solidFill>
                <a:latin typeface="Plus Jakarta Sans"/>
              </a:defRPr>
            </a:lvl8pPr>
            <a:lvl9pPr>
              <a:defRPr sz="2625" b="1">
                <a:solidFill>
                  <a:srgbClr val="FFFFFF"/>
                </a:solidFill>
                <a:latin typeface="Plus Jakarta Sans"/>
              </a:defRPr>
            </a:lvl9pPr>
          </a:lstStyle>
          <a:p>
            <a:pPr>
              <a:defRPr sz="2625" b="1">
                <a:solidFill>
                  <a:srgbClr val="FFFFFF"/>
                </a:solidFill>
                <a:latin typeface="Plus Jakarta Sans"/>
              </a:defRPr>
            </a:pPr>
            <a:r>
              <a:rPr sz="2625" b="1">
                <a:solidFill>
                  <a:srgbClr val="FFFFFF"/>
                </a:solidFill>
                <a:latin typeface="Plus Jakarta Sans"/>
              </a:rPr>
              <a:t>Outcome evidence: device and endpoint</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161616"/>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05C489"/>
                </a:solidFill>
                <a:latin typeface="Plus Jakarta Sans" pitchFamily="34" charset="0"/>
                <a:ea typeface="Segoe UI" pitchFamily="34" charset="-122"/>
                <a:cs typeface="Segoe UI" pitchFamily="34" charset="-120"/>
              </a:rPr>
              <a:t>BACKUP</a:t>
            </a:r>
            <a:endParaRPr lang="en-US" sz="950" dirty="0">
              <a:latin typeface="Plus Jakarta Sans"/>
            </a:endParaRPr>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911535" cy="914400"/>
        </p:xfrm>
        <a:graphic>
          <a:graphicData uri="http://schemas.openxmlformats.org/drawingml/2006/table">
            <a:tbl>
              <a:tblPr/>
              <a:tblGrid>
                <a:gridCol w="3291840"/>
                <a:gridCol w="3749040"/>
                <a:gridCol w="3870655"/>
              </a:tblGrid>
              <a:tr h="411480">
                <a:tc>
                  <a:txBody>
                    <a:bodyPr/>
                    <a:lstStyle/>
                    <a:p>
                      <a:pPr indent="0" marL="0">
                        <a:buNone/>
                      </a:pPr>
                      <a:r>
                        <a:rPr lang="en-US" sz="1150" b="1" dirty="0">
                          <a:solidFill>
                            <a:srgbClr val="161616"/>
                          </a:solidFill>
                          <a:latin typeface="Plus Jakarta Sans" pitchFamily="34" charset="0"/>
                          <a:ea typeface="Segoe UI Semibold" pitchFamily="34" charset="-122"/>
                          <a:cs typeface="Segoe UI Semibold" pitchFamily="34" charset="-120"/>
                        </a:rPr>
                        <a:t>Study</a:t>
                      </a:r>
                      <a:endParaRPr lang="en-US" sz="1150" dirty="0">
                        <a:solidFill>
                          <a:srgbClr val="161616"/>
                        </a:solidFill>
                        <a:latin typeface="Plus Jakarta Sans" charset="0"/>
                        <a:ea typeface="Segoe UI Semibold" charset="0"/>
                        <a:cs typeface="Segoe UI Semibold" charset="0"/>
                      </a:endParaRPr>
                    </a:p>
                  </a:txBody>
                  <a:tcPr marL="146304" marR="146304" marT="91440" marB="91440"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05C489"/>
                    </a:solidFill>
                  </a:tcPr>
                </a:tc>
                <a:tc>
                  <a:txBody>
                    <a:bodyPr/>
                    <a:lstStyle/>
                    <a:p>
                      <a:pPr indent="0" marL="0">
                        <a:buNone/>
                      </a:pPr>
                      <a:r>
                        <a:rPr lang="en-US" sz="1150" b="1" dirty="0">
                          <a:solidFill>
                            <a:srgbClr val="161616"/>
                          </a:solidFill>
                          <a:latin typeface="Plus Jakarta Sans" pitchFamily="34" charset="0"/>
                          <a:ea typeface="Segoe UI Semibold" pitchFamily="34" charset="-122"/>
                          <a:cs typeface="Segoe UI Semibold" pitchFamily="34" charset="-120"/>
                        </a:rPr>
                        <a:t>Finding</a:t>
                      </a:r>
                      <a:endParaRPr lang="en-US" sz="1150" dirty="0">
                        <a:solidFill>
                          <a:srgbClr val="161616"/>
                        </a:solidFill>
                        <a:latin typeface="Plus Jakarta Sans" charset="0"/>
                        <a:ea typeface="Segoe UI Semibold" charset="0"/>
                        <a:cs typeface="Segoe UI Semibold" charset="0"/>
                      </a:endParaRPr>
                    </a:p>
                  </a:txBody>
                  <a:tcPr marL="146304" marR="146304" marT="91440" marB="91440"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05C489"/>
                    </a:solidFill>
                  </a:tcPr>
                </a:tc>
                <a:tc>
                  <a:txBody>
                    <a:bodyPr/>
                    <a:lstStyle/>
                    <a:p>
                      <a:pPr indent="0" marL="0">
                        <a:buNone/>
                      </a:pPr>
                      <a:r>
                        <a:rPr lang="en-US" sz="1150" b="1" dirty="0">
                          <a:solidFill>
                            <a:srgbClr val="161616"/>
                          </a:solidFill>
                          <a:latin typeface="Plus Jakarta Sans" pitchFamily="34" charset="0"/>
                          <a:ea typeface="Segoe UI Semibold" pitchFamily="34" charset="-122"/>
                          <a:cs typeface="Segoe UI Semibold" pitchFamily="34" charset="-120"/>
                        </a:rPr>
                        <a:t>Limits</a:t>
                      </a:r>
                      <a:endParaRPr lang="en-US" sz="1150" dirty="0">
                        <a:solidFill>
                          <a:srgbClr val="161616"/>
                        </a:solidFill>
                        <a:latin typeface="Plus Jakarta Sans" charset="0"/>
                        <a:ea typeface="Segoe UI Semibold" charset="0"/>
                        <a:cs typeface="Segoe UI Semibold" charset="0"/>
                      </a:endParaRPr>
                    </a:p>
                  </a:txBody>
                  <a:tcPr marL="146304" marR="146304" marT="91440" marB="91440"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05C489"/>
                    </a:solidFill>
                  </a:tcPr>
                </a:tc>
              </a:tr>
              <a:tr h="1051560">
                <a:tc>
                  <a:txBody>
                    <a:bodyPr/>
                    <a:lstStyle/>
                    <a:p>
                      <a:pPr indent="0" marL="0">
                        <a:buNone/>
                      </a:pPr>
                      <a:r>
                        <a:rPr lang="en-US" sz="1250" b="1" dirty="0">
                          <a:solidFill>
                            <a:srgbClr val="FFFFFF"/>
                          </a:solidFill>
                          <a:latin typeface="Plus Jakarta Sans" pitchFamily="34" charset="0"/>
                          <a:ea typeface="Segoe UI" pitchFamily="34" charset="-122"/>
                          <a:cs typeface="Segoe UI" pitchFamily="34" charset="-120"/>
                        </a:rPr>
                        <a:t>MASTER 2022 / 2026</a:t>
                      </a:r>
                      <a:endParaRPr lang="en-US" sz="1250" dirty="0">
                        <a:solidFill>
                          <a:srgbClr val="FFFFFF"/>
                        </a:solidFill>
                        <a:latin typeface="Plus Jakarta Sans" charset="0"/>
                        <a:ea typeface="Segoe UI" charset="0"/>
                        <a:cs typeface="Segoe UI" charset="0"/>
                      </a:endParaRPr>
                    </a:p>
                    <a:p>
                      <a:pPr indent="0" marL="0">
                        <a:buNone/>
                      </a:pPr>
                      <a:r>
                        <a:rPr lang="en-US" sz="1250" b="1" dirty="0">
                          <a:solidFill>
                            <a:srgbClr val="FFFFFF"/>
                          </a:solidFill>
                          <a:latin typeface="Plus Jakarta Sans" pitchFamily="34" charset="0"/>
                          <a:ea typeface="Segoe UI" pitchFamily="34" charset="-122"/>
                          <a:cs typeface="Segoe UI" pitchFamily="34" charset="-120"/>
                        </a:rPr>
                        <a:t>Same 380 randomised men</a:t>
                      </a:r>
                      <a:endParaRPr lang="en-US" sz="1250" dirty="0">
                        <a:solidFill>
                          <a:srgbClr val="FFFFFF"/>
                        </a:solidFill>
                        <a:latin typeface="Plus Jakarta Sans" charset="0"/>
                        <a:ea typeface="Segoe UI" charset="0"/>
                        <a:cs typeface="Segoe UI" charset="0"/>
                      </a:endParaRPr>
                    </a:p>
                  </a:txBody>
                  <a:tcPr marL="146304" marR="146304" marT="109728" marB="109728"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242424"/>
                    </a:solidFill>
                  </a:tcPr>
                </a:tc>
                <a:tc>
                  <a:txBody>
                    <a:bodyPr/>
                    <a:lstStyle/>
                    <a:p>
                      <a:pPr indent="0" marL="0">
                        <a:buNone/>
                      </a:pPr>
                      <a:r>
                        <a:rPr lang="en-US" sz="1250" dirty="0">
                          <a:solidFill>
                            <a:srgbClr val="FFFFFF"/>
                          </a:solidFill>
                          <a:latin typeface="Plus Jakarta Sans" pitchFamily="34" charset="0"/>
                          <a:ea typeface="Segoe UI" pitchFamily="34" charset="-122"/>
                          <a:cs typeface="Segoe UI" pitchFamily="34" charset="-120"/>
                        </a:rPr>
                        <a:t>24-month non-inferiority retained</a:t>
                      </a:r>
                      <a:endParaRPr lang="en-US" sz="1250" dirty="0">
                        <a:solidFill>
                          <a:srgbClr val="FFFFFF"/>
                        </a:solidFill>
                        <a:latin typeface="Plus Jakarta Sans" charset="0"/>
                        <a:ea typeface="Segoe UI" charset="0"/>
                        <a:cs typeface="Segoe UI" charset="0"/>
                      </a:endParaRPr>
                    </a:p>
                    <a:p>
                      <a:pPr indent="0" marL="0">
                        <a:buNone/>
                      </a:pPr>
                      <a:r>
                        <a:rPr lang="en-US" sz="1250" dirty="0">
                          <a:solidFill>
                            <a:srgbClr val="FFFFFF"/>
                          </a:solidFill>
                          <a:latin typeface="Plus Jakarta Sans" pitchFamily="34" charset="0"/>
                          <a:ea typeface="Segoe UI" pitchFamily="34" charset="-122"/>
                          <a:cs typeface="Segoe UI" pitchFamily="34" charset="-120"/>
                        </a:rPr>
                        <a:t>Further surgery: sling 11%, AUS 2%</a:t>
                      </a:r>
                      <a:endParaRPr lang="en-US" sz="1250" dirty="0">
                        <a:solidFill>
                          <a:srgbClr val="FFFFFF"/>
                        </a:solidFill>
                        <a:latin typeface="Plus Jakarta Sans" charset="0"/>
                        <a:ea typeface="Segoe UI" charset="0"/>
                        <a:cs typeface="Segoe UI" charset="0"/>
                      </a:endParaRPr>
                    </a:p>
                  </a:txBody>
                  <a:tcPr marL="146304" marR="146304" marT="109728" marB="109728"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242424"/>
                    </a:solidFill>
                  </a:tcPr>
                </a:tc>
                <a:tc>
                  <a:txBody>
                    <a:bodyPr/>
                    <a:lstStyle/>
                    <a:p>
                      <a:pPr indent="0" marL="0">
                        <a:buNone/>
                      </a:pPr>
                      <a:r>
                        <a:rPr lang="en-US" sz="1250" dirty="0">
                          <a:solidFill>
                            <a:srgbClr val="FFFFFF"/>
                          </a:solidFill>
                          <a:latin typeface="Plus Jakarta Sans" pitchFamily="34" charset="0"/>
                          <a:ea typeface="Segoe UI" pitchFamily="34" charset="-122"/>
                          <a:cs typeface="Segoe UI" pitchFamily="34" charset="-120"/>
                        </a:rPr>
                        <a:t>Selected trial population. Secondary outcomes favour AUS; not general equivalence</a:t>
                      </a:r>
                      <a:endParaRPr lang="en-US" sz="1250" dirty="0">
                        <a:solidFill>
                          <a:srgbClr val="FFFFFF"/>
                        </a:solidFill>
                        <a:latin typeface="Plus Jakarta Sans" charset="0"/>
                        <a:ea typeface="Segoe UI" charset="0"/>
                        <a:cs typeface="Segoe UI" charset="0"/>
                      </a:endParaRPr>
                    </a:p>
                  </a:txBody>
                  <a:tcPr marL="146304" marR="146304" marT="109728" marB="109728"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242424"/>
                    </a:solidFill>
                  </a:tcPr>
                </a:tc>
              </a:tr>
              <a:tr h="1051560">
                <a:tc>
                  <a:txBody>
                    <a:bodyPr/>
                    <a:lstStyle/>
                    <a:p>
                      <a:pPr indent="0" marL="0">
                        <a:buNone/>
                      </a:pPr>
                      <a:r>
                        <a:rPr lang="en-US" sz="1250" b="1" dirty="0">
                          <a:solidFill>
                            <a:srgbClr val="FFFFFF"/>
                          </a:solidFill>
                          <a:latin typeface="Plus Jakarta Sans" pitchFamily="34" charset="0"/>
                          <a:ea typeface="Segoe UI" pitchFamily="34" charset="-122"/>
                          <a:cs typeface="Segoe UI" pitchFamily="34" charset="-120"/>
                        </a:rPr>
                        <a:t>Yeung 2013</a:t>
                      </a:r>
                      <a:endParaRPr lang="en-US" sz="1250" dirty="0">
                        <a:solidFill>
                          <a:srgbClr val="FFFFFF"/>
                        </a:solidFill>
                        <a:latin typeface="Plus Jakarta Sans" charset="0"/>
                        <a:ea typeface="Segoe UI" charset="0"/>
                        <a:cs typeface="Segoe UI" charset="0"/>
                      </a:endParaRPr>
                    </a:p>
                    <a:p>
                      <a:pPr indent="0" marL="0">
                        <a:buNone/>
                      </a:pPr>
                      <a:r>
                        <a:rPr lang="en-US" sz="1250" b="1" dirty="0">
                          <a:solidFill>
                            <a:srgbClr val="FFFFFF"/>
                          </a:solidFill>
                          <a:latin typeface="Plus Jakarta Sans" pitchFamily="34" charset="0"/>
                          <a:ea typeface="Segoe UI" pitchFamily="34" charset="-122"/>
                          <a:cs typeface="Segoe UI" pitchFamily="34" charset="-120"/>
                        </a:rPr>
                        <a:t>100 initial GU prosthetic procedures</a:t>
                      </a:r>
                      <a:endParaRPr lang="en-US" sz="1250" dirty="0">
                        <a:solidFill>
                          <a:srgbClr val="FFFFFF"/>
                        </a:solidFill>
                        <a:latin typeface="Plus Jakarta Sans" charset="0"/>
                        <a:ea typeface="Segoe UI" charset="0"/>
                        <a:cs typeface="Segoe UI" charset="0"/>
                      </a:endParaRPr>
                    </a:p>
                  </a:txBody>
                  <a:tcPr marL="146304" marR="146304" marT="109728" marB="109728"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2D2D2D"/>
                    </a:solidFill>
                  </a:tcPr>
                </a:tc>
                <a:tc>
                  <a:txBody>
                    <a:bodyPr/>
                    <a:lstStyle/>
                    <a:p>
                      <a:pPr indent="0" marL="0">
                        <a:buNone/>
                      </a:pPr>
                      <a:r>
                        <a:rPr lang="en-US" sz="1250" dirty="0">
                          <a:solidFill>
                            <a:srgbClr val="FFFFFF"/>
                          </a:solidFill>
                          <a:latin typeface="Plus Jakarta Sans" pitchFamily="34" charset="0"/>
                          <a:ea typeface="Segoe UI" pitchFamily="34" charset="-122"/>
                          <a:cs typeface="Segoe UI" pitchFamily="34" charset="-120"/>
                        </a:rPr>
                        <a:t>Post-preparation skin culture positivity</a:t>
                      </a:r>
                      <a:endParaRPr lang="en-US" sz="1250" dirty="0">
                        <a:solidFill>
                          <a:srgbClr val="FFFFFF"/>
                        </a:solidFill>
                        <a:latin typeface="Plus Jakarta Sans" charset="0"/>
                        <a:ea typeface="Segoe UI" charset="0"/>
                        <a:cs typeface="Segoe UI" charset="0"/>
                      </a:endParaRPr>
                    </a:p>
                    <a:p>
                      <a:pPr indent="0" marL="0">
                        <a:buNone/>
                      </a:pPr>
                      <a:r>
                        <a:rPr lang="en-US" sz="1250" dirty="0">
                          <a:solidFill>
                            <a:srgbClr val="FFFFFF"/>
                          </a:solidFill>
                          <a:latin typeface="Plus Jakarta Sans" pitchFamily="34" charset="0"/>
                          <a:ea typeface="Segoe UI" pitchFamily="34" charset="-122"/>
                          <a:cs typeface="Segoe UI" pitchFamily="34" charset="-120"/>
                        </a:rPr>
                        <a:t>8% versus 32%</a:t>
                      </a:r>
                      <a:endParaRPr lang="en-US" sz="1250" dirty="0">
                        <a:solidFill>
                          <a:srgbClr val="FFFFFF"/>
                        </a:solidFill>
                        <a:latin typeface="Plus Jakarta Sans" charset="0"/>
                        <a:ea typeface="Segoe UI" charset="0"/>
                        <a:cs typeface="Segoe UI" charset="0"/>
                      </a:endParaRPr>
                    </a:p>
                  </a:txBody>
                  <a:tcPr marL="146304" marR="146304" marT="109728" marB="109728"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2D2D2D"/>
                    </a:solidFill>
                  </a:tcPr>
                </a:tc>
                <a:tc>
                  <a:txBody>
                    <a:bodyPr/>
                    <a:lstStyle/>
                    <a:p>
                      <a:pPr indent="0" marL="0">
                        <a:buNone/>
                      </a:pPr>
                      <a:r>
                        <a:rPr lang="en-US" sz="1250" dirty="0">
                          <a:solidFill>
                            <a:srgbClr val="FFFFFF"/>
                          </a:solidFill>
                          <a:latin typeface="Plus Jakarta Sans" pitchFamily="34" charset="0"/>
                          <a:ea typeface="Segoe UI" pitchFamily="34" charset="-122"/>
                          <a:cs typeface="Segoe UI" pitchFamily="34" charset="-120"/>
                        </a:rPr>
                        <a:t>Surrogate outcome. Mixed devices. No AUS infection or duration conclusion</a:t>
                      </a:r>
                      <a:endParaRPr lang="en-US" sz="1250" dirty="0">
                        <a:solidFill>
                          <a:srgbClr val="FFFFFF"/>
                        </a:solidFill>
                        <a:latin typeface="Plus Jakarta Sans" charset="0"/>
                        <a:ea typeface="Segoe UI" charset="0"/>
                        <a:cs typeface="Segoe UI" charset="0"/>
                      </a:endParaRPr>
                    </a:p>
                  </a:txBody>
                  <a:tcPr marL="146304" marR="146304" marT="109728" marB="109728"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2D2D2D"/>
                    </a:solidFill>
                  </a:tcPr>
                </a:tc>
              </a:tr>
              <a:tr h="1051560">
                <a:tc>
                  <a:txBody>
                    <a:bodyPr/>
                    <a:lstStyle/>
                    <a:p>
                      <a:pPr indent="0" marL="0">
                        <a:buNone/>
                      </a:pPr>
                      <a:r>
                        <a:rPr lang="en-US" sz="1250" b="1" dirty="0">
                          <a:solidFill>
                            <a:srgbClr val="FFFFFF"/>
                          </a:solidFill>
                          <a:latin typeface="Plus Jakarta Sans" pitchFamily="34" charset="0"/>
                          <a:ea typeface="Segoe UI" pitchFamily="34" charset="-122"/>
                          <a:cs typeface="Segoe UI" pitchFamily="34" charset="-120"/>
                        </a:rPr>
                        <a:t>Gentamicin withdrawal 2026</a:t>
                      </a:r>
                      <a:endParaRPr lang="en-US" sz="1250" dirty="0">
                        <a:solidFill>
                          <a:srgbClr val="FFFFFF"/>
                        </a:solidFill>
                        <a:latin typeface="Plus Jakarta Sans" charset="0"/>
                        <a:ea typeface="Segoe UI" charset="0"/>
                        <a:cs typeface="Segoe UI" charset="0"/>
                      </a:endParaRPr>
                    </a:p>
                    <a:p>
                      <a:pPr indent="0" marL="0">
                        <a:buNone/>
                      </a:pPr>
                      <a:r>
                        <a:rPr lang="en-US" sz="1250" b="1" dirty="0">
                          <a:solidFill>
                            <a:srgbClr val="FFFFFF"/>
                          </a:solidFill>
                          <a:latin typeface="Plus Jakarta Sans" pitchFamily="34" charset="0"/>
                          <a:ea typeface="Segoe UI" pitchFamily="34" charset="-122"/>
                          <a:cs typeface="Segoe UI" pitchFamily="34" charset="-120"/>
                        </a:rPr>
                        <a:t>173 uncoated AMS 800 procedures</a:t>
                      </a:r>
                      <a:endParaRPr lang="en-US" sz="1250" dirty="0">
                        <a:solidFill>
                          <a:srgbClr val="FFFFFF"/>
                        </a:solidFill>
                        <a:latin typeface="Plus Jakarta Sans" charset="0"/>
                        <a:ea typeface="Segoe UI" charset="0"/>
                        <a:cs typeface="Segoe UI" charset="0"/>
                      </a:endParaRPr>
                    </a:p>
                  </a:txBody>
                  <a:tcPr marL="146304" marR="146304" marT="109728" marB="109728"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242424"/>
                    </a:solidFill>
                  </a:tcPr>
                </a:tc>
                <a:tc>
                  <a:txBody>
                    <a:bodyPr/>
                    <a:lstStyle/>
                    <a:p>
                      <a:pPr indent="0" marL="0">
                        <a:buNone/>
                      </a:pPr>
                      <a:r>
                        <a:rPr lang="en-US" sz="1250" dirty="0">
                          <a:solidFill>
                            <a:srgbClr val="FFFFFF"/>
                          </a:solidFill>
                          <a:latin typeface="Plus Jakarta Sans" pitchFamily="34" charset="0"/>
                          <a:ea typeface="Segoe UI" pitchFamily="34" charset="-122"/>
                          <a:cs typeface="Segoe UI" pitchFamily="34" charset="-120"/>
                        </a:rPr>
                        <a:t>90-day SSI: 1/59 versus 2/114</a:t>
                      </a:r>
                      <a:endParaRPr lang="en-US" sz="1250" dirty="0">
                        <a:solidFill>
                          <a:srgbClr val="FFFFFF"/>
                        </a:solidFill>
                        <a:latin typeface="Plus Jakarta Sans" charset="0"/>
                        <a:ea typeface="Segoe UI" charset="0"/>
                        <a:cs typeface="Segoe UI" charset="0"/>
                      </a:endParaRPr>
                    </a:p>
                    <a:p>
                      <a:pPr indent="0" marL="0">
                        <a:buNone/>
                      </a:pPr>
                      <a:r>
                        <a:rPr lang="en-US" sz="1250" dirty="0">
                          <a:solidFill>
                            <a:srgbClr val="FFFFFF"/>
                          </a:solidFill>
                          <a:latin typeface="Plus Jakarta Sans" pitchFamily="34" charset="0"/>
                          <a:ea typeface="Segoe UI" pitchFamily="34" charset="-122"/>
                          <a:cs typeface="Segoe UI" pitchFamily="34" charset="-120"/>
                        </a:rPr>
                        <a:t>No significant difference detected</a:t>
                      </a:r>
                      <a:endParaRPr lang="en-US" sz="1250" dirty="0">
                        <a:solidFill>
                          <a:srgbClr val="FFFFFF"/>
                        </a:solidFill>
                        <a:latin typeface="Plus Jakarta Sans" charset="0"/>
                        <a:ea typeface="Segoe UI" charset="0"/>
                        <a:cs typeface="Segoe UI" charset="0"/>
                      </a:endParaRPr>
                    </a:p>
                  </a:txBody>
                  <a:tcPr marL="146304" marR="146304" marT="109728" marB="109728"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242424"/>
                    </a:solidFill>
                  </a:tcPr>
                </a:tc>
                <a:tc>
                  <a:txBody>
                    <a:bodyPr/>
                    <a:lstStyle/>
                    <a:p>
                      <a:pPr indent="0" marL="0">
                        <a:buNone/>
                      </a:pPr>
                      <a:r>
                        <a:rPr lang="en-US" sz="1250" dirty="0">
                          <a:solidFill>
                            <a:srgbClr val="FFFFFF"/>
                          </a:solidFill>
                          <a:latin typeface="Plus Jakarta Sans" pitchFamily="34" charset="0"/>
                          <a:ea typeface="Segoe UI" pitchFamily="34" charset="-122"/>
                          <a:cs typeface="Segoe UI" pitchFamily="34" charset="-120"/>
                        </a:rPr>
                        <a:t>Sparse events, era confounding, broad systemic prophylaxis; not equivalence</a:t>
                      </a:r>
                      <a:endParaRPr lang="en-US" sz="1250" dirty="0">
                        <a:solidFill>
                          <a:srgbClr val="FFFFFF"/>
                        </a:solidFill>
                        <a:latin typeface="Plus Jakarta Sans" charset="0"/>
                        <a:ea typeface="Segoe UI" charset="0"/>
                        <a:cs typeface="Segoe UI" charset="0"/>
                      </a:endParaRPr>
                    </a:p>
                  </a:txBody>
                  <a:tcPr marL="146304" marR="146304" marT="109728" marB="109728" anchor="ctr">
                    <a:lnL w="9525" cap="flat" cmpd="sng" algn="ctr">
                      <a:solidFill>
                        <a:srgbClr val="3D3D3D"/>
                      </a:solidFill>
                      <a:prstDash val="solid"/>
                      <a:round/>
                      <a:headEnd type="none" w="med" len="med"/>
                      <a:tailEnd type="none" w="med" len="med"/>
                    </a:lnL>
                    <a:lnR w="9525" cap="flat" cmpd="sng" algn="ctr">
                      <a:solidFill>
                        <a:srgbClr val="3D3D3D"/>
                      </a:solidFill>
                      <a:prstDash val="solid"/>
                      <a:round/>
                      <a:headEnd type="none" w="med" len="med"/>
                      <a:tailEnd type="none" w="med" len="med"/>
                    </a:lnR>
                    <a:lnT w="9525" cap="flat" cmpd="sng" algn="ctr">
                      <a:solidFill>
                        <a:srgbClr val="3D3D3D"/>
                      </a:solidFill>
                      <a:prstDash val="solid"/>
                      <a:round/>
                      <a:headEnd type="none" w="med" len="med"/>
                      <a:tailEnd type="none" w="med" len="med"/>
                    </a:lnT>
                    <a:lnB w="9525" cap="flat" cmpd="sng" algn="ctr">
                      <a:solidFill>
                        <a:srgbClr val="3D3D3D"/>
                      </a:solidFill>
                      <a:prstDash val="solid"/>
                      <a:round/>
                      <a:headEnd type="none" w="med" len="med"/>
                      <a:tailEnd type="none" w="med" len="med"/>
                    </a:lnB>
                    <a:solidFill>
                      <a:srgbClr val="242424"/>
                    </a:solidFill>
                  </a:tcPr>
                </a:tc>
              </a:tr>
            </a:tbl>
          </a:graphicData>
        </a:graphic>
      </p:graphicFrame>
      <p:sp>
        <p:nvSpPr>
          <p:cNvPr id="9001" name="replacement-title">
            <a:extLst>
              <a:ext uri="{FF2B5EF4-FFF2-40B4-BE49-F238E27FC236}">
                <a16:creationId xmlns:a16="http://schemas.microsoft.com/office/drawing/2014/main" id="{F068B00F-FF30-4485-88BC-72FD48C3AEC0}"/>
              </a:ext>
            </a:extLst>
          </p:cNvPr>
          <p:cNvSpPr>
            <a:spLocks noGrp="1"/>
          </p:cNvSpPr>
          <p:nvPr/>
        </p:nvSpPr>
        <p:spPr>
          <a:xfrm>
            <a:off x="638175" y="752475"/>
            <a:ext cx="10915650" cy="800100"/>
          </a:xfrm>
          <a:prstGeom prst="rect">
            <a:avLst/>
          </a:prstGeom>
          <a:noFill/>
          <a:ln w="0">
            <a:noFill/>
          </a:ln>
        </p:spPr>
        <p:txBody>
          <a:bodyPr anchor="ctr"/>
          <a:lstStyle>
            <a:defPPr>
              <a:defRPr sz="2625" b="1">
                <a:solidFill>
                  <a:srgbClr val="FFFFFF"/>
                </a:solidFill>
                <a:latin typeface="Plus Jakarta Sans"/>
              </a:defRPr>
            </a:defPPr>
            <a:lvl1pPr>
              <a:defRPr sz="2625" b="1">
                <a:solidFill>
                  <a:srgbClr val="FFFFFF"/>
                </a:solidFill>
                <a:latin typeface="Plus Jakarta Sans"/>
              </a:defRPr>
            </a:lvl1pPr>
            <a:lvl2pPr>
              <a:defRPr sz="2625" b="1">
                <a:solidFill>
                  <a:srgbClr val="FFFFFF"/>
                </a:solidFill>
                <a:latin typeface="Plus Jakarta Sans"/>
              </a:defRPr>
            </a:lvl2pPr>
            <a:lvl3pPr>
              <a:defRPr sz="2625" b="1">
                <a:solidFill>
                  <a:srgbClr val="FFFFFF"/>
                </a:solidFill>
                <a:latin typeface="Plus Jakarta Sans"/>
              </a:defRPr>
            </a:lvl3pPr>
            <a:lvl4pPr>
              <a:defRPr sz="2625" b="1">
                <a:solidFill>
                  <a:srgbClr val="FFFFFF"/>
                </a:solidFill>
                <a:latin typeface="Plus Jakarta Sans"/>
              </a:defRPr>
            </a:lvl4pPr>
            <a:lvl5pPr>
              <a:defRPr sz="2625" b="1">
                <a:solidFill>
                  <a:srgbClr val="FFFFFF"/>
                </a:solidFill>
                <a:latin typeface="Plus Jakarta Sans"/>
              </a:defRPr>
            </a:lvl5pPr>
            <a:lvl6pPr>
              <a:defRPr sz="2625" b="1">
                <a:solidFill>
                  <a:srgbClr val="FFFFFF"/>
                </a:solidFill>
                <a:latin typeface="Plus Jakarta Sans"/>
              </a:defRPr>
            </a:lvl6pPr>
            <a:lvl7pPr>
              <a:defRPr sz="2625" b="1">
                <a:solidFill>
                  <a:srgbClr val="FFFFFF"/>
                </a:solidFill>
                <a:latin typeface="Plus Jakarta Sans"/>
              </a:defRPr>
            </a:lvl7pPr>
            <a:lvl8pPr>
              <a:defRPr sz="2625" b="1">
                <a:solidFill>
                  <a:srgbClr val="FFFFFF"/>
                </a:solidFill>
                <a:latin typeface="Plus Jakarta Sans"/>
              </a:defRPr>
            </a:lvl8pPr>
            <a:lvl9pPr>
              <a:defRPr sz="2625" b="1">
                <a:solidFill>
                  <a:srgbClr val="FFFFFF"/>
                </a:solidFill>
                <a:latin typeface="Plus Jakarta Sans"/>
              </a:defRPr>
            </a:lvl9pPr>
          </a:lstStyle>
          <a:p>
            <a:pPr>
              <a:defRPr sz="2625" b="1">
                <a:solidFill>
                  <a:srgbClr val="FFFFFF"/>
                </a:solidFill>
                <a:latin typeface="Plus Jakarta Sans"/>
              </a:defRPr>
            </a:pPr>
            <a:r>
              <a:rPr sz="2625" b="1">
                <a:solidFill>
                  <a:srgbClr val="FFFFFF"/>
                </a:solidFill>
                <a:latin typeface="Plus Jakarta Sans"/>
              </a:rPr>
              <a:t>Comparative and preparation evidence</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161616"/>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05C489"/>
                </a:solidFill>
                <a:latin typeface="Plus Jakarta Sans" pitchFamily="34" charset="0"/>
                <a:ea typeface="Segoe UI" pitchFamily="34" charset="-122"/>
                <a:cs typeface="Segoe UI" pitchFamily="34" charset="-120"/>
              </a:rPr>
              <a:t>BACKUP</a:t>
            </a:r>
            <a:endParaRPr lang="en-US" sz="950" dirty="0">
              <a:latin typeface="Plus Jakarta Sans"/>
            </a:endParaRPr>
          </a:p>
        </p:txBody>
      </p:sp>
      <p:sp>
        <p:nvSpPr>
          <p:cNvPr id="4" name="Shape 2"/>
          <p:cNvSpPr/>
          <p:nvPr/>
        </p:nvSpPr>
        <p:spPr>
          <a:xfrm>
            <a:off x="640080" y="1783080"/>
            <a:ext cx="5341468" cy="914400"/>
          </a:xfrm>
          <a:prstGeom prst="roundRect">
            <a:avLst>
              <a:gd name="adj" fmla="val 14000"/>
            </a:avLst>
          </a:prstGeom>
          <a:solidFill>
            <a:srgbClr val="2D2D2D"/>
          </a:solidFill>
          <a:ln/>
        </p:spPr>
      </p:sp>
      <p:sp>
        <p:nvSpPr>
          <p:cNvPr id="5" name="Shape 3"/>
          <p:cNvSpPr/>
          <p:nvPr/>
        </p:nvSpPr>
        <p:spPr>
          <a:xfrm>
            <a:off x="914400" y="2048256"/>
            <a:ext cx="384048" cy="384048"/>
          </a:xfrm>
          <a:prstGeom prst="ellipse">
            <a:avLst/>
          </a:prstGeom>
          <a:solidFill>
            <a:srgbClr val="05C489"/>
          </a:solidFill>
          <a:ln/>
        </p:spPr>
      </p:sp>
      <p:sp>
        <p:nvSpPr>
          <p:cNvPr id="6" name="Text 4"/>
          <p:cNvSpPr txBox="1"/>
          <p:nvPr/>
        </p:nvSpPr>
        <p:spPr>
          <a:xfrm>
            <a:off x="914400" y="204825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Plus Jakarta Sans" pitchFamily="34" charset="0"/>
                <a:ea typeface="Segoe UI Semibold" pitchFamily="34" charset="-122"/>
                <a:cs typeface="Segoe UI Semibold" pitchFamily="34" charset="-120"/>
              </a:rPr>
              <a:t>1</a:t>
            </a:r>
            <a:endParaRPr lang="en-US" sz="1200" dirty="0">
              <a:latin typeface="Plus Jakarta Sans"/>
            </a:endParaRPr>
          </a:p>
        </p:txBody>
      </p:sp>
      <p:sp>
        <p:nvSpPr>
          <p:cNvPr id="7" name="Text 5"/>
          <p:cNvSpPr txBox="1"/>
          <p:nvPr/>
        </p:nvSpPr>
        <p:spPr>
          <a:xfrm>
            <a:off x="1463040" y="1920240"/>
            <a:ext cx="4244188" cy="640080"/>
          </a:xfrm>
          <a:prstGeom prst="rect">
            <a:avLst/>
          </a:prstGeom>
          <a:noFill/>
          <a:ln/>
        </p:spPr>
        <p:txBody>
          <a:bodyPr wrap="square" lIns="0" tIns="0" rIns="0" bIns="0" rtlCol="0" anchor="ctr"/>
          <a:lstStyle/>
          <a:p>
            <a:pPr algn="l" indent="0" marL="0">
              <a:buNone/>
            </a:pPr>
            <a:r>
              <a:rPr lang="en-US" sz="1400" dirty="0">
                <a:solidFill>
                  <a:srgbClr val="FFFFFF"/>
                </a:solidFill>
                <a:latin typeface="Plus Jakarta Sans" pitchFamily="34" charset="0"/>
                <a:ea typeface="Segoe UI" pitchFamily="34" charset="-122"/>
                <a:cs typeface="Segoe UI" pitchFamily="34" charset="-120"/>
              </a:rPr>
              <a:t>Routine versus selective UDS and meaningful outcomes</a:t>
            </a:r>
            <a:endParaRPr lang="en-US" sz="1400" dirty="0">
              <a:latin typeface="Plus Jakarta Sans"/>
            </a:endParaRPr>
          </a:p>
        </p:txBody>
      </p:sp>
      <p:sp>
        <p:nvSpPr>
          <p:cNvPr id="8" name="Shape 6"/>
          <p:cNvSpPr/>
          <p:nvPr/>
        </p:nvSpPr>
        <p:spPr>
          <a:xfrm>
            <a:off x="6210148" y="1783080"/>
            <a:ext cx="5341468" cy="914400"/>
          </a:xfrm>
          <a:prstGeom prst="roundRect">
            <a:avLst>
              <a:gd name="adj" fmla="val 14000"/>
            </a:avLst>
          </a:prstGeom>
          <a:solidFill>
            <a:srgbClr val="2D2D2D"/>
          </a:solidFill>
          <a:ln/>
        </p:spPr>
      </p:sp>
      <p:sp>
        <p:nvSpPr>
          <p:cNvPr id="9" name="Shape 7"/>
          <p:cNvSpPr/>
          <p:nvPr/>
        </p:nvSpPr>
        <p:spPr>
          <a:xfrm>
            <a:off x="6484468" y="2048256"/>
            <a:ext cx="384048" cy="384048"/>
          </a:xfrm>
          <a:prstGeom prst="ellipse">
            <a:avLst/>
          </a:prstGeom>
          <a:solidFill>
            <a:srgbClr val="05C489"/>
          </a:solidFill>
          <a:ln/>
        </p:spPr>
      </p:sp>
      <p:sp>
        <p:nvSpPr>
          <p:cNvPr id="10" name="Text 8"/>
          <p:cNvSpPr txBox="1"/>
          <p:nvPr/>
        </p:nvSpPr>
        <p:spPr>
          <a:xfrm>
            <a:off x="6484468" y="204825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Plus Jakarta Sans" pitchFamily="34" charset="0"/>
                <a:ea typeface="Segoe UI Semibold" pitchFamily="34" charset="-122"/>
                <a:cs typeface="Segoe UI Semibold" pitchFamily="34" charset="-120"/>
              </a:rPr>
              <a:t>2</a:t>
            </a:r>
            <a:endParaRPr lang="en-US" sz="1200" dirty="0">
              <a:latin typeface="Plus Jakarta Sans"/>
            </a:endParaRPr>
          </a:p>
        </p:txBody>
      </p:sp>
      <p:sp>
        <p:nvSpPr>
          <p:cNvPr id="11" name="Text 9"/>
          <p:cNvSpPr txBox="1"/>
          <p:nvPr/>
        </p:nvSpPr>
        <p:spPr>
          <a:xfrm>
            <a:off x="7033108" y="1920240"/>
            <a:ext cx="4244188" cy="640080"/>
          </a:xfrm>
          <a:prstGeom prst="rect">
            <a:avLst/>
          </a:prstGeom>
          <a:noFill/>
          <a:ln/>
        </p:spPr>
        <p:txBody>
          <a:bodyPr wrap="square" lIns="0" tIns="0" rIns="0" bIns="0" rtlCol="0" anchor="ctr"/>
          <a:lstStyle/>
          <a:p>
            <a:pPr algn="l" indent="0" marL="0">
              <a:buNone/>
            </a:pPr>
            <a:r>
              <a:rPr lang="en-US" sz="1400" dirty="0">
                <a:solidFill>
                  <a:srgbClr val="FFFFFF"/>
                </a:solidFill>
                <a:latin typeface="Plus Jakarta Sans" pitchFamily="34" charset="0"/>
                <a:ea typeface="Segoe UI" pitchFamily="34" charset="-122"/>
                <a:cs typeface="Segoe UI" pitchFamily="34" charset="-120"/>
              </a:rPr>
              <a:t>Functional eligibility in DU or chronic retention</a:t>
            </a:r>
            <a:endParaRPr lang="en-US" sz="1400" dirty="0">
              <a:latin typeface="Plus Jakarta Sans"/>
            </a:endParaRPr>
          </a:p>
        </p:txBody>
      </p:sp>
      <p:sp>
        <p:nvSpPr>
          <p:cNvPr id="12" name="Shape 10"/>
          <p:cNvSpPr/>
          <p:nvPr/>
        </p:nvSpPr>
        <p:spPr>
          <a:xfrm>
            <a:off x="640080" y="2926080"/>
            <a:ext cx="5341468" cy="914400"/>
          </a:xfrm>
          <a:prstGeom prst="roundRect">
            <a:avLst>
              <a:gd name="adj" fmla="val 14000"/>
            </a:avLst>
          </a:prstGeom>
          <a:solidFill>
            <a:srgbClr val="2D2D2D"/>
          </a:solidFill>
          <a:ln/>
        </p:spPr>
      </p:sp>
      <p:sp>
        <p:nvSpPr>
          <p:cNvPr id="13" name="Shape 11"/>
          <p:cNvSpPr/>
          <p:nvPr/>
        </p:nvSpPr>
        <p:spPr>
          <a:xfrm>
            <a:off x="914400" y="3191256"/>
            <a:ext cx="384048" cy="384048"/>
          </a:xfrm>
          <a:prstGeom prst="ellipse">
            <a:avLst/>
          </a:prstGeom>
          <a:solidFill>
            <a:srgbClr val="05C489"/>
          </a:solidFill>
          <a:ln/>
        </p:spPr>
      </p:sp>
      <p:sp>
        <p:nvSpPr>
          <p:cNvPr id="14" name="Text 12"/>
          <p:cNvSpPr txBox="1"/>
          <p:nvPr/>
        </p:nvSpPr>
        <p:spPr>
          <a:xfrm>
            <a:off x="914400" y="319125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Plus Jakarta Sans" pitchFamily="34" charset="0"/>
                <a:ea typeface="Segoe UI Semibold" pitchFamily="34" charset="-122"/>
                <a:cs typeface="Segoe UI Semibold" pitchFamily="34" charset="-120"/>
              </a:rPr>
              <a:t>3</a:t>
            </a:r>
            <a:endParaRPr lang="en-US" sz="1200" dirty="0">
              <a:latin typeface="Plus Jakarta Sans"/>
            </a:endParaRPr>
          </a:p>
        </p:txBody>
      </p:sp>
      <p:sp>
        <p:nvSpPr>
          <p:cNvPr id="15" name="Text 13"/>
          <p:cNvSpPr txBox="1"/>
          <p:nvPr/>
        </p:nvSpPr>
        <p:spPr>
          <a:xfrm>
            <a:off x="1463040" y="3063240"/>
            <a:ext cx="4244188" cy="640080"/>
          </a:xfrm>
          <a:prstGeom prst="rect">
            <a:avLst/>
          </a:prstGeom>
          <a:noFill/>
          <a:ln/>
        </p:spPr>
        <p:txBody>
          <a:bodyPr wrap="square" lIns="0" tIns="0" rIns="0" bIns="0" rtlCol="0" anchor="ctr"/>
          <a:lstStyle/>
          <a:p>
            <a:pPr algn="l" indent="0" marL="0">
              <a:buNone/>
            </a:pPr>
            <a:r>
              <a:rPr lang="en-US" sz="1400" dirty="0">
                <a:solidFill>
                  <a:srgbClr val="FFFFFF"/>
                </a:solidFill>
                <a:latin typeface="Plus Jakarta Sans" pitchFamily="34" charset="0"/>
                <a:ea typeface="Segoe UI" pitchFamily="34" charset="-122"/>
                <a:cs typeface="Segoe UI" pitchFamily="34" charset="-120"/>
              </a:rPr>
              <a:t>Staging intervals after different reconstructions</a:t>
            </a:r>
            <a:endParaRPr lang="en-US" sz="1400" dirty="0">
              <a:latin typeface="Plus Jakarta Sans"/>
            </a:endParaRPr>
          </a:p>
        </p:txBody>
      </p:sp>
      <p:sp>
        <p:nvSpPr>
          <p:cNvPr id="16" name="Shape 14"/>
          <p:cNvSpPr/>
          <p:nvPr/>
        </p:nvSpPr>
        <p:spPr>
          <a:xfrm>
            <a:off x="6210148" y="2926080"/>
            <a:ext cx="5341468" cy="914400"/>
          </a:xfrm>
          <a:prstGeom prst="roundRect">
            <a:avLst>
              <a:gd name="adj" fmla="val 14000"/>
            </a:avLst>
          </a:prstGeom>
          <a:solidFill>
            <a:srgbClr val="2D2D2D"/>
          </a:solidFill>
          <a:ln/>
        </p:spPr>
      </p:sp>
      <p:sp>
        <p:nvSpPr>
          <p:cNvPr id="17" name="Shape 15"/>
          <p:cNvSpPr/>
          <p:nvPr/>
        </p:nvSpPr>
        <p:spPr>
          <a:xfrm>
            <a:off x="6484468" y="3191256"/>
            <a:ext cx="384048" cy="384048"/>
          </a:xfrm>
          <a:prstGeom prst="ellipse">
            <a:avLst/>
          </a:prstGeom>
          <a:solidFill>
            <a:srgbClr val="05C489"/>
          </a:solidFill>
          <a:ln/>
        </p:spPr>
      </p:sp>
      <p:sp>
        <p:nvSpPr>
          <p:cNvPr id="18" name="Text 16"/>
          <p:cNvSpPr txBox="1"/>
          <p:nvPr/>
        </p:nvSpPr>
        <p:spPr>
          <a:xfrm>
            <a:off x="6484468" y="319125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Plus Jakarta Sans" pitchFamily="34" charset="0"/>
                <a:ea typeface="Segoe UI Semibold" pitchFamily="34" charset="-122"/>
                <a:cs typeface="Segoe UI Semibold" pitchFamily="34" charset="-120"/>
              </a:rPr>
              <a:t>4</a:t>
            </a:r>
            <a:endParaRPr lang="en-US" sz="1200" dirty="0">
              <a:latin typeface="Plus Jakarta Sans"/>
            </a:endParaRPr>
          </a:p>
        </p:txBody>
      </p:sp>
      <p:sp>
        <p:nvSpPr>
          <p:cNvPr id="19" name="Text 17"/>
          <p:cNvSpPr txBox="1"/>
          <p:nvPr/>
        </p:nvSpPr>
        <p:spPr>
          <a:xfrm>
            <a:off x="7033108" y="3063240"/>
            <a:ext cx="4244188" cy="640080"/>
          </a:xfrm>
          <a:prstGeom prst="rect">
            <a:avLst/>
          </a:prstGeom>
          <a:noFill/>
          <a:ln/>
        </p:spPr>
        <p:txBody>
          <a:bodyPr wrap="square" lIns="0" tIns="0" rIns="0" bIns="0" rtlCol="0" anchor="ctr"/>
          <a:lstStyle/>
          <a:p>
            <a:pPr algn="l" indent="0" marL="0">
              <a:buNone/>
            </a:pPr>
            <a:r>
              <a:rPr lang="en-US" sz="1400" dirty="0">
                <a:solidFill>
                  <a:srgbClr val="FFFFFF"/>
                </a:solidFill>
                <a:latin typeface="Plus Jakarta Sans" pitchFamily="34" charset="0"/>
                <a:ea typeface="Segoe UI" pitchFamily="34" charset="-122"/>
                <a:cs typeface="Segoe UI" pitchFamily="34" charset="-120"/>
              </a:rPr>
              <a:t>Comparative protection from salvage strategies</a:t>
            </a:r>
            <a:endParaRPr lang="en-US" sz="1400" dirty="0">
              <a:latin typeface="Plus Jakarta Sans"/>
            </a:endParaRPr>
          </a:p>
        </p:txBody>
      </p:sp>
      <p:sp>
        <p:nvSpPr>
          <p:cNvPr id="20" name="Shape 18"/>
          <p:cNvSpPr/>
          <p:nvPr/>
        </p:nvSpPr>
        <p:spPr>
          <a:xfrm>
            <a:off x="640080" y="4069080"/>
            <a:ext cx="5341468" cy="914400"/>
          </a:xfrm>
          <a:prstGeom prst="roundRect">
            <a:avLst>
              <a:gd name="adj" fmla="val 14000"/>
            </a:avLst>
          </a:prstGeom>
          <a:solidFill>
            <a:srgbClr val="2D2D2D"/>
          </a:solidFill>
          <a:ln/>
        </p:spPr>
      </p:sp>
      <p:sp>
        <p:nvSpPr>
          <p:cNvPr id="21" name="Shape 19"/>
          <p:cNvSpPr/>
          <p:nvPr/>
        </p:nvSpPr>
        <p:spPr>
          <a:xfrm>
            <a:off x="914400" y="4334256"/>
            <a:ext cx="384048" cy="384048"/>
          </a:xfrm>
          <a:prstGeom prst="ellipse">
            <a:avLst/>
          </a:prstGeom>
          <a:solidFill>
            <a:srgbClr val="05C489"/>
          </a:solidFill>
          <a:ln/>
        </p:spPr>
      </p:sp>
      <p:sp>
        <p:nvSpPr>
          <p:cNvPr id="22" name="Text 20"/>
          <p:cNvSpPr txBox="1"/>
          <p:nvPr/>
        </p:nvSpPr>
        <p:spPr>
          <a:xfrm>
            <a:off x="914400" y="433425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Plus Jakarta Sans" pitchFamily="34" charset="0"/>
                <a:ea typeface="Segoe UI Semibold" pitchFamily="34" charset="-122"/>
                <a:cs typeface="Segoe UI Semibold" pitchFamily="34" charset="-120"/>
              </a:rPr>
              <a:t>5</a:t>
            </a:r>
            <a:endParaRPr lang="en-US" sz="1200" dirty="0">
              <a:latin typeface="Plus Jakarta Sans"/>
            </a:endParaRPr>
          </a:p>
        </p:txBody>
      </p:sp>
      <p:sp>
        <p:nvSpPr>
          <p:cNvPr id="23" name="Text 21"/>
          <p:cNvSpPr txBox="1"/>
          <p:nvPr/>
        </p:nvSpPr>
        <p:spPr>
          <a:xfrm>
            <a:off x="1463040" y="4206240"/>
            <a:ext cx="4244188" cy="640080"/>
          </a:xfrm>
          <a:prstGeom prst="rect">
            <a:avLst/>
          </a:prstGeom>
          <a:noFill/>
          <a:ln/>
        </p:spPr>
        <p:txBody>
          <a:bodyPr wrap="square" lIns="0" tIns="0" rIns="0" bIns="0" rtlCol="0" anchor="ctr"/>
          <a:lstStyle/>
          <a:p>
            <a:pPr algn="l" indent="0" marL="0">
              <a:buNone/>
            </a:pPr>
            <a:r>
              <a:rPr lang="en-US" sz="1400" dirty="0">
                <a:solidFill>
                  <a:srgbClr val="FFFFFF"/>
                </a:solidFill>
                <a:latin typeface="Plus Jakarta Sans" pitchFamily="34" charset="0"/>
                <a:ea typeface="Segoe UI" pitchFamily="34" charset="-122"/>
                <a:cs typeface="Segoe UI" pitchFamily="34" charset="-120"/>
              </a:rPr>
              <a:t>Preparation, irrigation and prolonged prophylaxis</a:t>
            </a:r>
            <a:endParaRPr lang="en-US" sz="1400" dirty="0">
              <a:latin typeface="Plus Jakarta Sans"/>
            </a:endParaRPr>
          </a:p>
        </p:txBody>
      </p:sp>
      <p:sp>
        <p:nvSpPr>
          <p:cNvPr id="24" name="Shape 22"/>
          <p:cNvSpPr/>
          <p:nvPr/>
        </p:nvSpPr>
        <p:spPr>
          <a:xfrm>
            <a:off x="6210148" y="4069080"/>
            <a:ext cx="5341468" cy="914400"/>
          </a:xfrm>
          <a:prstGeom prst="roundRect">
            <a:avLst>
              <a:gd name="adj" fmla="val 14000"/>
            </a:avLst>
          </a:prstGeom>
          <a:solidFill>
            <a:srgbClr val="2D2D2D"/>
          </a:solidFill>
          <a:ln/>
        </p:spPr>
      </p:sp>
      <p:sp>
        <p:nvSpPr>
          <p:cNvPr id="25" name="Shape 23"/>
          <p:cNvSpPr/>
          <p:nvPr/>
        </p:nvSpPr>
        <p:spPr>
          <a:xfrm>
            <a:off x="6484468" y="4334256"/>
            <a:ext cx="384048" cy="384048"/>
          </a:xfrm>
          <a:prstGeom prst="ellipse">
            <a:avLst/>
          </a:prstGeom>
          <a:solidFill>
            <a:srgbClr val="05C489"/>
          </a:solidFill>
          <a:ln/>
        </p:spPr>
      </p:sp>
      <p:sp>
        <p:nvSpPr>
          <p:cNvPr id="26" name="Text 24"/>
          <p:cNvSpPr txBox="1"/>
          <p:nvPr/>
        </p:nvSpPr>
        <p:spPr>
          <a:xfrm>
            <a:off x="6484468" y="433425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Plus Jakarta Sans" pitchFamily="34" charset="0"/>
                <a:ea typeface="Segoe UI Semibold" pitchFamily="34" charset="-122"/>
                <a:cs typeface="Segoe UI Semibold" pitchFamily="34" charset="-120"/>
              </a:rPr>
              <a:t>6</a:t>
            </a:r>
            <a:endParaRPr lang="en-US" sz="1200" dirty="0">
              <a:latin typeface="Plus Jakarta Sans"/>
            </a:endParaRPr>
          </a:p>
        </p:txBody>
      </p:sp>
      <p:sp>
        <p:nvSpPr>
          <p:cNvPr id="27" name="Text 25"/>
          <p:cNvSpPr txBox="1"/>
          <p:nvPr/>
        </p:nvSpPr>
        <p:spPr>
          <a:xfrm>
            <a:off x="7033108" y="4206240"/>
            <a:ext cx="4244188" cy="640080"/>
          </a:xfrm>
          <a:prstGeom prst="rect">
            <a:avLst/>
          </a:prstGeom>
          <a:noFill/>
          <a:ln/>
        </p:spPr>
        <p:txBody>
          <a:bodyPr wrap="square" lIns="0" tIns="0" rIns="0" bIns="0" rtlCol="0" anchor="ctr"/>
          <a:lstStyle/>
          <a:p>
            <a:pPr algn="l" indent="0" marL="0">
              <a:buNone/>
            </a:pPr>
            <a:r>
              <a:rPr lang="en-US" sz="1400" dirty="0">
                <a:solidFill>
                  <a:srgbClr val="FFFFFF"/>
                </a:solidFill>
                <a:latin typeface="Plus Jakarta Sans" pitchFamily="34" charset="0"/>
                <a:ea typeface="Segoe UI" pitchFamily="34" charset="-122"/>
                <a:cs typeface="Segoe UI" pitchFamily="34" charset="-120"/>
              </a:rPr>
              <a:t>Independent long-term ContiClassic outcomes</a:t>
            </a:r>
            <a:endParaRPr lang="en-US" sz="1400" dirty="0">
              <a:latin typeface="Plus Jakarta Sans"/>
            </a:endParaRPr>
          </a:p>
        </p:txBody>
      </p:sp>
      <p:sp>
        <p:nvSpPr>
          <p:cNvPr id="28" name="Shape 26"/>
          <p:cNvSpPr/>
          <p:nvPr/>
        </p:nvSpPr>
        <p:spPr>
          <a:xfrm>
            <a:off x="640080" y="5212080"/>
            <a:ext cx="5341468" cy="914400"/>
          </a:xfrm>
          <a:prstGeom prst="roundRect">
            <a:avLst>
              <a:gd name="adj" fmla="val 14000"/>
            </a:avLst>
          </a:prstGeom>
          <a:solidFill>
            <a:srgbClr val="2D2D2D"/>
          </a:solidFill>
          <a:ln/>
        </p:spPr>
      </p:sp>
      <p:sp>
        <p:nvSpPr>
          <p:cNvPr id="29" name="Shape 27"/>
          <p:cNvSpPr/>
          <p:nvPr/>
        </p:nvSpPr>
        <p:spPr>
          <a:xfrm>
            <a:off x="914400" y="5477256"/>
            <a:ext cx="384048" cy="384048"/>
          </a:xfrm>
          <a:prstGeom prst="ellipse">
            <a:avLst/>
          </a:prstGeom>
          <a:solidFill>
            <a:srgbClr val="05C489"/>
          </a:solidFill>
          <a:ln/>
        </p:spPr>
      </p:sp>
      <p:sp>
        <p:nvSpPr>
          <p:cNvPr id="30" name="Text 28"/>
          <p:cNvSpPr txBox="1"/>
          <p:nvPr/>
        </p:nvSpPr>
        <p:spPr>
          <a:xfrm>
            <a:off x="914400" y="547725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Plus Jakarta Sans" pitchFamily="34" charset="0"/>
                <a:ea typeface="Segoe UI Semibold" pitchFamily="34" charset="-122"/>
                <a:cs typeface="Segoe UI Semibold" pitchFamily="34" charset="-120"/>
              </a:rPr>
              <a:t>7</a:t>
            </a:r>
            <a:endParaRPr lang="en-US" sz="1200" dirty="0">
              <a:latin typeface="Plus Jakarta Sans"/>
            </a:endParaRPr>
          </a:p>
        </p:txBody>
      </p:sp>
      <p:sp>
        <p:nvSpPr>
          <p:cNvPr id="31" name="Text 29"/>
          <p:cNvSpPr txBox="1"/>
          <p:nvPr/>
        </p:nvSpPr>
        <p:spPr>
          <a:xfrm>
            <a:off x="1463040" y="5349240"/>
            <a:ext cx="4244188" cy="640080"/>
          </a:xfrm>
          <a:prstGeom prst="rect">
            <a:avLst/>
          </a:prstGeom>
          <a:noFill/>
          <a:ln/>
        </p:spPr>
        <p:txBody>
          <a:bodyPr wrap="square" lIns="0" tIns="0" rIns="0" bIns="0" rtlCol="0" anchor="ctr"/>
          <a:lstStyle/>
          <a:p>
            <a:pPr algn="l" indent="0" marL="0">
              <a:buNone/>
            </a:pPr>
            <a:r>
              <a:rPr lang="en-US" sz="1400" dirty="0">
                <a:solidFill>
                  <a:srgbClr val="FFFFFF"/>
                </a:solidFill>
                <a:latin typeface="Plus Jakarta Sans" pitchFamily="34" charset="0"/>
                <a:ea typeface="Segoe UI" pitchFamily="34" charset="-122"/>
                <a:cs typeface="Segoe UI" pitchFamily="34" charset="-120"/>
              </a:rPr>
              <a:t>Mechanisms and revision strategy in late leakage</a:t>
            </a:r>
            <a:endParaRPr lang="en-US" sz="1400" dirty="0">
              <a:latin typeface="Plus Jakarta Sans"/>
            </a:endParaRPr>
          </a:p>
        </p:txBody>
      </p:sp>
      <p:sp>
        <p:nvSpPr>
          <p:cNvPr id="9001" name="replacement-title">
            <a:extLst>
              <a:ext uri="{FF2B5EF4-FFF2-40B4-BE49-F238E27FC236}">
                <a16:creationId xmlns:a16="http://schemas.microsoft.com/office/drawing/2014/main" id="{EAB70C94-360E-4E24-878C-D63B65CA45D8}"/>
              </a:ext>
            </a:extLst>
          </p:cNvPr>
          <p:cNvSpPr>
            <a:spLocks noGrp="1"/>
          </p:cNvSpPr>
          <p:nvPr/>
        </p:nvSpPr>
        <p:spPr>
          <a:xfrm>
            <a:off x="638175" y="752475"/>
            <a:ext cx="10915650" cy="800100"/>
          </a:xfrm>
          <a:prstGeom prst="rect">
            <a:avLst/>
          </a:prstGeom>
          <a:noFill/>
          <a:ln w="0">
            <a:noFill/>
          </a:ln>
        </p:spPr>
        <p:txBody>
          <a:bodyPr anchor="ctr"/>
          <a:lstStyle>
            <a:defPPr>
              <a:defRPr sz="2625" b="1">
                <a:solidFill>
                  <a:srgbClr val="FFFFFF"/>
                </a:solidFill>
                <a:latin typeface="Plus Jakarta Sans"/>
              </a:defRPr>
            </a:defPPr>
            <a:lvl1pPr>
              <a:defRPr sz="2625" b="1">
                <a:solidFill>
                  <a:srgbClr val="FFFFFF"/>
                </a:solidFill>
                <a:latin typeface="Plus Jakarta Sans"/>
              </a:defRPr>
            </a:lvl1pPr>
            <a:lvl2pPr>
              <a:defRPr sz="2625" b="1">
                <a:solidFill>
                  <a:srgbClr val="FFFFFF"/>
                </a:solidFill>
                <a:latin typeface="Plus Jakarta Sans"/>
              </a:defRPr>
            </a:lvl2pPr>
            <a:lvl3pPr>
              <a:defRPr sz="2625" b="1">
                <a:solidFill>
                  <a:srgbClr val="FFFFFF"/>
                </a:solidFill>
                <a:latin typeface="Plus Jakarta Sans"/>
              </a:defRPr>
            </a:lvl3pPr>
            <a:lvl4pPr>
              <a:defRPr sz="2625" b="1">
                <a:solidFill>
                  <a:srgbClr val="FFFFFF"/>
                </a:solidFill>
                <a:latin typeface="Plus Jakarta Sans"/>
              </a:defRPr>
            </a:lvl4pPr>
            <a:lvl5pPr>
              <a:defRPr sz="2625" b="1">
                <a:solidFill>
                  <a:srgbClr val="FFFFFF"/>
                </a:solidFill>
                <a:latin typeface="Plus Jakarta Sans"/>
              </a:defRPr>
            </a:lvl5pPr>
            <a:lvl6pPr>
              <a:defRPr sz="2625" b="1">
                <a:solidFill>
                  <a:srgbClr val="FFFFFF"/>
                </a:solidFill>
                <a:latin typeface="Plus Jakarta Sans"/>
              </a:defRPr>
            </a:lvl6pPr>
            <a:lvl7pPr>
              <a:defRPr sz="2625" b="1">
                <a:solidFill>
                  <a:srgbClr val="FFFFFF"/>
                </a:solidFill>
                <a:latin typeface="Plus Jakarta Sans"/>
              </a:defRPr>
            </a:lvl7pPr>
            <a:lvl8pPr>
              <a:defRPr sz="2625" b="1">
                <a:solidFill>
                  <a:srgbClr val="FFFFFF"/>
                </a:solidFill>
                <a:latin typeface="Plus Jakarta Sans"/>
              </a:defRPr>
            </a:lvl8pPr>
            <a:lvl9pPr>
              <a:defRPr sz="2625" b="1">
                <a:solidFill>
                  <a:srgbClr val="FFFFFF"/>
                </a:solidFill>
                <a:latin typeface="Plus Jakarta Sans"/>
              </a:defRPr>
            </a:lvl9pPr>
          </a:lstStyle>
          <a:p>
            <a:pPr>
              <a:defRPr sz="2625" b="1">
                <a:solidFill>
                  <a:srgbClr val="FFFFFF"/>
                </a:solidFill>
                <a:latin typeface="Plus Jakarta Sans"/>
              </a:defRPr>
            </a:pPr>
            <a:r>
              <a:rPr sz="2625" b="1">
                <a:solidFill>
                  <a:srgbClr val="FFFFFF"/>
                </a:solidFill>
                <a:latin typeface="Plus Jakarta Sans"/>
              </a:rPr>
              <a:t>Evidence gaps</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161616"/>
        </a:solidFill>
        <a:effectLst/>
      </p:bgPr>
    </p:bg>
    <p:spTree>
      <p:nvGrpSpPr>
        <p:cNvPr id="1" name=""/>
        <p:cNvGrpSpPr/>
        <p:nvPr/>
      </p:nvGrpSpPr>
      <p:grpSpPr>
        <a:xfrm>
          <a:off x="0" y="0"/>
          <a:ext cx="0" cy="0"/>
          <a:chOff x="0" y="0"/>
          <a:chExt cx="0" cy="0"/>
        </a:xfrm>
      </p:grpSpPr>
      <p:sp>
        <p:nvSpPr>
          <p:cNvPr id="2" name="Text 0"/>
          <p:cNvSpPr txBox="1"/>
          <p:nvPr/>
        </p:nvSpPr>
        <p:spPr>
          <a:xfrm>
            <a:off x="640080" y="384048"/>
            <a:ext cx="6400800" cy="274320"/>
          </a:xfrm>
          <a:prstGeom prst="rect">
            <a:avLst/>
          </a:prstGeom>
          <a:noFill/>
          <a:ln/>
        </p:spPr>
        <p:txBody>
          <a:bodyPr wrap="square" lIns="0" tIns="0" rIns="0" bIns="0" rtlCol="0" anchor="t"/>
          <a:lstStyle/>
          <a:p>
            <a:pPr algn="l" indent="0" marL="0">
              <a:buNone/>
            </a:pPr>
            <a:r>
              <a:rPr lang="en-US" sz="950" b="1" spc="250" kern="0" dirty="0">
                <a:solidFill>
                  <a:srgbClr val="89FF00"/>
                </a:solidFill>
                <a:latin typeface="Plus Jakarta Sans" pitchFamily="34" charset="0"/>
                <a:ea typeface="Segoe UI" pitchFamily="34" charset="-122"/>
                <a:cs typeface="Segoe UI" pitchFamily="34" charset="-120"/>
              </a:rPr>
              <a:t>BACKUP</a:t>
            </a:r>
            <a:endParaRPr lang="en-US" sz="950" dirty="0">
              <a:latin typeface="Plus Jakarta Sans"/>
            </a:endParaRPr>
          </a:p>
        </p:txBody>
      </p:sp>
      <p:pic>
        <p:nvPicPr>
          <p:cNvPr id="106" name="UroOps lesson video">
            <a:hlinkClick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640080" y="1783080"/>
            <a:ext cx="8138160" cy="4577715"/>
          </a:xfrm>
          <a:prstGeom prst="rect">
            <a:avLst/>
          </a:prstGeom>
        </p:spPr>
      </p:pic>
      <p:sp>
        <p:nvSpPr>
          <p:cNvPr id="5" name="Text 2"/>
          <p:cNvSpPr txBox="1"/>
          <p:nvPr/>
        </p:nvSpPr>
        <p:spPr>
          <a:xfrm>
            <a:off x="9235440" y="1783080"/>
            <a:ext cx="2316175" cy="731520"/>
          </a:xfrm>
          <a:prstGeom prst="rect">
            <a:avLst/>
          </a:prstGeom>
          <a:noFill/>
          <a:ln/>
        </p:spPr>
        <p:txBody>
          <a:bodyPr wrap="square" lIns="0" tIns="0" rIns="0" bIns="0" rtlCol="0" anchor="t"/>
          <a:lstStyle/>
          <a:p>
            <a:pPr algn="l" indent="0" marL="0">
              <a:lnSpc>
                <a:spcPct val="110000"/>
              </a:lnSpc>
              <a:buNone/>
            </a:pPr>
            <a:r>
              <a:rPr lang="en-US" sz="1600" dirty="0">
                <a:solidFill>
                  <a:srgbClr val="89FF00"/>
                </a:solidFill>
                <a:latin typeface="Plus Jakarta Sans" pitchFamily="34" charset="0"/>
                <a:ea typeface="Segoe UI Semibold" pitchFamily="34" charset="-122"/>
                <a:cs typeface="Segoe UI Semibold" pitchFamily="34" charset="-120"/>
              </a:rPr>
              <a:t>Use only if the live page fails</a:t>
            </a:r>
            <a:endParaRPr lang="en-US" sz="1600" dirty="0">
              <a:latin typeface="Plus Jakarta Sans"/>
            </a:endParaRPr>
          </a:p>
        </p:txBody>
      </p:sp>
      <p:sp>
        <p:nvSpPr>
          <p:cNvPr id="6" name="Text 3"/>
          <p:cNvSpPr txBox="1"/>
          <p:nvPr/>
        </p:nvSpPr>
        <p:spPr>
          <a:xfrm>
            <a:off x="9235440" y="2606040"/>
            <a:ext cx="2316175" cy="1280160"/>
          </a:xfrm>
          <a:prstGeom prst="rect">
            <a:avLst/>
          </a:prstGeom>
          <a:noFill/>
          <a:ln/>
        </p:spPr>
        <p:txBody>
          <a:bodyPr wrap="square" lIns="0" tIns="0" rIns="0" bIns="0" rtlCol="0" anchor="t"/>
          <a:lstStyle/>
          <a:p>
            <a:pPr algn="l" indent="0" marL="0">
              <a:lnSpc>
                <a:spcPct val="120000"/>
              </a:lnSpc>
              <a:buNone/>
            </a:pPr>
            <a:r>
              <a:rPr lang="en-US" sz="1300" dirty="0">
                <a:solidFill>
                  <a:srgbClr val="BFBFBF"/>
                </a:solidFill>
                <a:latin typeface="Plus Jakarta Sans" pitchFamily="34" charset="0"/>
                <a:ea typeface="Segoe UI" pitchFamily="34" charset="-122"/>
                <a:cs typeface="Segoe UI" pitchFamily="34" charset="-120"/>
              </a:rPr>
              <a:t>Starts by itself. 97 seconds, no sound. Narrate the checks and final configuration.</a:t>
            </a:r>
            <a:endParaRPr lang="en-US" sz="1300" dirty="0">
              <a:latin typeface="Plus Jakarta Sans"/>
            </a:endParaRPr>
          </a:p>
        </p:txBody>
      </p:sp>
      <p:sp>
        <p:nvSpPr>
          <p:cNvPr id="9001" name="replacement-title">
            <a:extLst>
              <a:ext uri="{FF2B5EF4-FFF2-40B4-BE49-F238E27FC236}">
                <a16:creationId xmlns:a16="http://schemas.microsoft.com/office/drawing/2014/main" id="{F9102DFA-5FFD-4649-8BFD-A4A2413D25F8}"/>
              </a:ext>
            </a:extLst>
          </p:cNvPr>
          <p:cNvSpPr>
            <a:spLocks noGrp="1"/>
          </p:cNvSpPr>
          <p:nvPr/>
        </p:nvSpPr>
        <p:spPr>
          <a:xfrm>
            <a:off x="638175" y="752475"/>
            <a:ext cx="10915650" cy="800100"/>
          </a:xfrm>
          <a:prstGeom prst="rect">
            <a:avLst/>
          </a:prstGeom>
          <a:noFill/>
          <a:ln w="0">
            <a:noFill/>
          </a:ln>
        </p:spPr>
        <p:txBody>
          <a:bodyPr anchor="ctr"/>
          <a:lstStyle>
            <a:defPPr>
              <a:defRPr sz="2625" b="1">
                <a:solidFill>
                  <a:srgbClr val="FFFFFF"/>
                </a:solidFill>
                <a:latin typeface="Plus Jakarta Sans"/>
              </a:defRPr>
            </a:defPPr>
            <a:lvl1pPr>
              <a:defRPr sz="2625" b="1">
                <a:solidFill>
                  <a:srgbClr val="FFFFFF"/>
                </a:solidFill>
                <a:latin typeface="Plus Jakarta Sans"/>
              </a:defRPr>
            </a:lvl1pPr>
            <a:lvl2pPr>
              <a:defRPr sz="2625" b="1">
                <a:solidFill>
                  <a:srgbClr val="FFFFFF"/>
                </a:solidFill>
                <a:latin typeface="Plus Jakarta Sans"/>
              </a:defRPr>
            </a:lvl2pPr>
            <a:lvl3pPr>
              <a:defRPr sz="2625" b="1">
                <a:solidFill>
                  <a:srgbClr val="FFFFFF"/>
                </a:solidFill>
                <a:latin typeface="Plus Jakarta Sans"/>
              </a:defRPr>
            </a:lvl3pPr>
            <a:lvl4pPr>
              <a:defRPr sz="2625" b="1">
                <a:solidFill>
                  <a:srgbClr val="FFFFFF"/>
                </a:solidFill>
                <a:latin typeface="Plus Jakarta Sans"/>
              </a:defRPr>
            </a:lvl4pPr>
            <a:lvl5pPr>
              <a:defRPr sz="2625" b="1">
                <a:solidFill>
                  <a:srgbClr val="FFFFFF"/>
                </a:solidFill>
                <a:latin typeface="Plus Jakarta Sans"/>
              </a:defRPr>
            </a:lvl5pPr>
            <a:lvl6pPr>
              <a:defRPr sz="2625" b="1">
                <a:solidFill>
                  <a:srgbClr val="FFFFFF"/>
                </a:solidFill>
                <a:latin typeface="Plus Jakarta Sans"/>
              </a:defRPr>
            </a:lvl6pPr>
            <a:lvl7pPr>
              <a:defRPr sz="2625" b="1">
                <a:solidFill>
                  <a:srgbClr val="FFFFFF"/>
                </a:solidFill>
                <a:latin typeface="Plus Jakarta Sans"/>
              </a:defRPr>
            </a:lvl7pPr>
            <a:lvl8pPr>
              <a:defRPr sz="2625" b="1">
                <a:solidFill>
                  <a:srgbClr val="FFFFFF"/>
                </a:solidFill>
                <a:latin typeface="Plus Jakarta Sans"/>
              </a:defRPr>
            </a:lvl8pPr>
            <a:lvl9pPr>
              <a:defRPr sz="2625" b="1">
                <a:solidFill>
                  <a:srgbClr val="FFFFFF"/>
                </a:solidFill>
                <a:latin typeface="Plus Jakarta Sans"/>
              </a:defRPr>
            </a:lvl9pPr>
          </a:lstStyle>
          <a:p>
            <a:pPr>
              <a:defRPr sz="2625" b="1">
                <a:solidFill>
                  <a:srgbClr val="FFFFFF"/>
                </a:solidFill>
                <a:latin typeface="Plus Jakarta Sans"/>
              </a:defRPr>
            </a:pPr>
            <a:r>
              <a:rPr sz="2625" b="1">
                <a:solidFill>
                  <a:srgbClr val="FFFFFF"/>
                </a:solidFill>
                <a:latin typeface="Plus Jakarta Sans"/>
              </a:rPr>
              <a:t>UroOps 3D lesson: recorded run-through</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6533" fill="hold"/>
                                        <p:tgtEl>
                                          <p:spTgt spid="10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06"/>
                </p:tgtEl>
              </p:cMediaNode>
            </p:vide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Plus Jakarta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lus Jakarta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Tips and tricks for primary implantation and revision surgery</dc:title>
  <dc:subject>Artificial urinary sphincter surgery: patient selection, difficult bladders and difficult urethras</dc:subject>
  <dc:creator>Mr Andrew Baird, Mr Mohamed Abu Yousif, Nity G</dc:creator>
  <cp:lastModifiedBy>Mr Andrew Baird, Mr Mohamed Abu Yousif, Nity G</cp:lastModifiedBy>
  <cp:revision>1</cp:revision>
  <dcterms:created xsi:type="dcterms:W3CDTF">2026-10-20T15:56:08Z</dcterms:created>
  <dcterms:modified xsi:type="dcterms:W3CDTF">2026-10-20T15:56:08Z</dcterms:modified>
</cp:coreProperties>
</file>