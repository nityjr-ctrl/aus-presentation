
<file path=[Content_Types].xml><?xml version="1.0" encoding="utf-8"?>
<Types xmlns="http://schemas.openxmlformats.org/package/2006/content-types">
  <Default Extension="glb" ContentType="model/gltf.binary"/>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025bc89eea4ffd" /><Relationship Type="http://schemas.openxmlformats.org/officeDocument/2006/relationships/extended-properties" Target="/docProps/app.xml" Id="R165de378295844a3" /><Relationship Type="http://schemas.openxmlformats.org/officeDocument/2006/relationships/officeDocument" Target="/ppt/presentation.xml" Id="R0b4d8dcabcbf4cb3" /></Relationships>
</file>

<file path=ppt/presentation.xml><?xml version="1.0" encoding="utf-8"?>
<p:presentation xmlns:p="http://schemas.openxmlformats.org/presentationml/2006/main">
  <p:sldMasterIdLst>
    <p:sldMasterId xmlns:r="http://schemas.openxmlformats.org/officeDocument/2006/relationships" id="2147483648" r:id="Ra3037b4d2f7942dc"/>
  </p:sldMasterIdLst>
  <p:notesMasterIdLst>
    <p:notesMasterId xmlns:r="http://schemas.openxmlformats.org/officeDocument/2006/relationships" r:id="Rb278855dfe5141e6"/>
  </p:notesMasterIdLst>
  <p:sldIdLst>
    <p:sldId xmlns:r="http://schemas.openxmlformats.org/officeDocument/2006/relationships" id="283" r:id="R4cddc0fd91d34e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0AF7EDE5-490F-44FA-BAEA-A03204E10917}">
  <a:tblStyle styleId="{0AF7EDE5-490F-44FA-BAEA-A03204E1091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Relationships xmlns="http://schemas.openxmlformats.org/package/2006/relationships"><Relationship Type="http://schemas.openxmlformats.org/officeDocument/2006/relationships/theme" Target="/ppt/theme/theme1.xml" Id="R35248bfc2cd3485d"/><Relationship Type="http://schemas.openxmlformats.org/officeDocument/2006/relationships/slideMaster" Target="/ppt/slideMasters/slideMaster1.xml" Id="Ra3037b4d2f7942dc"/><Relationship Type="http://schemas.openxmlformats.org/officeDocument/2006/relationships/notesMaster" Target="/ppt/notesMasters/notesMaster1.xml" Id="Rb278855dfe5141e6"/><Relationship Type="http://schemas.openxmlformats.org/officeDocument/2006/relationships/presProps" Target="/ppt/presProps.xml" Id="R153d9550a96a4f70"/><Relationship Type="http://schemas.openxmlformats.org/officeDocument/2006/relationships/tableStyles" Target="/ppt/tableStyles.xml" Id="Rca1255643c974d2d"/><Relationship Type="http://schemas.openxmlformats.org/officeDocument/2006/relationships/slide" Target="/ppt/slides/slide28.xml" Id="R4cddc0fd91d34ecd"/></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265dbd44904e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28.xml.rels>&#65279;<?xml version="1.0" encoding="utf-8"?><Relationships xmlns="http://schemas.openxmlformats.org/package/2006/relationships"><Relationship Type="http://schemas.openxmlformats.org/officeDocument/2006/relationships/slide" Target="/ppt/slides/slide28.xml" Id="R777c704aec4842a9" /><Relationship Type="http://schemas.openxmlformats.org/officeDocument/2006/relationships/notesMaster" Target="/ppt/notesMasters/notesMaster1.xml" Id="R04d85557b3f84ba9" /></Relationship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Teaching slide 27. Measurement: a tighter cuff is not a better measurement</a:t>
            </a:r>
            <a:endParaRPr/>
          </a:p>
          <a:p xmlns:a="http://schemas.openxmlformats.org/drawingml/2006/main">
            <a:pPr marL="0" lvl="0" indent="0" algn="l">
              <a:spcBef>
                <a:spcPts val="0"/>
              </a:spcBef>
              <a:spcAft>
                <a:spcPts val="0"/>
              </a:spcAft>
              <a:buNone/>
            </a:pPr>
            <a:r>
              <a:rPr sz="1200"/>
              <a:t>Time 1:45. Clock 38:45-40:30.</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Speaker notes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Measurement fails when the tissue being measured is not the tissue that the cuff will ultimately enclose. Retraction can stretch the urethra. A tight measuring tape can compress it. Included fat, scar or muscle can enlarge the apparent circumference. Haematoma and tissue distortion create further uncertainty.</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Relax the traction, confirm the plane and use the manufacturer's sizing method. Recheck an implausible reading rather than selecting the familiar size from memory. In a reconstruction or transcorporal operation, the enclosed tissue is different; do not apply an unsupported numerical adjustment simply because it is traditional.</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Too small a cuff can create excessive compression, retention and tissue injury. Too large a cuff can leave poor coaptation and persistent leakage. Neither problem is reliably solved by choosing a stronger pressure-regulating balloon.</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Assess the final relationship and device function, with an appropriate integrity check when indicated. If the finding and measurement disagree, investigate the discrepancy. The early ContiClassic safety series included revisions attributed to sizing errors, which reinforces the practical importance of this step without telling us which sizing strategy is superior.</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More available sizes may help a surgeon choose a fit. Their availability alone is not evidence of better long-term continence or less erosion.</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References: ICS16 https://www.ics.org/folder/standardisation/current-ics-standardisations/d/artificial-urinary-sphincter-report-of-the-2015-consensus-conference/download; CCIFU https://www.rigicon.com/files/e-labeling/ContiClassic-IFU.pdf; CCSAFETY https://pubmed.ncbi.nlm.nih.gov/37543658/; AP23 https://doi.org/10.1111/iju.15083.</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Evidence status: Sizing principles are consensus/IFU-supported. No universal undersizing rule or comparative clinical benefit from finer cuff increments is asserted.</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br/>
            <a:r>
              <a:rPr sz="1200"/>
              <a:t>Image source: https://uroops3d.com/lab/aus . Captured 30 September–1 October 2026 (UTC). © UroOps3D / UroRef / Nity G. The site describes this as a schematic ContiClassic model with clinical review pending. Images illustrate spatial relationships, not validated anatomy, tissue perfusion or operative instructions.</a:t>
            </a:r>
            <a:endParaRPr/>
          </a:p>
          <a:p xmlns:a="http://schemas.openxmlformats.org/drawingml/2006/main">
            <a:pPr marL="0" lvl="0" indent="0" algn="l">
              <a:spcBef>
                <a:spcPts val="0"/>
              </a:spcBef>
              <a:spcAft>
                <a:spcPts val="0"/>
              </a:spcAft>
              <a:buNone/>
            </a:pPr>
            <a:r>
              <a:rPr lang="en-GB" sz="1200"/>
              <a:t>3D: the sizer sits round the proximal bulbar urethra without compressing it; the ghosted cuff beside it shows where the tubing will leave laterally.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1b721b85934793"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b90e2f0b85452e" /><Relationship Type="http://schemas.openxmlformats.org/officeDocument/2006/relationships/slideLayout" Target="/ppt/slideLayouts/slideLayout1.xml" Id="R73c5fe07109e418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3c5fe07109e418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f99fe745ff564ec4"/><Relationship Type="http://schemas.openxmlformats.org/officeDocument/2006/relationships/notesSlide" Target="/ppt/notesSlides/notesSlide28.xml" Id="R705e8fcb60bc41ec"/><Relationship Id="rIdAus3d1" Type="http://schemas.microsoft.com/office/2017/06/relationships/model3d" Target="/ppt/media/model3d3.glb"/><Relationship Id="rIdAus3d2" Type="http://schemas.openxmlformats.org/officeDocument/2006/relationships/image" Target="/ppt/media/aus-fallback-28.png"/></Relationships>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5" name="Google Shape;445;p30">
            <a:extLst xmlns:a="http://schemas.openxmlformats.org/drawingml/2006/main">
              <a:ext uri="{FF2B5EF4-FFF2-40B4-BE49-F238E27FC236}">
                <a16:creationId xmlns:a16="http://schemas.microsoft.com/office/drawing/2014/main" id="{75607064-1407-43CC-9C6A-1E5441DF3F20}"/>
              </a:ext>
            </a:extLst>
          </p:cNvPr>
          <p:cNvSpPr>
            <a:spLocks xmlns:a="http://schemas.openxmlformats.org/drawingml/2006/main" noGrp="1"/>
          </p:cNvSpPr>
          <p:nvPr/>
        </p:nvSpPr>
        <p:spPr>
          <a:xfrm xmlns:a="http://schemas.openxmlformats.org/drawingml/2006/main">
            <a:off x="609600" y="476250"/>
            <a:ext cx="109728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300" b="1">
                <a:solidFill>
                  <a:srgbClr val="183343"/>
                </a:solidFill>
                <a:latin typeface="Arial"/>
                <a:ea typeface="Arial"/>
                <a:cs typeface="Arial"/>
              </a:rPr>
              <a:t>Cuff measurement and fit</a:t>
            </a:r>
            <a:endParaRPr/>
          </a:p>
        </p:txBody>
      </p:sp>
      <p:sp>
        <p:nvSpPr>
          <p:cNvPr id="446" name="Google Shape;446;p30">
            <a:extLst xmlns:a="http://schemas.openxmlformats.org/drawingml/2006/main">
              <a:ext uri="{FF2B5EF4-FFF2-40B4-BE49-F238E27FC236}">
                <a16:creationId xmlns:a16="http://schemas.microsoft.com/office/drawing/2014/main" id="{B2AFE15C-370E-4C7A-A99F-17D33C21BE88}"/>
              </a:ext>
            </a:extLst>
          </p:cNvPr>
          <p:cNvSpPr>
            <a:spLocks xmlns:a="http://schemas.openxmlformats.org/drawingml/2006/main" noGrp="1"/>
          </p:cNvSpPr>
          <p:nvPr/>
        </p:nvSpPr>
        <p:spPr>
          <a:xfrm xmlns:a="http://schemas.openxmlformats.org/drawingml/2006/main">
            <a:off x="609600" y="1428750"/>
            <a:ext cx="800100" cy="28575"/>
          </a:xfrm>
          <a:prstGeom xmlns:a="http://schemas.openxmlformats.org/drawingml/2006/main" prst="rect">
            <a:avLst/>
          </a:prstGeom>
          <a:solidFill xmlns:a="http://schemas.openxmlformats.org/drawingml/2006/main">
            <a:srgbClr val="147F8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47" name="Google Shape;447;p30">
            <a:extLst xmlns:a="http://schemas.openxmlformats.org/drawingml/2006/main">
              <a:ext uri="{FF2B5EF4-FFF2-40B4-BE49-F238E27FC236}">
                <a16:creationId xmlns:a16="http://schemas.microsoft.com/office/drawing/2014/main" id="{EB39C91C-9019-4D0D-A70B-2CEFB7C4450B}"/>
              </a:ext>
            </a:extLst>
          </p:cNvPr>
          <p:cNvSpPr>
            <a:spLocks xmlns:a="http://schemas.openxmlformats.org/drawingml/2006/main" noGrp="1"/>
          </p:cNvSpPr>
          <p:nvPr/>
        </p:nvSpPr>
        <p:spPr>
          <a:xfrm xmlns:a="http://schemas.openxmlformats.org/drawingml/2006/main">
            <a:off x="609600" y="6419850"/>
            <a:ext cx="10096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a:solidFill>
                  <a:srgbClr val="526773"/>
                </a:solidFill>
                <a:latin typeface="Arial"/>
                <a:ea typeface="Arial"/>
                <a:cs typeface="Arial"/>
              </a:rPr>
              <a:t>ICS16 · CCIFU · CCSAFETY · AP23</a:t>
            </a:r>
            <a:endParaRPr/>
          </a:p>
        </p:txBody>
      </p:sp>
      <p:sp>
        <p:nvSpPr>
          <p:cNvPr id="448" name="Google Shape;448;p30">
            <a:extLst xmlns:a="http://schemas.openxmlformats.org/drawingml/2006/main">
              <a:ext uri="{FF2B5EF4-FFF2-40B4-BE49-F238E27FC236}">
                <a16:creationId xmlns:a16="http://schemas.microsoft.com/office/drawing/2014/main" id="{072EDBC4-39E1-4C86-8BFC-BC899E80894A}"/>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526773"/>
                </a:solidFill>
                <a:latin typeface="Arial"/>
                <a:ea typeface="Arial"/>
                <a:cs typeface="Arial"/>
              </a:rPr>
              <a:t>27</a:t>
            </a:r>
            <a:endParaRPr/>
          </a:p>
        </p:txBody>
      </p:sp>
      <mc:AlternateContent xmlns:mc="http://schemas.openxmlformats.org/markup-compatibility/2006" xmlns:a="http://schemas.openxmlformats.org/drawingml/2006/main" xmlns:r="http://schemas.openxmlformats.org/officeDocument/2006/relationships">
        <mc:Choice xmlns:am3d="http://schemas.microsoft.com/office/drawing/2017/model3d" Requires="am3d">
          <p:graphicFrame>
            <p:nvGraphicFramePr>
              <p:cNvPr id="456" name="!!AUS3D" descr="3D model: Cuff measurement and fit. Teaching illustration. Not patient-specific. Not a medical device.">
                <a:extLst>
                  <a:ext uri="{FF2B5EF4-FFF2-40B4-BE49-F238E27FC236}">
                    <a16:creationId xmlns:a16="http://schemas.microsoft.com/office/drawing/2014/main" id="{7F793D57-82CC-5E34-B434-F4D2477802C6}"/>
                  </a:ext>
                </a:extLst>
              </p:cNvPr>
              <p:cNvGraphicFramePr>
                <a:graphicFrameLocks noChangeAspect="1"/>
              </p:cNvGraphicFramePr>
              <p:nvPr/>
            </p:nvGraphicFramePr>
            <p:xfrm>
              <a:off x="612648" y="1810512"/>
              <a:ext cx="6675120" cy="3429000"/>
            </p:xfrm>
            <a:graphic>
              <a:graphicData uri="http://schemas.microsoft.com/office/drawing/2017/model3d">
                <am3d:model3d r:embed="rIdAus3d1">
                  <am3d:spPr>
                    <a:xfrm>
                      <a:off x="0" y="0"/>
                      <a:ext cx="6675120" cy="3429000"/>
                    </a:xfrm>
                    <a:prstGeom prst="rect">
                      <a:avLst/>
                    </a:prstGeom>
                  </am3d:spPr>
                  <am3d:camera>
                    <am3d:pos x="-713848" y="-12785727" z="4314810"/>
                    <am3d:up dx="0" dy="36000000" dz="0"/>
                    <am3d:lookAt x="40192" y="-6000293" z="2243007"/>
                    <am3d:perspective fov="3000000"/>
                  </am3d:camera>
                  <am3d:trans>
                    <am3d:meterPerModelUnit n="2870042" d="1000000"/>
                    <am3d:preTrans dx="40192" dy="1570280" dz="-1857721"/>
                    <am3d:scale>
                      <am3d:sx n="1000000" d="1000000"/>
                      <am3d:sy n="1000000" d="1000000"/>
                      <am3d:sz n="1000000" d="1000000"/>
                    </am3d:scale>
                    <am3d:rot/>
                    <am3d:postTrans dx="0" dy="0" dz="0"/>
                  </am3d:trans>
                  <am3d:raster rName="Office3DRenderer" rVer="16.0.8326">
                    <am3d:blip r:embed="rIdAus3d2"/>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56" name="!!AUS3D" descr="3D model: Cuff measurement and fit. Teaching illustration. Not patient-specific. Not a medical device.">
                <a:extLst>
                  <a:ext uri="{FF2B5EF4-FFF2-40B4-BE49-F238E27FC236}">
                    <a16:creationId xmlns:a16="http://schemas.microsoft.com/office/drawing/2014/main" id="{7F793D57-82CC-5E34-B434-F4D2477802C6}"/>
                  </a:ext>
                </a:extLst>
              </p:cNvPr>
              <p:cNvPicPr>
                <a:picLocks noGrp="1" noRot="1" noChangeAspect="1" noMove="1" noResize="1" noEditPoints="1" noAdjustHandles="1" noChangeArrowheads="1" noChangeShapeType="1" noCrop="1"/>
              </p:cNvPicPr>
              <p:nvPr/>
            </p:nvPicPr>
            <p:blipFill>
              <a:blip r:embed="rIdAus3d2"/>
              <a:stretch>
                <a:fillRect/>
              </a:stretch>
            </p:blipFill>
            <p:spPr>
              <a:xfrm>
                <a:off x="612648" y="1810512"/>
                <a:ext cx="6675120" cy="3429000"/>
              </a:xfrm>
              <a:prstGeom prst="rect">
                <a:avLst/>
              </a:prstGeom>
            </p:spPr>
          </p:pic>
        </mc:Fallback>
      </mc:AlternateContent>
      <p:sp>
        <p:nvSpPr>
          <p:cNvPr id="450" name="Google Shape;450;p30">
            <a:extLst xmlns:a="http://schemas.openxmlformats.org/drawingml/2006/main">
              <a:ext uri="{FF2B5EF4-FFF2-40B4-BE49-F238E27FC236}">
                <a16:creationId xmlns:a16="http://schemas.microsoft.com/office/drawing/2014/main" id="{EA703599-7DE4-40FD-B6F7-041B410DC871}"/>
              </a:ext>
            </a:extLst>
          </p:cNvPr>
          <p:cNvSpPr>
            <a:spLocks xmlns:a="http://schemas.openxmlformats.org/drawingml/2006/main" noGrp="1"/>
          </p:cNvSpPr>
          <p:nvPr/>
        </p:nvSpPr>
        <p:spPr>
          <a:xfrm xmlns:a="http://schemas.openxmlformats.org/drawingml/2006/main">
            <a:off x="7505700" y="1809750"/>
            <a:ext cx="4076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175" b="1">
                <a:solidFill>
                  <a:srgbClr val="147F83"/>
                </a:solidFill>
                <a:latin typeface="Arial"/>
                <a:ea typeface="Arial"/>
                <a:cs typeface="Arial"/>
              </a:rPr>
              <a:t>Sizing errors</a:t>
            </a:r>
            <a:endParaRPr/>
          </a:p>
        </p:txBody>
      </p:sp>
      <p:sp>
        <p:nvSpPr>
          <p:cNvPr id="451" name="Google Shape;451;p30">
            <a:extLst xmlns:a="http://schemas.openxmlformats.org/drawingml/2006/main">
              <a:ext uri="{FF2B5EF4-FFF2-40B4-BE49-F238E27FC236}">
                <a16:creationId xmlns:a16="http://schemas.microsoft.com/office/drawing/2014/main" id="{24844A3A-12DC-420A-84BC-E160A1707E60}"/>
              </a:ext>
            </a:extLst>
          </p:cNvPr>
          <p:cNvSpPr>
            <a:spLocks xmlns:a="http://schemas.openxmlformats.org/drawingml/2006/main" noGrp="1"/>
          </p:cNvSpPr>
          <p:nvPr/>
        </p:nvSpPr>
        <p:spPr>
          <a:xfrm xmlns:a="http://schemas.openxmlformats.org/drawingml/2006/main">
            <a:off x="7505700" y="2419350"/>
            <a:ext cx="40767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25" b="0">
                <a:solidFill>
                  <a:srgbClr val="183343"/>
                </a:solidFill>
                <a:latin typeface="Arial"/>
                <a:ea typeface="Arial"/>
                <a:cs typeface="Arial"/>
              </a:rPr>
              <a:t>Release traction and artificial compression</a:t>
            </a:r>
            <a:endParaRPr/>
          </a:p>
        </p:txBody>
      </p:sp>
      <p:sp>
        <p:nvSpPr>
          <p:cNvPr id="452" name="Google Shape;452;p30">
            <a:extLst xmlns:a="http://schemas.openxmlformats.org/drawingml/2006/main">
              <a:ext uri="{FF2B5EF4-FFF2-40B4-BE49-F238E27FC236}">
                <a16:creationId xmlns:a16="http://schemas.microsoft.com/office/drawing/2014/main" id="{114E1406-887A-49CC-A8C5-1AF7D3712B55}"/>
              </a:ext>
            </a:extLst>
          </p:cNvPr>
          <p:cNvSpPr>
            <a:spLocks xmlns:a="http://schemas.openxmlformats.org/drawingml/2006/main" noGrp="1"/>
          </p:cNvSpPr>
          <p:nvPr/>
        </p:nvSpPr>
        <p:spPr>
          <a:xfrm xmlns:a="http://schemas.openxmlformats.org/drawingml/2006/main">
            <a:off x="7505700" y="3181350"/>
            <a:ext cx="40767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25" b="0">
                <a:solidFill>
                  <a:srgbClr val="183343"/>
                </a:solidFill>
                <a:latin typeface="Arial"/>
                <a:ea typeface="Arial"/>
                <a:cs typeface="Arial"/>
              </a:rPr>
              <a:t>Confirm which tissue the cuff will enclose</a:t>
            </a:r>
            <a:endParaRPr/>
          </a:p>
        </p:txBody>
      </p:sp>
      <p:sp>
        <p:nvSpPr>
          <p:cNvPr id="453" name="Google Shape;453;p30">
            <a:extLst xmlns:a="http://schemas.openxmlformats.org/drawingml/2006/main">
              <a:ext uri="{FF2B5EF4-FFF2-40B4-BE49-F238E27FC236}">
                <a16:creationId xmlns:a16="http://schemas.microsoft.com/office/drawing/2014/main" id="{0EBCE52F-7F16-453C-8708-8A0458A33DB1}"/>
              </a:ext>
            </a:extLst>
          </p:cNvPr>
          <p:cNvSpPr>
            <a:spLocks xmlns:a="http://schemas.openxmlformats.org/drawingml/2006/main" noGrp="1"/>
          </p:cNvSpPr>
          <p:nvPr/>
        </p:nvSpPr>
        <p:spPr>
          <a:xfrm xmlns:a="http://schemas.openxmlformats.org/drawingml/2006/main">
            <a:off x="7505700" y="3943350"/>
            <a:ext cx="40767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25" b="0">
                <a:solidFill>
                  <a:srgbClr val="183343"/>
                </a:solidFill>
                <a:latin typeface="Arial"/>
                <a:ea typeface="Arial"/>
                <a:cs typeface="Arial"/>
              </a:rPr>
              <a:t>Use the exact system’s supplied sizing method</a:t>
            </a:r>
            <a:endParaRPr/>
          </a:p>
        </p:txBody>
      </p:sp>
      <p:sp>
        <p:nvSpPr>
          <p:cNvPr id="454" name="Google Shape;454;p30">
            <a:extLst xmlns:a="http://schemas.openxmlformats.org/drawingml/2006/main">
              <a:ext uri="{FF2B5EF4-FFF2-40B4-BE49-F238E27FC236}">
                <a16:creationId xmlns:a16="http://schemas.microsoft.com/office/drawing/2014/main" id="{D4FC9842-ACFA-4875-9121-FE6D8CFE9AB8}"/>
              </a:ext>
            </a:extLst>
          </p:cNvPr>
          <p:cNvSpPr>
            <a:spLocks xmlns:a="http://schemas.openxmlformats.org/drawingml/2006/main" noGrp="1"/>
          </p:cNvSpPr>
          <p:nvPr/>
        </p:nvSpPr>
        <p:spPr>
          <a:xfrm xmlns:a="http://schemas.openxmlformats.org/drawingml/2006/main">
            <a:off x="7505700" y="4705350"/>
            <a:ext cx="40767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25" b="0">
                <a:solidFill>
                  <a:srgbClr val="183343"/>
                </a:solidFill>
                <a:latin typeface="Arial"/>
                <a:ea typeface="Arial"/>
                <a:cs typeface="Arial"/>
              </a:rPr>
              <a:t>Recheck poor fit rather than increasing pressure</a:t>
            </a:r>
            <a:endParaRPr/>
          </a:p>
        </p:txBody>
      </p:sp>
      <p:sp>
        <p:nvSpPr>
          <p:cNvPr id="455" name="Google Shape;455;p30">
            <a:extLst xmlns:a="http://schemas.openxmlformats.org/drawingml/2006/main">
              <a:ext uri="{FF2B5EF4-FFF2-40B4-BE49-F238E27FC236}">
                <a16:creationId xmlns:a16="http://schemas.microsoft.com/office/drawing/2014/main" id="{E8303E68-A56E-4D44-9644-0E8D9014CB39}"/>
              </a:ext>
            </a:extLst>
          </p:cNvPr>
          <p:cNvSpPr>
            <a:spLocks xmlns:a="http://schemas.openxmlformats.org/drawingml/2006/main" noGrp="1"/>
          </p:cNvSpPr>
          <p:nvPr/>
        </p:nvSpPr>
        <p:spPr>
          <a:xfrm xmlns:a="http://schemas.openxmlformats.org/drawingml/2006/main">
            <a:off x="609600" y="5353050"/>
            <a:ext cx="666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0">
                <a:solidFill>
                  <a:srgbClr val="526773"/>
                </a:solidFill>
                <a:latin typeface="Arial"/>
                <a:ea typeface="Arial"/>
                <a:cs typeface="Arial"/>
              </a:rPr>
              <a:t>UroOps 3D teaching schematic. Clinical review pending.</a:t>
            </a:r>
            <a:endParaRPr/>
          </a:p>
        </p:txBody>
      </p:sp>
      <p:sp xmlns:a="http://schemas.openxmlformats.org/drawingml/2006/main">
        <p:nvSpPr>
          <p:cNvPr id="457" name="AUS3D disclaimer"/>
          <p:cNvSpPr txBox="1"/>
          <p:nvPr/>
        </p:nvSpPr>
        <p:spPr>
          <a:xfrm>
            <a:off x="612648" y="5669280"/>
            <a:ext cx="6675120" cy="274320"/>
          </a:xfrm>
          <a:prstGeom prst="rect">
            <a:avLst/>
          </a:prstGeom>
          <a:noFill/>
          <a:ln>
            <a:noFill/>
          </a:ln>
        </p:spPr>
        <p:txBody>
          <a:bodyPr spcFirstLastPara="1" wrap="square" lIns="0" tIns="0" rIns="0" bIns="0" anchor="t">
            <a:noAutofit/>
          </a:bodyPr>
          <a:lstStyle/>
          <a:p>
            <a:pPr marL="0" marR="0" lvl="0" indent="0" algn="l">
              <a:spcBef>
                <a:spcPts val="0"/>
              </a:spcBef>
              <a:spcAft>
                <a:spcPts val="0"/>
              </a:spcAft>
              <a:buNone/>
            </a:pPr>
            <a:r>
              <a:rPr lang="en-GB" sz="1100" b="0">
                <a:solidFill>
                  <a:srgbClr val="526773"/>
                </a:solidFill>
                <a:latin typeface="Arial"/>
                <a:ea typeface="Arial"/>
                <a:cs typeface="Arial"/>
              </a:rPr>
              <a:t>Teaching illustration. Not patient-specific. Not a medical device.</a:t>
            </a:r>
            <a:endParaRPr/>
          </a:p>
        </p:txBody>
      </p:sp>
    </p:spTree>
    <p:extLst>
      <p:ext uri="{BB962C8B-B14F-4D97-AF65-F5344CB8AC3E}">
        <p14:creationId xmlns:p14="http://schemas.microsoft.com/office/powerpoint/2010/main" val="1836476632"/>
      </p:ext>
    </p:extLst>
  </p:cSld>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2026-10-05T14:18:01.3470000Z</dcterms:created>
  <dcterms:modified xsi:type="dcterms:W3CDTF">2026-10-05T14:18:01.3470000Z</dcterms:modified>
</coreProperties>
</file>